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5.xml" ContentType="application/vnd.openxmlformats-officedocument.theme+xml"/>
  <Override PartName="/ppt/tags/tag5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5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87" r:id="rId5"/>
    <p:sldMasterId id="2147483714" r:id="rId6"/>
    <p:sldMasterId id="2147483727" r:id="rId7"/>
  </p:sldMasterIdLst>
  <p:notesMasterIdLst>
    <p:notesMasterId r:id="rId14"/>
  </p:notesMasterIdLst>
  <p:sldIdLst>
    <p:sldId id="2147375835" r:id="rId8"/>
    <p:sldId id="2472" r:id="rId9"/>
    <p:sldId id="2147375837" r:id="rId10"/>
    <p:sldId id="2147375836" r:id="rId11"/>
    <p:sldId id="2147476404" r:id="rId12"/>
    <p:sldId id="2147476405"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C74D1B05-F745-4821-9988-6A4753E06D5A}">
          <p14:sldIdLst/>
        </p14:section>
        <p14:section name="説明資料" id="{2DC3D023-5C47-48C9-B61E-01AE25E52B6D}">
          <p14:sldIdLst>
            <p14:sldId id="2147375835"/>
            <p14:sldId id="2472"/>
            <p14:sldId id="2147375837"/>
            <p14:sldId id="2147375836"/>
            <p14:sldId id="2147476404"/>
            <p14:sldId id="2147476405"/>
          </p14:sldIdLst>
        </p14:section>
        <p14:section name="APPENDIX" id="{DCD2BAD8-F3B8-4B11-9075-710FFD42517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965707-383C-1590-7E1E-1CC0529CB55F}" name="大島 靖弘" initials="大靖" userId="S::yasuhiro_oshima@r.recruit.co.jp::28eeaa14-31cc-4ece-87ec-e8962a8a84d4" providerId="AD"/>
  <p188:author id="{6431D53F-952F-5F50-953F-364987793893}" name="柳 健太郎" initials="柳" userId="S::kentaro_yanagi@waku-2.com::e70dbdbe-df40-49ae-a86a-1e8d7be31622" providerId="AD"/>
  <p188:author id="{F1F32761-01E8-6056-7038-BB44C368A65E}" name="廣重 仁美" initials="廣仁" userId="S::hitomi_hiroshige@r.recruit.co.jp::c84703b0-159c-4dcd-9b70-45758aeefaa2" providerId="AD"/>
  <p188:author id="{D24CD376-B6C9-3489-6D9D-E30C1787331D}" name="七田　昌俊" initials="M.S." userId="七田　昌俊" providerId="None"/>
  <p188:author id="{6460BEA9-7274-72F9-072B-5A6B86DB92DA}" name="佐伯 奈々" initials="佐伯" userId="S::nana_saeki@r.recruit.co.jp::4e96e5c6-a182-4590-8066-b53b29189d21" providerId="AD"/>
  <p188:author id="{1C87C6BB-0E83-6D4C-4D1C-CF848BA4275F}" name="紺谷 龍太郎" initials="紺谷" userId="S::ryutaro_konya@waku-2.com::92c16fd9-bfdd-4abc-9dc0-c31ed4ed90b6" providerId="AD"/>
  <p188:author id="{355150C8-2B5B-65E8-B901-E35A8F093439}" name="恒屋 雄治" initials="恒屋" userId="S::y_tsuneya@r.recruit.co.jp::eb5c1709-198a-482d-8458-73fb0d140cd6" providerId="AD"/>
  <p188:author id="{F60350E1-ED74-C168-7D68-2E4689A28705}" name="土久 穂高" initials="土穂" userId="S::do9h@r.recruit.co.jp::43519758-b9b7-42e7-8b1b-732548645f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FF"/>
    <a:srgbClr val="0E0EAA"/>
    <a:srgbClr val="A5A5E9"/>
    <a:srgbClr val="2895D5"/>
    <a:srgbClr val="E6E6E6"/>
    <a:srgbClr val="BABAFF"/>
    <a:srgbClr val="FFFFCC"/>
    <a:srgbClr val="FFF2B9"/>
    <a:srgbClr val="FFDDDD"/>
    <a:srgbClr val="C2F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252"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3.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E2322-BDA3-4EEB-BC4E-E178FFD202E9}" type="datetimeFigureOut">
              <a:rPr kumimoji="1" lang="ja-JP" altLang="en-US" smtClean="0"/>
              <a:t>2026/3/26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8173A-8754-48DB-9150-A006ED359F83}" type="slidenum">
              <a:rPr kumimoji="1" lang="ja-JP" altLang="en-US" smtClean="0"/>
              <a:t>‹#›</a:t>
            </a:fld>
            <a:endParaRPr kumimoji="1" lang="ja-JP" altLang="en-US"/>
          </a:p>
        </p:txBody>
      </p:sp>
    </p:spTree>
    <p:extLst>
      <p:ext uri="{BB962C8B-B14F-4D97-AF65-F5344CB8AC3E}">
        <p14:creationId xmlns:p14="http://schemas.microsoft.com/office/powerpoint/2010/main" val="3666676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99C3-C3FA-0B32-6202-8DC5FCA239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F8754D-D207-DCF0-5F05-6E52043923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2B092AE-2C20-6D05-1631-804241CF914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6309D9FD-6134-F190-7268-9DB5B84518FF}"/>
              </a:ext>
            </a:extLst>
          </p:cNvPr>
          <p:cNvSpPr>
            <a:spLocks noGrp="1"/>
          </p:cNvSpPr>
          <p:nvPr>
            <p:ph type="sldNum" sz="quarter" idx="10"/>
          </p:nvPr>
        </p:nvSpPr>
        <p:spPr/>
        <p:txBody>
          <a:bodyPr/>
          <a:lstStyle/>
          <a:p>
            <a:pPr>
              <a:defRPr/>
            </a:pPr>
            <a:fld id="{1FBF1EA7-1322-4E8A-8143-24868A27BA7C}" type="slidenum">
              <a:rPr lang="ja-JP" altLang="en-US" smtClean="0"/>
              <a:pPr>
                <a:defRPr/>
              </a:pPr>
              <a:t>2</a:t>
            </a:fld>
            <a:endParaRPr lang="ja-JP" altLang="en-US"/>
          </a:p>
        </p:txBody>
      </p:sp>
    </p:spTree>
    <p:extLst>
      <p:ext uri="{BB962C8B-B14F-4D97-AF65-F5344CB8AC3E}">
        <p14:creationId xmlns:p14="http://schemas.microsoft.com/office/powerpoint/2010/main" val="619813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2CE50-94E8-C577-571F-668A5ECCBB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7CD9E2-6513-8C61-EAD8-AA65AE9FCC5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6E7E4F7-A671-5C51-BFAE-0F62BEACE4DD}"/>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0381DD33-835E-26BD-25A2-9B26A9A7F344}"/>
              </a:ext>
            </a:extLst>
          </p:cNvPr>
          <p:cNvSpPr>
            <a:spLocks noGrp="1"/>
          </p:cNvSpPr>
          <p:nvPr>
            <p:ph type="sldNum" sz="quarter" idx="10"/>
          </p:nvPr>
        </p:nvSpPr>
        <p:spPr/>
        <p:txBody>
          <a:bodyPr/>
          <a:lstStyle/>
          <a:p>
            <a:pPr>
              <a:defRPr/>
            </a:pPr>
            <a:fld id="{1FBF1EA7-1322-4E8A-8143-24868A27BA7C}" type="slidenum">
              <a:rPr lang="ja-JP" altLang="en-US" smtClean="0"/>
              <a:pPr>
                <a:defRPr/>
              </a:pPr>
              <a:t>3</a:t>
            </a:fld>
            <a:endParaRPr lang="ja-JP" altLang="en-US"/>
          </a:p>
        </p:txBody>
      </p:sp>
    </p:spTree>
    <p:extLst>
      <p:ext uri="{BB962C8B-B14F-4D97-AF65-F5344CB8AC3E}">
        <p14:creationId xmlns:p14="http://schemas.microsoft.com/office/powerpoint/2010/main" val="285076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0BA89-7EA4-9394-522E-E5FF9170DF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2B5807-222E-C559-63CA-7A589148CA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C65B723-10D8-D09E-ACCE-4CD05F57A4D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0DE7C32-E476-FE96-D85E-1D8AA7426D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4096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433AE-F48C-586F-7793-13809D0F39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ECA89B-2EA0-E091-F040-9648954CD8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0680DFD-8C06-7F73-7442-E5D5942F402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06D0FD0-BA95-3ABB-3457-8291F1A8CB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309938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7.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8.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0.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2.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3.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6.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7.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8.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9.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10.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1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3.xml"/><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6.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7.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8.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9.xml"/><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0.xml"/><Relationship Id="rId4" Type="http://schemas.openxmlformats.org/officeDocument/2006/relationships/image" Target="../media/image5.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1.xml"/><Relationship Id="rId4" Type="http://schemas.openxmlformats.org/officeDocument/2006/relationships/image" Target="../media/image6.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2.xml"/><Relationship Id="rId4"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3.xml"/><Relationship Id="rId4" Type="http://schemas.openxmlformats.org/officeDocument/2006/relationships/image" Target="../media/image8.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4.xml"/><Relationship Id="rId4" Type="http://schemas.openxmlformats.org/officeDocument/2006/relationships/image" Target="../media/image9.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5.xml"/><Relationship Id="rId4" Type="http://schemas.openxmlformats.org/officeDocument/2006/relationships/image" Target="../media/image10.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6.xml"/><Relationship Id="rId4" Type="http://schemas.openxmlformats.org/officeDocument/2006/relationships/image" Target="../media/image1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7.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27410127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08646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28236156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2023</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138922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30861839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394253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10826729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1671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34029204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312350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29195158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83939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317910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111134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6647568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330398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34114356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14779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597220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210718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14654062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292182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75213273"/>
              </p:ext>
            </p:ext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13687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タイトル スライド">
    <p:spTree>
      <p:nvGrpSpPr>
        <p:cNvPr id="1" name=""/>
        <p:cNvGrpSpPr/>
        <p:nvPr/>
      </p:nvGrpSpPr>
      <p:grpSpPr>
        <a:xfrm>
          <a:off x="0" y="0"/>
          <a:ext cx="0" cy="0"/>
          <a:chOff x="0" y="0"/>
          <a:chExt cx="0" cy="0"/>
        </a:xfrm>
      </p:grpSpPr>
      <p:pic>
        <p:nvPicPr>
          <p:cNvPr id="3" name="図 11" descr="名称未設定-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49684" y="5770564"/>
            <a:ext cx="3655483" cy="719137"/>
          </a:xfrm>
          <a:prstGeom prst="rect">
            <a:avLst/>
          </a:prstGeom>
          <a:noFill/>
          <a:ln w="9525">
            <a:noFill/>
            <a:miter lim="800000"/>
            <a:headEnd/>
            <a:tailEnd/>
          </a:ln>
        </p:spPr>
      </p:pic>
      <p:pic>
        <p:nvPicPr>
          <p:cNvPr id="4" name="図 10" descr="リクルート＿パワーポイント＿元データ.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1717867" cy="5316538"/>
          </a:xfrm>
          <a:prstGeom prst="rect">
            <a:avLst/>
          </a:prstGeom>
          <a:noFill/>
          <a:ln w="9525">
            <a:noFill/>
            <a:miter lim="800000"/>
            <a:headEnd/>
            <a:tailEnd/>
          </a:ln>
        </p:spPr>
      </p:pic>
      <p:sp>
        <p:nvSpPr>
          <p:cNvPr id="6157" name="Rectangle 13"/>
          <p:cNvSpPr>
            <a:spLocks noGrp="1" noChangeArrowheads="1"/>
          </p:cNvSpPr>
          <p:nvPr>
            <p:ph type="ctrTitle"/>
          </p:nvPr>
        </p:nvSpPr>
        <p:spPr>
          <a:xfrm>
            <a:off x="3874956" y="2557196"/>
            <a:ext cx="6833789" cy="1586089"/>
          </a:xfrm>
        </p:spPr>
        <p:txBody>
          <a:bodyPr/>
          <a:lstStyle>
            <a:lvl1pPr algn="r">
              <a:defRPr sz="2400">
                <a:solidFill>
                  <a:srgbClr val="34464D"/>
                </a:solidFill>
                <a:latin typeface="+mn-ea"/>
                <a:ea typeface="+mn-ea"/>
                <a:cs typeface="ＭＳ ゴシック"/>
              </a:defRPr>
            </a:lvl1pPr>
          </a:lstStyle>
          <a:p>
            <a:pPr lvl="0"/>
            <a:r>
              <a:rPr lang="ja-JP" altLang="en-US" noProof="0"/>
              <a:t>マスター タイトルの書式設定</a:t>
            </a:r>
          </a:p>
        </p:txBody>
      </p:sp>
    </p:spTree>
    <p:extLst>
      <p:ext uri="{BB962C8B-B14F-4D97-AF65-F5344CB8AC3E}">
        <p14:creationId xmlns:p14="http://schemas.microsoft.com/office/powerpoint/2010/main" val="133560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63996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0" indent="0">
              <a:buFont typeface="Arial" charset="0"/>
              <a:buNone/>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411663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4044123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371586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630026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347368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2623014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897478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4266344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9283454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4358811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1607070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通常スライド">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5" name="Rectangle 3"/>
          <p:cNvSpPr>
            <a:spLocks noGrp="1" noChangeArrowheads="1"/>
          </p:cNvSpPr>
          <p:nvPr>
            <p:ph idx="1"/>
          </p:nvPr>
        </p:nvSpPr>
        <p:spPr bwMode="auto">
          <a:xfrm>
            <a:off x="703384" y="5836762"/>
            <a:ext cx="10800862" cy="545783"/>
          </a:xfrm>
          <a:prstGeom prst="rect">
            <a:avLst/>
          </a:prstGeom>
          <a:noFill/>
          <a:ln w="9525">
            <a:solidFill>
              <a:schemeClr val="tx1"/>
            </a:solidFill>
            <a:miter lim="800000"/>
            <a:headEnd/>
            <a:tailEnd/>
          </a:ln>
        </p:spPr>
        <p:txBody>
          <a:bodyPr vert="horz" wrap="square" lIns="0" tIns="0" rIns="0" bIns="0" numCol="1" anchor="ctr" anchorCtr="0" compatLnSpc="1">
            <a:prstTxWarp prst="textNoShape">
              <a:avLst/>
            </a:prstTxWarp>
          </a:bodyPr>
          <a:lstStyle/>
          <a:p>
            <a:pPr lvl="0"/>
            <a:r>
              <a:rPr lang="ja-JP" altLang="en-US"/>
              <a:t>メッセージの入力（</a:t>
            </a:r>
            <a:r>
              <a:rPr lang="en-US" altLang="ja-JP"/>
              <a:t>50</a:t>
            </a:r>
            <a:r>
              <a:rPr lang="ja-JP" altLang="en-US"/>
              <a:t>文字以内）</a:t>
            </a:r>
            <a:endParaRPr lang="en-US" altLang="ja-JP"/>
          </a:p>
        </p:txBody>
      </p:sp>
      <p:sp>
        <p:nvSpPr>
          <p:cNvPr id="7" name="Rectangle 2"/>
          <p:cNvSpPr>
            <a:spLocks noGrp="1" noChangeArrowheads="1"/>
          </p:cNvSpPr>
          <p:nvPr>
            <p:ph type="title"/>
          </p:nvPr>
        </p:nvSpPr>
        <p:spPr bwMode="auto">
          <a:xfrm>
            <a:off x="447264" y="0"/>
            <a:ext cx="11303332" cy="499222"/>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ja-JP" altLang="en-US"/>
              <a:t>スライドタイトルの入力</a:t>
            </a:r>
          </a:p>
        </p:txBody>
      </p:sp>
    </p:spTree>
    <p:extLst>
      <p:ext uri="{BB962C8B-B14F-4D97-AF65-F5344CB8AC3E}">
        <p14:creationId xmlns:p14="http://schemas.microsoft.com/office/powerpoint/2010/main" val="16142416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467107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39623297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5135220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6246056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9898073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1336251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6099703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1485813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0421289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9370408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9795700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9203661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18492047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2020</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42661890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16059694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33967790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0517309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963355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4015082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2264331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9616150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1513236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2112670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2848808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NUL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NUL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oleObject" Target="../embeddings/oleObject1.bin"/><Relationship Id="rId2" Type="http://schemas.openxmlformats.org/officeDocument/2006/relationships/slideLayout" Target="../slideLayouts/slideLayout15.xml"/><Relationship Id="rId16" Type="http://schemas.openxmlformats.org/officeDocument/2006/relationships/tags" Target="../tags/tag16.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ags" Target="../tags/tag15.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image" Target="NULL"/><Relationship Id="rId2" Type="http://schemas.openxmlformats.org/officeDocument/2006/relationships/slideLayout" Target="../slideLayouts/slideLayout28.xml"/><Relationship Id="rId16" Type="http://schemas.openxmlformats.org/officeDocument/2006/relationships/oleObject" Target="../embeddings/oleObject1.bin"/><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ags" Target="../tags/tag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ags" Target="../tags/tag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image" Target="NULL"/><Relationship Id="rId2" Type="http://schemas.openxmlformats.org/officeDocument/2006/relationships/slideLayout" Target="../slideLayouts/slideLayout40.xml"/><Relationship Id="rId16" Type="http://schemas.openxmlformats.org/officeDocument/2006/relationships/oleObject" Target="../embeddings/oleObject1.bin"/><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ags" Target="../tags/tag45.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ags" Target="../tags/tag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extLst>
              <p:ext uri="{D42A27DB-BD31-4B8C-83A1-F6EECF244321}">
                <p14:modId xmlns:p14="http://schemas.microsoft.com/office/powerpoint/2010/main" val="228705929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042717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143959519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40"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26258379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93076058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6.xml"/><Relationship Id="rId1" Type="http://schemas.openxmlformats.org/officeDocument/2006/relationships/tags" Target="../tags/tag5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jpeg"/><Relationship Id="rId12"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jpe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6.xml"/><Relationship Id="rId1" Type="http://schemas.openxmlformats.org/officeDocument/2006/relationships/tags" Target="../tags/tag59.xml"/><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業務改革の目指す方向性と実現に必要な要素</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01537" y="655913"/>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marR="0" lvl="0" indent="-285750" defTabSz="879475" fontAlgn="base">
              <a:lnSpc>
                <a:spcPct val="115000"/>
              </a:lnSpc>
              <a:spcBef>
                <a:spcPct val="20000"/>
              </a:spcBef>
              <a:spcAft>
                <a:spcPct val="0"/>
              </a:spcAft>
              <a:buClr>
                <a:schemeClr val="accent2"/>
              </a:buClr>
              <a:buFont typeface="Arial" panose="020B0604020202020204" pitchFamily="34" charset="0"/>
              <a:buChar cha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単純な</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BPR</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ではなく、</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エージェントを軸としたデータ起点型の業務に改革するために、</a:t>
            </a:r>
            <a:b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b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最適なサービス基盤と基盤を支える開発部隊、特に</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エージェントを熟知したパートナーの存在が不可欠である。</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endParaRPr>
          </a:p>
          <a:p>
            <a:pPr marL="285750" marR="0" lvl="0" indent="-285750" defTabSz="879475" fontAlgn="base">
              <a:lnSpc>
                <a:spcPct val="115000"/>
              </a:lnSpc>
              <a:spcBef>
                <a:spcPct val="20000"/>
              </a:spcBef>
              <a:spcAft>
                <a:spcPct val="0"/>
              </a:spcAft>
              <a:buClr>
                <a:schemeClr val="accent2"/>
              </a:buClr>
              <a:buFont typeface="Arial" panose="020B0604020202020204" pitchFamily="34" charset="0"/>
              <a:buChar char="•"/>
            </a:pP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n8n</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や最新の</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エージェント構築に実績のある</a:t>
            </a:r>
            <a:r>
              <a:rPr lang="en-US" altLang="ja-JP" sz="1600" kern="0" dirty="0" err="1">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LinkX</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 Japan</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社をパートナーにおくことで、内製化の促進を行う。</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endParaRPr>
          </a:p>
        </p:txBody>
      </p:sp>
      <p:grpSp>
        <p:nvGrpSpPr>
          <p:cNvPr id="18" name="グループ化 17">
            <a:extLst>
              <a:ext uri="{FF2B5EF4-FFF2-40B4-BE49-F238E27FC236}">
                <a16:creationId xmlns:a16="http://schemas.microsoft.com/office/drawing/2014/main" id="{84D98188-8AE5-43E4-5700-77E7D565F67C}"/>
              </a:ext>
            </a:extLst>
          </p:cNvPr>
          <p:cNvGrpSpPr/>
          <p:nvPr/>
        </p:nvGrpSpPr>
        <p:grpSpPr>
          <a:xfrm>
            <a:off x="578838" y="1806580"/>
            <a:ext cx="11034324" cy="4772817"/>
            <a:chOff x="578838" y="1756545"/>
            <a:chExt cx="11034324" cy="4772817"/>
          </a:xfrm>
        </p:grpSpPr>
        <p:sp>
          <p:nvSpPr>
            <p:cNvPr id="11" name="正方形/長方形 10">
              <a:extLst>
                <a:ext uri="{FF2B5EF4-FFF2-40B4-BE49-F238E27FC236}">
                  <a16:creationId xmlns:a16="http://schemas.microsoft.com/office/drawing/2014/main" id="{CA3E06F3-4993-E402-636A-7C8700B48E98}"/>
                </a:ext>
              </a:extLst>
            </p:cNvPr>
            <p:cNvSpPr/>
            <p:nvPr/>
          </p:nvSpPr>
          <p:spPr>
            <a:xfrm>
              <a:off x="649729" y="5572592"/>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10" name="正方形/長方形 9">
              <a:extLst>
                <a:ext uri="{FF2B5EF4-FFF2-40B4-BE49-F238E27FC236}">
                  <a16:creationId xmlns:a16="http://schemas.microsoft.com/office/drawing/2014/main" id="{4EE6FF47-BC3A-683F-F883-D34BEB6691C0}"/>
                </a:ext>
              </a:extLst>
            </p:cNvPr>
            <p:cNvSpPr/>
            <p:nvPr/>
          </p:nvSpPr>
          <p:spPr>
            <a:xfrm>
              <a:off x="659235" y="4157021"/>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9" name="正方形/長方形 8">
              <a:extLst>
                <a:ext uri="{FF2B5EF4-FFF2-40B4-BE49-F238E27FC236}">
                  <a16:creationId xmlns:a16="http://schemas.microsoft.com/office/drawing/2014/main" id="{AF96041E-A33A-EC9E-E327-F40D4B5C9DBB}"/>
                </a:ext>
              </a:extLst>
            </p:cNvPr>
            <p:cNvSpPr/>
            <p:nvPr/>
          </p:nvSpPr>
          <p:spPr>
            <a:xfrm>
              <a:off x="649729" y="2723004"/>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7" name="正方形/長方形 6">
              <a:extLst>
                <a:ext uri="{FF2B5EF4-FFF2-40B4-BE49-F238E27FC236}">
                  <a16:creationId xmlns:a16="http://schemas.microsoft.com/office/drawing/2014/main" id="{0C3AA127-F007-423C-7A3C-5AED73130760}"/>
                </a:ext>
              </a:extLst>
            </p:cNvPr>
            <p:cNvSpPr/>
            <p:nvPr/>
          </p:nvSpPr>
          <p:spPr>
            <a:xfrm>
              <a:off x="2112205" y="1880797"/>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C5450C8B-1564-1DEB-AA42-A7EFC382E2B7}"/>
                </a:ext>
              </a:extLst>
            </p:cNvPr>
            <p:cNvSpPr/>
            <p:nvPr/>
          </p:nvSpPr>
          <p:spPr>
            <a:xfrm>
              <a:off x="578838" y="1756545"/>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879475" fontAlgn="base" latinLnBrk="1">
                <a:lnSpc>
                  <a:spcPct val="100000"/>
                </a:lnSpc>
                <a:spcBef>
                  <a:spcPct val="0"/>
                </a:spcBef>
                <a:spcAft>
                  <a:spcPct val="0"/>
                </a:spcAft>
                <a:buClrTx/>
                <a:buSzTx/>
                <a:buFontTx/>
                <a:buNone/>
                <a:tabLs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サービス提供業務</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13" name="正方形/長方形 12">
              <a:extLst>
                <a:ext uri="{FF2B5EF4-FFF2-40B4-BE49-F238E27FC236}">
                  <a16:creationId xmlns:a16="http://schemas.microsoft.com/office/drawing/2014/main" id="{2473DFB7-A570-22BA-388A-DFEFBDC01F1C}"/>
                </a:ext>
              </a:extLst>
            </p:cNvPr>
            <p:cNvSpPr/>
            <p:nvPr/>
          </p:nvSpPr>
          <p:spPr>
            <a:xfrm>
              <a:off x="2112205" y="3310436"/>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22ACCB8C-93F4-B36C-ECE0-99769350FC54}"/>
                </a:ext>
              </a:extLst>
            </p:cNvPr>
            <p:cNvSpPr/>
            <p:nvPr/>
          </p:nvSpPr>
          <p:spPr>
            <a:xfrm>
              <a:off x="578838" y="3186184"/>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879475" fontAlgn="base" latinLnBrk="1">
                <a:spcBef>
                  <a:spcPct val="0"/>
                </a:spcBef>
                <a:spcAft>
                  <a:spcPct val="0"/>
                </a:spcAf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サービス提供基盤</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16" name="正方形/長方形 15">
              <a:extLst>
                <a:ext uri="{FF2B5EF4-FFF2-40B4-BE49-F238E27FC236}">
                  <a16:creationId xmlns:a16="http://schemas.microsoft.com/office/drawing/2014/main" id="{00497C8E-BFE8-AAA7-32FE-B42DFD66C825}"/>
                </a:ext>
              </a:extLst>
            </p:cNvPr>
            <p:cNvSpPr/>
            <p:nvPr/>
          </p:nvSpPr>
          <p:spPr>
            <a:xfrm>
              <a:off x="2112205" y="4740075"/>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619793C1-2B66-DC31-DB59-5078AF7088D2}"/>
                </a:ext>
              </a:extLst>
            </p:cNvPr>
            <p:cNvSpPr/>
            <p:nvPr/>
          </p:nvSpPr>
          <p:spPr>
            <a:xfrm>
              <a:off x="2590520" y="2199240"/>
              <a:ext cx="5359298" cy="1028148"/>
            </a:xfrm>
            <a:prstGeom prst="rect">
              <a:avLst/>
            </a:prstGeom>
            <a:solidFill>
              <a:srgbClr val="E9E9FF"/>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900" dirty="0">
                <a:solidFill>
                  <a:schemeClr val="accent4">
                    <a:lumMod val="65000"/>
                    <a:lumOff val="35000"/>
                  </a:schemeClr>
                </a:solidFill>
                <a:latin typeface="+mn-ea"/>
                <a:cs typeface="Hiragino Kaku Gothic Pro W3" charset="-128"/>
              </a:endParaRPr>
            </a:p>
          </p:txBody>
        </p:sp>
        <p:sp>
          <p:nvSpPr>
            <p:cNvPr id="45" name="矢印: 五方向 44">
              <a:extLst>
                <a:ext uri="{FF2B5EF4-FFF2-40B4-BE49-F238E27FC236}">
                  <a16:creationId xmlns:a16="http://schemas.microsoft.com/office/drawing/2014/main" id="{DE314867-C2F2-FFB2-9485-F8A1F3429F63}"/>
                </a:ext>
              </a:extLst>
            </p:cNvPr>
            <p:cNvSpPr/>
            <p:nvPr/>
          </p:nvSpPr>
          <p:spPr>
            <a:xfrm>
              <a:off x="2671716" y="2441767"/>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現状業務</a:t>
              </a:r>
            </a:p>
          </p:txBody>
        </p:sp>
        <p:sp>
          <p:nvSpPr>
            <p:cNvPr id="46" name="矢印: 五方向 45">
              <a:extLst>
                <a:ext uri="{FF2B5EF4-FFF2-40B4-BE49-F238E27FC236}">
                  <a16:creationId xmlns:a16="http://schemas.microsoft.com/office/drawing/2014/main" id="{2FE2ECDC-391F-FE08-6B86-98517807C96A}"/>
                </a:ext>
              </a:extLst>
            </p:cNvPr>
            <p:cNvSpPr/>
            <p:nvPr/>
          </p:nvSpPr>
          <p:spPr>
            <a:xfrm>
              <a:off x="3386886" y="2441767"/>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BPR</a:t>
              </a: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47" name="矢印: 五方向 46">
              <a:extLst>
                <a:ext uri="{FF2B5EF4-FFF2-40B4-BE49-F238E27FC236}">
                  <a16:creationId xmlns:a16="http://schemas.microsoft.com/office/drawing/2014/main" id="{6E330AE9-EAAD-D40E-2B6B-CF37AF4D786C}"/>
                </a:ext>
              </a:extLst>
            </p:cNvPr>
            <p:cNvSpPr/>
            <p:nvPr/>
          </p:nvSpPr>
          <p:spPr>
            <a:xfrm>
              <a:off x="4102057" y="2441767"/>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ERP</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導入</a:t>
              </a:r>
            </a:p>
          </p:txBody>
        </p:sp>
        <p:cxnSp>
          <p:nvCxnSpPr>
            <p:cNvPr id="49" name="直線コネクタ 48">
              <a:extLst>
                <a:ext uri="{FF2B5EF4-FFF2-40B4-BE49-F238E27FC236}">
                  <a16:creationId xmlns:a16="http://schemas.microsoft.com/office/drawing/2014/main" id="{4FFE7422-6574-F7F7-D327-4F2F8C37A9EA}"/>
                </a:ext>
              </a:extLst>
            </p:cNvPr>
            <p:cNvCxnSpPr/>
            <p:nvPr/>
          </p:nvCxnSpPr>
          <p:spPr>
            <a:xfrm>
              <a:off x="2671716" y="2385191"/>
              <a:ext cx="2383637" cy="0"/>
            </a:xfrm>
            <a:prstGeom prst="line">
              <a:avLst/>
            </a:prstGeom>
            <a:noFill/>
            <a:ln w="9525" cap="flat" cmpd="sng" algn="ctr">
              <a:solidFill>
                <a:srgbClr val="000000"/>
              </a:solidFill>
              <a:prstDash val="solid"/>
            </a:ln>
            <a:effectLst/>
          </p:spPr>
        </p:cxnSp>
        <p:sp>
          <p:nvSpPr>
            <p:cNvPr id="50" name="テキスト ボックス 49">
              <a:extLst>
                <a:ext uri="{FF2B5EF4-FFF2-40B4-BE49-F238E27FC236}">
                  <a16:creationId xmlns:a16="http://schemas.microsoft.com/office/drawing/2014/main" id="{A3FC3E22-6687-6126-73A6-049B7A8EFE85}"/>
                </a:ext>
              </a:extLst>
            </p:cNvPr>
            <p:cNvSpPr txBox="1"/>
            <p:nvPr/>
          </p:nvSpPr>
          <p:spPr>
            <a:xfrm>
              <a:off x="2955929" y="2264316"/>
              <a:ext cx="1815211" cy="113517"/>
            </a:xfrm>
            <a:prstGeom prst="rect">
              <a:avLst/>
            </a:prstGeom>
            <a:noFill/>
          </p:spPr>
          <p:txBody>
            <a:bodyPr wrap="none" lIns="0" tIns="0" rIns="0" bIns="0" rtlCol="0" anchor="b" anchorCtr="0">
              <a:spAutoFit/>
            </a:bodyPr>
            <a:lstStyle/>
            <a:p>
              <a:pPr marL="0" marR="0" lvl="0" indent="0" algn="ctr" defTabSz="987415" eaLnBrk="1" fontAlgn="base"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これまでの業務改革</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（業務起点）</a:t>
              </a:r>
              <a:endPar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4" name="円柱 53">
              <a:extLst>
                <a:ext uri="{FF2B5EF4-FFF2-40B4-BE49-F238E27FC236}">
                  <a16:creationId xmlns:a16="http://schemas.microsoft.com/office/drawing/2014/main" id="{C615F096-7B3F-CC6E-9174-1BB152176885}"/>
                </a:ext>
              </a:extLst>
            </p:cNvPr>
            <p:cNvSpPr/>
            <p:nvPr/>
          </p:nvSpPr>
          <p:spPr>
            <a:xfrm>
              <a:off x="4340090" y="2687970"/>
              <a:ext cx="715091" cy="248752"/>
            </a:xfrm>
            <a:prstGeom prst="can">
              <a:avLst/>
            </a:prstGeom>
            <a:noFill/>
            <a:ln w="9525" cap="flat" cmpd="sng" algn="ctr">
              <a:solidFill>
                <a:srgbClr val="000000">
                  <a:lumMod val="65000"/>
                  <a:lumOff val="35000"/>
                </a:srgbClr>
              </a:solidFill>
              <a:prstDash val="solid"/>
            </a:ln>
            <a:effectLst/>
          </p:spPr>
          <p:txBody>
            <a:bodyPr vert="horz" lIns="36000" tIns="0" rIns="36000" bIns="0" rtlCol="0" anchor="ctr">
              <a:noAutofit/>
            </a:bodyPr>
            <a:lstStyle/>
            <a:p>
              <a:pPr algn="ctr"/>
              <a:r>
                <a:rPr kumimoji="0" lang="ja-JP" altLang="en-US" sz="900" kern="0" dirty="0">
                  <a:solidFill>
                    <a:srgbClr val="000000"/>
                  </a:solidFill>
                  <a:latin typeface="Meiryo UI"/>
                  <a:ea typeface="Meiryo UI"/>
                </a:rPr>
                <a:t>会計データ</a:t>
              </a:r>
            </a:p>
          </p:txBody>
        </p:sp>
        <p:cxnSp>
          <p:nvCxnSpPr>
            <p:cNvPr id="55" name="直線矢印コネクタ 54">
              <a:extLst>
                <a:ext uri="{FF2B5EF4-FFF2-40B4-BE49-F238E27FC236}">
                  <a16:creationId xmlns:a16="http://schemas.microsoft.com/office/drawing/2014/main" id="{89185DA7-1B39-95B0-448E-D117B6648926}"/>
                </a:ext>
              </a:extLst>
            </p:cNvPr>
            <p:cNvCxnSpPr>
              <a:stCxn id="47" idx="2"/>
              <a:endCxn id="54" idx="1"/>
            </p:cNvCxnSpPr>
            <p:nvPr/>
          </p:nvCxnSpPr>
          <p:spPr>
            <a:xfrm>
              <a:off x="4400011" y="2607601"/>
              <a:ext cx="297624" cy="80368"/>
            </a:xfrm>
            <a:prstGeom prst="straightConnector1">
              <a:avLst/>
            </a:prstGeom>
            <a:noFill/>
            <a:ln w="9525" cap="flat" cmpd="sng" algn="ctr">
              <a:solidFill>
                <a:schemeClr val="tx1"/>
              </a:solidFill>
              <a:prstDash val="solid"/>
              <a:tailEnd type="triangle"/>
            </a:ln>
            <a:effectLst/>
          </p:spPr>
        </p:cxnSp>
        <p:sp>
          <p:nvSpPr>
            <p:cNvPr id="56" name="テキスト ボックス 55">
              <a:extLst>
                <a:ext uri="{FF2B5EF4-FFF2-40B4-BE49-F238E27FC236}">
                  <a16:creationId xmlns:a16="http://schemas.microsoft.com/office/drawing/2014/main" id="{457A4C9F-7AA5-F5B1-0989-FE070EB9AD92}"/>
                </a:ext>
              </a:extLst>
            </p:cNvPr>
            <p:cNvSpPr txBox="1"/>
            <p:nvPr/>
          </p:nvSpPr>
          <p:spPr>
            <a:xfrm>
              <a:off x="4465214" y="3077151"/>
              <a:ext cx="469099" cy="90814"/>
            </a:xfrm>
            <a:prstGeom prst="rect">
              <a:avLst/>
            </a:prstGeom>
            <a:noFill/>
          </p:spPr>
          <p:txBody>
            <a:bodyPr wrap="none" lIns="0" tIns="0" rIns="0" bIns="0" rtlCol="0">
              <a:spAutoFit/>
            </a:bodyPr>
            <a:lstStyle/>
            <a:p>
              <a:pPr defTabSz="987415" fontAlgn="base"/>
              <a:r>
                <a:rPr lang="ja-JP" altLang="en-US" sz="800" kern="0" dirty="0">
                  <a:solidFill>
                    <a:srgbClr val="000000"/>
                  </a:solidFill>
                  <a:latin typeface="Meiryo UI" panose="020B0604030504040204" pitchFamily="50" charset="-128"/>
                  <a:ea typeface="Meiryo UI" panose="020B0604030504040204" pitchFamily="50" charset="-128"/>
                </a:rPr>
                <a:t>データ集計</a:t>
              </a:r>
            </a:p>
          </p:txBody>
        </p:sp>
        <p:cxnSp>
          <p:nvCxnSpPr>
            <p:cNvPr id="57" name="直線矢印コネクタ 56">
              <a:extLst>
                <a:ext uri="{FF2B5EF4-FFF2-40B4-BE49-F238E27FC236}">
                  <a16:creationId xmlns:a16="http://schemas.microsoft.com/office/drawing/2014/main" id="{AA4A2B51-BDDB-D7FB-081A-F7A6DFDC650F}"/>
                </a:ext>
              </a:extLst>
            </p:cNvPr>
            <p:cNvCxnSpPr>
              <a:cxnSpLocks/>
              <a:stCxn id="54" idx="3"/>
              <a:endCxn id="56" idx="0"/>
            </p:cNvCxnSpPr>
            <p:nvPr/>
          </p:nvCxnSpPr>
          <p:spPr>
            <a:xfrm>
              <a:off x="4697636" y="2936722"/>
              <a:ext cx="2128" cy="140429"/>
            </a:xfrm>
            <a:prstGeom prst="straightConnector1">
              <a:avLst/>
            </a:prstGeom>
            <a:noFill/>
            <a:ln w="9525" cap="flat" cmpd="sng" algn="ctr">
              <a:solidFill>
                <a:schemeClr val="tx1"/>
              </a:solidFill>
              <a:prstDash val="solid"/>
              <a:tailEnd type="triangle"/>
            </a:ln>
            <a:effectLst/>
          </p:spPr>
        </p:cxnSp>
        <p:cxnSp>
          <p:nvCxnSpPr>
            <p:cNvPr id="52" name="直線コネクタ 51">
              <a:extLst>
                <a:ext uri="{FF2B5EF4-FFF2-40B4-BE49-F238E27FC236}">
                  <a16:creationId xmlns:a16="http://schemas.microsoft.com/office/drawing/2014/main" id="{A9D458D8-9057-F76C-0557-449C114CB655}"/>
                </a:ext>
              </a:extLst>
            </p:cNvPr>
            <p:cNvCxnSpPr/>
            <p:nvPr/>
          </p:nvCxnSpPr>
          <p:spPr>
            <a:xfrm>
              <a:off x="5484826" y="2385191"/>
              <a:ext cx="2383637" cy="0"/>
            </a:xfrm>
            <a:prstGeom prst="line">
              <a:avLst/>
            </a:prstGeom>
            <a:noFill/>
            <a:ln w="9525" cap="flat" cmpd="sng" algn="ctr">
              <a:solidFill>
                <a:srgbClr val="000000"/>
              </a:solidFill>
              <a:prstDash val="solid"/>
            </a:ln>
            <a:effectLst/>
          </p:spPr>
        </p:cxnSp>
        <p:sp>
          <p:nvSpPr>
            <p:cNvPr id="53" name="テキスト ボックス 52">
              <a:extLst>
                <a:ext uri="{FF2B5EF4-FFF2-40B4-BE49-F238E27FC236}">
                  <a16:creationId xmlns:a16="http://schemas.microsoft.com/office/drawing/2014/main" id="{9369EEC1-C985-51E8-41E1-28604248E56E}"/>
                </a:ext>
              </a:extLst>
            </p:cNvPr>
            <p:cNvSpPr txBox="1"/>
            <p:nvPr/>
          </p:nvSpPr>
          <p:spPr>
            <a:xfrm>
              <a:off x="5752892" y="2264320"/>
              <a:ext cx="1847504" cy="113517"/>
            </a:xfrm>
            <a:prstGeom prst="rect">
              <a:avLst/>
            </a:prstGeom>
            <a:noFill/>
          </p:spPr>
          <p:txBody>
            <a:bodyPr wrap="none" lIns="0" tIns="0" rIns="0" bIns="0" rtlCol="0" anchor="b" anchorCtr="0">
              <a:spAutoFit/>
            </a:bodyPr>
            <a:lstStyle/>
            <a:p>
              <a:pPr marL="0" marR="0" lvl="0" indent="0" algn="ctr" defTabSz="987415" eaLnBrk="1" fontAlgn="base"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これからの業務改革</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（データ起点）</a:t>
              </a:r>
            </a:p>
          </p:txBody>
        </p:sp>
        <p:sp>
          <p:nvSpPr>
            <p:cNvPr id="58" name="円柱 57">
              <a:extLst>
                <a:ext uri="{FF2B5EF4-FFF2-40B4-BE49-F238E27FC236}">
                  <a16:creationId xmlns:a16="http://schemas.microsoft.com/office/drawing/2014/main" id="{662AD2B6-E0AF-AF35-5A59-66E054079BE1}"/>
                </a:ext>
              </a:extLst>
            </p:cNvPr>
            <p:cNvSpPr/>
            <p:nvPr/>
          </p:nvSpPr>
          <p:spPr>
            <a:xfrm>
              <a:off x="6326731" y="2630247"/>
              <a:ext cx="715091" cy="364198"/>
            </a:xfrm>
            <a:prstGeom prst="can">
              <a:avLst/>
            </a:prstGeom>
            <a:noFill/>
            <a:ln w="9525" cap="flat" cmpd="sng" algn="ctr">
              <a:solidFill>
                <a:srgbClr val="000000">
                  <a:lumMod val="65000"/>
                  <a:lumOff val="35000"/>
                </a:srgbClr>
              </a:solidFill>
              <a:prstDash val="solid"/>
            </a:ln>
            <a:effectLst/>
          </p:spPr>
          <p:txBody>
            <a:bodyPr vert="horz" lIns="36000" tIns="0" rIns="36000" bIns="0" rtlCol="0" anchor="ctr">
              <a:noAutofit/>
            </a:bodyPr>
            <a:lstStyle/>
            <a:p>
              <a:pPr algn="ctr"/>
              <a:r>
                <a:rPr kumimoji="0" lang="en-US" altLang="ja-JP" sz="900" kern="0" dirty="0">
                  <a:solidFill>
                    <a:srgbClr val="000000"/>
                  </a:solidFill>
                  <a:latin typeface="Meiryo UI"/>
                  <a:ea typeface="Meiryo UI"/>
                </a:rPr>
                <a:t>AI</a:t>
              </a:r>
              <a:r>
                <a:rPr kumimoji="0" lang="ja-JP" altLang="en-US" sz="900" kern="0" dirty="0">
                  <a:solidFill>
                    <a:srgbClr val="000000"/>
                  </a:solidFill>
                  <a:latin typeface="Meiryo UI"/>
                  <a:ea typeface="Meiryo UI"/>
                </a:rPr>
                <a:t>エージェント</a:t>
              </a:r>
              <a:endParaRPr kumimoji="0" lang="en-US" altLang="ja-JP" sz="900" kern="0" dirty="0">
                <a:solidFill>
                  <a:srgbClr val="000000"/>
                </a:solidFill>
                <a:latin typeface="Meiryo UI"/>
                <a:ea typeface="Meiryo UI"/>
              </a:endParaRPr>
            </a:p>
            <a:p>
              <a:pPr algn="ctr"/>
              <a:r>
                <a:rPr kumimoji="0" lang="ja-JP" altLang="en-US" sz="900" kern="0" dirty="0">
                  <a:solidFill>
                    <a:srgbClr val="000000"/>
                  </a:solidFill>
                  <a:latin typeface="Meiryo UI"/>
                  <a:ea typeface="Meiryo UI"/>
                </a:rPr>
                <a:t>データ</a:t>
              </a:r>
            </a:p>
          </p:txBody>
        </p:sp>
        <p:sp>
          <p:nvSpPr>
            <p:cNvPr id="59" name="四角形: 角を丸くする 58">
              <a:extLst>
                <a:ext uri="{FF2B5EF4-FFF2-40B4-BE49-F238E27FC236}">
                  <a16:creationId xmlns:a16="http://schemas.microsoft.com/office/drawing/2014/main" id="{86F40312-D847-231F-58F9-1B7F4740F296}"/>
                </a:ext>
              </a:extLst>
            </p:cNvPr>
            <p:cNvSpPr/>
            <p:nvPr/>
          </p:nvSpPr>
          <p:spPr>
            <a:xfrm>
              <a:off x="5493969" y="2478001"/>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panose="020B0604030504040204" pitchFamily="50" charset="-128"/>
                  <a:ea typeface="Meiryo UI" panose="020B0604030504040204" pitchFamily="50" charset="-128"/>
                </a:rPr>
                <a:t>ユーザー</a:t>
              </a: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0" name="四角形: 角を丸くする 59">
              <a:extLst>
                <a:ext uri="{FF2B5EF4-FFF2-40B4-BE49-F238E27FC236}">
                  <a16:creationId xmlns:a16="http://schemas.microsoft.com/office/drawing/2014/main" id="{E3BD4CCC-8E44-A6DE-E5F4-A9E6FC0F0A7D}"/>
                </a:ext>
              </a:extLst>
            </p:cNvPr>
            <p:cNvSpPr/>
            <p:nvPr/>
          </p:nvSpPr>
          <p:spPr>
            <a:xfrm>
              <a:off x="5493969" y="2947926"/>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開発</a:t>
              </a:r>
            </a:p>
          </p:txBody>
        </p:sp>
        <p:sp>
          <p:nvSpPr>
            <p:cNvPr id="61" name="四角形: 角を丸くする 60">
              <a:extLst>
                <a:ext uri="{FF2B5EF4-FFF2-40B4-BE49-F238E27FC236}">
                  <a16:creationId xmlns:a16="http://schemas.microsoft.com/office/drawing/2014/main" id="{390C5469-4D9C-AD58-95FC-8FEB0F90BF6E}"/>
                </a:ext>
              </a:extLst>
            </p:cNvPr>
            <p:cNvSpPr/>
            <p:nvPr/>
          </p:nvSpPr>
          <p:spPr>
            <a:xfrm>
              <a:off x="7344221" y="2947926"/>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製品</a:t>
              </a:r>
            </a:p>
          </p:txBody>
        </p:sp>
        <p:sp>
          <p:nvSpPr>
            <p:cNvPr id="62" name="四角形: 角を丸くする 61">
              <a:extLst>
                <a:ext uri="{FF2B5EF4-FFF2-40B4-BE49-F238E27FC236}">
                  <a16:creationId xmlns:a16="http://schemas.microsoft.com/office/drawing/2014/main" id="{E537B528-010E-8138-5D2F-69D944668694}"/>
                </a:ext>
              </a:extLst>
            </p:cNvPr>
            <p:cNvSpPr/>
            <p:nvPr/>
          </p:nvSpPr>
          <p:spPr>
            <a:xfrm>
              <a:off x="7344221" y="2478001"/>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業務</a:t>
              </a:r>
            </a:p>
          </p:txBody>
        </p:sp>
        <p:sp>
          <p:nvSpPr>
            <p:cNvPr id="63" name="円弧 62">
              <a:extLst>
                <a:ext uri="{FF2B5EF4-FFF2-40B4-BE49-F238E27FC236}">
                  <a16:creationId xmlns:a16="http://schemas.microsoft.com/office/drawing/2014/main" id="{9B6CF2F5-7993-CEC8-26A2-FACBE76A9F88}"/>
                </a:ext>
              </a:extLst>
            </p:cNvPr>
            <p:cNvSpPr/>
            <p:nvPr/>
          </p:nvSpPr>
          <p:spPr>
            <a:xfrm rot="1483682">
              <a:off x="5912370" y="2621849"/>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4" name="円弧 63">
              <a:extLst>
                <a:ext uri="{FF2B5EF4-FFF2-40B4-BE49-F238E27FC236}">
                  <a16:creationId xmlns:a16="http://schemas.microsoft.com/office/drawing/2014/main" id="{471B4A54-0AC8-4816-616B-81686BF8D346}"/>
                </a:ext>
              </a:extLst>
            </p:cNvPr>
            <p:cNvSpPr/>
            <p:nvPr/>
          </p:nvSpPr>
          <p:spPr>
            <a:xfrm rot="19491382">
              <a:off x="5912370" y="2879613"/>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5" name="円弧 64">
              <a:extLst>
                <a:ext uri="{FF2B5EF4-FFF2-40B4-BE49-F238E27FC236}">
                  <a16:creationId xmlns:a16="http://schemas.microsoft.com/office/drawing/2014/main" id="{7B3A992D-D8E9-2B92-38C3-98682648713E}"/>
                </a:ext>
              </a:extLst>
            </p:cNvPr>
            <p:cNvSpPr/>
            <p:nvPr/>
          </p:nvSpPr>
          <p:spPr>
            <a:xfrm rot="8236938">
              <a:off x="6974497" y="2621849"/>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000000"/>
                </a:solidFill>
                <a:effectLst/>
                <a:highlight>
                  <a:srgbClr val="FFFF00"/>
                </a:highlight>
                <a:uLnTx/>
                <a:uFillTx/>
                <a:latin typeface="Meiryo UI" panose="020B0604030504040204" pitchFamily="50" charset="-128"/>
                <a:ea typeface="Meiryo UI" panose="020B0604030504040204" pitchFamily="50" charset="-128"/>
              </a:endParaRPr>
            </a:p>
          </p:txBody>
        </p:sp>
        <p:sp>
          <p:nvSpPr>
            <p:cNvPr id="66" name="円弧 65">
              <a:extLst>
                <a:ext uri="{FF2B5EF4-FFF2-40B4-BE49-F238E27FC236}">
                  <a16:creationId xmlns:a16="http://schemas.microsoft.com/office/drawing/2014/main" id="{FD5735ED-37B9-79EB-E166-BE7747745045}"/>
                </a:ext>
              </a:extLst>
            </p:cNvPr>
            <p:cNvSpPr/>
            <p:nvPr/>
          </p:nvSpPr>
          <p:spPr>
            <a:xfrm rot="12345559">
              <a:off x="6974496" y="2879613"/>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7" name="テキスト ボックス 66">
              <a:extLst>
                <a:ext uri="{FF2B5EF4-FFF2-40B4-BE49-F238E27FC236}">
                  <a16:creationId xmlns:a16="http://schemas.microsoft.com/office/drawing/2014/main" id="{5121AA0F-C5F5-AA5F-DC15-C42102F3D689}"/>
                </a:ext>
              </a:extLst>
            </p:cNvPr>
            <p:cNvSpPr txBox="1"/>
            <p:nvPr/>
          </p:nvSpPr>
          <p:spPr>
            <a:xfrm>
              <a:off x="6385141" y="2480080"/>
              <a:ext cx="598271" cy="90814"/>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①データ蓄積</a:t>
              </a:r>
            </a:p>
          </p:txBody>
        </p:sp>
        <p:sp>
          <p:nvSpPr>
            <p:cNvPr id="68" name="テキスト ボックス 67">
              <a:extLst>
                <a:ext uri="{FF2B5EF4-FFF2-40B4-BE49-F238E27FC236}">
                  <a16:creationId xmlns:a16="http://schemas.microsoft.com/office/drawing/2014/main" id="{B782837F-8CE9-556F-A17D-27EA27FB2625}"/>
                </a:ext>
              </a:extLst>
            </p:cNvPr>
            <p:cNvSpPr txBox="1"/>
            <p:nvPr/>
          </p:nvSpPr>
          <p:spPr>
            <a:xfrm>
              <a:off x="5675431" y="2750474"/>
              <a:ext cx="307777" cy="123111"/>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③改善</a:t>
              </a:r>
            </a:p>
          </p:txBody>
        </p:sp>
        <p:sp>
          <p:nvSpPr>
            <p:cNvPr id="69" name="テキスト ボックス 68">
              <a:extLst>
                <a:ext uri="{FF2B5EF4-FFF2-40B4-BE49-F238E27FC236}">
                  <a16:creationId xmlns:a16="http://schemas.microsoft.com/office/drawing/2014/main" id="{4D38B32D-5926-FDA1-B1C8-828295994312}"/>
                </a:ext>
              </a:extLst>
            </p:cNvPr>
            <p:cNvSpPr txBox="1"/>
            <p:nvPr/>
          </p:nvSpPr>
          <p:spPr>
            <a:xfrm>
              <a:off x="6384290" y="3026030"/>
              <a:ext cx="668453" cy="123111"/>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②可視化・分析</a:t>
              </a:r>
            </a:p>
          </p:txBody>
        </p:sp>
        <p:sp>
          <p:nvSpPr>
            <p:cNvPr id="74" name="矢印: 山形 73">
              <a:extLst>
                <a:ext uri="{FF2B5EF4-FFF2-40B4-BE49-F238E27FC236}">
                  <a16:creationId xmlns:a16="http://schemas.microsoft.com/office/drawing/2014/main" id="{DDEDD2D4-1F49-B8BD-6674-2CE23825F404}"/>
                </a:ext>
              </a:extLst>
            </p:cNvPr>
            <p:cNvSpPr/>
            <p:nvPr/>
          </p:nvSpPr>
          <p:spPr>
            <a:xfrm>
              <a:off x="5176016" y="2427061"/>
              <a:ext cx="188305" cy="572507"/>
            </a:xfrm>
            <a:prstGeom prst="chevron">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88A19D6F-625F-EC39-AB12-9026FC6B8AD9}"/>
                </a:ext>
              </a:extLst>
            </p:cNvPr>
            <p:cNvSpPr/>
            <p:nvPr/>
          </p:nvSpPr>
          <p:spPr>
            <a:xfrm>
              <a:off x="8412287" y="1756545"/>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デジタルフィードバックループの</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概念を踏襲したエコシステムの確立</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2" name="正方形/長方形 81">
              <a:extLst>
                <a:ext uri="{FF2B5EF4-FFF2-40B4-BE49-F238E27FC236}">
                  <a16:creationId xmlns:a16="http://schemas.microsoft.com/office/drawing/2014/main" id="{20DFC8B5-A2F5-96C0-CBEB-AD7CCF459D6A}"/>
                </a:ext>
              </a:extLst>
            </p:cNvPr>
            <p:cNvSpPr/>
            <p:nvPr/>
          </p:nvSpPr>
          <p:spPr>
            <a:xfrm>
              <a:off x="8412287" y="3186184"/>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変化に強く柔軟性の高い</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エージェントサービス基盤の確立</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3" name="正方形/長方形 82">
              <a:extLst>
                <a:ext uri="{FF2B5EF4-FFF2-40B4-BE49-F238E27FC236}">
                  <a16:creationId xmlns:a16="http://schemas.microsoft.com/office/drawing/2014/main" id="{3E73C1A5-523F-6732-20CC-998C40EE643A}"/>
                </a:ext>
              </a:extLst>
            </p:cNvPr>
            <p:cNvSpPr/>
            <p:nvPr/>
          </p:nvSpPr>
          <p:spPr>
            <a:xfrm>
              <a:off x="8412287" y="4615823"/>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社内業務の</a:t>
              </a: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エージェント化を促進する</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内製部隊の確立と</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最先端の</a:t>
              </a: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技術を擁するパートナー連携</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 name="正方形/長方形 7">
              <a:extLst>
                <a:ext uri="{FF2B5EF4-FFF2-40B4-BE49-F238E27FC236}">
                  <a16:creationId xmlns:a16="http://schemas.microsoft.com/office/drawing/2014/main" id="{5FE6F897-2EC1-A0BE-C5C5-BA9E31D9E885}"/>
                </a:ext>
              </a:extLst>
            </p:cNvPr>
            <p:cNvSpPr/>
            <p:nvPr/>
          </p:nvSpPr>
          <p:spPr>
            <a:xfrm>
              <a:off x="2272206" y="3723012"/>
              <a:ext cx="999602" cy="83988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フロントエンド</a:t>
              </a:r>
              <a:endParaRPr kumimoji="0" lang="en-US" altLang="ja-JP" sz="900" kern="0" dirty="0">
                <a:solidFill>
                  <a:srgbClr val="000000"/>
                </a:solidFill>
                <a:latin typeface="Meiryo UI"/>
                <a:ea typeface="Meiryo UI"/>
                <a:cs typeface="Hiragino Kaku Gothic Pro W3"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サービス</a:t>
              </a:r>
            </a:p>
          </p:txBody>
        </p:sp>
        <p:sp>
          <p:nvSpPr>
            <p:cNvPr id="15" name="正方形/長方形 14">
              <a:extLst>
                <a:ext uri="{FF2B5EF4-FFF2-40B4-BE49-F238E27FC236}">
                  <a16:creationId xmlns:a16="http://schemas.microsoft.com/office/drawing/2014/main" id="{1F87C50E-8B53-6673-D552-75C691619F0C}"/>
                </a:ext>
              </a:extLst>
            </p:cNvPr>
            <p:cNvSpPr/>
            <p:nvPr/>
          </p:nvSpPr>
          <p:spPr bwMode="auto">
            <a:xfrm>
              <a:off x="2346974" y="4029216"/>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kern="0" dirty="0">
                  <a:solidFill>
                    <a:srgbClr val="000000"/>
                  </a:solidFill>
                  <a:latin typeface="Meiryo UI"/>
                  <a:ea typeface="Meiryo UI"/>
                  <a:cs typeface="Meiryo UI" panose="020B0604030504040204" pitchFamily="50" charset="-128"/>
                </a:rPr>
                <a:t>様々なサービス</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19" name="正方形/長方形 18">
              <a:extLst>
                <a:ext uri="{FF2B5EF4-FFF2-40B4-BE49-F238E27FC236}">
                  <a16:creationId xmlns:a16="http://schemas.microsoft.com/office/drawing/2014/main" id="{AD2C6BB9-01BD-8F14-AD53-DA2C7682EA32}"/>
                </a:ext>
              </a:extLst>
            </p:cNvPr>
            <p:cNvSpPr/>
            <p:nvPr/>
          </p:nvSpPr>
          <p:spPr>
            <a:xfrm>
              <a:off x="3499036" y="3723012"/>
              <a:ext cx="999603"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AI</a:t>
              </a: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エージェントツール</a:t>
              </a:r>
            </a:p>
          </p:txBody>
        </p:sp>
        <p:sp>
          <p:nvSpPr>
            <p:cNvPr id="20" name="正方形/長方形 19">
              <a:extLst>
                <a:ext uri="{FF2B5EF4-FFF2-40B4-BE49-F238E27FC236}">
                  <a16:creationId xmlns:a16="http://schemas.microsoft.com/office/drawing/2014/main" id="{C8FC1AF3-35CB-E663-29EF-724F12C99008}"/>
                </a:ext>
              </a:extLst>
            </p:cNvPr>
            <p:cNvSpPr/>
            <p:nvPr/>
          </p:nvSpPr>
          <p:spPr>
            <a:xfrm>
              <a:off x="3499036" y="4154942"/>
              <a:ext cx="4683686"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a:ea typeface="Meiryo UI"/>
                  <a:cs typeface="Hiragino Kaku Gothic Pro W3" charset="-128"/>
                </a:rPr>
                <a:t>インフラ基盤</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1" name="正方形/長方形 20">
              <a:extLst>
                <a:ext uri="{FF2B5EF4-FFF2-40B4-BE49-F238E27FC236}">
                  <a16:creationId xmlns:a16="http://schemas.microsoft.com/office/drawing/2014/main" id="{2C5294EA-EFCF-BD4D-7A6B-8DAD546665F9}"/>
                </a:ext>
              </a:extLst>
            </p:cNvPr>
            <p:cNvSpPr/>
            <p:nvPr/>
          </p:nvSpPr>
          <p:spPr>
            <a:xfrm>
              <a:off x="4725867" y="3722870"/>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kern="0" dirty="0">
                  <a:solidFill>
                    <a:srgbClr val="000000"/>
                  </a:solidFill>
                  <a:latin typeface="Meiryo UI"/>
                  <a:ea typeface="Meiryo UI"/>
                  <a:cs typeface="Hiragino Kaku Gothic Pro W3" charset="-128"/>
                </a:rPr>
                <a:t>AI</a:t>
              </a:r>
              <a:r>
                <a:rPr kumimoji="0" lang="ja-JP" altLang="en-US" sz="900" kern="0" dirty="0">
                  <a:solidFill>
                    <a:srgbClr val="000000"/>
                  </a:solidFill>
                  <a:latin typeface="Meiryo UI"/>
                  <a:ea typeface="Meiryo UI"/>
                  <a:cs typeface="Hiragino Kaku Gothic Pro W3" charset="-128"/>
                </a:rPr>
                <a:t>モデル</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2" name="正方形/長方形 21">
              <a:extLst>
                <a:ext uri="{FF2B5EF4-FFF2-40B4-BE49-F238E27FC236}">
                  <a16:creationId xmlns:a16="http://schemas.microsoft.com/office/drawing/2014/main" id="{B5022A80-C03E-83A3-CA90-74A3BA91367D}"/>
                </a:ext>
              </a:extLst>
            </p:cNvPr>
            <p:cNvSpPr/>
            <p:nvPr/>
          </p:nvSpPr>
          <p:spPr>
            <a:xfrm>
              <a:off x="5953895" y="3722870"/>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DB</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3" name="正方形/長方形 22">
              <a:extLst>
                <a:ext uri="{FF2B5EF4-FFF2-40B4-BE49-F238E27FC236}">
                  <a16:creationId xmlns:a16="http://schemas.microsoft.com/office/drawing/2014/main" id="{CB340AAA-153C-E7BC-6E7A-6E8EC5CAB614}"/>
                </a:ext>
              </a:extLst>
            </p:cNvPr>
            <p:cNvSpPr/>
            <p:nvPr/>
          </p:nvSpPr>
          <p:spPr>
            <a:xfrm>
              <a:off x="7181922" y="3722870"/>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a:ea typeface="Meiryo UI"/>
                  <a:cs typeface="Hiragino Kaku Gothic Pro W3" charset="-128"/>
                </a:rPr>
                <a:t>データ分析</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4" name="乗算記号 23">
              <a:extLst>
                <a:ext uri="{FF2B5EF4-FFF2-40B4-BE49-F238E27FC236}">
                  <a16:creationId xmlns:a16="http://schemas.microsoft.com/office/drawing/2014/main" id="{80AA0F4D-C999-C6A5-6354-F8C9BBAC2BBB}"/>
                </a:ext>
              </a:extLst>
            </p:cNvPr>
            <p:cNvSpPr/>
            <p:nvPr/>
          </p:nvSpPr>
          <p:spPr>
            <a:xfrm>
              <a:off x="3272235" y="4029418"/>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5" name="乗算記号 24">
              <a:extLst>
                <a:ext uri="{FF2B5EF4-FFF2-40B4-BE49-F238E27FC236}">
                  <a16:creationId xmlns:a16="http://schemas.microsoft.com/office/drawing/2014/main" id="{1DE8AA1B-4B80-6405-0791-12A2A60EECAB}"/>
                </a:ext>
              </a:extLst>
            </p:cNvPr>
            <p:cNvSpPr/>
            <p:nvPr/>
          </p:nvSpPr>
          <p:spPr>
            <a:xfrm>
              <a:off x="4497395" y="3825809"/>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6" name="乗算記号 25">
              <a:extLst>
                <a:ext uri="{FF2B5EF4-FFF2-40B4-BE49-F238E27FC236}">
                  <a16:creationId xmlns:a16="http://schemas.microsoft.com/office/drawing/2014/main" id="{60B7F90B-A2A8-A4D2-F8CA-B48711710097}"/>
                </a:ext>
              </a:extLst>
            </p:cNvPr>
            <p:cNvSpPr/>
            <p:nvPr/>
          </p:nvSpPr>
          <p:spPr>
            <a:xfrm>
              <a:off x="5725898" y="3825809"/>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7" name="乗算記号 26">
              <a:extLst>
                <a:ext uri="{FF2B5EF4-FFF2-40B4-BE49-F238E27FC236}">
                  <a16:creationId xmlns:a16="http://schemas.microsoft.com/office/drawing/2014/main" id="{20E25F2E-7E8E-C825-50EA-37506D9A31FC}"/>
                </a:ext>
              </a:extLst>
            </p:cNvPr>
            <p:cNvSpPr/>
            <p:nvPr/>
          </p:nvSpPr>
          <p:spPr>
            <a:xfrm>
              <a:off x="6954401" y="3825809"/>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696F4DAF-32CA-8568-570D-57B27BF83D9D}"/>
                </a:ext>
              </a:extLst>
            </p:cNvPr>
            <p:cNvSpPr/>
            <p:nvPr/>
          </p:nvSpPr>
          <p:spPr bwMode="auto">
            <a:xfrm>
              <a:off x="2346974" y="4245195"/>
              <a:ext cx="841738" cy="172469"/>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000000"/>
                  </a:solidFill>
                  <a:latin typeface="Meiryo UI"/>
                  <a:ea typeface="Meiryo UI"/>
                  <a:cs typeface="Meiryo UI" panose="020B0604030504040204" pitchFamily="50" charset="-128"/>
                </a:rPr>
                <a:t>：</a:t>
              </a:r>
              <a:endParaRPr kumimoji="0" lang="ja-JP" altLang="en-US" sz="12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29" name="正方形/長方形 28">
              <a:extLst>
                <a:ext uri="{FF2B5EF4-FFF2-40B4-BE49-F238E27FC236}">
                  <a16:creationId xmlns:a16="http://schemas.microsoft.com/office/drawing/2014/main" id="{B5440936-AEA9-4040-7902-C604D9225089}"/>
                </a:ext>
              </a:extLst>
            </p:cNvPr>
            <p:cNvSpPr/>
            <p:nvPr/>
          </p:nvSpPr>
          <p:spPr bwMode="auto">
            <a:xfrm>
              <a:off x="3578267" y="3892175"/>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拡張性の高い</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ローコードツール</a:t>
              </a:r>
            </a:p>
          </p:txBody>
        </p:sp>
        <p:sp>
          <p:nvSpPr>
            <p:cNvPr id="30" name="正方形/長方形 29">
              <a:extLst>
                <a:ext uri="{FF2B5EF4-FFF2-40B4-BE49-F238E27FC236}">
                  <a16:creationId xmlns:a16="http://schemas.microsoft.com/office/drawing/2014/main" id="{B6C5C32F-8E92-9F62-EBB1-7ACDDF412F59}"/>
                </a:ext>
              </a:extLst>
            </p:cNvPr>
            <p:cNvSpPr/>
            <p:nvPr/>
          </p:nvSpPr>
          <p:spPr bwMode="auto">
            <a:xfrm>
              <a:off x="4805398" y="3892175"/>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1</a:t>
              </a: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つに依存せず多様に</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選択可能なモデル</a:t>
              </a:r>
            </a:p>
          </p:txBody>
        </p:sp>
        <p:sp>
          <p:nvSpPr>
            <p:cNvPr id="31" name="正方形/長方形 30">
              <a:extLst>
                <a:ext uri="{FF2B5EF4-FFF2-40B4-BE49-F238E27FC236}">
                  <a16:creationId xmlns:a16="http://schemas.microsoft.com/office/drawing/2014/main" id="{605A7EC1-F7C8-6F9B-C4DC-63A1DAB88741}"/>
                </a:ext>
              </a:extLst>
            </p:cNvPr>
            <p:cNvSpPr/>
            <p:nvPr/>
          </p:nvSpPr>
          <p:spPr bwMode="auto">
            <a:xfrm>
              <a:off x="6032529" y="3892175"/>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AI</a:t>
              </a:r>
              <a:r>
                <a:rPr kumimoji="0" lang="ja-JP" altLang="en-US" sz="700" kern="0" dirty="0">
                  <a:solidFill>
                    <a:srgbClr val="000000"/>
                  </a:solidFill>
                  <a:latin typeface="Meiryo UI"/>
                  <a:ea typeface="Meiryo UI"/>
                  <a:cs typeface="Meiryo UI" panose="020B0604030504040204" pitchFamily="50" charset="-128"/>
                </a:rPr>
                <a:t>と相性の良い</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汎用的な</a:t>
              </a: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DB</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2" name="正方形/長方形 31">
              <a:extLst>
                <a:ext uri="{FF2B5EF4-FFF2-40B4-BE49-F238E27FC236}">
                  <a16:creationId xmlns:a16="http://schemas.microsoft.com/office/drawing/2014/main" id="{8F75AEAA-C165-3229-649E-03CB3278875C}"/>
                </a:ext>
              </a:extLst>
            </p:cNvPr>
            <p:cNvSpPr/>
            <p:nvPr/>
          </p:nvSpPr>
          <p:spPr bwMode="auto">
            <a:xfrm>
              <a:off x="7259660" y="3892175"/>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エージェント管理・</a:t>
              </a:r>
              <a:r>
                <a:rPr kumimoji="0" lang="ja-JP" altLang="en-US" sz="700" kern="0" dirty="0">
                  <a:solidFill>
                    <a:srgbClr val="000000"/>
                  </a:solidFill>
                  <a:latin typeface="Meiryo UI"/>
                  <a:ea typeface="Meiryo UI"/>
                  <a:cs typeface="Meiryo UI" panose="020B0604030504040204" pitchFamily="50" charset="-128"/>
                </a:rPr>
                <a:t>分析</a:t>
              </a:r>
              <a:br>
                <a:rPr kumimoji="0" lang="en-US" altLang="ja-JP" sz="700" kern="0" dirty="0">
                  <a:solidFill>
                    <a:srgbClr val="000000"/>
                  </a:solidFill>
                  <a:latin typeface="Meiryo UI"/>
                  <a:ea typeface="Meiryo UI"/>
                  <a:cs typeface="Meiryo UI" panose="020B0604030504040204" pitchFamily="50" charset="-128"/>
                </a:rPr>
              </a:br>
              <a:r>
                <a:rPr kumimoji="0" lang="ja-JP" altLang="en-US" sz="700" kern="0" dirty="0">
                  <a:solidFill>
                    <a:srgbClr val="000000"/>
                  </a:solidFill>
                  <a:latin typeface="Meiryo UI"/>
                  <a:ea typeface="Meiryo UI"/>
                  <a:cs typeface="Meiryo UI" panose="020B0604030504040204" pitchFamily="50" charset="-128"/>
                </a:rPr>
                <a:t>に強いプラットフォーム</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3" name="正方形/長方形 32">
              <a:extLst>
                <a:ext uri="{FF2B5EF4-FFF2-40B4-BE49-F238E27FC236}">
                  <a16:creationId xmlns:a16="http://schemas.microsoft.com/office/drawing/2014/main" id="{0BE02391-B8B4-4ED7-86C1-2B18DF3E4FE4}"/>
                </a:ext>
              </a:extLst>
            </p:cNvPr>
            <p:cNvSpPr/>
            <p:nvPr/>
          </p:nvSpPr>
          <p:spPr bwMode="auto">
            <a:xfrm>
              <a:off x="5420010" y="4322583"/>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kern="0" dirty="0">
                  <a:solidFill>
                    <a:srgbClr val="000000"/>
                  </a:solidFill>
                  <a:latin typeface="Meiryo UI"/>
                  <a:ea typeface="Meiryo UI"/>
                  <a:cs typeface="Meiryo UI" panose="020B0604030504040204" pitchFamily="50" charset="-128"/>
                </a:rPr>
                <a:t>セキュリティに強く</a:t>
              </a:r>
              <a:br>
                <a:rPr kumimoji="0" lang="en-US" altLang="ja-JP" sz="700" kern="0" dirty="0">
                  <a:solidFill>
                    <a:srgbClr val="000000"/>
                  </a:solidFill>
                  <a:latin typeface="Meiryo UI"/>
                  <a:ea typeface="Meiryo UI"/>
                  <a:cs typeface="Meiryo UI" panose="020B0604030504040204" pitchFamily="50" charset="-128"/>
                </a:rPr>
              </a:br>
              <a:r>
                <a:rPr kumimoji="0" lang="ja-JP" altLang="en-US" sz="700" kern="0" dirty="0">
                  <a:solidFill>
                    <a:srgbClr val="000000"/>
                  </a:solidFill>
                  <a:latin typeface="Meiryo UI"/>
                  <a:ea typeface="Meiryo UI"/>
                  <a:cs typeface="Meiryo UI" panose="020B0604030504040204" pitchFamily="50" charset="-128"/>
                </a:rPr>
                <a:t>多機能な基盤</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4" name="右大かっこ 33">
              <a:extLst>
                <a:ext uri="{FF2B5EF4-FFF2-40B4-BE49-F238E27FC236}">
                  <a16:creationId xmlns:a16="http://schemas.microsoft.com/office/drawing/2014/main" id="{10B678B8-2007-CA51-8AC1-0C846A7AF62C}"/>
                </a:ext>
              </a:extLst>
            </p:cNvPr>
            <p:cNvSpPr/>
            <p:nvPr/>
          </p:nvSpPr>
          <p:spPr>
            <a:xfrm rot="16200000">
              <a:off x="5190237" y="563318"/>
              <a:ext cx="73152" cy="5911595"/>
            </a:xfrm>
            <a:prstGeom prst="rightBracket">
              <a:avLst/>
            </a:prstGeom>
            <a:ln w="19050">
              <a:solidFill>
                <a:srgbClr val="A5A5E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BAD0580F-362F-705C-6903-A34D86466291}"/>
                </a:ext>
              </a:extLst>
            </p:cNvPr>
            <p:cNvCxnSpPr>
              <a:cxnSpLocks/>
              <a:stCxn id="74" idx="2"/>
              <a:endCxn id="34" idx="2"/>
            </p:cNvCxnSpPr>
            <p:nvPr/>
          </p:nvCxnSpPr>
          <p:spPr>
            <a:xfrm>
              <a:off x="5223092" y="2999568"/>
              <a:ext cx="3722" cy="482972"/>
            </a:xfrm>
            <a:prstGeom prst="line">
              <a:avLst/>
            </a:prstGeom>
            <a:ln w="19050">
              <a:solidFill>
                <a:srgbClr val="A5A5E9"/>
              </a:solidFill>
              <a:prstDash val="solid"/>
              <a:headEnd type="oval"/>
            </a:ln>
          </p:spPr>
          <p:style>
            <a:lnRef idx="1">
              <a:schemeClr val="accent1"/>
            </a:lnRef>
            <a:fillRef idx="0">
              <a:schemeClr val="accent1"/>
            </a:fillRef>
            <a:effectRef idx="0">
              <a:schemeClr val="accent1"/>
            </a:effectRef>
            <a:fontRef idx="minor">
              <a:schemeClr val="tx1"/>
            </a:fontRef>
          </p:style>
        </p:cxnSp>
        <p:sp>
          <p:nvSpPr>
            <p:cNvPr id="113" name="二等辺三角形 112">
              <a:extLst>
                <a:ext uri="{FF2B5EF4-FFF2-40B4-BE49-F238E27FC236}">
                  <a16:creationId xmlns:a16="http://schemas.microsoft.com/office/drawing/2014/main" id="{6BB4252F-FE76-FA11-87FA-21BDA37570DE}"/>
                </a:ext>
              </a:extLst>
            </p:cNvPr>
            <p:cNvSpPr/>
            <p:nvPr/>
          </p:nvSpPr>
          <p:spPr>
            <a:xfrm rot="10800000" flipV="1">
              <a:off x="4743092" y="4771394"/>
              <a:ext cx="1054152" cy="180000"/>
            </a:xfrm>
            <a:prstGeom prst="triangle">
              <a:avLst/>
            </a:prstGeom>
            <a:solidFill>
              <a:srgbClr val="A5A5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solidFill>
                  <a:schemeClr val="tx1"/>
                </a:solidFill>
                <a:latin typeface="+mj-lt"/>
                <a:ea typeface="BIZ UDPゴシック" panose="020B0400000000000000" pitchFamily="50" charset="-128"/>
              </a:endParaRPr>
            </a:p>
          </p:txBody>
        </p:sp>
        <p:grpSp>
          <p:nvGrpSpPr>
            <p:cNvPr id="115" name="グループ化 114">
              <a:extLst>
                <a:ext uri="{FF2B5EF4-FFF2-40B4-BE49-F238E27FC236}">
                  <a16:creationId xmlns:a16="http://schemas.microsoft.com/office/drawing/2014/main" id="{D7520DC5-5C62-6049-84E2-8C78EBD4C198}"/>
                </a:ext>
              </a:extLst>
            </p:cNvPr>
            <p:cNvGrpSpPr/>
            <p:nvPr/>
          </p:nvGrpSpPr>
          <p:grpSpPr>
            <a:xfrm>
              <a:off x="3043771" y="5208657"/>
              <a:ext cx="2144723" cy="727871"/>
              <a:chOff x="3390840" y="4887277"/>
              <a:chExt cx="2144723" cy="727871"/>
            </a:xfrm>
          </p:grpSpPr>
          <p:sp>
            <p:nvSpPr>
              <p:cNvPr id="97" name="正方形/長方形 96">
                <a:extLst>
                  <a:ext uri="{FF2B5EF4-FFF2-40B4-BE49-F238E27FC236}">
                    <a16:creationId xmlns:a16="http://schemas.microsoft.com/office/drawing/2014/main" id="{7AE03813-BD1B-B3B4-D13A-55014CC93933}"/>
                  </a:ext>
                </a:extLst>
              </p:cNvPr>
              <p:cNvSpPr/>
              <p:nvPr/>
            </p:nvSpPr>
            <p:spPr>
              <a:xfrm>
                <a:off x="3390840" y="5256205"/>
                <a:ext cx="2144723" cy="358943"/>
              </a:xfrm>
              <a:prstGeom prst="rect">
                <a:avLst/>
              </a:prstGeom>
              <a:noFill/>
            </p:spPr>
            <p:txBody>
              <a:bodyPr vert="horz" lIns="0" tIns="0" rIns="0" bIns="14400" rtlCol="0" anchor="ctr" anchorCtr="0">
                <a:noAutofit/>
              </a:bodyPr>
              <a:lstStyle/>
              <a:p>
                <a:pPr marL="0" marR="0" lvl="0" indent="0" algn="ctr" defTabSz="514337" eaLnBrk="1" fontAlgn="auto" latinLnBrk="0" hangingPunct="1">
                  <a:lnSpc>
                    <a:spcPct val="100000"/>
                  </a:lnSpc>
                  <a:spcBef>
                    <a:spcPct val="0"/>
                  </a:spcBef>
                  <a:spcAft>
                    <a:spcPts val="0"/>
                  </a:spcAft>
                  <a:buClrTx/>
                  <a:buSzTx/>
                  <a:buFontTx/>
                  <a:buNone/>
                  <a:tabLst/>
                  <a:defRPr/>
                </a:pPr>
                <a:r>
                  <a:rPr kumimoji="0"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内製部隊</a:t>
                </a:r>
                <a:endParaRPr kumimoji="0"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nvGrpSpPr>
              <p:cNvPr id="110" name="グループ化 109">
                <a:extLst>
                  <a:ext uri="{FF2B5EF4-FFF2-40B4-BE49-F238E27FC236}">
                    <a16:creationId xmlns:a16="http://schemas.microsoft.com/office/drawing/2014/main" id="{9E56F6A9-4A45-C2F6-D513-23524EF8C6B3}"/>
                  </a:ext>
                </a:extLst>
              </p:cNvPr>
              <p:cNvGrpSpPr/>
              <p:nvPr/>
            </p:nvGrpSpPr>
            <p:grpSpPr>
              <a:xfrm>
                <a:off x="3390840" y="4887277"/>
                <a:ext cx="2144723" cy="363347"/>
                <a:chOff x="3390840" y="4963477"/>
                <a:chExt cx="2144723" cy="363347"/>
              </a:xfrm>
            </p:grpSpPr>
            <p:pic>
              <p:nvPicPr>
                <p:cNvPr id="93" name="図 92">
                  <a:extLst>
                    <a:ext uri="{FF2B5EF4-FFF2-40B4-BE49-F238E27FC236}">
                      <a16:creationId xmlns:a16="http://schemas.microsoft.com/office/drawing/2014/main" id="{38077389-DFF2-5935-7686-97B3E64DAF5F}"/>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390840" y="4963477"/>
                  <a:ext cx="363347" cy="363347"/>
                </a:xfrm>
                <a:prstGeom prst="rect">
                  <a:avLst/>
                </a:prstGeom>
              </p:spPr>
            </p:pic>
            <p:pic>
              <p:nvPicPr>
                <p:cNvPr id="94" name="図 93">
                  <a:extLst>
                    <a:ext uri="{FF2B5EF4-FFF2-40B4-BE49-F238E27FC236}">
                      <a16:creationId xmlns:a16="http://schemas.microsoft.com/office/drawing/2014/main" id="{AEC508E8-BBDB-2B47-1CE3-1FC37C148E0A}"/>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747115" y="4963477"/>
                  <a:ext cx="363347" cy="363347"/>
                </a:xfrm>
                <a:prstGeom prst="rect">
                  <a:avLst/>
                </a:prstGeom>
              </p:spPr>
            </p:pic>
            <p:pic>
              <p:nvPicPr>
                <p:cNvPr id="98" name="図 97">
                  <a:extLst>
                    <a:ext uri="{FF2B5EF4-FFF2-40B4-BE49-F238E27FC236}">
                      <a16:creationId xmlns:a16="http://schemas.microsoft.com/office/drawing/2014/main" id="{E5E21016-204F-8305-5FA5-3ACD0C01C32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103390" y="4963477"/>
                  <a:ext cx="363347" cy="363347"/>
                </a:xfrm>
                <a:prstGeom prst="rect">
                  <a:avLst/>
                </a:prstGeom>
              </p:spPr>
            </p:pic>
            <p:pic>
              <p:nvPicPr>
                <p:cNvPr id="99" name="図 98">
                  <a:extLst>
                    <a:ext uri="{FF2B5EF4-FFF2-40B4-BE49-F238E27FC236}">
                      <a16:creationId xmlns:a16="http://schemas.microsoft.com/office/drawing/2014/main" id="{AE3A458E-0AC7-A6BD-A5C2-296385F73C44}"/>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459665" y="4963477"/>
                  <a:ext cx="363347" cy="363347"/>
                </a:xfrm>
                <a:prstGeom prst="rect">
                  <a:avLst/>
                </a:prstGeom>
              </p:spPr>
            </p:pic>
            <p:pic>
              <p:nvPicPr>
                <p:cNvPr id="107" name="図 106">
                  <a:extLst>
                    <a:ext uri="{FF2B5EF4-FFF2-40B4-BE49-F238E27FC236}">
                      <a16:creationId xmlns:a16="http://schemas.microsoft.com/office/drawing/2014/main" id="{A84488F6-CCB1-5A1E-E909-ED5C2A1A58FB}"/>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815940" y="4963477"/>
                  <a:ext cx="363347" cy="363347"/>
                </a:xfrm>
                <a:prstGeom prst="rect">
                  <a:avLst/>
                </a:prstGeom>
              </p:spPr>
            </p:pic>
            <p:pic>
              <p:nvPicPr>
                <p:cNvPr id="109" name="図 108">
                  <a:extLst>
                    <a:ext uri="{FF2B5EF4-FFF2-40B4-BE49-F238E27FC236}">
                      <a16:creationId xmlns:a16="http://schemas.microsoft.com/office/drawing/2014/main" id="{D93C212A-A148-F28E-376C-9BBE9859EEC2}"/>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5172216" y="4963477"/>
                  <a:ext cx="363347" cy="363347"/>
                </a:xfrm>
                <a:prstGeom prst="rect">
                  <a:avLst/>
                </a:prstGeom>
              </p:spPr>
            </p:pic>
          </p:grpSp>
        </p:grpSp>
        <p:grpSp>
          <p:nvGrpSpPr>
            <p:cNvPr id="116" name="グループ化 115">
              <a:extLst>
                <a:ext uri="{FF2B5EF4-FFF2-40B4-BE49-F238E27FC236}">
                  <a16:creationId xmlns:a16="http://schemas.microsoft.com/office/drawing/2014/main" id="{06062324-E606-D81D-1B7E-06616ACCEC98}"/>
                </a:ext>
              </a:extLst>
            </p:cNvPr>
            <p:cNvGrpSpPr/>
            <p:nvPr/>
          </p:nvGrpSpPr>
          <p:grpSpPr>
            <a:xfrm>
              <a:off x="6416754" y="5208657"/>
              <a:ext cx="1079814" cy="727871"/>
              <a:chOff x="6094955" y="4887277"/>
              <a:chExt cx="1079814" cy="727871"/>
            </a:xfrm>
          </p:grpSpPr>
          <p:grpSp>
            <p:nvGrpSpPr>
              <p:cNvPr id="106" name="グループ化 105">
                <a:extLst>
                  <a:ext uri="{FF2B5EF4-FFF2-40B4-BE49-F238E27FC236}">
                    <a16:creationId xmlns:a16="http://schemas.microsoft.com/office/drawing/2014/main" id="{944C32D3-8E72-3AD2-4191-CAECE39F9B02}"/>
                  </a:ext>
                </a:extLst>
              </p:cNvPr>
              <p:cNvGrpSpPr/>
              <p:nvPr/>
            </p:nvGrpSpPr>
            <p:grpSpPr>
              <a:xfrm>
                <a:off x="6094955" y="4887277"/>
                <a:ext cx="1077507" cy="363347"/>
                <a:chOff x="8969554" y="6044291"/>
                <a:chExt cx="1077507" cy="363347"/>
              </a:xfrm>
            </p:grpSpPr>
            <p:pic>
              <p:nvPicPr>
                <p:cNvPr id="92" name="図 91">
                  <a:extLst>
                    <a:ext uri="{FF2B5EF4-FFF2-40B4-BE49-F238E27FC236}">
                      <a16:creationId xmlns:a16="http://schemas.microsoft.com/office/drawing/2014/main" id="{11B1F1B7-C957-0675-3346-596CECE283FA}"/>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683714" y="6044291"/>
                  <a:ext cx="363347" cy="363347"/>
                </a:xfrm>
                <a:prstGeom prst="rect">
                  <a:avLst/>
                </a:prstGeom>
              </p:spPr>
            </p:pic>
            <p:pic>
              <p:nvPicPr>
                <p:cNvPr id="90" name="図 89">
                  <a:extLst>
                    <a:ext uri="{FF2B5EF4-FFF2-40B4-BE49-F238E27FC236}">
                      <a16:creationId xmlns:a16="http://schemas.microsoft.com/office/drawing/2014/main" id="{8BF5271B-436C-EF2F-D704-6FB309F9488D}"/>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8969554" y="6044291"/>
                  <a:ext cx="363347" cy="363347"/>
                </a:xfrm>
                <a:prstGeom prst="rect">
                  <a:avLst/>
                </a:prstGeom>
              </p:spPr>
            </p:pic>
            <p:pic>
              <p:nvPicPr>
                <p:cNvPr id="91" name="図 90">
                  <a:extLst>
                    <a:ext uri="{FF2B5EF4-FFF2-40B4-BE49-F238E27FC236}">
                      <a16:creationId xmlns:a16="http://schemas.microsoft.com/office/drawing/2014/main" id="{C50F0FBF-1E07-0FF5-9DD2-551190C30C45}"/>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326634" y="6044291"/>
                  <a:ext cx="363347" cy="363347"/>
                </a:xfrm>
                <a:prstGeom prst="rect">
                  <a:avLst/>
                </a:prstGeom>
              </p:spPr>
            </p:pic>
          </p:grpSp>
          <p:sp>
            <p:nvSpPr>
              <p:cNvPr id="111" name="正方形/長方形 110">
                <a:extLst>
                  <a:ext uri="{FF2B5EF4-FFF2-40B4-BE49-F238E27FC236}">
                    <a16:creationId xmlns:a16="http://schemas.microsoft.com/office/drawing/2014/main" id="{3FE43999-3B9B-AC37-A1DE-E7606B68CE53}"/>
                  </a:ext>
                </a:extLst>
              </p:cNvPr>
              <p:cNvSpPr/>
              <p:nvPr/>
            </p:nvSpPr>
            <p:spPr>
              <a:xfrm>
                <a:off x="6097262" y="5256205"/>
                <a:ext cx="1077507" cy="358943"/>
              </a:xfrm>
              <a:prstGeom prst="rect">
                <a:avLst/>
              </a:prstGeom>
              <a:noFill/>
            </p:spPr>
            <p:txBody>
              <a:bodyPr vert="horz" lIns="0" tIns="0" rIns="0" bIns="14400" rtlCol="0" anchor="ctr" anchorCtr="0">
                <a:noAutofit/>
              </a:bodyPr>
              <a:lstStyle/>
              <a:p>
                <a:pPr marL="0" marR="0" lvl="0" indent="0" algn="ctr" defTabSz="514337" eaLnBrk="1" fontAlgn="auto" latinLnBrk="0" hangingPunct="1">
                  <a:lnSpc>
                    <a:spcPct val="100000"/>
                  </a:lnSpc>
                  <a:spcBef>
                    <a:spcPct val="0"/>
                  </a:spcBef>
                  <a:spcAft>
                    <a:spcPts val="0"/>
                  </a:spcAft>
                  <a:buClrTx/>
                  <a:buSzTx/>
                  <a:buFontTx/>
                  <a:buNone/>
                  <a:tabLst/>
                  <a:defRPr/>
                </a:pPr>
                <a:r>
                  <a:rPr kumimoji="0" lang="ja-JP" altLang="en-US" sz="1400" kern="0" dirty="0">
                    <a:solidFill>
                      <a:srgbClr val="0E0EAA"/>
                    </a:solidFill>
                    <a:latin typeface="Meiryo UI" panose="020B0604030504040204" pitchFamily="50" charset="-128"/>
                    <a:ea typeface="Meiryo UI" panose="020B0604030504040204" pitchFamily="50" charset="-128"/>
                  </a:rPr>
                  <a:t>パートナー</a:t>
                </a:r>
                <a:endParaRPr kumimoji="0" lang="en-US" altLang="ja-JP" sz="1400" b="0" i="0" u="none" strike="noStrike" kern="0" cap="none" spc="0" normalizeH="0" baseline="0" noProof="0" dirty="0">
                  <a:ln>
                    <a:noFill/>
                  </a:ln>
                  <a:solidFill>
                    <a:srgbClr val="0E0EAA"/>
                  </a:solidFill>
                  <a:effectLst/>
                  <a:uLnTx/>
                  <a:uFillTx/>
                  <a:latin typeface="Meiryo UI" panose="020B0604030504040204" pitchFamily="50" charset="-128"/>
                  <a:ea typeface="Meiryo UI" panose="020B0604030504040204" pitchFamily="50" charset="-128"/>
                </a:endParaRPr>
              </a:p>
            </p:txBody>
          </p:sp>
        </p:grpSp>
        <p:sp>
          <p:nvSpPr>
            <p:cNvPr id="117" name="矢印: 左 116">
              <a:extLst>
                <a:ext uri="{FF2B5EF4-FFF2-40B4-BE49-F238E27FC236}">
                  <a16:creationId xmlns:a16="http://schemas.microsoft.com/office/drawing/2014/main" id="{B5976BDA-7874-512D-3333-271495A18D73}"/>
                </a:ext>
              </a:extLst>
            </p:cNvPr>
            <p:cNvSpPr/>
            <p:nvPr/>
          </p:nvSpPr>
          <p:spPr>
            <a:xfrm>
              <a:off x="5313420" y="5372331"/>
              <a:ext cx="978408" cy="400523"/>
            </a:xfrm>
            <a:prstGeom prst="leftArrow">
              <a:avLst>
                <a:gd name="adj1" fmla="val 73309"/>
                <a:gd name="adj2" fmla="val 65467"/>
              </a:avLst>
            </a:prstGeom>
            <a:solidFill>
              <a:srgbClr val="0E0EAA"/>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900" dirty="0">
                  <a:solidFill>
                    <a:schemeClr val="bg1"/>
                  </a:solidFill>
                  <a:latin typeface="Meiryo UI" panose="020B0604030504040204" pitchFamily="50" charset="-128"/>
                  <a:ea typeface="Meiryo UI" panose="020B0604030504040204" pitchFamily="50" charset="-128"/>
                  <a:cs typeface="Hiragino Kaku Gothic Pro W3" charset="-128"/>
                </a:rPr>
                <a:t>最先端の</a:t>
              </a:r>
              <a:br>
                <a:rPr lang="en-US" altLang="ja-JP" sz="900" dirty="0">
                  <a:solidFill>
                    <a:schemeClr val="bg1"/>
                  </a:solidFill>
                  <a:latin typeface="Meiryo UI" panose="020B0604030504040204" pitchFamily="50" charset="-128"/>
                  <a:ea typeface="Meiryo UI" panose="020B0604030504040204" pitchFamily="50" charset="-128"/>
                  <a:cs typeface="Hiragino Kaku Gothic Pro W3" charset="-128"/>
                </a:rPr>
              </a:br>
              <a:r>
                <a:rPr lang="en-US" altLang="ja-JP" sz="900" dirty="0">
                  <a:solidFill>
                    <a:schemeClr val="bg1"/>
                  </a:solidFill>
                  <a:latin typeface="Meiryo UI" panose="020B0604030504040204" pitchFamily="50" charset="-128"/>
                  <a:ea typeface="Meiryo UI" panose="020B0604030504040204" pitchFamily="50" charset="-128"/>
                  <a:cs typeface="Hiragino Kaku Gothic Pro W3" charset="-128"/>
                </a:rPr>
                <a:t>AI</a:t>
              </a:r>
              <a:r>
                <a:rPr lang="ja-JP" altLang="en-US" sz="900" dirty="0">
                  <a:solidFill>
                    <a:schemeClr val="bg1"/>
                  </a:solidFill>
                  <a:latin typeface="Meiryo UI" panose="020B0604030504040204" pitchFamily="50" charset="-128"/>
                  <a:ea typeface="Meiryo UI" panose="020B0604030504040204" pitchFamily="50" charset="-128"/>
                  <a:cs typeface="Hiragino Kaku Gothic Pro W3" charset="-128"/>
                </a:rPr>
                <a:t>技術支援</a:t>
              </a:r>
              <a:endParaRPr kumimoji="1" lang="ja-JP" altLang="en-US" sz="900" dirty="0">
                <a:solidFill>
                  <a:schemeClr val="bg1"/>
                </a:solidFill>
                <a:latin typeface="Meiryo UI" panose="020B0604030504040204" pitchFamily="50" charset="-128"/>
                <a:ea typeface="Meiryo UI" panose="020B0604030504040204" pitchFamily="50" charset="-128"/>
                <a:cs typeface="Hiragino Kaku Gothic Pro W3" charset="-128"/>
              </a:endParaRPr>
            </a:p>
          </p:txBody>
        </p:sp>
        <p:sp>
          <p:nvSpPr>
            <p:cNvPr id="122" name="L 字 121">
              <a:extLst>
                <a:ext uri="{FF2B5EF4-FFF2-40B4-BE49-F238E27FC236}">
                  <a16:creationId xmlns:a16="http://schemas.microsoft.com/office/drawing/2014/main" id="{87C25FB9-763B-8CAE-9256-2E0696096128}"/>
                </a:ext>
              </a:extLst>
            </p:cNvPr>
            <p:cNvSpPr/>
            <p:nvPr/>
          </p:nvSpPr>
          <p:spPr>
            <a:xfrm flipH="1">
              <a:off x="6354378" y="5056806"/>
              <a:ext cx="1212556" cy="979421"/>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grpSp>
      <p:sp>
        <p:nvSpPr>
          <p:cNvPr id="17" name="正方形/長方形 16">
            <a:extLst>
              <a:ext uri="{FF2B5EF4-FFF2-40B4-BE49-F238E27FC236}">
                <a16:creationId xmlns:a16="http://schemas.microsoft.com/office/drawing/2014/main" id="{FE2CE3C7-ED1C-FACD-6E84-10DD507EAA36}"/>
              </a:ext>
            </a:extLst>
          </p:cNvPr>
          <p:cNvSpPr/>
          <p:nvPr/>
        </p:nvSpPr>
        <p:spPr>
          <a:xfrm>
            <a:off x="578838" y="4615823"/>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R="0" indent="0" algn="ctr" defTabSz="879475" fontAlgn="base" latinLnBrk="1">
              <a:lnSpc>
                <a:spcPct val="100000"/>
              </a:lnSpc>
              <a:spcBef>
                <a:spcPct val="0"/>
              </a:spcBef>
              <a:spcAft>
                <a:spcPct val="0"/>
              </a:spcAft>
              <a:buClrTx/>
              <a:buSzTx/>
              <a:buFontTx/>
              <a:buNone/>
              <a:tabLs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サービス提供者</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Tree>
    <p:extLst>
      <p:ext uri="{BB962C8B-B14F-4D97-AF65-F5344CB8AC3E}">
        <p14:creationId xmlns:p14="http://schemas.microsoft.com/office/powerpoint/2010/main" val="156991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186E-4FE4-4FD3-B64C-5DEEBF86348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0E9EA9B-90FD-3BDA-8E41-DCAB25579D1D}"/>
              </a:ext>
            </a:extLst>
          </p:cNvPr>
          <p:cNvSpPr>
            <a:spLocks noGrp="1"/>
          </p:cNvSpPr>
          <p:nvPr>
            <p:ph type="title"/>
          </p:nvPr>
        </p:nvSpPr>
        <p:spPr/>
        <p:txBody>
          <a:bodyPr/>
          <a:lstStyle/>
          <a:p>
            <a:r>
              <a:rPr lang="ja-JP" altLang="en-US" dirty="0"/>
              <a:t>デジタルフィードバックループを踏襲した</a:t>
            </a:r>
            <a:r>
              <a:rPr lang="en-US" altLang="ja-JP" dirty="0"/>
              <a:t>AI</a:t>
            </a:r>
            <a:r>
              <a:rPr lang="ja-JP" altLang="en-US" dirty="0"/>
              <a:t>エージェントによるエコシステム</a:t>
            </a:r>
            <a:endParaRPr kumimoji="1" lang="ja-JP" altLang="en-US" dirty="0"/>
          </a:p>
        </p:txBody>
      </p:sp>
      <p:sp>
        <p:nvSpPr>
          <p:cNvPr id="4" name="スライド番号プレースホルダー 3">
            <a:extLst>
              <a:ext uri="{FF2B5EF4-FFF2-40B4-BE49-F238E27FC236}">
                <a16:creationId xmlns:a16="http://schemas.microsoft.com/office/drawing/2014/main" id="{5C8B7A6F-0125-AEB3-0F9C-75905EB85F9E}"/>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2</a:t>
            </a:fld>
            <a:endParaRPr lang="en-US" altLang="ja-JP"/>
          </a:p>
        </p:txBody>
      </p:sp>
      <p:sp>
        <p:nvSpPr>
          <p:cNvPr id="2" name="コンテンツ プレースホルダー 5">
            <a:extLst>
              <a:ext uri="{FF2B5EF4-FFF2-40B4-BE49-F238E27FC236}">
                <a16:creationId xmlns:a16="http://schemas.microsoft.com/office/drawing/2014/main" id="{97EF3F2B-7CBA-C8E2-4D5F-37C8F9D3B567}"/>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BPS</a:t>
            </a:r>
            <a:r>
              <a:rPr lang="ja-JP" altLang="en-US" sz="1600" kern="0" dirty="0"/>
              <a:t>、経理、財務などあらゆる領域の複雑性の高い属人化した業務を</a:t>
            </a:r>
            <a:r>
              <a:rPr lang="en-US" altLang="ja-JP" sz="1600" kern="0" dirty="0"/>
              <a:t>AI</a:t>
            </a:r>
            <a:r>
              <a:rPr lang="ja-JP" altLang="en-US" sz="1600" kern="0" dirty="0"/>
              <a:t>エージェントに置き換えていくことを想定した場合、</a:t>
            </a:r>
            <a:br>
              <a:rPr lang="en-US" altLang="ja-JP" sz="1600" kern="0" dirty="0"/>
            </a:br>
            <a:r>
              <a:rPr lang="en-US" altLang="ja-JP" sz="1600" kern="0" dirty="0"/>
              <a:t>AI</a:t>
            </a:r>
            <a:r>
              <a:rPr lang="ja-JP" altLang="en-US" sz="1600" kern="0" dirty="0"/>
              <a:t>エージェントが担う業務や蓄積されたデータを</a:t>
            </a:r>
            <a:r>
              <a:rPr lang="en-US" altLang="ja-JP" sz="1600" kern="0" dirty="0"/>
              <a:t>PDCA</a:t>
            </a:r>
            <a:r>
              <a:rPr lang="ja-JP" altLang="en-US" sz="1600" kern="0" dirty="0"/>
              <a:t>サイクルのように循環させることが肝要である。</a:t>
            </a:r>
            <a:endParaRPr lang="en-US" altLang="ja-JP" sz="1600" kern="0" dirty="0"/>
          </a:p>
          <a:p>
            <a:pPr marL="285750" indent="-285750">
              <a:buFont typeface="Arial" panose="020B0604020202020204" pitchFamily="34" charset="0"/>
              <a:buChar char="•"/>
            </a:pPr>
            <a:r>
              <a:rPr lang="ja-JP" altLang="en-US" sz="1600" kern="0" dirty="0"/>
              <a:t>本取り組みでは、このデジタルフィードバックループ（</a:t>
            </a:r>
            <a:r>
              <a:rPr lang="en-US" altLang="ja-JP" sz="1600" kern="0" dirty="0"/>
              <a:t>MS</a:t>
            </a:r>
            <a:r>
              <a:rPr lang="ja-JP" altLang="en-US" sz="1600" kern="0" dirty="0"/>
              <a:t>社提唱）の考え方を基礎に、大規模な</a:t>
            </a:r>
            <a:r>
              <a:rPr lang="en-US" altLang="ja-JP" sz="1600" kern="0" dirty="0"/>
              <a:t>AI</a:t>
            </a:r>
            <a:r>
              <a:rPr lang="ja-JP" altLang="en-US" sz="1600" kern="0" dirty="0"/>
              <a:t>エージェントを展開できる状態を目指す。</a:t>
            </a:r>
            <a:endParaRPr lang="en-US" altLang="ja-JP" sz="1600" kern="0" dirty="0"/>
          </a:p>
        </p:txBody>
      </p:sp>
      <p:sp>
        <p:nvSpPr>
          <p:cNvPr id="65" name="四角形: 角を丸くする 64">
            <a:extLst>
              <a:ext uri="{FF2B5EF4-FFF2-40B4-BE49-F238E27FC236}">
                <a16:creationId xmlns:a16="http://schemas.microsoft.com/office/drawing/2014/main" id="{C3E82773-5850-46F6-A11B-F60152724DA9}"/>
              </a:ext>
            </a:extLst>
          </p:cNvPr>
          <p:cNvSpPr/>
          <p:nvPr/>
        </p:nvSpPr>
        <p:spPr>
          <a:xfrm>
            <a:off x="1077850" y="2231909"/>
            <a:ext cx="5042456" cy="206753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業務・運営領域</a:t>
            </a:r>
          </a:p>
        </p:txBody>
      </p:sp>
      <p:sp>
        <p:nvSpPr>
          <p:cNvPr id="66" name="四角形: 角を丸くする 65">
            <a:extLst>
              <a:ext uri="{FF2B5EF4-FFF2-40B4-BE49-F238E27FC236}">
                <a16:creationId xmlns:a16="http://schemas.microsoft.com/office/drawing/2014/main" id="{D98934AB-A96A-3704-1A30-C5F1F179C2CF}"/>
              </a:ext>
            </a:extLst>
          </p:cNvPr>
          <p:cNvSpPr/>
          <p:nvPr/>
        </p:nvSpPr>
        <p:spPr>
          <a:xfrm>
            <a:off x="6259450" y="2231908"/>
            <a:ext cx="5042456" cy="206753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en-US" altLang="ja-JP"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エージェント・アーキテクチャ領域</a:t>
            </a:r>
          </a:p>
        </p:txBody>
      </p:sp>
      <p:sp>
        <p:nvSpPr>
          <p:cNvPr id="67" name="四角形: 角を丸くする 66">
            <a:extLst>
              <a:ext uri="{FF2B5EF4-FFF2-40B4-BE49-F238E27FC236}">
                <a16:creationId xmlns:a16="http://schemas.microsoft.com/office/drawing/2014/main" id="{1A59E068-E6F5-347F-1826-4EB67CD61790}"/>
              </a:ext>
            </a:extLst>
          </p:cNvPr>
          <p:cNvSpPr/>
          <p:nvPr/>
        </p:nvSpPr>
        <p:spPr>
          <a:xfrm>
            <a:off x="1077850" y="4438132"/>
            <a:ext cx="5042456" cy="2067443"/>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分析・改善領域</a:t>
            </a:r>
          </a:p>
        </p:txBody>
      </p:sp>
      <p:sp>
        <p:nvSpPr>
          <p:cNvPr id="69" name="四角形: 角を丸くする 68">
            <a:extLst>
              <a:ext uri="{FF2B5EF4-FFF2-40B4-BE49-F238E27FC236}">
                <a16:creationId xmlns:a16="http://schemas.microsoft.com/office/drawing/2014/main" id="{1AA8AF07-BFAF-B53D-8237-D67B0A9F4FF8}"/>
              </a:ext>
            </a:extLst>
          </p:cNvPr>
          <p:cNvSpPr/>
          <p:nvPr/>
        </p:nvSpPr>
        <p:spPr>
          <a:xfrm>
            <a:off x="6259450" y="4438132"/>
            <a:ext cx="5042456" cy="2067443"/>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データ・アセット領域</a:t>
            </a:r>
          </a:p>
        </p:txBody>
      </p:sp>
      <p:sp>
        <p:nvSpPr>
          <p:cNvPr id="49" name="矢印: 環状 48">
            <a:extLst>
              <a:ext uri="{FF2B5EF4-FFF2-40B4-BE49-F238E27FC236}">
                <a16:creationId xmlns:a16="http://schemas.microsoft.com/office/drawing/2014/main" id="{D8A0AA84-0776-D21C-046A-6A4292A0099F}"/>
              </a:ext>
            </a:extLst>
          </p:cNvPr>
          <p:cNvSpPr/>
          <p:nvPr/>
        </p:nvSpPr>
        <p:spPr bwMode="auto">
          <a:xfrm rot="16200000">
            <a:off x="4755397" y="2959306"/>
            <a:ext cx="2868962" cy="2868962"/>
          </a:xfrm>
          <a:prstGeom prst="circularArrow">
            <a:avLst>
              <a:gd name="adj1" fmla="val 12020"/>
              <a:gd name="adj2" fmla="val 1142319"/>
              <a:gd name="adj3" fmla="val 20016622"/>
              <a:gd name="adj4" fmla="val 21161829"/>
              <a:gd name="adj5" fmla="val 12500"/>
            </a:avLst>
          </a:prstGeom>
          <a:solidFill>
            <a:srgbClr val="7F7F7F">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46DFC4BD-EF65-079F-04E4-5B1E64CC50B3}"/>
              </a:ext>
            </a:extLst>
          </p:cNvPr>
          <p:cNvGrpSpPr/>
          <p:nvPr/>
        </p:nvGrpSpPr>
        <p:grpSpPr>
          <a:xfrm>
            <a:off x="5663106" y="3686702"/>
            <a:ext cx="1054523" cy="1338773"/>
            <a:chOff x="5569228" y="3244452"/>
            <a:chExt cx="1054523" cy="1338773"/>
          </a:xfrm>
        </p:grpSpPr>
        <p:sp>
          <p:nvSpPr>
            <p:cNvPr id="74" name="弦 73">
              <a:extLst>
                <a:ext uri="{FF2B5EF4-FFF2-40B4-BE49-F238E27FC236}">
                  <a16:creationId xmlns:a16="http://schemas.microsoft.com/office/drawing/2014/main" id="{CF9C814A-0245-C966-8468-19A792A61BBA}"/>
                </a:ext>
              </a:extLst>
            </p:cNvPr>
            <p:cNvSpPr/>
            <p:nvPr/>
          </p:nvSpPr>
          <p:spPr bwMode="auto">
            <a:xfrm>
              <a:off x="5569228"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5" name="弦 74">
              <a:extLst>
                <a:ext uri="{FF2B5EF4-FFF2-40B4-BE49-F238E27FC236}">
                  <a16:creationId xmlns:a16="http://schemas.microsoft.com/office/drawing/2014/main" id="{5F8687A8-3277-841F-9379-5295561BA6F9}"/>
                </a:ext>
              </a:extLst>
            </p:cNvPr>
            <p:cNvSpPr/>
            <p:nvPr/>
          </p:nvSpPr>
          <p:spPr bwMode="auto">
            <a:xfrm rot="10800000">
              <a:off x="5709351"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AD4C1AA1-E681-C005-F8E7-664A813E0F47}"/>
                </a:ext>
              </a:extLst>
            </p:cNvPr>
            <p:cNvSpPr/>
            <p:nvPr/>
          </p:nvSpPr>
          <p:spPr bwMode="auto">
            <a:xfrm>
              <a:off x="5661849"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人</a:t>
              </a:r>
              <a:endParaRPr lang="en-US" altLang="ja-JP"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306B09A6-563B-4F93-1DBB-09EDA78938DA}"/>
                </a:ext>
              </a:extLst>
            </p:cNvPr>
            <p:cNvSpPr/>
            <p:nvPr/>
          </p:nvSpPr>
          <p:spPr bwMode="auto">
            <a:xfrm>
              <a:off x="6168821"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システム</a:t>
              </a:r>
              <a:endParaRPr lang="en-US" altLang="ja-JP" sz="1200">
                <a:solidFill>
                  <a:schemeClr val="accent4">
                    <a:lumMod val="65000"/>
                    <a:lumOff val="35000"/>
                  </a:schemeClr>
                </a:solidFill>
                <a:latin typeface="Meiryo UI" panose="020B0604030504040204" pitchFamily="50" charset="-128"/>
                <a:ea typeface="Meiryo UI" panose="020B0604030504040204" pitchFamily="50" charset="-128"/>
              </a:endParaRPr>
            </a:p>
          </p:txBody>
        </p:sp>
      </p:grpSp>
      <p:sp>
        <p:nvSpPr>
          <p:cNvPr id="5" name="テキスト ボックス 4">
            <a:extLst>
              <a:ext uri="{FF2B5EF4-FFF2-40B4-BE49-F238E27FC236}">
                <a16:creationId xmlns:a16="http://schemas.microsoft.com/office/drawing/2014/main" id="{E9AFB8B3-A342-23F9-71D3-CDC33CAEB7F2}"/>
              </a:ext>
            </a:extLst>
          </p:cNvPr>
          <p:cNvSpPr txBox="1"/>
          <p:nvPr/>
        </p:nvSpPr>
        <p:spPr bwMode="auto">
          <a:xfrm>
            <a:off x="1514076" y="2832443"/>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エージェント対象業務を増やしていく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BPS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経理：</a:t>
            </a: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財務：標準プロセス関連の業務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顧客管理：マスター登録・名寄せ関連の業務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法務：ナレッジ検索関連の業務</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51" name="テキスト ボックス 50">
            <a:extLst>
              <a:ext uri="{FF2B5EF4-FFF2-40B4-BE49-F238E27FC236}">
                <a16:creationId xmlns:a16="http://schemas.microsoft.com/office/drawing/2014/main" id="{E92D9963-601E-DB30-5E6D-03112F528266}"/>
              </a:ext>
            </a:extLst>
          </p:cNvPr>
          <p:cNvSpPr txBox="1"/>
          <p:nvPr/>
        </p:nvSpPr>
        <p:spPr bwMode="auto">
          <a:xfrm>
            <a:off x="7256243" y="2824592"/>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n8n×Azure</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サービスによる</a:t>
            </a: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ナレッジ検索関連の業務エージェント</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pic>
        <p:nvPicPr>
          <p:cNvPr id="53" name="グラフィックス 52" descr="ワークフロー 枠線">
            <a:extLst>
              <a:ext uri="{FF2B5EF4-FFF2-40B4-BE49-F238E27FC236}">
                <a16:creationId xmlns:a16="http://schemas.microsoft.com/office/drawing/2014/main" id="{46CE2C2D-6807-1F5E-CA40-47F22ED524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4276" y="2297697"/>
            <a:ext cx="579600" cy="579600"/>
          </a:xfrm>
          <a:prstGeom prst="rect">
            <a:avLst/>
          </a:prstGeom>
        </p:spPr>
      </p:pic>
      <p:pic>
        <p:nvPicPr>
          <p:cNvPr id="61" name="グラフィックス 60" descr="ロボット 枠線">
            <a:extLst>
              <a:ext uri="{FF2B5EF4-FFF2-40B4-BE49-F238E27FC236}">
                <a16:creationId xmlns:a16="http://schemas.microsoft.com/office/drawing/2014/main" id="{AB81C9C5-CF48-9B0B-1DAB-F913D6662B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27529" y="2297697"/>
            <a:ext cx="579600" cy="579600"/>
          </a:xfrm>
          <a:prstGeom prst="rect">
            <a:avLst/>
          </a:prstGeom>
        </p:spPr>
      </p:pic>
      <p:pic>
        <p:nvPicPr>
          <p:cNvPr id="63" name="グラフィックス 62" descr="データベース 枠線">
            <a:extLst>
              <a:ext uri="{FF2B5EF4-FFF2-40B4-BE49-F238E27FC236}">
                <a16:creationId xmlns:a16="http://schemas.microsoft.com/office/drawing/2014/main" id="{DE605D1A-83AE-104D-1609-BF721E26B88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86678" y="4447184"/>
            <a:ext cx="579600" cy="579600"/>
          </a:xfrm>
          <a:prstGeom prst="rect">
            <a:avLst/>
          </a:prstGeom>
        </p:spPr>
      </p:pic>
      <p:pic>
        <p:nvPicPr>
          <p:cNvPr id="71" name="グラフィックス 70" descr="棒グラフ (上昇) 枠線">
            <a:extLst>
              <a:ext uri="{FF2B5EF4-FFF2-40B4-BE49-F238E27FC236}">
                <a16:creationId xmlns:a16="http://schemas.microsoft.com/office/drawing/2014/main" id="{E14A68C6-3DC1-D4BD-8776-E78C81B0599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86489" y="4447184"/>
            <a:ext cx="579600" cy="579600"/>
          </a:xfrm>
          <a:prstGeom prst="rect">
            <a:avLst/>
          </a:prstGeom>
          <a:scene3d>
            <a:camera prst="orthographicFront">
              <a:rot lat="0" lon="10800000" rev="0"/>
            </a:camera>
            <a:lightRig rig="threePt" dir="t"/>
          </a:scene3d>
        </p:spPr>
      </p:pic>
      <p:sp>
        <p:nvSpPr>
          <p:cNvPr id="72" name="テキスト ボックス 71">
            <a:extLst>
              <a:ext uri="{FF2B5EF4-FFF2-40B4-BE49-F238E27FC236}">
                <a16:creationId xmlns:a16="http://schemas.microsoft.com/office/drawing/2014/main" id="{8824B345-4DA7-F06E-3759-6C6DCADEC0DE}"/>
              </a:ext>
            </a:extLst>
          </p:cNvPr>
          <p:cNvSpPr txBox="1"/>
          <p:nvPr/>
        </p:nvSpPr>
        <p:spPr bwMode="auto">
          <a:xfrm>
            <a:off x="1514076" y="4965309"/>
            <a:ext cx="4170005" cy="1384995"/>
          </a:xfrm>
          <a:prstGeom prst="rect">
            <a:avLst/>
          </a:prstGeom>
          <a:noFill/>
          <a:ln w="9525">
            <a:noFill/>
            <a:miter lim="800000"/>
            <a:headEnd/>
            <a:tailEnd/>
          </a:ln>
        </p:spPr>
        <p:txBody>
          <a:bodyPr wrap="square" rtlCol="0">
            <a:spAutoFit/>
          </a:bodyPr>
          <a:lstStyle/>
          <a:p>
            <a:pPr>
              <a:defRPr/>
            </a:pP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大量のデータの可視化・分析を行い業務改善を進める</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ナレッジ検索関連の業務分析・改善</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73" name="テキスト ボックス 72">
            <a:extLst>
              <a:ext uri="{FF2B5EF4-FFF2-40B4-BE49-F238E27FC236}">
                <a16:creationId xmlns:a16="http://schemas.microsoft.com/office/drawing/2014/main" id="{98F597E0-56C5-B1BD-738D-F5995290A9A2}"/>
              </a:ext>
            </a:extLst>
          </p:cNvPr>
          <p:cNvSpPr txBox="1"/>
          <p:nvPr/>
        </p:nvSpPr>
        <p:spPr bwMode="auto">
          <a:xfrm>
            <a:off x="6695676" y="4965309"/>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エージェントの数に伴い利活用できるデータを増やしていく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ナレッジ検索関連の業務データ</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7" name="テキスト ボックス 6">
            <a:extLst>
              <a:ext uri="{FF2B5EF4-FFF2-40B4-BE49-F238E27FC236}">
                <a16:creationId xmlns:a16="http://schemas.microsoft.com/office/drawing/2014/main" id="{7714BC30-3D21-1B3C-7C9A-3D632EC52C61}"/>
              </a:ext>
            </a:extLst>
          </p:cNvPr>
          <p:cNvSpPr txBox="1"/>
          <p:nvPr/>
        </p:nvSpPr>
        <p:spPr bwMode="auto">
          <a:xfrm>
            <a:off x="5225899" y="3433942"/>
            <a:ext cx="48294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dirty="0">
                <a:solidFill>
                  <a:schemeClr val="accent4">
                    <a:lumMod val="65000"/>
                    <a:lumOff val="35000"/>
                  </a:schemeClr>
                </a:solidFill>
                <a:latin typeface="MS UI Gothic" panose="020B0600070205080204" pitchFamily="50" charset="-128"/>
                <a:ea typeface="MS UI Gothic" panose="020B0600070205080204" pitchFamily="50" charset="-128"/>
                <a:cs typeface="メイリオ"/>
              </a:rPr>
              <a:t>P</a:t>
            </a:r>
            <a:endParaRPr kumimoji="1" lang="ja-JP" altLang="en-US" sz="2000" b="1" dirty="0">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8" name="テキスト ボックス 7">
            <a:extLst>
              <a:ext uri="{FF2B5EF4-FFF2-40B4-BE49-F238E27FC236}">
                <a16:creationId xmlns:a16="http://schemas.microsoft.com/office/drawing/2014/main" id="{415A1A27-5BD4-22D8-98DC-23B90B1692FE}"/>
              </a:ext>
            </a:extLst>
          </p:cNvPr>
          <p:cNvSpPr txBox="1"/>
          <p:nvPr/>
        </p:nvSpPr>
        <p:spPr bwMode="auto">
          <a:xfrm>
            <a:off x="6765130" y="3385135"/>
            <a:ext cx="48294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D</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9" name="テキスト ボックス 8">
            <a:extLst>
              <a:ext uri="{FF2B5EF4-FFF2-40B4-BE49-F238E27FC236}">
                <a16:creationId xmlns:a16="http://schemas.microsoft.com/office/drawing/2014/main" id="{98820146-1EC4-2B6F-DB5C-D447597C3EC7}"/>
              </a:ext>
            </a:extLst>
          </p:cNvPr>
          <p:cNvSpPr txBox="1"/>
          <p:nvPr/>
        </p:nvSpPr>
        <p:spPr bwMode="auto">
          <a:xfrm>
            <a:off x="5929141" y="5117169"/>
            <a:ext cx="50147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C</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10" name="テキスト ボックス 9">
            <a:extLst>
              <a:ext uri="{FF2B5EF4-FFF2-40B4-BE49-F238E27FC236}">
                <a16:creationId xmlns:a16="http://schemas.microsoft.com/office/drawing/2014/main" id="{FE04C6AB-F7DC-7B12-F052-42788F8C0671}"/>
              </a:ext>
            </a:extLst>
          </p:cNvPr>
          <p:cNvSpPr txBox="1"/>
          <p:nvPr/>
        </p:nvSpPr>
        <p:spPr bwMode="auto">
          <a:xfrm>
            <a:off x="5157184" y="4501768"/>
            <a:ext cx="50147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A</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Tree>
    <p:extLst>
      <p:ext uri="{BB962C8B-B14F-4D97-AF65-F5344CB8AC3E}">
        <p14:creationId xmlns:p14="http://schemas.microsoft.com/office/powerpoint/2010/main" val="610286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5320-5F48-5994-7E42-2A2F6B4F762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09E3D2F-93D3-BB1D-623E-C9BE09FAD40F}"/>
              </a:ext>
            </a:extLst>
          </p:cNvPr>
          <p:cNvSpPr>
            <a:spLocks noGrp="1"/>
          </p:cNvSpPr>
          <p:nvPr>
            <p:ph type="title"/>
          </p:nvPr>
        </p:nvSpPr>
        <p:spPr/>
        <p:txBody>
          <a:bodyPr/>
          <a:lstStyle/>
          <a:p>
            <a:r>
              <a:rPr lang="ja-JP" altLang="en-US" dirty="0"/>
              <a:t>構造化された</a:t>
            </a:r>
            <a:r>
              <a:rPr lang="en-US" altLang="ja-JP" dirty="0"/>
              <a:t>AI</a:t>
            </a:r>
            <a:r>
              <a:rPr lang="ja-JP" altLang="en-US" dirty="0"/>
              <a:t>エージェント基盤のアーキテクチャ</a:t>
            </a:r>
            <a:endParaRPr kumimoji="1" lang="ja-JP" altLang="en-US" dirty="0"/>
          </a:p>
        </p:txBody>
      </p:sp>
      <p:sp>
        <p:nvSpPr>
          <p:cNvPr id="4" name="スライド番号プレースホルダー 3">
            <a:extLst>
              <a:ext uri="{FF2B5EF4-FFF2-40B4-BE49-F238E27FC236}">
                <a16:creationId xmlns:a16="http://schemas.microsoft.com/office/drawing/2014/main" id="{0FF80475-7A8F-C87A-95BA-5A28CEDF4D7F}"/>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3</a:t>
            </a:fld>
            <a:endParaRPr lang="en-US" altLang="ja-JP"/>
          </a:p>
        </p:txBody>
      </p:sp>
      <p:sp>
        <p:nvSpPr>
          <p:cNvPr id="2" name="コンテンツ プレースホルダー 5">
            <a:extLst>
              <a:ext uri="{FF2B5EF4-FFF2-40B4-BE49-F238E27FC236}">
                <a16:creationId xmlns:a16="http://schemas.microsoft.com/office/drawing/2014/main" id="{03701320-0A55-8736-090B-B2F4A0C00109}"/>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AI</a:t>
            </a:r>
            <a:r>
              <a:rPr lang="ja-JP" altLang="en-US" sz="1600" kern="0" dirty="0"/>
              <a:t>エージェント基盤の構成要素を“</a:t>
            </a:r>
            <a:r>
              <a:rPr lang="en-US" altLang="ja-JP" sz="1600" kern="0" dirty="0"/>
              <a:t>AI</a:t>
            </a:r>
            <a:r>
              <a:rPr lang="ja-JP" altLang="en-US" sz="1600" kern="0" dirty="0"/>
              <a:t>エージェントツール”、“</a:t>
            </a:r>
            <a:r>
              <a:rPr lang="en-US" altLang="ja-JP" sz="1600" kern="0" dirty="0"/>
              <a:t>AI</a:t>
            </a:r>
            <a:r>
              <a:rPr lang="ja-JP" altLang="en-US" sz="1600" kern="0" dirty="0"/>
              <a:t>モデル”、“</a:t>
            </a:r>
            <a:r>
              <a:rPr lang="en-US" altLang="ja-JP" sz="1600" kern="0" dirty="0"/>
              <a:t>DB</a:t>
            </a:r>
            <a:r>
              <a:rPr lang="ja-JP" altLang="en-US" sz="1600" kern="0" dirty="0"/>
              <a:t>”、“データ分析”、“インフラ基盤”と分解することで、</a:t>
            </a:r>
            <a:br>
              <a:rPr lang="en-US" altLang="ja-JP" sz="1600" kern="0" dirty="0"/>
            </a:br>
            <a:r>
              <a:rPr lang="en-US" altLang="ja-JP" sz="1600" kern="0" dirty="0"/>
              <a:t>1</a:t>
            </a:r>
            <a:r>
              <a:rPr lang="ja-JP" altLang="en-US" sz="1600" kern="0" dirty="0"/>
              <a:t>つのサービスに依存させない、柔軟性の高いマイクロサービスアーキテクチャを実現する。</a:t>
            </a:r>
            <a:br>
              <a:rPr lang="en-US" altLang="ja-JP" sz="1600" kern="0" dirty="0"/>
            </a:br>
            <a:r>
              <a:rPr lang="en-US" altLang="ja-JP" sz="1600" kern="0" dirty="0"/>
              <a:t>※</a:t>
            </a:r>
            <a:r>
              <a:rPr lang="ja-JP" altLang="en-US" sz="1600" kern="0" dirty="0"/>
              <a:t>初期構想で使用するサービスはあくまで現時点と判断してください（状況によって変更可）</a:t>
            </a:r>
            <a:endParaRPr lang="en-US" altLang="ja-JP" sz="1600" kern="0" dirty="0"/>
          </a:p>
        </p:txBody>
      </p:sp>
      <p:pic>
        <p:nvPicPr>
          <p:cNvPr id="1026" name="Picture 2">
            <a:extLst>
              <a:ext uri="{FF2B5EF4-FFF2-40B4-BE49-F238E27FC236}">
                <a16:creationId xmlns:a16="http://schemas.microsoft.com/office/drawing/2014/main" id="{23BCD918-A90A-4F09-581A-34EEDA208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5758" y="6891980"/>
            <a:ext cx="81278" cy="45719"/>
          </a:xfrm>
          <a:prstGeom prst="rect">
            <a:avLst/>
          </a:prstGeom>
          <a:noFill/>
          <a:extLst>
            <a:ext uri="{909E8E84-426E-40DD-AFC4-6F175D3DCCD1}">
              <a14:hiddenFill xmlns:a14="http://schemas.microsoft.com/office/drawing/2010/main">
                <a:solidFill>
                  <a:srgbClr val="FFFFFF"/>
                </a:solidFill>
              </a14:hiddenFill>
            </a:ext>
          </a:extLst>
        </p:spPr>
      </p:pic>
      <p:sp>
        <p:nvSpPr>
          <p:cNvPr id="87" name="正方形/長方形 86">
            <a:extLst>
              <a:ext uri="{FF2B5EF4-FFF2-40B4-BE49-F238E27FC236}">
                <a16:creationId xmlns:a16="http://schemas.microsoft.com/office/drawing/2014/main" id="{15D3F6EE-81CE-CDDE-F52B-BD5998B4F4F0}"/>
              </a:ext>
            </a:extLst>
          </p:cNvPr>
          <p:cNvSpPr/>
          <p:nvPr/>
        </p:nvSpPr>
        <p:spPr bwMode="auto">
          <a:xfrm>
            <a:off x="206421" y="4433529"/>
            <a:ext cx="11779159" cy="216000"/>
          </a:xfrm>
          <a:prstGeom prst="rect">
            <a:avLst/>
          </a:prstGeom>
          <a:solidFill>
            <a:srgbClr val="7F7F7F"/>
          </a:solidFill>
          <a:ln w="12700" cap="flat" cmpd="sng" algn="ctr">
            <a:solidFill>
              <a:srgbClr val="7F7F7F"/>
            </a:solidFill>
            <a:prstDash val="solid"/>
            <a:miter lim="800000"/>
          </a:ln>
          <a:effectLst/>
        </p:spPr>
        <p:txBody>
          <a:bodyPr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algn="ctr" defTabSz="914400"/>
            <a:r>
              <a:rPr lang="ja-JP" altLang="en-US" sz="1200" b="1" dirty="0">
                <a:solidFill>
                  <a:schemeClr val="bg1"/>
                </a:solidFill>
                <a:latin typeface="Meiryo UI" panose="020B0604030504040204" pitchFamily="50" charset="-128"/>
                <a:ea typeface="Meiryo UI" panose="020B0604030504040204" pitchFamily="50" charset="-128"/>
              </a:rPr>
              <a:t>アーキテクチャのポイント整理</a:t>
            </a:r>
            <a:endParaRPr lang="en-US" altLang="ja-JP" sz="1200" b="1" dirty="0">
              <a:solidFill>
                <a:schemeClr val="bg1"/>
              </a:solidFill>
              <a:latin typeface="Meiryo UI" panose="020B0604030504040204" pitchFamily="50" charset="-128"/>
              <a:ea typeface="Meiryo UI" panose="020B0604030504040204" pitchFamily="50" charset="-128"/>
            </a:endParaRPr>
          </a:p>
        </p:txBody>
      </p:sp>
      <p:grpSp>
        <p:nvGrpSpPr>
          <p:cNvPr id="109" name="グループ化 108">
            <a:extLst>
              <a:ext uri="{FF2B5EF4-FFF2-40B4-BE49-F238E27FC236}">
                <a16:creationId xmlns:a16="http://schemas.microsoft.com/office/drawing/2014/main" id="{2A439025-A618-F95D-25E3-C269385A4C54}"/>
              </a:ext>
            </a:extLst>
          </p:cNvPr>
          <p:cNvGrpSpPr/>
          <p:nvPr/>
        </p:nvGrpSpPr>
        <p:grpSpPr>
          <a:xfrm>
            <a:off x="206421" y="4699765"/>
            <a:ext cx="11779159" cy="1755253"/>
            <a:chOff x="206421" y="4699765"/>
            <a:chExt cx="8402735" cy="1755253"/>
          </a:xfrm>
        </p:grpSpPr>
        <p:sp>
          <p:nvSpPr>
            <p:cNvPr id="107" name="正方形/長方形 106">
              <a:extLst>
                <a:ext uri="{FF2B5EF4-FFF2-40B4-BE49-F238E27FC236}">
                  <a16:creationId xmlns:a16="http://schemas.microsoft.com/office/drawing/2014/main" id="{62E8D0C8-FD98-8E82-8C2A-8A8E680968A5}"/>
                </a:ext>
              </a:extLst>
            </p:cNvPr>
            <p:cNvSpPr/>
            <p:nvPr/>
          </p:nvSpPr>
          <p:spPr bwMode="auto">
            <a:xfrm>
              <a:off x="206421"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indent="-88900" defTabSz="914400" fontAlgn="auto">
                <a:spcBef>
                  <a:spcPts val="0"/>
                </a:spcBef>
                <a:spcAft>
                  <a:spcPts val="0"/>
                </a:spcAft>
                <a:buFont typeface="Arial" panose="020B0604020202020204" pitchFamily="34" charset="0"/>
                <a:buChar char="•"/>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エージェントの構築が容易な拡張性の高いワークフロータイプのローコードを活用する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indent="-88900" defTabSz="914400" fontAlgn="auto">
                <a:spcBef>
                  <a:spcPts val="0"/>
                </a:spcBef>
                <a:spcAft>
                  <a:spcPts val="0"/>
                </a:spcAft>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様々なサービスとの接続や</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モデルの呼び出しが可能であり、非機能面の</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パフォーマンスも高いことが重要になる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8" name="正方形/長方形 107">
              <a:extLst>
                <a:ext uri="{FF2B5EF4-FFF2-40B4-BE49-F238E27FC236}">
                  <a16:creationId xmlns:a16="http://schemas.microsoft.com/office/drawing/2014/main" id="{E93E1FEB-4C4D-5354-F6EC-72245689256A}"/>
                </a:ext>
              </a:extLst>
            </p:cNvPr>
            <p:cNvSpPr/>
            <p:nvPr/>
          </p:nvSpPr>
          <p:spPr bwMode="auto">
            <a:xfrm>
              <a:off x="206421"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algn="ctr" defTabSz="914400" fontAlgn="auto">
                <a:spcBef>
                  <a:spcPts val="0"/>
                </a:spcBef>
                <a:spcAft>
                  <a:spcPts val="0"/>
                </a:spcAft>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①</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エージェントツール</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5" name="正方形/長方形 104">
              <a:extLst>
                <a:ext uri="{FF2B5EF4-FFF2-40B4-BE49-F238E27FC236}">
                  <a16:creationId xmlns:a16="http://schemas.microsoft.com/office/drawing/2014/main" id="{33709D2C-8F00-8B6E-AB52-359D43BE83D3}"/>
                </a:ext>
              </a:extLst>
            </p:cNvPr>
            <p:cNvSpPr/>
            <p:nvPr/>
          </p:nvSpPr>
          <p:spPr bwMode="auto">
            <a:xfrm>
              <a:off x="1894633"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lvl="1" indent="-88900" defTabSz="914400">
                <a:buFont typeface="Arial" panose="020B0604020202020204" pitchFamily="34" charset="0"/>
                <a:buChar char="•"/>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つの</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モデルに依存することなく、</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多種多様なモデルが使用できる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特に</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大基盤のモデルの進化は早い</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ため、全て使用できることが必須条件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である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6" name="正方形/長方形 105">
              <a:extLst>
                <a:ext uri="{FF2B5EF4-FFF2-40B4-BE49-F238E27FC236}">
                  <a16:creationId xmlns:a16="http://schemas.microsoft.com/office/drawing/2014/main" id="{0FB4001B-EEAB-1660-1C34-5FC6FB88E09A}"/>
                </a:ext>
              </a:extLst>
            </p:cNvPr>
            <p:cNvSpPr/>
            <p:nvPr/>
          </p:nvSpPr>
          <p:spPr bwMode="auto">
            <a:xfrm>
              <a:off x="1894633"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②</a:t>
              </a:r>
              <a:r>
                <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モデル</a:t>
              </a:r>
              <a:endPar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03" name="正方形/長方形 102">
              <a:extLst>
                <a:ext uri="{FF2B5EF4-FFF2-40B4-BE49-F238E27FC236}">
                  <a16:creationId xmlns:a16="http://schemas.microsoft.com/office/drawing/2014/main" id="{A394B58E-EB36-BC96-1001-A1A585818205}"/>
                </a:ext>
              </a:extLst>
            </p:cNvPr>
            <p:cNvSpPr/>
            <p:nvPr/>
          </p:nvSpPr>
          <p:spPr bwMode="auto">
            <a:xfrm>
              <a:off x="3582845"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lvl="1" indent="-88900" defTabSz="914400">
                <a:buFont typeface="Arial" panose="020B0604020202020204" pitchFamily="34" charset="0"/>
                <a:buChar char="•"/>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エージェントのマスターデータを格納</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するために</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つの汎用的な</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DB</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にする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汎用的であれば、他の基盤に移すことへの柔軟性も高くなり、ロックインをされない状態を作ることができる</a:t>
              </a:r>
            </a:p>
          </p:txBody>
        </p:sp>
        <p:sp>
          <p:nvSpPr>
            <p:cNvPr id="104" name="正方形/長方形 103">
              <a:extLst>
                <a:ext uri="{FF2B5EF4-FFF2-40B4-BE49-F238E27FC236}">
                  <a16:creationId xmlns:a16="http://schemas.microsoft.com/office/drawing/2014/main" id="{F4771CBD-9C1B-D8F6-FAD4-006F67885904}"/>
                </a:ext>
              </a:extLst>
            </p:cNvPr>
            <p:cNvSpPr/>
            <p:nvPr/>
          </p:nvSpPr>
          <p:spPr bwMode="auto">
            <a:xfrm>
              <a:off x="3582845"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③</a:t>
              </a:r>
              <a:r>
                <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DB</a:t>
              </a:r>
            </a:p>
          </p:txBody>
        </p:sp>
        <p:sp>
          <p:nvSpPr>
            <p:cNvPr id="101" name="正方形/長方形 100">
              <a:extLst>
                <a:ext uri="{FF2B5EF4-FFF2-40B4-BE49-F238E27FC236}">
                  <a16:creationId xmlns:a16="http://schemas.microsoft.com/office/drawing/2014/main" id="{78D91362-4179-4019-BDC9-D06D71ECB8D5}"/>
                </a:ext>
              </a:extLst>
            </p:cNvPr>
            <p:cNvSpPr/>
            <p:nvPr/>
          </p:nvSpPr>
          <p:spPr bwMode="auto">
            <a:xfrm>
              <a:off x="5271057"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蓄積された</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エージェントデータを加工、分析するために使用する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特にデータレイクの機能だけでなく、</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BI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機能まで一気通貫でパッケージされたサービスだと学習コストなどがかからず、早期に改善サイクルがまわせる</a:t>
              </a:r>
            </a:p>
          </p:txBody>
        </p:sp>
        <p:sp>
          <p:nvSpPr>
            <p:cNvPr id="102" name="正方形/長方形 101">
              <a:extLst>
                <a:ext uri="{FF2B5EF4-FFF2-40B4-BE49-F238E27FC236}">
                  <a16:creationId xmlns:a16="http://schemas.microsoft.com/office/drawing/2014/main" id="{BAE6E54F-2AC6-B3A3-D3ED-A5820FEBC63A}"/>
                </a:ext>
              </a:extLst>
            </p:cNvPr>
            <p:cNvSpPr/>
            <p:nvPr/>
          </p:nvSpPr>
          <p:spPr bwMode="auto">
            <a:xfrm>
              <a:off x="5271057"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④データ分析</a:t>
              </a:r>
              <a:endPar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99" name="正方形/長方形 98">
              <a:extLst>
                <a:ext uri="{FF2B5EF4-FFF2-40B4-BE49-F238E27FC236}">
                  <a16:creationId xmlns:a16="http://schemas.microsoft.com/office/drawing/2014/main" id="{3849648A-20AD-B468-3E76-0E040E9D1A36}"/>
                </a:ext>
              </a:extLst>
            </p:cNvPr>
            <p:cNvSpPr/>
            <p:nvPr/>
          </p:nvSpPr>
          <p:spPr bwMode="auto">
            <a:xfrm>
              <a:off x="6959269"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データの取り扱いや外部サービスとの</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接続など、あらゆる面で高いセキュリティ要件が求められる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機能面でも</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だけでなく従来の業務で使用するサービスとの接続し易さや</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親和性も重要になる</a:t>
              </a:r>
            </a:p>
          </p:txBody>
        </p:sp>
        <p:sp>
          <p:nvSpPr>
            <p:cNvPr id="100" name="正方形/長方形 99">
              <a:extLst>
                <a:ext uri="{FF2B5EF4-FFF2-40B4-BE49-F238E27FC236}">
                  <a16:creationId xmlns:a16="http://schemas.microsoft.com/office/drawing/2014/main" id="{ECA86AD7-D309-6E6F-F7DB-BDBAC78CFCC4}"/>
                </a:ext>
              </a:extLst>
            </p:cNvPr>
            <p:cNvSpPr/>
            <p:nvPr/>
          </p:nvSpPr>
          <p:spPr bwMode="auto">
            <a:xfrm>
              <a:off x="6959269"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⑤インフラ基盤</a:t>
              </a:r>
              <a:endPar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grpSp>
      <p:grpSp>
        <p:nvGrpSpPr>
          <p:cNvPr id="111" name="グループ化 110">
            <a:extLst>
              <a:ext uri="{FF2B5EF4-FFF2-40B4-BE49-F238E27FC236}">
                <a16:creationId xmlns:a16="http://schemas.microsoft.com/office/drawing/2014/main" id="{B1EE43A1-C33C-7A16-EB1D-792EAC89DA60}"/>
              </a:ext>
            </a:extLst>
          </p:cNvPr>
          <p:cNvGrpSpPr/>
          <p:nvPr/>
        </p:nvGrpSpPr>
        <p:grpSpPr>
          <a:xfrm>
            <a:off x="295065" y="1995055"/>
            <a:ext cx="11601870" cy="2179236"/>
            <a:chOff x="295065" y="1995055"/>
            <a:chExt cx="11601870" cy="2179236"/>
          </a:xfrm>
        </p:grpSpPr>
        <p:sp>
          <p:nvSpPr>
            <p:cNvPr id="11" name="正方形/長方形 10">
              <a:extLst>
                <a:ext uri="{FF2B5EF4-FFF2-40B4-BE49-F238E27FC236}">
                  <a16:creationId xmlns:a16="http://schemas.microsoft.com/office/drawing/2014/main" id="{E5C1DB97-620C-393D-6141-A18C54A0290D}"/>
                </a:ext>
              </a:extLst>
            </p:cNvPr>
            <p:cNvSpPr/>
            <p:nvPr/>
          </p:nvSpPr>
          <p:spPr>
            <a:xfrm>
              <a:off x="295065" y="2461910"/>
              <a:ext cx="1955660" cy="1643179"/>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フロントエンドサービス</a:t>
              </a:r>
            </a:p>
          </p:txBody>
        </p:sp>
        <p:sp>
          <p:nvSpPr>
            <p:cNvPr id="12" name="正方形/長方形 11">
              <a:extLst>
                <a:ext uri="{FF2B5EF4-FFF2-40B4-BE49-F238E27FC236}">
                  <a16:creationId xmlns:a16="http://schemas.microsoft.com/office/drawing/2014/main" id="{AD4816AB-1EC6-7D2A-909E-E89A7570DA9A}"/>
                </a:ext>
              </a:extLst>
            </p:cNvPr>
            <p:cNvSpPr/>
            <p:nvPr/>
          </p:nvSpPr>
          <p:spPr bwMode="auto">
            <a:xfrm>
              <a:off x="441344" y="3060979"/>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2" name="正方形/長方形 21">
              <a:extLst>
                <a:ext uri="{FF2B5EF4-FFF2-40B4-BE49-F238E27FC236}">
                  <a16:creationId xmlns:a16="http://schemas.microsoft.com/office/drawing/2014/main" id="{2E47B5AA-392A-578C-7A96-5F9759717FC1}"/>
                </a:ext>
              </a:extLst>
            </p:cNvPr>
            <p:cNvSpPr/>
            <p:nvPr/>
          </p:nvSpPr>
          <p:spPr bwMode="auto">
            <a:xfrm>
              <a:off x="441344" y="3483529"/>
              <a:ext cx="1646808" cy="337425"/>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000000"/>
                  </a:solidFill>
                  <a:latin typeface="Meiryo UI"/>
                  <a:ea typeface="Meiryo UI"/>
                  <a:cs typeface="Meiryo UI" panose="020B0604030504040204" pitchFamily="50" charset="-128"/>
                </a:rPr>
                <a:t>：</a:t>
              </a:r>
              <a:endParaRPr kumimoji="0" lang="ja-JP" altLang="en-US" sz="12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13" name="正方形/長方形 12">
              <a:extLst>
                <a:ext uri="{FF2B5EF4-FFF2-40B4-BE49-F238E27FC236}">
                  <a16:creationId xmlns:a16="http://schemas.microsoft.com/office/drawing/2014/main" id="{9544DEFE-EC3A-8622-1F69-66EF31A8CD11}"/>
                </a:ext>
              </a:extLst>
            </p:cNvPr>
            <p:cNvSpPr/>
            <p:nvPr/>
          </p:nvSpPr>
          <p:spPr>
            <a:xfrm>
              <a:off x="2695282" y="2461910"/>
              <a:ext cx="1955662"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①</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エージェントツール</a:t>
              </a:r>
            </a:p>
          </p:txBody>
        </p:sp>
        <p:sp>
          <p:nvSpPr>
            <p:cNvPr id="14" name="正方形/長方形 13">
              <a:extLst>
                <a:ext uri="{FF2B5EF4-FFF2-40B4-BE49-F238E27FC236}">
                  <a16:creationId xmlns:a16="http://schemas.microsoft.com/office/drawing/2014/main" id="{A1DAE51D-8C18-2AA9-7D2B-853DD2C683FA}"/>
                </a:ext>
              </a:extLst>
            </p:cNvPr>
            <p:cNvSpPr/>
            <p:nvPr/>
          </p:nvSpPr>
          <p:spPr>
            <a:xfrm>
              <a:off x="2695282" y="3306954"/>
              <a:ext cx="9163343"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⑤インフラ基盤</a:t>
              </a:r>
            </a:p>
          </p:txBody>
        </p:sp>
        <p:sp>
          <p:nvSpPr>
            <p:cNvPr id="15" name="正方形/長方形 14">
              <a:extLst>
                <a:ext uri="{FF2B5EF4-FFF2-40B4-BE49-F238E27FC236}">
                  <a16:creationId xmlns:a16="http://schemas.microsoft.com/office/drawing/2014/main" id="{8BFAB617-CB5C-046F-EC60-FAEE1B4D1ED8}"/>
                </a:ext>
              </a:extLst>
            </p:cNvPr>
            <p:cNvSpPr/>
            <p:nvPr/>
          </p:nvSpPr>
          <p:spPr>
            <a:xfrm>
              <a:off x="5095501" y="2461632"/>
              <a:ext cx="1958003"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②</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モデル</a:t>
              </a:r>
            </a:p>
          </p:txBody>
        </p:sp>
        <p:sp>
          <p:nvSpPr>
            <p:cNvPr id="16" name="正方形/長方形 15">
              <a:extLst>
                <a:ext uri="{FF2B5EF4-FFF2-40B4-BE49-F238E27FC236}">
                  <a16:creationId xmlns:a16="http://schemas.microsoft.com/office/drawing/2014/main" id="{1CF0AAE7-37D5-3D2D-2B81-425EBC02804F}"/>
                </a:ext>
              </a:extLst>
            </p:cNvPr>
            <p:cNvSpPr/>
            <p:nvPr/>
          </p:nvSpPr>
          <p:spPr>
            <a:xfrm>
              <a:off x="7498062" y="2461632"/>
              <a:ext cx="1958003"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③</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DB</a:t>
              </a:r>
              <a:endPar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7" name="正方形/長方形 16">
              <a:extLst>
                <a:ext uri="{FF2B5EF4-FFF2-40B4-BE49-F238E27FC236}">
                  <a16:creationId xmlns:a16="http://schemas.microsoft.com/office/drawing/2014/main" id="{263E031E-564E-797D-18EC-8FEFCA696D77}"/>
                </a:ext>
              </a:extLst>
            </p:cNvPr>
            <p:cNvSpPr/>
            <p:nvPr/>
          </p:nvSpPr>
          <p:spPr>
            <a:xfrm>
              <a:off x="9900622" y="2461632"/>
              <a:ext cx="1958003"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④データ分析</a:t>
              </a:r>
            </a:p>
          </p:txBody>
        </p:sp>
        <p:sp>
          <p:nvSpPr>
            <p:cNvPr id="23" name="正方形/長方形 22">
              <a:extLst>
                <a:ext uri="{FF2B5EF4-FFF2-40B4-BE49-F238E27FC236}">
                  <a16:creationId xmlns:a16="http://schemas.microsoft.com/office/drawing/2014/main" id="{F836EDAC-2A0B-3F33-0B6E-74A022CD6AE7}"/>
                </a:ext>
              </a:extLst>
            </p:cNvPr>
            <p:cNvSpPr/>
            <p:nvPr/>
          </p:nvSpPr>
          <p:spPr bwMode="auto">
            <a:xfrm>
              <a:off x="2850293" y="2792867"/>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4" name="正方形/長方形 23">
              <a:extLst>
                <a:ext uri="{FF2B5EF4-FFF2-40B4-BE49-F238E27FC236}">
                  <a16:creationId xmlns:a16="http://schemas.microsoft.com/office/drawing/2014/main" id="{D4EA81F3-9939-3A24-00DA-DDFBAE8C60C5}"/>
                </a:ext>
              </a:extLst>
            </p:cNvPr>
            <p:cNvSpPr/>
            <p:nvPr/>
          </p:nvSpPr>
          <p:spPr bwMode="auto">
            <a:xfrm>
              <a:off x="5251099" y="2792867"/>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5" name="正方形/長方形 24">
              <a:extLst>
                <a:ext uri="{FF2B5EF4-FFF2-40B4-BE49-F238E27FC236}">
                  <a16:creationId xmlns:a16="http://schemas.microsoft.com/office/drawing/2014/main" id="{AC850E2B-C4EA-6E1E-0D9C-8FBBB5053D4D}"/>
                </a:ext>
              </a:extLst>
            </p:cNvPr>
            <p:cNvSpPr/>
            <p:nvPr/>
          </p:nvSpPr>
          <p:spPr bwMode="auto">
            <a:xfrm>
              <a:off x="7651905" y="2792867"/>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6" name="正方形/長方形 25">
              <a:extLst>
                <a:ext uri="{FF2B5EF4-FFF2-40B4-BE49-F238E27FC236}">
                  <a16:creationId xmlns:a16="http://schemas.microsoft.com/office/drawing/2014/main" id="{41B7AB41-751D-EFA1-662E-EC08D5CE9619}"/>
                </a:ext>
              </a:extLst>
            </p:cNvPr>
            <p:cNvSpPr/>
            <p:nvPr/>
          </p:nvSpPr>
          <p:spPr bwMode="auto">
            <a:xfrm>
              <a:off x="10052711" y="2792867"/>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7" name="正方形/長方形 26">
              <a:extLst>
                <a:ext uri="{FF2B5EF4-FFF2-40B4-BE49-F238E27FC236}">
                  <a16:creationId xmlns:a16="http://schemas.microsoft.com/office/drawing/2014/main" id="{75F0903B-4909-4099-EC96-A0113E6F582E}"/>
                </a:ext>
              </a:extLst>
            </p:cNvPr>
            <p:cNvSpPr/>
            <p:nvPr/>
          </p:nvSpPr>
          <p:spPr bwMode="auto">
            <a:xfrm>
              <a:off x="6453549" y="3634933"/>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pic>
          <p:nvPicPr>
            <p:cNvPr id="30" name="図 29" descr="アイコン&#10;&#10;AI 生成コンテンツは誤りを含む可能性があります。">
              <a:extLst>
                <a:ext uri="{FF2B5EF4-FFF2-40B4-BE49-F238E27FC236}">
                  <a16:creationId xmlns:a16="http://schemas.microsoft.com/office/drawing/2014/main" id="{D61F2AF5-96DB-88FB-FA11-F94F6C058C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0927" y="2822870"/>
              <a:ext cx="1085541" cy="348278"/>
            </a:xfrm>
            <a:prstGeom prst="rect">
              <a:avLst/>
            </a:prstGeom>
          </p:spPr>
        </p:pic>
        <p:grpSp>
          <p:nvGrpSpPr>
            <p:cNvPr id="39" name="グループ化 38">
              <a:extLst>
                <a:ext uri="{FF2B5EF4-FFF2-40B4-BE49-F238E27FC236}">
                  <a16:creationId xmlns:a16="http://schemas.microsoft.com/office/drawing/2014/main" id="{A6D3B8FE-25E4-1537-2158-5E5C1B1C3545}"/>
                </a:ext>
              </a:extLst>
            </p:cNvPr>
            <p:cNvGrpSpPr/>
            <p:nvPr/>
          </p:nvGrpSpPr>
          <p:grpSpPr>
            <a:xfrm>
              <a:off x="5558902" y="2816159"/>
              <a:ext cx="1031202" cy="360808"/>
              <a:chOff x="5553157" y="3393675"/>
              <a:chExt cx="1031202" cy="360808"/>
            </a:xfrm>
          </p:grpSpPr>
          <p:pic>
            <p:nvPicPr>
              <p:cNvPr id="1030" name="Picture 6" descr="How To Use Claude Code On Windows 11 - Dibujos Cute Para Imprimir">
                <a:extLst>
                  <a:ext uri="{FF2B5EF4-FFF2-40B4-BE49-F238E27FC236}">
                    <a16:creationId xmlns:a16="http://schemas.microsoft.com/office/drawing/2014/main" id="{F5BFD586-CC94-C771-8705-D987EE64FE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551" y="3393675"/>
                <a:ext cx="360808" cy="360808"/>
              </a:xfrm>
              <a:prstGeom prst="rect">
                <a:avLst/>
              </a:prstGeom>
              <a:noFill/>
              <a:extLst>
                <a:ext uri="{909E8E84-426E-40DD-AFC4-6F175D3DCCD1}">
                  <a14:hiddenFill xmlns:a14="http://schemas.microsoft.com/office/drawing/2010/main">
                    <a:solidFill>
                      <a:srgbClr val="FFFFFF"/>
                    </a:solidFill>
                  </a14:hiddenFill>
                </a:ext>
              </a:extLst>
            </p:spPr>
          </p:pic>
          <p:pic>
            <p:nvPicPr>
              <p:cNvPr id="34" name="図 33">
                <a:extLst>
                  <a:ext uri="{FF2B5EF4-FFF2-40B4-BE49-F238E27FC236}">
                    <a16:creationId xmlns:a16="http://schemas.microsoft.com/office/drawing/2014/main" id="{C9393090-D577-1749-F5AA-0280C8BF78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53157" y="3393675"/>
                <a:ext cx="360808" cy="360808"/>
              </a:xfrm>
              <a:prstGeom prst="rect">
                <a:avLst/>
              </a:prstGeom>
            </p:spPr>
          </p:pic>
        </p:grpSp>
        <p:pic>
          <p:nvPicPr>
            <p:cNvPr id="1038" name="Picture 14" descr="PostgreSQL Logo | Cabeza de elefante, Identidad visual, Software">
              <a:extLst>
                <a:ext uri="{FF2B5EF4-FFF2-40B4-BE49-F238E27FC236}">
                  <a16:creationId xmlns:a16="http://schemas.microsoft.com/office/drawing/2014/main" id="{BED68EAD-59AD-CE33-790C-DA96053E437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a:stretch>
              <a:fillRect/>
            </a:stretch>
          </p:blipFill>
          <p:spPr bwMode="auto">
            <a:xfrm>
              <a:off x="7784934" y="2872497"/>
              <a:ext cx="1380751" cy="249023"/>
            </a:xfrm>
            <a:prstGeom prst="rect">
              <a:avLst/>
            </a:prstGeom>
            <a:noFill/>
            <a:extLst>
              <a:ext uri="{909E8E84-426E-40DD-AFC4-6F175D3DCCD1}">
                <a14:hiddenFill xmlns:a14="http://schemas.microsoft.com/office/drawing/2010/main">
                  <a:solidFill>
                    <a:srgbClr val="FFFFFF"/>
                  </a:solidFill>
                </a14:hiddenFill>
              </a:ext>
            </a:extLst>
          </p:spPr>
        </p:pic>
        <p:pic>
          <p:nvPicPr>
            <p:cNvPr id="38" name="図 37">
              <a:extLst>
                <a:ext uri="{FF2B5EF4-FFF2-40B4-BE49-F238E27FC236}">
                  <a16:creationId xmlns:a16="http://schemas.microsoft.com/office/drawing/2014/main" id="{84416BD3-6F33-3A9A-A727-B514A826999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10085306" y="2880593"/>
              <a:ext cx="1581618" cy="232833"/>
            </a:xfrm>
            <a:prstGeom prst="rect">
              <a:avLst/>
            </a:prstGeom>
          </p:spPr>
        </p:pic>
        <p:pic>
          <p:nvPicPr>
            <p:cNvPr id="40" name="図 39">
              <a:extLst>
                <a:ext uri="{FF2B5EF4-FFF2-40B4-BE49-F238E27FC236}">
                  <a16:creationId xmlns:a16="http://schemas.microsoft.com/office/drawing/2014/main" id="{7326CB44-E8D4-4C81-9018-4B5B5A972F62}"/>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a:xfrm>
              <a:off x="6556938" y="3700738"/>
              <a:ext cx="1440029" cy="276675"/>
            </a:xfrm>
            <a:prstGeom prst="rect">
              <a:avLst/>
            </a:prstGeom>
          </p:spPr>
        </p:pic>
        <p:grpSp>
          <p:nvGrpSpPr>
            <p:cNvPr id="45" name="グループ化 44">
              <a:extLst>
                <a:ext uri="{FF2B5EF4-FFF2-40B4-BE49-F238E27FC236}">
                  <a16:creationId xmlns:a16="http://schemas.microsoft.com/office/drawing/2014/main" id="{2BEDF925-7889-2D8E-8900-B338F6B1E69A}"/>
                </a:ext>
              </a:extLst>
            </p:cNvPr>
            <p:cNvGrpSpPr/>
            <p:nvPr/>
          </p:nvGrpSpPr>
          <p:grpSpPr>
            <a:xfrm>
              <a:off x="581060" y="3076664"/>
              <a:ext cx="1367376" cy="376915"/>
              <a:chOff x="548208" y="3071309"/>
              <a:chExt cx="1367376" cy="376915"/>
            </a:xfrm>
          </p:grpSpPr>
          <p:pic>
            <p:nvPicPr>
              <p:cNvPr id="42" name="図 41">
                <a:extLst>
                  <a:ext uri="{FF2B5EF4-FFF2-40B4-BE49-F238E27FC236}">
                    <a16:creationId xmlns:a16="http://schemas.microsoft.com/office/drawing/2014/main" id="{A77D0007-D163-FC04-A299-D81A4956FF50}"/>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a:xfrm>
                <a:off x="548208" y="3079318"/>
                <a:ext cx="288569" cy="360896"/>
              </a:xfrm>
              <a:prstGeom prst="rect">
                <a:avLst/>
              </a:prstGeom>
            </p:spPr>
          </p:pic>
          <p:pic>
            <p:nvPicPr>
              <p:cNvPr id="43" name="図 42">
                <a:extLst>
                  <a:ext uri="{FF2B5EF4-FFF2-40B4-BE49-F238E27FC236}">
                    <a16:creationId xmlns:a16="http://schemas.microsoft.com/office/drawing/2014/main" id="{B2FC7F88-E268-BAE5-05B0-AE12B489E038}"/>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a:xfrm>
                <a:off x="1068872" y="3071309"/>
                <a:ext cx="236086" cy="376915"/>
              </a:xfrm>
              <a:prstGeom prst="rect">
                <a:avLst/>
              </a:prstGeom>
            </p:spPr>
          </p:pic>
          <p:pic>
            <p:nvPicPr>
              <p:cNvPr id="44" name="図 43">
                <a:extLst>
                  <a:ext uri="{FF2B5EF4-FFF2-40B4-BE49-F238E27FC236}">
                    <a16:creationId xmlns:a16="http://schemas.microsoft.com/office/drawing/2014/main" id="{68AC0975-A07F-B73E-B633-122045B413FB}"/>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a:xfrm>
                <a:off x="1537052" y="3083372"/>
                <a:ext cx="378532" cy="352789"/>
              </a:xfrm>
              <a:prstGeom prst="rect">
                <a:avLst/>
              </a:prstGeom>
            </p:spPr>
          </p:pic>
        </p:grpSp>
        <p:cxnSp>
          <p:nvCxnSpPr>
            <p:cNvPr id="50" name="コネクタ: 曲線 49">
              <a:extLst>
                <a:ext uri="{FF2B5EF4-FFF2-40B4-BE49-F238E27FC236}">
                  <a16:creationId xmlns:a16="http://schemas.microsoft.com/office/drawing/2014/main" id="{364DB76C-0C3E-3453-04FF-BACD61BA90CA}"/>
                </a:ext>
              </a:extLst>
            </p:cNvPr>
            <p:cNvCxnSpPr>
              <a:cxnSpLocks/>
              <a:stCxn id="23" idx="1"/>
              <a:endCxn id="12" idx="3"/>
            </p:cNvCxnSpPr>
            <p:nvPr/>
          </p:nvCxnSpPr>
          <p:spPr>
            <a:xfrm rot="10800000" flipV="1">
              <a:off x="2088153" y="2997010"/>
              <a:ext cx="762141" cy="268112"/>
            </a:xfrm>
            <a:prstGeom prst="bent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2" name="コネクタ: 曲線 49">
              <a:extLst>
                <a:ext uri="{FF2B5EF4-FFF2-40B4-BE49-F238E27FC236}">
                  <a16:creationId xmlns:a16="http://schemas.microsoft.com/office/drawing/2014/main" id="{4AC33A63-366C-5000-E8BB-4C965DAD1875}"/>
                </a:ext>
              </a:extLst>
            </p:cNvPr>
            <p:cNvCxnSpPr>
              <a:cxnSpLocks/>
              <a:stCxn id="23" idx="3"/>
              <a:endCxn id="24" idx="1"/>
            </p:cNvCxnSpPr>
            <p:nvPr/>
          </p:nvCxnSpPr>
          <p:spPr>
            <a:xfrm>
              <a:off x="4497101" y="2997010"/>
              <a:ext cx="753998" cy="0"/>
            </a:xfrm>
            <a:prstGeom prst="straightConnector1">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6" name="コネクタ: 曲線 49">
              <a:extLst>
                <a:ext uri="{FF2B5EF4-FFF2-40B4-BE49-F238E27FC236}">
                  <a16:creationId xmlns:a16="http://schemas.microsoft.com/office/drawing/2014/main" id="{D4710FFB-CEF8-9C67-C23D-E4954A7EE2EF}"/>
                </a:ext>
              </a:extLst>
            </p:cNvPr>
            <p:cNvCxnSpPr>
              <a:cxnSpLocks/>
              <a:stCxn id="26" idx="1"/>
              <a:endCxn id="25" idx="3"/>
            </p:cNvCxnSpPr>
            <p:nvPr/>
          </p:nvCxnSpPr>
          <p:spPr>
            <a:xfrm flipH="1">
              <a:off x="9298713" y="2997010"/>
              <a:ext cx="753998" cy="0"/>
            </a:xfrm>
            <a:prstGeom prst="straightConnector1">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4" name="コネクタ: 曲線 49">
              <a:extLst>
                <a:ext uri="{FF2B5EF4-FFF2-40B4-BE49-F238E27FC236}">
                  <a16:creationId xmlns:a16="http://schemas.microsoft.com/office/drawing/2014/main" id="{119194C5-8E02-830F-392E-E48F4F39774F}"/>
                </a:ext>
              </a:extLst>
            </p:cNvPr>
            <p:cNvCxnSpPr>
              <a:cxnSpLocks/>
              <a:stCxn id="25" idx="1"/>
              <a:endCxn id="23" idx="0"/>
            </p:cNvCxnSpPr>
            <p:nvPr/>
          </p:nvCxnSpPr>
          <p:spPr>
            <a:xfrm rot="10800000">
              <a:off x="3673697" y="2792868"/>
              <a:ext cx="3978208" cy="204143"/>
            </a:xfrm>
            <a:prstGeom prst="bentConnector4">
              <a:avLst>
                <a:gd name="adj1" fmla="val 10153"/>
                <a:gd name="adj2" fmla="val 139815"/>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82" name="正方形/長方形 81">
              <a:extLst>
                <a:ext uri="{FF2B5EF4-FFF2-40B4-BE49-F238E27FC236}">
                  <a16:creationId xmlns:a16="http://schemas.microsoft.com/office/drawing/2014/main" id="{0B8A87A6-F30E-FC50-EDF3-FB96D422B282}"/>
                </a:ext>
              </a:extLst>
            </p:cNvPr>
            <p:cNvSpPr/>
            <p:nvPr/>
          </p:nvSpPr>
          <p:spPr bwMode="auto">
            <a:xfrm>
              <a:off x="2302402" y="3071594"/>
              <a:ext cx="341202" cy="112593"/>
            </a:xfrm>
            <a:prstGeom prst="rect">
              <a:avLst/>
            </a:prstGeom>
            <a:solidFill>
              <a:srgbClr val="FFFFFF"/>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r>
                <a:rPr lang="ja-JP" altLang="en-US" sz="9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接続</a:t>
              </a:r>
            </a:p>
          </p:txBody>
        </p:sp>
        <p:sp>
          <p:nvSpPr>
            <p:cNvPr id="83" name="正方形/長方形 82">
              <a:extLst>
                <a:ext uri="{FF2B5EF4-FFF2-40B4-BE49-F238E27FC236}">
                  <a16:creationId xmlns:a16="http://schemas.microsoft.com/office/drawing/2014/main" id="{0AE02418-59CB-C49E-2D3E-1E73C53BD341}"/>
                </a:ext>
              </a:extLst>
            </p:cNvPr>
            <p:cNvSpPr/>
            <p:nvPr/>
          </p:nvSpPr>
          <p:spPr bwMode="auto">
            <a:xfrm>
              <a:off x="4698670" y="2940266"/>
              <a:ext cx="341202" cy="112593"/>
            </a:xfrm>
            <a:prstGeom prst="rect">
              <a:avLst/>
            </a:prstGeom>
            <a:solidFill>
              <a:srgbClr val="FFFFFF"/>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r>
                <a:rPr lang="ja-JP" altLang="en-US" sz="9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呼出</a:t>
              </a:r>
            </a:p>
          </p:txBody>
        </p:sp>
        <p:sp>
          <p:nvSpPr>
            <p:cNvPr id="84" name="正方形/長方形 83">
              <a:extLst>
                <a:ext uri="{FF2B5EF4-FFF2-40B4-BE49-F238E27FC236}">
                  <a16:creationId xmlns:a16="http://schemas.microsoft.com/office/drawing/2014/main" id="{40F0D9DD-A073-CFD2-6BB6-367B91306998}"/>
                </a:ext>
              </a:extLst>
            </p:cNvPr>
            <p:cNvSpPr/>
            <p:nvPr/>
          </p:nvSpPr>
          <p:spPr bwMode="auto">
            <a:xfrm>
              <a:off x="7080996" y="2791730"/>
              <a:ext cx="341202" cy="112593"/>
            </a:xfrm>
            <a:prstGeom prst="rect">
              <a:avLst/>
            </a:prstGeom>
            <a:solidFill>
              <a:srgbClr val="FFFFFF"/>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r>
                <a:rPr lang="ja-JP" altLang="en-US" sz="9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蓄積</a:t>
              </a:r>
            </a:p>
          </p:txBody>
        </p:sp>
        <p:sp>
          <p:nvSpPr>
            <p:cNvPr id="85" name="正方形/長方形 84">
              <a:extLst>
                <a:ext uri="{FF2B5EF4-FFF2-40B4-BE49-F238E27FC236}">
                  <a16:creationId xmlns:a16="http://schemas.microsoft.com/office/drawing/2014/main" id="{E65F8C64-69E8-DD56-2993-D4383437FBBB}"/>
                </a:ext>
              </a:extLst>
            </p:cNvPr>
            <p:cNvSpPr/>
            <p:nvPr/>
          </p:nvSpPr>
          <p:spPr bwMode="auto">
            <a:xfrm>
              <a:off x="9505111" y="2929723"/>
              <a:ext cx="341202" cy="112593"/>
            </a:xfrm>
            <a:prstGeom prst="rect">
              <a:avLst/>
            </a:prstGeom>
            <a:solidFill>
              <a:srgbClr val="FFFFFF"/>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r>
                <a:rPr lang="ja-JP" altLang="en-US" sz="9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解析</a:t>
              </a:r>
            </a:p>
          </p:txBody>
        </p:sp>
        <p:sp>
          <p:nvSpPr>
            <p:cNvPr id="110" name="四角形: 角を丸くする 109">
              <a:extLst>
                <a:ext uri="{FF2B5EF4-FFF2-40B4-BE49-F238E27FC236}">
                  <a16:creationId xmlns:a16="http://schemas.microsoft.com/office/drawing/2014/main" id="{254BAF1A-DADB-08BB-8FE1-9A73A9B5F66F}"/>
                </a:ext>
              </a:extLst>
            </p:cNvPr>
            <p:cNvSpPr/>
            <p:nvPr/>
          </p:nvSpPr>
          <p:spPr>
            <a:xfrm>
              <a:off x="2609449" y="1995055"/>
              <a:ext cx="9287486" cy="2179236"/>
            </a:xfrm>
            <a:prstGeom prst="roundRect">
              <a:avLst>
                <a:gd name="adj" fmla="val 5704"/>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79475">
                <a:spcBef>
                  <a:spcPct val="20000"/>
                </a:spcBef>
                <a:buClr>
                  <a:schemeClr val="accent2"/>
                </a:buClr>
              </a:pPr>
              <a:r>
                <a:rPr lang="en-US" altLang="ja-JP" sz="1600"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600"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エージェント基盤の初期構想</a:t>
              </a:r>
            </a:p>
          </p:txBody>
        </p:sp>
      </p:grpSp>
    </p:spTree>
    <p:extLst>
      <p:ext uri="{BB962C8B-B14F-4D97-AF65-F5344CB8AC3E}">
        <p14:creationId xmlns:p14="http://schemas.microsoft.com/office/powerpoint/2010/main" val="867527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C029-3DF8-A2A6-C853-55814FDA0EA6}"/>
            </a:ext>
          </a:extLst>
        </p:cNvPr>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038C736-82DF-550C-FB49-EEAB7A8AFB4F}"/>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a:extLst>
                          <a:ext uri="{FF2B5EF4-FFF2-40B4-BE49-F238E27FC236}">
                            <a16:creationId xmlns:a16="http://schemas.microsoft.com/office/drawing/2014/main" id="{7038C736-82DF-550C-FB49-EEAB7A8AFB4F}"/>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6418875D-046C-ACB4-D1E1-AF78C0E80651}"/>
              </a:ext>
            </a:extLst>
          </p:cNvPr>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本プロジェクトにおける</a:t>
            </a:r>
            <a:r>
              <a:rPr lang="en-US" altLang="ja-JP" kern="1200" dirty="0" err="1">
                <a:solidFill>
                  <a:schemeClr val="tx1">
                    <a:lumMod val="65000"/>
                    <a:lumOff val="35000"/>
                  </a:schemeClr>
                </a:solidFill>
                <a:cs typeface="Arial" panose="020B0604020202020204" pitchFamily="34" charset="0"/>
              </a:rPr>
              <a:t>LinkX</a:t>
            </a:r>
            <a:r>
              <a:rPr lang="en-US" altLang="ja-JP" kern="1200" dirty="0">
                <a:solidFill>
                  <a:schemeClr val="tx1">
                    <a:lumMod val="65000"/>
                    <a:lumOff val="35000"/>
                  </a:schemeClr>
                </a:solidFill>
                <a:cs typeface="Arial" panose="020B0604020202020204" pitchFamily="34" charset="0"/>
              </a:rPr>
              <a:t> Japan</a:t>
            </a:r>
            <a:r>
              <a:rPr lang="ja-JP" altLang="en-US" kern="1200" dirty="0">
                <a:solidFill>
                  <a:schemeClr val="tx1">
                    <a:lumMod val="65000"/>
                    <a:lumOff val="35000"/>
                  </a:schemeClr>
                </a:solidFill>
                <a:cs typeface="Arial" panose="020B0604020202020204" pitchFamily="34" charset="0"/>
              </a:rPr>
              <a:t>社の役割</a:t>
            </a:r>
          </a:p>
        </p:txBody>
      </p:sp>
      <p:sp>
        <p:nvSpPr>
          <p:cNvPr id="5" name="スライド番号プレースホルダー 3">
            <a:extLst>
              <a:ext uri="{FF2B5EF4-FFF2-40B4-BE49-F238E27FC236}">
                <a16:creationId xmlns:a16="http://schemas.microsoft.com/office/drawing/2014/main" id="{E06CBE95-C5F0-D4C2-DD94-E176FAF2E95D}"/>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4</a:t>
            </a:fld>
            <a:endParaRPr lang="en-US" altLang="ja-JP"/>
          </a:p>
        </p:txBody>
      </p:sp>
      <p:sp>
        <p:nvSpPr>
          <p:cNvPr id="4" name="Google Shape;43;p2">
            <a:extLst>
              <a:ext uri="{FF2B5EF4-FFF2-40B4-BE49-F238E27FC236}">
                <a16:creationId xmlns:a16="http://schemas.microsoft.com/office/drawing/2014/main" id="{4A0DF7A0-C822-E33D-3BFD-F85B5F8D2842}"/>
              </a:ext>
            </a:extLst>
          </p:cNvPr>
          <p:cNvSpPr/>
          <p:nvPr/>
        </p:nvSpPr>
        <p:spPr>
          <a:xfrm>
            <a:off x="332461" y="622785"/>
            <a:ext cx="11815576" cy="1005840"/>
          </a:xfrm>
          <a:prstGeom prst="rect">
            <a:avLst/>
          </a:prstGeom>
          <a:no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indent="-285750" defTabSz="879475" fontAlgn="base">
              <a:lnSpc>
                <a:spcPct val="115000"/>
              </a:lnSpc>
              <a:spcBef>
                <a:spcPct val="20000"/>
              </a:spcBef>
              <a:spcAft>
                <a:spcPct val="0"/>
              </a:spcAft>
              <a:buClr>
                <a:schemeClr val="accent2"/>
              </a:buClr>
              <a:buFont typeface="Arial" panose="020B0604020202020204" pitchFamily="34" charset="0"/>
              <a:buChar char="•"/>
            </a:pPr>
            <a:r>
              <a:rPr lang="en-US" altLang="ja-JP" sz="1600" kern="0" dirty="0" err="1">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LinkX</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社は</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の技術伝承だけでなく、エージェント管理やデータガバナンス含めた基礎技術の要を担う。</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endParaRPr>
          </a:p>
        </p:txBody>
      </p:sp>
      <p:cxnSp>
        <p:nvCxnSpPr>
          <p:cNvPr id="27" name="コネクタ: 曲線 26">
            <a:extLst>
              <a:ext uri="{FF2B5EF4-FFF2-40B4-BE49-F238E27FC236}">
                <a16:creationId xmlns:a16="http://schemas.microsoft.com/office/drawing/2014/main" id="{9036254A-F126-02DE-2338-2065B70C2307}"/>
              </a:ext>
            </a:extLst>
          </p:cNvPr>
          <p:cNvCxnSpPr>
            <a:cxnSpLocks/>
            <a:stCxn id="77" idx="0"/>
            <a:endCxn id="73" idx="2"/>
          </p:cNvCxnSpPr>
          <p:nvPr/>
        </p:nvCxnSpPr>
        <p:spPr>
          <a:xfrm rot="5400000" flipH="1" flipV="1">
            <a:off x="6379173" y="1801634"/>
            <a:ext cx="903512" cy="146985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8" name="コネクタ: 曲線 27">
            <a:extLst>
              <a:ext uri="{FF2B5EF4-FFF2-40B4-BE49-F238E27FC236}">
                <a16:creationId xmlns:a16="http://schemas.microsoft.com/office/drawing/2014/main" id="{CFBC0820-08AF-DAD5-0DD6-173B24C143D2}"/>
              </a:ext>
            </a:extLst>
          </p:cNvPr>
          <p:cNvCxnSpPr>
            <a:cxnSpLocks/>
            <a:stCxn id="75" idx="0"/>
            <a:endCxn id="71" idx="2"/>
          </p:cNvCxnSpPr>
          <p:nvPr/>
        </p:nvCxnSpPr>
        <p:spPr>
          <a:xfrm rot="5400000" flipH="1" flipV="1">
            <a:off x="1145025" y="2446916"/>
            <a:ext cx="903512" cy="17929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1" name="四角形: 角を丸くする 10">
            <a:extLst>
              <a:ext uri="{FF2B5EF4-FFF2-40B4-BE49-F238E27FC236}">
                <a16:creationId xmlns:a16="http://schemas.microsoft.com/office/drawing/2014/main" id="{49252784-EC37-3875-D771-684351E9F688}"/>
              </a:ext>
            </a:extLst>
          </p:cNvPr>
          <p:cNvSpPr/>
          <p:nvPr/>
        </p:nvSpPr>
        <p:spPr>
          <a:xfrm>
            <a:off x="330111" y="1238571"/>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学習と成長の視点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A7907CBB-B4CD-E305-A547-F4EE68213D26}"/>
              </a:ext>
            </a:extLst>
          </p:cNvPr>
          <p:cNvSpPr/>
          <p:nvPr/>
        </p:nvSpPr>
        <p:spPr>
          <a:xfrm>
            <a:off x="330111" y="2589088"/>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内部プロセスの視点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7" name="四角形: 角を丸くする 56">
            <a:extLst>
              <a:ext uri="{FF2B5EF4-FFF2-40B4-BE49-F238E27FC236}">
                <a16:creationId xmlns:a16="http://schemas.microsoft.com/office/drawing/2014/main" id="{1B8E4890-10CC-21CC-CA58-343360E64A29}"/>
              </a:ext>
            </a:extLst>
          </p:cNvPr>
          <p:cNvSpPr/>
          <p:nvPr/>
        </p:nvSpPr>
        <p:spPr>
          <a:xfrm>
            <a:off x="330111" y="3939605"/>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顧客（社内ユーザー）の視点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3" name="四角形: 角を丸くする 62">
            <a:extLst>
              <a:ext uri="{FF2B5EF4-FFF2-40B4-BE49-F238E27FC236}">
                <a16:creationId xmlns:a16="http://schemas.microsoft.com/office/drawing/2014/main" id="{AC00ECA2-6F0E-4624-B5F3-71A1D929E722}"/>
              </a:ext>
            </a:extLst>
          </p:cNvPr>
          <p:cNvSpPr/>
          <p:nvPr/>
        </p:nvSpPr>
        <p:spPr>
          <a:xfrm>
            <a:off x="330111" y="5290122"/>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財務の視点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64" name="コネクタ: 曲線 63">
            <a:extLst>
              <a:ext uri="{FF2B5EF4-FFF2-40B4-BE49-F238E27FC236}">
                <a16:creationId xmlns:a16="http://schemas.microsoft.com/office/drawing/2014/main" id="{FC011A62-84B4-F828-CADD-BE35CCE91E27}"/>
              </a:ext>
            </a:extLst>
          </p:cNvPr>
          <p:cNvCxnSpPr>
            <a:cxnSpLocks/>
            <a:stCxn id="96" idx="0"/>
            <a:endCxn id="79" idx="2"/>
          </p:cNvCxnSpPr>
          <p:nvPr/>
        </p:nvCxnSpPr>
        <p:spPr>
          <a:xfrm rot="5400000" flipH="1" flipV="1">
            <a:off x="7526389" y="3474793"/>
            <a:ext cx="903512" cy="824575"/>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5" name="コネクタ: 曲線 64">
            <a:extLst>
              <a:ext uri="{FF2B5EF4-FFF2-40B4-BE49-F238E27FC236}">
                <a16:creationId xmlns:a16="http://schemas.microsoft.com/office/drawing/2014/main" id="{D0497460-2B52-88D8-7167-C1E606D61F5C}"/>
              </a:ext>
            </a:extLst>
          </p:cNvPr>
          <p:cNvCxnSpPr>
            <a:cxnSpLocks/>
            <a:stCxn id="96" idx="0"/>
            <a:endCxn id="77" idx="2"/>
          </p:cNvCxnSpPr>
          <p:nvPr/>
        </p:nvCxnSpPr>
        <p:spPr>
          <a:xfrm rot="16200000" flipV="1">
            <a:off x="6379173" y="3152151"/>
            <a:ext cx="903512" cy="146985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71" name="正方形/長方形 70">
            <a:extLst>
              <a:ext uri="{FF2B5EF4-FFF2-40B4-BE49-F238E27FC236}">
                <a16:creationId xmlns:a16="http://schemas.microsoft.com/office/drawing/2014/main" id="{CB790C38-0DAA-F0CF-5C0D-4D01C20551DE}"/>
              </a:ext>
            </a:extLst>
          </p:cNvPr>
          <p:cNvSpPr/>
          <p:nvPr/>
        </p:nvSpPr>
        <p:spPr>
          <a:xfrm>
            <a:off x="669386"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内製化部隊の構築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社：技術伝承</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2" name="正方形/長方形 71">
            <a:extLst>
              <a:ext uri="{FF2B5EF4-FFF2-40B4-BE49-F238E27FC236}">
                <a16:creationId xmlns:a16="http://schemas.microsoft.com/office/drawing/2014/main" id="{A668C54E-0980-E987-9A37-3786B32DFB63}"/>
              </a:ext>
            </a:extLst>
          </p:cNvPr>
          <p:cNvSpPr/>
          <p:nvPr/>
        </p:nvSpPr>
        <p:spPr>
          <a:xfrm>
            <a:off x="3609101" y="1637802"/>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活用・推進の文化・マインド醸成</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3" name="正方形/長方形 72">
            <a:extLst>
              <a:ext uri="{FF2B5EF4-FFF2-40B4-BE49-F238E27FC236}">
                <a16:creationId xmlns:a16="http://schemas.microsoft.com/office/drawing/2014/main" id="{413D6AA7-F36B-7771-3DD7-D6880374954A}"/>
              </a:ext>
            </a:extLst>
          </p:cNvPr>
          <p:cNvSpPr/>
          <p:nvPr/>
        </p:nvSpPr>
        <p:spPr>
          <a:xfrm>
            <a:off x="6548816"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技術標準化（</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n8n×AI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基盤）</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社：設計</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4" name="正方形/長方形 73">
            <a:extLst>
              <a:ext uri="{FF2B5EF4-FFF2-40B4-BE49-F238E27FC236}">
                <a16:creationId xmlns:a16="http://schemas.microsoft.com/office/drawing/2014/main" id="{971BED37-109E-BC62-64A8-032C9DC54457}"/>
              </a:ext>
            </a:extLst>
          </p:cNvPr>
          <p:cNvSpPr/>
          <p:nvPr/>
        </p:nvSpPr>
        <p:spPr>
          <a:xfrm>
            <a:off x="9488531"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データガバナンス整備</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社：必須要素の整理</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5" name="正方形/長方形 74">
            <a:extLst>
              <a:ext uri="{FF2B5EF4-FFF2-40B4-BE49-F238E27FC236}">
                <a16:creationId xmlns:a16="http://schemas.microsoft.com/office/drawing/2014/main" id="{9D3E4741-262F-EFAB-5D88-E3EE91B273D8}"/>
              </a:ext>
            </a:extLst>
          </p:cNvPr>
          <p:cNvSpPr/>
          <p:nvPr/>
        </p:nvSpPr>
        <p:spPr>
          <a:xfrm>
            <a:off x="490092"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による業務自動化基盤構築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algn="ctr" defTabSz="584200" latinLnBrk="1" hangingPunct="0"/>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社：構築支援</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6" name="正方形/長方形 75">
            <a:extLst>
              <a:ext uri="{FF2B5EF4-FFF2-40B4-BE49-F238E27FC236}">
                <a16:creationId xmlns:a16="http://schemas.microsoft.com/office/drawing/2014/main" id="{D4DA89E1-9DFF-7027-9749-A60A9F1432EC}"/>
              </a:ext>
            </a:extLst>
          </p:cNvPr>
          <p:cNvSpPr/>
          <p:nvPr/>
        </p:nvSpPr>
        <p:spPr>
          <a:xfrm>
            <a:off x="2784525" y="2988319"/>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継続的業務改善（</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PDCA</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7" name="正方形/長方形 76">
            <a:extLst>
              <a:ext uri="{FF2B5EF4-FFF2-40B4-BE49-F238E27FC236}">
                <a16:creationId xmlns:a16="http://schemas.microsoft.com/office/drawing/2014/main" id="{FDD2ABB8-B939-4F8F-1260-8D0E3A5E8071}"/>
              </a:ext>
            </a:extLst>
          </p:cNvPr>
          <p:cNvSpPr/>
          <p:nvPr/>
        </p:nvSpPr>
        <p:spPr>
          <a:xfrm>
            <a:off x="5078958"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エージェント統合基盤構築</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社：設計・構築支援</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8" name="正方形/長方形 77">
            <a:extLst>
              <a:ext uri="{FF2B5EF4-FFF2-40B4-BE49-F238E27FC236}">
                <a16:creationId xmlns:a16="http://schemas.microsoft.com/office/drawing/2014/main" id="{E456808D-B853-5235-28D3-98EBA9E1E9A3}"/>
              </a:ext>
            </a:extLst>
          </p:cNvPr>
          <p:cNvSpPr/>
          <p:nvPr/>
        </p:nvSpPr>
        <p:spPr>
          <a:xfrm>
            <a:off x="9667825"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エージェント管理・統制基盤構築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社：設計・構築支援</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9" name="正方形/長方形 78">
            <a:extLst>
              <a:ext uri="{FF2B5EF4-FFF2-40B4-BE49-F238E27FC236}">
                <a16:creationId xmlns:a16="http://schemas.microsoft.com/office/drawing/2014/main" id="{4E998620-9B11-6155-810D-5B71461025EC}"/>
              </a:ext>
            </a:extLst>
          </p:cNvPr>
          <p:cNvSpPr/>
          <p:nvPr/>
        </p:nvSpPr>
        <p:spPr>
          <a:xfrm>
            <a:off x="7373391"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フロー可視化</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社：基礎の定義</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83" name="コネクタ: 曲線 82">
            <a:extLst>
              <a:ext uri="{FF2B5EF4-FFF2-40B4-BE49-F238E27FC236}">
                <a16:creationId xmlns:a16="http://schemas.microsoft.com/office/drawing/2014/main" id="{5B16BD1A-1893-4CDB-DE2B-82688BDAD3C2}"/>
              </a:ext>
            </a:extLst>
          </p:cNvPr>
          <p:cNvCxnSpPr>
            <a:cxnSpLocks/>
            <a:stCxn id="76" idx="0"/>
            <a:endCxn id="72" idx="2"/>
          </p:cNvCxnSpPr>
          <p:nvPr/>
        </p:nvCxnSpPr>
        <p:spPr>
          <a:xfrm rot="5400000" flipH="1" flipV="1">
            <a:off x="3762099" y="2124275"/>
            <a:ext cx="903512" cy="82457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88" name="コネクタ: 曲線 87">
            <a:extLst>
              <a:ext uri="{FF2B5EF4-FFF2-40B4-BE49-F238E27FC236}">
                <a16:creationId xmlns:a16="http://schemas.microsoft.com/office/drawing/2014/main" id="{ED1D2C06-77B6-569D-C20E-BD5EA4C16FEF}"/>
              </a:ext>
            </a:extLst>
          </p:cNvPr>
          <p:cNvCxnSpPr>
            <a:cxnSpLocks/>
            <a:stCxn id="78" idx="0"/>
            <a:endCxn id="73" idx="2"/>
          </p:cNvCxnSpPr>
          <p:nvPr/>
        </p:nvCxnSpPr>
        <p:spPr>
          <a:xfrm rot="16200000" flipV="1">
            <a:off x="8673607" y="977058"/>
            <a:ext cx="903512" cy="3119009"/>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1" name="コネクタ: 曲線 90">
            <a:extLst>
              <a:ext uri="{FF2B5EF4-FFF2-40B4-BE49-F238E27FC236}">
                <a16:creationId xmlns:a16="http://schemas.microsoft.com/office/drawing/2014/main" id="{32AB1DFF-CED5-D1BF-7167-2F7912DE0498}"/>
              </a:ext>
            </a:extLst>
          </p:cNvPr>
          <p:cNvCxnSpPr>
            <a:cxnSpLocks/>
            <a:stCxn id="79" idx="0"/>
            <a:endCxn id="74" idx="2"/>
          </p:cNvCxnSpPr>
          <p:nvPr/>
        </p:nvCxnSpPr>
        <p:spPr>
          <a:xfrm rot="5400000" flipH="1" flipV="1">
            <a:off x="8996247" y="1478993"/>
            <a:ext cx="903512"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96" name="正方形/長方形 95">
            <a:extLst>
              <a:ext uri="{FF2B5EF4-FFF2-40B4-BE49-F238E27FC236}">
                <a16:creationId xmlns:a16="http://schemas.microsoft.com/office/drawing/2014/main" id="{CECE59E1-927A-EF54-270A-7F49DABD3A6E}"/>
              </a:ext>
            </a:extLst>
          </p:cNvPr>
          <p:cNvSpPr/>
          <p:nvPr/>
        </p:nvSpPr>
        <p:spPr>
          <a:xfrm>
            <a:off x="6548816" y="4338836"/>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業務の透明性向上</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7" name="正方形/長方形 96">
            <a:extLst>
              <a:ext uri="{FF2B5EF4-FFF2-40B4-BE49-F238E27FC236}">
                <a16:creationId xmlns:a16="http://schemas.microsoft.com/office/drawing/2014/main" id="{EF7FF48F-5FA5-77FD-568E-7B966D5858C0}"/>
              </a:ext>
            </a:extLst>
          </p:cNvPr>
          <p:cNvSpPr/>
          <p:nvPr/>
        </p:nvSpPr>
        <p:spPr>
          <a:xfrm>
            <a:off x="9488531" y="4338836"/>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エージェント改善による</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業務高度化の推進</a:t>
            </a:r>
            <a:endParaRPr kumimoji="0" lang="en-US" altLang="ja-JP"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99" name="コネクタ: 曲線 98">
            <a:extLst>
              <a:ext uri="{FF2B5EF4-FFF2-40B4-BE49-F238E27FC236}">
                <a16:creationId xmlns:a16="http://schemas.microsoft.com/office/drawing/2014/main" id="{2BC1BAC1-2EC7-50DC-845B-FB996A06D444}"/>
              </a:ext>
            </a:extLst>
          </p:cNvPr>
          <p:cNvCxnSpPr>
            <a:cxnSpLocks/>
            <a:stCxn id="94" idx="0"/>
            <a:endCxn id="76" idx="2"/>
          </p:cNvCxnSpPr>
          <p:nvPr/>
        </p:nvCxnSpPr>
        <p:spPr>
          <a:xfrm rot="5400000" flipH="1" flipV="1">
            <a:off x="2345115" y="2776637"/>
            <a:ext cx="797765"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03" name="コネクタ: 曲線 102">
            <a:extLst>
              <a:ext uri="{FF2B5EF4-FFF2-40B4-BE49-F238E27FC236}">
                <a16:creationId xmlns:a16="http://schemas.microsoft.com/office/drawing/2014/main" id="{2AD90A61-C567-4489-D6A6-000478AC3367}"/>
              </a:ext>
            </a:extLst>
          </p:cNvPr>
          <p:cNvCxnSpPr>
            <a:cxnSpLocks/>
            <a:stCxn id="94" idx="0"/>
            <a:endCxn id="75" idx="2"/>
          </p:cNvCxnSpPr>
          <p:nvPr/>
        </p:nvCxnSpPr>
        <p:spPr>
          <a:xfrm rot="16200000" flipV="1">
            <a:off x="1197899" y="3744560"/>
            <a:ext cx="797765"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94" name="正方形/長方形 93">
            <a:extLst>
              <a:ext uri="{FF2B5EF4-FFF2-40B4-BE49-F238E27FC236}">
                <a16:creationId xmlns:a16="http://schemas.microsoft.com/office/drawing/2014/main" id="{2DE4C65D-277D-3CC1-77D1-F646E9892BA5}"/>
              </a:ext>
            </a:extLst>
          </p:cNvPr>
          <p:cNvSpPr/>
          <p:nvPr/>
        </p:nvSpPr>
        <p:spPr>
          <a:xfrm>
            <a:off x="669385" y="4233089"/>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エージェントの業務支援による</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バックオフィス業務負荷軽減</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5" name="正方形/長方形 94">
            <a:extLst>
              <a:ext uri="{FF2B5EF4-FFF2-40B4-BE49-F238E27FC236}">
                <a16:creationId xmlns:a16="http://schemas.microsoft.com/office/drawing/2014/main" id="{A58BC223-712A-8A43-F11C-8FDF06DFAA6E}"/>
              </a:ext>
            </a:extLst>
          </p:cNvPr>
          <p:cNvSpPr/>
          <p:nvPr/>
        </p:nvSpPr>
        <p:spPr>
          <a:xfrm>
            <a:off x="3609101" y="4485087"/>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高付加価値業務へのシフト</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106" name="コネクタ: 曲線 105">
            <a:extLst>
              <a:ext uri="{FF2B5EF4-FFF2-40B4-BE49-F238E27FC236}">
                <a16:creationId xmlns:a16="http://schemas.microsoft.com/office/drawing/2014/main" id="{41C06266-5FAC-0C88-3632-3E8A5430588A}"/>
              </a:ext>
            </a:extLst>
          </p:cNvPr>
          <p:cNvCxnSpPr>
            <a:cxnSpLocks/>
            <a:stCxn id="95" idx="1"/>
            <a:endCxn id="94" idx="3"/>
          </p:cNvCxnSpPr>
          <p:nvPr/>
        </p:nvCxnSpPr>
        <p:spPr>
          <a:xfrm rot="10800000">
            <a:off x="2703469" y="4456592"/>
            <a:ext cx="905633" cy="25199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15" name="コネクタ: 曲線 114">
            <a:extLst>
              <a:ext uri="{FF2B5EF4-FFF2-40B4-BE49-F238E27FC236}">
                <a16:creationId xmlns:a16="http://schemas.microsoft.com/office/drawing/2014/main" id="{D26148B8-B17E-DC63-DE01-44B038B4CF17}"/>
              </a:ext>
            </a:extLst>
          </p:cNvPr>
          <p:cNvCxnSpPr>
            <a:cxnSpLocks/>
            <a:stCxn id="97" idx="0"/>
            <a:endCxn id="78" idx="2"/>
          </p:cNvCxnSpPr>
          <p:nvPr/>
        </p:nvCxnSpPr>
        <p:spPr>
          <a:xfrm rot="5400000" flipH="1" flipV="1">
            <a:off x="10143464" y="3797433"/>
            <a:ext cx="903512" cy="17929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32" name="正方形/長方形 131">
            <a:extLst>
              <a:ext uri="{FF2B5EF4-FFF2-40B4-BE49-F238E27FC236}">
                <a16:creationId xmlns:a16="http://schemas.microsoft.com/office/drawing/2014/main" id="{966860DE-98EC-3EDC-47EC-77A7E63F85BF}"/>
              </a:ext>
            </a:extLst>
          </p:cNvPr>
          <p:cNvSpPr/>
          <p:nvPr/>
        </p:nvSpPr>
        <p:spPr>
          <a:xfrm>
            <a:off x="490092" y="56893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業務コストの削減</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3" name="正方形/長方形 132">
            <a:extLst>
              <a:ext uri="{FF2B5EF4-FFF2-40B4-BE49-F238E27FC236}">
                <a16:creationId xmlns:a16="http://schemas.microsoft.com/office/drawing/2014/main" id="{9387A9CE-2524-5033-330E-28D431C0EEAA}"/>
              </a:ext>
            </a:extLst>
          </p:cNvPr>
          <p:cNvSpPr/>
          <p:nvPr/>
        </p:nvSpPr>
        <p:spPr>
          <a:xfrm>
            <a:off x="2784525" y="56893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外注費削減（内製化効果）</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4" name="正方形/長方形 133">
            <a:extLst>
              <a:ext uri="{FF2B5EF4-FFF2-40B4-BE49-F238E27FC236}">
                <a16:creationId xmlns:a16="http://schemas.microsoft.com/office/drawing/2014/main" id="{ECA7A23E-0D54-61AA-A8C2-EFB96A8E9884}"/>
              </a:ext>
            </a:extLst>
          </p:cNvPr>
          <p:cNvSpPr/>
          <p:nvPr/>
        </p:nvSpPr>
        <p:spPr>
          <a:xfrm>
            <a:off x="5078957" y="56359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間接業務生産性向上</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135" name="正方形/長方形 134">
            <a:extLst>
              <a:ext uri="{FF2B5EF4-FFF2-40B4-BE49-F238E27FC236}">
                <a16:creationId xmlns:a16="http://schemas.microsoft.com/office/drawing/2014/main" id="{94034574-4E46-4983-7B91-81B527731CC4}"/>
              </a:ext>
            </a:extLst>
          </p:cNvPr>
          <p:cNvSpPr/>
          <p:nvPr/>
        </p:nvSpPr>
        <p:spPr>
          <a:xfrm>
            <a:off x="9667824" y="56359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エージェント・データ活用による</a:t>
            </a:r>
            <a:b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b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意思決定高度化</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6" name="正方形/長方形 135">
            <a:extLst>
              <a:ext uri="{FF2B5EF4-FFF2-40B4-BE49-F238E27FC236}">
                <a16:creationId xmlns:a16="http://schemas.microsoft.com/office/drawing/2014/main" id="{DE982632-B840-DBD8-0BFF-FB50BBCC6B7D}"/>
              </a:ext>
            </a:extLst>
          </p:cNvPr>
          <p:cNvSpPr/>
          <p:nvPr/>
        </p:nvSpPr>
        <p:spPr>
          <a:xfrm>
            <a:off x="7373391" y="5859455"/>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投資の資産化（</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ROI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最大化）</a:t>
            </a:r>
            <a:endParaRPr kumimoji="0" lang="ja-JP" altLang="en-US"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138" name="コネクタ: 曲線 137">
            <a:extLst>
              <a:ext uri="{FF2B5EF4-FFF2-40B4-BE49-F238E27FC236}">
                <a16:creationId xmlns:a16="http://schemas.microsoft.com/office/drawing/2014/main" id="{CF1B04E7-03D9-FC40-790F-20A8408C1433}"/>
              </a:ext>
            </a:extLst>
          </p:cNvPr>
          <p:cNvCxnSpPr>
            <a:cxnSpLocks/>
            <a:stCxn id="132" idx="0"/>
            <a:endCxn id="94" idx="2"/>
          </p:cNvCxnSpPr>
          <p:nvPr/>
        </p:nvCxnSpPr>
        <p:spPr>
          <a:xfrm rot="5400000" flipH="1" flipV="1">
            <a:off x="1092151" y="5095078"/>
            <a:ext cx="1009259"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1" name="コネクタ: 曲線 140">
            <a:extLst>
              <a:ext uri="{FF2B5EF4-FFF2-40B4-BE49-F238E27FC236}">
                <a16:creationId xmlns:a16="http://schemas.microsoft.com/office/drawing/2014/main" id="{AC6D5406-17CA-0EB6-74C8-01E99A863820}"/>
              </a:ext>
            </a:extLst>
          </p:cNvPr>
          <p:cNvCxnSpPr>
            <a:cxnSpLocks/>
            <a:stCxn id="133" idx="0"/>
            <a:endCxn id="94" idx="2"/>
          </p:cNvCxnSpPr>
          <p:nvPr/>
        </p:nvCxnSpPr>
        <p:spPr>
          <a:xfrm rot="16200000" flipV="1">
            <a:off x="2239368" y="4127154"/>
            <a:ext cx="1009259"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5" name="コネクタ: 曲線 144">
            <a:extLst>
              <a:ext uri="{FF2B5EF4-FFF2-40B4-BE49-F238E27FC236}">
                <a16:creationId xmlns:a16="http://schemas.microsoft.com/office/drawing/2014/main" id="{929A3A9C-2492-1F01-DF63-9F9A4BBFDF11}"/>
              </a:ext>
            </a:extLst>
          </p:cNvPr>
          <p:cNvCxnSpPr>
            <a:cxnSpLocks/>
            <a:stCxn id="135" idx="0"/>
            <a:endCxn id="96" idx="2"/>
          </p:cNvCxnSpPr>
          <p:nvPr/>
        </p:nvCxnSpPr>
        <p:spPr>
          <a:xfrm rot="16200000" flipV="1">
            <a:off x="8700306" y="3651393"/>
            <a:ext cx="850112" cy="311900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8" name="コネクタ: 曲線 147">
            <a:extLst>
              <a:ext uri="{FF2B5EF4-FFF2-40B4-BE49-F238E27FC236}">
                <a16:creationId xmlns:a16="http://schemas.microsoft.com/office/drawing/2014/main" id="{10600789-3A5B-C69F-C5D8-C46656C67298}"/>
              </a:ext>
            </a:extLst>
          </p:cNvPr>
          <p:cNvCxnSpPr>
            <a:cxnSpLocks/>
            <a:stCxn id="134" idx="0"/>
            <a:endCxn id="95" idx="2"/>
          </p:cNvCxnSpPr>
          <p:nvPr/>
        </p:nvCxnSpPr>
        <p:spPr>
          <a:xfrm rot="16200000" flipV="1">
            <a:off x="5009141" y="4549095"/>
            <a:ext cx="703861" cy="146985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53" name="コネクタ: 曲線 152">
            <a:extLst>
              <a:ext uri="{FF2B5EF4-FFF2-40B4-BE49-F238E27FC236}">
                <a16:creationId xmlns:a16="http://schemas.microsoft.com/office/drawing/2014/main" id="{661F1204-1119-1262-F483-4F61EE1AA9A9}"/>
              </a:ext>
            </a:extLst>
          </p:cNvPr>
          <p:cNvCxnSpPr>
            <a:cxnSpLocks/>
            <a:stCxn id="134" idx="0"/>
            <a:endCxn id="94" idx="2"/>
          </p:cNvCxnSpPr>
          <p:nvPr/>
        </p:nvCxnSpPr>
        <p:spPr>
          <a:xfrm rot="16200000" flipV="1">
            <a:off x="3413284" y="2953238"/>
            <a:ext cx="955859" cy="440957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57" name="コネクタ: 曲線 156">
            <a:extLst>
              <a:ext uri="{FF2B5EF4-FFF2-40B4-BE49-F238E27FC236}">
                <a16:creationId xmlns:a16="http://schemas.microsoft.com/office/drawing/2014/main" id="{7AF1ACB5-056E-1E8B-002C-73E1FC078006}"/>
              </a:ext>
            </a:extLst>
          </p:cNvPr>
          <p:cNvCxnSpPr>
            <a:cxnSpLocks/>
            <a:stCxn id="135" idx="0"/>
            <a:endCxn id="97" idx="2"/>
          </p:cNvCxnSpPr>
          <p:nvPr/>
        </p:nvCxnSpPr>
        <p:spPr>
          <a:xfrm rot="16200000" flipV="1">
            <a:off x="10170164" y="5121250"/>
            <a:ext cx="850112"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64" name="コネクタ: 曲線 163">
            <a:extLst>
              <a:ext uri="{FF2B5EF4-FFF2-40B4-BE49-F238E27FC236}">
                <a16:creationId xmlns:a16="http://schemas.microsoft.com/office/drawing/2014/main" id="{4AAECF5B-52C0-A463-08FF-2DDE61C3DFA4}"/>
              </a:ext>
            </a:extLst>
          </p:cNvPr>
          <p:cNvCxnSpPr>
            <a:cxnSpLocks/>
            <a:stCxn id="136" idx="3"/>
            <a:endCxn id="135" idx="1"/>
          </p:cNvCxnSpPr>
          <p:nvPr/>
        </p:nvCxnSpPr>
        <p:spPr>
          <a:xfrm flipV="1">
            <a:off x="9407474" y="5859456"/>
            <a:ext cx="260350" cy="22350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67" name="コネクタ: 曲線 166">
            <a:extLst>
              <a:ext uri="{FF2B5EF4-FFF2-40B4-BE49-F238E27FC236}">
                <a16:creationId xmlns:a16="http://schemas.microsoft.com/office/drawing/2014/main" id="{D3B0E3D9-93EC-4B92-7313-FD76FE5AEB51}"/>
              </a:ext>
            </a:extLst>
          </p:cNvPr>
          <p:cNvCxnSpPr>
            <a:cxnSpLocks/>
            <a:stCxn id="136" idx="1"/>
            <a:endCxn id="134" idx="3"/>
          </p:cNvCxnSpPr>
          <p:nvPr/>
        </p:nvCxnSpPr>
        <p:spPr>
          <a:xfrm rot="10800000">
            <a:off x="7113041" y="5859456"/>
            <a:ext cx="260351" cy="22350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70" name="正方形/長方形 169">
            <a:extLst>
              <a:ext uri="{FF2B5EF4-FFF2-40B4-BE49-F238E27FC236}">
                <a16:creationId xmlns:a16="http://schemas.microsoft.com/office/drawing/2014/main" id="{AD0C9814-DF16-F3FC-4E98-8674710B7313}"/>
              </a:ext>
            </a:extLst>
          </p:cNvPr>
          <p:cNvSpPr/>
          <p:nvPr/>
        </p:nvSpPr>
        <p:spPr>
          <a:xfrm>
            <a:off x="11013682" y="1014413"/>
            <a:ext cx="847985" cy="206977"/>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社範囲</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Tree>
    <p:extLst>
      <p:ext uri="{BB962C8B-B14F-4D97-AF65-F5344CB8AC3E}">
        <p14:creationId xmlns:p14="http://schemas.microsoft.com/office/powerpoint/2010/main" val="1175651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74858-C9E5-DE15-C501-226E5A389D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0A3CE4-5A5C-62C2-745B-38B94AC6199A}"/>
              </a:ext>
            </a:extLst>
          </p:cNvPr>
          <p:cNvSpPr>
            <a:spLocks noGrp="1"/>
          </p:cNvSpPr>
          <p:nvPr>
            <p:ph type="title"/>
          </p:nvPr>
        </p:nvSpPr>
        <p:spPr>
          <a:xfrm>
            <a:off x="203200" y="152403"/>
            <a:ext cx="9204569" cy="379413"/>
          </a:xfrm>
        </p:spPr>
        <p:txBody>
          <a:bodyPr anchor="ctr"/>
          <a:lstStyle/>
          <a:p>
            <a:r>
              <a:rPr kumimoji="1" lang="en-US" altLang="ja-JP" dirty="0"/>
              <a:t>AI</a:t>
            </a:r>
            <a:r>
              <a:rPr kumimoji="1" lang="ja-JP" altLang="en-US" dirty="0"/>
              <a:t>エージェント（</a:t>
            </a:r>
            <a:r>
              <a:rPr kumimoji="1" lang="en-US" altLang="ja-JP" dirty="0"/>
              <a:t>n8n</a:t>
            </a:r>
            <a:r>
              <a:rPr kumimoji="1" lang="ja-JP" altLang="en-US" dirty="0"/>
              <a:t>開発</a:t>
            </a:r>
            <a:r>
              <a:rPr lang="ja-JP" altLang="en-US" dirty="0"/>
              <a:t>）活動スケジュール</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C3780F89-8558-2FEE-B048-D72E4C4021D2}"/>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grpSp>
        <p:nvGrpSpPr>
          <p:cNvPr id="40" name="グループ化 39">
            <a:extLst>
              <a:ext uri="{FF2B5EF4-FFF2-40B4-BE49-F238E27FC236}">
                <a16:creationId xmlns:a16="http://schemas.microsoft.com/office/drawing/2014/main" id="{2DF05253-8428-BDD5-94D3-7702D52880D3}"/>
              </a:ext>
            </a:extLst>
          </p:cNvPr>
          <p:cNvGrpSpPr/>
          <p:nvPr/>
        </p:nvGrpSpPr>
        <p:grpSpPr>
          <a:xfrm>
            <a:off x="196249" y="1503952"/>
            <a:ext cx="11799502" cy="4820716"/>
            <a:chOff x="196249" y="1051373"/>
            <a:chExt cx="11799502" cy="4820716"/>
          </a:xfrm>
        </p:grpSpPr>
        <p:grpSp>
          <p:nvGrpSpPr>
            <p:cNvPr id="36" name="グループ化 35">
              <a:extLst>
                <a:ext uri="{FF2B5EF4-FFF2-40B4-BE49-F238E27FC236}">
                  <a16:creationId xmlns:a16="http://schemas.microsoft.com/office/drawing/2014/main" id="{C77028B2-3536-D9B9-4518-3F2BE7990456}"/>
                </a:ext>
              </a:extLst>
            </p:cNvPr>
            <p:cNvGrpSpPr/>
            <p:nvPr/>
          </p:nvGrpSpPr>
          <p:grpSpPr>
            <a:xfrm>
              <a:off x="8860759" y="1051373"/>
              <a:ext cx="3069338" cy="263538"/>
              <a:chOff x="8860759" y="257050"/>
              <a:chExt cx="3069338" cy="263538"/>
            </a:xfrm>
          </p:grpSpPr>
          <p:sp>
            <p:nvSpPr>
              <p:cNvPr id="41" name="正方形/長方形 40">
                <a:extLst>
                  <a:ext uri="{FF2B5EF4-FFF2-40B4-BE49-F238E27FC236}">
                    <a16:creationId xmlns:a16="http://schemas.microsoft.com/office/drawing/2014/main" id="{0B016C31-4DA6-9FD7-3D47-8A444F174BE3}"/>
                  </a:ext>
                </a:extLst>
              </p:cNvPr>
              <p:cNvSpPr/>
              <p:nvPr/>
            </p:nvSpPr>
            <p:spPr bwMode="auto">
              <a:xfrm>
                <a:off x="8860759" y="260045"/>
                <a:ext cx="560816" cy="257549"/>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10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凡例：</a:t>
                </a:r>
                <a:endParaRPr kumimoji="1" lang="en-US" altLang="ja-JP" sz="1100" b="0"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50" name="矢印: 五方向 49">
                <a:extLst>
                  <a:ext uri="{FF2B5EF4-FFF2-40B4-BE49-F238E27FC236}">
                    <a16:creationId xmlns:a16="http://schemas.microsoft.com/office/drawing/2014/main" id="{D8E60B5B-A5F5-3DF7-08A0-68F56AAC6DC9}"/>
                  </a:ext>
                </a:extLst>
              </p:cNvPr>
              <p:cNvSpPr/>
              <p:nvPr/>
            </p:nvSpPr>
            <p:spPr>
              <a:xfrm>
                <a:off x="9357963" y="257050"/>
                <a:ext cx="828000" cy="263538"/>
              </a:xfrm>
              <a:prstGeom prst="homePlate">
                <a:avLst>
                  <a:gd name="adj" fmla="val 22692"/>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稼働中 </a:t>
                </a: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or </a:t>
                </a: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予定</a:t>
                </a:r>
              </a:p>
            </p:txBody>
          </p:sp>
          <p:sp>
            <p:nvSpPr>
              <p:cNvPr id="176" name="矢印: 五方向 175">
                <a:extLst>
                  <a:ext uri="{FF2B5EF4-FFF2-40B4-BE49-F238E27FC236}">
                    <a16:creationId xmlns:a16="http://schemas.microsoft.com/office/drawing/2014/main" id="{A09BD99A-4049-5CC2-2887-82A02BCD58F2}"/>
                  </a:ext>
                </a:extLst>
              </p:cNvPr>
              <p:cNvSpPr/>
              <p:nvPr/>
            </p:nvSpPr>
            <p:spPr>
              <a:xfrm>
                <a:off x="10230030" y="257050"/>
                <a:ext cx="828000" cy="263538"/>
              </a:xfrm>
              <a:prstGeom prst="homePlate">
                <a:avLst>
                  <a:gd name="adj" fmla="val 22692"/>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稼働済み</a:t>
                </a:r>
              </a:p>
            </p:txBody>
          </p:sp>
          <p:sp>
            <p:nvSpPr>
              <p:cNvPr id="177" name="矢印: 五方向 176">
                <a:extLst>
                  <a:ext uri="{FF2B5EF4-FFF2-40B4-BE49-F238E27FC236}">
                    <a16:creationId xmlns:a16="http://schemas.microsoft.com/office/drawing/2014/main" id="{2A23AE13-DF31-D32A-BA5C-0A0F4C858E82}"/>
                  </a:ext>
                </a:extLst>
              </p:cNvPr>
              <p:cNvSpPr/>
              <p:nvPr/>
            </p:nvSpPr>
            <p:spPr>
              <a:xfrm>
                <a:off x="11102097" y="257050"/>
                <a:ext cx="828000" cy="263538"/>
              </a:xfrm>
              <a:prstGeom prst="homePlate">
                <a:avLst>
                  <a:gd name="adj" fmla="val 22692"/>
                </a:avLst>
              </a:prstGeom>
              <a:solidFill>
                <a:schemeClr val="bg1"/>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rPr>
                  <a:t>未定</a:t>
                </a:r>
              </a:p>
            </p:txBody>
          </p:sp>
        </p:grpSp>
        <p:sp>
          <p:nvSpPr>
            <p:cNvPr id="26" name="正方形/長方形 25">
              <a:extLst>
                <a:ext uri="{FF2B5EF4-FFF2-40B4-BE49-F238E27FC236}">
                  <a16:creationId xmlns:a16="http://schemas.microsoft.com/office/drawing/2014/main" id="{0A3F7EB5-E19E-CC37-AF6F-660A4AF2827C}"/>
                </a:ext>
              </a:extLst>
            </p:cNvPr>
            <p:cNvSpPr/>
            <p:nvPr/>
          </p:nvSpPr>
          <p:spPr>
            <a:xfrm>
              <a:off x="388474" y="1433778"/>
              <a:ext cx="11528354" cy="103203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800" b="0" i="0" u="none" strike="noStrike" kern="1200" cap="none" spc="0" normalizeH="0" baseline="0" noProof="0">
                <a:ln>
                  <a:noFill/>
                </a:ln>
                <a:solidFill>
                  <a:srgbClr val="808080">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15" name="カギ線コネクタ 64">
              <a:extLst>
                <a:ext uri="{FF2B5EF4-FFF2-40B4-BE49-F238E27FC236}">
                  <a16:creationId xmlns:a16="http://schemas.microsoft.com/office/drawing/2014/main" id="{3E74A394-C4D0-1D07-86F4-1A89A6B8F1B0}"/>
                </a:ext>
              </a:extLst>
            </p:cNvPr>
            <p:cNvCxnSpPr>
              <a:cxnSpLocks/>
            </p:cNvCxnSpPr>
            <p:nvPr/>
          </p:nvCxnSpPr>
          <p:spPr bwMode="auto">
            <a:xfrm flipH="1">
              <a:off x="267614" y="2052020"/>
              <a:ext cx="11721600" cy="0"/>
            </a:xfrm>
            <a:prstGeom prst="straightConnector1">
              <a:avLst/>
            </a:prstGeom>
            <a:noFill/>
            <a:ln w="19050" cap="flat" cmpd="sng" algn="ctr">
              <a:solidFill>
                <a:schemeClr val="bg1">
                  <a:lumMod val="50000"/>
                </a:schemeClr>
              </a:solidFill>
              <a:prstDash val="solid"/>
              <a:round/>
              <a:headEnd type="none" w="med" len="med"/>
              <a:tailEnd type="none" w="med" len="med"/>
            </a:ln>
            <a:effectLst/>
          </p:spPr>
        </p:cxnSp>
        <p:sp>
          <p:nvSpPr>
            <p:cNvPr id="23" name="楕円 22">
              <a:extLst>
                <a:ext uri="{FF2B5EF4-FFF2-40B4-BE49-F238E27FC236}">
                  <a16:creationId xmlns:a16="http://schemas.microsoft.com/office/drawing/2014/main" id="{FA07DC2D-3FF2-C430-F104-A6E5B78B2DB0}"/>
                </a:ext>
              </a:extLst>
            </p:cNvPr>
            <p:cNvSpPr/>
            <p:nvPr/>
          </p:nvSpPr>
          <p:spPr>
            <a:xfrm>
              <a:off x="259852" y="1753311"/>
              <a:ext cx="1734536" cy="264944"/>
            </a:xfrm>
            <a:prstGeom prst="ellipse">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n-cs"/>
                </a:rPr>
                <a:t>マイルストン</a:t>
              </a:r>
              <a:endParaRPr kumimoji="1" lang="en-US" altLang="ja-JP" sz="12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62" name="正方形/長方形 61">
              <a:extLst>
                <a:ext uri="{FF2B5EF4-FFF2-40B4-BE49-F238E27FC236}">
                  <a16:creationId xmlns:a16="http://schemas.microsoft.com/office/drawing/2014/main" id="{33BED1C7-CFFB-91CD-70C8-05944A03A5BD}"/>
                </a:ext>
              </a:extLst>
            </p:cNvPr>
            <p:cNvSpPr/>
            <p:nvPr/>
          </p:nvSpPr>
          <p:spPr>
            <a:xfrm>
              <a:off x="2062730" y="1402503"/>
              <a:ext cx="4231327" cy="124581"/>
            </a:xfrm>
            <a:prstGeom prst="rect">
              <a:avLst/>
            </a:prstGeom>
            <a:solidFill>
              <a:schemeClr val="bg2">
                <a:lumMod val="7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FY2025</a:t>
              </a:r>
              <a:endParaRPr kumimoji="1" lang="ja-JP" altLang="en-US" sz="10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63" name="正方形/長方形 62">
              <a:extLst>
                <a:ext uri="{FF2B5EF4-FFF2-40B4-BE49-F238E27FC236}">
                  <a16:creationId xmlns:a16="http://schemas.microsoft.com/office/drawing/2014/main" id="{AE0F4866-804B-C394-26E4-BBCA5FC2496D}"/>
                </a:ext>
              </a:extLst>
            </p:cNvPr>
            <p:cNvSpPr/>
            <p:nvPr/>
          </p:nvSpPr>
          <p:spPr>
            <a:xfrm>
              <a:off x="2062730"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1</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p>
          </p:txBody>
        </p:sp>
        <p:sp>
          <p:nvSpPr>
            <p:cNvPr id="65" name="正方形/長方形 64">
              <a:extLst>
                <a:ext uri="{FF2B5EF4-FFF2-40B4-BE49-F238E27FC236}">
                  <a16:creationId xmlns:a16="http://schemas.microsoft.com/office/drawing/2014/main" id="{3A52C78D-3C71-A062-2AA9-53F8FC3AB757}"/>
                </a:ext>
              </a:extLst>
            </p:cNvPr>
            <p:cNvSpPr/>
            <p:nvPr/>
          </p:nvSpPr>
          <p:spPr>
            <a:xfrm>
              <a:off x="4912791"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3</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p>
          </p:txBody>
        </p:sp>
        <p:sp>
          <p:nvSpPr>
            <p:cNvPr id="66" name="正方形/長方形 65">
              <a:extLst>
                <a:ext uri="{FF2B5EF4-FFF2-40B4-BE49-F238E27FC236}">
                  <a16:creationId xmlns:a16="http://schemas.microsoft.com/office/drawing/2014/main" id="{CF330BCC-BF5E-0E1C-839C-28EE5E3A7823}"/>
                </a:ext>
              </a:extLst>
            </p:cNvPr>
            <p:cNvSpPr/>
            <p:nvPr/>
          </p:nvSpPr>
          <p:spPr>
            <a:xfrm>
              <a:off x="3487957"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2</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p>
          </p:txBody>
        </p:sp>
        <p:sp>
          <p:nvSpPr>
            <p:cNvPr id="68" name="正方形/長方形 67">
              <a:extLst>
                <a:ext uri="{FF2B5EF4-FFF2-40B4-BE49-F238E27FC236}">
                  <a16:creationId xmlns:a16="http://schemas.microsoft.com/office/drawing/2014/main" id="{902429DF-62BB-C9BF-E396-63BFFDC05E83}"/>
                </a:ext>
              </a:extLst>
            </p:cNvPr>
            <p:cNvSpPr/>
            <p:nvPr/>
          </p:nvSpPr>
          <p:spPr>
            <a:xfrm>
              <a:off x="6338411" y="1402503"/>
              <a:ext cx="5654435" cy="124581"/>
            </a:xfrm>
            <a:prstGeom prst="rect">
              <a:avLst/>
            </a:prstGeom>
            <a:solidFill>
              <a:schemeClr val="bg2">
                <a:lumMod val="7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FY2026</a:t>
              </a:r>
              <a:endPar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69" name="正方形/長方形 68">
              <a:extLst>
                <a:ext uri="{FF2B5EF4-FFF2-40B4-BE49-F238E27FC236}">
                  <a16:creationId xmlns:a16="http://schemas.microsoft.com/office/drawing/2014/main" id="{7DBFC801-1F23-3CA3-28A5-500926F41B29}"/>
                </a:ext>
              </a:extLst>
            </p:cNvPr>
            <p:cNvSpPr/>
            <p:nvPr/>
          </p:nvSpPr>
          <p:spPr>
            <a:xfrm>
              <a:off x="6338411"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4</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endPar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70" name="正方形/長方形 69">
              <a:extLst>
                <a:ext uri="{FF2B5EF4-FFF2-40B4-BE49-F238E27FC236}">
                  <a16:creationId xmlns:a16="http://schemas.microsoft.com/office/drawing/2014/main" id="{35379A65-ABA8-94FA-D771-06386A6A434C}"/>
                </a:ext>
              </a:extLst>
            </p:cNvPr>
            <p:cNvSpPr/>
            <p:nvPr/>
          </p:nvSpPr>
          <p:spPr>
            <a:xfrm>
              <a:off x="7763638"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5</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endPar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73" name="正方形/長方形 72">
              <a:extLst>
                <a:ext uri="{FF2B5EF4-FFF2-40B4-BE49-F238E27FC236}">
                  <a16:creationId xmlns:a16="http://schemas.microsoft.com/office/drawing/2014/main" id="{6E2B1AEC-BC32-E1B2-10EC-F045B1425FD5}"/>
                </a:ext>
              </a:extLst>
            </p:cNvPr>
            <p:cNvSpPr/>
            <p:nvPr/>
          </p:nvSpPr>
          <p:spPr>
            <a:xfrm>
              <a:off x="9189451"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6</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endPar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74" name="正方形/長方形 73">
              <a:extLst>
                <a:ext uri="{FF2B5EF4-FFF2-40B4-BE49-F238E27FC236}">
                  <a16:creationId xmlns:a16="http://schemas.microsoft.com/office/drawing/2014/main" id="{01DE2FD1-A5AA-BF9E-8174-B6C62875C4E7}"/>
                </a:ext>
              </a:extLst>
            </p:cNvPr>
            <p:cNvSpPr/>
            <p:nvPr/>
          </p:nvSpPr>
          <p:spPr>
            <a:xfrm>
              <a:off x="10614093"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7</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endPar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76" name="正方形/長方形 75">
              <a:extLst>
                <a:ext uri="{FF2B5EF4-FFF2-40B4-BE49-F238E27FC236}">
                  <a16:creationId xmlns:a16="http://schemas.microsoft.com/office/drawing/2014/main" id="{0AB478CC-1373-3664-DC70-377E8594B781}"/>
                </a:ext>
              </a:extLst>
            </p:cNvPr>
            <p:cNvSpPr/>
            <p:nvPr/>
          </p:nvSpPr>
          <p:spPr bwMode="auto">
            <a:xfrm>
              <a:off x="6075433" y="1728240"/>
              <a:ext cx="408821"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役員</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▼デモ</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18" name="正方形/長方形 117">
              <a:extLst>
                <a:ext uri="{FF2B5EF4-FFF2-40B4-BE49-F238E27FC236}">
                  <a16:creationId xmlns:a16="http://schemas.microsoft.com/office/drawing/2014/main" id="{D827EA45-2767-F8F9-F348-6F5DBD7C8D4A}"/>
                </a:ext>
              </a:extLst>
            </p:cNvPr>
            <p:cNvSpPr/>
            <p:nvPr/>
          </p:nvSpPr>
          <p:spPr bwMode="auto">
            <a:xfrm>
              <a:off x="5520029" y="1728240"/>
              <a:ext cx="544140"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銀行検証</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▼開始</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30" name="正方形/長方形 129">
              <a:extLst>
                <a:ext uri="{FF2B5EF4-FFF2-40B4-BE49-F238E27FC236}">
                  <a16:creationId xmlns:a16="http://schemas.microsoft.com/office/drawing/2014/main" id="{8008A052-7859-2900-85FF-DB3720CBB5BC}"/>
                </a:ext>
              </a:extLst>
            </p:cNvPr>
            <p:cNvSpPr/>
            <p:nvPr/>
          </p:nvSpPr>
          <p:spPr bwMode="auto">
            <a:xfrm>
              <a:off x="6950629" y="1728240"/>
              <a:ext cx="544140"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000" dirty="0">
                  <a:solidFill>
                    <a:schemeClr val="accent6">
                      <a:lumMod val="75000"/>
                    </a:schemeClr>
                  </a:solidFill>
                  <a:effectLst>
                    <a:glow>
                      <a:srgbClr val="00CC99">
                        <a:alpha val="40000"/>
                      </a:srgbClr>
                    </a:glow>
                  </a:effectLst>
                  <a:latin typeface="Meiryo UI" panose="020B0604030504040204" pitchFamily="50" charset="-128"/>
                  <a:ea typeface="Meiryo UI" panose="020B0604030504040204" pitchFamily="50" charset="-128"/>
                </a:rPr>
                <a:t>実務適用</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▼開始</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36" name="正方形/長方形 135">
              <a:extLst>
                <a:ext uri="{FF2B5EF4-FFF2-40B4-BE49-F238E27FC236}">
                  <a16:creationId xmlns:a16="http://schemas.microsoft.com/office/drawing/2014/main" id="{AAA5C85F-1205-33F3-8275-B57B924ED613}"/>
                </a:ext>
              </a:extLst>
            </p:cNvPr>
            <p:cNvSpPr/>
            <p:nvPr/>
          </p:nvSpPr>
          <p:spPr bwMode="auto">
            <a:xfrm>
              <a:off x="8675098" y="1733571"/>
              <a:ext cx="544140"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000" dirty="0">
                  <a:solidFill>
                    <a:schemeClr val="accent6">
                      <a:lumMod val="75000"/>
                    </a:schemeClr>
                  </a:solidFill>
                  <a:effectLst>
                    <a:glow>
                      <a:srgbClr val="00CC99">
                        <a:alpha val="40000"/>
                      </a:srgbClr>
                    </a:glow>
                  </a:effectLst>
                  <a:latin typeface="Meiryo UI" panose="020B0604030504040204" pitchFamily="50" charset="-128"/>
                  <a:ea typeface="Meiryo UI" panose="020B0604030504040204" pitchFamily="50" charset="-128"/>
                </a:rPr>
                <a:t>実務適用</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▼開始</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48" name="正方形/長方形 147">
              <a:extLst>
                <a:ext uri="{FF2B5EF4-FFF2-40B4-BE49-F238E27FC236}">
                  <a16:creationId xmlns:a16="http://schemas.microsoft.com/office/drawing/2014/main" id="{163B9D6A-CD52-5AC6-1411-BE370FA8016A}"/>
                </a:ext>
              </a:extLst>
            </p:cNvPr>
            <p:cNvSpPr/>
            <p:nvPr/>
          </p:nvSpPr>
          <p:spPr bwMode="auto">
            <a:xfrm>
              <a:off x="10054327" y="1746003"/>
              <a:ext cx="544140"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000" dirty="0">
                  <a:solidFill>
                    <a:schemeClr val="accent6">
                      <a:lumMod val="75000"/>
                    </a:schemeClr>
                  </a:solidFill>
                  <a:effectLst>
                    <a:glow>
                      <a:srgbClr val="00CC99">
                        <a:alpha val="40000"/>
                      </a:srgbClr>
                    </a:glow>
                  </a:effectLst>
                  <a:latin typeface="Meiryo UI" panose="020B0604030504040204" pitchFamily="50" charset="-128"/>
                  <a:ea typeface="Meiryo UI" panose="020B0604030504040204" pitchFamily="50" charset="-128"/>
                </a:rPr>
                <a:t>実務適用</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▼開始</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cxnSp>
          <p:nvCxnSpPr>
            <p:cNvPr id="13" name="カギ線コネクタ 64">
              <a:extLst>
                <a:ext uri="{FF2B5EF4-FFF2-40B4-BE49-F238E27FC236}">
                  <a16:creationId xmlns:a16="http://schemas.microsoft.com/office/drawing/2014/main" id="{9B7EC443-CFD4-F2CE-40B2-F8B2C278B267}"/>
                </a:ext>
              </a:extLst>
            </p:cNvPr>
            <p:cNvCxnSpPr>
              <a:cxnSpLocks/>
            </p:cNvCxnSpPr>
            <p:nvPr/>
          </p:nvCxnSpPr>
          <p:spPr bwMode="auto">
            <a:xfrm flipH="1">
              <a:off x="210149" y="3179917"/>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cxnSp>
          <p:nvCxnSpPr>
            <p:cNvPr id="16" name="カギ線コネクタ 64">
              <a:extLst>
                <a:ext uri="{FF2B5EF4-FFF2-40B4-BE49-F238E27FC236}">
                  <a16:creationId xmlns:a16="http://schemas.microsoft.com/office/drawing/2014/main" id="{EBD7C3ED-3257-C733-F2FB-EB1A20F24497}"/>
                </a:ext>
              </a:extLst>
            </p:cNvPr>
            <p:cNvCxnSpPr>
              <a:cxnSpLocks/>
            </p:cNvCxnSpPr>
            <p:nvPr/>
          </p:nvCxnSpPr>
          <p:spPr bwMode="auto">
            <a:xfrm flipH="1">
              <a:off x="210149" y="2406165"/>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cxnSp>
          <p:nvCxnSpPr>
            <p:cNvPr id="17" name="カギ線コネクタ 64">
              <a:extLst>
                <a:ext uri="{FF2B5EF4-FFF2-40B4-BE49-F238E27FC236}">
                  <a16:creationId xmlns:a16="http://schemas.microsoft.com/office/drawing/2014/main" id="{F426C0A8-D9C6-9D2E-B3F9-94AA46CF3374}"/>
                </a:ext>
              </a:extLst>
            </p:cNvPr>
            <p:cNvCxnSpPr>
              <a:cxnSpLocks/>
            </p:cNvCxnSpPr>
            <p:nvPr/>
          </p:nvCxnSpPr>
          <p:spPr bwMode="auto">
            <a:xfrm flipH="1">
              <a:off x="210149" y="2659108"/>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cxnSp>
          <p:nvCxnSpPr>
            <p:cNvPr id="18" name="カギ線コネクタ 64">
              <a:extLst>
                <a:ext uri="{FF2B5EF4-FFF2-40B4-BE49-F238E27FC236}">
                  <a16:creationId xmlns:a16="http://schemas.microsoft.com/office/drawing/2014/main" id="{E98203A8-CFAB-A90B-C2FA-3ACDD9D450DD}"/>
                </a:ext>
              </a:extLst>
            </p:cNvPr>
            <p:cNvCxnSpPr>
              <a:cxnSpLocks/>
            </p:cNvCxnSpPr>
            <p:nvPr/>
          </p:nvCxnSpPr>
          <p:spPr bwMode="auto">
            <a:xfrm flipH="1">
              <a:off x="210149" y="3434751"/>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13" name="矢印: 五方向 212">
              <a:extLst>
                <a:ext uri="{FF2B5EF4-FFF2-40B4-BE49-F238E27FC236}">
                  <a16:creationId xmlns:a16="http://schemas.microsoft.com/office/drawing/2014/main" id="{491FC928-5AE5-AA8F-1CB5-6BE14DB0F703}"/>
                </a:ext>
              </a:extLst>
            </p:cNvPr>
            <p:cNvSpPr/>
            <p:nvPr/>
          </p:nvSpPr>
          <p:spPr>
            <a:xfrm>
              <a:off x="2064714" y="2164390"/>
              <a:ext cx="1608261"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a:t>
              </a: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Concur</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機能開発</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F127EC08-F9CD-BC1B-B60E-BCADCDACBF9C}"/>
                </a:ext>
              </a:extLst>
            </p:cNvPr>
            <p:cNvSpPr/>
            <p:nvPr/>
          </p:nvSpPr>
          <p:spPr>
            <a:xfrm>
              <a:off x="200026" y="3444094"/>
              <a:ext cx="544262" cy="227865"/>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050" b="1" dirty="0">
                  <a:solidFill>
                    <a:srgbClr val="000000">
                      <a:lumMod val="65000"/>
                      <a:lumOff val="35000"/>
                    </a:srgbClr>
                  </a:solidFill>
                  <a:latin typeface="Meiryo UI" panose="020B0604030504040204" pitchFamily="50" charset="-128"/>
                  <a:ea typeface="Meiryo UI" panose="020B0604030504040204" pitchFamily="50" charset="-128"/>
                </a:rPr>
                <a:t>開発全般</a:t>
              </a:r>
              <a:endParaRPr kumimoji="1" lang="en-US" altLang="ja-JP" sz="105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44" name="正方形/長方形 43">
              <a:extLst>
                <a:ext uri="{FF2B5EF4-FFF2-40B4-BE49-F238E27FC236}">
                  <a16:creationId xmlns:a16="http://schemas.microsoft.com/office/drawing/2014/main" id="{28881AC8-0389-C6A5-99D5-7B5B56E16333}"/>
                </a:ext>
              </a:extLst>
            </p:cNvPr>
            <p:cNvSpPr/>
            <p:nvPr/>
          </p:nvSpPr>
          <p:spPr>
            <a:xfrm>
              <a:off x="763124" y="3444094"/>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en-US" altLang="ja-JP" sz="8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エージェント基盤開発</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B1413DC0-2086-F898-CAA8-0B5CB0A8C123}"/>
                </a:ext>
              </a:extLst>
            </p:cNvPr>
            <p:cNvSpPr/>
            <p:nvPr/>
          </p:nvSpPr>
          <p:spPr>
            <a:xfrm>
              <a:off x="759348" y="3197763"/>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名寄せ結果</a:t>
              </a:r>
              <a:r>
                <a:rPr lang="en-US" altLang="ja-JP" sz="8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自動抽出</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A7560775-E5F5-24A1-5313-E171322A3522}"/>
                </a:ext>
              </a:extLst>
            </p:cNvPr>
            <p:cNvSpPr/>
            <p:nvPr/>
          </p:nvSpPr>
          <p:spPr>
            <a:xfrm>
              <a:off x="196249" y="3197763"/>
              <a:ext cx="544265" cy="227865"/>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1050" b="1" dirty="0">
                  <a:solidFill>
                    <a:srgbClr val="000000">
                      <a:lumMod val="65000"/>
                      <a:lumOff val="35000"/>
                    </a:srgbClr>
                  </a:solidFill>
                  <a:latin typeface="Meiryo UI" panose="020B0604030504040204" pitchFamily="50" charset="-128"/>
                  <a:ea typeface="Meiryo UI" panose="020B0604030504040204" pitchFamily="50" charset="-128"/>
                </a:rPr>
                <a:t>顧客管理</a:t>
              </a:r>
              <a:endParaRPr lang="en-US" altLang="ja-JP" sz="1050" b="1"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8467BB9F-7E1F-04D2-C420-1D33BAAA0C52}"/>
                </a:ext>
              </a:extLst>
            </p:cNvPr>
            <p:cNvSpPr/>
            <p:nvPr/>
          </p:nvSpPr>
          <p:spPr>
            <a:xfrm>
              <a:off x="759348" y="2930131"/>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銀行処理応答自動化</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D9AA51D1-313D-16A1-3B52-B8D1261A3904}"/>
                </a:ext>
              </a:extLst>
            </p:cNvPr>
            <p:cNvSpPr/>
            <p:nvPr/>
          </p:nvSpPr>
          <p:spPr>
            <a:xfrm>
              <a:off x="196250" y="2415975"/>
              <a:ext cx="544262" cy="227865"/>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1050" b="1" dirty="0">
                  <a:solidFill>
                    <a:srgbClr val="000000">
                      <a:lumMod val="65000"/>
                      <a:lumOff val="35000"/>
                    </a:srgbClr>
                  </a:solidFill>
                  <a:latin typeface="Meiryo UI" panose="020B0604030504040204" pitchFamily="50" charset="-128"/>
                  <a:ea typeface="Meiryo UI" panose="020B0604030504040204" pitchFamily="50" charset="-128"/>
                </a:rPr>
                <a:t>経理</a:t>
              </a:r>
              <a:r>
                <a:rPr lang="en-US" altLang="ja-JP" sz="1050" b="1" dirty="0">
                  <a:solidFill>
                    <a:srgbClr val="000000">
                      <a:lumMod val="65000"/>
                      <a:lumOff val="35000"/>
                    </a:srgbClr>
                  </a:solidFill>
                  <a:latin typeface="Meiryo UI" panose="020B0604030504040204" pitchFamily="50" charset="-128"/>
                  <a:ea typeface="Meiryo UI" panose="020B0604030504040204" pitchFamily="50" charset="-128"/>
                </a:rPr>
                <a:t>OS</a:t>
              </a:r>
            </a:p>
          </p:txBody>
        </p:sp>
        <p:sp>
          <p:nvSpPr>
            <p:cNvPr id="59" name="正方形/長方形 58">
              <a:extLst>
                <a:ext uri="{FF2B5EF4-FFF2-40B4-BE49-F238E27FC236}">
                  <a16:creationId xmlns:a16="http://schemas.microsoft.com/office/drawing/2014/main" id="{5E99727A-DF07-E05B-6580-042FFE1DEAF1}"/>
                </a:ext>
              </a:extLst>
            </p:cNvPr>
            <p:cNvSpPr/>
            <p:nvPr/>
          </p:nvSpPr>
          <p:spPr>
            <a:xfrm>
              <a:off x="759348" y="2679077"/>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標プロ評価業務自動化</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DB678809-CA6C-E473-284B-66D9A1B7CF16}"/>
                </a:ext>
              </a:extLst>
            </p:cNvPr>
            <p:cNvSpPr/>
            <p:nvPr/>
          </p:nvSpPr>
          <p:spPr>
            <a:xfrm>
              <a:off x="759348" y="2422326"/>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請求・支払</a:t>
              </a:r>
              <a:r>
                <a:rPr lang="en-US" altLang="ja-JP" sz="800" dirty="0">
                  <a:solidFill>
                    <a:srgbClr val="000000">
                      <a:lumMod val="65000"/>
                      <a:lumOff val="35000"/>
                    </a:srgbClr>
                  </a:solidFill>
                  <a:latin typeface="Meiryo UI" panose="020B0604030504040204" pitchFamily="50" charset="-128"/>
                  <a:ea typeface="Meiryo UI" panose="020B0604030504040204" pitchFamily="50" charset="-128"/>
                </a:rPr>
                <a:t>CK</a:t>
              </a: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業務自動化</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EDF3483C-5229-9BEB-5E34-4A675CE66AB6}"/>
                </a:ext>
              </a:extLst>
            </p:cNvPr>
            <p:cNvSpPr/>
            <p:nvPr/>
          </p:nvSpPr>
          <p:spPr>
            <a:xfrm>
              <a:off x="196343" y="2162584"/>
              <a:ext cx="544262" cy="227865"/>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1050" b="1" dirty="0">
                  <a:solidFill>
                    <a:srgbClr val="000000">
                      <a:lumMod val="65000"/>
                      <a:lumOff val="35000"/>
                    </a:srgbClr>
                  </a:solidFill>
                  <a:latin typeface="Meiryo UI" panose="020B0604030504040204" pitchFamily="50" charset="-128"/>
                  <a:ea typeface="Meiryo UI" panose="020B0604030504040204" pitchFamily="50" charset="-128"/>
                </a:rPr>
                <a:t>BPS</a:t>
              </a:r>
              <a:endParaRPr kumimoji="1" lang="en-US" altLang="ja-JP" sz="105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3ED8C82C-64BA-2FDF-2C7C-A5463DD2D50A}"/>
                </a:ext>
              </a:extLst>
            </p:cNvPr>
            <p:cNvSpPr/>
            <p:nvPr/>
          </p:nvSpPr>
          <p:spPr>
            <a:xfrm>
              <a:off x="759441" y="2162584"/>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請求・支払業務自動化</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77" name="カギ線コネクタ 64">
              <a:extLst>
                <a:ext uri="{FF2B5EF4-FFF2-40B4-BE49-F238E27FC236}">
                  <a16:creationId xmlns:a16="http://schemas.microsoft.com/office/drawing/2014/main" id="{C9405A26-6574-BA54-5CB1-9FD4432AC8D9}"/>
                </a:ext>
              </a:extLst>
            </p:cNvPr>
            <p:cNvCxnSpPr>
              <a:cxnSpLocks/>
            </p:cNvCxnSpPr>
            <p:nvPr/>
          </p:nvCxnSpPr>
          <p:spPr bwMode="auto">
            <a:xfrm flipH="1">
              <a:off x="210149" y="2915757"/>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78" name="矢印: 五方向 77">
              <a:extLst>
                <a:ext uri="{FF2B5EF4-FFF2-40B4-BE49-F238E27FC236}">
                  <a16:creationId xmlns:a16="http://schemas.microsoft.com/office/drawing/2014/main" id="{7737605F-0115-DC8F-C9D0-0F36F7786B55}"/>
                </a:ext>
              </a:extLst>
            </p:cNvPr>
            <p:cNvSpPr/>
            <p:nvPr/>
          </p:nvSpPr>
          <p:spPr>
            <a:xfrm>
              <a:off x="3682841" y="2164390"/>
              <a:ext cx="1229950"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・活文機能開発</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79" name="矢印: 五方向 78">
              <a:extLst>
                <a:ext uri="{FF2B5EF4-FFF2-40B4-BE49-F238E27FC236}">
                  <a16:creationId xmlns:a16="http://schemas.microsoft.com/office/drawing/2014/main" id="{540D9F95-AE51-DD1C-0FAC-1888D36471CC}"/>
                </a:ext>
              </a:extLst>
            </p:cNvPr>
            <p:cNvSpPr/>
            <p:nvPr/>
          </p:nvSpPr>
          <p:spPr>
            <a:xfrm>
              <a:off x="4912791" y="2164390"/>
              <a:ext cx="1425278"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結合テスト</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86" name="矢印: 五方向 85">
              <a:extLst>
                <a:ext uri="{FF2B5EF4-FFF2-40B4-BE49-F238E27FC236}">
                  <a16:creationId xmlns:a16="http://schemas.microsoft.com/office/drawing/2014/main" id="{3ABC37AF-45DC-B679-B0C6-C1136F4E80E0}"/>
                </a:ext>
              </a:extLst>
            </p:cNvPr>
            <p:cNvSpPr/>
            <p:nvPr/>
          </p:nvSpPr>
          <p:spPr>
            <a:xfrm>
              <a:off x="8067049" y="2166040"/>
              <a:ext cx="831978"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ユーザー</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運用テスト</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90" name="矢印: 五方向 89">
              <a:extLst>
                <a:ext uri="{FF2B5EF4-FFF2-40B4-BE49-F238E27FC236}">
                  <a16:creationId xmlns:a16="http://schemas.microsoft.com/office/drawing/2014/main" id="{E001B2AE-10CB-3EEE-E79F-8C730848339A}"/>
                </a:ext>
              </a:extLst>
            </p:cNvPr>
            <p:cNvSpPr/>
            <p:nvPr/>
          </p:nvSpPr>
          <p:spPr>
            <a:xfrm>
              <a:off x="6334464" y="2166124"/>
              <a:ext cx="1126008"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本番環境移行</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91" name="矢印: 五方向 90">
              <a:extLst>
                <a:ext uri="{FF2B5EF4-FFF2-40B4-BE49-F238E27FC236}">
                  <a16:creationId xmlns:a16="http://schemas.microsoft.com/office/drawing/2014/main" id="{A82CF091-5DA5-C2F8-B305-594F08DA6478}"/>
                </a:ext>
              </a:extLst>
            </p:cNvPr>
            <p:cNvSpPr/>
            <p:nvPr/>
          </p:nvSpPr>
          <p:spPr>
            <a:xfrm>
              <a:off x="2064715" y="2425750"/>
              <a:ext cx="1545977"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CK</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業務調査</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E332B9BB-63ED-2C6B-BFF3-71DBC274584C}"/>
                </a:ext>
              </a:extLst>
            </p:cNvPr>
            <p:cNvSpPr/>
            <p:nvPr/>
          </p:nvSpPr>
          <p:spPr>
            <a:xfrm>
              <a:off x="196250" y="2676317"/>
              <a:ext cx="544262" cy="48168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050" b="1" dirty="0">
                  <a:solidFill>
                    <a:srgbClr val="000000">
                      <a:lumMod val="65000"/>
                      <a:lumOff val="35000"/>
                    </a:srgbClr>
                  </a:solidFill>
                  <a:latin typeface="Meiryo UI" panose="020B0604030504040204" pitchFamily="50" charset="-128"/>
                  <a:ea typeface="Meiryo UI" panose="020B0604030504040204" pitchFamily="50" charset="-128"/>
                </a:rPr>
                <a:t>財務</a:t>
              </a:r>
              <a:endParaRPr kumimoji="1" lang="en-US" altLang="ja-JP" sz="105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2" name="矢印: 五方向 91">
              <a:extLst>
                <a:ext uri="{FF2B5EF4-FFF2-40B4-BE49-F238E27FC236}">
                  <a16:creationId xmlns:a16="http://schemas.microsoft.com/office/drawing/2014/main" id="{ACFA8BED-B67A-F285-1E71-DEBFDF032E69}"/>
                </a:ext>
              </a:extLst>
            </p:cNvPr>
            <p:cNvSpPr/>
            <p:nvPr/>
          </p:nvSpPr>
          <p:spPr>
            <a:xfrm>
              <a:off x="3610692" y="2425750"/>
              <a:ext cx="751259"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開発汎用化</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93" name="矢印: 五方向 92">
              <a:extLst>
                <a:ext uri="{FF2B5EF4-FFF2-40B4-BE49-F238E27FC236}">
                  <a16:creationId xmlns:a16="http://schemas.microsoft.com/office/drawing/2014/main" id="{8F495FE5-7675-C4AD-1E3A-FE25924CED36}"/>
                </a:ext>
              </a:extLst>
            </p:cNvPr>
            <p:cNvSpPr/>
            <p:nvPr/>
          </p:nvSpPr>
          <p:spPr>
            <a:xfrm>
              <a:off x="4364754" y="2425750"/>
              <a:ext cx="1444997"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開発</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94" name="矢印: 五方向 93">
              <a:extLst>
                <a:ext uri="{FF2B5EF4-FFF2-40B4-BE49-F238E27FC236}">
                  <a16:creationId xmlns:a16="http://schemas.microsoft.com/office/drawing/2014/main" id="{52A58CA2-DE7D-8A69-9FEF-7F05D74BD3D2}"/>
                </a:ext>
              </a:extLst>
            </p:cNvPr>
            <p:cNvSpPr/>
            <p:nvPr/>
          </p:nvSpPr>
          <p:spPr>
            <a:xfrm>
              <a:off x="5819679" y="2431196"/>
              <a:ext cx="400705"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デモ</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準備</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10" name="矢印: 五方向 109">
              <a:extLst>
                <a:ext uri="{FF2B5EF4-FFF2-40B4-BE49-F238E27FC236}">
                  <a16:creationId xmlns:a16="http://schemas.microsoft.com/office/drawing/2014/main" id="{F0AD1234-607A-F271-6BEE-4957C0331DFE}"/>
                </a:ext>
              </a:extLst>
            </p:cNvPr>
            <p:cNvSpPr/>
            <p:nvPr/>
          </p:nvSpPr>
          <p:spPr>
            <a:xfrm>
              <a:off x="2060750" y="2679173"/>
              <a:ext cx="1773130" cy="478843"/>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要件定義・</a:t>
              </a:r>
              <a:r>
                <a:rPr lang="en-US" altLang="ja-JP" sz="800" dirty="0" err="1">
                  <a:solidFill>
                    <a:srgbClr val="FFFFFF"/>
                  </a:solidFill>
                  <a:effectLst>
                    <a:glow>
                      <a:srgbClr val="00CC99">
                        <a:alpha val="40000"/>
                      </a:srgbClr>
                    </a:glow>
                  </a:effectLst>
                  <a:latin typeface="Meiryo UI" panose="020B0604030504040204" pitchFamily="50" charset="-128"/>
                  <a:ea typeface="Meiryo UI" panose="020B0604030504040204" pitchFamily="50" charset="-128"/>
                </a:rPr>
                <a:t>tobe</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業務策定</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12" name="矢印: 五方向 111">
              <a:extLst>
                <a:ext uri="{FF2B5EF4-FFF2-40B4-BE49-F238E27FC236}">
                  <a16:creationId xmlns:a16="http://schemas.microsoft.com/office/drawing/2014/main" id="{8343C8C4-7BF1-A63F-F2C9-9BD7314F400D}"/>
                </a:ext>
              </a:extLst>
            </p:cNvPr>
            <p:cNvSpPr/>
            <p:nvPr/>
          </p:nvSpPr>
          <p:spPr>
            <a:xfrm>
              <a:off x="3854217" y="2679172"/>
              <a:ext cx="1058573" cy="486101"/>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第一弾</a:t>
              </a:r>
              <a:r>
                <a:rPr lang="ja-JP" altLang="en-US" sz="80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プロト作成</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13" name="矢印: 五方向 112">
              <a:extLst>
                <a:ext uri="{FF2B5EF4-FFF2-40B4-BE49-F238E27FC236}">
                  <a16:creationId xmlns:a16="http://schemas.microsoft.com/office/drawing/2014/main" id="{B4F05CA2-AAE6-87F9-345F-26DB90B9E2D8}"/>
                </a:ext>
              </a:extLst>
            </p:cNvPr>
            <p:cNvSpPr/>
            <p:nvPr/>
          </p:nvSpPr>
          <p:spPr>
            <a:xfrm>
              <a:off x="4912791" y="2675170"/>
              <a:ext cx="1381266"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RAG</a:t>
              </a:r>
              <a:r>
                <a:rPr kumimoji="1" lang="ja-JP" altLang="en-US"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機能追加実装</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16" name="矢印: 五方向 115">
              <a:extLst>
                <a:ext uri="{FF2B5EF4-FFF2-40B4-BE49-F238E27FC236}">
                  <a16:creationId xmlns:a16="http://schemas.microsoft.com/office/drawing/2014/main" id="{1EC92E71-E7B6-C1AE-A9A5-D02ADB843106}"/>
                </a:ext>
              </a:extLst>
            </p:cNvPr>
            <p:cNvSpPr/>
            <p:nvPr/>
          </p:nvSpPr>
          <p:spPr>
            <a:xfrm>
              <a:off x="4912791" y="2933761"/>
              <a:ext cx="687533"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残課題対応</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19" name="矢印: 五方向 118">
              <a:extLst>
                <a:ext uri="{FF2B5EF4-FFF2-40B4-BE49-F238E27FC236}">
                  <a16:creationId xmlns:a16="http://schemas.microsoft.com/office/drawing/2014/main" id="{62E79E70-9776-7B03-26C9-128A2BC9C9CF}"/>
                </a:ext>
              </a:extLst>
            </p:cNvPr>
            <p:cNvSpPr/>
            <p:nvPr/>
          </p:nvSpPr>
          <p:spPr>
            <a:xfrm>
              <a:off x="5606524" y="2935878"/>
              <a:ext cx="687533"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プロト試験</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27" name="矢印: 五方向 126">
              <a:extLst>
                <a:ext uri="{FF2B5EF4-FFF2-40B4-BE49-F238E27FC236}">
                  <a16:creationId xmlns:a16="http://schemas.microsoft.com/office/drawing/2014/main" id="{BAC7CB53-CD10-D01E-59DD-C5BFB307EC39}"/>
                </a:ext>
              </a:extLst>
            </p:cNvPr>
            <p:cNvSpPr/>
            <p:nvPr/>
          </p:nvSpPr>
          <p:spPr>
            <a:xfrm>
              <a:off x="6303899" y="2675199"/>
              <a:ext cx="591009"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ユーザー</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運用テスト</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28" name="矢印: 五方向 127">
              <a:extLst>
                <a:ext uri="{FF2B5EF4-FFF2-40B4-BE49-F238E27FC236}">
                  <a16:creationId xmlns:a16="http://schemas.microsoft.com/office/drawing/2014/main" id="{8DE43A30-F06B-8722-A177-2C1AAC7B9A1C}"/>
                </a:ext>
              </a:extLst>
            </p:cNvPr>
            <p:cNvSpPr/>
            <p:nvPr/>
          </p:nvSpPr>
          <p:spPr>
            <a:xfrm>
              <a:off x="6903556" y="2675199"/>
              <a:ext cx="2241739"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残課題対応</a:t>
              </a: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次期標プロシステム実装</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29" name="矢印: 五方向 128">
              <a:extLst>
                <a:ext uri="{FF2B5EF4-FFF2-40B4-BE49-F238E27FC236}">
                  <a16:creationId xmlns:a16="http://schemas.microsoft.com/office/drawing/2014/main" id="{FC800132-B17D-C163-D2A3-67513E77E12D}"/>
                </a:ext>
              </a:extLst>
            </p:cNvPr>
            <p:cNvSpPr/>
            <p:nvPr/>
          </p:nvSpPr>
          <p:spPr>
            <a:xfrm>
              <a:off x="6327402" y="2943881"/>
              <a:ext cx="1127955" cy="221395"/>
            </a:xfrm>
            <a:prstGeom prst="homePlate">
              <a:avLst>
                <a:gd name="adj" fmla="val 14457"/>
              </a:avLst>
            </a:prstGeom>
            <a:solidFill>
              <a:schemeClr val="bg1"/>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rPr>
                <a:t>追加開発？（未定）</a:t>
              </a:r>
              <a:endParaRPr lang="en-US" altLang="ja-JP"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0" name="矢印: 五方向 139">
              <a:extLst>
                <a:ext uri="{FF2B5EF4-FFF2-40B4-BE49-F238E27FC236}">
                  <a16:creationId xmlns:a16="http://schemas.microsoft.com/office/drawing/2014/main" id="{8FAEAC4C-B9C3-E441-6107-B34EE3536550}"/>
                </a:ext>
              </a:extLst>
            </p:cNvPr>
            <p:cNvSpPr/>
            <p:nvPr/>
          </p:nvSpPr>
          <p:spPr>
            <a:xfrm>
              <a:off x="6341244" y="2425750"/>
              <a:ext cx="4229864" cy="221395"/>
            </a:xfrm>
            <a:prstGeom prst="homePlate">
              <a:avLst>
                <a:gd name="adj" fmla="val 14457"/>
              </a:avLst>
            </a:prstGeom>
            <a:solidFill>
              <a:schemeClr val="bg1"/>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rPr>
                <a:t>本格開発（未定）</a:t>
              </a:r>
              <a:endParaRPr lang="en-US" altLang="ja-JP"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1" name="矢印: 五方向 140">
              <a:extLst>
                <a:ext uri="{FF2B5EF4-FFF2-40B4-BE49-F238E27FC236}">
                  <a16:creationId xmlns:a16="http://schemas.microsoft.com/office/drawing/2014/main" id="{F819C32A-FF6F-3D4D-3F42-11B1F777CEDD}"/>
                </a:ext>
              </a:extLst>
            </p:cNvPr>
            <p:cNvSpPr/>
            <p:nvPr/>
          </p:nvSpPr>
          <p:spPr>
            <a:xfrm>
              <a:off x="2062729" y="3196501"/>
              <a:ext cx="1268642"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要件定義</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4" name="矢印: 五方向 143">
              <a:extLst>
                <a:ext uri="{FF2B5EF4-FFF2-40B4-BE49-F238E27FC236}">
                  <a16:creationId xmlns:a16="http://schemas.microsoft.com/office/drawing/2014/main" id="{88826A11-D3E1-80C9-E1AE-E2978FF7A33B}"/>
                </a:ext>
              </a:extLst>
            </p:cNvPr>
            <p:cNvSpPr/>
            <p:nvPr/>
          </p:nvSpPr>
          <p:spPr>
            <a:xfrm>
              <a:off x="3331371" y="3196839"/>
              <a:ext cx="1581420"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データ抽出元サイトの調査</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5" name="矢印: 五方向 144">
              <a:extLst>
                <a:ext uri="{FF2B5EF4-FFF2-40B4-BE49-F238E27FC236}">
                  <a16:creationId xmlns:a16="http://schemas.microsoft.com/office/drawing/2014/main" id="{89D1D2DA-D0C7-2C8F-408C-08DB7850CD8C}"/>
                </a:ext>
              </a:extLst>
            </p:cNvPr>
            <p:cNvSpPr/>
            <p:nvPr/>
          </p:nvSpPr>
          <p:spPr>
            <a:xfrm>
              <a:off x="4912791" y="3196839"/>
              <a:ext cx="1444997"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開発</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6" name="矢印: 五方向 145">
              <a:extLst>
                <a:ext uri="{FF2B5EF4-FFF2-40B4-BE49-F238E27FC236}">
                  <a16:creationId xmlns:a16="http://schemas.microsoft.com/office/drawing/2014/main" id="{0D7BFB7D-7FCE-A529-5F46-D33250107128}"/>
                </a:ext>
              </a:extLst>
            </p:cNvPr>
            <p:cNvSpPr/>
            <p:nvPr/>
          </p:nvSpPr>
          <p:spPr>
            <a:xfrm>
              <a:off x="6364710" y="3197931"/>
              <a:ext cx="1091986"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ユーザー</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運用テスト</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7" name="矢印: 五方向 146">
              <a:extLst>
                <a:ext uri="{FF2B5EF4-FFF2-40B4-BE49-F238E27FC236}">
                  <a16:creationId xmlns:a16="http://schemas.microsoft.com/office/drawing/2014/main" id="{DE8205B5-53F9-E7F9-7705-E916FB3C40C0}"/>
                </a:ext>
              </a:extLst>
            </p:cNvPr>
            <p:cNvSpPr/>
            <p:nvPr/>
          </p:nvSpPr>
          <p:spPr>
            <a:xfrm>
              <a:off x="8067048" y="3197931"/>
              <a:ext cx="1966724" cy="221395"/>
            </a:xfrm>
            <a:prstGeom prst="homePlate">
              <a:avLst>
                <a:gd name="adj" fmla="val 14457"/>
              </a:avLst>
            </a:prstGeom>
            <a:solidFill>
              <a:schemeClr val="bg1"/>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rPr>
                <a:t>追加開発？（未定）</a:t>
              </a:r>
              <a:endParaRPr lang="en-US" altLang="ja-JP"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grpSp>
          <p:nvGrpSpPr>
            <p:cNvPr id="37" name="グループ化 36">
              <a:extLst>
                <a:ext uri="{FF2B5EF4-FFF2-40B4-BE49-F238E27FC236}">
                  <a16:creationId xmlns:a16="http://schemas.microsoft.com/office/drawing/2014/main" id="{E1DFABBE-50FD-4DDA-209D-D578566F6932}"/>
                </a:ext>
              </a:extLst>
            </p:cNvPr>
            <p:cNvGrpSpPr/>
            <p:nvPr/>
          </p:nvGrpSpPr>
          <p:grpSpPr>
            <a:xfrm>
              <a:off x="2062820" y="3446660"/>
              <a:ext cx="6474191" cy="232525"/>
              <a:chOff x="2062820" y="3456185"/>
              <a:chExt cx="6474191" cy="232525"/>
            </a:xfrm>
          </p:grpSpPr>
          <p:sp>
            <p:nvSpPr>
              <p:cNvPr id="170" name="矢印: 五方向 169">
                <a:extLst>
                  <a:ext uri="{FF2B5EF4-FFF2-40B4-BE49-F238E27FC236}">
                    <a16:creationId xmlns:a16="http://schemas.microsoft.com/office/drawing/2014/main" id="{54C5E8B1-F0AF-8CA0-BB07-04DEBE46780F}"/>
                  </a:ext>
                </a:extLst>
              </p:cNvPr>
              <p:cNvSpPr/>
              <p:nvPr/>
            </p:nvSpPr>
            <p:spPr>
              <a:xfrm>
                <a:off x="6220384" y="3467315"/>
                <a:ext cx="2316627"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追加開発</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62" name="矢印: 五方向 161">
                <a:extLst>
                  <a:ext uri="{FF2B5EF4-FFF2-40B4-BE49-F238E27FC236}">
                    <a16:creationId xmlns:a16="http://schemas.microsoft.com/office/drawing/2014/main" id="{9E2F5BC6-561E-8E33-90AF-472F2AFDFA95}"/>
                  </a:ext>
                </a:extLst>
              </p:cNvPr>
              <p:cNvSpPr/>
              <p:nvPr/>
            </p:nvSpPr>
            <p:spPr>
              <a:xfrm>
                <a:off x="2062820" y="3460559"/>
                <a:ext cx="1119240"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n8nMCP</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モジュール開発</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63" name="矢印: 五方向 162">
                <a:extLst>
                  <a:ext uri="{FF2B5EF4-FFF2-40B4-BE49-F238E27FC236}">
                    <a16:creationId xmlns:a16="http://schemas.microsoft.com/office/drawing/2014/main" id="{00924FC7-51E2-99C7-9635-D1E97CBCFF04}"/>
                  </a:ext>
                </a:extLst>
              </p:cNvPr>
              <p:cNvSpPr/>
              <p:nvPr/>
            </p:nvSpPr>
            <p:spPr>
              <a:xfrm>
                <a:off x="3182059" y="3458249"/>
                <a:ext cx="941316"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データ基盤設計</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64" name="矢印: 五方向 163">
                <a:extLst>
                  <a:ext uri="{FF2B5EF4-FFF2-40B4-BE49-F238E27FC236}">
                    <a16:creationId xmlns:a16="http://schemas.microsoft.com/office/drawing/2014/main" id="{55DB8165-5E72-997E-E594-F86B0EF83293}"/>
                  </a:ext>
                </a:extLst>
              </p:cNvPr>
              <p:cNvSpPr/>
              <p:nvPr/>
            </p:nvSpPr>
            <p:spPr>
              <a:xfrm>
                <a:off x="4123608" y="3458249"/>
                <a:ext cx="1396421"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データ基盤構築</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65" name="矢印: 五方向 164">
                <a:extLst>
                  <a:ext uri="{FF2B5EF4-FFF2-40B4-BE49-F238E27FC236}">
                    <a16:creationId xmlns:a16="http://schemas.microsoft.com/office/drawing/2014/main" id="{DA91D3DD-6021-B770-CF07-537B17B4CAB8}"/>
                  </a:ext>
                </a:extLst>
              </p:cNvPr>
              <p:cNvSpPr/>
              <p:nvPr/>
            </p:nvSpPr>
            <p:spPr>
              <a:xfrm>
                <a:off x="5522174" y="3456185"/>
                <a:ext cx="698210"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デモ準備</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grpSp>
        <p:sp>
          <p:nvSpPr>
            <p:cNvPr id="61" name="正方形/長方形 60">
              <a:extLst>
                <a:ext uri="{FF2B5EF4-FFF2-40B4-BE49-F238E27FC236}">
                  <a16:creationId xmlns:a16="http://schemas.microsoft.com/office/drawing/2014/main" id="{EE0C0B94-8DE9-E251-EBFD-F9952F08A3DE}"/>
                </a:ext>
              </a:extLst>
            </p:cNvPr>
            <p:cNvSpPr/>
            <p:nvPr/>
          </p:nvSpPr>
          <p:spPr>
            <a:xfrm>
              <a:off x="7460472" y="1694566"/>
              <a:ext cx="606576" cy="1977394"/>
            </a:xfrm>
            <a:prstGeom prst="rect">
              <a:avLst/>
            </a:prstGeom>
            <a:solidFill>
              <a:schemeClr val="bg1">
                <a:lumMod val="85000"/>
                <a:alpha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GW</a:t>
              </a:r>
            </a:p>
          </p:txBody>
        </p:sp>
        <p:cxnSp>
          <p:nvCxnSpPr>
            <p:cNvPr id="219" name="直線コネクタ 218">
              <a:extLst>
                <a:ext uri="{FF2B5EF4-FFF2-40B4-BE49-F238E27FC236}">
                  <a16:creationId xmlns:a16="http://schemas.microsoft.com/office/drawing/2014/main" id="{58B55129-3C22-A503-DA3F-7ABDA826B6FE}"/>
                </a:ext>
              </a:extLst>
            </p:cNvPr>
            <p:cNvCxnSpPr>
              <a:cxnSpLocks/>
            </p:cNvCxnSpPr>
            <p:nvPr/>
          </p:nvCxnSpPr>
          <p:spPr>
            <a:xfrm>
              <a:off x="5297737" y="1735390"/>
              <a:ext cx="0" cy="1936569"/>
            </a:xfrm>
            <a:prstGeom prst="line">
              <a:avLst/>
            </a:prstGeom>
            <a:ln w="19050">
              <a:solidFill>
                <a:srgbClr val="C0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22" name="コネクタ: カギ線 121">
              <a:extLst>
                <a:ext uri="{FF2B5EF4-FFF2-40B4-BE49-F238E27FC236}">
                  <a16:creationId xmlns:a16="http://schemas.microsoft.com/office/drawing/2014/main" id="{1002B038-F440-2C40-65F2-E872213CDA48}"/>
                </a:ext>
              </a:extLst>
            </p:cNvPr>
            <p:cNvCxnSpPr>
              <a:cxnSpLocks/>
              <a:stCxn id="116" idx="3"/>
              <a:endCxn id="118" idx="2"/>
            </p:cNvCxnSpPr>
            <p:nvPr/>
          </p:nvCxnSpPr>
          <p:spPr>
            <a:xfrm flipV="1">
              <a:off x="5600324" y="2019435"/>
              <a:ext cx="191775" cy="1025024"/>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1" name="コネクタ: カギ線 130">
              <a:extLst>
                <a:ext uri="{FF2B5EF4-FFF2-40B4-BE49-F238E27FC236}">
                  <a16:creationId xmlns:a16="http://schemas.microsoft.com/office/drawing/2014/main" id="{182B160C-A98B-98CA-8FBF-3ED54A7AE71C}"/>
                </a:ext>
              </a:extLst>
            </p:cNvPr>
            <p:cNvCxnSpPr>
              <a:cxnSpLocks/>
              <a:stCxn id="127" idx="3"/>
              <a:endCxn id="130" idx="2"/>
            </p:cNvCxnSpPr>
            <p:nvPr/>
          </p:nvCxnSpPr>
          <p:spPr>
            <a:xfrm flipV="1">
              <a:off x="6894908" y="2019435"/>
              <a:ext cx="327791" cy="766462"/>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コネクタ: カギ線 136">
              <a:extLst>
                <a:ext uri="{FF2B5EF4-FFF2-40B4-BE49-F238E27FC236}">
                  <a16:creationId xmlns:a16="http://schemas.microsoft.com/office/drawing/2014/main" id="{A2505F53-94AF-EC1A-EF20-AAD3BF5FE9C1}"/>
                </a:ext>
              </a:extLst>
            </p:cNvPr>
            <p:cNvCxnSpPr>
              <a:cxnSpLocks/>
              <a:stCxn id="86" idx="3"/>
              <a:endCxn id="136" idx="2"/>
            </p:cNvCxnSpPr>
            <p:nvPr/>
          </p:nvCxnSpPr>
          <p:spPr>
            <a:xfrm flipV="1">
              <a:off x="8899027" y="2024766"/>
              <a:ext cx="48141" cy="251972"/>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9" name="コネクタ: カギ線 148">
              <a:extLst>
                <a:ext uri="{FF2B5EF4-FFF2-40B4-BE49-F238E27FC236}">
                  <a16:creationId xmlns:a16="http://schemas.microsoft.com/office/drawing/2014/main" id="{27882B88-ED85-4341-9290-39464B229AEB}"/>
                </a:ext>
              </a:extLst>
            </p:cNvPr>
            <p:cNvCxnSpPr>
              <a:cxnSpLocks/>
              <a:stCxn id="147" idx="3"/>
              <a:endCxn id="148" idx="2"/>
            </p:cNvCxnSpPr>
            <p:nvPr/>
          </p:nvCxnSpPr>
          <p:spPr>
            <a:xfrm flipV="1">
              <a:off x="10033772" y="2037198"/>
              <a:ext cx="292625" cy="1271431"/>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6" name="コネクタ: カギ線 165">
              <a:extLst>
                <a:ext uri="{FF2B5EF4-FFF2-40B4-BE49-F238E27FC236}">
                  <a16:creationId xmlns:a16="http://schemas.microsoft.com/office/drawing/2014/main" id="{CFD6B041-CE88-5B69-BBE1-CBA6055D9EB6}"/>
                </a:ext>
              </a:extLst>
            </p:cNvPr>
            <p:cNvCxnSpPr>
              <a:cxnSpLocks/>
              <a:stCxn id="165" idx="3"/>
              <a:endCxn id="76" idx="2"/>
            </p:cNvCxnSpPr>
            <p:nvPr/>
          </p:nvCxnSpPr>
          <p:spPr>
            <a:xfrm flipV="1">
              <a:off x="6220384" y="2019435"/>
              <a:ext cx="59460" cy="1537923"/>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1" name="コネクタ: カギ線 160">
              <a:extLst>
                <a:ext uri="{FF2B5EF4-FFF2-40B4-BE49-F238E27FC236}">
                  <a16:creationId xmlns:a16="http://schemas.microsoft.com/office/drawing/2014/main" id="{2ADD5622-9347-B833-ECD4-6EE96A53608A}"/>
                </a:ext>
              </a:extLst>
            </p:cNvPr>
            <p:cNvCxnSpPr>
              <a:cxnSpLocks/>
              <a:stCxn id="94" idx="3"/>
              <a:endCxn id="76" idx="2"/>
            </p:cNvCxnSpPr>
            <p:nvPr/>
          </p:nvCxnSpPr>
          <p:spPr>
            <a:xfrm flipV="1">
              <a:off x="6220384" y="2019435"/>
              <a:ext cx="59460" cy="522459"/>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E4708386-46F2-6780-3F9A-37769E260971}"/>
                </a:ext>
              </a:extLst>
            </p:cNvPr>
            <p:cNvGrpSpPr/>
            <p:nvPr/>
          </p:nvGrpSpPr>
          <p:grpSpPr>
            <a:xfrm>
              <a:off x="203200" y="3756951"/>
              <a:ext cx="11757686" cy="2115138"/>
              <a:chOff x="203200" y="3994019"/>
              <a:chExt cx="11757686" cy="2115138"/>
            </a:xfrm>
          </p:grpSpPr>
          <p:sp>
            <p:nvSpPr>
              <p:cNvPr id="225" name="正方形/長方形 224">
                <a:extLst>
                  <a:ext uri="{FF2B5EF4-FFF2-40B4-BE49-F238E27FC236}">
                    <a16:creationId xmlns:a16="http://schemas.microsoft.com/office/drawing/2014/main" id="{2B5D0D3A-369B-A89F-68F5-6BB5D74150C8}"/>
                  </a:ext>
                </a:extLst>
              </p:cNvPr>
              <p:cNvSpPr/>
              <p:nvPr/>
            </p:nvSpPr>
            <p:spPr>
              <a:xfrm>
                <a:off x="2016907" y="4078021"/>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から</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Concur</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および活文（</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Oracle</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基盤）と連携させ、請求書および請求に纏わる文書（納品書など）を登録できるよう実装完了。</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細かいエラーハンドリングの実装および結合テストを実施している。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231" name="カギ線コネクタ 64">
                <a:extLst>
                  <a:ext uri="{FF2B5EF4-FFF2-40B4-BE49-F238E27FC236}">
                    <a16:creationId xmlns:a16="http://schemas.microsoft.com/office/drawing/2014/main" id="{8EC54937-3095-2761-8879-7C60BB4E0BB5}"/>
                  </a:ext>
                </a:extLst>
              </p:cNvPr>
              <p:cNvCxnSpPr>
                <a:cxnSpLocks/>
              </p:cNvCxnSpPr>
              <p:nvPr/>
            </p:nvCxnSpPr>
            <p:spPr bwMode="auto">
              <a:xfrm flipH="1">
                <a:off x="210463" y="4469354"/>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35" name="正方形/長方形 234">
                <a:extLst>
                  <a:ext uri="{FF2B5EF4-FFF2-40B4-BE49-F238E27FC236}">
                    <a16:creationId xmlns:a16="http://schemas.microsoft.com/office/drawing/2014/main" id="{FD1502ED-B609-0230-C63A-86201A52F7F0}"/>
                  </a:ext>
                </a:extLst>
              </p:cNvPr>
              <p:cNvSpPr/>
              <p:nvPr/>
            </p:nvSpPr>
            <p:spPr>
              <a:xfrm>
                <a:off x="763031" y="4081539"/>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BPS</a:t>
                </a:r>
              </a:p>
            </p:txBody>
          </p:sp>
          <p:sp>
            <p:nvSpPr>
              <p:cNvPr id="8" name="正方形/長方形 7">
                <a:extLst>
                  <a:ext uri="{FF2B5EF4-FFF2-40B4-BE49-F238E27FC236}">
                    <a16:creationId xmlns:a16="http://schemas.microsoft.com/office/drawing/2014/main" id="{533DF21C-002E-C6AB-144D-A59A391BB295}"/>
                  </a:ext>
                </a:extLst>
              </p:cNvPr>
              <p:cNvSpPr/>
              <p:nvPr/>
            </p:nvSpPr>
            <p:spPr>
              <a:xfrm>
                <a:off x="2016907" y="4499082"/>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が読み取れる業務フロー図を用いて、チェック業務の汎用的な</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構築方法を確立。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引き続き</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のテストを継続して精度の向上を図る。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9" name="カギ線コネクタ 64">
                <a:extLst>
                  <a:ext uri="{FF2B5EF4-FFF2-40B4-BE49-F238E27FC236}">
                    <a16:creationId xmlns:a16="http://schemas.microsoft.com/office/drawing/2014/main" id="{D2EA977F-88F5-F137-8F30-8675AFB2BDC7}"/>
                  </a:ext>
                </a:extLst>
              </p:cNvPr>
              <p:cNvCxnSpPr>
                <a:cxnSpLocks/>
              </p:cNvCxnSpPr>
              <p:nvPr/>
            </p:nvCxnSpPr>
            <p:spPr bwMode="auto">
              <a:xfrm flipH="1">
                <a:off x="210463" y="4890415"/>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10" name="正方形/長方形 9">
                <a:extLst>
                  <a:ext uri="{FF2B5EF4-FFF2-40B4-BE49-F238E27FC236}">
                    <a16:creationId xmlns:a16="http://schemas.microsoft.com/office/drawing/2014/main" id="{6DFC6F34-5958-9239-B370-46752F4D64AC}"/>
                  </a:ext>
                </a:extLst>
              </p:cNvPr>
              <p:cNvSpPr/>
              <p:nvPr/>
            </p:nvSpPr>
            <p:spPr>
              <a:xfrm>
                <a:off x="763031" y="4502600"/>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経理</a:t>
                </a:r>
                <a:r>
                  <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OS</a:t>
                </a:r>
              </a:p>
            </p:txBody>
          </p:sp>
          <p:sp>
            <p:nvSpPr>
              <p:cNvPr id="14" name="正方形/長方形 13">
                <a:extLst>
                  <a:ext uri="{FF2B5EF4-FFF2-40B4-BE49-F238E27FC236}">
                    <a16:creationId xmlns:a16="http://schemas.microsoft.com/office/drawing/2014/main" id="{90F54A3C-0424-5A60-B029-E2CCF535BD84}"/>
                  </a:ext>
                </a:extLst>
              </p:cNvPr>
              <p:cNvSpPr/>
              <p:nvPr/>
            </p:nvSpPr>
            <p:spPr>
              <a:xfrm>
                <a:off x="2016907" y="4920143"/>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標準プロセスレビューの内容を自動で抽出し、（任意のプロンプトによる）評価を</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FB</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する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を開発でき、現在</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RAG</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を追加実装中。</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銀行からメールを受信後、特定のファイル加工処理を実行する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を開発できたため、本格的に（銀行よりメールを受信して）テストを実施する予定。</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19" name="カギ線コネクタ 64">
                <a:extLst>
                  <a:ext uri="{FF2B5EF4-FFF2-40B4-BE49-F238E27FC236}">
                    <a16:creationId xmlns:a16="http://schemas.microsoft.com/office/drawing/2014/main" id="{0029ACE1-D8DF-FEE2-6535-69D150AECEA6}"/>
                  </a:ext>
                </a:extLst>
              </p:cNvPr>
              <p:cNvCxnSpPr>
                <a:cxnSpLocks/>
              </p:cNvCxnSpPr>
              <p:nvPr/>
            </p:nvCxnSpPr>
            <p:spPr bwMode="auto">
              <a:xfrm flipH="1">
                <a:off x="210463" y="5311476"/>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0" name="正方形/長方形 19">
                <a:extLst>
                  <a:ext uri="{FF2B5EF4-FFF2-40B4-BE49-F238E27FC236}">
                    <a16:creationId xmlns:a16="http://schemas.microsoft.com/office/drawing/2014/main" id="{1B0F7403-D611-5114-9BEB-20EA2C8F6CAF}"/>
                  </a:ext>
                </a:extLst>
              </p:cNvPr>
              <p:cNvSpPr/>
              <p:nvPr/>
            </p:nvSpPr>
            <p:spPr>
              <a:xfrm>
                <a:off x="763031" y="4923661"/>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財務</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sp>
            <p:nvSpPr>
              <p:cNvPr id="22" name="正方形/長方形 21">
                <a:extLst>
                  <a:ext uri="{FF2B5EF4-FFF2-40B4-BE49-F238E27FC236}">
                    <a16:creationId xmlns:a16="http://schemas.microsoft.com/office/drawing/2014/main" id="{6E8FD227-E446-CBA3-BC40-EADA8E54FFBE}"/>
                  </a:ext>
                </a:extLst>
              </p:cNvPr>
              <p:cNvSpPr/>
              <p:nvPr/>
            </p:nvSpPr>
            <p:spPr>
              <a:xfrm>
                <a:off x="2016907" y="5341204"/>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100" dirty="0" err="1">
                    <a:solidFill>
                      <a:srgbClr val="000000">
                        <a:lumMod val="65000"/>
                        <a:lumOff val="35000"/>
                      </a:srgbClr>
                    </a:solidFill>
                    <a:latin typeface="Meiryo UI" panose="020B0604030504040204" pitchFamily="50" charset="-128"/>
                    <a:ea typeface="Meiryo UI" panose="020B0604030504040204" pitchFamily="50" charset="-128"/>
                  </a:rPr>
                  <a:t>Megagon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の名寄せ後に、残ってしまった（名寄せできなかった）法人のレコード情報を再度</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上からデータを抽出して比較する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を開発中。</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国が運営するサイトの</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API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を用いて上手く情報が取得できたため、現在は難易度の高い個人事業主の情報をどこのサイトから抽出するか検討している。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24" name="カギ線コネクタ 64">
                <a:extLst>
                  <a:ext uri="{FF2B5EF4-FFF2-40B4-BE49-F238E27FC236}">
                    <a16:creationId xmlns:a16="http://schemas.microsoft.com/office/drawing/2014/main" id="{A81C0DCC-4F57-AC9A-54BE-AE3988FED2C3}"/>
                  </a:ext>
                </a:extLst>
              </p:cNvPr>
              <p:cNvCxnSpPr>
                <a:cxnSpLocks/>
              </p:cNvCxnSpPr>
              <p:nvPr/>
            </p:nvCxnSpPr>
            <p:spPr bwMode="auto">
              <a:xfrm flipH="1">
                <a:off x="210463" y="5732537"/>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5" name="正方形/長方形 24">
                <a:extLst>
                  <a:ext uri="{FF2B5EF4-FFF2-40B4-BE49-F238E27FC236}">
                    <a16:creationId xmlns:a16="http://schemas.microsoft.com/office/drawing/2014/main" id="{8072A388-9739-CC71-0D7D-645F40E5B078}"/>
                  </a:ext>
                </a:extLst>
              </p:cNvPr>
              <p:cNvSpPr/>
              <p:nvPr/>
            </p:nvSpPr>
            <p:spPr>
              <a:xfrm>
                <a:off x="763031" y="5344722"/>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顧客管理</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sp>
            <p:nvSpPr>
              <p:cNvPr id="28" name="正方形/長方形 27">
                <a:extLst>
                  <a:ext uri="{FF2B5EF4-FFF2-40B4-BE49-F238E27FC236}">
                    <a16:creationId xmlns:a16="http://schemas.microsoft.com/office/drawing/2014/main" id="{C10389C3-BA19-C35B-650F-E296EC2503DE}"/>
                  </a:ext>
                </a:extLst>
              </p:cNvPr>
              <p:cNvSpPr/>
              <p:nvPr/>
            </p:nvSpPr>
            <p:spPr>
              <a:xfrm>
                <a:off x="2016907" y="5762265"/>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Azure</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上の</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MCP</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による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クローリング機能の開発や</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Oracle</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サーバー上に構築している活文との連携など、</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における難易度の高い開発は</a:t>
                </a:r>
                <a:r>
                  <a:rPr lang="en-US" altLang="ja-JP" sz="1100" dirty="0" err="1">
                    <a:solidFill>
                      <a:srgbClr val="000000">
                        <a:lumMod val="65000"/>
                        <a:lumOff val="35000"/>
                      </a:srgbClr>
                    </a:solidFill>
                    <a:latin typeface="Meiryo UI" panose="020B0604030504040204" pitchFamily="50" charset="-128"/>
                    <a:ea typeface="Meiryo UI" panose="020B0604030504040204" pitchFamily="50" charset="-128"/>
                  </a:rPr>
                  <a:t>LinkX</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社の支援のもと実装できた。</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現在は</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エージェントの</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DWH</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機能（</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BI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まで）の設計を完了し、</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Fabric</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と呼ばれる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MS</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のレイクハウス機能の構築を実施している。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27F7F02B-5FE3-8CF3-15E9-DAEF8B9B7571}"/>
                  </a:ext>
                </a:extLst>
              </p:cNvPr>
              <p:cNvSpPr/>
              <p:nvPr/>
            </p:nvSpPr>
            <p:spPr>
              <a:xfrm>
                <a:off x="763031" y="5765783"/>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開発全般</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cxnSp>
            <p:nvCxnSpPr>
              <p:cNvPr id="33" name="カギ線コネクタ 64">
                <a:extLst>
                  <a:ext uri="{FF2B5EF4-FFF2-40B4-BE49-F238E27FC236}">
                    <a16:creationId xmlns:a16="http://schemas.microsoft.com/office/drawing/2014/main" id="{CDFF9CA0-4CCB-723E-37B7-28FFA070EFC8}"/>
                  </a:ext>
                </a:extLst>
              </p:cNvPr>
              <p:cNvCxnSpPr>
                <a:cxnSpLocks/>
              </p:cNvCxnSpPr>
              <p:nvPr/>
            </p:nvCxnSpPr>
            <p:spPr bwMode="auto">
              <a:xfrm flipH="1">
                <a:off x="210463" y="3994019"/>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36" name="正方形/長方形 235">
                <a:extLst>
                  <a:ext uri="{FF2B5EF4-FFF2-40B4-BE49-F238E27FC236}">
                    <a16:creationId xmlns:a16="http://schemas.microsoft.com/office/drawing/2014/main" id="{9C197911-D027-477F-E5BC-E810F2F4E3F7}"/>
                  </a:ext>
                </a:extLst>
              </p:cNvPr>
              <p:cNvSpPr/>
              <p:nvPr/>
            </p:nvSpPr>
            <p:spPr>
              <a:xfrm>
                <a:off x="203200" y="4081539"/>
                <a:ext cx="537312" cy="202369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概況</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sp>
        <p:nvSpPr>
          <p:cNvPr id="47" name="コンテンツ プレースホルダー 5">
            <a:extLst>
              <a:ext uri="{FF2B5EF4-FFF2-40B4-BE49-F238E27FC236}">
                <a16:creationId xmlns:a16="http://schemas.microsoft.com/office/drawing/2014/main" id="{93B6FADF-29E7-9611-806D-C348FB135C70}"/>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現在（</a:t>
            </a:r>
            <a:r>
              <a:rPr lang="en-US" altLang="ja-JP" sz="1600" kern="0" dirty="0"/>
              <a:t>2026/3/9</a:t>
            </a:r>
            <a:r>
              <a:rPr lang="ja-JP" altLang="en-US" sz="1600" kern="0" dirty="0"/>
              <a:t>時点）の各領域の開発状況としては以下の通り。</a:t>
            </a:r>
            <a:endParaRPr lang="en-US" altLang="ja-JP" sz="1600" kern="0" dirty="0"/>
          </a:p>
        </p:txBody>
      </p:sp>
    </p:spTree>
    <p:extLst>
      <p:ext uri="{BB962C8B-B14F-4D97-AF65-F5344CB8AC3E}">
        <p14:creationId xmlns:p14="http://schemas.microsoft.com/office/powerpoint/2010/main" val="3700659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3F7DD-3E37-1256-139B-FB9128847E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1AB848-98BF-C17D-6991-BEA15058B4D8}"/>
              </a:ext>
            </a:extLst>
          </p:cNvPr>
          <p:cNvSpPr>
            <a:spLocks noGrp="1"/>
          </p:cNvSpPr>
          <p:nvPr>
            <p:ph type="title"/>
          </p:nvPr>
        </p:nvSpPr>
        <p:spPr>
          <a:xfrm>
            <a:off x="203200" y="152403"/>
            <a:ext cx="9204569" cy="379413"/>
          </a:xfrm>
        </p:spPr>
        <p:txBody>
          <a:bodyPr anchor="ctr"/>
          <a:lstStyle/>
          <a:p>
            <a:r>
              <a:rPr lang="en-US" altLang="ja-JP" dirty="0"/>
              <a:t>AI</a:t>
            </a:r>
            <a:r>
              <a:rPr lang="ja-JP" altLang="en-US" dirty="0"/>
              <a:t>利活用推進</a:t>
            </a:r>
            <a:r>
              <a:rPr lang="en-US" altLang="ja-JP" dirty="0"/>
              <a:t>G </a:t>
            </a:r>
            <a:r>
              <a:rPr lang="ja-JP" altLang="en-US" dirty="0"/>
              <a:t>プロセスマップ</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8F815D4F-EE65-A57A-716C-6A70381534F3}"/>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9AFBC1B9-9995-9441-EC19-04926987A6EF}"/>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XXX</a:t>
            </a:r>
          </a:p>
        </p:txBody>
      </p:sp>
      <p:sp>
        <p:nvSpPr>
          <p:cNvPr id="3" name="正方形/長方形 2">
            <a:extLst>
              <a:ext uri="{FF2B5EF4-FFF2-40B4-BE49-F238E27FC236}">
                <a16:creationId xmlns:a16="http://schemas.microsoft.com/office/drawing/2014/main" id="{2B5C5E8E-9DA5-2217-7D71-94BFC8048FE7}"/>
              </a:ext>
            </a:extLst>
          </p:cNvPr>
          <p:cNvSpPr/>
          <p:nvPr/>
        </p:nvSpPr>
        <p:spPr>
          <a:xfrm>
            <a:off x="2297614" y="1208194"/>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企画・案件管理</a:t>
            </a:r>
          </a:p>
        </p:txBody>
      </p:sp>
      <p:sp>
        <p:nvSpPr>
          <p:cNvPr id="7" name="正方形/長方形 6">
            <a:extLst>
              <a:ext uri="{FF2B5EF4-FFF2-40B4-BE49-F238E27FC236}">
                <a16:creationId xmlns:a16="http://schemas.microsoft.com/office/drawing/2014/main" id="{A3A00666-16A6-EF81-1823-3F8C984451B3}"/>
              </a:ext>
            </a:extLst>
          </p:cNvPr>
          <p:cNvSpPr/>
          <p:nvPr/>
        </p:nvSpPr>
        <p:spPr>
          <a:xfrm>
            <a:off x="6327225"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優先順位付け・承認</a:t>
            </a:r>
          </a:p>
        </p:txBody>
      </p:sp>
      <p:sp>
        <p:nvSpPr>
          <p:cNvPr id="11" name="正方形/長方形 10">
            <a:extLst>
              <a:ext uri="{FF2B5EF4-FFF2-40B4-BE49-F238E27FC236}">
                <a16:creationId xmlns:a16="http://schemas.microsoft.com/office/drawing/2014/main" id="{B1341A67-6B57-7ADB-5528-7D930258C719}"/>
              </a:ext>
            </a:extLst>
          </p:cNvPr>
          <p:cNvSpPr/>
          <p:nvPr/>
        </p:nvSpPr>
        <p:spPr>
          <a:xfrm>
            <a:off x="5029734"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ROI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評価・スコアリング</a:t>
            </a:r>
          </a:p>
        </p:txBody>
      </p:sp>
      <p:sp>
        <p:nvSpPr>
          <p:cNvPr id="27" name="正方形/長方形 26">
            <a:extLst>
              <a:ext uri="{FF2B5EF4-FFF2-40B4-BE49-F238E27FC236}">
                <a16:creationId xmlns:a16="http://schemas.microsoft.com/office/drawing/2014/main" id="{00E94A78-7911-1F11-E8F9-C5F99DC2BF86}"/>
              </a:ext>
            </a:extLst>
          </p:cNvPr>
          <p:cNvSpPr/>
          <p:nvPr/>
        </p:nvSpPr>
        <p:spPr>
          <a:xfrm>
            <a:off x="2434752"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案件受付・起案</a:t>
            </a:r>
          </a:p>
        </p:txBody>
      </p:sp>
      <p:sp>
        <p:nvSpPr>
          <p:cNvPr id="29" name="正方形/長方形 28">
            <a:extLst>
              <a:ext uri="{FF2B5EF4-FFF2-40B4-BE49-F238E27FC236}">
                <a16:creationId xmlns:a16="http://schemas.microsoft.com/office/drawing/2014/main" id="{087D31D8-9F4A-66BD-192D-A173719F2C7F}"/>
              </a:ext>
            </a:extLst>
          </p:cNvPr>
          <p:cNvSpPr/>
          <p:nvPr/>
        </p:nvSpPr>
        <p:spPr>
          <a:xfrm>
            <a:off x="3732243"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ユースケース整理</a:t>
            </a:r>
          </a:p>
        </p:txBody>
      </p:sp>
      <p:sp>
        <p:nvSpPr>
          <p:cNvPr id="31" name="正方形/長方形 30">
            <a:extLst>
              <a:ext uri="{FF2B5EF4-FFF2-40B4-BE49-F238E27FC236}">
                <a16:creationId xmlns:a16="http://schemas.microsoft.com/office/drawing/2014/main" id="{CEDDFC60-E8D7-53E5-29AB-491B46062581}"/>
              </a:ext>
            </a:extLst>
          </p:cNvPr>
          <p:cNvSpPr/>
          <p:nvPr/>
        </p:nvSpPr>
        <p:spPr>
          <a:xfrm>
            <a:off x="7624715"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ポートフォリオ管理</a:t>
            </a:r>
          </a:p>
        </p:txBody>
      </p:sp>
      <p:cxnSp>
        <p:nvCxnSpPr>
          <p:cNvPr id="42" name="直線矢印コネクタ 41">
            <a:extLst>
              <a:ext uri="{FF2B5EF4-FFF2-40B4-BE49-F238E27FC236}">
                <a16:creationId xmlns:a16="http://schemas.microsoft.com/office/drawing/2014/main" id="{8A159E78-87BC-7C78-C4AD-93099361C2FB}"/>
              </a:ext>
            </a:extLst>
          </p:cNvPr>
          <p:cNvCxnSpPr>
            <a:cxnSpLocks/>
            <a:stCxn id="29" idx="3"/>
            <a:endCxn id="11" idx="1"/>
          </p:cNvCxnSpPr>
          <p:nvPr/>
        </p:nvCxnSpPr>
        <p:spPr>
          <a:xfrm>
            <a:off x="4848775"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5" name="直線矢印コネクタ 54">
            <a:extLst>
              <a:ext uri="{FF2B5EF4-FFF2-40B4-BE49-F238E27FC236}">
                <a16:creationId xmlns:a16="http://schemas.microsoft.com/office/drawing/2014/main" id="{A5AABAC9-3DA1-49BF-ABB4-16BE49633534}"/>
              </a:ext>
            </a:extLst>
          </p:cNvPr>
          <p:cNvCxnSpPr>
            <a:cxnSpLocks/>
            <a:stCxn id="27" idx="3"/>
            <a:endCxn id="29" idx="1"/>
          </p:cNvCxnSpPr>
          <p:nvPr/>
        </p:nvCxnSpPr>
        <p:spPr>
          <a:xfrm>
            <a:off x="3551284"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7" name="直線矢印コネクタ 66">
            <a:extLst>
              <a:ext uri="{FF2B5EF4-FFF2-40B4-BE49-F238E27FC236}">
                <a16:creationId xmlns:a16="http://schemas.microsoft.com/office/drawing/2014/main" id="{F7135CE9-8E2D-50DC-5C4B-DD0ABDCB84E7}"/>
              </a:ext>
            </a:extLst>
          </p:cNvPr>
          <p:cNvCxnSpPr>
            <a:cxnSpLocks/>
            <a:stCxn id="11" idx="3"/>
            <a:endCxn id="7" idx="1"/>
          </p:cNvCxnSpPr>
          <p:nvPr/>
        </p:nvCxnSpPr>
        <p:spPr>
          <a:xfrm>
            <a:off x="6146266"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7" name="直線矢印コネクタ 86">
            <a:extLst>
              <a:ext uri="{FF2B5EF4-FFF2-40B4-BE49-F238E27FC236}">
                <a16:creationId xmlns:a16="http://schemas.microsoft.com/office/drawing/2014/main" id="{107D0E6E-1AFA-5755-2965-4D706C03A933}"/>
              </a:ext>
            </a:extLst>
          </p:cNvPr>
          <p:cNvCxnSpPr>
            <a:cxnSpLocks/>
            <a:stCxn id="7" idx="3"/>
            <a:endCxn id="31" idx="1"/>
          </p:cNvCxnSpPr>
          <p:nvPr/>
        </p:nvCxnSpPr>
        <p:spPr>
          <a:xfrm>
            <a:off x="7443757" y="1566252"/>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8" name="正方形/長方形 97">
            <a:extLst>
              <a:ext uri="{FF2B5EF4-FFF2-40B4-BE49-F238E27FC236}">
                <a16:creationId xmlns:a16="http://schemas.microsoft.com/office/drawing/2014/main" id="{AF65A10C-C635-74BB-2B48-88FAF2287CCE}"/>
              </a:ext>
            </a:extLst>
          </p:cNvPr>
          <p:cNvSpPr/>
          <p:nvPr/>
        </p:nvSpPr>
        <p:spPr>
          <a:xfrm>
            <a:off x="2297614" y="1982767"/>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altLang="ja-JP" sz="1000" b="1" u="sng" dirty="0">
                <a:solidFill>
                  <a:schemeClr val="accent3">
                    <a:lumMod val="10000"/>
                  </a:schemeClr>
                </a:solidFill>
                <a:latin typeface="Meiryo UI" panose="020B0604030504040204" pitchFamily="50" charset="-128"/>
                <a:ea typeface="Meiryo UI" panose="020B0604030504040204" pitchFamily="50" charset="-128"/>
              </a:rPr>
              <a:t>AI</a:t>
            </a:r>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エージェント設計・開発管理</a:t>
            </a:r>
          </a:p>
        </p:txBody>
      </p:sp>
      <p:sp>
        <p:nvSpPr>
          <p:cNvPr id="100" name="正方形/長方形 99">
            <a:extLst>
              <a:ext uri="{FF2B5EF4-FFF2-40B4-BE49-F238E27FC236}">
                <a16:creationId xmlns:a16="http://schemas.microsoft.com/office/drawing/2014/main" id="{EDC07026-583C-F94B-FC7A-FC724E3D9DC5}"/>
              </a:ext>
            </a:extLst>
          </p:cNvPr>
          <p:cNvSpPr/>
          <p:nvPr/>
        </p:nvSpPr>
        <p:spPr>
          <a:xfrm>
            <a:off x="6327225"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テスト</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B5ACDDEA-6609-D4E7-C291-FFD1B3F6B955}"/>
              </a:ext>
            </a:extLst>
          </p:cNvPr>
          <p:cNvSpPr/>
          <p:nvPr/>
        </p:nvSpPr>
        <p:spPr>
          <a:xfrm>
            <a:off x="5029734"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開発</a:t>
            </a:r>
          </a:p>
        </p:txBody>
      </p:sp>
      <p:sp>
        <p:nvSpPr>
          <p:cNvPr id="102" name="正方形/長方形 101">
            <a:extLst>
              <a:ext uri="{FF2B5EF4-FFF2-40B4-BE49-F238E27FC236}">
                <a16:creationId xmlns:a16="http://schemas.microsoft.com/office/drawing/2014/main" id="{2BAC8BA1-96D1-0D61-8214-E6C118277762}"/>
              </a:ext>
            </a:extLst>
          </p:cNvPr>
          <p:cNvSpPr/>
          <p:nvPr/>
        </p:nvSpPr>
        <p:spPr>
          <a:xfrm>
            <a:off x="2434752"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要件定義</a:t>
            </a:r>
          </a:p>
        </p:txBody>
      </p:sp>
      <p:sp>
        <p:nvSpPr>
          <p:cNvPr id="103" name="正方形/長方形 102">
            <a:extLst>
              <a:ext uri="{FF2B5EF4-FFF2-40B4-BE49-F238E27FC236}">
                <a16:creationId xmlns:a16="http://schemas.microsoft.com/office/drawing/2014/main" id="{33AD3C8D-4C44-FBE1-5949-B1A634E1EDA7}"/>
              </a:ext>
            </a:extLst>
          </p:cNvPr>
          <p:cNvSpPr/>
          <p:nvPr/>
        </p:nvSpPr>
        <p:spPr>
          <a:xfrm>
            <a:off x="3732243"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設計</a:t>
            </a:r>
          </a:p>
        </p:txBody>
      </p:sp>
      <p:sp>
        <p:nvSpPr>
          <p:cNvPr id="104" name="正方形/長方形 103">
            <a:extLst>
              <a:ext uri="{FF2B5EF4-FFF2-40B4-BE49-F238E27FC236}">
                <a16:creationId xmlns:a16="http://schemas.microsoft.com/office/drawing/2014/main" id="{C0E0E2B3-377E-1C91-E2D7-D3B3004003A8}"/>
              </a:ext>
            </a:extLst>
          </p:cNvPr>
          <p:cNvSpPr/>
          <p:nvPr/>
        </p:nvSpPr>
        <p:spPr>
          <a:xfrm>
            <a:off x="7624715"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リリース</a:t>
            </a:r>
          </a:p>
        </p:txBody>
      </p:sp>
      <p:cxnSp>
        <p:nvCxnSpPr>
          <p:cNvPr id="105" name="直線矢印コネクタ 104">
            <a:extLst>
              <a:ext uri="{FF2B5EF4-FFF2-40B4-BE49-F238E27FC236}">
                <a16:creationId xmlns:a16="http://schemas.microsoft.com/office/drawing/2014/main" id="{35E2CE9F-EE66-A63D-E47E-8D13966A51BD}"/>
              </a:ext>
            </a:extLst>
          </p:cNvPr>
          <p:cNvCxnSpPr>
            <a:cxnSpLocks/>
            <a:stCxn id="103" idx="3"/>
            <a:endCxn id="101" idx="1"/>
          </p:cNvCxnSpPr>
          <p:nvPr/>
        </p:nvCxnSpPr>
        <p:spPr>
          <a:xfrm>
            <a:off x="4848775"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6" name="直線矢印コネクタ 105">
            <a:extLst>
              <a:ext uri="{FF2B5EF4-FFF2-40B4-BE49-F238E27FC236}">
                <a16:creationId xmlns:a16="http://schemas.microsoft.com/office/drawing/2014/main" id="{CDDB3AB7-B37A-5E6B-B9FE-0B5017B7BF79}"/>
              </a:ext>
            </a:extLst>
          </p:cNvPr>
          <p:cNvCxnSpPr>
            <a:cxnSpLocks/>
            <a:stCxn id="102" idx="3"/>
            <a:endCxn id="103" idx="1"/>
          </p:cNvCxnSpPr>
          <p:nvPr/>
        </p:nvCxnSpPr>
        <p:spPr>
          <a:xfrm>
            <a:off x="3551284"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7" name="直線矢印コネクタ 106">
            <a:extLst>
              <a:ext uri="{FF2B5EF4-FFF2-40B4-BE49-F238E27FC236}">
                <a16:creationId xmlns:a16="http://schemas.microsoft.com/office/drawing/2014/main" id="{F68ABF20-0F35-B5B4-A37D-C3D0CA319571}"/>
              </a:ext>
            </a:extLst>
          </p:cNvPr>
          <p:cNvCxnSpPr>
            <a:cxnSpLocks/>
            <a:stCxn id="101" idx="3"/>
            <a:endCxn id="100" idx="1"/>
          </p:cNvCxnSpPr>
          <p:nvPr/>
        </p:nvCxnSpPr>
        <p:spPr>
          <a:xfrm>
            <a:off x="6146266"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8" name="直線矢印コネクタ 107">
            <a:extLst>
              <a:ext uri="{FF2B5EF4-FFF2-40B4-BE49-F238E27FC236}">
                <a16:creationId xmlns:a16="http://schemas.microsoft.com/office/drawing/2014/main" id="{BC68242A-12B0-9937-33A2-234784E45D63}"/>
              </a:ext>
            </a:extLst>
          </p:cNvPr>
          <p:cNvCxnSpPr>
            <a:cxnSpLocks/>
            <a:stCxn id="100" idx="3"/>
            <a:endCxn id="104" idx="1"/>
          </p:cNvCxnSpPr>
          <p:nvPr/>
        </p:nvCxnSpPr>
        <p:spPr>
          <a:xfrm>
            <a:off x="7443757" y="2340825"/>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1" name="正方形/長方形 110">
            <a:extLst>
              <a:ext uri="{FF2B5EF4-FFF2-40B4-BE49-F238E27FC236}">
                <a16:creationId xmlns:a16="http://schemas.microsoft.com/office/drawing/2014/main" id="{A5130592-E5E3-0B4D-06FB-6BFAD1E7C953}"/>
              </a:ext>
            </a:extLst>
          </p:cNvPr>
          <p:cNvSpPr/>
          <p:nvPr/>
        </p:nvSpPr>
        <p:spPr>
          <a:xfrm>
            <a:off x="2297614" y="2757340"/>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データ基盤管理</a:t>
            </a:r>
          </a:p>
        </p:txBody>
      </p:sp>
      <p:sp>
        <p:nvSpPr>
          <p:cNvPr id="115" name="正方形/長方形 114">
            <a:extLst>
              <a:ext uri="{FF2B5EF4-FFF2-40B4-BE49-F238E27FC236}">
                <a16:creationId xmlns:a16="http://schemas.microsoft.com/office/drawing/2014/main" id="{FB320905-7A75-A2FF-E100-81DC44F287B4}"/>
              </a:ext>
            </a:extLst>
          </p:cNvPr>
          <p:cNvSpPr/>
          <p:nvPr/>
        </p:nvSpPr>
        <p:spPr>
          <a:xfrm>
            <a:off x="6327225"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メタデータ管理</a:t>
            </a:r>
          </a:p>
        </p:txBody>
      </p:sp>
      <p:sp>
        <p:nvSpPr>
          <p:cNvPr id="117" name="正方形/長方形 116">
            <a:extLst>
              <a:ext uri="{FF2B5EF4-FFF2-40B4-BE49-F238E27FC236}">
                <a16:creationId xmlns:a16="http://schemas.microsoft.com/office/drawing/2014/main" id="{0F43B550-3555-0E3C-B5D9-C8C93B7C7FEE}"/>
              </a:ext>
            </a:extLst>
          </p:cNvPr>
          <p:cNvSpPr/>
          <p:nvPr/>
        </p:nvSpPr>
        <p:spPr>
          <a:xfrm>
            <a:off x="5029734"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データ品質管理</a:t>
            </a:r>
          </a:p>
        </p:txBody>
      </p:sp>
      <p:sp>
        <p:nvSpPr>
          <p:cNvPr id="120" name="正方形/長方形 119">
            <a:extLst>
              <a:ext uri="{FF2B5EF4-FFF2-40B4-BE49-F238E27FC236}">
                <a16:creationId xmlns:a16="http://schemas.microsoft.com/office/drawing/2014/main" id="{7883EF4E-0C51-DDCD-3129-0BE99E6735A4}"/>
              </a:ext>
            </a:extLst>
          </p:cNvPr>
          <p:cNvSpPr/>
          <p:nvPr/>
        </p:nvSpPr>
        <p:spPr>
          <a:xfrm>
            <a:off x="2434752"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データ要件定義</a:t>
            </a:r>
          </a:p>
        </p:txBody>
      </p:sp>
      <p:sp>
        <p:nvSpPr>
          <p:cNvPr id="121" name="正方形/長方形 120">
            <a:extLst>
              <a:ext uri="{FF2B5EF4-FFF2-40B4-BE49-F238E27FC236}">
                <a16:creationId xmlns:a16="http://schemas.microsoft.com/office/drawing/2014/main" id="{1BB75778-4DAD-86AA-E159-4668D06AB946}"/>
              </a:ext>
            </a:extLst>
          </p:cNvPr>
          <p:cNvSpPr/>
          <p:nvPr/>
        </p:nvSpPr>
        <p:spPr>
          <a:xfrm>
            <a:off x="3732243"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データモデル設計</a:t>
            </a:r>
          </a:p>
        </p:txBody>
      </p:sp>
      <p:sp>
        <p:nvSpPr>
          <p:cNvPr id="123" name="正方形/長方形 122">
            <a:extLst>
              <a:ext uri="{FF2B5EF4-FFF2-40B4-BE49-F238E27FC236}">
                <a16:creationId xmlns:a16="http://schemas.microsoft.com/office/drawing/2014/main" id="{35361980-D165-DFA5-7D0F-8EB6F5CEC5C4}"/>
              </a:ext>
            </a:extLst>
          </p:cNvPr>
          <p:cNvSpPr/>
          <p:nvPr/>
        </p:nvSpPr>
        <p:spPr>
          <a:xfrm>
            <a:off x="7624715"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KPI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a:t>
            </a:r>
            <a:r>
              <a:rPr lang="ja-JP" altLang="en-US" sz="1000" dirty="0">
                <a:solidFill>
                  <a:schemeClr val="accent3">
                    <a:lumMod val="10000"/>
                  </a:schemeClr>
                </a:solidFill>
                <a:latin typeface="Meiryo UI" panose="020B0604030504040204" pitchFamily="50" charset="-128"/>
                <a:ea typeface="Meiryo UI" panose="020B0604030504040204" pitchFamily="50" charset="-128"/>
              </a:rPr>
              <a:t>可視化設計</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cxnSp>
        <p:nvCxnSpPr>
          <p:cNvPr id="124" name="直線矢印コネクタ 123">
            <a:extLst>
              <a:ext uri="{FF2B5EF4-FFF2-40B4-BE49-F238E27FC236}">
                <a16:creationId xmlns:a16="http://schemas.microsoft.com/office/drawing/2014/main" id="{69187923-44A8-CE5B-BCB3-19B4DCD4FD16}"/>
              </a:ext>
            </a:extLst>
          </p:cNvPr>
          <p:cNvCxnSpPr>
            <a:cxnSpLocks/>
            <a:stCxn id="121" idx="3"/>
            <a:endCxn id="117" idx="1"/>
          </p:cNvCxnSpPr>
          <p:nvPr/>
        </p:nvCxnSpPr>
        <p:spPr>
          <a:xfrm>
            <a:off x="4848775"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5" name="直線矢印コネクタ 124">
            <a:extLst>
              <a:ext uri="{FF2B5EF4-FFF2-40B4-BE49-F238E27FC236}">
                <a16:creationId xmlns:a16="http://schemas.microsoft.com/office/drawing/2014/main" id="{FFBD2729-CC96-8DBF-96FF-9A974905414C}"/>
              </a:ext>
            </a:extLst>
          </p:cNvPr>
          <p:cNvCxnSpPr>
            <a:cxnSpLocks/>
            <a:stCxn id="120" idx="3"/>
            <a:endCxn id="121" idx="1"/>
          </p:cNvCxnSpPr>
          <p:nvPr/>
        </p:nvCxnSpPr>
        <p:spPr>
          <a:xfrm>
            <a:off x="3551284"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6" name="直線矢印コネクタ 125">
            <a:extLst>
              <a:ext uri="{FF2B5EF4-FFF2-40B4-BE49-F238E27FC236}">
                <a16:creationId xmlns:a16="http://schemas.microsoft.com/office/drawing/2014/main" id="{39833238-9CB1-14C8-2387-2720E5DE76E6}"/>
              </a:ext>
            </a:extLst>
          </p:cNvPr>
          <p:cNvCxnSpPr>
            <a:cxnSpLocks/>
            <a:stCxn id="117" idx="3"/>
            <a:endCxn id="115" idx="1"/>
          </p:cNvCxnSpPr>
          <p:nvPr/>
        </p:nvCxnSpPr>
        <p:spPr>
          <a:xfrm>
            <a:off x="6146266"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2" name="直線矢印コネクタ 131">
            <a:extLst>
              <a:ext uri="{FF2B5EF4-FFF2-40B4-BE49-F238E27FC236}">
                <a16:creationId xmlns:a16="http://schemas.microsoft.com/office/drawing/2014/main" id="{8FD10E31-1B44-808F-5816-E2E59F7AE661}"/>
              </a:ext>
            </a:extLst>
          </p:cNvPr>
          <p:cNvCxnSpPr>
            <a:cxnSpLocks/>
            <a:stCxn id="115" idx="3"/>
            <a:endCxn id="123" idx="1"/>
          </p:cNvCxnSpPr>
          <p:nvPr/>
        </p:nvCxnSpPr>
        <p:spPr>
          <a:xfrm>
            <a:off x="7443757" y="3115398"/>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4" name="正方形/長方形 133">
            <a:extLst>
              <a:ext uri="{FF2B5EF4-FFF2-40B4-BE49-F238E27FC236}">
                <a16:creationId xmlns:a16="http://schemas.microsoft.com/office/drawing/2014/main" id="{A407DE5E-0892-B5E7-EF74-43725B899AF4}"/>
              </a:ext>
            </a:extLst>
          </p:cNvPr>
          <p:cNvSpPr/>
          <p:nvPr/>
        </p:nvSpPr>
        <p:spPr>
          <a:xfrm>
            <a:off x="2297614" y="3531913"/>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運用管理</a:t>
            </a:r>
          </a:p>
        </p:txBody>
      </p:sp>
      <p:sp>
        <p:nvSpPr>
          <p:cNvPr id="138" name="正方形/長方形 137">
            <a:extLst>
              <a:ext uri="{FF2B5EF4-FFF2-40B4-BE49-F238E27FC236}">
                <a16:creationId xmlns:a16="http://schemas.microsoft.com/office/drawing/2014/main" id="{5A5E94E1-6D65-220A-EC83-35C1A32422D1}"/>
              </a:ext>
            </a:extLst>
          </p:cNvPr>
          <p:cNvSpPr/>
          <p:nvPr/>
        </p:nvSpPr>
        <p:spPr>
          <a:xfrm>
            <a:off x="6327225"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変更</a:t>
            </a:r>
          </a:p>
        </p:txBody>
      </p:sp>
      <p:sp>
        <p:nvSpPr>
          <p:cNvPr id="139" name="正方形/長方形 138">
            <a:extLst>
              <a:ext uri="{FF2B5EF4-FFF2-40B4-BE49-F238E27FC236}">
                <a16:creationId xmlns:a16="http://schemas.microsoft.com/office/drawing/2014/main" id="{1B779B31-CAEF-9C39-ECF7-5FC56774F479}"/>
              </a:ext>
            </a:extLst>
          </p:cNvPr>
          <p:cNvSpPr/>
          <p:nvPr/>
        </p:nvSpPr>
        <p:spPr>
          <a:xfrm>
            <a:off x="5029734"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ログ</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42" name="正方形/長方形 141">
            <a:extLst>
              <a:ext uri="{FF2B5EF4-FFF2-40B4-BE49-F238E27FC236}">
                <a16:creationId xmlns:a16="http://schemas.microsoft.com/office/drawing/2014/main" id="{FC03537C-E728-3B94-96DE-30DEB207865C}"/>
              </a:ext>
            </a:extLst>
          </p:cNvPr>
          <p:cNvSpPr/>
          <p:nvPr/>
        </p:nvSpPr>
        <p:spPr>
          <a:xfrm>
            <a:off x="2434752"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監視</a:t>
            </a:r>
          </a:p>
        </p:txBody>
      </p:sp>
      <p:sp>
        <p:nvSpPr>
          <p:cNvPr id="143" name="正方形/長方形 142">
            <a:extLst>
              <a:ext uri="{FF2B5EF4-FFF2-40B4-BE49-F238E27FC236}">
                <a16:creationId xmlns:a16="http://schemas.microsoft.com/office/drawing/2014/main" id="{28D24C1E-F149-B095-52B7-573C65846D67}"/>
              </a:ext>
            </a:extLst>
          </p:cNvPr>
          <p:cNvSpPr/>
          <p:nvPr/>
        </p:nvSpPr>
        <p:spPr>
          <a:xfrm>
            <a:off x="3732243"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インシデント</a:t>
            </a:r>
          </a:p>
        </p:txBody>
      </p:sp>
      <p:sp>
        <p:nvSpPr>
          <p:cNvPr id="150" name="正方形/長方形 149">
            <a:extLst>
              <a:ext uri="{FF2B5EF4-FFF2-40B4-BE49-F238E27FC236}">
                <a16:creationId xmlns:a16="http://schemas.microsoft.com/office/drawing/2014/main" id="{4F201BC0-4F77-7BBD-E7EF-B64E31314728}"/>
              </a:ext>
            </a:extLst>
          </p:cNvPr>
          <p:cNvSpPr/>
          <p:nvPr/>
        </p:nvSpPr>
        <p:spPr>
          <a:xfrm>
            <a:off x="7624715"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SLA</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B7703DAD-F475-2365-695D-F3347084EAC4}"/>
              </a:ext>
            </a:extLst>
          </p:cNvPr>
          <p:cNvSpPr/>
          <p:nvPr/>
        </p:nvSpPr>
        <p:spPr>
          <a:xfrm>
            <a:off x="2297614" y="4306486"/>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セキュリティ・ガバナンス管理</a:t>
            </a:r>
          </a:p>
        </p:txBody>
      </p:sp>
      <p:sp>
        <p:nvSpPr>
          <p:cNvPr id="158" name="正方形/長方形 157">
            <a:extLst>
              <a:ext uri="{FF2B5EF4-FFF2-40B4-BE49-F238E27FC236}">
                <a16:creationId xmlns:a16="http://schemas.microsoft.com/office/drawing/2014/main" id="{6005AFBC-A8F3-C7BD-329F-D4239663D2F1}"/>
              </a:ext>
            </a:extLst>
          </p:cNvPr>
          <p:cNvSpPr/>
          <p:nvPr/>
        </p:nvSpPr>
        <p:spPr>
          <a:xfrm>
            <a:off x="6327225" y="4545634"/>
            <a:ext cx="1116532" cy="237820"/>
          </a:xfrm>
          <a:prstGeom prst="rect">
            <a:avLst/>
          </a:prstGeom>
          <a:solidFill>
            <a:srgbClr val="FFFFFF"/>
          </a:solidFill>
          <a:ln w="6350">
            <a:solidFill>
              <a:srgbClr val="969696"/>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defTabSz="1279942"/>
            <a:r>
              <a:rPr lang="ja-JP" altLang="en-US" sz="1000" dirty="0">
                <a:solidFill>
                  <a:srgbClr val="969696"/>
                </a:solidFill>
                <a:latin typeface="Meiryo UI" panose="020B0604030504040204" pitchFamily="50" charset="-128"/>
                <a:ea typeface="Meiryo UI" panose="020B0604030504040204" pitchFamily="50" charset="-128"/>
              </a:rPr>
              <a:t>監査ログ</a:t>
            </a:r>
          </a:p>
        </p:txBody>
      </p:sp>
      <p:sp>
        <p:nvSpPr>
          <p:cNvPr id="159" name="正方形/長方形 158">
            <a:extLst>
              <a:ext uri="{FF2B5EF4-FFF2-40B4-BE49-F238E27FC236}">
                <a16:creationId xmlns:a16="http://schemas.microsoft.com/office/drawing/2014/main" id="{46067A8A-5E7A-03A4-9969-B7C2FA15CB04}"/>
              </a:ext>
            </a:extLst>
          </p:cNvPr>
          <p:cNvSpPr/>
          <p:nvPr/>
        </p:nvSpPr>
        <p:spPr>
          <a:xfrm>
            <a:off x="5029734"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AI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ガバナンス</a:t>
            </a:r>
          </a:p>
        </p:txBody>
      </p:sp>
      <p:sp>
        <p:nvSpPr>
          <p:cNvPr id="160" name="正方形/長方形 159">
            <a:extLst>
              <a:ext uri="{FF2B5EF4-FFF2-40B4-BE49-F238E27FC236}">
                <a16:creationId xmlns:a16="http://schemas.microsoft.com/office/drawing/2014/main" id="{782CDC21-002F-01DC-A853-6873D62AF442}"/>
              </a:ext>
            </a:extLst>
          </p:cNvPr>
          <p:cNvSpPr/>
          <p:nvPr/>
        </p:nvSpPr>
        <p:spPr>
          <a:xfrm>
            <a:off x="2434752"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アクセス権</a:t>
            </a:r>
          </a:p>
        </p:txBody>
      </p:sp>
      <p:sp>
        <p:nvSpPr>
          <p:cNvPr id="167" name="正方形/長方形 166">
            <a:extLst>
              <a:ext uri="{FF2B5EF4-FFF2-40B4-BE49-F238E27FC236}">
                <a16:creationId xmlns:a16="http://schemas.microsoft.com/office/drawing/2014/main" id="{2420D439-968F-8DEF-C43F-C29D787B3E9E}"/>
              </a:ext>
            </a:extLst>
          </p:cNvPr>
          <p:cNvSpPr/>
          <p:nvPr/>
        </p:nvSpPr>
        <p:spPr>
          <a:xfrm>
            <a:off x="3732243"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データガバナンス</a:t>
            </a:r>
          </a:p>
        </p:txBody>
      </p:sp>
      <p:sp>
        <p:nvSpPr>
          <p:cNvPr id="168" name="正方形/長方形 167">
            <a:extLst>
              <a:ext uri="{FF2B5EF4-FFF2-40B4-BE49-F238E27FC236}">
                <a16:creationId xmlns:a16="http://schemas.microsoft.com/office/drawing/2014/main" id="{B86E5345-4C9D-4AB8-8D19-E118F874A0D8}"/>
              </a:ext>
            </a:extLst>
          </p:cNvPr>
          <p:cNvSpPr/>
          <p:nvPr/>
        </p:nvSpPr>
        <p:spPr>
          <a:xfrm>
            <a:off x="7624715" y="4545634"/>
            <a:ext cx="1116532" cy="237820"/>
          </a:xfrm>
          <a:prstGeom prst="rect">
            <a:avLst/>
          </a:prstGeom>
          <a:solidFill>
            <a:srgbClr val="FFFFFF"/>
          </a:solidFill>
          <a:ln w="6350">
            <a:solidFill>
              <a:srgbClr val="969696"/>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defTabSz="1279942"/>
            <a:r>
              <a:rPr lang="ja-JP" altLang="en-US" sz="1000" dirty="0">
                <a:solidFill>
                  <a:srgbClr val="969696"/>
                </a:solidFill>
                <a:latin typeface="Meiryo UI" panose="020B0604030504040204" pitchFamily="50" charset="-128"/>
                <a:ea typeface="Meiryo UI" panose="020B0604030504040204" pitchFamily="50" charset="-128"/>
              </a:rPr>
              <a:t>コンプライアンス対応</a:t>
            </a:r>
          </a:p>
        </p:txBody>
      </p:sp>
      <p:sp>
        <p:nvSpPr>
          <p:cNvPr id="6" name="正方形/長方形 5">
            <a:extLst>
              <a:ext uri="{FF2B5EF4-FFF2-40B4-BE49-F238E27FC236}">
                <a16:creationId xmlns:a16="http://schemas.microsoft.com/office/drawing/2014/main" id="{E7A248CC-AF00-EBA9-E358-B65DF495EF11}"/>
              </a:ext>
            </a:extLst>
          </p:cNvPr>
          <p:cNvSpPr/>
          <p:nvPr/>
        </p:nvSpPr>
        <p:spPr>
          <a:xfrm>
            <a:off x="2297614" y="5081059"/>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社内展開・教育</a:t>
            </a:r>
          </a:p>
        </p:txBody>
      </p:sp>
      <p:sp>
        <p:nvSpPr>
          <p:cNvPr id="9" name="正方形/長方形 8">
            <a:extLst>
              <a:ext uri="{FF2B5EF4-FFF2-40B4-BE49-F238E27FC236}">
                <a16:creationId xmlns:a16="http://schemas.microsoft.com/office/drawing/2014/main" id="{F4D4119B-51D9-3383-FFA0-F6D5513801B9}"/>
              </a:ext>
            </a:extLst>
          </p:cNvPr>
          <p:cNvSpPr/>
          <p:nvPr/>
        </p:nvSpPr>
        <p:spPr>
          <a:xfrm>
            <a:off x="6327225"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利用促進</a:t>
            </a:r>
          </a:p>
        </p:txBody>
      </p:sp>
      <p:sp>
        <p:nvSpPr>
          <p:cNvPr id="10" name="正方形/長方形 9">
            <a:extLst>
              <a:ext uri="{FF2B5EF4-FFF2-40B4-BE49-F238E27FC236}">
                <a16:creationId xmlns:a16="http://schemas.microsoft.com/office/drawing/2014/main" id="{4F37E8B3-39E7-3A4C-C705-9B4828D35A44}"/>
              </a:ext>
            </a:extLst>
          </p:cNvPr>
          <p:cNvSpPr/>
          <p:nvPr/>
        </p:nvSpPr>
        <p:spPr>
          <a:xfrm>
            <a:off x="5029734"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市民開発者支援</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99B823A2-0D1F-8CEC-0449-9D430D79867F}"/>
              </a:ext>
            </a:extLst>
          </p:cNvPr>
          <p:cNvSpPr/>
          <p:nvPr/>
        </p:nvSpPr>
        <p:spPr>
          <a:xfrm>
            <a:off x="2434752"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社内広報</a:t>
            </a:r>
          </a:p>
        </p:txBody>
      </p:sp>
      <p:sp>
        <p:nvSpPr>
          <p:cNvPr id="13" name="正方形/長方形 12">
            <a:extLst>
              <a:ext uri="{FF2B5EF4-FFF2-40B4-BE49-F238E27FC236}">
                <a16:creationId xmlns:a16="http://schemas.microsoft.com/office/drawing/2014/main" id="{B35550F0-7A8D-AD62-1010-E6FF0C99E502}"/>
              </a:ext>
            </a:extLst>
          </p:cNvPr>
          <p:cNvSpPr/>
          <p:nvPr/>
        </p:nvSpPr>
        <p:spPr>
          <a:xfrm>
            <a:off x="3732243"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業務</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トレーニング</a:t>
            </a:r>
          </a:p>
        </p:txBody>
      </p:sp>
      <p:sp>
        <p:nvSpPr>
          <p:cNvPr id="14" name="正方形/長方形 13">
            <a:extLst>
              <a:ext uri="{FF2B5EF4-FFF2-40B4-BE49-F238E27FC236}">
                <a16:creationId xmlns:a16="http://schemas.microsoft.com/office/drawing/2014/main" id="{4AB8D438-C6F8-55B2-F1EF-0A1293A71653}"/>
              </a:ext>
            </a:extLst>
          </p:cNvPr>
          <p:cNvSpPr/>
          <p:nvPr/>
        </p:nvSpPr>
        <p:spPr>
          <a:xfrm>
            <a:off x="7624715"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フィードバック収集</a:t>
            </a:r>
          </a:p>
        </p:txBody>
      </p:sp>
      <p:sp>
        <p:nvSpPr>
          <p:cNvPr id="16" name="正方形/長方形 15">
            <a:extLst>
              <a:ext uri="{FF2B5EF4-FFF2-40B4-BE49-F238E27FC236}">
                <a16:creationId xmlns:a16="http://schemas.microsoft.com/office/drawing/2014/main" id="{410BBBD9-6313-D3AE-9DE9-7BF5FF0C1A0E}"/>
              </a:ext>
            </a:extLst>
          </p:cNvPr>
          <p:cNvSpPr/>
          <p:nvPr/>
        </p:nvSpPr>
        <p:spPr>
          <a:xfrm>
            <a:off x="2297614" y="5855634"/>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プロダクト管理</a:t>
            </a:r>
          </a:p>
        </p:txBody>
      </p:sp>
      <p:sp>
        <p:nvSpPr>
          <p:cNvPr id="18" name="正方形/長方形 17">
            <a:extLst>
              <a:ext uri="{FF2B5EF4-FFF2-40B4-BE49-F238E27FC236}">
                <a16:creationId xmlns:a16="http://schemas.microsoft.com/office/drawing/2014/main" id="{0C7DFDD7-B500-AE19-6DC6-C8EABF01E2A8}"/>
              </a:ext>
            </a:extLst>
          </p:cNvPr>
          <p:cNvSpPr/>
          <p:nvPr/>
        </p:nvSpPr>
        <p:spPr>
          <a:xfrm>
            <a:off x="6327225"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横展開</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28400508-984C-F35C-B6FE-87D6C02F3AFB}"/>
              </a:ext>
            </a:extLst>
          </p:cNvPr>
          <p:cNvSpPr/>
          <p:nvPr/>
        </p:nvSpPr>
        <p:spPr>
          <a:xfrm>
            <a:off x="5029734"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バージョン管理</a:t>
            </a:r>
          </a:p>
        </p:txBody>
      </p:sp>
      <p:sp>
        <p:nvSpPr>
          <p:cNvPr id="20" name="正方形/長方形 19">
            <a:extLst>
              <a:ext uri="{FF2B5EF4-FFF2-40B4-BE49-F238E27FC236}">
                <a16:creationId xmlns:a16="http://schemas.microsoft.com/office/drawing/2014/main" id="{220A342B-803D-2A9F-7073-49279F468BBC}"/>
              </a:ext>
            </a:extLst>
          </p:cNvPr>
          <p:cNvSpPr/>
          <p:nvPr/>
        </p:nvSpPr>
        <p:spPr>
          <a:xfrm>
            <a:off x="2434752"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標準化</a:t>
            </a:r>
          </a:p>
        </p:txBody>
      </p:sp>
      <p:sp>
        <p:nvSpPr>
          <p:cNvPr id="21" name="正方形/長方形 20">
            <a:extLst>
              <a:ext uri="{FF2B5EF4-FFF2-40B4-BE49-F238E27FC236}">
                <a16:creationId xmlns:a16="http://schemas.microsoft.com/office/drawing/2014/main" id="{3A46C24C-BB8E-E559-2C47-61C48706CB0A}"/>
              </a:ext>
            </a:extLst>
          </p:cNvPr>
          <p:cNvSpPr/>
          <p:nvPr/>
        </p:nvSpPr>
        <p:spPr>
          <a:xfrm>
            <a:off x="3732243"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コンポーネント管理</a:t>
            </a:r>
          </a:p>
        </p:txBody>
      </p:sp>
      <p:sp>
        <p:nvSpPr>
          <p:cNvPr id="22" name="正方形/長方形 21">
            <a:extLst>
              <a:ext uri="{FF2B5EF4-FFF2-40B4-BE49-F238E27FC236}">
                <a16:creationId xmlns:a16="http://schemas.microsoft.com/office/drawing/2014/main" id="{746BD141-2313-78F2-CF7F-44624E22471C}"/>
              </a:ext>
            </a:extLst>
          </p:cNvPr>
          <p:cNvSpPr/>
          <p:nvPr/>
        </p:nvSpPr>
        <p:spPr>
          <a:xfrm>
            <a:off x="7624715"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技術戦略</a:t>
            </a:r>
          </a:p>
        </p:txBody>
      </p:sp>
      <p:sp>
        <p:nvSpPr>
          <p:cNvPr id="24" name="四角形: 角を丸くする 23">
            <a:extLst>
              <a:ext uri="{FF2B5EF4-FFF2-40B4-BE49-F238E27FC236}">
                <a16:creationId xmlns:a16="http://schemas.microsoft.com/office/drawing/2014/main" id="{D9B831FD-6E8E-F51C-5130-DBCBAD561C2D}"/>
              </a:ext>
            </a:extLst>
          </p:cNvPr>
          <p:cNvSpPr/>
          <p:nvPr/>
        </p:nvSpPr>
        <p:spPr>
          <a:xfrm>
            <a:off x="1006303" y="1208194"/>
            <a:ext cx="911819" cy="5363556"/>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defTabSz="1279942"/>
            <a:r>
              <a:rPr lang="ja-JP" altLang="en-US" sz="1400" dirty="0">
                <a:solidFill>
                  <a:schemeClr val="bg1"/>
                </a:solidFill>
                <a:latin typeface="Meiryo UI" panose="020B0604030504040204" pitchFamily="50" charset="-128"/>
                <a:ea typeface="Meiryo UI" panose="020B0604030504040204" pitchFamily="50" charset="-128"/>
              </a:rPr>
              <a:t>ユーザー</a:t>
            </a:r>
          </a:p>
        </p:txBody>
      </p:sp>
      <p:cxnSp>
        <p:nvCxnSpPr>
          <p:cNvPr id="25" name="直線矢印コネクタ 24">
            <a:extLst>
              <a:ext uri="{FF2B5EF4-FFF2-40B4-BE49-F238E27FC236}">
                <a16:creationId xmlns:a16="http://schemas.microsoft.com/office/drawing/2014/main" id="{2BA66899-7915-42FF-2BEF-37A7E757EBB1}"/>
              </a:ext>
            </a:extLst>
          </p:cNvPr>
          <p:cNvCxnSpPr>
            <a:cxnSpLocks/>
            <a:endCxn id="27" idx="1"/>
          </p:cNvCxnSpPr>
          <p:nvPr/>
        </p:nvCxnSpPr>
        <p:spPr>
          <a:xfrm>
            <a:off x="1914105" y="1566252"/>
            <a:ext cx="52064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4" name="直線矢印コネクタ 93">
            <a:extLst>
              <a:ext uri="{FF2B5EF4-FFF2-40B4-BE49-F238E27FC236}">
                <a16:creationId xmlns:a16="http://schemas.microsoft.com/office/drawing/2014/main" id="{92F8849C-37D1-FDBB-10D2-3969C69D7533}"/>
              </a:ext>
            </a:extLst>
          </p:cNvPr>
          <p:cNvCxnSpPr>
            <a:cxnSpLocks/>
          </p:cNvCxnSpPr>
          <p:nvPr/>
        </p:nvCxnSpPr>
        <p:spPr>
          <a:xfrm rot="10800000">
            <a:off x="1914105" y="5446886"/>
            <a:ext cx="52064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0" name="四角形: 角を丸くする 109">
            <a:extLst>
              <a:ext uri="{FF2B5EF4-FFF2-40B4-BE49-F238E27FC236}">
                <a16:creationId xmlns:a16="http://schemas.microsoft.com/office/drawing/2014/main" id="{571E6DCE-A803-8ACF-370A-C2375DA94C84}"/>
              </a:ext>
            </a:extLst>
          </p:cNvPr>
          <p:cNvSpPr/>
          <p:nvPr/>
        </p:nvSpPr>
        <p:spPr>
          <a:xfrm>
            <a:off x="9366077" y="3771062"/>
            <a:ext cx="911819" cy="280068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defTabSz="1279942"/>
            <a:r>
              <a:rPr lang="ja-JP" altLang="en-US" sz="1400" dirty="0">
                <a:solidFill>
                  <a:schemeClr val="bg1"/>
                </a:solidFill>
                <a:latin typeface="Meiryo UI" panose="020B0604030504040204" pitchFamily="50" charset="-128"/>
                <a:ea typeface="Meiryo UI" panose="020B0604030504040204" pitchFamily="50" charset="-128"/>
              </a:rPr>
              <a:t>インフラ</a:t>
            </a:r>
          </a:p>
        </p:txBody>
      </p:sp>
    </p:spTree>
    <p:extLst>
      <p:ext uri="{BB962C8B-B14F-4D97-AF65-F5344CB8AC3E}">
        <p14:creationId xmlns:p14="http://schemas.microsoft.com/office/powerpoint/2010/main" val="34210775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lIns="36000" tIns="36000" rIns="36000" bIns="36000" rtlCol="0" anchor="ctr"/>
      <a:lstStyle>
        <a:defPPr algn="ctr">
          <a:defRPr kumimoji="1" sz="1400" dirty="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4.xml><?xml version="1.0" encoding="utf-8"?>
<a:theme xmlns:a="http://schemas.openxmlformats.org/drawingml/2006/main" name="5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BC7193C5000614D902DFE8DB2D504A0" ma:contentTypeVersion="10" ma:contentTypeDescription="新しいドキュメントを作成します。" ma:contentTypeScope="" ma:versionID="5bdfb082c6b5f485876ed098d1aba435">
  <xsd:schema xmlns:xsd="http://www.w3.org/2001/XMLSchema" xmlns:xs="http://www.w3.org/2001/XMLSchema" xmlns:p="http://schemas.microsoft.com/office/2006/metadata/properties" xmlns:ns2="6d1bb7b3-1a78-4edb-9d24-6d6293c5661b" xmlns:ns3="f52ec0e6-5720-4074-b74f-ed0a3473655d" targetNamespace="http://schemas.microsoft.com/office/2006/metadata/properties" ma:root="true" ma:fieldsID="f9a05aec5cbd8dcc8973064e25e971cd" ns2:_="" ns3:_="">
    <xsd:import namespace="6d1bb7b3-1a78-4edb-9d24-6d6293c5661b"/>
    <xsd:import namespace="f52ec0e6-5720-4074-b74f-ed0a3473655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bb7b3-1a78-4edb-9d24-6d6293c566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52ec0e6-5720-4074-b74f-ed0a3473655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f52ec0e6-5720-4074-b74f-ed0a3473655d">
      <UserInfo>
        <DisplayName>木村 茂史</DisplayName>
        <AccountId>15</AccountId>
        <AccountType/>
      </UserInfo>
      <UserInfo>
        <DisplayName>山形 舞</DisplayName>
        <AccountId>16</AccountId>
        <AccountType/>
      </UserInfo>
      <UserInfo>
        <DisplayName>佐々木 愛</DisplayName>
        <AccountId>17</AccountId>
        <AccountType/>
      </UserInfo>
      <UserInfo>
        <DisplayName>丸田 志穂</DisplayName>
        <AccountId>18</AccountId>
        <AccountType/>
      </UserInfo>
      <UserInfo>
        <DisplayName>坂口 諒</DisplayName>
        <AccountId>19</AccountId>
        <AccountType/>
      </UserInfo>
    </SharedWithUsers>
  </documentManagement>
</p:properties>
</file>

<file path=customXml/itemProps1.xml><?xml version="1.0" encoding="utf-8"?>
<ds:datastoreItem xmlns:ds="http://schemas.openxmlformats.org/officeDocument/2006/customXml" ds:itemID="{4DEF686A-51F8-4D09-A86E-1ADB230C3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bb7b3-1a78-4edb-9d24-6d6293c5661b"/>
    <ds:schemaRef ds:uri="f52ec0e6-5720-4074-b74f-ed0a347365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141BD7-758F-4617-9716-1DCB9409EBDD}">
  <ds:schemaRefs>
    <ds:schemaRef ds:uri="http://schemas.microsoft.com/sharepoint/v3/contenttype/forms"/>
  </ds:schemaRefs>
</ds:datastoreItem>
</file>

<file path=customXml/itemProps3.xml><?xml version="1.0" encoding="utf-8"?>
<ds:datastoreItem xmlns:ds="http://schemas.openxmlformats.org/officeDocument/2006/customXml" ds:itemID="{9412C807-2F06-4126-A938-618AA2560249}">
  <ds:schemaRefs>
    <ds:schemaRef ds:uri="http://schemas.microsoft.com/office/infopath/2007/PartnerControls"/>
    <ds:schemaRef ds:uri="95670f31-b13c-4631-9652-d49cf141d6c8"/>
    <ds:schemaRef ds:uri="http://purl.org/dc/terms/"/>
    <ds:schemaRef ds:uri="c5c3b17e-7e15-4423-952c-b54f49294368"/>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www.w3.org/XML/1998/namespace"/>
    <ds:schemaRef ds:uri="http://purl.org/dc/dcmitype/"/>
    <ds:schemaRef ds:uri="ba719917-70bb-4a4b-8475-53935d678f0b"/>
    <ds:schemaRef ds:uri="cb179e9c-c8c9-4517-ab57-212c427650ba"/>
    <ds:schemaRef ds:uri="f52ec0e6-5720-4074-b74f-ed0a3473655d"/>
  </ds:schemaRefs>
</ds:datastoreItem>
</file>

<file path=docProps/app.xml><?xml version="1.0" encoding="utf-8"?>
<Properties xmlns="http://schemas.openxmlformats.org/officeDocument/2006/extended-properties" xmlns:vt="http://schemas.openxmlformats.org/officeDocument/2006/docPropsVTypes">
  <TotalTime>5905</TotalTime>
  <Words>1722</Words>
  <Application>Microsoft Office PowerPoint</Application>
  <PresentationFormat>ワイド画面</PresentationFormat>
  <Paragraphs>277</Paragraphs>
  <Slides>6</Slides>
  <Notes>4</Notes>
  <HiddenSlides>0</HiddenSlides>
  <MMClips>0</MMClips>
  <ScaleCrop>false</ScaleCrop>
  <HeadingPairs>
    <vt:vector size="8" baseType="variant">
      <vt:variant>
        <vt:lpstr>使用されているフォント</vt:lpstr>
      </vt:variant>
      <vt:variant>
        <vt:i4>5</vt:i4>
      </vt:variant>
      <vt:variant>
        <vt:lpstr>テーマ</vt:lpstr>
      </vt:variant>
      <vt:variant>
        <vt:i4>4</vt:i4>
      </vt:variant>
      <vt:variant>
        <vt:lpstr>埋め込まれた OLE サーバー</vt:lpstr>
      </vt:variant>
      <vt:variant>
        <vt:i4>1</vt:i4>
      </vt:variant>
      <vt:variant>
        <vt:lpstr>スライド タイトル</vt:lpstr>
      </vt:variant>
      <vt:variant>
        <vt:i4>6</vt:i4>
      </vt:variant>
    </vt:vector>
  </HeadingPairs>
  <TitlesOfParts>
    <vt:vector size="16" baseType="lpstr">
      <vt:lpstr>Meiryo UI</vt:lpstr>
      <vt:lpstr>MS UI Gothic</vt:lpstr>
      <vt:lpstr>游ゴシック</vt:lpstr>
      <vt:lpstr>Arial</vt:lpstr>
      <vt:lpstr>Wingdings</vt:lpstr>
      <vt:lpstr>企画書テンプレートRLS14ver</vt:lpstr>
      <vt:lpstr>3_企画書テンプレートRLS14ver</vt:lpstr>
      <vt:lpstr>4_企画書テンプレートRLS14ver</vt:lpstr>
      <vt:lpstr>5_企画書テンプレートRLS14ver</vt:lpstr>
      <vt:lpstr>think-cell スライド</vt:lpstr>
      <vt:lpstr>業務改革の目指す方向性と実現に必要な要素</vt:lpstr>
      <vt:lpstr>デジタルフィードバックループを踏襲したAIエージェントによるエコシステム</vt:lpstr>
      <vt:lpstr>構造化されたAIエージェント基盤のアーキテクチャ</vt:lpstr>
      <vt:lpstr>本プロジェクトにおけるLinkX Japan社の役割</vt:lpstr>
      <vt:lpstr>AIエージェント（n8n開発）活動スケジュール</vt:lpstr>
      <vt:lpstr>AI利活用推進G プロセスマップ</vt:lpstr>
    </vt:vector>
  </TitlesOfParts>
  <Company>RECRUIT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【前提】売上・債権の仕訳データ作成までのデータ流入経路</dc:title>
  <dc:creator>佐伯 奈々</dc:creator>
  <cp:lastModifiedBy>越智 啓人</cp:lastModifiedBy>
  <cp:revision>100</cp:revision>
  <dcterms:created xsi:type="dcterms:W3CDTF">2022-12-19T07:46:21Z</dcterms:created>
  <dcterms:modified xsi:type="dcterms:W3CDTF">2026-03-26T09:03:35Z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0x0101006BC7193C5000614D902DFE8DB2D504A0</vt:lpwstr>
  </property>
  <property fmtid="{D5CDD505-2E9C-101B-9397-08002B2CF9AE}" pid="3" name="MediaServiceImageTags">
    <vt:lpwstr/>
  </property>
</Properties>
</file>