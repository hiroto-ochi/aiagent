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removePersonalInfoOnSave="1" saveSubsetFonts="1">
  <p:sldMasterIdLst>
    <p:sldMasterId id="2147483649" r:id="rId1"/>
  </p:sldMasterIdLst>
  <p:notesMasterIdLst>
    <p:notesMasterId r:id="rId9"/>
  </p:notesMasterIdLst>
  <p:handoutMasterIdLst>
    <p:handoutMasterId r:id="rId10"/>
  </p:handoutMasterIdLst>
  <p:sldIdLst>
    <p:sldId id="2288" r:id="rId2"/>
    <p:sldId id="2469" r:id="rId3"/>
    <p:sldId id="2445" r:id="rId4"/>
    <p:sldId id="2459" r:id="rId5"/>
    <p:sldId id="2473" r:id="rId6"/>
    <p:sldId id="2470" r:id="rId7"/>
    <p:sldId id="2471" r:id="rId8"/>
  </p:sldIdLst>
  <p:sldSz cx="12192000" cy="6858000"/>
  <p:notesSz cx="6794500" cy="9931400"/>
  <p:custDataLst>
    <p:tags r:id="rId11"/>
  </p:custDataLst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6F4C5118-5BF6-4743-B540-2BD99DE54536}">
          <p14:sldIdLst>
            <p14:sldId id="2288"/>
            <p14:sldId id="2469"/>
          </p14:sldIdLst>
        </p14:section>
        <p14:section name="BPS導入詳細" id="{860C3F94-D63C-4B47-A1F5-43A59348C8B4}">
          <p14:sldIdLst>
            <p14:sldId id="2445"/>
            <p14:sldId id="2459"/>
          </p14:sldIdLst>
        </p14:section>
        <p14:section name="経理導入詳細" id="{5F9C928D-B74F-4618-8D0D-B936DB0E3AE1}">
          <p14:sldIdLst>
            <p14:sldId id="2473"/>
            <p14:sldId id="2470"/>
            <p14:sldId id="247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09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02" userDrawn="1">
          <p15:clr>
            <a:srgbClr val="A4A3A4"/>
          </p15:clr>
        </p15:guide>
        <p15:guide id="4" pos="737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8" name="作成者" initials="A" lastIdx="0" clrIdx="19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5BD"/>
    <a:srgbClr val="7F7F7F"/>
    <a:srgbClr val="FFFFFF"/>
    <a:srgbClr val="D4EAF7"/>
    <a:srgbClr val="DEEBF7"/>
    <a:srgbClr val="A6A6A6"/>
    <a:srgbClr val="DADADA"/>
    <a:srgbClr val="F2F2F2"/>
    <a:srgbClr val="A5A5A5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中間スタイル 4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FABFCF23-3B69-468F-B69F-88F6DE6A72F2}" styleName="中間スタイル 1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中間スタイル 1 - アクセント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505E3EF-67EA-436B-97B2-0124C06EBD24}" styleName="中間スタイル 4 - アクセント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EB9631B5-78F2-41C9-869B-9F39066F8104}" styleName="中間スタイル 3 - アクセント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083E6E3-FA7D-4D7B-A595-EF9225AFEA82}" styleName="淡色スタイル 1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中間スタイル 1 - アクセント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D5ABB26-0587-4C30-8999-92F81FD0307C}" styleName="スタイル/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93D81CF-94F2-401A-BA57-92F5A7B2D0C5}" styleName="スタイル (中間)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B344D84-9AFB-497E-A393-DC336BA19D2E}" styleName="中間スタイル 3 - アクセント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1EBBBCC-DAD2-459C-BE2E-F6DE35CF9A28}" styleName="濃色スタイル 2 - アクセント 3/アクセント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05" autoAdjust="0"/>
    <p:restoredTop sz="92308" autoAdjust="0"/>
  </p:normalViewPr>
  <p:slideViewPr>
    <p:cSldViewPr snapToGrid="0">
      <p:cViewPr>
        <p:scale>
          <a:sx n="70" d="100"/>
          <a:sy n="70" d="100"/>
        </p:scale>
        <p:origin x="548" y="128"/>
      </p:cViewPr>
      <p:guideLst>
        <p:guide orient="horz" pos="1094"/>
        <p:guide pos="3840"/>
        <p:guide pos="302"/>
        <p:guide pos="737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7" d="100"/>
          <a:sy n="107" d="100"/>
        </p:scale>
        <p:origin x="5272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46A3DD7F-997D-D412-5843-9A65F876888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EBCAC06-EDD0-51A3-C54B-EDF26FDBD51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810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0D93A3-C890-4699-AC68-B22E5ACAADEF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EBA20E4-E5EF-80DC-183F-DEEC93EEDCF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902E077-5A40-A477-FF87-FDED6F735E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810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41DE19-9B90-42AF-8896-EF3739682C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05276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4810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F15BF457-9B3F-4CCE-BE76-BABC711300F6}" type="datetimeFigureOut">
              <a:rPr lang="ja-JP" altLang="en-US" smtClean="0"/>
              <a:pPr>
                <a:defRPr/>
              </a:pPr>
              <a:t>2025/12/11</a:t>
            </a:fld>
            <a:endParaRPr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87313" y="744538"/>
            <a:ext cx="6619875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ja-JP" altLang="en-US" noProof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79450" y="4718050"/>
            <a:ext cx="5435600" cy="44688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32925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48100" y="9432925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1FBF1EA7-1322-4E8A-8143-24868A27BA7C}" type="slidenum">
              <a:rPr lang="ja-JP" altLang="en-US" smtClean="0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034362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b="0" i="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  <a:sym typeface="MS UI 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b="0" i="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  <a:sym typeface="MS UI Gothic" panose="020B0600070205080204" pitchFamily="34" charset="-128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b="0" i="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  <a:sym typeface="MS UI Gothic" panose="020B0600070205080204" pitchFamily="34" charset="-128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b="0" i="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  <a:sym typeface="MS UI Gothic" panose="020B0600070205080204" pitchFamily="34" charset="-128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b="0" i="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  <a:sym typeface="MS UI Gothic" panose="020B0600070205080204" pitchFamily="34" charset="-128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FBF1EA7-1322-4E8A-8143-24868A27BA7C}" type="slidenum">
              <a:rPr lang="ja-JP" altLang="en-US" smtClean="0"/>
              <a:pPr>
                <a:defRPr/>
              </a:pPr>
              <a:t>0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947788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D2CEB-6328-3518-B151-B2AF122BC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AE7578D-E2FE-6D86-BBCD-3B9DB0C65E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05A254B-327B-D800-25B5-AE1A672ED3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ja-JP" sz="1200">
              <a:solidFill>
                <a:srgbClr val="595959"/>
              </a:solidFill>
              <a:latin typeface="Meiryo UI" panose="020B0604030504040204" pitchFamily="50" charset="-128"/>
              <a:ea typeface="Meiryo UI" panose="020B0604030504040204" pitchFamily="50" charset="-128"/>
              <a:cs typeface="Hiragino Kaku Gothic Pro W3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2A112AE-1D96-A7D6-19A3-6A8623381C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FBF1EA7-1322-4E8A-8143-24868A27BA7C}" type="slidenum">
              <a:rPr lang="ja-JP" altLang="en-US" smtClean="0"/>
              <a:pPr>
                <a:defRPr/>
              </a:pPr>
              <a:t>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5279023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E9830-E127-9222-E729-76489F374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4F94533-D67A-4728-BCFA-10DBDF6871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58EE7A6-3327-FD29-B264-A99021B531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ja-JP" sz="1200">
              <a:solidFill>
                <a:srgbClr val="595959"/>
              </a:solidFill>
              <a:latin typeface="Meiryo UI" panose="020B0604030504040204" pitchFamily="50" charset="-128"/>
              <a:ea typeface="Meiryo UI" panose="020B0604030504040204" pitchFamily="50" charset="-128"/>
              <a:cs typeface="Hiragino Kaku Gothic Pro W3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A61B08C-E7D1-E5B9-E635-F8B158ADB5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FBF1EA7-1322-4E8A-8143-24868A27BA7C}" type="slidenum">
              <a:rPr lang="ja-JP" altLang="en-US" smtClean="0"/>
              <a:pPr>
                <a:defRPr/>
              </a:pPr>
              <a:t>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289693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A0D25-0C42-05BB-2B4E-480ECD211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F8B6C89-7DE4-6407-B98C-67A7227113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6E47C18-087D-6AE1-387C-3AA8CBE56B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ja-JP" sz="1200">
              <a:solidFill>
                <a:srgbClr val="595959"/>
              </a:solidFill>
              <a:latin typeface="Meiryo UI" panose="020B0604030504040204" pitchFamily="50" charset="-128"/>
              <a:ea typeface="Meiryo UI" panose="020B0604030504040204" pitchFamily="50" charset="-128"/>
              <a:cs typeface="Hiragino Kaku Gothic Pro W3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099F669-F5A3-584B-0D20-480B1F523B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FBF1EA7-1322-4E8A-8143-24868A27BA7C}" type="slidenum">
              <a:rPr lang="ja-JP" altLang="en-US" smtClean="0"/>
              <a:pPr>
                <a:defRPr/>
              </a:pPr>
              <a:t>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8039797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4D9C6-2C0E-D7A1-466C-998C772B5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1AB0E89-F5BC-D0D5-1F39-0CF0BA95DB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2CE2E52-854F-3538-9250-9FE689A0B5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ja-JP" sz="1200">
              <a:solidFill>
                <a:srgbClr val="595959"/>
              </a:solidFill>
              <a:latin typeface="Meiryo UI" panose="020B0604030504040204" pitchFamily="50" charset="-128"/>
              <a:ea typeface="Meiryo UI" panose="020B0604030504040204" pitchFamily="50" charset="-128"/>
              <a:cs typeface="Hiragino Kaku Gothic Pro W3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EF9BBCC-326D-AE91-6DED-1DA0123B42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FBF1EA7-1322-4E8A-8143-24868A27BA7C}" type="slidenum">
              <a:rPr lang="ja-JP" altLang="en-US" smtClean="0"/>
              <a:pPr>
                <a:defRPr/>
              </a:pPr>
              <a:t>4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9424616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888DC-50E9-5838-DA06-255262C44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58F3F7D-479D-F6A2-03B2-44CC0D6F2E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CCECE90-8BD9-D83E-E707-CE0A9D5675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ja-JP" sz="1200">
              <a:solidFill>
                <a:srgbClr val="595959"/>
              </a:solidFill>
              <a:latin typeface="Meiryo UI" panose="020B0604030504040204" pitchFamily="50" charset="-128"/>
              <a:ea typeface="Meiryo UI" panose="020B0604030504040204" pitchFamily="50" charset="-128"/>
              <a:cs typeface="Hiragino Kaku Gothic Pro W3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E369449-C591-9AF6-6807-18F235C138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FBF1EA7-1322-4E8A-8143-24868A27BA7C}" type="slidenum">
              <a:rPr lang="ja-JP" altLang="en-US" smtClean="0"/>
              <a:pPr>
                <a:defRPr/>
              </a:pPr>
              <a:t>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4338297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3342A-9F92-B837-E1FB-AC13A2FCE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CC1F882-B74C-28AC-0EFA-FDD4F274D8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3A827BD-E6E7-B078-D559-89BFD1B90F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ja-JP" sz="1200">
              <a:solidFill>
                <a:srgbClr val="595959"/>
              </a:solidFill>
              <a:latin typeface="Meiryo UI" panose="020B0604030504040204" pitchFamily="50" charset="-128"/>
              <a:ea typeface="Meiryo UI" panose="020B0604030504040204" pitchFamily="50" charset="-128"/>
              <a:cs typeface="Hiragino Kaku Gothic Pro W3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7E6F3FA-0815-06D0-48A1-E53C8F3BF4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FBF1EA7-1322-4E8A-8143-24868A27BA7C}" type="slidenum">
              <a:rPr lang="ja-JP" altLang="en-US" smtClean="0"/>
              <a:pPr>
                <a:defRPr/>
              </a:pPr>
              <a:t>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28342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2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4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5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6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7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8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9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0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1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692364C5-ABC3-0C4F-8E0D-6F66898789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1305754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692364C5-ABC3-0C4F-8E0D-6F66898789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41445" y="2362200"/>
            <a:ext cx="10363200" cy="1143000"/>
          </a:xfrm>
        </p:spPr>
        <p:txBody>
          <a:bodyPr/>
          <a:lstStyle>
            <a:lvl1pPr algn="r">
              <a:defRPr sz="240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370245" y="3141666"/>
            <a:ext cx="8534400" cy="719137"/>
          </a:xfrm>
        </p:spPr>
        <p:txBody>
          <a:bodyPr/>
          <a:lstStyle>
            <a:lvl1pPr marL="0" indent="0" algn="r">
              <a:spcBef>
                <a:spcPct val="0"/>
              </a:spcBef>
              <a:defRPr sz="1400" b="1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323E333F-0F6C-4FC7-A7F3-F21A7CDFE59D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8" name="正方形/長方形 7"/>
          <p:cNvSpPr/>
          <p:nvPr userDrawn="1"/>
        </p:nvSpPr>
        <p:spPr>
          <a:xfrm flipV="1">
            <a:off x="95333" y="3140971"/>
            <a:ext cx="11988000" cy="45719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kumimoji="1" lang="ja-JP" altLang="en-US" sz="1100" b="0" i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sym typeface="MS UI Gothic" panose="020B0600070205080204" pitchFamily="34" charset="-128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オブジェクト 6" hidden="1">
            <a:extLst>
              <a:ext uri="{FF2B5EF4-FFF2-40B4-BE49-F238E27FC236}">
                <a16:creationId xmlns:a16="http://schemas.microsoft.com/office/drawing/2014/main" id="{2539CB52-F8E0-324D-8D5D-5FB7D93F8C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7509716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7" name="オブジェクト 6" hidden="1">
                        <a:extLst>
                          <a:ext uri="{FF2B5EF4-FFF2-40B4-BE49-F238E27FC236}">
                            <a16:creationId xmlns:a16="http://schemas.microsoft.com/office/drawing/2014/main" id="{2539CB52-F8E0-324D-8D5D-5FB7D93F8C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36521" y="692699"/>
            <a:ext cx="11525251" cy="1007493"/>
          </a:xfrm>
        </p:spPr>
        <p:txBody>
          <a:bodyPr/>
          <a:lstStyle>
            <a:lvl1pPr marL="265113" indent="-265113">
              <a:buFont typeface="Arial" charset="0"/>
              <a:buChar char="•"/>
              <a:defRPr sz="1400" b="0" i="0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  <a:lvl2pPr>
              <a:defRPr sz="1400" b="0" i="0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2pPr>
            <a:lvl3pPr>
              <a:defRPr sz="1400" b="0" i="0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3pPr>
            <a:lvl4pPr>
              <a:defRPr sz="1400" b="0" i="0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4pPr>
            <a:lvl5pPr>
              <a:defRPr sz="1400" b="0" i="0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804833" y="6627168"/>
            <a:ext cx="2540000" cy="230832"/>
          </a:xfrm>
          <a:ln/>
        </p:spPr>
        <p:txBody>
          <a:bodyPr/>
          <a:lstStyle>
            <a:lvl1pPr>
              <a:defRPr sz="1100" b="0" i="0">
                <a:solidFill>
                  <a:schemeClr val="bg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EB72A429-DDC7-41CC-AC2C-79132BE59620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1CFF65B-A8B2-A742-960E-AEE2B0C95AC6}"/>
              </a:ext>
            </a:extLst>
          </p:cNvPr>
          <p:cNvSpPr txBox="1"/>
          <p:nvPr userDrawn="1"/>
        </p:nvSpPr>
        <p:spPr bwMode="auto">
          <a:xfrm>
            <a:off x="1" y="6629400"/>
            <a:ext cx="1276311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r>
              <a:rPr kumimoji="1" lang="en-US" altLang="ja-JP" sz="900" b="0" i="0">
                <a:solidFill>
                  <a:schemeClr val="bg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/>
                <a:sym typeface="MS UI Gothic" panose="020B0600070205080204" pitchFamily="34" charset="-128"/>
              </a:rPr>
              <a:t>Strictly Confidential</a:t>
            </a:r>
            <a:endParaRPr kumimoji="1" lang="ja-JP" altLang="en-US" sz="900" b="0" i="0">
              <a:solidFill>
                <a:schemeClr val="bg2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メイリオ"/>
              <a:sym typeface="MS UI Gothic" panose="020B0600070205080204" pitchFamily="34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E61E06D-0804-AA4D-AD56-81FE58AB9EB9}"/>
              </a:ext>
            </a:extLst>
          </p:cNvPr>
          <p:cNvSpPr txBox="1"/>
          <p:nvPr userDrawn="1"/>
        </p:nvSpPr>
        <p:spPr bwMode="auto">
          <a:xfrm>
            <a:off x="9713699" y="6629400"/>
            <a:ext cx="2473755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algn="r"/>
            <a:r>
              <a:rPr kumimoji="1" lang="en-US" altLang="ja-JP" sz="900" b="0" i="0" dirty="0">
                <a:solidFill>
                  <a:schemeClr val="bg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/>
                <a:sym typeface="MS UI Gothic" panose="020B0600070205080204" pitchFamily="34" charset="-128"/>
              </a:rPr>
              <a:t>All Rights Reserved Recruit Co, Ltd 2025</a:t>
            </a:r>
            <a:endParaRPr kumimoji="1" lang="ja-JP" altLang="en-US" sz="900" b="0" i="0" dirty="0">
              <a:solidFill>
                <a:schemeClr val="bg2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メイリオ"/>
              <a:sym typeface="MS UI Gothic" panose="020B0600070205080204" pitchFamily="34" charset="-128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オブジェクト 4" hidden="1">
            <a:extLst>
              <a:ext uri="{FF2B5EF4-FFF2-40B4-BE49-F238E27FC236}">
                <a16:creationId xmlns:a16="http://schemas.microsoft.com/office/drawing/2014/main" id="{C17DF3C4-48CE-2A4C-8633-E29AA26FCCD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4311113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5" name="オブジェクト 4" hidden="1">
                        <a:extLst>
                          <a:ext uri="{FF2B5EF4-FFF2-40B4-BE49-F238E27FC236}">
                            <a16:creationId xmlns:a16="http://schemas.microsoft.com/office/drawing/2014/main" id="{C17DF3C4-48CE-2A4C-8633-E29AA26FCC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2000" b="1" cap="all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CFE70743-B45D-4C2D-9F53-822380FBB922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AFF8BF78-A82D-144F-A06A-BED1933A7A6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4978939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AFF8BF78-A82D-144F-A06A-BED1933A7A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245535" y="692153"/>
            <a:ext cx="5659967" cy="5688013"/>
          </a:xfrm>
        </p:spPr>
        <p:txBody>
          <a:bodyPr/>
          <a:lstStyle>
            <a:lvl1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2pPr>
            <a:lvl3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3pPr>
            <a:lvl4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4pPr>
            <a:lvl5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6108702" y="692153"/>
            <a:ext cx="5662084" cy="5688013"/>
          </a:xfrm>
        </p:spPr>
        <p:txBody>
          <a:bodyPr/>
          <a:lstStyle>
            <a:lvl1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2pPr>
            <a:lvl3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3pPr>
            <a:lvl4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4pPr>
            <a:lvl5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702576F8-CB8C-4CDF-ACDC-D9135E817F8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オブジェクト 7" hidden="1">
            <a:extLst>
              <a:ext uri="{FF2B5EF4-FFF2-40B4-BE49-F238E27FC236}">
                <a16:creationId xmlns:a16="http://schemas.microsoft.com/office/drawing/2014/main" id="{9B29765F-6ABE-2E4D-B364-7AE8BACD5E5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94786087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8" name="オブジェクト 7" hidden="1">
                        <a:extLst>
                          <a:ext uri="{FF2B5EF4-FFF2-40B4-BE49-F238E27FC236}">
                            <a16:creationId xmlns:a16="http://schemas.microsoft.com/office/drawing/2014/main" id="{9B29765F-6ABE-2E4D-B364-7AE8BACD5E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7328" y="130622"/>
            <a:ext cx="10972800" cy="418058"/>
          </a:xfrm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400" b="1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2pPr>
            <a:lvl3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3pPr>
            <a:lvl4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4pPr>
            <a:lvl5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400" b="1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2pPr>
            <a:lvl3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3pPr>
            <a:lvl4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4pPr>
            <a:lvl5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D9A2BBE0-68D9-49E1-B41C-BF65AA65B2CB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4164698E-3811-7D49-917E-15A0B950E14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2615255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4164698E-3811-7D49-917E-15A0B950E1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FB6271AF-593C-4C79-9441-ADA0DF590AB0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>
            <a:extLst>
              <a:ext uri="{FF2B5EF4-FFF2-40B4-BE49-F238E27FC236}">
                <a16:creationId xmlns:a16="http://schemas.microsoft.com/office/drawing/2014/main" id="{24805EEF-BFD5-7E47-BA23-F01AA4AA677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4315357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3" name="オブジェクト 2" hidden="1">
                        <a:extLst>
                          <a:ext uri="{FF2B5EF4-FFF2-40B4-BE49-F238E27FC236}">
                            <a16:creationId xmlns:a16="http://schemas.microsoft.com/office/drawing/2014/main" id="{24805EEF-BFD5-7E47-BA23-F01AA4AA67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853161F5-28EC-49E7-9F6A-699FC97E3172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BB5EF93E-423E-0047-AE03-185A4C6EC3B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9561022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BB5EF93E-423E-0047-AE03-185A4C6EC3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>
              <a:defRPr sz="28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2pPr>
            <a:lvl3pPr>
              <a:defRPr sz="2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3pPr>
            <a:lvl4pPr>
              <a:defRPr sz="20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4pPr>
            <a:lvl5pPr>
              <a:defRPr sz="20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26120A1F-D72B-4AFE-8DCD-89ACC908B363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F44FC124-4ED1-5944-AD3A-7978DDA8400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765933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F44FC124-4ED1-5944-AD3A-7978DDA840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ja-JP" altLang="en-US" noProof="0"/>
              <a:t>アイコンをクリックして図を追加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2CBEFAA3-D428-4015-B0E7-F87178EBC26E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オブジェクト 4" hidden="1">
            <a:extLst>
              <a:ext uri="{FF2B5EF4-FFF2-40B4-BE49-F238E27FC236}">
                <a16:creationId xmlns:a16="http://schemas.microsoft.com/office/drawing/2014/main" id="{DAE9A338-8EF3-E24E-B257-6BFAC36AF9C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2315972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5" name="オブジェクト 4" hidden="1">
                        <a:extLst>
                          <a:ext uri="{FF2B5EF4-FFF2-40B4-BE49-F238E27FC236}">
                            <a16:creationId xmlns:a16="http://schemas.microsoft.com/office/drawing/2014/main" id="{DAE9A338-8EF3-E24E-B257-6BFAC36AF9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2pPr>
            <a:lvl3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3pPr>
            <a:lvl4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4pPr>
            <a:lvl5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757521FA-AC5D-4361-92AE-96CAB981DE4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オブジェクト 4" hidden="1">
            <a:extLst>
              <a:ext uri="{FF2B5EF4-FFF2-40B4-BE49-F238E27FC236}">
                <a16:creationId xmlns:a16="http://schemas.microsoft.com/office/drawing/2014/main" id="{A0440156-9821-C843-B741-1CF8406E458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8007288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5" name="オブジェクト 4" hidden="1">
                        <a:extLst>
                          <a:ext uri="{FF2B5EF4-FFF2-40B4-BE49-F238E27FC236}">
                            <a16:creationId xmlns:a16="http://schemas.microsoft.com/office/drawing/2014/main" id="{A0440156-9821-C843-B741-1CF8406E45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879419" y="152403"/>
            <a:ext cx="2891367" cy="6227763"/>
          </a:xfrm>
        </p:spPr>
        <p:txBody>
          <a:bodyPr vert="eaVert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203202" y="152403"/>
            <a:ext cx="8473017" cy="6227763"/>
          </a:xfrm>
        </p:spPr>
        <p:txBody>
          <a:bodyPr vert="eaVert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2pPr>
            <a:lvl3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3pPr>
            <a:lvl4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4pPr>
            <a:lvl5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1DD5941B-7BC5-40EA-BF7E-4FB4EBB3F66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NULL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>
            <a:extLst>
              <a:ext uri="{FF2B5EF4-FFF2-40B4-BE49-F238E27FC236}">
                <a16:creationId xmlns:a16="http://schemas.microsoft.com/office/drawing/2014/main" id="{83E84B6F-E227-A249-B3CD-988C6280650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549559407"/>
              </p:ext>
            </p:extLst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16" imgW="3886200" imgH="5029200" progId="TCLayout.ActiveDocument.1">
                  <p:embed/>
                </p:oleObj>
              </mc:Choice>
              <mc:Fallback>
                <p:oleObj name="think-cell スライド" r:id="rId16" imgW="3886200" imgH="5029200" progId="TCLayout.ActiveDocument.1">
                  <p:embed/>
                  <p:pic>
                    <p:nvPicPr>
                      <p:cNvPr id="3" name="オブジェクト 2" hidden="1">
                        <a:extLst>
                          <a:ext uri="{FF2B5EF4-FFF2-40B4-BE49-F238E27FC236}">
                            <a16:creationId xmlns:a16="http://schemas.microsoft.com/office/drawing/2014/main" id="{83E84B6F-E227-A249-B3CD-988C628065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/>
          <p:cNvSpPr/>
          <p:nvPr userDrawn="1">
            <p:custDataLst>
              <p:tags r:id="rId1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lvl="0" indent="0" algn="ctr" eaLnBrk="1"/>
            <a:endParaRPr kumimoji="1" lang="ja-JP" altLang="en-US" sz="1800" b="0" i="0" baseline="0">
              <a:solidFill>
                <a:schemeClr val="accent4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Hiragino Kaku Gothic Pro W3" charset="-128"/>
              <a:sym typeface="Meiryo UI" panose="020B0604030504040204" pitchFamily="50" charset="-128"/>
            </a:endParaRPr>
          </a:p>
        </p:txBody>
      </p:sp>
      <p:sp>
        <p:nvSpPr>
          <p:cNvPr id="2" name="正方形/長方形 1" hidden="1">
            <a:extLst>
              <a:ext uri="{FF2B5EF4-FFF2-40B4-BE49-F238E27FC236}">
                <a16:creationId xmlns:a16="http://schemas.microsoft.com/office/drawing/2014/main" id="{12D9CD71-4F79-BF42-8FF3-F5F2E4E3B1E8}"/>
              </a:ext>
            </a:extLst>
          </p:cNvPr>
          <p:cNvSpPr/>
          <p:nvPr userDrawn="1">
            <p:custDataLst>
              <p:tags r:id="rId15"/>
            </p:custDataLst>
          </p:nvPr>
        </p:nvSpPr>
        <p:spPr>
          <a:xfrm>
            <a:off x="1" y="0"/>
            <a:ext cx="211667" cy="158750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ja-JP" altLang="en-US" sz="1800" b="0" i="0" baseline="0">
              <a:solidFill>
                <a:schemeClr val="bg2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Hiragino Kaku Gothic Pro W3" charset="-128"/>
              <a:sym typeface="MS UI Gothic" panose="020B0600070205080204" pitchFamily="34" charset="-128"/>
            </a:endParaRPr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3200" y="152403"/>
            <a:ext cx="11480800" cy="379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7916" tIns="43958" rIns="87916" bIns="4395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マスター タイトルの書式設定</a:t>
            </a:r>
          </a:p>
        </p:txBody>
      </p:sp>
      <p:sp>
        <p:nvSpPr>
          <p:cNvPr id="1029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0125" y="836715"/>
            <a:ext cx="11525251" cy="5688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3080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804833" y="6453188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200" b="0" i="0">
                <a:solidFill>
                  <a:schemeClr val="bg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2517E3F9-F1F1-46C5-A063-BEDE16EE36C0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7" name="正方形/長方形 6"/>
          <p:cNvSpPr/>
          <p:nvPr/>
        </p:nvSpPr>
        <p:spPr>
          <a:xfrm flipV="1">
            <a:off x="95331" y="548682"/>
            <a:ext cx="11988000" cy="45719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kumimoji="1" lang="ja-JP" altLang="en-US" sz="110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S PGothic" charset="-128"/>
              <a:sym typeface="MS UI Gothic" panose="020B0600070205080204" pitchFamily="34" charset="-128"/>
            </a:endParaRPr>
          </a:p>
        </p:txBody>
      </p:sp>
      <p:sp>
        <p:nvSpPr>
          <p:cNvPr id="9" name="正方形/長方形 8"/>
          <p:cNvSpPr/>
          <p:nvPr userDrawn="1"/>
        </p:nvSpPr>
        <p:spPr>
          <a:xfrm flipH="1" flipV="1">
            <a:off x="76627" y="6597354"/>
            <a:ext cx="11988000" cy="45719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kumimoji="1" lang="ja-JP" altLang="en-US" sz="110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S PGothic" charset="-128"/>
              <a:sym typeface="MS UI Gothic" panose="020B0600070205080204" pitchFamily="34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270" r:id="rId1"/>
    <p:sldLayoutId id="2147485260" r:id="rId2"/>
    <p:sldLayoutId id="2147485261" r:id="rId3"/>
    <p:sldLayoutId id="2147485262" r:id="rId4"/>
    <p:sldLayoutId id="2147485263" r:id="rId5"/>
    <p:sldLayoutId id="2147485264" r:id="rId6"/>
    <p:sldLayoutId id="2147485265" r:id="rId7"/>
    <p:sldLayoutId id="2147485266" r:id="rId8"/>
    <p:sldLayoutId id="2147485267" r:id="rId9"/>
    <p:sldLayoutId id="2147485268" r:id="rId10"/>
    <p:sldLayoutId id="2147485269" r:id="rId11"/>
  </p:sldLayoutIdLst>
  <p:hf hdr="0" ftr="0" dt="0"/>
  <p:txStyles>
    <p:titleStyle>
      <a:lvl1pPr algn="l" defTabSz="879475" rtl="0" eaLnBrk="1" fontAlgn="base" hangingPunct="1">
        <a:spcBef>
          <a:spcPct val="0"/>
        </a:spcBef>
        <a:spcAft>
          <a:spcPct val="0"/>
        </a:spcAft>
        <a:defRPr kumimoji="1" b="0" i="0">
          <a:solidFill>
            <a:schemeClr val="accent4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  <a:sym typeface="MS UI Gothic" panose="020B0600070205080204" pitchFamily="34" charset="-128"/>
        </a:defRPr>
      </a:lvl1pPr>
      <a:lvl2pPr algn="l" defTabSz="879475" rtl="0" eaLnBrk="1" fontAlgn="base" hangingPunct="1">
        <a:spcBef>
          <a:spcPct val="0"/>
        </a:spcBef>
        <a:spcAft>
          <a:spcPct val="0"/>
        </a:spcAft>
        <a:defRPr kumimoji="1" b="1">
          <a:solidFill>
            <a:srgbClr val="003399"/>
          </a:solidFill>
          <a:latin typeface="MS UI Gothic" pitchFamily="50" charset="-128"/>
          <a:ea typeface="MS UI Gothic" pitchFamily="50" charset="-128"/>
        </a:defRPr>
      </a:lvl2pPr>
      <a:lvl3pPr algn="l" defTabSz="879475" rtl="0" eaLnBrk="1" fontAlgn="base" hangingPunct="1">
        <a:spcBef>
          <a:spcPct val="0"/>
        </a:spcBef>
        <a:spcAft>
          <a:spcPct val="0"/>
        </a:spcAft>
        <a:defRPr kumimoji="1" b="1">
          <a:solidFill>
            <a:srgbClr val="003399"/>
          </a:solidFill>
          <a:latin typeface="MS UI Gothic" pitchFamily="50" charset="-128"/>
          <a:ea typeface="MS UI Gothic" pitchFamily="50" charset="-128"/>
        </a:defRPr>
      </a:lvl3pPr>
      <a:lvl4pPr algn="l" defTabSz="879475" rtl="0" eaLnBrk="1" fontAlgn="base" hangingPunct="1">
        <a:spcBef>
          <a:spcPct val="0"/>
        </a:spcBef>
        <a:spcAft>
          <a:spcPct val="0"/>
        </a:spcAft>
        <a:defRPr kumimoji="1" b="1">
          <a:solidFill>
            <a:srgbClr val="003399"/>
          </a:solidFill>
          <a:latin typeface="MS UI Gothic" pitchFamily="50" charset="-128"/>
          <a:ea typeface="MS UI Gothic" pitchFamily="50" charset="-128"/>
        </a:defRPr>
      </a:lvl4pPr>
      <a:lvl5pPr algn="l" defTabSz="879475" rtl="0" eaLnBrk="1" fontAlgn="base" hangingPunct="1">
        <a:spcBef>
          <a:spcPct val="0"/>
        </a:spcBef>
        <a:spcAft>
          <a:spcPct val="0"/>
        </a:spcAft>
        <a:defRPr kumimoji="1" b="1">
          <a:solidFill>
            <a:srgbClr val="003399"/>
          </a:solidFill>
          <a:latin typeface="MS UI Gothic" pitchFamily="50" charset="-128"/>
          <a:ea typeface="MS UI Gothic" pitchFamily="50" charset="-128"/>
        </a:defRPr>
      </a:lvl5pPr>
      <a:lvl6pPr marL="457200" algn="l" defTabSz="879475" rtl="0" eaLnBrk="1" fontAlgn="base" hangingPunct="1">
        <a:spcBef>
          <a:spcPct val="0"/>
        </a:spcBef>
        <a:spcAft>
          <a:spcPct val="0"/>
        </a:spcAft>
        <a:defRPr kumimoji="1" b="1">
          <a:solidFill>
            <a:srgbClr val="003399"/>
          </a:solidFill>
          <a:latin typeface="MS UI Gothic" pitchFamily="50" charset="-128"/>
          <a:ea typeface="MS UI Gothic" pitchFamily="50" charset="-128"/>
        </a:defRPr>
      </a:lvl6pPr>
      <a:lvl7pPr marL="914400" algn="l" defTabSz="879475" rtl="0" eaLnBrk="1" fontAlgn="base" hangingPunct="1">
        <a:spcBef>
          <a:spcPct val="0"/>
        </a:spcBef>
        <a:spcAft>
          <a:spcPct val="0"/>
        </a:spcAft>
        <a:defRPr kumimoji="1" b="1">
          <a:solidFill>
            <a:srgbClr val="003399"/>
          </a:solidFill>
          <a:latin typeface="MS UI Gothic" pitchFamily="50" charset="-128"/>
          <a:ea typeface="MS UI Gothic" pitchFamily="50" charset="-128"/>
        </a:defRPr>
      </a:lvl7pPr>
      <a:lvl8pPr marL="1371600" algn="l" defTabSz="879475" rtl="0" eaLnBrk="1" fontAlgn="base" hangingPunct="1">
        <a:spcBef>
          <a:spcPct val="0"/>
        </a:spcBef>
        <a:spcAft>
          <a:spcPct val="0"/>
        </a:spcAft>
        <a:defRPr kumimoji="1" b="1">
          <a:solidFill>
            <a:srgbClr val="003399"/>
          </a:solidFill>
          <a:latin typeface="MS UI Gothic" pitchFamily="50" charset="-128"/>
          <a:ea typeface="MS UI Gothic" pitchFamily="50" charset="-128"/>
        </a:defRPr>
      </a:lvl8pPr>
      <a:lvl9pPr marL="1828800" algn="l" defTabSz="879475" rtl="0" eaLnBrk="1" fontAlgn="base" hangingPunct="1">
        <a:spcBef>
          <a:spcPct val="0"/>
        </a:spcBef>
        <a:spcAft>
          <a:spcPct val="0"/>
        </a:spcAft>
        <a:defRPr kumimoji="1" b="1">
          <a:solidFill>
            <a:srgbClr val="003399"/>
          </a:solidFill>
          <a:latin typeface="MS UI Gothic" pitchFamily="50" charset="-128"/>
          <a:ea typeface="MS UI Gothic" pitchFamily="50" charset="-128"/>
        </a:defRPr>
      </a:lvl9pPr>
    </p:titleStyle>
    <p:bodyStyle>
      <a:lvl1pPr marL="265113" indent="-265113" algn="l" defTabSz="879475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defRPr kumimoji="1" b="0" i="0">
          <a:solidFill>
            <a:schemeClr val="accent4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Arial" panose="020B0604020202020204" pitchFamily="34" charset="0"/>
          <a:sym typeface="MS UI Gothic" panose="020B0600070205080204" pitchFamily="34" charset="-128"/>
        </a:defRPr>
      </a:lvl1pPr>
      <a:lvl2pPr marL="622300" indent="-177800" algn="l" defTabSz="879475" rtl="0" eaLnBrk="1" fontAlgn="base" hangingPunct="1">
        <a:spcBef>
          <a:spcPct val="20000"/>
        </a:spcBef>
        <a:spcAft>
          <a:spcPct val="0"/>
        </a:spcAft>
        <a:buChar char="–"/>
        <a:defRPr kumimoji="1" sz="1400" b="0" i="0">
          <a:solidFill>
            <a:schemeClr val="accent4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Arial" panose="020B0604020202020204" pitchFamily="34" charset="0"/>
          <a:sym typeface="MS UI Gothic" panose="020B0600070205080204" pitchFamily="34" charset="-128"/>
        </a:defRPr>
      </a:lvl2pPr>
      <a:lvl3pPr marL="981075" indent="-179388" algn="l" defTabSz="879475" rtl="0" eaLnBrk="1" fontAlgn="base" hangingPunct="1">
        <a:spcBef>
          <a:spcPct val="20000"/>
        </a:spcBef>
        <a:spcAft>
          <a:spcPct val="0"/>
        </a:spcAft>
        <a:buChar char="•"/>
        <a:defRPr kumimoji="1" sz="1400" b="0" i="0">
          <a:solidFill>
            <a:schemeClr val="accent4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Arial" panose="020B0604020202020204" pitchFamily="34" charset="0"/>
          <a:sym typeface="MS UI Gothic" panose="020B0600070205080204" pitchFamily="34" charset="-128"/>
        </a:defRPr>
      </a:lvl3pPr>
      <a:lvl4pPr marL="1338263" indent="-177800" algn="l" defTabSz="879475" rtl="0" eaLnBrk="1" fontAlgn="base" hangingPunct="1">
        <a:spcBef>
          <a:spcPct val="20000"/>
        </a:spcBef>
        <a:spcAft>
          <a:spcPct val="0"/>
        </a:spcAft>
        <a:buChar char="–"/>
        <a:defRPr kumimoji="1" sz="1400" b="0" i="0">
          <a:solidFill>
            <a:schemeClr val="accent4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Arial" panose="020B0604020202020204" pitchFamily="34" charset="0"/>
          <a:sym typeface="MS UI Gothic" panose="020B0600070205080204" pitchFamily="34" charset="-128"/>
        </a:defRPr>
      </a:lvl4pPr>
      <a:lvl5pPr marL="1709738" indent="-192088" algn="l" defTabSz="879475" rtl="0" eaLnBrk="1" fontAlgn="base" hangingPunct="1">
        <a:spcBef>
          <a:spcPct val="20000"/>
        </a:spcBef>
        <a:spcAft>
          <a:spcPct val="0"/>
        </a:spcAft>
        <a:buChar char="»"/>
        <a:defRPr kumimoji="1" sz="1400" b="0" i="0">
          <a:solidFill>
            <a:schemeClr val="accent4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Arial" panose="020B0604020202020204" pitchFamily="34" charset="0"/>
          <a:sym typeface="MS UI Gothic" panose="020B0600070205080204" pitchFamily="34" charset="-128"/>
        </a:defRPr>
      </a:lvl5pPr>
      <a:lvl6pPr marL="2166938" indent="-192088" algn="l" defTabSz="879475" rtl="0" eaLnBrk="1" fontAlgn="base" hangingPunct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6pPr>
      <a:lvl7pPr marL="2624138" indent="-192088" algn="l" defTabSz="879475" rtl="0" eaLnBrk="1" fontAlgn="base" hangingPunct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7pPr>
      <a:lvl8pPr marL="3081338" indent="-192088" algn="l" defTabSz="879475" rtl="0" eaLnBrk="1" fontAlgn="base" hangingPunct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8pPr>
      <a:lvl9pPr marL="3538538" indent="-192088" algn="l" defTabSz="879475" rtl="0" eaLnBrk="1" fontAlgn="base" hangingPunct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sz="3600" b="1" dirty="0"/>
              <a:t>デモの内容について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r>
              <a:rPr kumimoji="1" lang="en-US" altLang="ja-JP" sz="1600" dirty="0"/>
              <a:t>2025/12</a:t>
            </a:r>
            <a:r>
              <a:rPr lang="en-US" altLang="ja-JP" sz="1600" dirty="0"/>
              <a:t> </a:t>
            </a:r>
            <a:r>
              <a:rPr lang="ja-JP" altLang="en-US" sz="1600" dirty="0"/>
              <a:t>基シス</a:t>
            </a:r>
            <a:r>
              <a:rPr lang="en-US" altLang="ja-JP" sz="1600" dirty="0"/>
              <a:t>1G</a:t>
            </a:r>
            <a:endParaRPr kumimoji="1" lang="ja-JP" altLang="en-US" sz="16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3E333F-0F6C-4FC7-A7F3-F21A7CDFE59D}" type="slidenum">
              <a:rPr lang="en-US" altLang="ja-JP" smtClean="0"/>
              <a:pPr>
                <a:defRPr/>
              </a:pPr>
              <a:t>0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351912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FC035-2015-50CA-0B98-4A064B897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1457F9F7-AD39-9179-B81D-32B55F772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サマリ：</a:t>
            </a:r>
            <a:r>
              <a:rPr lang="en-US" altLang="ja-JP" dirty="0"/>
              <a:t>BPS</a:t>
            </a:r>
            <a:r>
              <a:rPr lang="ja-JP" altLang="en-US" dirty="0"/>
              <a:t>の</a:t>
            </a:r>
            <a:r>
              <a:rPr lang="en-US" altLang="ja-JP" dirty="0" err="1"/>
              <a:t>ConcurInvoice</a:t>
            </a:r>
            <a:r>
              <a:rPr lang="ja-JP" altLang="en-US" dirty="0"/>
              <a:t>登録処理＆経理の</a:t>
            </a:r>
            <a:r>
              <a:rPr lang="en-US" altLang="ja-JP" dirty="0" err="1"/>
              <a:t>ConcurInovoice</a:t>
            </a:r>
            <a:r>
              <a:rPr lang="ja-JP" altLang="en-US" dirty="0"/>
              <a:t>チェック業務の</a:t>
            </a:r>
            <a:r>
              <a:rPr lang="en-US" altLang="ja-JP" dirty="0"/>
              <a:t>n8n</a:t>
            </a:r>
            <a:r>
              <a:rPr lang="ja-JP" altLang="en-US" dirty="0"/>
              <a:t>導入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66529E1-7E79-7B98-16AD-9A7E1FF217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826000" y="6634704"/>
            <a:ext cx="2540000" cy="230832"/>
          </a:xfrm>
        </p:spPr>
        <p:txBody>
          <a:bodyPr/>
          <a:lstStyle/>
          <a:p>
            <a:pPr>
              <a:defRPr/>
            </a:pPr>
            <a:fld id="{EB72A429-DDC7-41CC-AC2C-79132BE59620}" type="slidenum">
              <a:rPr lang="en-US" altLang="ja-JP" smtClean="0"/>
              <a:pPr>
                <a:defRPr/>
              </a:pPr>
              <a:t>1</a:t>
            </a:fld>
            <a:endParaRPr lang="en-US" altLang="ja-JP"/>
          </a:p>
        </p:txBody>
      </p:sp>
      <p:sp>
        <p:nvSpPr>
          <p:cNvPr id="12" name="コンテンツ プレースホルダー 5">
            <a:extLst>
              <a:ext uri="{FF2B5EF4-FFF2-40B4-BE49-F238E27FC236}">
                <a16:creationId xmlns:a16="http://schemas.microsoft.com/office/drawing/2014/main" id="{90B8BB16-F267-03DA-6BF1-6BF67ADBD5B6}"/>
              </a:ext>
            </a:extLst>
          </p:cNvPr>
          <p:cNvSpPr txBox="1">
            <a:spLocks/>
          </p:cNvSpPr>
          <p:nvPr/>
        </p:nvSpPr>
        <p:spPr>
          <a:xfrm>
            <a:off x="333374" y="670504"/>
            <a:ext cx="11525251" cy="608654"/>
          </a:xfrm>
          <a:prstGeom prst="rect">
            <a:avLst/>
          </a:prstGeom>
        </p:spPr>
        <p:txBody>
          <a:bodyPr/>
          <a:lstStyle>
            <a:lvl1pPr marL="265113" indent="-265113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  <a:lvl2pPr marL="622300" indent="-177800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2pPr>
            <a:lvl3pPr marL="981075" indent="-1793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3pPr>
            <a:lvl4pPr marL="1338263" indent="-177800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4pPr>
            <a:lvl5pPr marL="17097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5pPr>
            <a:lvl6pPr marL="21669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6241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0813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5385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/>
            <a:r>
              <a:rPr lang="ja-JP" altLang="en-US" sz="1600" kern="0" dirty="0"/>
              <a:t>以下、</a:t>
            </a:r>
            <a:r>
              <a:rPr lang="en-US" altLang="ja-JP" sz="1600" kern="0" dirty="0"/>
              <a:t>2</a:t>
            </a:r>
            <a:r>
              <a:rPr lang="ja-JP" altLang="en-US" sz="1600" kern="0" dirty="0"/>
              <a:t>つの業務パターンの</a:t>
            </a:r>
            <a:r>
              <a:rPr lang="en-US" altLang="ja-JP" sz="1600" kern="0" dirty="0"/>
              <a:t>n8n</a:t>
            </a:r>
            <a:r>
              <a:rPr lang="ja-JP" altLang="en-US" sz="1600" kern="0" dirty="0"/>
              <a:t>のデモを行います。</a:t>
            </a:r>
            <a:endParaRPr lang="en-US" altLang="ja-JP" sz="1600" kern="0" dirty="0"/>
          </a:p>
          <a:p>
            <a:pPr marL="342900" indent="-342900" defTabSz="830263">
              <a:buFont typeface="+mj-ea"/>
              <a:buAutoNum type="circleNumDbPlain"/>
            </a:pPr>
            <a:r>
              <a:rPr lang="en-US" altLang="ja-JP" sz="1600" kern="0" dirty="0"/>
              <a:t>BPS</a:t>
            </a:r>
            <a:r>
              <a:rPr lang="ja-JP" altLang="en-US" sz="1600" kern="0" dirty="0"/>
              <a:t>の</a:t>
            </a:r>
            <a:r>
              <a:rPr lang="en-US" altLang="ja-JP" sz="1600" kern="0" dirty="0" err="1"/>
              <a:t>ConcurInvoice</a:t>
            </a:r>
            <a:r>
              <a:rPr lang="ja-JP" altLang="en-US" sz="1600" kern="0" dirty="0"/>
              <a:t>登録処理</a:t>
            </a:r>
            <a:r>
              <a:rPr lang="en-US" altLang="ja-JP" sz="1600" kern="0" dirty="0"/>
              <a:t>	</a:t>
            </a:r>
            <a:r>
              <a:rPr lang="ja-JP" altLang="en-US" sz="1600" kern="0" dirty="0"/>
              <a:t>：スプシ（請求データ記載）→</a:t>
            </a:r>
            <a:r>
              <a:rPr lang="en-US" altLang="ja-JP" sz="1600" kern="0" dirty="0"/>
              <a:t>GAS</a:t>
            </a:r>
            <a:r>
              <a:rPr lang="ja-JP" altLang="en-US" sz="1600" kern="0" dirty="0"/>
              <a:t>→</a:t>
            </a:r>
            <a:r>
              <a:rPr lang="en-US" altLang="ja-JP" sz="1600" kern="0" dirty="0"/>
              <a:t>n8n</a:t>
            </a:r>
            <a:r>
              <a:rPr lang="ja-JP" altLang="en-US" sz="1600" kern="0" dirty="0"/>
              <a:t>による請求データと証憑の</a:t>
            </a:r>
            <a:r>
              <a:rPr lang="en-US" altLang="ja-JP" sz="1600" kern="0" dirty="0" err="1"/>
              <a:t>ConcurInvoice</a:t>
            </a:r>
            <a:r>
              <a:rPr lang="ja-JP" altLang="en-US" sz="1600" kern="0" dirty="0"/>
              <a:t>登録</a:t>
            </a:r>
            <a:endParaRPr lang="en-US" altLang="ja-JP" sz="1600" kern="0" dirty="0"/>
          </a:p>
          <a:p>
            <a:pPr marL="342900" indent="-342900" defTabSz="852488">
              <a:buFont typeface="+mj-ea"/>
              <a:buAutoNum type="circleNumDbPlain"/>
              <a:tabLst>
                <a:tab pos="3317875" algn="l"/>
              </a:tabLst>
            </a:pPr>
            <a:r>
              <a:rPr lang="ja-JP" altLang="en-US" sz="1600" kern="0" dirty="0"/>
              <a:t>経理の</a:t>
            </a:r>
            <a:r>
              <a:rPr lang="en-US" altLang="ja-JP" sz="1600" kern="0" dirty="0" err="1"/>
              <a:t>ConcurInvoice</a:t>
            </a:r>
            <a:r>
              <a:rPr lang="ja-JP" altLang="en-US" sz="1600" kern="0" dirty="0"/>
              <a:t>チェック業務</a:t>
            </a:r>
            <a:r>
              <a:rPr lang="en-US" altLang="ja-JP" sz="1600" kern="0" dirty="0"/>
              <a:t>	</a:t>
            </a:r>
            <a:r>
              <a:rPr lang="ja-JP" altLang="en-US" sz="1600" kern="0" dirty="0"/>
              <a:t>：</a:t>
            </a:r>
            <a:r>
              <a:rPr lang="en-US" altLang="ja-JP" sz="1600" kern="0" dirty="0" err="1"/>
              <a:t>ConcurInvoice</a:t>
            </a:r>
            <a:r>
              <a:rPr lang="ja-JP" altLang="en-US" sz="1600" kern="0" dirty="0"/>
              <a:t>よる請求データ＋証憑抽出→</a:t>
            </a:r>
            <a:r>
              <a:rPr lang="en-US" altLang="ja-JP" sz="1600" kern="0" dirty="0"/>
              <a:t>n8n</a:t>
            </a:r>
            <a:r>
              <a:rPr lang="ja-JP" altLang="en-US" sz="1600" kern="0" dirty="0"/>
              <a:t>による業務フローの</a:t>
            </a:r>
            <a:r>
              <a:rPr lang="en-US" altLang="ja-JP" sz="1600" kern="0" dirty="0"/>
              <a:t>AI</a:t>
            </a:r>
            <a:r>
              <a:rPr lang="ja-JP" altLang="en-US" sz="1600" kern="0" dirty="0"/>
              <a:t>チェック</a:t>
            </a:r>
            <a:endParaRPr lang="en-US" altLang="ja-JP" sz="1600" kern="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6919F4E-621C-9F02-776C-C15EC029D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2613" y="2172824"/>
            <a:ext cx="3615397" cy="868000"/>
          </a:xfrm>
          <a:prstGeom prst="rect">
            <a:avLst/>
          </a:prstGeom>
          <a:solidFill>
            <a:sysClr val="window" lastClr="FFFFFF"/>
          </a:solidFill>
          <a:ln w="6350">
            <a:solidFill>
              <a:sysClr val="window" lastClr="FFFFFF">
                <a:lumMod val="50000"/>
              </a:sysClr>
            </a:solidFill>
          </a:ln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FBB88AF0-3364-D469-1E33-3050B59448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2804" y="2073881"/>
            <a:ext cx="4620814" cy="1063460"/>
          </a:xfrm>
          <a:prstGeom prst="rect">
            <a:avLst/>
          </a:prstGeom>
          <a:ln>
            <a:solidFill>
              <a:srgbClr val="7F7F7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20F1CCF4-0E7E-97CD-7545-D3341DC2E02C}"/>
              </a:ext>
            </a:extLst>
          </p:cNvPr>
          <p:cNvCxnSpPr>
            <a:cxnSpLocks/>
          </p:cNvCxnSpPr>
          <p:nvPr/>
        </p:nvCxnSpPr>
        <p:spPr>
          <a:xfrm>
            <a:off x="6982803" y="2022609"/>
            <a:ext cx="4620813" cy="0"/>
          </a:xfrm>
          <a:prstGeom prst="straightConnector1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  <a:headEnd type="triangle"/>
            <a:tailEnd type="triangle"/>
          </a:ln>
          <a:effectLst/>
        </p:spPr>
      </p:cxn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8F53B1A-153E-DE35-D2D5-C8273B1F2826}"/>
              </a:ext>
            </a:extLst>
          </p:cNvPr>
          <p:cNvSpPr/>
          <p:nvPr/>
        </p:nvSpPr>
        <p:spPr>
          <a:xfrm>
            <a:off x="6982803" y="1765241"/>
            <a:ext cx="4620812" cy="174747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vert="horz" lIns="36000" tIns="36000" rIns="36000" b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100" b="1" kern="0" dirty="0">
                <a:solidFill>
                  <a:srgbClr val="0065B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iragino Kaku Gothic Pro W3" charset="-128"/>
              </a:rPr>
              <a:t>n8n</a:t>
            </a:r>
            <a:r>
              <a:rPr kumimoji="0" lang="ja-JP" altLang="en-US" sz="1100" b="1" kern="0" dirty="0">
                <a:solidFill>
                  <a:srgbClr val="0065B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iragino Kaku Gothic Pro W3" charset="-128"/>
              </a:rPr>
              <a:t>による</a:t>
            </a:r>
            <a:r>
              <a:rPr kumimoji="0" lang="en-US" altLang="ja-JP" sz="1100" b="1" kern="0" dirty="0">
                <a:solidFill>
                  <a:srgbClr val="0065B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iragino Kaku Gothic Pro W3" charset="-128"/>
              </a:rPr>
              <a:t>RPA</a:t>
            </a:r>
            <a:r>
              <a:rPr kumimoji="0" lang="ja-JP" altLang="en-US" sz="1100" b="1" kern="0" dirty="0">
                <a:solidFill>
                  <a:srgbClr val="0065B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iragino Kaku Gothic Pro W3" charset="-128"/>
              </a:rPr>
              <a:t>処理：</a:t>
            </a:r>
            <a:r>
              <a:rPr kumimoji="0" lang="en-US" altLang="ja-JP" sz="1100" b="1" kern="0" dirty="0">
                <a:solidFill>
                  <a:srgbClr val="0065B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iragino Kaku Gothic Pro W3" charset="-128"/>
              </a:rPr>
              <a:t>500</a:t>
            </a:r>
            <a:r>
              <a:rPr kumimoji="0" lang="ja-JP" altLang="en-US" sz="1100" b="1" kern="0" dirty="0">
                <a:solidFill>
                  <a:srgbClr val="0065B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iragino Kaku Gothic Pro W3" charset="-128"/>
              </a:rPr>
              <a:t>件の請求処理で約</a:t>
            </a:r>
            <a:r>
              <a:rPr kumimoji="0" lang="en-US" altLang="ja-JP" sz="1100" b="1" kern="0" dirty="0">
                <a:solidFill>
                  <a:srgbClr val="0065B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iragino Kaku Gothic Pro W3" charset="-128"/>
              </a:rPr>
              <a:t>3</a:t>
            </a:r>
            <a:r>
              <a:rPr kumimoji="0" lang="ja-JP" altLang="en-US" sz="1100" b="1" kern="0" dirty="0">
                <a:solidFill>
                  <a:srgbClr val="0065B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iragino Kaku Gothic Pro W3" charset="-128"/>
              </a:rPr>
              <a:t>分</a:t>
            </a:r>
            <a:br>
              <a:rPr kumimoji="0" lang="en-US" altLang="ja-JP" sz="1100" b="1" kern="0" dirty="0">
                <a:solidFill>
                  <a:srgbClr val="0065B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iragino Kaku Gothic Pro W3" charset="-128"/>
              </a:rPr>
            </a:br>
            <a:r>
              <a:rPr kumimoji="0" lang="en-US" altLang="ja-JP" sz="1100" b="1" kern="0" dirty="0">
                <a:solidFill>
                  <a:srgbClr val="0065B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iragino Kaku Gothic Pro W3" charset="-128"/>
              </a:rPr>
              <a:t>※ASIS</a:t>
            </a:r>
            <a:r>
              <a:rPr kumimoji="0" lang="ja-JP" altLang="en-US" sz="1100" b="1" kern="0" dirty="0">
                <a:solidFill>
                  <a:srgbClr val="0065B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iragino Kaku Gothic Pro W3" charset="-128"/>
              </a:rPr>
              <a:t>業務：</a:t>
            </a:r>
            <a:r>
              <a:rPr kumimoji="0" lang="en-US" altLang="ja-JP" sz="1100" b="1" kern="0" dirty="0">
                <a:solidFill>
                  <a:srgbClr val="0065B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iragino Kaku Gothic Pro W3" charset="-128"/>
              </a:rPr>
              <a:t>20</a:t>
            </a:r>
            <a:r>
              <a:rPr kumimoji="0" lang="ja-JP" altLang="en-US" sz="1100" b="1" kern="0" dirty="0">
                <a:solidFill>
                  <a:srgbClr val="0065B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iragino Kaku Gothic Pro W3" charset="-128"/>
              </a:rPr>
              <a:t>件あたり約</a:t>
            </a:r>
            <a:r>
              <a:rPr kumimoji="0" lang="en-US" altLang="ja-JP" sz="1100" b="1" kern="0" dirty="0">
                <a:solidFill>
                  <a:srgbClr val="0065B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iragino Kaku Gothic Pro W3" charset="-128"/>
              </a:rPr>
              <a:t>40</a:t>
            </a:r>
            <a:r>
              <a:rPr kumimoji="0" lang="ja-JP" altLang="en-US" sz="1100" b="1" kern="0" dirty="0">
                <a:solidFill>
                  <a:srgbClr val="0065B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iragino Kaku Gothic Pro W3" charset="-128"/>
              </a:rPr>
              <a:t>～</a:t>
            </a:r>
            <a:r>
              <a:rPr kumimoji="0" lang="en-US" altLang="ja-JP" sz="1100" b="1" kern="0" dirty="0">
                <a:solidFill>
                  <a:srgbClr val="0065B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iragino Kaku Gothic Pro W3" charset="-128"/>
              </a:rPr>
              <a:t>50</a:t>
            </a:r>
            <a:r>
              <a:rPr kumimoji="0" lang="ja-JP" altLang="en-US" sz="1100" b="1" kern="0" dirty="0">
                <a:solidFill>
                  <a:srgbClr val="0065B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iragino Kaku Gothic Pro W3" charset="-128"/>
              </a:rPr>
              <a:t>分（手作業＋</a:t>
            </a:r>
            <a:r>
              <a:rPr kumimoji="0" lang="en-US" altLang="ja-JP" sz="1100" b="1" kern="0" dirty="0" err="1">
                <a:solidFill>
                  <a:srgbClr val="0065B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iragino Kaku Gothic Pro W3" charset="-128"/>
              </a:rPr>
              <a:t>UIPath</a:t>
            </a:r>
            <a:r>
              <a:rPr kumimoji="0" lang="ja-JP" altLang="en-US" sz="1100" b="1" kern="0" dirty="0">
                <a:solidFill>
                  <a:srgbClr val="0065B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iragino Kaku Gothic Pro W3" charset="-128"/>
              </a:rPr>
              <a:t>）</a:t>
            </a:r>
            <a:endParaRPr kumimoji="0" lang="en-US" altLang="ja-JP" sz="1100" b="1" kern="0" dirty="0">
              <a:solidFill>
                <a:srgbClr val="0065BD"/>
              </a:solidFill>
              <a:latin typeface="Meiryo UI" panose="020B0604030504040204" pitchFamily="50" charset="-128"/>
              <a:ea typeface="Meiryo UI" panose="020B0604030504040204" pitchFamily="50" charset="-128"/>
              <a:cs typeface="Hiragino Kaku Gothic Pro W3" charset="-128"/>
            </a:endParaRPr>
          </a:p>
        </p:txBody>
      </p:sp>
      <p:cxnSp>
        <p:nvCxnSpPr>
          <p:cNvPr id="9" name="直線矢印コネクタ 60">
            <a:extLst>
              <a:ext uri="{FF2B5EF4-FFF2-40B4-BE49-F238E27FC236}">
                <a16:creationId xmlns:a16="http://schemas.microsoft.com/office/drawing/2014/main" id="{38AC1BEC-2215-493D-DA76-761E5915C1A2}"/>
              </a:ext>
            </a:extLst>
          </p:cNvPr>
          <p:cNvCxnSpPr>
            <a:cxnSpLocks/>
            <a:stCxn id="6" idx="1"/>
            <a:endCxn id="19" idx="3"/>
          </p:cNvCxnSpPr>
          <p:nvPr/>
        </p:nvCxnSpPr>
        <p:spPr>
          <a:xfrm flipH="1">
            <a:off x="6845885" y="2605611"/>
            <a:ext cx="136919" cy="1212"/>
          </a:xfrm>
          <a:prstGeom prst="straightConnector1">
            <a:avLst/>
          </a:prstGeom>
          <a:solidFill>
            <a:srgbClr val="FFFFCC"/>
          </a:solidFill>
          <a:ln w="15875" cap="flat" cmpd="sng" algn="ctr">
            <a:solidFill>
              <a:srgbClr val="0070C0"/>
            </a:solidFill>
            <a:prstDash val="solid"/>
            <a:miter lim="800000"/>
            <a:headEnd type="triangl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1ECDD965-FE2C-D969-3564-310472EC6413}"/>
              </a:ext>
            </a:extLst>
          </p:cNvPr>
          <p:cNvSpPr/>
          <p:nvPr/>
        </p:nvSpPr>
        <p:spPr>
          <a:xfrm>
            <a:off x="6274928" y="2429680"/>
            <a:ext cx="570957" cy="354287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5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GAS</a:t>
            </a:r>
            <a:endParaRPr lang="ja-JP" altLang="en-US" sz="105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21" name="直線矢印コネクタ 60">
            <a:extLst>
              <a:ext uri="{FF2B5EF4-FFF2-40B4-BE49-F238E27FC236}">
                <a16:creationId xmlns:a16="http://schemas.microsoft.com/office/drawing/2014/main" id="{70E5BDC4-332E-41A5-EAFF-7DD46DE18D5D}"/>
              </a:ext>
            </a:extLst>
          </p:cNvPr>
          <p:cNvCxnSpPr>
            <a:cxnSpLocks/>
            <a:stCxn id="19" idx="1"/>
            <a:endCxn id="100" idx="2"/>
          </p:cNvCxnSpPr>
          <p:nvPr/>
        </p:nvCxnSpPr>
        <p:spPr>
          <a:xfrm rot="10800000">
            <a:off x="3538220" y="2486088"/>
            <a:ext cx="2736708" cy="120737"/>
          </a:xfrm>
          <a:prstGeom prst="bentConnector2">
            <a:avLst/>
          </a:prstGeom>
          <a:solidFill>
            <a:srgbClr val="FFFFCC"/>
          </a:solidFill>
          <a:ln w="15875" cap="flat" cmpd="sng" algn="ctr">
            <a:solidFill>
              <a:srgbClr val="0070C0"/>
            </a:solidFill>
            <a:prstDash val="solid"/>
            <a:miter lim="800000"/>
            <a:headEnd type="triangl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5C680A9A-19DA-609B-F317-ECF95F75E28B}"/>
              </a:ext>
            </a:extLst>
          </p:cNvPr>
          <p:cNvSpPr/>
          <p:nvPr/>
        </p:nvSpPr>
        <p:spPr>
          <a:xfrm>
            <a:off x="7081520" y="2649549"/>
            <a:ext cx="4056915" cy="376969"/>
          </a:xfrm>
          <a:prstGeom prst="rect">
            <a:avLst/>
          </a:prstGeom>
          <a:noFill/>
          <a:ln w="15875" cap="flat" cmpd="sng" algn="ctr">
            <a:solidFill>
              <a:srgbClr val="0070C0"/>
            </a:solidFill>
            <a:prstDash val="solid"/>
            <a:miter lim="800000"/>
            <a:headEnd type="none"/>
            <a:tailEnd type="oval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100" b="0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sym typeface="Arial"/>
            </a:endParaRPr>
          </a:p>
        </p:txBody>
      </p:sp>
      <p:cxnSp>
        <p:nvCxnSpPr>
          <p:cNvPr id="28" name="直線矢印コネクタ 60">
            <a:extLst>
              <a:ext uri="{FF2B5EF4-FFF2-40B4-BE49-F238E27FC236}">
                <a16:creationId xmlns:a16="http://schemas.microsoft.com/office/drawing/2014/main" id="{0D426BC7-EE67-845D-3738-717DA125EAAB}"/>
              </a:ext>
            </a:extLst>
          </p:cNvPr>
          <p:cNvCxnSpPr>
            <a:cxnSpLocks/>
            <a:stCxn id="75" idx="0"/>
            <a:endCxn id="27" idx="2"/>
          </p:cNvCxnSpPr>
          <p:nvPr/>
        </p:nvCxnSpPr>
        <p:spPr>
          <a:xfrm rot="5400000" flipH="1" flipV="1">
            <a:off x="5252074" y="-319961"/>
            <a:ext cx="511425" cy="7204384"/>
          </a:xfrm>
          <a:prstGeom prst="bentConnector3">
            <a:avLst>
              <a:gd name="adj1" fmla="val 50000"/>
            </a:avLst>
          </a:prstGeom>
          <a:solidFill>
            <a:srgbClr val="FFFFCC"/>
          </a:solidFill>
          <a:ln w="15875" cap="flat" cmpd="sng" algn="ctr">
            <a:solidFill>
              <a:srgbClr val="0070C0"/>
            </a:solidFill>
            <a:prstDash val="solid"/>
            <a:miter lim="800000"/>
            <a:headEnd type="triangl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grpSp>
        <p:nvGrpSpPr>
          <p:cNvPr id="52" name="グループ化 51">
            <a:extLst>
              <a:ext uri="{FF2B5EF4-FFF2-40B4-BE49-F238E27FC236}">
                <a16:creationId xmlns:a16="http://schemas.microsoft.com/office/drawing/2014/main" id="{2E37885C-E456-EC79-B10A-925F94AE7F6F}"/>
              </a:ext>
            </a:extLst>
          </p:cNvPr>
          <p:cNvGrpSpPr/>
          <p:nvPr/>
        </p:nvGrpSpPr>
        <p:grpSpPr>
          <a:xfrm>
            <a:off x="2816390" y="3926391"/>
            <a:ext cx="9042235" cy="2668622"/>
            <a:chOff x="242958" y="2605587"/>
            <a:chExt cx="11706082" cy="3454801"/>
          </a:xfrm>
        </p:grpSpPr>
        <p:pic>
          <p:nvPicPr>
            <p:cNvPr id="37" name="図 36">
              <a:extLst>
                <a:ext uri="{FF2B5EF4-FFF2-40B4-BE49-F238E27FC236}">
                  <a16:creationId xmlns:a16="http://schemas.microsoft.com/office/drawing/2014/main" id="{805AF9B4-65FF-6CC4-8E47-F5A3765A088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42958" y="2949382"/>
              <a:ext cx="11706082" cy="2579181"/>
            </a:xfrm>
            <a:prstGeom prst="rect">
              <a:avLst/>
            </a:prstGeom>
            <a:ln>
              <a:solidFill>
                <a:srgbClr val="7F7F7F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9" name="図 38">
              <a:extLst>
                <a:ext uri="{FF2B5EF4-FFF2-40B4-BE49-F238E27FC236}">
                  <a16:creationId xmlns:a16="http://schemas.microsoft.com/office/drawing/2014/main" id="{FDB3741D-3618-8E21-5380-8B15D06D776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207836" y="2605587"/>
              <a:ext cx="2804086" cy="1694651"/>
            </a:xfrm>
            <a:prstGeom prst="rect">
              <a:avLst/>
            </a:prstGeom>
            <a:ln w="15875">
              <a:solidFill>
                <a:srgbClr val="0065BD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77B501FF-5648-2085-5A6F-8AAB9CDD10D1}"/>
                </a:ext>
              </a:extLst>
            </p:cNvPr>
            <p:cNvSpPr/>
            <p:nvPr/>
          </p:nvSpPr>
          <p:spPr>
            <a:xfrm>
              <a:off x="5382989" y="4364478"/>
              <a:ext cx="574193" cy="635115"/>
            </a:xfrm>
            <a:prstGeom prst="rect">
              <a:avLst/>
            </a:prstGeom>
            <a:noFill/>
            <a:ln w="15875" cap="flat" cmpd="sng" algn="ctr">
              <a:solidFill>
                <a:srgbClr val="0070C0"/>
              </a:solidFill>
              <a:prstDash val="solid"/>
              <a:miter lim="800000"/>
              <a:headEnd type="none"/>
              <a:tailEnd type="oval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36000" tIns="36000" rIns="36000" bIns="36000" rtlCol="0" anchor="ctr"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ja-JP" altLang="en-US" sz="1100" kern="0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Arial"/>
              </a:endParaRPr>
            </a:p>
          </p:txBody>
        </p:sp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639E6530-1680-85AD-B182-F3B68FFE8B0D}"/>
                </a:ext>
              </a:extLst>
            </p:cNvPr>
            <p:cNvSpPr/>
            <p:nvPr/>
          </p:nvSpPr>
          <p:spPr>
            <a:xfrm>
              <a:off x="6095999" y="4364477"/>
              <a:ext cx="884223" cy="635115"/>
            </a:xfrm>
            <a:prstGeom prst="rect">
              <a:avLst/>
            </a:prstGeom>
            <a:noFill/>
            <a:ln w="15875" cap="flat" cmpd="sng" algn="ctr">
              <a:solidFill>
                <a:srgbClr val="0070C0"/>
              </a:solidFill>
              <a:prstDash val="solid"/>
              <a:miter lim="800000"/>
              <a:headEnd type="none"/>
              <a:tailEnd type="oval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36000" tIns="36000" rIns="36000" bIns="36000" rtlCol="0" anchor="ctr"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ja-JP" altLang="en-US" sz="1100" kern="0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Arial"/>
              </a:endParaRPr>
            </a:p>
          </p:txBody>
        </p:sp>
        <p:sp>
          <p:nvSpPr>
            <p:cNvPr id="42" name="正方形/長方形 41">
              <a:extLst>
                <a:ext uri="{FF2B5EF4-FFF2-40B4-BE49-F238E27FC236}">
                  <a16:creationId xmlns:a16="http://schemas.microsoft.com/office/drawing/2014/main" id="{441D2C4D-F2CB-539C-879E-C261AE23C980}"/>
                </a:ext>
              </a:extLst>
            </p:cNvPr>
            <p:cNvSpPr/>
            <p:nvPr/>
          </p:nvSpPr>
          <p:spPr>
            <a:xfrm>
              <a:off x="7150725" y="4364476"/>
              <a:ext cx="884223" cy="635115"/>
            </a:xfrm>
            <a:prstGeom prst="rect">
              <a:avLst/>
            </a:prstGeom>
            <a:noFill/>
            <a:ln w="15875" cap="flat" cmpd="sng" algn="ctr">
              <a:solidFill>
                <a:srgbClr val="0070C0"/>
              </a:solidFill>
              <a:prstDash val="solid"/>
              <a:miter lim="800000"/>
              <a:headEnd type="none"/>
              <a:tailEnd type="oval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36000" tIns="36000" rIns="36000" bIns="36000" rtlCol="0" anchor="ctr"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ja-JP" altLang="en-US" sz="1100" kern="0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Arial"/>
              </a:endParaRPr>
            </a:p>
          </p:txBody>
        </p:sp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C55FFF05-FEE1-364A-2FC4-1C05CAAE6470}"/>
                </a:ext>
              </a:extLst>
            </p:cNvPr>
            <p:cNvSpPr/>
            <p:nvPr/>
          </p:nvSpPr>
          <p:spPr>
            <a:xfrm>
              <a:off x="8205450" y="4364475"/>
              <a:ext cx="884223" cy="635115"/>
            </a:xfrm>
            <a:prstGeom prst="rect">
              <a:avLst/>
            </a:prstGeom>
            <a:noFill/>
            <a:ln w="15875" cap="flat" cmpd="sng" algn="ctr">
              <a:solidFill>
                <a:srgbClr val="0070C0"/>
              </a:solidFill>
              <a:prstDash val="solid"/>
              <a:miter lim="800000"/>
              <a:headEnd type="none"/>
              <a:tailEnd type="oval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36000" tIns="36000" rIns="36000" bIns="36000" rtlCol="0" anchor="ctr"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ja-JP" altLang="en-US" sz="1100" kern="0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Arial"/>
              </a:endParaRPr>
            </a:p>
          </p:txBody>
        </p:sp>
        <p:cxnSp>
          <p:nvCxnSpPr>
            <p:cNvPr id="46" name="直線矢印コネクタ 33">
              <a:extLst>
                <a:ext uri="{FF2B5EF4-FFF2-40B4-BE49-F238E27FC236}">
                  <a16:creationId xmlns:a16="http://schemas.microsoft.com/office/drawing/2014/main" id="{DC0DD584-32CB-6C00-BE1C-7ADF3A3B6A42}"/>
                </a:ext>
              </a:extLst>
            </p:cNvPr>
            <p:cNvCxnSpPr>
              <a:cxnSpLocks/>
              <a:stCxn id="40" idx="0"/>
              <a:endCxn id="39" idx="1"/>
            </p:cNvCxnSpPr>
            <p:nvPr/>
          </p:nvCxnSpPr>
          <p:spPr>
            <a:xfrm rot="5400000" flipH="1" flipV="1">
              <a:off x="6483179" y="2639822"/>
              <a:ext cx="911564" cy="2537750"/>
            </a:xfrm>
            <a:prstGeom prst="bentConnector2">
              <a:avLst/>
            </a:prstGeom>
            <a:ln w="15875">
              <a:solidFill>
                <a:srgbClr val="0065BD"/>
              </a:solidFill>
              <a:headEnd type="oval"/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線矢印コネクタ 33">
              <a:extLst>
                <a:ext uri="{FF2B5EF4-FFF2-40B4-BE49-F238E27FC236}">
                  <a16:creationId xmlns:a16="http://schemas.microsoft.com/office/drawing/2014/main" id="{0C032812-9B4B-15AD-157E-7ECEB3F9E87A}"/>
                </a:ext>
              </a:extLst>
            </p:cNvPr>
            <p:cNvCxnSpPr>
              <a:cxnSpLocks/>
              <a:stCxn id="41" idx="2"/>
              <a:endCxn id="50" idx="1"/>
            </p:cNvCxnSpPr>
            <p:nvPr/>
          </p:nvCxnSpPr>
          <p:spPr>
            <a:xfrm>
              <a:off x="6538111" y="4999592"/>
              <a:ext cx="2818678" cy="607629"/>
            </a:xfrm>
            <a:prstGeom prst="straightConnector1">
              <a:avLst/>
            </a:prstGeom>
            <a:ln w="15875">
              <a:solidFill>
                <a:srgbClr val="0065BD"/>
              </a:solidFill>
              <a:headEnd type="oval"/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線矢印コネクタ 33">
              <a:extLst>
                <a:ext uri="{FF2B5EF4-FFF2-40B4-BE49-F238E27FC236}">
                  <a16:creationId xmlns:a16="http://schemas.microsoft.com/office/drawing/2014/main" id="{181C0953-3BE5-7999-419B-91D5802FA7E4}"/>
                </a:ext>
              </a:extLst>
            </p:cNvPr>
            <p:cNvCxnSpPr>
              <a:cxnSpLocks/>
              <a:stCxn id="42" idx="2"/>
              <a:endCxn id="50" idx="1"/>
            </p:cNvCxnSpPr>
            <p:nvPr/>
          </p:nvCxnSpPr>
          <p:spPr>
            <a:xfrm>
              <a:off x="7592836" y="4999591"/>
              <a:ext cx="1763953" cy="607630"/>
            </a:xfrm>
            <a:prstGeom prst="straightConnector1">
              <a:avLst/>
            </a:prstGeom>
            <a:ln w="15875">
              <a:solidFill>
                <a:srgbClr val="0065BD"/>
              </a:solidFill>
              <a:headEnd type="oval"/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矢印コネクタ 33">
              <a:extLst>
                <a:ext uri="{FF2B5EF4-FFF2-40B4-BE49-F238E27FC236}">
                  <a16:creationId xmlns:a16="http://schemas.microsoft.com/office/drawing/2014/main" id="{8F9B5FDC-303F-8C1F-7DDC-EC92A2341E67}"/>
                </a:ext>
              </a:extLst>
            </p:cNvPr>
            <p:cNvCxnSpPr>
              <a:cxnSpLocks/>
              <a:stCxn id="43" idx="2"/>
              <a:endCxn id="50" idx="1"/>
            </p:cNvCxnSpPr>
            <p:nvPr/>
          </p:nvCxnSpPr>
          <p:spPr>
            <a:xfrm>
              <a:off x="8647561" y="4999589"/>
              <a:ext cx="709227" cy="607631"/>
            </a:xfrm>
            <a:prstGeom prst="straightConnector1">
              <a:avLst/>
            </a:prstGeom>
            <a:ln w="15875">
              <a:solidFill>
                <a:srgbClr val="0065BD"/>
              </a:solidFill>
              <a:headEnd type="oval"/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四角形: 角を丸くする 49">
              <a:extLst>
                <a:ext uri="{FF2B5EF4-FFF2-40B4-BE49-F238E27FC236}">
                  <a16:creationId xmlns:a16="http://schemas.microsoft.com/office/drawing/2014/main" id="{5920909F-6CBC-4BF4-80CD-465AF18B011A}"/>
                </a:ext>
              </a:extLst>
            </p:cNvPr>
            <p:cNvSpPr/>
            <p:nvPr/>
          </p:nvSpPr>
          <p:spPr>
            <a:xfrm>
              <a:off x="9356789" y="5154052"/>
              <a:ext cx="2584117" cy="906336"/>
            </a:xfrm>
            <a:prstGeom prst="roundRect">
              <a:avLst>
                <a:gd name="adj" fmla="val 0"/>
              </a:avLst>
            </a:prstGeom>
            <a:solidFill>
              <a:srgbClr val="FFFFCC"/>
            </a:solidFill>
            <a:ln w="15875" cap="flat" cmpd="sng" algn="ctr">
              <a:solidFill>
                <a:srgbClr val="0070C0"/>
              </a:solidFill>
              <a:prstDash val="solid"/>
              <a:miter lim="800000"/>
              <a:headEnd type="none"/>
              <a:tailEnd type="oval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36000" tIns="36000" rIns="36000" bIns="36000" rtlCol="0" anchor="ctr"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ja-JP" sz="1100" b="1" u="sng" kern="0" dirty="0">
                  <a:solidFill>
                    <a:srgbClr val="0070C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sym typeface="Arial"/>
                </a:rPr>
                <a:t>AI</a:t>
              </a:r>
              <a:r>
                <a:rPr kumimoji="0" lang="ja-JP" altLang="en-US" sz="1100" b="1" u="sng" kern="0" dirty="0">
                  <a:solidFill>
                    <a:srgbClr val="0070C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sym typeface="Arial"/>
                </a:rPr>
                <a:t>によるチェック</a:t>
              </a:r>
              <a:endParaRPr kumimoji="0" lang="en-US" altLang="ja-JP" sz="1100" b="1" u="sng" kern="0" dirty="0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Arial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ja-JP" altLang="en-US" sz="1100" kern="0" dirty="0">
                  <a:solidFill>
                    <a:srgbClr val="0070C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sym typeface="Arial"/>
                </a:rPr>
                <a:t>①申請種類のカテゴリ特定</a:t>
              </a:r>
              <a:endParaRPr kumimoji="0" lang="en-US" altLang="ja-JP" sz="1100" kern="0" dirty="0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Arial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ja-JP" altLang="en-US" sz="1100" kern="0" dirty="0">
                  <a:solidFill>
                    <a:srgbClr val="0070C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sym typeface="Arial"/>
                </a:rPr>
                <a:t>②請求書情報の内容チェック</a:t>
              </a:r>
              <a:endParaRPr kumimoji="0" lang="en-US" altLang="ja-JP" sz="1100" kern="0" dirty="0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Arial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ja-JP" altLang="en-US" sz="1100" kern="0" dirty="0">
                  <a:solidFill>
                    <a:srgbClr val="0070C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sym typeface="Arial"/>
                </a:rPr>
                <a:t>③請求情報と証憑の突合チェック</a:t>
              </a:r>
              <a:endParaRPr kumimoji="0" lang="en-US" altLang="ja-JP" sz="1100" kern="0" dirty="0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Arial"/>
              </a:endParaRPr>
            </a:p>
          </p:txBody>
        </p:sp>
        <p:sp>
          <p:nvSpPr>
            <p:cNvPr id="51" name="テキスト ボックス 50">
              <a:extLst>
                <a:ext uri="{FF2B5EF4-FFF2-40B4-BE49-F238E27FC236}">
                  <a16:creationId xmlns:a16="http://schemas.microsoft.com/office/drawing/2014/main" id="{EFE797B2-B1EB-493B-170E-6AF805A945B5}"/>
                </a:ext>
              </a:extLst>
            </p:cNvPr>
            <p:cNvSpPr txBox="1"/>
            <p:nvPr/>
          </p:nvSpPr>
          <p:spPr bwMode="auto">
            <a:xfrm>
              <a:off x="5638933" y="3021481"/>
              <a:ext cx="2339518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100" kern="0" dirty="0">
                  <a:solidFill>
                    <a:srgbClr val="0070C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業務フローに対し、</a:t>
              </a:r>
              <a:br>
                <a:rPr kumimoji="0" lang="en-US" altLang="ja-JP" sz="1100" kern="0" dirty="0">
                  <a:solidFill>
                    <a:srgbClr val="0070C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</a:br>
              <a:r>
                <a:rPr kumimoji="0" lang="en-US" altLang="ja-JP" sz="1100" kern="0" dirty="0">
                  <a:solidFill>
                    <a:srgbClr val="0070C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AI</a:t>
              </a:r>
              <a:r>
                <a:rPr kumimoji="0" lang="ja-JP" altLang="en-US" sz="1100" kern="0" dirty="0">
                  <a:solidFill>
                    <a:srgbClr val="0070C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が読み取れる形式で定義</a:t>
              </a:r>
            </a:p>
          </p:txBody>
        </p:sp>
      </p:grpSp>
      <p:cxnSp>
        <p:nvCxnSpPr>
          <p:cNvPr id="69" name="直線コネクタ 68">
            <a:extLst>
              <a:ext uri="{FF2B5EF4-FFF2-40B4-BE49-F238E27FC236}">
                <a16:creationId xmlns:a16="http://schemas.microsoft.com/office/drawing/2014/main" id="{7F7DD1EB-7C2B-394E-597D-38D88B96A7A9}"/>
              </a:ext>
            </a:extLst>
          </p:cNvPr>
          <p:cNvCxnSpPr>
            <a:cxnSpLocks/>
          </p:cNvCxnSpPr>
          <p:nvPr/>
        </p:nvCxnSpPr>
        <p:spPr>
          <a:xfrm>
            <a:off x="144378" y="3715087"/>
            <a:ext cx="11839075" cy="0"/>
          </a:xfrm>
          <a:prstGeom prst="line">
            <a:avLst/>
          </a:prstGeom>
          <a:ln>
            <a:solidFill>
              <a:srgbClr val="0065BD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E42885DA-9887-DEE0-6F01-E716E2002A2F}"/>
              </a:ext>
            </a:extLst>
          </p:cNvPr>
          <p:cNvSpPr txBox="1"/>
          <p:nvPr/>
        </p:nvSpPr>
        <p:spPr bwMode="auto">
          <a:xfrm>
            <a:off x="3228132" y="3593907"/>
            <a:ext cx="5671567" cy="26161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1" kern="0" dirty="0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実際の業務の繋がりはないです。　↑は実業務に導入中。↓は適当な業務を参考に</a:t>
            </a:r>
            <a:r>
              <a:rPr kumimoji="0" lang="en-US" altLang="ja-JP" sz="1100" b="1" kern="0" dirty="0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PoC</a:t>
            </a:r>
            <a:r>
              <a:rPr kumimoji="0" lang="ja-JP" altLang="en-US" sz="1100" b="1" kern="0" dirty="0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中。</a:t>
            </a:r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72CB9FE3-E8D9-5910-3547-D2E721CB000F}"/>
              </a:ext>
            </a:extLst>
          </p:cNvPr>
          <p:cNvSpPr/>
          <p:nvPr/>
        </p:nvSpPr>
        <p:spPr>
          <a:xfrm>
            <a:off x="1149208" y="3537943"/>
            <a:ext cx="1512772" cy="35428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50" dirty="0" err="1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ConcurInvoice</a:t>
            </a:r>
            <a:endParaRPr lang="ja-JP" altLang="en-US" sz="105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6130109D-E565-CEB2-518C-C4FF97437566}"/>
              </a:ext>
            </a:extLst>
          </p:cNvPr>
          <p:cNvSpPr/>
          <p:nvPr/>
        </p:nvSpPr>
        <p:spPr>
          <a:xfrm>
            <a:off x="139846" y="1722120"/>
            <a:ext cx="759418" cy="1781661"/>
          </a:xfrm>
          <a:prstGeom prst="rect">
            <a:avLst/>
          </a:prstGeom>
          <a:solidFill>
            <a:srgbClr val="0065BD"/>
          </a:solidFill>
          <a:ln w="635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BPS</a:t>
            </a:r>
            <a:r>
              <a:rPr kumimoji="0" lang="ja-JP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の</a:t>
            </a:r>
            <a:br>
              <a:rPr kumimoji="0" lang="en-US" altLang="ja-JP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</a:br>
            <a:r>
              <a:rPr kumimoji="0" lang="en-US" altLang="ja-JP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RPA</a:t>
            </a:r>
            <a:r>
              <a:rPr kumimoji="0" lang="ja-JP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処理</a:t>
            </a:r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C9EEB182-12E3-A632-5C1A-2D7ED84D6847}"/>
              </a:ext>
            </a:extLst>
          </p:cNvPr>
          <p:cNvSpPr txBox="1"/>
          <p:nvPr/>
        </p:nvSpPr>
        <p:spPr bwMode="auto">
          <a:xfrm>
            <a:off x="7081520" y="2394520"/>
            <a:ext cx="4053239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100" b="1" kern="0" dirty="0" err="1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ConcurInvoice</a:t>
            </a:r>
            <a:r>
              <a:rPr kumimoji="0" lang="ja-JP" altLang="en-US" sz="1100" b="1" kern="0" dirty="0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請求データ作成＋ファイルアップロード</a:t>
            </a:r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ED3F0EE6-2254-6971-F618-A1FBD76A328B}"/>
              </a:ext>
            </a:extLst>
          </p:cNvPr>
          <p:cNvSpPr txBox="1"/>
          <p:nvPr/>
        </p:nvSpPr>
        <p:spPr bwMode="auto">
          <a:xfrm>
            <a:off x="1905595" y="3034064"/>
            <a:ext cx="2153326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1" kern="0" dirty="0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請求データ＆ファイルの登録処理</a:t>
            </a:r>
          </a:p>
        </p:txBody>
      </p:sp>
      <p:cxnSp>
        <p:nvCxnSpPr>
          <p:cNvPr id="86" name="直線矢印コネクタ 60">
            <a:extLst>
              <a:ext uri="{FF2B5EF4-FFF2-40B4-BE49-F238E27FC236}">
                <a16:creationId xmlns:a16="http://schemas.microsoft.com/office/drawing/2014/main" id="{993BB4BA-9079-2FB5-DB40-56E3C0A7BB03}"/>
              </a:ext>
            </a:extLst>
          </p:cNvPr>
          <p:cNvCxnSpPr>
            <a:cxnSpLocks/>
            <a:stCxn id="88" idx="1"/>
            <a:endCxn id="75" idx="2"/>
          </p:cNvCxnSpPr>
          <p:nvPr/>
        </p:nvCxnSpPr>
        <p:spPr>
          <a:xfrm rot="10800000">
            <a:off x="1905595" y="3892232"/>
            <a:ext cx="2369235" cy="586519"/>
          </a:xfrm>
          <a:prstGeom prst="bentConnector2">
            <a:avLst/>
          </a:prstGeom>
          <a:solidFill>
            <a:srgbClr val="FFFFCC"/>
          </a:solidFill>
          <a:ln w="15875" cap="flat" cmpd="sng" algn="ctr">
            <a:solidFill>
              <a:srgbClr val="0070C0"/>
            </a:solidFill>
            <a:prstDash val="solid"/>
            <a:miter lim="800000"/>
            <a:headEnd type="triangl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87" name="正方形/長方形 86">
            <a:extLst>
              <a:ext uri="{FF2B5EF4-FFF2-40B4-BE49-F238E27FC236}">
                <a16:creationId xmlns:a16="http://schemas.microsoft.com/office/drawing/2014/main" id="{1BC6CAB5-D74C-970E-10DB-6FE4639A97F6}"/>
              </a:ext>
            </a:extLst>
          </p:cNvPr>
          <p:cNvSpPr/>
          <p:nvPr/>
        </p:nvSpPr>
        <p:spPr>
          <a:xfrm>
            <a:off x="139846" y="3997961"/>
            <a:ext cx="759418" cy="2545080"/>
          </a:xfrm>
          <a:prstGeom prst="rect">
            <a:avLst/>
          </a:prstGeom>
          <a:solidFill>
            <a:srgbClr val="0065BD"/>
          </a:solidFill>
          <a:ln w="635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kern="0" dirty="0">
                <a:solidFill>
                  <a:prstClr val="white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経理</a:t>
            </a:r>
            <a:r>
              <a:rPr kumimoji="0" lang="ja-JP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の</a:t>
            </a:r>
            <a:br>
              <a:rPr kumimoji="0" lang="en-US" altLang="ja-JP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</a:br>
            <a:r>
              <a:rPr kumimoji="0" lang="en-US" altLang="ja-JP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AI</a:t>
            </a:r>
            <a:r>
              <a:rPr kumimoji="0" lang="ja-JP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チェック</a:t>
            </a:r>
            <a:br>
              <a:rPr kumimoji="0" lang="en-US" altLang="ja-JP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</a:br>
            <a:r>
              <a:rPr kumimoji="0" lang="ja-JP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処理</a:t>
            </a:r>
          </a:p>
        </p:txBody>
      </p: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4B26869C-7185-2497-136E-C8FB223A6A2A}"/>
              </a:ext>
            </a:extLst>
          </p:cNvPr>
          <p:cNvSpPr/>
          <p:nvPr/>
        </p:nvSpPr>
        <p:spPr>
          <a:xfrm>
            <a:off x="4274829" y="4224198"/>
            <a:ext cx="1821171" cy="509103"/>
          </a:xfrm>
          <a:prstGeom prst="rect">
            <a:avLst/>
          </a:prstGeom>
          <a:noFill/>
          <a:ln w="15875" cap="flat" cmpd="sng" algn="ctr">
            <a:solidFill>
              <a:srgbClr val="0070C0"/>
            </a:solidFill>
            <a:prstDash val="solid"/>
            <a:miter lim="800000"/>
            <a:headEnd type="none"/>
            <a:tailEnd type="oval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100" b="0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sym typeface="Arial"/>
            </a:endParaRPr>
          </a:p>
        </p:txBody>
      </p: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39B0F302-8182-29C8-91D8-D08284F9748B}"/>
              </a:ext>
            </a:extLst>
          </p:cNvPr>
          <p:cNvSpPr/>
          <p:nvPr/>
        </p:nvSpPr>
        <p:spPr>
          <a:xfrm>
            <a:off x="3282677" y="5293442"/>
            <a:ext cx="2122573" cy="509103"/>
          </a:xfrm>
          <a:prstGeom prst="rect">
            <a:avLst/>
          </a:prstGeom>
          <a:noFill/>
          <a:ln w="15875" cap="flat" cmpd="sng" algn="ctr">
            <a:solidFill>
              <a:srgbClr val="0070C0"/>
            </a:solidFill>
            <a:prstDash val="solid"/>
            <a:miter lim="800000"/>
            <a:headEnd type="none"/>
            <a:tailEnd type="oval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100" b="0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sym typeface="Arial"/>
            </a:endParaRPr>
          </a:p>
        </p:txBody>
      </p: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65392F72-AEE3-5A22-A583-2D05C1B1C932}"/>
              </a:ext>
            </a:extLst>
          </p:cNvPr>
          <p:cNvSpPr txBox="1"/>
          <p:nvPr/>
        </p:nvSpPr>
        <p:spPr bwMode="auto">
          <a:xfrm>
            <a:off x="4274829" y="3975874"/>
            <a:ext cx="1821171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1" kern="0" dirty="0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証憑取得</a:t>
            </a:r>
          </a:p>
        </p:txBody>
      </p:sp>
      <p:cxnSp>
        <p:nvCxnSpPr>
          <p:cNvPr id="94" name="直線矢印コネクタ 60">
            <a:extLst>
              <a:ext uri="{FF2B5EF4-FFF2-40B4-BE49-F238E27FC236}">
                <a16:creationId xmlns:a16="http://schemas.microsoft.com/office/drawing/2014/main" id="{221B2844-99CA-485B-6BA7-56BDC9FEE7F7}"/>
              </a:ext>
            </a:extLst>
          </p:cNvPr>
          <p:cNvCxnSpPr>
            <a:cxnSpLocks/>
            <a:stCxn id="89" idx="1"/>
            <a:endCxn id="75" idx="2"/>
          </p:cNvCxnSpPr>
          <p:nvPr/>
        </p:nvCxnSpPr>
        <p:spPr>
          <a:xfrm rot="10800000">
            <a:off x="1905595" y="3892232"/>
            <a:ext cx="1377083" cy="1655763"/>
          </a:xfrm>
          <a:prstGeom prst="bentConnector2">
            <a:avLst/>
          </a:prstGeom>
          <a:solidFill>
            <a:srgbClr val="FFFFCC"/>
          </a:solidFill>
          <a:ln w="15875" cap="flat" cmpd="sng" algn="ctr">
            <a:solidFill>
              <a:srgbClr val="0070C0"/>
            </a:solidFill>
            <a:prstDash val="solid"/>
            <a:miter lim="800000"/>
            <a:headEnd type="triangl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97" name="テキスト ボックス 96">
            <a:extLst>
              <a:ext uri="{FF2B5EF4-FFF2-40B4-BE49-F238E27FC236}">
                <a16:creationId xmlns:a16="http://schemas.microsoft.com/office/drawing/2014/main" id="{47D767ED-4BE5-3D11-40DE-EAA2237BBCD1}"/>
              </a:ext>
            </a:extLst>
          </p:cNvPr>
          <p:cNvSpPr txBox="1"/>
          <p:nvPr/>
        </p:nvSpPr>
        <p:spPr bwMode="auto">
          <a:xfrm>
            <a:off x="3282677" y="5019182"/>
            <a:ext cx="2122573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1" kern="0" dirty="0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請求情報取得</a:t>
            </a:r>
          </a:p>
        </p:txBody>
      </p:sp>
      <p:pic>
        <p:nvPicPr>
          <p:cNvPr id="98" name="図 97">
            <a:extLst>
              <a:ext uri="{FF2B5EF4-FFF2-40B4-BE49-F238E27FC236}">
                <a16:creationId xmlns:a16="http://schemas.microsoft.com/office/drawing/2014/main" id="{B770A36E-A5A8-DAB0-A59E-E6F839C12D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62091" y="3981942"/>
            <a:ext cx="708597" cy="10062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9" name="正方形/長方形 98">
            <a:extLst>
              <a:ext uri="{FF2B5EF4-FFF2-40B4-BE49-F238E27FC236}">
                <a16:creationId xmlns:a16="http://schemas.microsoft.com/office/drawing/2014/main" id="{6808238A-4BDA-4DA2-B60A-899E342F126A}"/>
              </a:ext>
            </a:extLst>
          </p:cNvPr>
          <p:cNvSpPr/>
          <p:nvPr/>
        </p:nvSpPr>
        <p:spPr>
          <a:xfrm>
            <a:off x="1964620" y="5322874"/>
            <a:ext cx="816858" cy="44916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5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請求データ</a:t>
            </a:r>
          </a:p>
        </p:txBody>
      </p:sp>
      <p:sp>
        <p:nvSpPr>
          <p:cNvPr id="100" name="正方形/長方形 99">
            <a:extLst>
              <a:ext uri="{FF2B5EF4-FFF2-40B4-BE49-F238E27FC236}">
                <a16:creationId xmlns:a16="http://schemas.microsoft.com/office/drawing/2014/main" id="{11B1BF31-EAFA-3523-E2AB-FB6AD73A4B9C}"/>
              </a:ext>
            </a:extLst>
          </p:cNvPr>
          <p:cNvSpPr/>
          <p:nvPr/>
        </p:nvSpPr>
        <p:spPr>
          <a:xfrm>
            <a:off x="3327400" y="2248946"/>
            <a:ext cx="421640" cy="237141"/>
          </a:xfrm>
          <a:prstGeom prst="rect">
            <a:avLst/>
          </a:prstGeom>
          <a:noFill/>
          <a:ln w="15875" cap="flat" cmpd="sng" algn="ctr">
            <a:solidFill>
              <a:srgbClr val="0070C0"/>
            </a:solidFill>
            <a:prstDash val="solid"/>
            <a:miter lim="800000"/>
            <a:headEnd type="none"/>
            <a:tailEnd type="oval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100" b="0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sym typeface="Arial"/>
            </a:endParaRPr>
          </a:p>
        </p:txBody>
      </p:sp>
      <p:sp>
        <p:nvSpPr>
          <p:cNvPr id="102" name="四角形: 角を丸くする 101">
            <a:extLst>
              <a:ext uri="{FF2B5EF4-FFF2-40B4-BE49-F238E27FC236}">
                <a16:creationId xmlns:a16="http://schemas.microsoft.com/office/drawing/2014/main" id="{B587087B-89E7-8BB1-CC77-99C53ED82909}"/>
              </a:ext>
            </a:extLst>
          </p:cNvPr>
          <p:cNvSpPr/>
          <p:nvPr/>
        </p:nvSpPr>
        <p:spPr>
          <a:xfrm>
            <a:off x="2569593" y="6091883"/>
            <a:ext cx="490139" cy="184655"/>
          </a:xfrm>
          <a:prstGeom prst="roundRect">
            <a:avLst/>
          </a:prstGeom>
          <a:solidFill>
            <a:srgbClr val="4472C4">
              <a:lumMod val="20000"/>
              <a:lumOff val="80000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ja-JP" sz="800" b="1" kern="0">
                <a:solidFill>
                  <a:srgbClr val="0065BD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n8n</a:t>
            </a:r>
            <a:endParaRPr kumimoji="0" lang="ja-JP" altLang="en-US" sz="800" b="1" kern="0">
              <a:solidFill>
                <a:srgbClr val="0065BD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3" name="四角形: 角を丸くする 102">
            <a:extLst>
              <a:ext uri="{FF2B5EF4-FFF2-40B4-BE49-F238E27FC236}">
                <a16:creationId xmlns:a16="http://schemas.microsoft.com/office/drawing/2014/main" id="{2F418169-79CD-2D0F-77F6-DC497B18C2A1}"/>
              </a:ext>
            </a:extLst>
          </p:cNvPr>
          <p:cNvSpPr/>
          <p:nvPr/>
        </p:nvSpPr>
        <p:spPr>
          <a:xfrm>
            <a:off x="6744868" y="3041494"/>
            <a:ext cx="490139" cy="184655"/>
          </a:xfrm>
          <a:prstGeom prst="roundRect">
            <a:avLst/>
          </a:prstGeom>
          <a:solidFill>
            <a:srgbClr val="4472C4">
              <a:lumMod val="20000"/>
              <a:lumOff val="80000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ja-JP" sz="800" b="1" kern="0">
                <a:solidFill>
                  <a:srgbClr val="0065BD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n8n</a:t>
            </a:r>
            <a:endParaRPr kumimoji="0" lang="ja-JP" altLang="en-US" sz="800" b="1" kern="0">
              <a:solidFill>
                <a:srgbClr val="0065BD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51534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BA3C3-52EB-4B7D-29A0-FE0654926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726AD591-EAF0-61FC-A77D-087928626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>
                <a:solidFill>
                  <a:schemeClr val="tx1">
                    <a:lumMod val="65000"/>
                    <a:lumOff val="35000"/>
                  </a:schemeClr>
                </a:solidFill>
              </a:rPr>
              <a:t>n8n</a:t>
            </a:r>
            <a:r>
              <a:rPr lang="ja-JP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の</a:t>
            </a:r>
            <a:r>
              <a:rPr lang="en-US" altLang="ja-JP">
                <a:solidFill>
                  <a:schemeClr val="tx1">
                    <a:lumMod val="65000"/>
                    <a:lumOff val="35000"/>
                  </a:schemeClr>
                </a:solidFill>
              </a:rPr>
              <a:t>BPS</a:t>
            </a:r>
            <a:r>
              <a:rPr lang="ja-JP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導入状況について（１</a:t>
            </a:r>
            <a:r>
              <a:rPr lang="en-US" altLang="ja-JP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ja-JP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２）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10C85B6-C789-CA25-04DF-6AA2546C3D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826000" y="6634704"/>
            <a:ext cx="2540000" cy="230832"/>
          </a:xfrm>
        </p:spPr>
        <p:txBody>
          <a:bodyPr/>
          <a:lstStyle/>
          <a:p>
            <a:pPr>
              <a:defRPr/>
            </a:pPr>
            <a:fld id="{EB72A429-DDC7-41CC-AC2C-79132BE59620}" type="slidenum">
              <a:rPr lang="en-US" altLang="ja-JP" smtClean="0"/>
              <a:pPr>
                <a:defRPr/>
              </a:pPr>
              <a:t>2</a:t>
            </a:fld>
            <a:endParaRPr lang="en-US" altLang="ja-JP"/>
          </a:p>
        </p:txBody>
      </p:sp>
      <p:sp>
        <p:nvSpPr>
          <p:cNvPr id="2" name="コンテンツ プレースホルダー 5">
            <a:extLst>
              <a:ext uri="{FF2B5EF4-FFF2-40B4-BE49-F238E27FC236}">
                <a16:creationId xmlns:a16="http://schemas.microsoft.com/office/drawing/2014/main" id="{CCB4B3B2-3986-B74E-595B-0F461C75E469}"/>
              </a:ext>
            </a:extLst>
          </p:cNvPr>
          <p:cNvSpPr txBox="1">
            <a:spLocks/>
          </p:cNvSpPr>
          <p:nvPr/>
        </p:nvSpPr>
        <p:spPr>
          <a:xfrm>
            <a:off x="333374" y="670504"/>
            <a:ext cx="11525251" cy="608654"/>
          </a:xfrm>
          <a:prstGeom prst="rect">
            <a:avLst/>
          </a:prstGeom>
        </p:spPr>
        <p:txBody>
          <a:bodyPr/>
          <a:lstStyle>
            <a:lvl1pPr marL="265113" indent="-265113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  <a:lvl2pPr marL="622300" indent="-177800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2pPr>
            <a:lvl3pPr marL="981075" indent="-1793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3pPr>
            <a:lvl4pPr marL="1338263" indent="-177800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4pPr>
            <a:lvl5pPr marL="17097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5pPr>
            <a:lvl6pPr marL="21669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6241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0813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5385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kern="0"/>
              <a:t>BPS</a:t>
            </a:r>
            <a:r>
              <a:rPr lang="ja-JP" altLang="en-US" sz="1600" kern="0"/>
              <a:t>の請求・支払業務を分析した結果、“</a:t>
            </a:r>
            <a:r>
              <a:rPr lang="en-US" altLang="ja-JP" sz="1600" kern="0"/>
              <a:t>RPA</a:t>
            </a:r>
            <a:r>
              <a:rPr lang="ja-JP" altLang="en-US" sz="1600" kern="0"/>
              <a:t>処理準備・実行”フェーズの</a:t>
            </a:r>
            <a:r>
              <a:rPr lang="en-US" altLang="ja-JP" sz="1600" kern="0"/>
              <a:t>20</a:t>
            </a:r>
            <a:r>
              <a:rPr lang="ja-JP" altLang="en-US" sz="1600" kern="0"/>
              <a:t>件の請求処理において、</a:t>
            </a:r>
            <a:br>
              <a:rPr lang="en-US" altLang="ja-JP" sz="1600" kern="0"/>
            </a:br>
            <a:r>
              <a:rPr lang="en-US" altLang="ja-JP" sz="1600" kern="0"/>
              <a:t>20</a:t>
            </a:r>
            <a:r>
              <a:rPr lang="ja-JP" altLang="en-US" sz="1600" kern="0"/>
              <a:t>分の手作業（</a:t>
            </a:r>
            <a:r>
              <a:rPr lang="en-US" altLang="ja-JP" sz="1600" kern="0" err="1"/>
              <a:t>ExcelVBA</a:t>
            </a:r>
            <a:r>
              <a:rPr lang="ja-JP" altLang="en-US" sz="1600" kern="0"/>
              <a:t>や登録ファイル準備）＋</a:t>
            </a:r>
            <a:r>
              <a:rPr lang="en-US" altLang="ja-JP" sz="1600" kern="0"/>
              <a:t>30</a:t>
            </a:r>
            <a:r>
              <a:rPr lang="ja-JP" altLang="en-US" sz="1600" kern="0"/>
              <a:t>分の</a:t>
            </a:r>
            <a:r>
              <a:rPr lang="en-US" altLang="ja-JP" sz="1600" kern="0"/>
              <a:t>RPA</a:t>
            </a:r>
            <a:r>
              <a:rPr lang="ja-JP" altLang="en-US" sz="1600" kern="0"/>
              <a:t>処理</a:t>
            </a:r>
            <a:r>
              <a:rPr lang="en-US" altLang="ja-JP" sz="1600" kern="0"/>
              <a:t>(</a:t>
            </a:r>
            <a:r>
              <a:rPr lang="en-US" altLang="ja-JP" sz="1600" kern="0" err="1"/>
              <a:t>ConcurInvoice</a:t>
            </a:r>
            <a:r>
              <a:rPr lang="ja-JP" altLang="en-US" sz="1600" kern="0"/>
              <a:t>＋活文登録処理</a:t>
            </a:r>
            <a:r>
              <a:rPr lang="en-US" altLang="ja-JP" sz="1600" kern="0"/>
              <a:t>)</a:t>
            </a:r>
            <a:r>
              <a:rPr lang="ja-JP" altLang="en-US" sz="1600" kern="0"/>
              <a:t>がかかっていることが判明した。</a:t>
            </a:r>
            <a:endParaRPr lang="en-US" altLang="ja-JP" sz="1600" ker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600" kern="0"/>
              <a:t>上記に対し、</a:t>
            </a:r>
            <a:r>
              <a:rPr lang="en-US" altLang="ja-JP" sz="1600" kern="0"/>
              <a:t>n8n</a:t>
            </a:r>
            <a:r>
              <a:rPr lang="ja-JP" altLang="en-US" sz="1600" kern="0"/>
              <a:t>を導入することで、手作業の処理をなくし、最大</a:t>
            </a:r>
            <a:r>
              <a:rPr lang="en-US" altLang="ja-JP" sz="1600" kern="0"/>
              <a:t>500</a:t>
            </a:r>
            <a:r>
              <a:rPr lang="ja-JP" altLang="en-US" sz="1600" kern="0"/>
              <a:t>件の</a:t>
            </a:r>
            <a:r>
              <a:rPr lang="en-US" altLang="ja-JP" sz="1600" kern="0" err="1"/>
              <a:t>ConcurInvoice</a:t>
            </a:r>
            <a:r>
              <a:rPr lang="ja-JP" altLang="en-US" sz="1600" kern="0"/>
              <a:t>処理を約</a:t>
            </a:r>
            <a:r>
              <a:rPr lang="en-US" altLang="ja-JP" sz="1600" kern="0"/>
              <a:t>2</a:t>
            </a:r>
            <a:r>
              <a:rPr lang="ja-JP" altLang="en-US" sz="1600" kern="0"/>
              <a:t>～</a:t>
            </a:r>
            <a:r>
              <a:rPr lang="en-US" altLang="ja-JP" sz="1600" kern="0"/>
              <a:t>3</a:t>
            </a:r>
            <a:r>
              <a:rPr lang="ja-JP" altLang="en-US" sz="1600" kern="0"/>
              <a:t>分で完結できる見通しが立った。</a:t>
            </a:r>
            <a:br>
              <a:rPr lang="en-US" altLang="ja-JP" sz="1600" kern="0"/>
            </a:br>
            <a:r>
              <a:rPr lang="ja-JP" altLang="en-US" sz="1600" kern="0"/>
              <a:t>現在大規模な並列処理のテストを行いつつ、残課題である活文の連携（</a:t>
            </a:r>
            <a:r>
              <a:rPr lang="en-US" altLang="ja-JP" sz="1600" kern="0"/>
              <a:t>Azure</a:t>
            </a:r>
            <a:r>
              <a:rPr lang="ja-JP" altLang="en-US" sz="1600" kern="0"/>
              <a:t>⇔</a:t>
            </a:r>
            <a:r>
              <a:rPr lang="en-US" altLang="ja-JP" sz="1600" kern="0" err="1"/>
              <a:t>Durandal</a:t>
            </a:r>
            <a:r>
              <a:rPr lang="ja-JP" altLang="en-US" sz="1600" kern="0"/>
              <a:t>）を進めている。</a:t>
            </a:r>
            <a:endParaRPr lang="en-US" altLang="ja-JP" sz="1600" kern="0"/>
          </a:p>
        </p:txBody>
      </p:sp>
      <p:grpSp>
        <p:nvGrpSpPr>
          <p:cNvPr id="99" name="グループ化 98">
            <a:extLst>
              <a:ext uri="{FF2B5EF4-FFF2-40B4-BE49-F238E27FC236}">
                <a16:creationId xmlns:a16="http://schemas.microsoft.com/office/drawing/2014/main" id="{16F3176B-164C-1C13-C9F4-E7434C1369A3}"/>
              </a:ext>
            </a:extLst>
          </p:cNvPr>
          <p:cNvGrpSpPr/>
          <p:nvPr/>
        </p:nvGrpSpPr>
        <p:grpSpPr>
          <a:xfrm>
            <a:off x="121737" y="2711326"/>
            <a:ext cx="11994652" cy="2503470"/>
            <a:chOff x="121737" y="3281692"/>
            <a:chExt cx="11994652" cy="2503470"/>
          </a:xfrm>
        </p:grpSpPr>
        <p:grpSp>
          <p:nvGrpSpPr>
            <p:cNvPr id="97" name="グループ化 96">
              <a:extLst>
                <a:ext uri="{FF2B5EF4-FFF2-40B4-BE49-F238E27FC236}">
                  <a16:creationId xmlns:a16="http://schemas.microsoft.com/office/drawing/2014/main" id="{F70D7C4B-60DD-0ADC-879E-343C833EEEAD}"/>
                </a:ext>
              </a:extLst>
            </p:cNvPr>
            <p:cNvGrpSpPr/>
            <p:nvPr/>
          </p:nvGrpSpPr>
          <p:grpSpPr>
            <a:xfrm>
              <a:off x="760991" y="3281745"/>
              <a:ext cx="11355398" cy="2503417"/>
              <a:chOff x="75612" y="2702326"/>
              <a:chExt cx="12040777" cy="2654516"/>
            </a:xfrm>
          </p:grpSpPr>
          <p:cxnSp>
            <p:nvCxnSpPr>
              <p:cNvPr id="51" name="直線矢印コネクタ 41">
                <a:extLst>
                  <a:ext uri="{FF2B5EF4-FFF2-40B4-BE49-F238E27FC236}">
                    <a16:creationId xmlns:a16="http://schemas.microsoft.com/office/drawing/2014/main" id="{80407852-6F5A-CAA1-04E9-5D825F5F02A5}"/>
                  </a:ext>
                </a:extLst>
              </p:cNvPr>
              <p:cNvCxnSpPr>
                <a:cxnSpLocks/>
                <a:stCxn id="83" idx="2"/>
                <a:endCxn id="92" idx="0"/>
              </p:cNvCxnSpPr>
              <p:nvPr/>
            </p:nvCxnSpPr>
            <p:spPr>
              <a:xfrm rot="16200000" flipH="1" flipV="1">
                <a:off x="8030611" y="3426606"/>
                <a:ext cx="572546" cy="1175390"/>
              </a:xfrm>
              <a:prstGeom prst="bentConnector3">
                <a:avLst>
                  <a:gd name="adj1" fmla="val 52759"/>
                </a:avLst>
              </a:prstGeom>
              <a:noFill/>
              <a:ln w="19050" cap="flat" cmpd="sng" algn="ctr">
                <a:solidFill>
                  <a:srgbClr val="262699"/>
                </a:solidFill>
                <a:prstDash val="sysDash"/>
                <a:miter lim="800000"/>
                <a:tailEnd type="triangle"/>
              </a:ln>
              <a:effectLst/>
            </p:spPr>
          </p:cxnSp>
          <p:sp>
            <p:nvSpPr>
              <p:cNvPr id="52" name="正方形/長方形 51">
                <a:extLst>
                  <a:ext uri="{FF2B5EF4-FFF2-40B4-BE49-F238E27FC236}">
                    <a16:creationId xmlns:a16="http://schemas.microsoft.com/office/drawing/2014/main" id="{3FBB47C5-DBFC-FC94-B379-6FF49E22759E}"/>
                  </a:ext>
                </a:extLst>
              </p:cNvPr>
              <p:cNvSpPr/>
              <p:nvPr/>
            </p:nvSpPr>
            <p:spPr>
              <a:xfrm>
                <a:off x="75612" y="2702326"/>
                <a:ext cx="605000" cy="817761"/>
              </a:xfrm>
              <a:prstGeom prst="rect">
                <a:avLst/>
              </a:prstGeom>
              <a:solidFill>
                <a:srgbClr val="0065BD"/>
              </a:solidFill>
              <a:ln w="6350" cap="flat" cmpd="sng" algn="ctr">
                <a:solidFill>
                  <a:srgbClr val="4472C4">
                    <a:lumMod val="75000"/>
                  </a:srgbClr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ja-JP" sz="1200" b="1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ASIS</a:t>
                </a:r>
                <a:endParaRPr kumimoji="0" lang="ja-JP" altLang="en-US" sz="12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endParaRPr>
              </a:p>
            </p:txBody>
          </p:sp>
          <p:sp>
            <p:nvSpPr>
              <p:cNvPr id="53" name="正方形/長方形 52">
                <a:extLst>
                  <a:ext uri="{FF2B5EF4-FFF2-40B4-BE49-F238E27FC236}">
                    <a16:creationId xmlns:a16="http://schemas.microsoft.com/office/drawing/2014/main" id="{72191699-3ADD-FDC3-C1D9-36D0E953799E}"/>
                  </a:ext>
                </a:extLst>
              </p:cNvPr>
              <p:cNvSpPr/>
              <p:nvPr/>
            </p:nvSpPr>
            <p:spPr>
              <a:xfrm>
                <a:off x="733507" y="2702326"/>
                <a:ext cx="1102461" cy="273402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ja-JP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請求書受領</a:t>
                </a:r>
              </a:p>
            </p:txBody>
          </p:sp>
          <p:sp>
            <p:nvSpPr>
              <p:cNvPr id="54" name="正方形/長方形 53">
                <a:extLst>
                  <a:ext uri="{FF2B5EF4-FFF2-40B4-BE49-F238E27FC236}">
                    <a16:creationId xmlns:a16="http://schemas.microsoft.com/office/drawing/2014/main" id="{0BE3AA7E-AFBF-BA9E-A794-75CD150703FC}"/>
                  </a:ext>
                </a:extLst>
              </p:cNvPr>
              <p:cNvSpPr/>
              <p:nvPr/>
            </p:nvSpPr>
            <p:spPr>
              <a:xfrm>
                <a:off x="733507" y="3095147"/>
                <a:ext cx="1102461" cy="424940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ja-JP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請求書取得</a:t>
                </a:r>
                <a:r>
                  <a:rPr kumimoji="0" lang="en-US" altLang="ja-JP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/</a:t>
                </a:r>
                <a:br>
                  <a:rPr kumimoji="0" lang="en-US" altLang="ja-JP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</a:br>
                <a:r>
                  <a:rPr kumimoji="0" lang="ja-JP" altLang="en-US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共有フォルダ格納</a:t>
                </a:r>
              </a:p>
            </p:txBody>
          </p:sp>
          <p:sp>
            <p:nvSpPr>
              <p:cNvPr id="55" name="正方形/長方形 54">
                <a:extLst>
                  <a:ext uri="{FF2B5EF4-FFF2-40B4-BE49-F238E27FC236}">
                    <a16:creationId xmlns:a16="http://schemas.microsoft.com/office/drawing/2014/main" id="{FAF5D3FB-3A65-610C-6317-0FDFB847186E}"/>
                  </a:ext>
                </a:extLst>
              </p:cNvPr>
              <p:cNvSpPr/>
              <p:nvPr/>
            </p:nvSpPr>
            <p:spPr>
              <a:xfrm>
                <a:off x="1912616" y="3095147"/>
                <a:ext cx="1102461" cy="424940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ja-JP" sz="1000" b="0" i="0" u="none" strike="noStrike" kern="0" cap="none" spc="0" normalizeH="0" baseline="0" noProof="0" err="1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AppSheet</a:t>
                </a:r>
                <a:r>
                  <a:rPr kumimoji="0" lang="ja-JP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提出</a:t>
                </a:r>
              </a:p>
            </p:txBody>
          </p:sp>
          <p:sp>
            <p:nvSpPr>
              <p:cNvPr id="56" name="正方形/長方形 55">
                <a:extLst>
                  <a:ext uri="{FF2B5EF4-FFF2-40B4-BE49-F238E27FC236}">
                    <a16:creationId xmlns:a16="http://schemas.microsoft.com/office/drawing/2014/main" id="{52BD5F0E-918E-16B1-AC83-66D68239335A}"/>
                  </a:ext>
                </a:extLst>
              </p:cNvPr>
              <p:cNvSpPr/>
              <p:nvPr/>
            </p:nvSpPr>
            <p:spPr>
              <a:xfrm>
                <a:off x="3097713" y="3095147"/>
                <a:ext cx="1102461" cy="424940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ja-JP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GAS</a:t>
                </a:r>
                <a:r>
                  <a:rPr kumimoji="0" lang="ja-JP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による</a:t>
                </a:r>
                <a:br>
                  <a:rPr kumimoji="0" lang="en-US" altLang="ja-JP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</a:br>
                <a:r>
                  <a:rPr kumimoji="0" lang="ja-JP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スプシ書き込み</a:t>
                </a:r>
              </a:p>
            </p:txBody>
          </p:sp>
          <p:sp>
            <p:nvSpPr>
              <p:cNvPr id="57" name="正方形/長方形 56">
                <a:extLst>
                  <a:ext uri="{FF2B5EF4-FFF2-40B4-BE49-F238E27FC236}">
                    <a16:creationId xmlns:a16="http://schemas.microsoft.com/office/drawing/2014/main" id="{F602E288-F2CC-D10A-6275-7C8EF5ED3956}"/>
                  </a:ext>
                </a:extLst>
              </p:cNvPr>
              <p:cNvSpPr/>
              <p:nvPr/>
            </p:nvSpPr>
            <p:spPr>
              <a:xfrm>
                <a:off x="1912616" y="2702326"/>
                <a:ext cx="2289459" cy="273402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ja-JP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請求書提出</a:t>
                </a:r>
              </a:p>
            </p:txBody>
          </p:sp>
          <p:sp>
            <p:nvSpPr>
              <p:cNvPr id="58" name="正方形/長方形 57">
                <a:extLst>
                  <a:ext uri="{FF2B5EF4-FFF2-40B4-BE49-F238E27FC236}">
                    <a16:creationId xmlns:a16="http://schemas.microsoft.com/office/drawing/2014/main" id="{838F7B49-1D4A-77A3-10FE-86D8A3DA0871}"/>
                  </a:ext>
                </a:extLst>
              </p:cNvPr>
              <p:cNvSpPr/>
              <p:nvPr/>
            </p:nvSpPr>
            <p:spPr>
              <a:xfrm>
                <a:off x="4237649" y="3095147"/>
                <a:ext cx="1102461" cy="424940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ja-JP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支払依頼</a:t>
                </a:r>
                <a:r>
                  <a:rPr kumimoji="0" lang="en-US" altLang="ja-JP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WS</a:t>
                </a:r>
                <a:r>
                  <a:rPr kumimoji="0" lang="ja-JP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の</a:t>
                </a:r>
                <a:br>
                  <a:rPr kumimoji="0" lang="en-US" altLang="ja-JP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</a:br>
                <a:r>
                  <a:rPr kumimoji="0" lang="ja-JP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一次チェック</a:t>
                </a:r>
              </a:p>
            </p:txBody>
          </p:sp>
          <p:sp>
            <p:nvSpPr>
              <p:cNvPr id="59" name="正方形/長方形 58">
                <a:extLst>
                  <a:ext uri="{FF2B5EF4-FFF2-40B4-BE49-F238E27FC236}">
                    <a16:creationId xmlns:a16="http://schemas.microsoft.com/office/drawing/2014/main" id="{40B249C3-33B5-AF13-D4C8-3135D26E2FAC}"/>
                  </a:ext>
                </a:extLst>
              </p:cNvPr>
              <p:cNvSpPr/>
              <p:nvPr/>
            </p:nvSpPr>
            <p:spPr>
              <a:xfrm>
                <a:off x="5422747" y="3095147"/>
                <a:ext cx="1102461" cy="424940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ja-JP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支払依頼</a:t>
                </a:r>
                <a:r>
                  <a:rPr kumimoji="0" lang="en-US" altLang="ja-JP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WS</a:t>
                </a:r>
                <a:r>
                  <a:rPr kumimoji="0" lang="ja-JP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の</a:t>
                </a:r>
                <a:br>
                  <a:rPr kumimoji="0" lang="en-US" altLang="ja-JP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</a:br>
                <a:r>
                  <a:rPr kumimoji="0" lang="ja-JP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二次チェック</a:t>
                </a:r>
              </a:p>
            </p:txBody>
          </p:sp>
          <p:sp>
            <p:nvSpPr>
              <p:cNvPr id="60" name="正方形/長方形 59">
                <a:extLst>
                  <a:ext uri="{FF2B5EF4-FFF2-40B4-BE49-F238E27FC236}">
                    <a16:creationId xmlns:a16="http://schemas.microsoft.com/office/drawing/2014/main" id="{26AD3A79-8756-B4B1-B06C-258BECB5ADF6}"/>
                  </a:ext>
                </a:extLst>
              </p:cNvPr>
              <p:cNvSpPr/>
              <p:nvPr/>
            </p:nvSpPr>
            <p:spPr>
              <a:xfrm>
                <a:off x="4237649" y="2702326"/>
                <a:ext cx="2289459" cy="273402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ja-JP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請求書チェック・</a:t>
                </a:r>
                <a:r>
                  <a:rPr kumimoji="0" lang="en-US" altLang="ja-JP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WS</a:t>
                </a:r>
                <a:r>
                  <a:rPr kumimoji="0" lang="ja-JP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入力</a:t>
                </a:r>
              </a:p>
            </p:txBody>
          </p:sp>
          <p:sp>
            <p:nvSpPr>
              <p:cNvPr id="61" name="正方形/長方形 60">
                <a:extLst>
                  <a:ext uri="{FF2B5EF4-FFF2-40B4-BE49-F238E27FC236}">
                    <a16:creationId xmlns:a16="http://schemas.microsoft.com/office/drawing/2014/main" id="{74AC516F-9847-A5BB-F3BD-2AE02F6BB5A4}"/>
                  </a:ext>
                </a:extLst>
              </p:cNvPr>
              <p:cNvSpPr/>
              <p:nvPr/>
            </p:nvSpPr>
            <p:spPr>
              <a:xfrm>
                <a:off x="6575704" y="3095147"/>
                <a:ext cx="1102461" cy="424940"/>
              </a:xfrm>
              <a:prstGeom prst="rect">
                <a:avLst/>
              </a:prstGeom>
              <a:solidFill>
                <a:srgbClr val="FFC000">
                  <a:lumMod val="20000"/>
                  <a:lumOff val="80000"/>
                </a:srgbClr>
              </a:solidFill>
              <a:ln w="63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ja-JP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支払依頼</a:t>
                </a:r>
                <a:r>
                  <a:rPr kumimoji="0" lang="en-US" altLang="ja-JP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WS</a:t>
                </a:r>
                <a:r>
                  <a:rPr kumimoji="0" lang="ja-JP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の</a:t>
                </a:r>
                <a:br>
                  <a:rPr kumimoji="0" lang="en-US" altLang="ja-JP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</a:br>
                <a:r>
                  <a:rPr kumimoji="0" lang="en-US" altLang="ja-JP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RPA</a:t>
                </a:r>
                <a:r>
                  <a:rPr kumimoji="0" lang="ja-JP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用前処理</a:t>
                </a:r>
              </a:p>
            </p:txBody>
          </p:sp>
          <p:sp>
            <p:nvSpPr>
              <p:cNvPr id="62" name="正方形/長方形 61">
                <a:extLst>
                  <a:ext uri="{FF2B5EF4-FFF2-40B4-BE49-F238E27FC236}">
                    <a16:creationId xmlns:a16="http://schemas.microsoft.com/office/drawing/2014/main" id="{569DD5CE-FBE3-A81E-3D12-11B053339A15}"/>
                  </a:ext>
                </a:extLst>
              </p:cNvPr>
              <p:cNvSpPr/>
              <p:nvPr/>
            </p:nvSpPr>
            <p:spPr>
              <a:xfrm>
                <a:off x="7760802" y="3095147"/>
                <a:ext cx="1102461" cy="424940"/>
              </a:xfrm>
              <a:prstGeom prst="rect">
                <a:avLst/>
              </a:prstGeom>
              <a:solidFill>
                <a:srgbClr val="FFC000">
                  <a:lumMod val="20000"/>
                  <a:lumOff val="80000"/>
                </a:srgbClr>
              </a:solidFill>
              <a:ln w="63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ja-JP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ファイル移動</a:t>
                </a:r>
                <a:r>
                  <a:rPr kumimoji="0" lang="en-US" altLang="ja-JP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/</a:t>
                </a:r>
                <a:br>
                  <a:rPr kumimoji="0" lang="en-US" altLang="ja-JP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</a:br>
                <a:r>
                  <a:rPr kumimoji="0" lang="en-US" altLang="ja-JP" sz="1000" b="0" i="0" u="none" strike="noStrike" kern="0" cap="none" spc="0" normalizeH="0" baseline="0" noProof="0" err="1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ExcelVBA</a:t>
                </a:r>
                <a:r>
                  <a:rPr kumimoji="0" lang="ja-JP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準備</a:t>
                </a:r>
              </a:p>
            </p:txBody>
          </p:sp>
          <p:sp>
            <p:nvSpPr>
              <p:cNvPr id="63" name="正方形/長方形 62">
                <a:extLst>
                  <a:ext uri="{FF2B5EF4-FFF2-40B4-BE49-F238E27FC236}">
                    <a16:creationId xmlns:a16="http://schemas.microsoft.com/office/drawing/2014/main" id="{D710C214-BC4F-209F-A126-A3B660D6F2C5}"/>
                  </a:ext>
                </a:extLst>
              </p:cNvPr>
              <p:cNvSpPr/>
              <p:nvPr/>
            </p:nvSpPr>
            <p:spPr>
              <a:xfrm>
                <a:off x="6575703" y="2702326"/>
                <a:ext cx="4657754" cy="273402"/>
              </a:xfrm>
              <a:prstGeom prst="rect">
                <a:avLst/>
              </a:prstGeom>
              <a:solidFill>
                <a:srgbClr val="FFC000">
                  <a:lumMod val="20000"/>
                  <a:lumOff val="80000"/>
                </a:srgbClr>
              </a:solidFill>
              <a:ln w="63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ja-JP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Concur</a:t>
                </a:r>
                <a:r>
                  <a:rPr kumimoji="0" lang="ja-JP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登録処理</a:t>
                </a:r>
              </a:p>
            </p:txBody>
          </p:sp>
          <p:sp>
            <p:nvSpPr>
              <p:cNvPr id="64" name="正方形/長方形 63">
                <a:extLst>
                  <a:ext uri="{FF2B5EF4-FFF2-40B4-BE49-F238E27FC236}">
                    <a16:creationId xmlns:a16="http://schemas.microsoft.com/office/drawing/2014/main" id="{E6196064-65F5-7D56-A5B9-C3C5A695BCCD}"/>
                  </a:ext>
                </a:extLst>
              </p:cNvPr>
              <p:cNvSpPr/>
              <p:nvPr/>
            </p:nvSpPr>
            <p:spPr>
              <a:xfrm>
                <a:off x="8945899" y="3095147"/>
                <a:ext cx="1102461" cy="424940"/>
              </a:xfrm>
              <a:prstGeom prst="rect">
                <a:avLst/>
              </a:prstGeom>
              <a:solidFill>
                <a:srgbClr val="FFC000">
                  <a:lumMod val="20000"/>
                  <a:lumOff val="80000"/>
                </a:srgbClr>
              </a:solidFill>
              <a:ln w="63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ja-JP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RPA</a:t>
                </a:r>
                <a:r>
                  <a:rPr kumimoji="0" lang="ja-JP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実行</a:t>
                </a:r>
              </a:p>
            </p:txBody>
          </p:sp>
          <p:sp>
            <p:nvSpPr>
              <p:cNvPr id="65" name="正方形/長方形 64">
                <a:extLst>
                  <a:ext uri="{FF2B5EF4-FFF2-40B4-BE49-F238E27FC236}">
                    <a16:creationId xmlns:a16="http://schemas.microsoft.com/office/drawing/2014/main" id="{0B746187-D10C-33CF-1934-0600D25D8091}"/>
                  </a:ext>
                </a:extLst>
              </p:cNvPr>
              <p:cNvSpPr/>
              <p:nvPr/>
            </p:nvSpPr>
            <p:spPr>
              <a:xfrm>
                <a:off x="10130997" y="3095147"/>
                <a:ext cx="1102461" cy="424940"/>
              </a:xfrm>
              <a:prstGeom prst="rect">
                <a:avLst/>
              </a:prstGeom>
              <a:solidFill>
                <a:srgbClr val="FFC000">
                  <a:lumMod val="20000"/>
                  <a:lumOff val="80000"/>
                </a:srgbClr>
              </a:solidFill>
              <a:ln w="63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ja-JP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支払依頼</a:t>
                </a:r>
                <a:r>
                  <a:rPr kumimoji="0" lang="en-US" altLang="ja-JP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WS</a:t>
                </a:r>
                <a:r>
                  <a:rPr kumimoji="0" lang="ja-JP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へ</a:t>
                </a:r>
                <a:br>
                  <a:rPr kumimoji="0" lang="en-US" altLang="ja-JP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</a:br>
                <a:r>
                  <a:rPr kumimoji="0" lang="ja-JP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結果の転記</a:t>
                </a:r>
              </a:p>
            </p:txBody>
          </p:sp>
          <p:sp>
            <p:nvSpPr>
              <p:cNvPr id="66" name="四角形: 角を丸くする 65">
                <a:extLst>
                  <a:ext uri="{FF2B5EF4-FFF2-40B4-BE49-F238E27FC236}">
                    <a16:creationId xmlns:a16="http://schemas.microsoft.com/office/drawing/2014/main" id="{22FC3C6E-62C1-49F9-3069-57DD86EF0EC3}"/>
                  </a:ext>
                </a:extLst>
              </p:cNvPr>
              <p:cNvSpPr/>
              <p:nvPr/>
            </p:nvSpPr>
            <p:spPr>
              <a:xfrm>
                <a:off x="2499118" y="3470470"/>
                <a:ext cx="519722" cy="195800"/>
              </a:xfrm>
              <a:prstGeom prst="roundRect">
                <a:avLst/>
              </a:prstGeom>
              <a:solidFill>
                <a:srgbClr val="4472C4">
                  <a:lumMod val="20000"/>
                  <a:lumOff val="8000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ja-JP" altLang="en-US" sz="7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システム化</a:t>
                </a:r>
              </a:p>
            </p:txBody>
          </p:sp>
          <p:sp>
            <p:nvSpPr>
              <p:cNvPr id="67" name="四角形: 角を丸くする 66">
                <a:extLst>
                  <a:ext uri="{FF2B5EF4-FFF2-40B4-BE49-F238E27FC236}">
                    <a16:creationId xmlns:a16="http://schemas.microsoft.com/office/drawing/2014/main" id="{60B85A9C-C564-3702-8773-E50B19368D2C}"/>
                  </a:ext>
                </a:extLst>
              </p:cNvPr>
              <p:cNvSpPr/>
              <p:nvPr/>
            </p:nvSpPr>
            <p:spPr>
              <a:xfrm>
                <a:off x="3686938" y="3470470"/>
                <a:ext cx="519722" cy="195800"/>
              </a:xfrm>
              <a:prstGeom prst="roundRect">
                <a:avLst/>
              </a:prstGeom>
              <a:solidFill>
                <a:srgbClr val="4472C4">
                  <a:lumMod val="20000"/>
                  <a:lumOff val="8000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ja-JP" altLang="en-US" sz="7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自動化</a:t>
                </a:r>
              </a:p>
            </p:txBody>
          </p:sp>
          <p:sp>
            <p:nvSpPr>
              <p:cNvPr id="68" name="四角形: 角を丸くする 67">
                <a:extLst>
                  <a:ext uri="{FF2B5EF4-FFF2-40B4-BE49-F238E27FC236}">
                    <a16:creationId xmlns:a16="http://schemas.microsoft.com/office/drawing/2014/main" id="{2BF0D25A-F8FA-0CBF-F7CC-33D0054C46EE}"/>
                  </a:ext>
                </a:extLst>
              </p:cNvPr>
              <p:cNvSpPr/>
              <p:nvPr/>
            </p:nvSpPr>
            <p:spPr>
              <a:xfrm>
                <a:off x="7162661" y="3470470"/>
                <a:ext cx="519722" cy="195800"/>
              </a:xfrm>
              <a:prstGeom prst="roundRect">
                <a:avLst/>
              </a:prstGeom>
              <a:solidFill>
                <a:srgbClr val="4472C4">
                  <a:lumMod val="20000"/>
                  <a:lumOff val="8000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ja-JP" altLang="en-US" sz="7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自動化</a:t>
                </a:r>
              </a:p>
            </p:txBody>
          </p:sp>
          <p:sp>
            <p:nvSpPr>
              <p:cNvPr id="69" name="四角形: 角を丸くする 68">
                <a:extLst>
                  <a:ext uri="{FF2B5EF4-FFF2-40B4-BE49-F238E27FC236}">
                    <a16:creationId xmlns:a16="http://schemas.microsoft.com/office/drawing/2014/main" id="{8F8E49A3-75BA-764E-BE68-D7AA111B5068}"/>
                  </a:ext>
                </a:extLst>
              </p:cNvPr>
              <p:cNvSpPr/>
              <p:nvPr/>
            </p:nvSpPr>
            <p:spPr>
              <a:xfrm>
                <a:off x="9539685" y="3470470"/>
                <a:ext cx="519722" cy="195800"/>
              </a:xfrm>
              <a:prstGeom prst="roundRect">
                <a:avLst/>
              </a:prstGeom>
              <a:solidFill>
                <a:srgbClr val="4472C4">
                  <a:lumMod val="20000"/>
                  <a:lumOff val="8000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ja-JP" altLang="en-US" sz="7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自動化</a:t>
                </a:r>
              </a:p>
            </p:txBody>
          </p:sp>
          <p:sp>
            <p:nvSpPr>
              <p:cNvPr id="70" name="正方形/長方形 69">
                <a:extLst>
                  <a:ext uri="{FF2B5EF4-FFF2-40B4-BE49-F238E27FC236}">
                    <a16:creationId xmlns:a16="http://schemas.microsoft.com/office/drawing/2014/main" id="{34F0F6E3-CCEA-B817-ECB8-0B9DB0443DCC}"/>
                  </a:ext>
                </a:extLst>
              </p:cNvPr>
              <p:cNvSpPr/>
              <p:nvPr/>
            </p:nvSpPr>
            <p:spPr>
              <a:xfrm>
                <a:off x="11305049" y="3095147"/>
                <a:ext cx="811340" cy="424940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ja-JP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支払</a:t>
                </a:r>
                <a:r>
                  <a:rPr kumimoji="0" lang="en-US" altLang="ja-JP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WS</a:t>
                </a:r>
                <a:r>
                  <a:rPr kumimoji="0" lang="ja-JP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の確認</a:t>
                </a:r>
                <a:r>
                  <a:rPr kumimoji="0" lang="en-US" altLang="ja-JP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...</a:t>
                </a:r>
                <a:endParaRPr kumimoji="0" lang="ja-JP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E7E6E6">
                      <a:lumMod val="50000"/>
                    </a:srgbClr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endParaRPr>
              </a:p>
            </p:txBody>
          </p:sp>
          <p:sp>
            <p:nvSpPr>
              <p:cNvPr id="71" name="正方形/長方形 70">
                <a:extLst>
                  <a:ext uri="{FF2B5EF4-FFF2-40B4-BE49-F238E27FC236}">
                    <a16:creationId xmlns:a16="http://schemas.microsoft.com/office/drawing/2014/main" id="{4E216448-DFF1-67CB-0E28-9613B739E370}"/>
                  </a:ext>
                </a:extLst>
              </p:cNvPr>
              <p:cNvSpPr/>
              <p:nvPr/>
            </p:nvSpPr>
            <p:spPr>
              <a:xfrm>
                <a:off x="11305049" y="2702326"/>
                <a:ext cx="811339" cy="273402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ja-JP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結果確認</a:t>
                </a:r>
              </a:p>
            </p:txBody>
          </p:sp>
          <p:sp>
            <p:nvSpPr>
              <p:cNvPr id="72" name="正方形/長方形 71">
                <a:extLst>
                  <a:ext uri="{FF2B5EF4-FFF2-40B4-BE49-F238E27FC236}">
                    <a16:creationId xmlns:a16="http://schemas.microsoft.com/office/drawing/2014/main" id="{6A12BAB2-6406-D622-5FAB-0792EB8F3986}"/>
                  </a:ext>
                </a:extLst>
              </p:cNvPr>
              <p:cNvSpPr/>
              <p:nvPr/>
            </p:nvSpPr>
            <p:spPr>
              <a:xfrm>
                <a:off x="87189" y="4340073"/>
                <a:ext cx="605000" cy="817761"/>
              </a:xfrm>
              <a:prstGeom prst="rect">
                <a:avLst/>
              </a:prstGeom>
              <a:solidFill>
                <a:srgbClr val="0065BD"/>
              </a:solidFill>
              <a:ln w="6350" cap="flat" cmpd="sng" algn="ctr">
                <a:solidFill>
                  <a:srgbClr val="4472C4">
                    <a:lumMod val="75000"/>
                  </a:srgbClr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ja-JP" sz="1200" b="1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TOBE</a:t>
                </a:r>
                <a:endParaRPr kumimoji="0" lang="ja-JP" altLang="en-US" sz="12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endParaRPr>
              </a:p>
            </p:txBody>
          </p:sp>
          <p:sp>
            <p:nvSpPr>
              <p:cNvPr id="73" name="正方形/長方形 72">
                <a:extLst>
                  <a:ext uri="{FF2B5EF4-FFF2-40B4-BE49-F238E27FC236}">
                    <a16:creationId xmlns:a16="http://schemas.microsoft.com/office/drawing/2014/main" id="{45F58BA5-6B2D-1998-E66B-FC5F746A891E}"/>
                  </a:ext>
                </a:extLst>
              </p:cNvPr>
              <p:cNvSpPr/>
              <p:nvPr/>
            </p:nvSpPr>
            <p:spPr>
              <a:xfrm>
                <a:off x="733507" y="4340073"/>
                <a:ext cx="1102461" cy="273402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ja-JP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請求書受領</a:t>
                </a:r>
              </a:p>
            </p:txBody>
          </p:sp>
          <p:sp>
            <p:nvSpPr>
              <p:cNvPr id="74" name="正方形/長方形 73">
                <a:extLst>
                  <a:ext uri="{FF2B5EF4-FFF2-40B4-BE49-F238E27FC236}">
                    <a16:creationId xmlns:a16="http://schemas.microsoft.com/office/drawing/2014/main" id="{06BEB037-64B0-ED0C-5493-219999F05026}"/>
                  </a:ext>
                </a:extLst>
              </p:cNvPr>
              <p:cNvSpPr/>
              <p:nvPr/>
            </p:nvSpPr>
            <p:spPr>
              <a:xfrm>
                <a:off x="733507" y="4732894"/>
                <a:ext cx="1102461" cy="424940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ja-JP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請求書取得</a:t>
                </a:r>
                <a:r>
                  <a:rPr kumimoji="0" lang="en-US" altLang="ja-JP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/</a:t>
                </a:r>
                <a:br>
                  <a:rPr kumimoji="0" lang="en-US" altLang="ja-JP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</a:br>
                <a:r>
                  <a:rPr kumimoji="0" lang="ja-JP" altLang="en-US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共有フォルダ格納</a:t>
                </a:r>
              </a:p>
            </p:txBody>
          </p:sp>
          <p:sp>
            <p:nvSpPr>
              <p:cNvPr id="75" name="正方形/長方形 74">
                <a:extLst>
                  <a:ext uri="{FF2B5EF4-FFF2-40B4-BE49-F238E27FC236}">
                    <a16:creationId xmlns:a16="http://schemas.microsoft.com/office/drawing/2014/main" id="{DBDA8D6F-897E-09D9-E02D-812A63BE55A9}"/>
                  </a:ext>
                </a:extLst>
              </p:cNvPr>
              <p:cNvSpPr/>
              <p:nvPr/>
            </p:nvSpPr>
            <p:spPr>
              <a:xfrm>
                <a:off x="1912616" y="4732894"/>
                <a:ext cx="1102461" cy="424940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ja-JP" sz="1000" b="0" i="0" u="none" strike="noStrike" kern="0" cap="none" spc="0" normalizeH="0" baseline="0" noProof="0" err="1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AppSheet</a:t>
                </a:r>
                <a:r>
                  <a:rPr kumimoji="0" lang="ja-JP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提出</a:t>
                </a:r>
              </a:p>
            </p:txBody>
          </p:sp>
          <p:sp>
            <p:nvSpPr>
              <p:cNvPr id="76" name="正方形/長方形 75">
                <a:extLst>
                  <a:ext uri="{FF2B5EF4-FFF2-40B4-BE49-F238E27FC236}">
                    <a16:creationId xmlns:a16="http://schemas.microsoft.com/office/drawing/2014/main" id="{3CDBCAE3-3550-D68B-4F33-D6F6D684145F}"/>
                  </a:ext>
                </a:extLst>
              </p:cNvPr>
              <p:cNvSpPr/>
              <p:nvPr/>
            </p:nvSpPr>
            <p:spPr>
              <a:xfrm>
                <a:off x="3097713" y="4732894"/>
                <a:ext cx="1102461" cy="424940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ja-JP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GAS</a:t>
                </a:r>
                <a:r>
                  <a:rPr kumimoji="0" lang="ja-JP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による</a:t>
                </a:r>
                <a:br>
                  <a:rPr kumimoji="0" lang="en-US" altLang="ja-JP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</a:br>
                <a:r>
                  <a:rPr kumimoji="0" lang="ja-JP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スプシ書き込み</a:t>
                </a:r>
              </a:p>
            </p:txBody>
          </p:sp>
          <p:sp>
            <p:nvSpPr>
              <p:cNvPr id="77" name="正方形/長方形 76">
                <a:extLst>
                  <a:ext uri="{FF2B5EF4-FFF2-40B4-BE49-F238E27FC236}">
                    <a16:creationId xmlns:a16="http://schemas.microsoft.com/office/drawing/2014/main" id="{62CA8F20-426A-34C0-11CB-B2B7B6758385}"/>
                  </a:ext>
                </a:extLst>
              </p:cNvPr>
              <p:cNvSpPr/>
              <p:nvPr/>
            </p:nvSpPr>
            <p:spPr>
              <a:xfrm>
                <a:off x="1912616" y="4340073"/>
                <a:ext cx="2289459" cy="273402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ja-JP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請求書提出</a:t>
                </a:r>
              </a:p>
            </p:txBody>
          </p:sp>
          <p:sp>
            <p:nvSpPr>
              <p:cNvPr id="78" name="正方形/長方形 77">
                <a:extLst>
                  <a:ext uri="{FF2B5EF4-FFF2-40B4-BE49-F238E27FC236}">
                    <a16:creationId xmlns:a16="http://schemas.microsoft.com/office/drawing/2014/main" id="{6E7EF340-93F0-6A04-F15A-392930151B2A}"/>
                  </a:ext>
                </a:extLst>
              </p:cNvPr>
              <p:cNvSpPr/>
              <p:nvPr/>
            </p:nvSpPr>
            <p:spPr>
              <a:xfrm>
                <a:off x="4237649" y="4732894"/>
                <a:ext cx="1102461" cy="424940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ja-JP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支払依頼</a:t>
                </a:r>
                <a:r>
                  <a:rPr kumimoji="0" lang="en-US" altLang="ja-JP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WS</a:t>
                </a:r>
                <a:r>
                  <a:rPr kumimoji="0" lang="ja-JP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の</a:t>
                </a:r>
                <a:br>
                  <a:rPr kumimoji="0" lang="en-US" altLang="ja-JP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</a:br>
                <a:r>
                  <a:rPr kumimoji="0" lang="ja-JP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一次チェック</a:t>
                </a:r>
              </a:p>
            </p:txBody>
          </p:sp>
          <p:sp>
            <p:nvSpPr>
              <p:cNvPr id="79" name="正方形/長方形 78">
                <a:extLst>
                  <a:ext uri="{FF2B5EF4-FFF2-40B4-BE49-F238E27FC236}">
                    <a16:creationId xmlns:a16="http://schemas.microsoft.com/office/drawing/2014/main" id="{D0294B76-0D9B-DF59-036B-615C9F8CE57F}"/>
                  </a:ext>
                </a:extLst>
              </p:cNvPr>
              <p:cNvSpPr/>
              <p:nvPr/>
            </p:nvSpPr>
            <p:spPr>
              <a:xfrm>
                <a:off x="5422747" y="4732894"/>
                <a:ext cx="1102461" cy="424940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ja-JP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支払依頼</a:t>
                </a:r>
                <a:r>
                  <a:rPr kumimoji="0" lang="en-US" altLang="ja-JP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WS</a:t>
                </a:r>
                <a:r>
                  <a:rPr kumimoji="0" lang="ja-JP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の</a:t>
                </a:r>
                <a:br>
                  <a:rPr kumimoji="0" lang="en-US" altLang="ja-JP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</a:br>
                <a:r>
                  <a:rPr kumimoji="0" lang="ja-JP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二次チェック</a:t>
                </a:r>
              </a:p>
            </p:txBody>
          </p:sp>
          <p:sp>
            <p:nvSpPr>
              <p:cNvPr id="80" name="正方形/長方形 79">
                <a:extLst>
                  <a:ext uri="{FF2B5EF4-FFF2-40B4-BE49-F238E27FC236}">
                    <a16:creationId xmlns:a16="http://schemas.microsoft.com/office/drawing/2014/main" id="{02AA6A31-1AA7-50EE-A48B-F27B8388E4CD}"/>
                  </a:ext>
                </a:extLst>
              </p:cNvPr>
              <p:cNvSpPr/>
              <p:nvPr/>
            </p:nvSpPr>
            <p:spPr>
              <a:xfrm>
                <a:off x="4237649" y="4340073"/>
                <a:ext cx="2289459" cy="273402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ja-JP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請求書チェック・</a:t>
                </a:r>
                <a:r>
                  <a:rPr kumimoji="0" lang="en-US" altLang="ja-JP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WS</a:t>
                </a:r>
                <a:r>
                  <a:rPr kumimoji="0" lang="ja-JP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入力</a:t>
                </a:r>
              </a:p>
            </p:txBody>
          </p:sp>
          <p:sp>
            <p:nvSpPr>
              <p:cNvPr id="81" name="四角形: 角を丸くする 80">
                <a:extLst>
                  <a:ext uri="{FF2B5EF4-FFF2-40B4-BE49-F238E27FC236}">
                    <a16:creationId xmlns:a16="http://schemas.microsoft.com/office/drawing/2014/main" id="{B58663E0-5E86-49F0-AA7A-A16EBD67F1A5}"/>
                  </a:ext>
                </a:extLst>
              </p:cNvPr>
              <p:cNvSpPr/>
              <p:nvPr/>
            </p:nvSpPr>
            <p:spPr>
              <a:xfrm>
                <a:off x="2499118" y="5108217"/>
                <a:ext cx="519722" cy="195800"/>
              </a:xfrm>
              <a:prstGeom prst="roundRect">
                <a:avLst/>
              </a:prstGeom>
              <a:solidFill>
                <a:srgbClr val="4472C4">
                  <a:lumMod val="20000"/>
                  <a:lumOff val="8000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ja-JP" altLang="en-US" sz="7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システム化</a:t>
                </a:r>
              </a:p>
            </p:txBody>
          </p:sp>
          <p:sp>
            <p:nvSpPr>
              <p:cNvPr id="82" name="四角形: 角を丸くする 81">
                <a:extLst>
                  <a:ext uri="{FF2B5EF4-FFF2-40B4-BE49-F238E27FC236}">
                    <a16:creationId xmlns:a16="http://schemas.microsoft.com/office/drawing/2014/main" id="{98206D20-5AA7-BE7C-7F07-2D4C2FA44B55}"/>
                  </a:ext>
                </a:extLst>
              </p:cNvPr>
              <p:cNvSpPr/>
              <p:nvPr/>
            </p:nvSpPr>
            <p:spPr>
              <a:xfrm>
                <a:off x="3686938" y="5108217"/>
                <a:ext cx="519722" cy="195800"/>
              </a:xfrm>
              <a:prstGeom prst="roundRect">
                <a:avLst/>
              </a:prstGeom>
              <a:solidFill>
                <a:srgbClr val="4472C4">
                  <a:lumMod val="20000"/>
                  <a:lumOff val="8000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ja-JP" altLang="en-US" sz="7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自動化</a:t>
                </a:r>
              </a:p>
            </p:txBody>
          </p:sp>
          <p:sp>
            <p:nvSpPr>
              <p:cNvPr id="83" name="右大かっこ 82">
                <a:extLst>
                  <a:ext uri="{FF2B5EF4-FFF2-40B4-BE49-F238E27FC236}">
                    <a16:creationId xmlns:a16="http://schemas.microsoft.com/office/drawing/2014/main" id="{F3BFD30F-B235-7E98-1A44-C853B7D1F642}"/>
                  </a:ext>
                </a:extLst>
              </p:cNvPr>
              <p:cNvSpPr/>
              <p:nvPr/>
            </p:nvSpPr>
            <p:spPr>
              <a:xfrm rot="5400000">
                <a:off x="8845673" y="1340244"/>
                <a:ext cx="117812" cy="4657755"/>
              </a:xfrm>
              <a:prstGeom prst="rightBracket">
                <a:avLst/>
              </a:prstGeom>
              <a:noFill/>
              <a:ln w="19050" cap="flat" cmpd="sng" algn="ctr">
                <a:solidFill>
                  <a:srgbClr val="262699"/>
                </a:solidFill>
                <a:prstDash val="sysDash"/>
                <a:miter lim="800000"/>
                <a:tailEnd type="none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6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endParaRPr>
              </a:p>
            </p:txBody>
          </p:sp>
          <p:sp>
            <p:nvSpPr>
              <p:cNvPr id="84" name="正方形/長方形 83">
                <a:extLst>
                  <a:ext uri="{FF2B5EF4-FFF2-40B4-BE49-F238E27FC236}">
                    <a16:creationId xmlns:a16="http://schemas.microsoft.com/office/drawing/2014/main" id="{B064B149-D6FF-3CE0-BD18-A222C29B2ABC}"/>
                  </a:ext>
                </a:extLst>
              </p:cNvPr>
              <p:cNvSpPr/>
              <p:nvPr/>
            </p:nvSpPr>
            <p:spPr>
              <a:xfrm>
                <a:off x="6575704" y="4732894"/>
                <a:ext cx="1102461" cy="424940"/>
              </a:xfrm>
              <a:prstGeom prst="rect">
                <a:avLst/>
              </a:prstGeom>
              <a:solidFill>
                <a:srgbClr val="FFC000">
                  <a:lumMod val="20000"/>
                  <a:lumOff val="80000"/>
                </a:srgbClr>
              </a:solidFill>
              <a:ln w="63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ja-JP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支払依頼</a:t>
                </a:r>
                <a:r>
                  <a:rPr kumimoji="0" lang="en-US" altLang="ja-JP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WS</a:t>
                </a:r>
                <a:r>
                  <a:rPr kumimoji="0" lang="ja-JP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を基に処理実行</a:t>
                </a:r>
              </a:p>
            </p:txBody>
          </p:sp>
          <p:sp>
            <p:nvSpPr>
              <p:cNvPr id="85" name="正方形/長方形 84">
                <a:extLst>
                  <a:ext uri="{FF2B5EF4-FFF2-40B4-BE49-F238E27FC236}">
                    <a16:creationId xmlns:a16="http://schemas.microsoft.com/office/drawing/2014/main" id="{A4BE45A0-A0C3-2BCE-3787-21D5877834B6}"/>
                  </a:ext>
                </a:extLst>
              </p:cNvPr>
              <p:cNvSpPr/>
              <p:nvPr/>
            </p:nvSpPr>
            <p:spPr>
              <a:xfrm>
                <a:off x="6575702" y="4340073"/>
                <a:ext cx="2298607" cy="273402"/>
              </a:xfrm>
              <a:prstGeom prst="rect">
                <a:avLst/>
              </a:prstGeom>
              <a:solidFill>
                <a:srgbClr val="FFC000">
                  <a:lumMod val="20000"/>
                  <a:lumOff val="80000"/>
                </a:srgbClr>
              </a:solidFill>
              <a:ln w="63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ja-JP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262699"/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AI</a:t>
                </a:r>
                <a:r>
                  <a:rPr kumimoji="0" lang="ja-JP" altLang="en-US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262699"/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エージェントによる処理</a:t>
                </a:r>
              </a:p>
            </p:txBody>
          </p:sp>
          <p:sp>
            <p:nvSpPr>
              <p:cNvPr id="86" name="四角形: 角を丸くする 85">
                <a:extLst>
                  <a:ext uri="{FF2B5EF4-FFF2-40B4-BE49-F238E27FC236}">
                    <a16:creationId xmlns:a16="http://schemas.microsoft.com/office/drawing/2014/main" id="{7EAB94C1-EA2F-1FE2-9AD5-FC232635C556}"/>
                  </a:ext>
                </a:extLst>
              </p:cNvPr>
              <p:cNvSpPr/>
              <p:nvPr/>
            </p:nvSpPr>
            <p:spPr>
              <a:xfrm>
                <a:off x="7162661" y="5108217"/>
                <a:ext cx="519722" cy="195800"/>
              </a:xfrm>
              <a:prstGeom prst="roundRect">
                <a:avLst/>
              </a:prstGeom>
              <a:solidFill>
                <a:srgbClr val="4472C4">
                  <a:lumMod val="20000"/>
                  <a:lumOff val="8000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ja-JP" altLang="en-US" sz="7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自動化</a:t>
                </a:r>
              </a:p>
            </p:txBody>
          </p:sp>
          <p:sp>
            <p:nvSpPr>
              <p:cNvPr id="87" name="正方形/長方形 86">
                <a:extLst>
                  <a:ext uri="{FF2B5EF4-FFF2-40B4-BE49-F238E27FC236}">
                    <a16:creationId xmlns:a16="http://schemas.microsoft.com/office/drawing/2014/main" id="{E95C9BB5-1DBD-1AC1-9D78-B23BF968BE4E}"/>
                  </a:ext>
                </a:extLst>
              </p:cNvPr>
              <p:cNvSpPr/>
              <p:nvPr/>
            </p:nvSpPr>
            <p:spPr>
              <a:xfrm>
                <a:off x="7760802" y="4732894"/>
                <a:ext cx="1102461" cy="424940"/>
              </a:xfrm>
              <a:prstGeom prst="rect">
                <a:avLst/>
              </a:prstGeom>
              <a:solidFill>
                <a:srgbClr val="FFC000">
                  <a:lumMod val="20000"/>
                  <a:lumOff val="80000"/>
                </a:srgbClr>
              </a:solidFill>
              <a:ln w="63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ja-JP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支払依頼</a:t>
                </a:r>
                <a:r>
                  <a:rPr kumimoji="0" lang="en-US" altLang="ja-JP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WS</a:t>
                </a:r>
                <a:r>
                  <a:rPr kumimoji="0" lang="ja-JP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へ</a:t>
                </a:r>
                <a:br>
                  <a:rPr kumimoji="0" lang="en-US" altLang="ja-JP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</a:br>
                <a:r>
                  <a:rPr kumimoji="0" lang="ja-JP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結果の転記</a:t>
                </a:r>
              </a:p>
            </p:txBody>
          </p:sp>
          <p:sp>
            <p:nvSpPr>
              <p:cNvPr id="88" name="四角形: 角を丸くする 87">
                <a:extLst>
                  <a:ext uri="{FF2B5EF4-FFF2-40B4-BE49-F238E27FC236}">
                    <a16:creationId xmlns:a16="http://schemas.microsoft.com/office/drawing/2014/main" id="{008EE123-D70C-08E7-DA45-722AFC77E4F6}"/>
                  </a:ext>
                </a:extLst>
              </p:cNvPr>
              <p:cNvSpPr/>
              <p:nvPr/>
            </p:nvSpPr>
            <p:spPr>
              <a:xfrm>
                <a:off x="8354588" y="5108217"/>
                <a:ext cx="519722" cy="195800"/>
              </a:xfrm>
              <a:prstGeom prst="roundRect">
                <a:avLst/>
              </a:prstGeom>
              <a:solidFill>
                <a:srgbClr val="4472C4">
                  <a:lumMod val="20000"/>
                  <a:lumOff val="8000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ja-JP" altLang="en-US" sz="7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自動化</a:t>
                </a:r>
              </a:p>
            </p:txBody>
          </p:sp>
          <p:grpSp>
            <p:nvGrpSpPr>
              <p:cNvPr id="89" name="グループ化 88">
                <a:extLst>
                  <a:ext uri="{FF2B5EF4-FFF2-40B4-BE49-F238E27FC236}">
                    <a16:creationId xmlns:a16="http://schemas.microsoft.com/office/drawing/2014/main" id="{5087CDFE-D69D-F96E-298D-0BED7D4C8F45}"/>
                  </a:ext>
                </a:extLst>
              </p:cNvPr>
              <p:cNvGrpSpPr/>
              <p:nvPr/>
            </p:nvGrpSpPr>
            <p:grpSpPr>
              <a:xfrm>
                <a:off x="8945899" y="4340073"/>
                <a:ext cx="811340" cy="817761"/>
                <a:chOff x="11305049" y="4025748"/>
                <a:chExt cx="811340" cy="817761"/>
              </a:xfrm>
            </p:grpSpPr>
            <p:sp>
              <p:nvSpPr>
                <p:cNvPr id="90" name="正方形/長方形 89">
                  <a:extLst>
                    <a:ext uri="{FF2B5EF4-FFF2-40B4-BE49-F238E27FC236}">
                      <a16:creationId xmlns:a16="http://schemas.microsoft.com/office/drawing/2014/main" id="{6773B122-F5BA-ECA0-15A7-B891E1933785}"/>
                    </a:ext>
                  </a:extLst>
                </p:cNvPr>
                <p:cNvSpPr/>
                <p:nvPr/>
              </p:nvSpPr>
              <p:spPr>
                <a:xfrm>
                  <a:off x="11305049" y="4418569"/>
                  <a:ext cx="811340" cy="424940"/>
                </a:xfrm>
                <a:prstGeom prst="rect">
                  <a:avLst/>
                </a:prstGeom>
                <a:solidFill>
                  <a:sysClr val="window" lastClr="FFFFFF"/>
                </a:solidFill>
                <a:ln w="6350" cap="flat" cmpd="sng" algn="ctr">
                  <a:solidFill>
                    <a:sysClr val="window" lastClr="FFFFFF">
                      <a:lumMod val="50000"/>
                    </a:sys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ja-JP" altLang="en-US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E7E6E6">
                          <a:lumMod val="50000"/>
                        </a:srgbClr>
                      </a:solidFill>
                      <a:effectLst/>
                      <a:uLnTx/>
                      <a:uFillTx/>
                      <a:latin typeface="Meiryo UI" panose="020B0604030504040204" pitchFamily="50" charset="-128"/>
                      <a:ea typeface="Meiryo UI" panose="020B0604030504040204" pitchFamily="50" charset="-128"/>
                      <a:cs typeface="+mn-cs"/>
                    </a:rPr>
                    <a:t>支払</a:t>
                  </a:r>
                  <a:r>
                    <a:rPr kumimoji="0" lang="en-US" altLang="ja-JP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E7E6E6">
                          <a:lumMod val="50000"/>
                        </a:srgbClr>
                      </a:solidFill>
                      <a:effectLst/>
                      <a:uLnTx/>
                      <a:uFillTx/>
                      <a:latin typeface="Meiryo UI" panose="020B0604030504040204" pitchFamily="50" charset="-128"/>
                      <a:ea typeface="Meiryo UI" panose="020B0604030504040204" pitchFamily="50" charset="-128"/>
                      <a:cs typeface="+mn-cs"/>
                    </a:rPr>
                    <a:t>WS</a:t>
                  </a:r>
                  <a:r>
                    <a:rPr kumimoji="0" lang="ja-JP" altLang="en-US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E7E6E6">
                          <a:lumMod val="50000"/>
                        </a:srgbClr>
                      </a:solidFill>
                      <a:effectLst/>
                      <a:uLnTx/>
                      <a:uFillTx/>
                      <a:latin typeface="Meiryo UI" panose="020B0604030504040204" pitchFamily="50" charset="-128"/>
                      <a:ea typeface="Meiryo UI" panose="020B0604030504040204" pitchFamily="50" charset="-128"/>
                      <a:cs typeface="+mn-cs"/>
                    </a:rPr>
                    <a:t>の確認</a:t>
                  </a:r>
                  <a:r>
                    <a:rPr kumimoji="0" lang="en-US" altLang="ja-JP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E7E6E6">
                          <a:lumMod val="50000"/>
                        </a:srgbClr>
                      </a:solidFill>
                      <a:effectLst/>
                      <a:uLnTx/>
                      <a:uFillTx/>
                      <a:latin typeface="Meiryo UI" panose="020B0604030504040204" pitchFamily="50" charset="-128"/>
                      <a:ea typeface="Meiryo UI" panose="020B0604030504040204" pitchFamily="50" charset="-128"/>
                      <a:cs typeface="+mn-cs"/>
                    </a:rPr>
                    <a:t>...</a:t>
                  </a:r>
                  <a:endParaRPr kumimoji="0" lang="ja-JP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E7E6E6">
                        <a:lumMod val="50000"/>
                      </a:srgbClr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endParaRPr>
                </a:p>
              </p:txBody>
            </p:sp>
            <p:sp>
              <p:nvSpPr>
                <p:cNvPr id="91" name="正方形/長方形 90">
                  <a:extLst>
                    <a:ext uri="{FF2B5EF4-FFF2-40B4-BE49-F238E27FC236}">
                      <a16:creationId xmlns:a16="http://schemas.microsoft.com/office/drawing/2014/main" id="{30EEA9F3-BDD5-0481-C78E-131C27C5C628}"/>
                    </a:ext>
                  </a:extLst>
                </p:cNvPr>
                <p:cNvSpPr/>
                <p:nvPr/>
              </p:nvSpPr>
              <p:spPr>
                <a:xfrm>
                  <a:off x="11305049" y="4025748"/>
                  <a:ext cx="811339" cy="273402"/>
                </a:xfrm>
                <a:prstGeom prst="rect">
                  <a:avLst/>
                </a:prstGeom>
                <a:solidFill>
                  <a:sysClr val="window" lastClr="FFFFFF"/>
                </a:solidFill>
                <a:ln w="6350" cap="flat" cmpd="sng" algn="ctr">
                  <a:solidFill>
                    <a:sysClr val="window" lastClr="FFFFFF">
                      <a:lumMod val="50000"/>
                    </a:sys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ja-JP" altLang="en-US" sz="11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E7E6E6">
                          <a:lumMod val="50000"/>
                        </a:srgbClr>
                      </a:solidFill>
                      <a:effectLst/>
                      <a:uLnTx/>
                      <a:uFillTx/>
                      <a:latin typeface="Meiryo UI" panose="020B0604030504040204" pitchFamily="50" charset="-128"/>
                      <a:ea typeface="Meiryo UI" panose="020B0604030504040204" pitchFamily="50" charset="-128"/>
                      <a:cs typeface="+mn-cs"/>
                    </a:rPr>
                    <a:t>結果確認</a:t>
                  </a:r>
                </a:p>
              </p:txBody>
            </p:sp>
          </p:grpSp>
          <p:sp>
            <p:nvSpPr>
              <p:cNvPr id="92" name="正方形/長方形 91">
                <a:extLst>
                  <a:ext uri="{FF2B5EF4-FFF2-40B4-BE49-F238E27FC236}">
                    <a16:creationId xmlns:a16="http://schemas.microsoft.com/office/drawing/2014/main" id="{0799CDBB-BC61-D323-CB61-051E0AAF3580}"/>
                  </a:ext>
                </a:extLst>
              </p:cNvPr>
              <p:cNvSpPr/>
              <p:nvPr/>
            </p:nvSpPr>
            <p:spPr>
              <a:xfrm>
                <a:off x="6548262" y="4300574"/>
                <a:ext cx="2361854" cy="1056268"/>
              </a:xfrm>
              <a:prstGeom prst="rect">
                <a:avLst/>
              </a:prstGeom>
              <a:noFill/>
              <a:ln w="19050" cap="flat" cmpd="sng" algn="ctr">
                <a:solidFill>
                  <a:srgbClr val="262699"/>
                </a:solidFill>
                <a:prstDash val="sysDash"/>
                <a:miter lim="800000"/>
                <a:tailEnd type="none"/>
              </a:ln>
              <a:effectLst/>
            </p:spPr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kumimoji="0" lang="ja-JP" altLang="en-US" sz="1600" kern="0">
                  <a:solidFill>
                    <a:prstClr val="black"/>
                  </a:solidFill>
                  <a:latin typeface="游ゴシック" panose="020F0502020204030204"/>
                  <a:ea typeface="游ゴシック" panose="020B0400000000000000" pitchFamily="50" charset="-128"/>
                </a:endParaRPr>
              </a:p>
            </p:txBody>
          </p:sp>
          <p:sp>
            <p:nvSpPr>
              <p:cNvPr id="93" name="テキスト ボックス 92">
                <a:extLst>
                  <a:ext uri="{FF2B5EF4-FFF2-40B4-BE49-F238E27FC236}">
                    <a16:creationId xmlns:a16="http://schemas.microsoft.com/office/drawing/2014/main" id="{FCC5020C-5451-A12D-B6F9-409B78FD2E93}"/>
                  </a:ext>
                </a:extLst>
              </p:cNvPr>
              <p:cNvSpPr txBox="1"/>
              <p:nvPr/>
            </p:nvSpPr>
            <p:spPr>
              <a:xfrm>
                <a:off x="7898020" y="3771270"/>
                <a:ext cx="885621" cy="514006"/>
              </a:xfrm>
              <a:prstGeom prst="rect">
                <a:avLst/>
              </a:prstGeom>
              <a:solidFill>
                <a:sysClr val="window" lastClr="FFFFFF"/>
              </a:solidFill>
              <a:ln w="12700" cap="flat">
                <a:noFill/>
                <a:miter lim="400000"/>
              </a:ln>
              <a:effectLst/>
            </p:spPr>
            <p:txBody>
              <a:bodyPr rot="0" spcFirstLastPara="1" vertOverflow="overflow" horzOverflow="overflow" vert="horz" wrap="square" lIns="0" tIns="0" rIns="0" bIns="0" numCol="1" spcCol="38100" rtlCol="0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ja-JP" sz="1050" b="1" i="0" u="none" strike="noStrike" kern="0" cap="none" spc="0" normalizeH="0" baseline="0" noProof="0">
                    <a:ln>
                      <a:noFill/>
                    </a:ln>
                    <a:solidFill>
                      <a:srgbClr val="262699"/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</a:rPr>
                  <a:t>AI</a:t>
                </a:r>
                <a:br>
                  <a:rPr kumimoji="0" lang="en-US" altLang="ja-JP" sz="1050" b="1" i="0" u="none" strike="noStrike" kern="0" cap="none" spc="0" normalizeH="0" baseline="0" noProof="0">
                    <a:ln>
                      <a:noFill/>
                    </a:ln>
                    <a:solidFill>
                      <a:srgbClr val="262699"/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</a:rPr>
                </a:br>
                <a:r>
                  <a:rPr kumimoji="0" lang="ja-JP" altLang="en-US" sz="1050" b="1" i="0" u="none" strike="noStrike" kern="0" cap="none" spc="0" normalizeH="0" baseline="0" noProof="0">
                    <a:ln>
                      <a:noFill/>
                    </a:ln>
                    <a:solidFill>
                      <a:srgbClr val="262699"/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</a:rPr>
                  <a:t>エージェント化</a:t>
                </a:r>
                <a:endParaRPr kumimoji="0" lang="en-US" altLang="ja-JP" sz="1050" b="1" i="0" u="none" strike="noStrike" kern="0" cap="none" spc="0" normalizeH="0" baseline="0" noProof="0">
                  <a:ln>
                    <a:noFill/>
                  </a:ln>
                  <a:solidFill>
                    <a:srgbClr val="262699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cxnSp>
            <p:nvCxnSpPr>
              <p:cNvPr id="94" name="直線コネクタ 93">
                <a:extLst>
                  <a:ext uri="{FF2B5EF4-FFF2-40B4-BE49-F238E27FC236}">
                    <a16:creationId xmlns:a16="http://schemas.microsoft.com/office/drawing/2014/main" id="{9C1DB9F3-800E-D49C-8BEF-4E8A6F62280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799546" y="4349598"/>
                <a:ext cx="2316842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C00000"/>
                </a:solidFill>
                <a:prstDash val="sysDash"/>
                <a:miter lim="800000"/>
                <a:headEnd type="triangle"/>
                <a:tailEnd type="triangle"/>
              </a:ln>
              <a:effectLst/>
            </p:spPr>
          </p:cxnSp>
          <p:sp>
            <p:nvSpPr>
              <p:cNvPr id="95" name="テキスト ボックス 94">
                <a:extLst>
                  <a:ext uri="{FF2B5EF4-FFF2-40B4-BE49-F238E27FC236}">
                    <a16:creationId xmlns:a16="http://schemas.microsoft.com/office/drawing/2014/main" id="{BC206CB9-974D-D875-9123-FE46C05256CF}"/>
                  </a:ext>
                </a:extLst>
              </p:cNvPr>
              <p:cNvSpPr txBox="1"/>
              <p:nvPr/>
            </p:nvSpPr>
            <p:spPr>
              <a:xfrm>
                <a:off x="10545082" y="4263931"/>
                <a:ext cx="984727" cy="171336"/>
              </a:xfrm>
              <a:prstGeom prst="rect">
                <a:avLst/>
              </a:prstGeom>
              <a:solidFill>
                <a:sysClr val="window" lastClr="FFFFFF"/>
              </a:solidFill>
              <a:ln w="12700" cap="flat">
                <a:noFill/>
                <a:miter lim="400000"/>
              </a:ln>
              <a:effectLst/>
            </p:spPr>
            <p:txBody>
              <a:bodyPr rot="0" spcFirstLastPara="1" vertOverflow="overflow" horzOverflow="overflow" vert="horz" wrap="square" lIns="0" tIns="0" rIns="0" bIns="0" numCol="1" spcCol="38100" rtlCol="0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ja-JP" altLang="en-US" sz="1050" b="1" i="0" u="none" strike="noStrike" kern="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</a:rPr>
                  <a:t>リードタイム短縮</a:t>
                </a:r>
                <a:endParaRPr kumimoji="0" lang="en-US" altLang="ja-JP" sz="1050" b="1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</p:grpSp>
        <p:sp>
          <p:nvSpPr>
            <p:cNvPr id="98" name="正方形/長方形 97">
              <a:extLst>
                <a:ext uri="{FF2B5EF4-FFF2-40B4-BE49-F238E27FC236}">
                  <a16:creationId xmlns:a16="http://schemas.microsoft.com/office/drawing/2014/main" id="{6FB3A29F-4126-3E87-32A5-58CE8B29E5D1}"/>
                </a:ext>
              </a:extLst>
            </p:cNvPr>
            <p:cNvSpPr/>
            <p:nvPr/>
          </p:nvSpPr>
          <p:spPr>
            <a:xfrm>
              <a:off x="121737" y="3281692"/>
              <a:ext cx="570562" cy="2315790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ja-JP" sz="1100" kern="0">
                  <a:solidFill>
                    <a:srgbClr val="E7E6E6">
                      <a:lumMod val="50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BPS</a:t>
              </a:r>
              <a:br>
                <a:rPr kumimoji="0" lang="en-US" altLang="ja-JP" sz="1100" kern="0">
                  <a:solidFill>
                    <a:srgbClr val="E7E6E6">
                      <a:lumMod val="50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</a:br>
              <a:r>
                <a:rPr kumimoji="0" lang="ja-JP" altLang="en-US" sz="1100" kern="0">
                  <a:solidFill>
                    <a:srgbClr val="E7E6E6">
                      <a:lumMod val="50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業務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67136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9B275-82E8-70CD-D61C-B6BBBAE47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471F86DA-2301-3482-D1FC-3B5875347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>
                <a:solidFill>
                  <a:schemeClr val="tx1">
                    <a:lumMod val="65000"/>
                    <a:lumOff val="35000"/>
                  </a:schemeClr>
                </a:solidFill>
              </a:rPr>
              <a:t>n8n</a:t>
            </a:r>
            <a:r>
              <a:rPr lang="ja-JP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の</a:t>
            </a:r>
            <a:r>
              <a:rPr lang="en-US" altLang="ja-JP">
                <a:solidFill>
                  <a:schemeClr val="tx1">
                    <a:lumMod val="65000"/>
                    <a:lumOff val="35000"/>
                  </a:schemeClr>
                </a:solidFill>
              </a:rPr>
              <a:t>BPS</a:t>
            </a:r>
            <a:r>
              <a:rPr lang="ja-JP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導入状況について（２</a:t>
            </a:r>
            <a:r>
              <a:rPr lang="en-US" altLang="ja-JP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ja-JP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２）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336443A-220B-8319-0315-2821B09303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826000" y="6634704"/>
            <a:ext cx="2540000" cy="230832"/>
          </a:xfrm>
        </p:spPr>
        <p:txBody>
          <a:bodyPr/>
          <a:lstStyle/>
          <a:p>
            <a:pPr>
              <a:defRPr/>
            </a:pPr>
            <a:fld id="{EB72A429-DDC7-41CC-AC2C-79132BE59620}" type="slidenum">
              <a:rPr lang="en-US" altLang="ja-JP" smtClean="0"/>
              <a:pPr>
                <a:defRPr/>
              </a:pPr>
              <a:t>3</a:t>
            </a:fld>
            <a:endParaRPr lang="en-US" altLang="ja-JP"/>
          </a:p>
        </p:txBody>
      </p:sp>
      <p:sp>
        <p:nvSpPr>
          <p:cNvPr id="2" name="コンテンツ プレースホルダー 5">
            <a:extLst>
              <a:ext uri="{FF2B5EF4-FFF2-40B4-BE49-F238E27FC236}">
                <a16:creationId xmlns:a16="http://schemas.microsoft.com/office/drawing/2014/main" id="{FC08B6A9-BDF4-1121-E958-4F28E5C3C4FF}"/>
              </a:ext>
            </a:extLst>
          </p:cNvPr>
          <p:cNvSpPr txBox="1">
            <a:spLocks/>
          </p:cNvSpPr>
          <p:nvPr/>
        </p:nvSpPr>
        <p:spPr>
          <a:xfrm>
            <a:off x="333374" y="670504"/>
            <a:ext cx="11525251" cy="608654"/>
          </a:xfrm>
          <a:prstGeom prst="rect">
            <a:avLst/>
          </a:prstGeom>
        </p:spPr>
        <p:txBody>
          <a:bodyPr/>
          <a:lstStyle>
            <a:lvl1pPr marL="265113" indent="-265113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  <a:lvl2pPr marL="622300" indent="-177800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2pPr>
            <a:lvl3pPr marL="981075" indent="-1793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3pPr>
            <a:lvl4pPr marL="1338263" indent="-177800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4pPr>
            <a:lvl5pPr marL="17097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5pPr>
            <a:lvl6pPr marL="21669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6241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0813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5385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kern="0"/>
              <a:t>BPS</a:t>
            </a:r>
            <a:r>
              <a:rPr lang="ja-JP" altLang="en-US" sz="1600" kern="0"/>
              <a:t>の</a:t>
            </a:r>
            <a:r>
              <a:rPr lang="en-US" altLang="ja-JP" sz="1600" kern="0"/>
              <a:t>Concur</a:t>
            </a:r>
            <a:r>
              <a:rPr lang="ja-JP" altLang="en-US" sz="1600" kern="0"/>
              <a:t>登録において、</a:t>
            </a:r>
            <a:r>
              <a:rPr lang="en-US" altLang="ja-JP" sz="1600" kern="0"/>
              <a:t>n8n</a:t>
            </a:r>
            <a:r>
              <a:rPr lang="ja-JP" altLang="en-US" sz="1600" kern="0"/>
              <a:t>を導入し</a:t>
            </a:r>
            <a:r>
              <a:rPr lang="en-US" altLang="ja-JP" sz="1600" kern="0"/>
              <a:t>20</a:t>
            </a:r>
            <a:r>
              <a:rPr lang="ja-JP" altLang="en-US" sz="1600" kern="0"/>
              <a:t>件の請求処理約</a:t>
            </a:r>
            <a:r>
              <a:rPr lang="en-US" altLang="ja-JP" sz="1600" kern="0"/>
              <a:t>40</a:t>
            </a:r>
            <a:r>
              <a:rPr lang="ja-JP" altLang="en-US" sz="1600" kern="0"/>
              <a:t>～</a:t>
            </a:r>
            <a:r>
              <a:rPr lang="en-US" altLang="ja-JP" sz="1600" kern="0"/>
              <a:t>50</a:t>
            </a:r>
            <a:r>
              <a:rPr lang="ja-JP" altLang="en-US" sz="1600" kern="0"/>
              <a:t>分が</a:t>
            </a:r>
            <a:r>
              <a:rPr lang="en-US" altLang="ja-JP" sz="1600" kern="0"/>
              <a:t>500</a:t>
            </a:r>
            <a:r>
              <a:rPr lang="ja-JP" altLang="en-US" sz="1600" kern="0"/>
              <a:t>件で</a:t>
            </a:r>
            <a:r>
              <a:rPr lang="ja-JP" altLang="en-US" sz="1600" b="1" kern="0"/>
              <a:t>約</a:t>
            </a:r>
            <a:r>
              <a:rPr lang="en-US" altLang="ja-JP" sz="1600" b="1" kern="0"/>
              <a:t>3</a:t>
            </a:r>
            <a:r>
              <a:rPr lang="ja-JP" altLang="en-US" sz="1600" b="1" kern="0"/>
              <a:t>分（完全自動化）</a:t>
            </a:r>
            <a:r>
              <a:rPr lang="ja-JP" altLang="en-US" sz="1600" kern="0"/>
              <a:t>にできた。</a:t>
            </a:r>
            <a:endParaRPr lang="en-US" altLang="ja-JP" sz="1600" ker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600" kern="0"/>
              <a:t>引き続き残課題の活文連携を進め、</a:t>
            </a:r>
            <a:r>
              <a:rPr lang="en-US" altLang="ja-JP" sz="1600" kern="0"/>
              <a:t>12</a:t>
            </a:r>
            <a:r>
              <a:rPr lang="ja-JP" altLang="en-US" sz="1600" kern="0"/>
              <a:t>月中に正式に</a:t>
            </a:r>
            <a:r>
              <a:rPr lang="en-US" altLang="ja-JP" sz="1600" kern="0"/>
              <a:t>n8n</a:t>
            </a:r>
            <a:r>
              <a:rPr lang="ja-JP" altLang="en-US" sz="1600" kern="0"/>
              <a:t>の導入を</a:t>
            </a:r>
            <a:r>
              <a:rPr lang="en-US" altLang="ja-JP" sz="1600" kern="0"/>
              <a:t>BPS</a:t>
            </a:r>
            <a:r>
              <a:rPr lang="ja-JP" altLang="en-US" sz="1600" kern="0"/>
              <a:t>と合意する。</a:t>
            </a:r>
            <a:endParaRPr lang="en-US" altLang="ja-JP" sz="1600" kern="0"/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4E3B2837-10F2-823A-B693-F923849FA9D8}"/>
              </a:ext>
            </a:extLst>
          </p:cNvPr>
          <p:cNvSpPr txBox="1"/>
          <p:nvPr/>
        </p:nvSpPr>
        <p:spPr bwMode="auto">
          <a:xfrm>
            <a:off x="868795" y="1965067"/>
            <a:ext cx="433638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1" i="0" u="none" strike="noStrike" kern="0" cap="none" spc="0" normalizeH="0" baseline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スプレッドシート（請求情報の登録元）</a:t>
            </a:r>
          </a:p>
        </p:txBody>
      </p:sp>
      <p:cxnSp>
        <p:nvCxnSpPr>
          <p:cNvPr id="58" name="直線コネクタ 57">
            <a:extLst>
              <a:ext uri="{FF2B5EF4-FFF2-40B4-BE49-F238E27FC236}">
                <a16:creationId xmlns:a16="http://schemas.microsoft.com/office/drawing/2014/main" id="{43DBE1CD-6E83-CEB3-9898-7FBCF0C3C3E3}"/>
              </a:ext>
            </a:extLst>
          </p:cNvPr>
          <p:cNvCxnSpPr>
            <a:cxnSpLocks/>
          </p:cNvCxnSpPr>
          <p:nvPr/>
        </p:nvCxnSpPr>
        <p:spPr>
          <a:xfrm>
            <a:off x="868795" y="2272844"/>
            <a:ext cx="4336384" cy="0"/>
          </a:xfrm>
          <a:prstGeom prst="line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pic>
        <p:nvPicPr>
          <p:cNvPr id="37" name="図 36">
            <a:extLst>
              <a:ext uri="{FF2B5EF4-FFF2-40B4-BE49-F238E27FC236}">
                <a16:creationId xmlns:a16="http://schemas.microsoft.com/office/drawing/2014/main" id="{CF99E27F-B540-28CB-19EF-0BA66FC271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796" y="4364056"/>
            <a:ext cx="4336384" cy="1041099"/>
          </a:xfrm>
          <a:prstGeom prst="rect">
            <a:avLst/>
          </a:prstGeom>
          <a:solidFill>
            <a:sysClr val="window" lastClr="FFFFFF"/>
          </a:solidFill>
          <a:ln w="6350">
            <a:solidFill>
              <a:sysClr val="window" lastClr="FFFFFF">
                <a:lumMod val="50000"/>
              </a:sysClr>
            </a:solidFill>
          </a:ln>
        </p:spPr>
      </p:pic>
      <p:pic>
        <p:nvPicPr>
          <p:cNvPr id="42" name="図 41">
            <a:extLst>
              <a:ext uri="{FF2B5EF4-FFF2-40B4-BE49-F238E27FC236}">
                <a16:creationId xmlns:a16="http://schemas.microsoft.com/office/drawing/2014/main" id="{37BB3941-361C-11E4-92FD-4D648542AB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8443" y="4245382"/>
            <a:ext cx="5542302" cy="1275538"/>
          </a:xfrm>
          <a:prstGeom prst="rect">
            <a:avLst/>
          </a:prstGeom>
          <a:solidFill>
            <a:sysClr val="window" lastClr="FFFFFF"/>
          </a:solidFill>
          <a:ln w="6350">
            <a:solidFill>
              <a:sysClr val="window" lastClr="FFFFFF">
                <a:lumMod val="50000"/>
              </a:sysClr>
            </a:solidFill>
          </a:ln>
        </p:spPr>
      </p:pic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B8AF6990-B644-ACEF-A218-4986A5D66AA7}"/>
              </a:ext>
            </a:extLst>
          </p:cNvPr>
          <p:cNvSpPr txBox="1"/>
          <p:nvPr/>
        </p:nvSpPr>
        <p:spPr bwMode="auto">
          <a:xfrm>
            <a:off x="6218441" y="1965067"/>
            <a:ext cx="566667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1" kern="0">
                <a:solidFill>
                  <a:srgbClr val="0065BD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Concur</a:t>
            </a:r>
            <a:r>
              <a:rPr kumimoji="0" lang="ja-JP" altLang="en-US" sz="1400" b="1" kern="0">
                <a:solidFill>
                  <a:srgbClr val="0065BD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登録処理</a:t>
            </a:r>
            <a:endParaRPr kumimoji="0" lang="en-US" altLang="ja-JP" sz="1400" b="1" i="0" u="none" strike="noStrike" kern="0" cap="none" spc="0" normalizeH="0" baseline="0" noProof="0">
              <a:ln>
                <a:noFill/>
              </a:ln>
              <a:solidFill>
                <a:srgbClr val="0065BD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66A339D1-BE50-A43E-CFBE-B3FC7D54DA65}"/>
              </a:ext>
            </a:extLst>
          </p:cNvPr>
          <p:cNvCxnSpPr>
            <a:cxnSpLocks/>
          </p:cNvCxnSpPr>
          <p:nvPr/>
        </p:nvCxnSpPr>
        <p:spPr>
          <a:xfrm>
            <a:off x="6218441" y="2272844"/>
            <a:ext cx="5666671" cy="0"/>
          </a:xfrm>
          <a:prstGeom prst="line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C475F0F5-E137-8D7B-90A6-A8F0CF598908}"/>
              </a:ext>
            </a:extLst>
          </p:cNvPr>
          <p:cNvCxnSpPr>
            <a:cxnSpLocks/>
          </p:cNvCxnSpPr>
          <p:nvPr/>
        </p:nvCxnSpPr>
        <p:spPr>
          <a:xfrm>
            <a:off x="6218442" y="5674760"/>
            <a:ext cx="5542301" cy="0"/>
          </a:xfrm>
          <a:prstGeom prst="straightConnector1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  <a:headEnd type="triangle"/>
            <a:tailEnd type="triangle"/>
          </a:ln>
          <a:effectLst/>
        </p:spPr>
      </p:cxn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DE05C9C0-909A-2E7A-9ACB-D73E623EFB81}"/>
              </a:ext>
            </a:extLst>
          </p:cNvPr>
          <p:cNvSpPr/>
          <p:nvPr/>
        </p:nvSpPr>
        <p:spPr>
          <a:xfrm>
            <a:off x="6218442" y="5679061"/>
            <a:ext cx="5542300" cy="20959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vert="horz" lIns="36000" tIns="36000" rIns="36000" b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1" kern="0">
                <a:solidFill>
                  <a:srgbClr val="0065B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iragino Kaku Gothic Pro W3" charset="-128"/>
              </a:rPr>
              <a:t>500</a:t>
            </a:r>
            <a:r>
              <a:rPr kumimoji="0" lang="ja-JP" altLang="en-US" sz="1400" b="1" kern="0">
                <a:solidFill>
                  <a:srgbClr val="0065B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iragino Kaku Gothic Pro W3" charset="-128"/>
              </a:rPr>
              <a:t>件の請求処理で約</a:t>
            </a:r>
            <a:r>
              <a:rPr kumimoji="0" lang="en-US" altLang="ja-JP" sz="1400" b="1" kern="0">
                <a:solidFill>
                  <a:srgbClr val="0065B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iragino Kaku Gothic Pro W3" charset="-128"/>
              </a:rPr>
              <a:t>3</a:t>
            </a:r>
            <a:r>
              <a:rPr kumimoji="0" lang="ja-JP" altLang="en-US" sz="1400" b="1" kern="0">
                <a:solidFill>
                  <a:srgbClr val="0065B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iragino Kaku Gothic Pro W3" charset="-128"/>
              </a:rPr>
              <a:t>分（活文連携は未実装）</a:t>
            </a:r>
            <a:endParaRPr kumimoji="0" lang="en-US" altLang="ja-JP" sz="1400" b="1" kern="0">
              <a:solidFill>
                <a:srgbClr val="0065BD"/>
              </a:solidFill>
              <a:latin typeface="Meiryo UI" panose="020B0604030504040204" pitchFamily="50" charset="-128"/>
              <a:ea typeface="Meiryo UI" panose="020B0604030504040204" pitchFamily="50" charset="-128"/>
              <a:cs typeface="Hiragino Kaku Gothic Pro W3" charset="-128"/>
            </a:endParaRPr>
          </a:p>
        </p:txBody>
      </p:sp>
      <p:cxnSp>
        <p:nvCxnSpPr>
          <p:cNvPr id="47" name="直線矢印コネクタ 60">
            <a:extLst>
              <a:ext uri="{FF2B5EF4-FFF2-40B4-BE49-F238E27FC236}">
                <a16:creationId xmlns:a16="http://schemas.microsoft.com/office/drawing/2014/main" id="{A832EF10-E8EB-352E-8F4F-27AF25E221B4}"/>
              </a:ext>
            </a:extLst>
          </p:cNvPr>
          <p:cNvCxnSpPr>
            <a:cxnSpLocks/>
            <a:stCxn id="42" idx="1"/>
            <a:endCxn id="73" idx="3"/>
          </p:cNvCxnSpPr>
          <p:nvPr/>
        </p:nvCxnSpPr>
        <p:spPr>
          <a:xfrm flipH="1">
            <a:off x="6054220" y="4883151"/>
            <a:ext cx="164223" cy="1454"/>
          </a:xfrm>
          <a:prstGeom prst="straightConnector1">
            <a:avLst/>
          </a:prstGeom>
          <a:solidFill>
            <a:srgbClr val="FFFFCC"/>
          </a:solidFill>
          <a:ln w="15875" cap="flat" cmpd="sng" algn="ctr">
            <a:solidFill>
              <a:srgbClr val="0070C0"/>
            </a:solidFill>
            <a:prstDash val="solid"/>
            <a:miter lim="800000"/>
            <a:headEnd type="triangl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2AB3318B-5545-54AF-228A-F34C15211289}"/>
              </a:ext>
            </a:extLst>
          </p:cNvPr>
          <p:cNvSpPr/>
          <p:nvPr/>
        </p:nvSpPr>
        <p:spPr>
          <a:xfrm>
            <a:off x="11299283" y="4479113"/>
            <a:ext cx="244624" cy="256669"/>
          </a:xfrm>
          <a:prstGeom prst="rect">
            <a:avLst/>
          </a:prstGeom>
          <a:noFill/>
          <a:ln w="15875" cap="flat" cmpd="sng" algn="ctr">
            <a:solidFill>
              <a:srgbClr val="0070C0"/>
            </a:solidFill>
            <a:prstDash val="solid"/>
            <a:miter lim="800000"/>
            <a:headEnd type="none"/>
            <a:tailEnd type="oval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100" b="0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sym typeface="Arial"/>
            </a:endParaRPr>
          </a:p>
        </p:txBody>
      </p:sp>
      <p:cxnSp>
        <p:nvCxnSpPr>
          <p:cNvPr id="62" name="直線矢印コネクタ 60">
            <a:extLst>
              <a:ext uri="{FF2B5EF4-FFF2-40B4-BE49-F238E27FC236}">
                <a16:creationId xmlns:a16="http://schemas.microsoft.com/office/drawing/2014/main" id="{FCF89665-F019-B96A-A14E-E1AB6AB1A13F}"/>
              </a:ext>
            </a:extLst>
          </p:cNvPr>
          <p:cNvCxnSpPr>
            <a:cxnSpLocks/>
            <a:stCxn id="37" idx="0"/>
            <a:endCxn id="61" idx="3"/>
          </p:cNvCxnSpPr>
          <p:nvPr/>
        </p:nvCxnSpPr>
        <p:spPr>
          <a:xfrm rot="16200000" flipH="1">
            <a:off x="7168751" y="232293"/>
            <a:ext cx="243392" cy="8506919"/>
          </a:xfrm>
          <a:prstGeom prst="bentConnector4">
            <a:avLst>
              <a:gd name="adj1" fmla="val -93923"/>
              <a:gd name="adj2" fmla="val 103896"/>
            </a:avLst>
          </a:prstGeom>
          <a:solidFill>
            <a:srgbClr val="FFFFCC"/>
          </a:solidFill>
          <a:ln w="15875" cap="flat" cmpd="sng" algn="ctr">
            <a:solidFill>
              <a:srgbClr val="0070C0"/>
            </a:solidFill>
            <a:prstDash val="solid"/>
            <a:miter lim="800000"/>
            <a:headEnd type="triangl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pic>
        <p:nvPicPr>
          <p:cNvPr id="69" name="図 68">
            <a:extLst>
              <a:ext uri="{FF2B5EF4-FFF2-40B4-BE49-F238E27FC236}">
                <a16:creationId xmlns:a16="http://schemas.microsoft.com/office/drawing/2014/main" id="{49CB9F3C-6B65-A31E-C99F-811DA5C82A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795" y="2472907"/>
            <a:ext cx="4336384" cy="1041099"/>
          </a:xfrm>
          <a:prstGeom prst="rect">
            <a:avLst/>
          </a:prstGeom>
          <a:solidFill>
            <a:sysClr val="window" lastClr="FFFFFF"/>
          </a:solidFill>
          <a:ln w="6350">
            <a:solidFill>
              <a:sysClr val="window" lastClr="FFFFFF">
                <a:lumMod val="50000"/>
              </a:sysClr>
            </a:solidFill>
          </a:ln>
        </p:spPr>
      </p:pic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78F5AB90-83DA-8F3E-E68D-912A6860615D}"/>
              </a:ext>
            </a:extLst>
          </p:cNvPr>
          <p:cNvSpPr/>
          <p:nvPr/>
        </p:nvSpPr>
        <p:spPr>
          <a:xfrm>
            <a:off x="288783" y="2472906"/>
            <a:ext cx="518693" cy="1041099"/>
          </a:xfrm>
          <a:prstGeom prst="rect">
            <a:avLst/>
          </a:prstGeom>
          <a:solidFill>
            <a:srgbClr val="0065BD"/>
          </a:solidFill>
          <a:ln w="635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ASIS</a:t>
            </a:r>
            <a:endParaRPr kumimoji="0" lang="ja-JP" altLang="en-US" sz="12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A93C4882-F1BD-533A-C66C-EADB1E0969C6}"/>
              </a:ext>
            </a:extLst>
          </p:cNvPr>
          <p:cNvSpPr/>
          <p:nvPr/>
        </p:nvSpPr>
        <p:spPr>
          <a:xfrm>
            <a:off x="288783" y="4353931"/>
            <a:ext cx="518693" cy="1051224"/>
          </a:xfrm>
          <a:prstGeom prst="rect">
            <a:avLst/>
          </a:prstGeom>
          <a:solidFill>
            <a:srgbClr val="0065BD"/>
          </a:solidFill>
          <a:ln w="635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TOBE</a:t>
            </a:r>
            <a:endParaRPr kumimoji="0" lang="ja-JP" altLang="en-US" sz="12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645AF808-02A6-A778-FCDD-F4DBFA26AC87}"/>
              </a:ext>
            </a:extLst>
          </p:cNvPr>
          <p:cNvSpPr/>
          <p:nvPr/>
        </p:nvSpPr>
        <p:spPr>
          <a:xfrm>
            <a:off x="5369402" y="2780986"/>
            <a:ext cx="684818" cy="42494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5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GAS</a:t>
            </a:r>
            <a:endParaRPr lang="ja-JP" altLang="en-US" sz="105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376B6233-A002-3A9A-E5FA-DA50F6BC38CA}"/>
              </a:ext>
            </a:extLst>
          </p:cNvPr>
          <p:cNvSpPr/>
          <p:nvPr/>
        </p:nvSpPr>
        <p:spPr>
          <a:xfrm>
            <a:off x="5369402" y="4672135"/>
            <a:ext cx="684818" cy="42494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5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GAS</a:t>
            </a:r>
            <a:endParaRPr lang="ja-JP" altLang="en-US" sz="105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99406606-0430-F434-958A-07EA9FDECE36}"/>
              </a:ext>
            </a:extLst>
          </p:cNvPr>
          <p:cNvSpPr/>
          <p:nvPr/>
        </p:nvSpPr>
        <p:spPr>
          <a:xfrm>
            <a:off x="6218443" y="2780986"/>
            <a:ext cx="1278127" cy="42494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5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RPA</a:t>
            </a:r>
            <a:r>
              <a:rPr lang="ja-JP" altLang="en-US" sz="105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登録専用</a:t>
            </a:r>
            <a:r>
              <a:rPr lang="en-US" altLang="ja-JP" sz="1050" err="1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ExcelVBA</a:t>
            </a:r>
            <a:r>
              <a:rPr lang="ja-JP" altLang="en-US" sz="105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①準備</a:t>
            </a:r>
          </a:p>
        </p:txBody>
      </p:sp>
      <p:cxnSp>
        <p:nvCxnSpPr>
          <p:cNvPr id="75" name="直線矢印コネクタ 60">
            <a:extLst>
              <a:ext uri="{FF2B5EF4-FFF2-40B4-BE49-F238E27FC236}">
                <a16:creationId xmlns:a16="http://schemas.microsoft.com/office/drawing/2014/main" id="{E7A97404-720D-EB19-2C7F-667BA1988463}"/>
              </a:ext>
            </a:extLst>
          </p:cNvPr>
          <p:cNvCxnSpPr>
            <a:cxnSpLocks/>
            <a:stCxn id="73" idx="1"/>
            <a:endCxn id="37" idx="3"/>
          </p:cNvCxnSpPr>
          <p:nvPr/>
        </p:nvCxnSpPr>
        <p:spPr>
          <a:xfrm flipH="1">
            <a:off x="5205180" y="4884605"/>
            <a:ext cx="164222" cy="1"/>
          </a:xfrm>
          <a:prstGeom prst="straightConnector1">
            <a:avLst/>
          </a:prstGeom>
          <a:solidFill>
            <a:srgbClr val="FFFFCC"/>
          </a:solidFill>
          <a:ln w="15875" cap="flat" cmpd="sng" algn="ctr">
            <a:solidFill>
              <a:srgbClr val="0070C0"/>
            </a:solidFill>
            <a:prstDash val="solid"/>
            <a:miter lim="800000"/>
            <a:headEnd type="triangl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78" name="直線矢印コネクタ 60">
            <a:extLst>
              <a:ext uri="{FF2B5EF4-FFF2-40B4-BE49-F238E27FC236}">
                <a16:creationId xmlns:a16="http://schemas.microsoft.com/office/drawing/2014/main" id="{987DFB20-6CDE-66B1-4EE5-295032E77F82}"/>
              </a:ext>
            </a:extLst>
          </p:cNvPr>
          <p:cNvCxnSpPr>
            <a:cxnSpLocks/>
            <a:stCxn id="72" idx="1"/>
            <a:endCxn id="69" idx="3"/>
          </p:cNvCxnSpPr>
          <p:nvPr/>
        </p:nvCxnSpPr>
        <p:spPr>
          <a:xfrm flipH="1">
            <a:off x="5205179" y="2993456"/>
            <a:ext cx="164223" cy="1"/>
          </a:xfrm>
          <a:prstGeom prst="straightConnector1">
            <a:avLst/>
          </a:prstGeom>
          <a:solidFill>
            <a:srgbClr val="FFFFCC"/>
          </a:solidFill>
          <a:ln w="15875" cap="flat" cmpd="sng" algn="ctr">
            <a:solidFill>
              <a:srgbClr val="0070C0"/>
            </a:solidFill>
            <a:prstDash val="solid"/>
            <a:miter lim="800000"/>
            <a:headEnd type="triangl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81" name="直線矢印コネクタ 60">
            <a:extLst>
              <a:ext uri="{FF2B5EF4-FFF2-40B4-BE49-F238E27FC236}">
                <a16:creationId xmlns:a16="http://schemas.microsoft.com/office/drawing/2014/main" id="{AB112BAD-B29E-5074-9017-6F4750EC6DDF}"/>
              </a:ext>
            </a:extLst>
          </p:cNvPr>
          <p:cNvCxnSpPr>
            <a:cxnSpLocks/>
            <a:stCxn id="74" idx="1"/>
            <a:endCxn id="72" idx="3"/>
          </p:cNvCxnSpPr>
          <p:nvPr/>
        </p:nvCxnSpPr>
        <p:spPr>
          <a:xfrm flipH="1">
            <a:off x="6054220" y="2993456"/>
            <a:ext cx="164223" cy="0"/>
          </a:xfrm>
          <a:prstGeom prst="straightConnector1">
            <a:avLst/>
          </a:prstGeom>
          <a:solidFill>
            <a:srgbClr val="FFFFCC"/>
          </a:solidFill>
          <a:ln w="15875" cap="flat" cmpd="sng" algn="ctr">
            <a:solidFill>
              <a:srgbClr val="0070C0"/>
            </a:solidFill>
            <a:prstDash val="solid"/>
            <a:miter lim="800000"/>
            <a:headEnd type="triangl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7BD1024C-BB69-3D74-FE39-B4EEE7D7CC09}"/>
              </a:ext>
            </a:extLst>
          </p:cNvPr>
          <p:cNvSpPr/>
          <p:nvPr/>
        </p:nvSpPr>
        <p:spPr>
          <a:xfrm>
            <a:off x="7639834" y="2780986"/>
            <a:ext cx="1278127" cy="42494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50" err="1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UIPath</a:t>
            </a:r>
            <a:r>
              <a:rPr lang="ja-JP" altLang="en-US" sz="105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処理</a:t>
            </a:r>
            <a:r>
              <a:rPr lang="en-US" altLang="ja-JP" sz="105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/</a:t>
            </a:r>
            <a:br>
              <a:rPr lang="en-US" altLang="ja-JP" sz="105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en-US" altLang="ja-JP" sz="1050" err="1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ExcelVBA</a:t>
            </a:r>
            <a:r>
              <a:rPr lang="ja-JP" altLang="en-US" sz="105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①実行</a:t>
            </a:r>
          </a:p>
        </p:txBody>
      </p:sp>
      <p:cxnSp>
        <p:nvCxnSpPr>
          <p:cNvPr id="85" name="直線矢印コネクタ 60">
            <a:extLst>
              <a:ext uri="{FF2B5EF4-FFF2-40B4-BE49-F238E27FC236}">
                <a16:creationId xmlns:a16="http://schemas.microsoft.com/office/drawing/2014/main" id="{EDCB2C04-5E37-E6F0-01A5-FB961A6F3647}"/>
              </a:ext>
            </a:extLst>
          </p:cNvPr>
          <p:cNvCxnSpPr>
            <a:cxnSpLocks/>
            <a:stCxn id="84" idx="1"/>
            <a:endCxn id="74" idx="3"/>
          </p:cNvCxnSpPr>
          <p:nvPr/>
        </p:nvCxnSpPr>
        <p:spPr>
          <a:xfrm flipH="1">
            <a:off x="7496570" y="2993456"/>
            <a:ext cx="143264" cy="0"/>
          </a:xfrm>
          <a:prstGeom prst="straightConnector1">
            <a:avLst/>
          </a:prstGeom>
          <a:solidFill>
            <a:srgbClr val="FFFFCC"/>
          </a:solidFill>
          <a:ln w="15875" cap="flat" cmpd="sng" algn="ctr">
            <a:solidFill>
              <a:srgbClr val="0070C0"/>
            </a:solidFill>
            <a:prstDash val="solid"/>
            <a:miter lim="800000"/>
            <a:headEnd type="triangl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BE9B0695-71BD-129D-2BCE-124711BC2F2C}"/>
              </a:ext>
            </a:extLst>
          </p:cNvPr>
          <p:cNvSpPr/>
          <p:nvPr/>
        </p:nvSpPr>
        <p:spPr>
          <a:xfrm>
            <a:off x="9061226" y="2780986"/>
            <a:ext cx="1278127" cy="42494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50" err="1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UIPath</a:t>
            </a:r>
            <a:r>
              <a:rPr lang="ja-JP" altLang="en-US" sz="105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結果確認</a:t>
            </a:r>
            <a:r>
              <a:rPr lang="en-US" altLang="ja-JP" sz="105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/ </a:t>
            </a:r>
            <a:r>
              <a:rPr lang="en-US" altLang="ja-JP" sz="1050" err="1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ExcelVBA</a:t>
            </a:r>
            <a:r>
              <a:rPr lang="ja-JP" altLang="en-US" sz="105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②処理</a:t>
            </a:r>
          </a:p>
        </p:txBody>
      </p:sp>
      <p:cxnSp>
        <p:nvCxnSpPr>
          <p:cNvPr id="89" name="直線矢印コネクタ 60">
            <a:extLst>
              <a:ext uri="{FF2B5EF4-FFF2-40B4-BE49-F238E27FC236}">
                <a16:creationId xmlns:a16="http://schemas.microsoft.com/office/drawing/2014/main" id="{907ACFDA-AE6A-76C4-A687-798245E6BEA0}"/>
              </a:ext>
            </a:extLst>
          </p:cNvPr>
          <p:cNvCxnSpPr>
            <a:cxnSpLocks/>
            <a:stCxn id="88" idx="1"/>
            <a:endCxn id="84" idx="3"/>
          </p:cNvCxnSpPr>
          <p:nvPr/>
        </p:nvCxnSpPr>
        <p:spPr>
          <a:xfrm flipH="1">
            <a:off x="8917961" y="2993456"/>
            <a:ext cx="143265" cy="0"/>
          </a:xfrm>
          <a:prstGeom prst="straightConnector1">
            <a:avLst/>
          </a:prstGeom>
          <a:solidFill>
            <a:srgbClr val="FFFFCC"/>
          </a:solidFill>
          <a:ln w="15875" cap="flat" cmpd="sng" algn="ctr">
            <a:solidFill>
              <a:srgbClr val="0070C0"/>
            </a:solidFill>
            <a:prstDash val="solid"/>
            <a:miter lim="800000"/>
            <a:headEnd type="triangl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95" name="正方形/長方形 94">
            <a:extLst>
              <a:ext uri="{FF2B5EF4-FFF2-40B4-BE49-F238E27FC236}">
                <a16:creationId xmlns:a16="http://schemas.microsoft.com/office/drawing/2014/main" id="{5897CF2F-AB45-6D22-8425-58EA7CCEC943}"/>
              </a:ext>
            </a:extLst>
          </p:cNvPr>
          <p:cNvSpPr/>
          <p:nvPr/>
        </p:nvSpPr>
        <p:spPr>
          <a:xfrm>
            <a:off x="10482618" y="2775206"/>
            <a:ext cx="1278127" cy="42494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5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スプレッドシート</a:t>
            </a:r>
            <a:br>
              <a:rPr lang="en-US" altLang="ja-JP" sz="105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105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手動更新</a:t>
            </a:r>
          </a:p>
        </p:txBody>
      </p:sp>
      <p:cxnSp>
        <p:nvCxnSpPr>
          <p:cNvPr id="96" name="直線矢印コネクタ 60">
            <a:extLst>
              <a:ext uri="{FF2B5EF4-FFF2-40B4-BE49-F238E27FC236}">
                <a16:creationId xmlns:a16="http://schemas.microsoft.com/office/drawing/2014/main" id="{D4CDF5FD-FAD8-D678-416D-8D32D70641D2}"/>
              </a:ext>
            </a:extLst>
          </p:cNvPr>
          <p:cNvCxnSpPr>
            <a:cxnSpLocks/>
            <a:stCxn id="95" idx="1"/>
            <a:endCxn id="88" idx="3"/>
          </p:cNvCxnSpPr>
          <p:nvPr/>
        </p:nvCxnSpPr>
        <p:spPr>
          <a:xfrm flipH="1">
            <a:off x="10339353" y="2987676"/>
            <a:ext cx="143265" cy="5780"/>
          </a:xfrm>
          <a:prstGeom prst="straightConnector1">
            <a:avLst/>
          </a:prstGeom>
          <a:solidFill>
            <a:srgbClr val="FFFFCC"/>
          </a:solidFill>
          <a:ln w="15875" cap="flat" cmpd="sng" algn="ctr">
            <a:solidFill>
              <a:srgbClr val="0070C0"/>
            </a:solidFill>
            <a:prstDash val="solid"/>
            <a:miter lim="800000"/>
            <a:headEnd type="triangl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99" name="直線矢印コネクタ 60">
            <a:extLst>
              <a:ext uri="{FF2B5EF4-FFF2-40B4-BE49-F238E27FC236}">
                <a16:creationId xmlns:a16="http://schemas.microsoft.com/office/drawing/2014/main" id="{DE88F1AE-8A91-53DB-C339-851A15F8B4A7}"/>
              </a:ext>
            </a:extLst>
          </p:cNvPr>
          <p:cNvCxnSpPr>
            <a:cxnSpLocks/>
            <a:stCxn id="69" idx="0"/>
            <a:endCxn id="95" idx="3"/>
          </p:cNvCxnSpPr>
          <p:nvPr/>
        </p:nvCxnSpPr>
        <p:spPr>
          <a:xfrm rot="16200000" flipH="1">
            <a:off x="7141481" y="-1631588"/>
            <a:ext cx="514769" cy="8723758"/>
          </a:xfrm>
          <a:prstGeom prst="bentConnector4">
            <a:avLst>
              <a:gd name="adj1" fmla="val -19785"/>
              <a:gd name="adj2" fmla="val 101375"/>
            </a:avLst>
          </a:prstGeom>
          <a:solidFill>
            <a:srgbClr val="FFFFCC"/>
          </a:solidFill>
          <a:ln w="15875" cap="flat" cmpd="sng" algn="ctr">
            <a:solidFill>
              <a:srgbClr val="0070C0"/>
            </a:solidFill>
            <a:prstDash val="solid"/>
            <a:miter lim="800000"/>
            <a:headEnd type="triangl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116" name="直線矢印コネクタ 115">
            <a:extLst>
              <a:ext uri="{FF2B5EF4-FFF2-40B4-BE49-F238E27FC236}">
                <a16:creationId xmlns:a16="http://schemas.microsoft.com/office/drawing/2014/main" id="{92620565-9D42-9E23-294C-8DACE014755D}"/>
              </a:ext>
            </a:extLst>
          </p:cNvPr>
          <p:cNvCxnSpPr>
            <a:cxnSpLocks/>
          </p:cNvCxnSpPr>
          <p:nvPr/>
        </p:nvCxnSpPr>
        <p:spPr>
          <a:xfrm>
            <a:off x="6218442" y="3609162"/>
            <a:ext cx="5542301" cy="0"/>
          </a:xfrm>
          <a:prstGeom prst="straightConnector1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  <a:headEnd type="triangle"/>
            <a:tailEnd type="triangle"/>
          </a:ln>
          <a:effectLst/>
        </p:spPr>
      </p:cxnSp>
      <p:sp>
        <p:nvSpPr>
          <p:cNvPr id="117" name="正方形/長方形 116">
            <a:extLst>
              <a:ext uri="{FF2B5EF4-FFF2-40B4-BE49-F238E27FC236}">
                <a16:creationId xmlns:a16="http://schemas.microsoft.com/office/drawing/2014/main" id="{2CABA381-BF90-1330-A352-7C8AF9B357CE}"/>
              </a:ext>
            </a:extLst>
          </p:cNvPr>
          <p:cNvSpPr/>
          <p:nvPr/>
        </p:nvSpPr>
        <p:spPr>
          <a:xfrm>
            <a:off x="6218442" y="3613463"/>
            <a:ext cx="5542300" cy="20959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vert="horz" lIns="36000" tIns="36000" rIns="36000" b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1" kern="0">
                <a:solidFill>
                  <a:srgbClr val="0065B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iragino Kaku Gothic Pro W3" charset="-128"/>
              </a:rPr>
              <a:t>20</a:t>
            </a:r>
            <a:r>
              <a:rPr kumimoji="0" lang="ja-JP" altLang="en-US" sz="1400" b="1" kern="0">
                <a:solidFill>
                  <a:srgbClr val="0065B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iragino Kaku Gothic Pro W3" charset="-128"/>
              </a:rPr>
              <a:t>件の請求処理で約</a:t>
            </a:r>
            <a:r>
              <a:rPr kumimoji="0" lang="en-US" altLang="ja-JP" sz="1400" b="1" kern="0">
                <a:solidFill>
                  <a:srgbClr val="0065B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iragino Kaku Gothic Pro W3" charset="-128"/>
              </a:rPr>
              <a:t>40</a:t>
            </a:r>
            <a:r>
              <a:rPr kumimoji="0" lang="ja-JP" altLang="en-US" sz="1400" b="1" kern="0">
                <a:solidFill>
                  <a:srgbClr val="0065B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iragino Kaku Gothic Pro W3" charset="-128"/>
              </a:rPr>
              <a:t>～</a:t>
            </a:r>
            <a:r>
              <a:rPr kumimoji="0" lang="en-US" altLang="ja-JP" sz="1400" b="1" kern="0">
                <a:solidFill>
                  <a:srgbClr val="0065B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iragino Kaku Gothic Pro W3" charset="-128"/>
              </a:rPr>
              <a:t>50</a:t>
            </a:r>
            <a:r>
              <a:rPr kumimoji="0" lang="ja-JP" altLang="en-US" sz="1400" b="1" kern="0">
                <a:solidFill>
                  <a:srgbClr val="0065B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iragino Kaku Gothic Pro W3" charset="-128"/>
              </a:rPr>
              <a:t>分</a:t>
            </a:r>
            <a:endParaRPr kumimoji="0" lang="en-US" altLang="ja-JP" sz="1400" b="1" kern="0">
              <a:solidFill>
                <a:srgbClr val="0065BD"/>
              </a:solidFill>
              <a:latin typeface="Meiryo UI" panose="020B0604030504040204" pitchFamily="50" charset="-128"/>
              <a:ea typeface="Meiryo UI" panose="020B0604030504040204" pitchFamily="50" charset="-128"/>
              <a:cs typeface="Hiragino Kaku Gothic Pro W3" charset="-128"/>
            </a:endParaRPr>
          </a:p>
        </p:txBody>
      </p:sp>
      <p:sp>
        <p:nvSpPr>
          <p:cNvPr id="118" name="四角形: 角を丸くする 117">
            <a:extLst>
              <a:ext uri="{FF2B5EF4-FFF2-40B4-BE49-F238E27FC236}">
                <a16:creationId xmlns:a16="http://schemas.microsoft.com/office/drawing/2014/main" id="{12823F54-2CAC-F12A-179F-9642313EE175}"/>
              </a:ext>
            </a:extLst>
          </p:cNvPr>
          <p:cNvSpPr/>
          <p:nvPr/>
        </p:nvSpPr>
        <p:spPr>
          <a:xfrm>
            <a:off x="8499454" y="3169833"/>
            <a:ext cx="490139" cy="184655"/>
          </a:xfrm>
          <a:prstGeom prst="roundRect">
            <a:avLst/>
          </a:prstGeom>
          <a:solidFill>
            <a:srgbClr val="4472C4">
              <a:lumMod val="20000"/>
              <a:lumOff val="80000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700" i="0" u="none" strike="noStrike" kern="0" cap="none" spc="0" normalizeH="0" baseline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自動化</a:t>
            </a:r>
          </a:p>
        </p:txBody>
      </p:sp>
      <p:sp>
        <p:nvSpPr>
          <p:cNvPr id="119" name="四角形: 角を丸くする 118">
            <a:extLst>
              <a:ext uri="{FF2B5EF4-FFF2-40B4-BE49-F238E27FC236}">
                <a16:creationId xmlns:a16="http://schemas.microsoft.com/office/drawing/2014/main" id="{6E34B472-CD59-F0E7-4819-C8BFAC64E916}"/>
              </a:ext>
            </a:extLst>
          </p:cNvPr>
          <p:cNvSpPr/>
          <p:nvPr/>
        </p:nvSpPr>
        <p:spPr>
          <a:xfrm>
            <a:off x="11367018" y="5427984"/>
            <a:ext cx="490139" cy="184655"/>
          </a:xfrm>
          <a:prstGeom prst="roundRect">
            <a:avLst/>
          </a:prstGeom>
          <a:solidFill>
            <a:srgbClr val="4472C4">
              <a:lumMod val="20000"/>
              <a:lumOff val="80000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ja-JP" sz="800" b="1" kern="0">
                <a:solidFill>
                  <a:srgbClr val="0065BD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n8n</a:t>
            </a:r>
            <a:endParaRPr kumimoji="0" lang="ja-JP" altLang="en-US" sz="800" b="1" kern="0">
              <a:solidFill>
                <a:srgbClr val="0065BD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46265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71449-A3D1-53C5-E9F0-244EFFA2C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F2F5729D-6C23-41E7-15E0-4DF49E7A2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対象業務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AB0266A-F584-16BE-666B-50E45DD547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826000" y="6634704"/>
            <a:ext cx="2540000" cy="230832"/>
          </a:xfrm>
        </p:spPr>
        <p:txBody>
          <a:bodyPr/>
          <a:lstStyle/>
          <a:p>
            <a:pPr>
              <a:defRPr/>
            </a:pPr>
            <a:fld id="{EB72A429-DDC7-41CC-AC2C-79132BE59620}" type="slidenum">
              <a:rPr lang="en-US" altLang="ja-JP" smtClean="0"/>
              <a:pPr>
                <a:defRPr/>
              </a:pPr>
              <a:t>4</a:t>
            </a:fld>
            <a:endParaRPr lang="en-US" altLang="ja-JP"/>
          </a:p>
        </p:txBody>
      </p:sp>
      <p:sp>
        <p:nvSpPr>
          <p:cNvPr id="12" name="コンテンツ プレースホルダー 5">
            <a:extLst>
              <a:ext uri="{FF2B5EF4-FFF2-40B4-BE49-F238E27FC236}">
                <a16:creationId xmlns:a16="http://schemas.microsoft.com/office/drawing/2014/main" id="{73952984-EA8C-39E6-A742-9EA5DD163F67}"/>
              </a:ext>
            </a:extLst>
          </p:cNvPr>
          <p:cNvSpPr txBox="1">
            <a:spLocks/>
          </p:cNvSpPr>
          <p:nvPr/>
        </p:nvSpPr>
        <p:spPr>
          <a:xfrm>
            <a:off x="333374" y="670504"/>
            <a:ext cx="11525251" cy="608654"/>
          </a:xfrm>
          <a:prstGeom prst="rect">
            <a:avLst/>
          </a:prstGeom>
        </p:spPr>
        <p:txBody>
          <a:bodyPr/>
          <a:lstStyle>
            <a:lvl1pPr marL="265113" indent="-265113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  <a:lvl2pPr marL="622300" indent="-177800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2pPr>
            <a:lvl3pPr marL="981075" indent="-1793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3pPr>
            <a:lvl4pPr marL="1338263" indent="-177800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4pPr>
            <a:lvl5pPr marL="17097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5pPr>
            <a:lvl6pPr marL="21669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6241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0813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5385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kern="0" dirty="0" err="1"/>
              <a:t>ConcurInvoice</a:t>
            </a:r>
            <a:r>
              <a:rPr lang="ja-JP" altLang="en-US" sz="1600" kern="0" dirty="0"/>
              <a:t>のチェックフローを対象に、請求情報と添付証憑の情報をもとに</a:t>
            </a:r>
            <a:r>
              <a:rPr lang="en-US" altLang="ja-JP" sz="1600" kern="0" dirty="0"/>
              <a:t>AI</a:t>
            </a:r>
            <a:r>
              <a:rPr lang="ja-JP" altLang="en-US" sz="1600" kern="0" dirty="0"/>
              <a:t>にてチェックを行います。</a:t>
            </a:r>
            <a:endParaRPr lang="en-US" altLang="ja-JP" sz="1600" kern="0" dirty="0"/>
          </a:p>
        </p:txBody>
      </p:sp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313EDF9C-167C-398E-7D02-3227AB30BEF8}"/>
              </a:ext>
            </a:extLst>
          </p:cNvPr>
          <p:cNvGrpSpPr/>
          <p:nvPr/>
        </p:nvGrpSpPr>
        <p:grpSpPr>
          <a:xfrm>
            <a:off x="591209" y="1665752"/>
            <a:ext cx="11009583" cy="4228054"/>
            <a:chOff x="488886" y="1086333"/>
            <a:chExt cx="11009583" cy="4228054"/>
          </a:xfrm>
        </p:grpSpPr>
        <p:pic>
          <p:nvPicPr>
            <p:cNvPr id="18" name="図 17">
              <a:extLst>
                <a:ext uri="{FF2B5EF4-FFF2-40B4-BE49-F238E27FC236}">
                  <a16:creationId xmlns:a16="http://schemas.microsoft.com/office/drawing/2014/main" id="{141F980F-D2B2-651B-1FEE-5CA0949CEB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55479" y="1395237"/>
              <a:ext cx="3272397" cy="607601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0" name="図 19">
              <a:extLst>
                <a:ext uri="{FF2B5EF4-FFF2-40B4-BE49-F238E27FC236}">
                  <a16:creationId xmlns:a16="http://schemas.microsoft.com/office/drawing/2014/main" id="{273BAB93-DCF9-E09A-B79A-BE7156BEA6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4687"/>
            <a:stretch>
              <a:fillRect/>
            </a:stretch>
          </p:blipFill>
          <p:spPr>
            <a:xfrm>
              <a:off x="4890774" y="1395238"/>
              <a:ext cx="3272398" cy="270362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2" name="図 21">
              <a:extLst>
                <a:ext uri="{FF2B5EF4-FFF2-40B4-BE49-F238E27FC236}">
                  <a16:creationId xmlns:a16="http://schemas.microsoft.com/office/drawing/2014/main" id="{0A42DFE2-FA54-7EE7-3130-B2A2E080AEE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21545" y="1395238"/>
              <a:ext cx="3272398" cy="270362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529A831D-860F-86C8-3480-19674903D411}"/>
                </a:ext>
              </a:extLst>
            </p:cNvPr>
            <p:cNvGrpSpPr/>
            <p:nvPr/>
          </p:nvGrpSpPr>
          <p:grpSpPr>
            <a:xfrm>
              <a:off x="1555479" y="1086335"/>
              <a:ext cx="3272397" cy="276999"/>
              <a:chOff x="868795" y="2007615"/>
              <a:chExt cx="4336384" cy="276999"/>
            </a:xfrm>
          </p:grpSpPr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98B0A04C-FAB2-520E-AF08-0E89752CEFF4}"/>
                  </a:ext>
                </a:extLst>
              </p:cNvPr>
              <p:cNvSpPr txBox="1"/>
              <p:nvPr/>
            </p:nvSpPr>
            <p:spPr bwMode="auto">
              <a:xfrm>
                <a:off x="868795" y="2007615"/>
                <a:ext cx="4336384" cy="2769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ja-JP" altLang="en-US" sz="1200" b="1" kern="0" dirty="0">
                    <a:solidFill>
                      <a:srgbClr val="E7E6E6">
                        <a:lumMod val="50000"/>
                      </a:srgb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</a:rPr>
                  <a:t>支払申請種類の確認</a:t>
                </a:r>
                <a:endParaRPr kumimoji="0" lang="ja-JP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50000"/>
                    </a:srgbClr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cxnSp>
            <p:nvCxnSpPr>
              <p:cNvPr id="10" name="直線コネクタ 9">
                <a:extLst>
                  <a:ext uri="{FF2B5EF4-FFF2-40B4-BE49-F238E27FC236}">
                    <a16:creationId xmlns:a16="http://schemas.microsoft.com/office/drawing/2014/main" id="{CCD1B542-6EC3-8209-1D57-CF7BA466CC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8795" y="2272844"/>
                <a:ext cx="4336384" cy="0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2A1AE1BD-EFF8-845E-4B72-836DE3F40E5A}"/>
                </a:ext>
              </a:extLst>
            </p:cNvPr>
            <p:cNvGrpSpPr/>
            <p:nvPr/>
          </p:nvGrpSpPr>
          <p:grpSpPr>
            <a:xfrm>
              <a:off x="4890775" y="1086334"/>
              <a:ext cx="3272397" cy="276999"/>
              <a:chOff x="868795" y="2007615"/>
              <a:chExt cx="4336384" cy="276999"/>
            </a:xfrm>
          </p:grpSpPr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FA3F84AE-ABEC-1B9B-2498-9ECBECFB6C00}"/>
                  </a:ext>
                </a:extLst>
              </p:cNvPr>
              <p:cNvSpPr txBox="1"/>
              <p:nvPr/>
            </p:nvSpPr>
            <p:spPr bwMode="auto">
              <a:xfrm>
                <a:off x="868795" y="2007615"/>
                <a:ext cx="4336384" cy="2769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ja-JP" altLang="en-US" sz="1200" b="1" kern="0" dirty="0">
                    <a:solidFill>
                      <a:srgbClr val="E7E6E6">
                        <a:lumMod val="50000"/>
                      </a:srgb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</a:rPr>
                  <a:t>請求書に値する証憑の特定</a:t>
                </a:r>
                <a:endParaRPr kumimoji="0" lang="ja-JP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50000"/>
                    </a:srgbClr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cxnSp>
            <p:nvCxnSpPr>
              <p:cNvPr id="15" name="直線コネクタ 14">
                <a:extLst>
                  <a:ext uri="{FF2B5EF4-FFF2-40B4-BE49-F238E27FC236}">
                    <a16:creationId xmlns:a16="http://schemas.microsoft.com/office/drawing/2014/main" id="{5A68EF0A-D8C0-8A6E-162F-0081550DFF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8795" y="2272844"/>
                <a:ext cx="4336384" cy="0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24" name="グループ化 23">
              <a:extLst>
                <a:ext uri="{FF2B5EF4-FFF2-40B4-BE49-F238E27FC236}">
                  <a16:creationId xmlns:a16="http://schemas.microsoft.com/office/drawing/2014/main" id="{506270DA-655F-4E8C-482B-D9A9CB53FA78}"/>
                </a:ext>
              </a:extLst>
            </p:cNvPr>
            <p:cNvGrpSpPr/>
            <p:nvPr/>
          </p:nvGrpSpPr>
          <p:grpSpPr>
            <a:xfrm>
              <a:off x="8221546" y="1086333"/>
              <a:ext cx="3272397" cy="276999"/>
              <a:chOff x="868795" y="2007615"/>
              <a:chExt cx="4336384" cy="276999"/>
            </a:xfrm>
          </p:grpSpPr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815189F5-8C1E-BF4E-09B8-A785EE087AA2}"/>
                  </a:ext>
                </a:extLst>
              </p:cNvPr>
              <p:cNvSpPr txBox="1"/>
              <p:nvPr/>
            </p:nvSpPr>
            <p:spPr bwMode="auto">
              <a:xfrm>
                <a:off x="868795" y="2007615"/>
                <a:ext cx="4336384" cy="2769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ja-JP" altLang="en-US" sz="1200" b="1" kern="0" dirty="0">
                    <a:solidFill>
                      <a:srgbClr val="E7E6E6">
                        <a:lumMod val="50000"/>
                      </a:srgb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</a:rPr>
                  <a:t>支払申請チェック</a:t>
                </a:r>
                <a:endParaRPr kumimoji="0" lang="ja-JP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50000"/>
                    </a:srgbClr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cxnSp>
            <p:nvCxnSpPr>
              <p:cNvPr id="26" name="直線コネクタ 25">
                <a:extLst>
                  <a:ext uri="{FF2B5EF4-FFF2-40B4-BE49-F238E27FC236}">
                    <a16:creationId xmlns:a16="http://schemas.microsoft.com/office/drawing/2014/main" id="{CD23D838-D185-EEB9-69FD-021D339122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8795" y="2272844"/>
                <a:ext cx="4336384" cy="0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087063D6-F313-BF65-2140-7842C60DA36C}"/>
                </a:ext>
              </a:extLst>
            </p:cNvPr>
            <p:cNvSpPr/>
            <p:nvPr/>
          </p:nvSpPr>
          <p:spPr>
            <a:xfrm>
              <a:off x="488887" y="1396700"/>
              <a:ext cx="999165" cy="2702162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ja-JP" altLang="en-US" sz="1200" b="1" kern="0" dirty="0">
                  <a:solidFill>
                    <a:srgbClr val="E7E6E6">
                      <a:lumMod val="50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業務</a:t>
              </a:r>
              <a:br>
                <a:rPr kumimoji="0" lang="en-US" altLang="ja-JP" sz="1200" b="1" kern="0" dirty="0">
                  <a:solidFill>
                    <a:srgbClr val="E7E6E6">
                      <a:lumMod val="50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</a:br>
              <a:r>
                <a:rPr kumimoji="0" lang="ja-JP" altLang="en-US" sz="1200" b="1" kern="0" dirty="0">
                  <a:solidFill>
                    <a:srgbClr val="E7E6E6">
                      <a:lumMod val="50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マニュアル</a:t>
              </a:r>
              <a:br>
                <a:rPr kumimoji="0" lang="en-US" altLang="ja-JP" sz="1200" b="1" kern="0" dirty="0">
                  <a:solidFill>
                    <a:srgbClr val="E7E6E6">
                      <a:lumMod val="50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</a:br>
              <a:r>
                <a:rPr kumimoji="0" lang="ja-JP" altLang="en-US" sz="1200" b="1" kern="0" dirty="0">
                  <a:solidFill>
                    <a:srgbClr val="E7E6E6">
                      <a:lumMod val="50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一部抜粋</a:t>
              </a:r>
            </a:p>
          </p:txBody>
        </p:sp>
        <p:grpSp>
          <p:nvGrpSpPr>
            <p:cNvPr id="38" name="グループ化 37">
              <a:extLst>
                <a:ext uri="{FF2B5EF4-FFF2-40B4-BE49-F238E27FC236}">
                  <a16:creationId xmlns:a16="http://schemas.microsoft.com/office/drawing/2014/main" id="{DB17E8FA-331C-150F-C588-1E90A3239DBB}"/>
                </a:ext>
              </a:extLst>
            </p:cNvPr>
            <p:cNvGrpSpPr/>
            <p:nvPr/>
          </p:nvGrpSpPr>
          <p:grpSpPr>
            <a:xfrm>
              <a:off x="488886" y="4195754"/>
              <a:ext cx="11009583" cy="1118633"/>
              <a:chOff x="777655" y="4195754"/>
              <a:chExt cx="11009583" cy="1118633"/>
            </a:xfrm>
          </p:grpSpPr>
          <p:sp>
            <p:nvSpPr>
              <p:cNvPr id="30" name="正方形/長方形 29">
                <a:extLst>
                  <a:ext uri="{FF2B5EF4-FFF2-40B4-BE49-F238E27FC236}">
                    <a16:creationId xmlns:a16="http://schemas.microsoft.com/office/drawing/2014/main" id="{95EB49BE-132F-5136-85E7-B01B350213EB}"/>
                  </a:ext>
                </a:extLst>
              </p:cNvPr>
              <p:cNvSpPr/>
              <p:nvPr/>
            </p:nvSpPr>
            <p:spPr>
              <a:xfrm>
                <a:off x="777655" y="4195754"/>
                <a:ext cx="999165" cy="1118633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ja-JP" sz="1200" b="1" kern="0" dirty="0">
                    <a:solidFill>
                      <a:srgbClr val="E7E6E6">
                        <a:lumMod val="50000"/>
                      </a:srgb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</a:rPr>
                  <a:t>AI</a:t>
                </a:r>
                <a:r>
                  <a:rPr kumimoji="0" lang="ja-JP" altLang="en-US" sz="1200" b="1" kern="0" dirty="0">
                    <a:solidFill>
                      <a:srgbClr val="E7E6E6">
                        <a:lumMod val="50000"/>
                      </a:srgb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</a:rPr>
                  <a:t>処理</a:t>
                </a:r>
                <a:endParaRPr kumimoji="0" lang="en-US" altLang="ja-JP" sz="1200" b="1" kern="0" dirty="0">
                  <a:solidFill>
                    <a:srgbClr val="E7E6E6">
                      <a:lumMod val="50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ja-JP" altLang="en-US" sz="1200" b="1" kern="0" dirty="0">
                    <a:solidFill>
                      <a:srgbClr val="E7E6E6">
                        <a:lumMod val="50000"/>
                      </a:srgb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</a:rPr>
                  <a:t>確認内容</a:t>
                </a:r>
                <a:br>
                  <a:rPr kumimoji="0" lang="en-US" altLang="ja-JP" sz="1200" b="1" kern="0" dirty="0">
                    <a:solidFill>
                      <a:srgbClr val="E7E6E6">
                        <a:lumMod val="50000"/>
                      </a:srgb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</a:rPr>
                </a:br>
                <a:r>
                  <a:rPr kumimoji="0" lang="ja-JP" altLang="en-US" sz="1200" b="1" kern="0" dirty="0">
                    <a:solidFill>
                      <a:srgbClr val="E7E6E6">
                        <a:lumMod val="50000"/>
                      </a:srgb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</a:rPr>
                  <a:t>（例）</a:t>
                </a:r>
              </a:p>
            </p:txBody>
          </p:sp>
          <p:sp>
            <p:nvSpPr>
              <p:cNvPr id="31" name="正方形/長方形 30">
                <a:extLst>
                  <a:ext uri="{FF2B5EF4-FFF2-40B4-BE49-F238E27FC236}">
                    <a16:creationId xmlns:a16="http://schemas.microsoft.com/office/drawing/2014/main" id="{D8FDE2BF-4778-BCED-ED07-63C99181E53C}"/>
                  </a:ext>
                </a:extLst>
              </p:cNvPr>
              <p:cNvSpPr/>
              <p:nvPr/>
            </p:nvSpPr>
            <p:spPr>
              <a:xfrm>
                <a:off x="1839721" y="4195754"/>
                <a:ext cx="3281450" cy="1118633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t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ja-JP" altLang="en-US" sz="1100" kern="0" dirty="0">
                    <a:solidFill>
                      <a:srgbClr val="E7E6E6">
                        <a:lumMod val="50000"/>
                      </a:srgb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</a:rPr>
                  <a:t>申請書の種類を以下のパターンで分類する</a:t>
                </a:r>
                <a:endParaRPr kumimoji="0" lang="en-US" altLang="ja-JP" sz="1100" kern="0" dirty="0">
                  <a:solidFill>
                    <a:srgbClr val="E7E6E6">
                      <a:lumMod val="50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  <a:p>
                <a:pPr marL="228600" indent="-228600" fontAlgn="auto">
                  <a:spcBef>
                    <a:spcPts val="0"/>
                  </a:spcBef>
                  <a:spcAft>
                    <a:spcPts val="0"/>
                  </a:spcAft>
                  <a:buFont typeface="+mj-ea"/>
                  <a:buAutoNum type="circleNumDbPlain"/>
                </a:pPr>
                <a:r>
                  <a:rPr kumimoji="0" lang="ja-JP" altLang="en-US" sz="1100" kern="0" dirty="0">
                    <a:solidFill>
                      <a:srgbClr val="E7E6E6">
                        <a:lumMod val="50000"/>
                      </a:srgb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</a:rPr>
                  <a:t>通常支払</a:t>
                </a:r>
                <a:endParaRPr kumimoji="0" lang="en-US" altLang="ja-JP" sz="1100" kern="0" dirty="0">
                  <a:solidFill>
                    <a:srgbClr val="E7E6E6">
                      <a:lumMod val="50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  <a:p>
                <a:pPr marL="228600" indent="-228600" fontAlgn="auto">
                  <a:spcBef>
                    <a:spcPts val="0"/>
                  </a:spcBef>
                  <a:spcAft>
                    <a:spcPts val="0"/>
                  </a:spcAft>
                  <a:buFont typeface="+mj-ea"/>
                  <a:buAutoNum type="circleNumDbPlain"/>
                </a:pPr>
                <a:r>
                  <a:rPr kumimoji="0" lang="ja-JP" altLang="en-US" sz="1100" kern="0" dirty="0">
                    <a:solidFill>
                      <a:srgbClr val="E7E6E6">
                        <a:lumMod val="50000"/>
                      </a:srgb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</a:rPr>
                  <a:t>固定資産</a:t>
                </a:r>
                <a:endParaRPr kumimoji="0" lang="en-US" altLang="ja-JP" sz="1100" kern="0" dirty="0">
                  <a:solidFill>
                    <a:srgbClr val="E7E6E6">
                      <a:lumMod val="50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  <a:p>
                <a:pPr marL="228600" indent="-228600" fontAlgn="auto">
                  <a:spcBef>
                    <a:spcPts val="0"/>
                  </a:spcBef>
                  <a:spcAft>
                    <a:spcPts val="0"/>
                  </a:spcAft>
                  <a:buFont typeface="+mj-ea"/>
                  <a:buAutoNum type="circleNumDbPlain"/>
                </a:pPr>
                <a:r>
                  <a:rPr kumimoji="0" lang="ja-JP" altLang="en-US" sz="1100" kern="0" dirty="0">
                    <a:solidFill>
                      <a:srgbClr val="E7E6E6">
                        <a:lumMod val="50000"/>
                      </a:srgb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</a:rPr>
                  <a:t>納付書</a:t>
                </a:r>
              </a:p>
            </p:txBody>
          </p:sp>
          <p:sp>
            <p:nvSpPr>
              <p:cNvPr id="32" name="正方形/長方形 31">
                <a:extLst>
                  <a:ext uri="{FF2B5EF4-FFF2-40B4-BE49-F238E27FC236}">
                    <a16:creationId xmlns:a16="http://schemas.microsoft.com/office/drawing/2014/main" id="{B8F324B3-144D-F505-5D7E-EE757369F4F0}"/>
                  </a:ext>
                </a:extLst>
              </p:cNvPr>
              <p:cNvSpPr/>
              <p:nvPr/>
            </p:nvSpPr>
            <p:spPr>
              <a:xfrm>
                <a:off x="5175017" y="4195754"/>
                <a:ext cx="3281450" cy="1118633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t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ja-JP" altLang="en-US" sz="1100" kern="0" dirty="0">
                    <a:solidFill>
                      <a:srgbClr val="E7E6E6">
                        <a:lumMod val="50000"/>
                      </a:srgb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</a:rPr>
                  <a:t>請求書に値する証憑か以下の内容をチェックする</a:t>
                </a:r>
                <a:endParaRPr kumimoji="0" lang="en-US" altLang="ja-JP" sz="1100" kern="0" dirty="0">
                  <a:solidFill>
                    <a:srgbClr val="E7E6E6">
                      <a:lumMod val="50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  <a:p>
                <a:pPr marL="228600" indent="-228600" fontAlgn="auto">
                  <a:spcBef>
                    <a:spcPts val="0"/>
                  </a:spcBef>
                  <a:spcAft>
                    <a:spcPts val="0"/>
                  </a:spcAft>
                  <a:buFont typeface="+mj-ea"/>
                  <a:buAutoNum type="circleNumDbPlain"/>
                </a:pPr>
                <a:r>
                  <a:rPr kumimoji="0" lang="ja-JP" altLang="en-US" sz="1100" kern="0" dirty="0">
                    <a:solidFill>
                      <a:srgbClr val="E7E6E6">
                        <a:lumMod val="50000"/>
                      </a:srgb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</a:rPr>
                  <a:t>金額が確認できるか</a:t>
                </a:r>
                <a:endParaRPr kumimoji="0" lang="en-US" altLang="ja-JP" sz="1100" kern="0" dirty="0">
                  <a:solidFill>
                    <a:srgbClr val="E7E6E6">
                      <a:lumMod val="50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  <a:p>
                <a:pPr marL="228600" indent="-228600" fontAlgn="auto">
                  <a:spcBef>
                    <a:spcPts val="0"/>
                  </a:spcBef>
                  <a:spcAft>
                    <a:spcPts val="0"/>
                  </a:spcAft>
                  <a:buFont typeface="+mj-ea"/>
                  <a:buAutoNum type="circleNumDbPlain"/>
                </a:pPr>
                <a:r>
                  <a:rPr kumimoji="0" lang="ja-JP" altLang="en-US" sz="1100" kern="0" dirty="0">
                    <a:solidFill>
                      <a:srgbClr val="E7E6E6">
                        <a:lumMod val="50000"/>
                      </a:srgb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</a:rPr>
                  <a:t>支払先・発行元が確認できるか</a:t>
                </a:r>
                <a:endParaRPr kumimoji="0" lang="en-US" altLang="ja-JP" sz="1100" kern="0" dirty="0">
                  <a:solidFill>
                    <a:srgbClr val="E7E6E6">
                      <a:lumMod val="50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  <a:p>
                <a:pPr marL="228600" indent="-228600" fontAlgn="auto">
                  <a:spcBef>
                    <a:spcPts val="0"/>
                  </a:spcBef>
                  <a:spcAft>
                    <a:spcPts val="0"/>
                  </a:spcAft>
                  <a:buFont typeface="+mj-ea"/>
                  <a:buAutoNum type="circleNumDbPlain"/>
                </a:pPr>
                <a:r>
                  <a:rPr kumimoji="0" lang="ja-JP" altLang="en-US" sz="1100" kern="0" dirty="0">
                    <a:solidFill>
                      <a:srgbClr val="E7E6E6">
                        <a:lumMod val="50000"/>
                      </a:srgb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</a:rPr>
                  <a:t>支払口座 銀行・支店などが確認できるか</a:t>
                </a:r>
                <a:endParaRPr kumimoji="0" lang="en-US" altLang="ja-JP" sz="1100" kern="0" dirty="0">
                  <a:solidFill>
                    <a:srgbClr val="E7E6E6">
                      <a:lumMod val="50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  <a:p>
                <a:pPr marL="228600" indent="-228600" fontAlgn="auto">
                  <a:spcBef>
                    <a:spcPts val="0"/>
                  </a:spcBef>
                  <a:spcAft>
                    <a:spcPts val="0"/>
                  </a:spcAft>
                  <a:buFont typeface="+mj-ea"/>
                  <a:buAutoNum type="circleNumDbPlain"/>
                </a:pPr>
                <a:r>
                  <a:rPr kumimoji="0" lang="ja-JP" altLang="en-US" sz="1100" kern="0" dirty="0">
                    <a:solidFill>
                      <a:srgbClr val="E7E6E6">
                        <a:lumMod val="50000"/>
                      </a:srgb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</a:rPr>
                  <a:t>宛名が確認できるか</a:t>
                </a:r>
                <a:endParaRPr kumimoji="0" lang="en-US" altLang="ja-JP" sz="1100" kern="0" dirty="0">
                  <a:solidFill>
                    <a:srgbClr val="E7E6E6">
                      <a:lumMod val="50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ja-JP" sz="1100" kern="0" dirty="0">
                    <a:solidFill>
                      <a:srgbClr val="E7E6E6">
                        <a:lumMod val="50000"/>
                      </a:srgb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</a:rPr>
                  <a:t>…</a:t>
                </a:r>
                <a:endParaRPr kumimoji="0" lang="ja-JP" altLang="en-US" sz="1100" kern="0" dirty="0">
                  <a:solidFill>
                    <a:srgbClr val="E7E6E6">
                      <a:lumMod val="50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33" name="正方形/長方形 32">
                <a:extLst>
                  <a:ext uri="{FF2B5EF4-FFF2-40B4-BE49-F238E27FC236}">
                    <a16:creationId xmlns:a16="http://schemas.microsoft.com/office/drawing/2014/main" id="{2AC8AB68-DA27-C042-C9C8-2C20F2044EFC}"/>
                  </a:ext>
                </a:extLst>
              </p:cNvPr>
              <p:cNvSpPr/>
              <p:nvPr/>
            </p:nvSpPr>
            <p:spPr>
              <a:xfrm>
                <a:off x="8505788" y="4195754"/>
                <a:ext cx="3281450" cy="1118633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t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ja-JP" altLang="en-US" sz="1100" kern="0" dirty="0">
                    <a:solidFill>
                      <a:srgbClr val="E7E6E6">
                        <a:lumMod val="50000"/>
                      </a:srgb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</a:rPr>
                  <a:t>証憑画像と請求情報が同一か以下の観点でチェックする</a:t>
                </a:r>
                <a:endParaRPr kumimoji="0" lang="en-US" altLang="ja-JP" sz="1100" kern="0" dirty="0">
                  <a:solidFill>
                    <a:srgbClr val="E7E6E6">
                      <a:lumMod val="50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  <a:p>
                <a:pPr marL="228600" indent="-228600" fontAlgn="auto">
                  <a:spcBef>
                    <a:spcPts val="0"/>
                  </a:spcBef>
                  <a:spcAft>
                    <a:spcPts val="0"/>
                  </a:spcAft>
                  <a:buFont typeface="+mj-ea"/>
                  <a:buAutoNum type="circleNumDbPlain"/>
                </a:pPr>
                <a:r>
                  <a:rPr kumimoji="0" lang="ja-JP" altLang="en-US" sz="1100" kern="0" dirty="0">
                    <a:solidFill>
                      <a:srgbClr val="E7E6E6">
                        <a:lumMod val="50000"/>
                      </a:srgb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</a:rPr>
                  <a:t>それぞれの宛名（会社名）が同一か</a:t>
                </a:r>
                <a:endParaRPr kumimoji="0" lang="en-US" altLang="ja-JP" sz="1100" kern="0" dirty="0">
                  <a:solidFill>
                    <a:srgbClr val="E7E6E6">
                      <a:lumMod val="50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  <a:p>
                <a:pPr marL="228600" indent="-228600" fontAlgn="auto">
                  <a:spcBef>
                    <a:spcPts val="0"/>
                  </a:spcBef>
                  <a:spcAft>
                    <a:spcPts val="0"/>
                  </a:spcAft>
                  <a:buFont typeface="+mj-ea"/>
                  <a:buAutoNum type="circleNumDbPlain"/>
                </a:pPr>
                <a:r>
                  <a:rPr kumimoji="0" lang="ja-JP" altLang="en-US" sz="1100" kern="0" dirty="0">
                    <a:solidFill>
                      <a:srgbClr val="E7E6E6">
                        <a:lumMod val="50000"/>
                      </a:srgb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</a:rPr>
                  <a:t>支払先（会社名）が同一か</a:t>
                </a:r>
                <a:endParaRPr kumimoji="0" lang="en-US" altLang="ja-JP" sz="1100" kern="0" dirty="0">
                  <a:solidFill>
                    <a:srgbClr val="E7E6E6">
                      <a:lumMod val="50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  <a:p>
                <a:pPr marL="228600" indent="-228600" fontAlgn="auto">
                  <a:spcBef>
                    <a:spcPts val="0"/>
                  </a:spcBef>
                  <a:spcAft>
                    <a:spcPts val="0"/>
                  </a:spcAft>
                  <a:buFont typeface="+mj-ea"/>
                  <a:buAutoNum type="circleNumDbPlain"/>
                </a:pPr>
                <a:r>
                  <a:rPr kumimoji="0" lang="ja-JP" altLang="en-US" sz="1100" kern="0" dirty="0">
                    <a:solidFill>
                      <a:srgbClr val="E7E6E6">
                        <a:lumMod val="50000"/>
                      </a:srgb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</a:rPr>
                  <a:t>口座情報が同一か</a:t>
                </a:r>
                <a:endParaRPr kumimoji="0" lang="en-US" altLang="ja-JP" sz="1100" kern="0" dirty="0">
                  <a:solidFill>
                    <a:srgbClr val="E7E6E6">
                      <a:lumMod val="50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  <a:p>
                <a:pPr marL="228600" indent="-228600" fontAlgn="auto">
                  <a:spcBef>
                    <a:spcPts val="0"/>
                  </a:spcBef>
                  <a:spcAft>
                    <a:spcPts val="0"/>
                  </a:spcAft>
                  <a:buFont typeface="+mj-ea"/>
                  <a:buAutoNum type="circleNumDbPlain"/>
                </a:pPr>
                <a:r>
                  <a:rPr kumimoji="0" lang="ja-JP" altLang="en-US" sz="1100" kern="0" dirty="0">
                    <a:solidFill>
                      <a:srgbClr val="E7E6E6">
                        <a:lumMod val="50000"/>
                      </a:srgb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</a:rPr>
                  <a:t>支払日が同一か</a:t>
                </a:r>
                <a:endParaRPr kumimoji="0" lang="en-US" altLang="ja-JP" sz="1100" kern="0" dirty="0">
                  <a:solidFill>
                    <a:srgbClr val="E7E6E6">
                      <a:lumMod val="50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ja-JP" sz="1100" kern="0" dirty="0">
                    <a:solidFill>
                      <a:srgbClr val="E7E6E6">
                        <a:lumMod val="50000"/>
                      </a:srgb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</a:rPr>
                  <a:t>…</a:t>
                </a:r>
                <a:endParaRPr kumimoji="0" lang="ja-JP" altLang="en-US" sz="1100" kern="0" dirty="0">
                  <a:solidFill>
                    <a:srgbClr val="E7E6E6">
                      <a:lumMod val="50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10180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0074C-BC15-C534-6EEA-CC5CE83D4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4D45AE43-8FEB-51D7-0B66-9A00D2581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データパターン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BA24439-810D-9FCB-65F9-603B4EED0F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826000" y="6634704"/>
            <a:ext cx="2540000" cy="230832"/>
          </a:xfrm>
        </p:spPr>
        <p:txBody>
          <a:bodyPr/>
          <a:lstStyle/>
          <a:p>
            <a:pPr>
              <a:defRPr/>
            </a:pPr>
            <a:fld id="{EB72A429-DDC7-41CC-AC2C-79132BE59620}" type="slidenum">
              <a:rPr lang="en-US" altLang="ja-JP" smtClean="0"/>
              <a:pPr>
                <a:defRPr/>
              </a:pPr>
              <a:t>5</a:t>
            </a:fld>
            <a:endParaRPr lang="en-US" altLang="ja-JP"/>
          </a:p>
        </p:txBody>
      </p:sp>
      <p:sp>
        <p:nvSpPr>
          <p:cNvPr id="12" name="コンテンツ プレースホルダー 5">
            <a:extLst>
              <a:ext uri="{FF2B5EF4-FFF2-40B4-BE49-F238E27FC236}">
                <a16:creationId xmlns:a16="http://schemas.microsoft.com/office/drawing/2014/main" id="{E0288E7E-B739-84BC-8400-F2FFD5CD9E98}"/>
              </a:ext>
            </a:extLst>
          </p:cNvPr>
          <p:cNvSpPr txBox="1">
            <a:spLocks/>
          </p:cNvSpPr>
          <p:nvPr/>
        </p:nvSpPr>
        <p:spPr>
          <a:xfrm>
            <a:off x="333374" y="670504"/>
            <a:ext cx="11525251" cy="608654"/>
          </a:xfrm>
          <a:prstGeom prst="rect">
            <a:avLst/>
          </a:prstGeom>
        </p:spPr>
        <p:txBody>
          <a:bodyPr/>
          <a:lstStyle>
            <a:lvl1pPr marL="265113" indent="-265113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  <a:lvl2pPr marL="622300" indent="-177800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2pPr>
            <a:lvl3pPr marL="981075" indent="-1793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3pPr>
            <a:lvl4pPr marL="1338263" indent="-177800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4pPr>
            <a:lvl5pPr marL="17097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5pPr>
            <a:lvl6pPr marL="21669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6241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0813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5385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600" kern="0" dirty="0"/>
              <a:t>請求データと証憑画像の完全一致の</a:t>
            </a:r>
            <a:r>
              <a:rPr lang="en-US" altLang="ja-JP" sz="1600" kern="0" dirty="0"/>
              <a:t>OK</a:t>
            </a:r>
            <a:r>
              <a:rPr lang="ja-JP" altLang="en-US" sz="1600" kern="0" dirty="0"/>
              <a:t>パターンおよび請求データの金額と銀行情報の不一致のそれぞれ</a:t>
            </a:r>
            <a:r>
              <a:rPr lang="en-US" altLang="ja-JP" sz="1600" kern="0" dirty="0"/>
              <a:t>NG</a:t>
            </a:r>
            <a:r>
              <a:rPr lang="ja-JP" altLang="en-US" sz="1600" kern="0" dirty="0"/>
              <a:t>パターンの</a:t>
            </a:r>
            <a:r>
              <a:rPr lang="en-US" altLang="ja-JP" sz="1600" kern="0" dirty="0"/>
              <a:t>2</a:t>
            </a:r>
            <a:r>
              <a:rPr lang="ja-JP" altLang="en-US" sz="1600" kern="0" dirty="0"/>
              <a:t>件になります。</a:t>
            </a:r>
            <a:endParaRPr lang="en-US" altLang="ja-JP" sz="1600" kern="0" dirty="0"/>
          </a:p>
        </p:txBody>
      </p:sp>
      <p:grpSp>
        <p:nvGrpSpPr>
          <p:cNvPr id="62" name="グループ化 61">
            <a:extLst>
              <a:ext uri="{FF2B5EF4-FFF2-40B4-BE49-F238E27FC236}">
                <a16:creationId xmlns:a16="http://schemas.microsoft.com/office/drawing/2014/main" id="{D24B94A7-93EF-8B9E-94A8-1C134CE6104A}"/>
              </a:ext>
            </a:extLst>
          </p:cNvPr>
          <p:cNvGrpSpPr/>
          <p:nvPr/>
        </p:nvGrpSpPr>
        <p:grpSpPr>
          <a:xfrm>
            <a:off x="332858" y="1306332"/>
            <a:ext cx="11526284" cy="5155708"/>
            <a:chOff x="409851" y="1306332"/>
            <a:chExt cx="11526284" cy="5155708"/>
          </a:xfrm>
        </p:grpSpPr>
        <p:grpSp>
          <p:nvGrpSpPr>
            <p:cNvPr id="34" name="グループ化 33">
              <a:extLst>
                <a:ext uri="{FF2B5EF4-FFF2-40B4-BE49-F238E27FC236}">
                  <a16:creationId xmlns:a16="http://schemas.microsoft.com/office/drawing/2014/main" id="{9F39F8E7-116B-7793-10CE-73802BDB17CB}"/>
                </a:ext>
              </a:extLst>
            </p:cNvPr>
            <p:cNvGrpSpPr/>
            <p:nvPr/>
          </p:nvGrpSpPr>
          <p:grpSpPr>
            <a:xfrm>
              <a:off x="409851" y="1306332"/>
              <a:ext cx="8982195" cy="5155708"/>
              <a:chOff x="1484769" y="1306332"/>
              <a:chExt cx="8982195" cy="5155708"/>
            </a:xfrm>
          </p:grpSpPr>
          <p:grpSp>
            <p:nvGrpSpPr>
              <p:cNvPr id="28" name="グループ化 27">
                <a:extLst>
                  <a:ext uri="{FF2B5EF4-FFF2-40B4-BE49-F238E27FC236}">
                    <a16:creationId xmlns:a16="http://schemas.microsoft.com/office/drawing/2014/main" id="{1060EC54-B981-DB16-67D7-3DC83AAC21F0}"/>
                  </a:ext>
                </a:extLst>
              </p:cNvPr>
              <p:cNvGrpSpPr/>
              <p:nvPr/>
            </p:nvGrpSpPr>
            <p:grpSpPr>
              <a:xfrm>
                <a:off x="1484769" y="1306333"/>
                <a:ext cx="3343107" cy="5153941"/>
                <a:chOff x="1484769" y="1043787"/>
                <a:chExt cx="3343107" cy="5153941"/>
              </a:xfrm>
            </p:grpSpPr>
            <p:grpSp>
              <p:nvGrpSpPr>
                <p:cNvPr id="11" name="グループ化 10">
                  <a:extLst>
                    <a:ext uri="{FF2B5EF4-FFF2-40B4-BE49-F238E27FC236}">
                      <a16:creationId xmlns:a16="http://schemas.microsoft.com/office/drawing/2014/main" id="{444ADB72-B13D-038C-6433-5B50F7F8BABB}"/>
                    </a:ext>
                  </a:extLst>
                </p:cNvPr>
                <p:cNvGrpSpPr/>
                <p:nvPr/>
              </p:nvGrpSpPr>
              <p:grpSpPr>
                <a:xfrm>
                  <a:off x="1484769" y="1043787"/>
                  <a:ext cx="3343107" cy="307777"/>
                  <a:chOff x="868795" y="1965067"/>
                  <a:chExt cx="4336384" cy="307777"/>
                </a:xfrm>
              </p:grpSpPr>
              <p:sp>
                <p:nvSpPr>
                  <p:cNvPr id="2" name="テキスト ボックス 1">
                    <a:extLst>
                      <a:ext uri="{FF2B5EF4-FFF2-40B4-BE49-F238E27FC236}">
                        <a16:creationId xmlns:a16="http://schemas.microsoft.com/office/drawing/2014/main" id="{E4379538-BC4E-FFE6-3275-C5C16169E0AF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868795" y="1965067"/>
                    <a:ext cx="4336384" cy="30777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 rtlCol="0" anchor="ctr">
                    <a:sp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ja-JP" altLang="en-US" sz="1400" b="1" kern="0" dirty="0">
                        <a:solidFill>
                          <a:srgbClr val="E7E6E6">
                            <a:lumMod val="50000"/>
                          </a:srgbClr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rPr>
                      <a:t>帳票イメージ</a:t>
                    </a:r>
                    <a:endParaRPr kumimoji="0" lang="ja-JP" altLang="en-US" sz="14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E7E6E6">
                          <a:lumMod val="50000"/>
                        </a:srgbClr>
                      </a:solidFill>
                      <a:effectLst/>
                      <a:uLnTx/>
                      <a:uFillTx/>
                      <a:latin typeface="Meiryo UI" panose="020B0604030504040204" pitchFamily="50" charset="-128"/>
                      <a:ea typeface="Meiryo UI" panose="020B0604030504040204" pitchFamily="50" charset="-128"/>
                    </a:endParaRPr>
                  </a:p>
                </p:txBody>
              </p:sp>
              <p:cxnSp>
                <p:nvCxnSpPr>
                  <p:cNvPr id="10" name="直線コネクタ 9">
                    <a:extLst>
                      <a:ext uri="{FF2B5EF4-FFF2-40B4-BE49-F238E27FC236}">
                        <a16:creationId xmlns:a16="http://schemas.microsoft.com/office/drawing/2014/main" id="{03BAB7A9-2674-C808-11A8-589C9E8B98C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68795" y="2272844"/>
                    <a:ext cx="4336384" cy="0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</p:cxnSp>
            </p:grpSp>
            <p:pic>
              <p:nvPicPr>
                <p:cNvPr id="7" name="図 6">
                  <a:extLst>
                    <a:ext uri="{FF2B5EF4-FFF2-40B4-BE49-F238E27FC236}">
                      <a16:creationId xmlns:a16="http://schemas.microsoft.com/office/drawing/2014/main" id="{AB7234A3-CB16-67CA-BDC6-F4E7095DC4B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484769" y="1453177"/>
                  <a:ext cx="3341232" cy="4744551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</p:grpSp>
          <p:grpSp>
            <p:nvGrpSpPr>
              <p:cNvPr id="27" name="グループ化 26">
                <a:extLst>
                  <a:ext uri="{FF2B5EF4-FFF2-40B4-BE49-F238E27FC236}">
                    <a16:creationId xmlns:a16="http://schemas.microsoft.com/office/drawing/2014/main" id="{0BC15C65-318F-27C8-51FA-07D10056790A}"/>
                  </a:ext>
                </a:extLst>
              </p:cNvPr>
              <p:cNvGrpSpPr/>
              <p:nvPr/>
            </p:nvGrpSpPr>
            <p:grpSpPr>
              <a:xfrm>
                <a:off x="5361391" y="1306332"/>
                <a:ext cx="5105573" cy="5155708"/>
                <a:chOff x="5361391" y="1043786"/>
                <a:chExt cx="5105573" cy="5155708"/>
              </a:xfrm>
            </p:grpSpPr>
            <p:grpSp>
              <p:nvGrpSpPr>
                <p:cNvPr id="13" name="グループ化 12">
                  <a:extLst>
                    <a:ext uri="{FF2B5EF4-FFF2-40B4-BE49-F238E27FC236}">
                      <a16:creationId xmlns:a16="http://schemas.microsoft.com/office/drawing/2014/main" id="{B72FEFCF-B2A2-6529-91D0-4CB5466B5FB4}"/>
                    </a:ext>
                  </a:extLst>
                </p:cNvPr>
                <p:cNvGrpSpPr/>
                <p:nvPr/>
              </p:nvGrpSpPr>
              <p:grpSpPr>
                <a:xfrm>
                  <a:off x="5361391" y="1043786"/>
                  <a:ext cx="5105573" cy="307777"/>
                  <a:chOff x="868795" y="1965067"/>
                  <a:chExt cx="4336384" cy="307777"/>
                </a:xfrm>
              </p:grpSpPr>
              <p:sp>
                <p:nvSpPr>
                  <p:cNvPr id="14" name="テキスト ボックス 13">
                    <a:extLst>
                      <a:ext uri="{FF2B5EF4-FFF2-40B4-BE49-F238E27FC236}">
                        <a16:creationId xmlns:a16="http://schemas.microsoft.com/office/drawing/2014/main" id="{F203A4BA-9A60-3614-B4F6-05C9EE616E78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868795" y="1965067"/>
                    <a:ext cx="4336384" cy="30777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 rtlCol="0" anchor="ctr">
                    <a:sp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ja-JP" altLang="en-US" sz="1400" b="1" kern="0" dirty="0">
                        <a:solidFill>
                          <a:srgbClr val="E7E6E6">
                            <a:lumMod val="50000"/>
                          </a:srgbClr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rPr>
                      <a:t>データパターン</a:t>
                    </a:r>
                    <a:endParaRPr kumimoji="0" lang="ja-JP" altLang="en-US" sz="14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E7E6E6">
                          <a:lumMod val="50000"/>
                        </a:srgbClr>
                      </a:solidFill>
                      <a:effectLst/>
                      <a:uLnTx/>
                      <a:uFillTx/>
                      <a:latin typeface="Meiryo UI" panose="020B0604030504040204" pitchFamily="50" charset="-128"/>
                      <a:ea typeface="Meiryo UI" panose="020B0604030504040204" pitchFamily="50" charset="-128"/>
                    </a:endParaRPr>
                  </a:p>
                </p:txBody>
              </p:sp>
              <p:cxnSp>
                <p:nvCxnSpPr>
                  <p:cNvPr id="15" name="直線コネクタ 14">
                    <a:extLst>
                      <a:ext uri="{FF2B5EF4-FFF2-40B4-BE49-F238E27FC236}">
                        <a16:creationId xmlns:a16="http://schemas.microsoft.com/office/drawing/2014/main" id="{A24FED3A-94C4-A451-60B4-A5870DE70C3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68795" y="2272844"/>
                    <a:ext cx="4336384" cy="0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</p:cxnSp>
            </p:grpSp>
            <p:grpSp>
              <p:nvGrpSpPr>
                <p:cNvPr id="23" name="グループ化 22">
                  <a:extLst>
                    <a:ext uri="{FF2B5EF4-FFF2-40B4-BE49-F238E27FC236}">
                      <a16:creationId xmlns:a16="http://schemas.microsoft.com/office/drawing/2014/main" id="{E36DB722-8D0E-E7BC-BB0D-B034DD029E7A}"/>
                    </a:ext>
                  </a:extLst>
                </p:cNvPr>
                <p:cNvGrpSpPr/>
                <p:nvPr/>
              </p:nvGrpSpPr>
              <p:grpSpPr>
                <a:xfrm>
                  <a:off x="5361391" y="1453177"/>
                  <a:ext cx="5105573" cy="4746317"/>
                  <a:chOff x="4961341" y="1721158"/>
                  <a:chExt cx="5845884" cy="5434536"/>
                </a:xfrm>
              </p:grpSpPr>
              <p:pic>
                <p:nvPicPr>
                  <p:cNvPr id="9" name="図 8">
                    <a:extLst>
                      <a:ext uri="{FF2B5EF4-FFF2-40B4-BE49-F238E27FC236}">
                        <a16:creationId xmlns:a16="http://schemas.microsoft.com/office/drawing/2014/main" id="{C4D5D745-2592-82E2-0D04-94B4A1FCB23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4961341" y="1721158"/>
                    <a:ext cx="5845884" cy="1772252"/>
                  </a:xfrm>
                  <a:prstGeom prst="rect">
                    <a:avLst/>
                  </a:prstGeom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</p:pic>
              <p:pic>
                <p:nvPicPr>
                  <p:cNvPr id="17" name="図 16">
                    <a:extLst>
                      <a:ext uri="{FF2B5EF4-FFF2-40B4-BE49-F238E27FC236}">
                        <a16:creationId xmlns:a16="http://schemas.microsoft.com/office/drawing/2014/main" id="{83F40D2F-907C-355A-A5BB-3CAC043CAB9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4961341" y="3568237"/>
                    <a:ext cx="5845884" cy="1759503"/>
                  </a:xfrm>
                  <a:prstGeom prst="rect">
                    <a:avLst/>
                  </a:prstGeom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</p:pic>
              <p:pic>
                <p:nvPicPr>
                  <p:cNvPr id="21" name="図 20">
                    <a:extLst>
                      <a:ext uri="{FF2B5EF4-FFF2-40B4-BE49-F238E27FC236}">
                        <a16:creationId xmlns:a16="http://schemas.microsoft.com/office/drawing/2014/main" id="{F04B0CC2-96C0-4F40-310B-BD0D43FE0CD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4961341" y="5402567"/>
                    <a:ext cx="5845884" cy="1753127"/>
                  </a:xfrm>
                  <a:prstGeom prst="rect">
                    <a:avLst/>
                  </a:prstGeom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</p:pic>
            </p:grpSp>
          </p:grpSp>
        </p:grpSp>
        <p:sp>
          <p:nvSpPr>
            <p:cNvPr id="36" name="吹き出し: 線 35">
              <a:extLst>
                <a:ext uri="{FF2B5EF4-FFF2-40B4-BE49-F238E27FC236}">
                  <a16:creationId xmlns:a16="http://schemas.microsoft.com/office/drawing/2014/main" id="{73071F9B-B9FD-AECB-8FC4-8AEB7F192D24}"/>
                </a:ext>
              </a:extLst>
            </p:cNvPr>
            <p:cNvSpPr/>
            <p:nvPr/>
          </p:nvSpPr>
          <p:spPr>
            <a:xfrm>
              <a:off x="9572364" y="2117185"/>
              <a:ext cx="2357421" cy="511975"/>
            </a:xfrm>
            <a:prstGeom prst="borderCallout1">
              <a:avLst>
                <a:gd name="adj1" fmla="val 54768"/>
                <a:gd name="adj2" fmla="val -2335"/>
                <a:gd name="adj3" fmla="val 135121"/>
                <a:gd name="adj4" fmla="val -17147"/>
              </a:avLst>
            </a:prstGeom>
            <a:solidFill>
              <a:srgbClr val="FFFFCC"/>
            </a:solidFill>
            <a:ln w="15875" cap="flat" cmpd="sng" algn="ctr">
              <a:solidFill>
                <a:srgbClr val="0070C0"/>
              </a:solidFill>
              <a:prstDash val="solid"/>
              <a:miter lim="800000"/>
              <a:headEnd type="none"/>
              <a:tailEnd type="oval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36000" tIns="36000" rIns="36000" bIns="36000" rtlCol="0" anchor="ctr"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ja-JP" altLang="en-US" sz="1100" kern="0" dirty="0">
                  <a:solidFill>
                    <a:srgbClr val="0070C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sym typeface="Arial"/>
                </a:rPr>
                <a:t>パターン①：</a:t>
              </a:r>
              <a:endParaRPr kumimoji="0" lang="en-US" altLang="ja-JP" sz="1100" kern="0" dirty="0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Arial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ja-JP" altLang="en-US" sz="1100" kern="0" dirty="0">
                  <a:solidFill>
                    <a:srgbClr val="0070C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sym typeface="Arial"/>
                </a:rPr>
                <a:t>請求データと証憑画像の値が完全一致</a:t>
              </a:r>
              <a:endParaRPr kumimoji="0" lang="en-US" altLang="ja-JP" sz="1100" kern="0" dirty="0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Arial"/>
              </a:endParaRPr>
            </a:p>
          </p:txBody>
        </p:sp>
        <p:sp>
          <p:nvSpPr>
            <p:cNvPr id="37" name="正方形/長方形 36">
              <a:extLst>
                <a:ext uri="{FF2B5EF4-FFF2-40B4-BE49-F238E27FC236}">
                  <a16:creationId xmlns:a16="http://schemas.microsoft.com/office/drawing/2014/main" id="{E947FAB3-34BA-E18D-D140-C37500F697DB}"/>
                </a:ext>
              </a:extLst>
            </p:cNvPr>
            <p:cNvSpPr/>
            <p:nvPr/>
          </p:nvSpPr>
          <p:spPr>
            <a:xfrm>
              <a:off x="5091643" y="2484322"/>
              <a:ext cx="4076170" cy="635115"/>
            </a:xfrm>
            <a:prstGeom prst="rect">
              <a:avLst/>
            </a:prstGeom>
            <a:noFill/>
            <a:ln w="15875" cap="flat" cmpd="sng" algn="ctr">
              <a:solidFill>
                <a:srgbClr val="0070C0"/>
              </a:solidFill>
              <a:prstDash val="solid"/>
              <a:miter lim="800000"/>
              <a:headEnd type="none"/>
              <a:tailEnd type="oval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36000" tIns="36000" rIns="36000" bIns="36000" rtlCol="0" anchor="ctr"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ja-JP" altLang="en-US" sz="1100" kern="0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Arial"/>
              </a:endParaRPr>
            </a:p>
          </p:txBody>
        </p:sp>
        <p:sp>
          <p:nvSpPr>
            <p:cNvPr id="45" name="吹き出し: 線 44">
              <a:extLst>
                <a:ext uri="{FF2B5EF4-FFF2-40B4-BE49-F238E27FC236}">
                  <a16:creationId xmlns:a16="http://schemas.microsoft.com/office/drawing/2014/main" id="{3C53764E-8947-F053-AD36-DB63D1A1C3D0}"/>
                </a:ext>
              </a:extLst>
            </p:cNvPr>
            <p:cNvSpPr/>
            <p:nvPr/>
          </p:nvSpPr>
          <p:spPr>
            <a:xfrm>
              <a:off x="9578714" y="3763451"/>
              <a:ext cx="2357421" cy="511975"/>
            </a:xfrm>
            <a:prstGeom prst="borderCallout1">
              <a:avLst>
                <a:gd name="adj1" fmla="val 54768"/>
                <a:gd name="adj2" fmla="val -2335"/>
                <a:gd name="adj3" fmla="val 110935"/>
                <a:gd name="adj4" fmla="val -29066"/>
              </a:avLst>
            </a:prstGeom>
            <a:solidFill>
              <a:srgbClr val="FFFFCC"/>
            </a:solidFill>
            <a:ln w="15875" cap="flat" cmpd="sng" algn="ctr">
              <a:solidFill>
                <a:srgbClr val="FF0000"/>
              </a:solidFill>
              <a:prstDash val="solid"/>
              <a:miter lim="800000"/>
              <a:headEnd type="none"/>
              <a:tailEnd type="oval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36000" tIns="36000" rIns="36000" bIns="36000" rtlCol="0" anchor="ctr"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ja-JP" altLang="en-US" sz="1100" kern="0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sym typeface="Arial"/>
                </a:rPr>
                <a:t>パターン②：</a:t>
              </a:r>
              <a:endParaRPr kumimoji="0" lang="en-US" altLang="ja-JP" sz="1100" kern="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Arial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ja-JP" altLang="en-US" sz="1100" kern="0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sym typeface="Arial"/>
                </a:rPr>
                <a:t>請求データと証憑画像の金額が不一致</a:t>
              </a:r>
              <a:endParaRPr kumimoji="0" lang="en-US" altLang="ja-JP" sz="1100" kern="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Arial"/>
              </a:endParaRPr>
            </a:p>
          </p:txBody>
        </p:sp>
        <p:sp>
          <p:nvSpPr>
            <p:cNvPr id="46" name="正方形/長方形 45">
              <a:extLst>
                <a:ext uri="{FF2B5EF4-FFF2-40B4-BE49-F238E27FC236}">
                  <a16:creationId xmlns:a16="http://schemas.microsoft.com/office/drawing/2014/main" id="{32115E3B-45FD-542E-9336-F6B7ABD339BA}"/>
                </a:ext>
              </a:extLst>
            </p:cNvPr>
            <p:cNvSpPr/>
            <p:nvPr/>
          </p:nvSpPr>
          <p:spPr>
            <a:xfrm>
              <a:off x="8539162" y="4252913"/>
              <a:ext cx="347663" cy="166687"/>
            </a:xfrm>
            <a:prstGeom prst="rect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miter lim="800000"/>
              <a:headEnd type="none"/>
              <a:tailEnd type="oval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36000" tIns="36000" rIns="36000" bIns="36000" rtlCol="0" anchor="ctr"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ja-JP" altLang="en-US" sz="1100" kern="0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Arial"/>
              </a:endParaRPr>
            </a:p>
          </p:txBody>
        </p:sp>
        <p:sp>
          <p:nvSpPr>
            <p:cNvPr id="47" name="正方形/長方形 46">
              <a:extLst>
                <a:ext uri="{FF2B5EF4-FFF2-40B4-BE49-F238E27FC236}">
                  <a16:creationId xmlns:a16="http://schemas.microsoft.com/office/drawing/2014/main" id="{202021D7-DAB0-AD9A-27B5-DFA936FBFCF9}"/>
                </a:ext>
              </a:extLst>
            </p:cNvPr>
            <p:cNvSpPr/>
            <p:nvPr/>
          </p:nvSpPr>
          <p:spPr>
            <a:xfrm>
              <a:off x="1004093" y="3345656"/>
              <a:ext cx="869950" cy="166687"/>
            </a:xfrm>
            <a:prstGeom prst="rect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miter lim="800000"/>
              <a:headEnd type="none"/>
              <a:tailEnd type="oval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36000" tIns="36000" rIns="36000" bIns="36000" rtlCol="0" anchor="ctr"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ja-JP" altLang="en-US" sz="1100" kern="0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Arial"/>
              </a:endParaRPr>
            </a:p>
          </p:txBody>
        </p:sp>
        <p:cxnSp>
          <p:nvCxnSpPr>
            <p:cNvPr id="48" name="直線矢印コネクタ 60">
              <a:extLst>
                <a:ext uri="{FF2B5EF4-FFF2-40B4-BE49-F238E27FC236}">
                  <a16:creationId xmlns:a16="http://schemas.microsoft.com/office/drawing/2014/main" id="{92DFED26-59D9-86EA-B964-D54C5E5A2AC5}"/>
                </a:ext>
              </a:extLst>
            </p:cNvPr>
            <p:cNvCxnSpPr>
              <a:cxnSpLocks/>
              <a:stCxn id="47" idx="3"/>
              <a:endCxn id="46" idx="1"/>
            </p:cNvCxnSpPr>
            <p:nvPr/>
          </p:nvCxnSpPr>
          <p:spPr>
            <a:xfrm>
              <a:off x="1874043" y="3429000"/>
              <a:ext cx="6665119" cy="907257"/>
            </a:xfrm>
            <a:prstGeom prst="bentConnector3">
              <a:avLst>
                <a:gd name="adj1" fmla="val 50000"/>
              </a:avLst>
            </a:prstGeom>
            <a:solidFill>
              <a:srgbClr val="FFFFCC"/>
            </a:solidFill>
            <a:ln w="15875" cap="flat" cmpd="sng" algn="ctr">
              <a:solidFill>
                <a:srgbClr val="FF0000"/>
              </a:solidFill>
              <a:prstDash val="solid"/>
              <a:miter lim="800000"/>
              <a:headEnd type="triangle"/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  <p:sp>
          <p:nvSpPr>
            <p:cNvPr id="51" name="吹き出し: 線 50">
              <a:extLst>
                <a:ext uri="{FF2B5EF4-FFF2-40B4-BE49-F238E27FC236}">
                  <a16:creationId xmlns:a16="http://schemas.microsoft.com/office/drawing/2014/main" id="{2406CA38-9E04-9ABD-B60E-AFDC67EE5A19}"/>
                </a:ext>
              </a:extLst>
            </p:cNvPr>
            <p:cNvSpPr/>
            <p:nvPr/>
          </p:nvSpPr>
          <p:spPr>
            <a:xfrm>
              <a:off x="9578714" y="5402172"/>
              <a:ext cx="2357421" cy="511975"/>
            </a:xfrm>
            <a:prstGeom prst="borderCallout1">
              <a:avLst>
                <a:gd name="adj1" fmla="val 54768"/>
                <a:gd name="adj2" fmla="val -2335"/>
                <a:gd name="adj3" fmla="val 134087"/>
                <a:gd name="adj4" fmla="val -19010"/>
              </a:avLst>
            </a:prstGeom>
            <a:solidFill>
              <a:srgbClr val="FFFFCC"/>
            </a:solidFill>
            <a:ln w="15875" cap="flat" cmpd="sng" algn="ctr">
              <a:solidFill>
                <a:srgbClr val="FF0000"/>
              </a:solidFill>
              <a:prstDash val="solid"/>
              <a:miter lim="800000"/>
              <a:headEnd type="none"/>
              <a:tailEnd type="oval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36000" tIns="36000" rIns="36000" bIns="36000" rtlCol="0" anchor="ctr"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ja-JP" altLang="en-US" sz="1100" kern="0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sym typeface="Arial"/>
                </a:rPr>
                <a:t>パターン③：</a:t>
              </a:r>
              <a:endParaRPr kumimoji="0" lang="en-US" altLang="ja-JP" sz="1100" kern="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Arial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ja-JP" altLang="en-US" sz="1100" kern="0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sym typeface="Arial"/>
                </a:rPr>
                <a:t>請求データと証憑画像の銀行が不一致</a:t>
              </a:r>
              <a:endParaRPr kumimoji="0" lang="en-US" altLang="ja-JP" sz="1100" kern="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Arial"/>
              </a:endParaRPr>
            </a:p>
          </p:txBody>
        </p:sp>
        <p:sp>
          <p:nvSpPr>
            <p:cNvPr id="52" name="正方形/長方形 51">
              <a:extLst>
                <a:ext uri="{FF2B5EF4-FFF2-40B4-BE49-F238E27FC236}">
                  <a16:creationId xmlns:a16="http://schemas.microsoft.com/office/drawing/2014/main" id="{FA789618-9D68-9B72-0EB9-5045AF8FB449}"/>
                </a:ext>
              </a:extLst>
            </p:cNvPr>
            <p:cNvSpPr/>
            <p:nvPr/>
          </p:nvSpPr>
          <p:spPr>
            <a:xfrm>
              <a:off x="7967662" y="6000751"/>
              <a:ext cx="1138238" cy="186746"/>
            </a:xfrm>
            <a:prstGeom prst="rect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miter lim="800000"/>
              <a:headEnd type="none"/>
              <a:tailEnd type="oval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36000" tIns="36000" rIns="36000" bIns="36000" rtlCol="0" anchor="ctr"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ja-JP" altLang="en-US" sz="1100" kern="0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Arial"/>
              </a:endParaRPr>
            </a:p>
          </p:txBody>
        </p:sp>
        <p:sp>
          <p:nvSpPr>
            <p:cNvPr id="53" name="正方形/長方形 52">
              <a:extLst>
                <a:ext uri="{FF2B5EF4-FFF2-40B4-BE49-F238E27FC236}">
                  <a16:creationId xmlns:a16="http://schemas.microsoft.com/office/drawing/2014/main" id="{1597BA71-4E91-E45F-67F6-D15E15A10622}"/>
                </a:ext>
              </a:extLst>
            </p:cNvPr>
            <p:cNvSpPr/>
            <p:nvPr/>
          </p:nvSpPr>
          <p:spPr>
            <a:xfrm>
              <a:off x="524965" y="5946487"/>
              <a:ext cx="1081585" cy="166687"/>
            </a:xfrm>
            <a:prstGeom prst="rect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miter lim="800000"/>
              <a:headEnd type="none"/>
              <a:tailEnd type="oval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36000" tIns="36000" rIns="36000" bIns="36000" rtlCol="0" anchor="ctr"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ja-JP" altLang="en-US" sz="1100" kern="0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Arial"/>
              </a:endParaRPr>
            </a:p>
          </p:txBody>
        </p:sp>
        <p:cxnSp>
          <p:nvCxnSpPr>
            <p:cNvPr id="54" name="直線矢印コネクタ 60">
              <a:extLst>
                <a:ext uri="{FF2B5EF4-FFF2-40B4-BE49-F238E27FC236}">
                  <a16:creationId xmlns:a16="http://schemas.microsoft.com/office/drawing/2014/main" id="{23EC4278-25C2-AE77-B186-D4FBB313C7A6}"/>
                </a:ext>
              </a:extLst>
            </p:cNvPr>
            <p:cNvCxnSpPr>
              <a:cxnSpLocks/>
              <a:stCxn id="53" idx="3"/>
              <a:endCxn id="52" idx="1"/>
            </p:cNvCxnSpPr>
            <p:nvPr/>
          </p:nvCxnSpPr>
          <p:spPr>
            <a:xfrm>
              <a:off x="1606550" y="6029831"/>
              <a:ext cx="6361112" cy="64293"/>
            </a:xfrm>
            <a:prstGeom prst="bentConnector3">
              <a:avLst>
                <a:gd name="adj1" fmla="val 50000"/>
              </a:avLst>
            </a:prstGeom>
            <a:solidFill>
              <a:srgbClr val="FFFFCC"/>
            </a:solidFill>
            <a:ln w="15875" cap="flat" cmpd="sng" algn="ctr">
              <a:solidFill>
                <a:srgbClr val="FF0000"/>
              </a:solidFill>
              <a:prstDash val="solid"/>
              <a:miter lim="800000"/>
              <a:headEnd type="triangle"/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</p:spTree>
    <p:extLst>
      <p:ext uri="{BB962C8B-B14F-4D97-AF65-F5344CB8AC3E}">
        <p14:creationId xmlns:p14="http://schemas.microsoft.com/office/powerpoint/2010/main" val="2081672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50651-7A35-F034-ACCE-5113CEF41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66DC4918-D16D-0A25-DA64-D2089EB9C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n</a:t>
            </a:r>
            <a:r>
              <a:rPr kumimoji="1" lang="en-US" altLang="ja-JP" dirty="0"/>
              <a:t>8n</a:t>
            </a:r>
            <a:r>
              <a:rPr kumimoji="1" lang="ja-JP" altLang="en-US" dirty="0"/>
              <a:t>による</a:t>
            </a:r>
            <a:r>
              <a:rPr kumimoji="1" lang="en-US" altLang="ja-JP" dirty="0"/>
              <a:t>AI</a:t>
            </a:r>
            <a:r>
              <a:rPr lang="ja-JP" altLang="en-US" dirty="0"/>
              <a:t>チェックの特徴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2CE9D37-EEB8-99C8-E7BD-B39A22F128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826000" y="6634704"/>
            <a:ext cx="2540000" cy="230832"/>
          </a:xfrm>
        </p:spPr>
        <p:txBody>
          <a:bodyPr/>
          <a:lstStyle/>
          <a:p>
            <a:pPr>
              <a:defRPr/>
            </a:pPr>
            <a:fld id="{EB72A429-DDC7-41CC-AC2C-79132BE59620}" type="slidenum">
              <a:rPr lang="en-US" altLang="ja-JP" smtClean="0"/>
              <a:pPr>
                <a:defRPr/>
              </a:pPr>
              <a:t>6</a:t>
            </a:fld>
            <a:endParaRPr lang="en-US" altLang="ja-JP"/>
          </a:p>
        </p:txBody>
      </p:sp>
      <p:sp>
        <p:nvSpPr>
          <p:cNvPr id="12" name="コンテンツ プレースホルダー 5">
            <a:extLst>
              <a:ext uri="{FF2B5EF4-FFF2-40B4-BE49-F238E27FC236}">
                <a16:creationId xmlns:a16="http://schemas.microsoft.com/office/drawing/2014/main" id="{DEA2C71F-EBE5-8174-1913-9EE9D34CD028}"/>
              </a:ext>
            </a:extLst>
          </p:cNvPr>
          <p:cNvSpPr txBox="1">
            <a:spLocks/>
          </p:cNvSpPr>
          <p:nvPr/>
        </p:nvSpPr>
        <p:spPr>
          <a:xfrm>
            <a:off x="333374" y="670504"/>
            <a:ext cx="11525251" cy="608654"/>
          </a:xfrm>
          <a:prstGeom prst="rect">
            <a:avLst/>
          </a:prstGeom>
        </p:spPr>
        <p:txBody>
          <a:bodyPr/>
          <a:lstStyle>
            <a:lvl1pPr marL="265113" indent="-265113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  <a:lvl2pPr marL="622300" indent="-177800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2pPr>
            <a:lvl3pPr marL="981075" indent="-1793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3pPr>
            <a:lvl4pPr marL="1338263" indent="-177800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4pPr>
            <a:lvl5pPr marL="17097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5pPr>
            <a:lvl6pPr marL="21669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6241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0813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5385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600" kern="0" dirty="0"/>
              <a:t>予め“請求書に値する証憑特定”や“支払申請チェック”のようなフローを定義し、そのフローに沿った</a:t>
            </a:r>
            <a:r>
              <a:rPr lang="en-US" altLang="ja-JP" sz="1600" kern="0" dirty="0"/>
              <a:t>AI</a:t>
            </a:r>
            <a:r>
              <a:rPr lang="ja-JP" altLang="en-US" sz="1600" kern="0" dirty="0"/>
              <a:t>チェックを実施できます。</a:t>
            </a:r>
            <a:endParaRPr lang="en-US" altLang="ja-JP" sz="1600" kern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600" kern="0" dirty="0"/>
              <a:t>業務フローの構造化と判断ロジックの精緻化が精度の決め手になります。</a:t>
            </a:r>
            <a:endParaRPr lang="en-US" altLang="ja-JP" sz="1600" kern="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07141382-F457-7A06-6C1B-8DD5C6E33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58" y="2949382"/>
            <a:ext cx="11706082" cy="2579181"/>
          </a:xfrm>
          <a:prstGeom prst="rect">
            <a:avLst/>
          </a:prstGeom>
          <a:ln>
            <a:solidFill>
              <a:srgbClr val="7F7F7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560A2E37-0C00-BEE2-83C2-D2388F3ADA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3570" y="1366589"/>
            <a:ext cx="4337336" cy="2621272"/>
          </a:xfrm>
          <a:prstGeom prst="rect">
            <a:avLst/>
          </a:prstGeom>
          <a:ln w="15875">
            <a:solidFill>
              <a:srgbClr val="0065BD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73A8DB7C-937B-9859-E797-E16CE29531A7}"/>
              </a:ext>
            </a:extLst>
          </p:cNvPr>
          <p:cNvSpPr/>
          <p:nvPr/>
        </p:nvSpPr>
        <p:spPr>
          <a:xfrm>
            <a:off x="5382989" y="4364478"/>
            <a:ext cx="574193" cy="635115"/>
          </a:xfrm>
          <a:prstGeom prst="rect">
            <a:avLst/>
          </a:prstGeom>
          <a:noFill/>
          <a:ln w="15875" cap="flat" cmpd="sng" algn="ctr">
            <a:solidFill>
              <a:srgbClr val="0070C0"/>
            </a:solidFill>
            <a:prstDash val="solid"/>
            <a:miter lim="800000"/>
            <a:headEnd type="none"/>
            <a:tailEnd type="oval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ja-JP" altLang="en-US" sz="1100" kern="0">
              <a:solidFill>
                <a:srgbClr val="0070C0"/>
              </a:solidFill>
              <a:latin typeface="Meiryo UI" panose="020B0604030504040204" pitchFamily="50" charset="-128"/>
              <a:ea typeface="Meiryo UI" panose="020B0604030504040204" pitchFamily="50" charset="-128"/>
              <a:sym typeface="Arial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E617CB60-30EB-9605-001B-2ADCF57040DE}"/>
              </a:ext>
            </a:extLst>
          </p:cNvPr>
          <p:cNvSpPr/>
          <p:nvPr/>
        </p:nvSpPr>
        <p:spPr>
          <a:xfrm>
            <a:off x="6095999" y="4364477"/>
            <a:ext cx="884223" cy="635115"/>
          </a:xfrm>
          <a:prstGeom prst="rect">
            <a:avLst/>
          </a:prstGeom>
          <a:noFill/>
          <a:ln w="15875" cap="flat" cmpd="sng" algn="ctr">
            <a:solidFill>
              <a:srgbClr val="0070C0"/>
            </a:solidFill>
            <a:prstDash val="solid"/>
            <a:miter lim="800000"/>
            <a:headEnd type="none"/>
            <a:tailEnd type="oval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ja-JP" altLang="en-US" sz="1100" kern="0">
              <a:solidFill>
                <a:srgbClr val="0070C0"/>
              </a:solidFill>
              <a:latin typeface="Meiryo UI" panose="020B0604030504040204" pitchFamily="50" charset="-128"/>
              <a:ea typeface="Meiryo UI" panose="020B0604030504040204" pitchFamily="50" charset="-128"/>
              <a:sym typeface="Arial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896BB115-B752-7C2F-CF2C-02AFA97324B7}"/>
              </a:ext>
            </a:extLst>
          </p:cNvPr>
          <p:cNvSpPr/>
          <p:nvPr/>
        </p:nvSpPr>
        <p:spPr>
          <a:xfrm>
            <a:off x="7150725" y="4364476"/>
            <a:ext cx="884223" cy="635115"/>
          </a:xfrm>
          <a:prstGeom prst="rect">
            <a:avLst/>
          </a:prstGeom>
          <a:noFill/>
          <a:ln w="15875" cap="flat" cmpd="sng" algn="ctr">
            <a:solidFill>
              <a:srgbClr val="0070C0"/>
            </a:solidFill>
            <a:prstDash val="solid"/>
            <a:miter lim="800000"/>
            <a:headEnd type="none"/>
            <a:tailEnd type="oval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ja-JP" altLang="en-US" sz="1100" kern="0">
              <a:solidFill>
                <a:srgbClr val="0070C0"/>
              </a:solidFill>
              <a:latin typeface="Meiryo UI" panose="020B0604030504040204" pitchFamily="50" charset="-128"/>
              <a:ea typeface="Meiryo UI" panose="020B0604030504040204" pitchFamily="50" charset="-128"/>
              <a:sym typeface="Arial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F4545DDE-ACD4-CBA3-3A69-7290D33D2E39}"/>
              </a:ext>
            </a:extLst>
          </p:cNvPr>
          <p:cNvSpPr/>
          <p:nvPr/>
        </p:nvSpPr>
        <p:spPr>
          <a:xfrm>
            <a:off x="8205450" y="4364475"/>
            <a:ext cx="884223" cy="635115"/>
          </a:xfrm>
          <a:prstGeom prst="rect">
            <a:avLst/>
          </a:prstGeom>
          <a:noFill/>
          <a:ln w="15875" cap="flat" cmpd="sng" algn="ctr">
            <a:solidFill>
              <a:srgbClr val="0070C0"/>
            </a:solidFill>
            <a:prstDash val="solid"/>
            <a:miter lim="800000"/>
            <a:headEnd type="none"/>
            <a:tailEnd type="oval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ja-JP" altLang="en-US" sz="1100" kern="0">
              <a:solidFill>
                <a:srgbClr val="0070C0"/>
              </a:solidFill>
              <a:latin typeface="Meiryo UI" panose="020B0604030504040204" pitchFamily="50" charset="-128"/>
              <a:ea typeface="Meiryo UI" panose="020B0604030504040204" pitchFamily="50" charset="-128"/>
              <a:sym typeface="Arial"/>
            </a:endParaRP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D2A5D741-6B4B-719F-274F-447ACB8479D3}"/>
              </a:ext>
            </a:extLst>
          </p:cNvPr>
          <p:cNvSpPr/>
          <p:nvPr/>
        </p:nvSpPr>
        <p:spPr>
          <a:xfrm>
            <a:off x="152427" y="2820909"/>
            <a:ext cx="998550" cy="256946"/>
          </a:xfrm>
          <a:prstGeom prst="roundRect">
            <a:avLst/>
          </a:prstGeom>
          <a:solidFill>
            <a:srgbClr val="7F7F7F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n8n</a:t>
            </a: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フロー図</a:t>
            </a:r>
          </a:p>
        </p:txBody>
      </p: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F9B75D58-C7EC-2769-C200-688028E249BD}"/>
              </a:ext>
            </a:extLst>
          </p:cNvPr>
          <p:cNvCxnSpPr>
            <a:cxnSpLocks/>
            <a:stCxn id="16" idx="0"/>
            <a:endCxn id="6" idx="1"/>
          </p:cNvCxnSpPr>
          <p:nvPr/>
        </p:nvCxnSpPr>
        <p:spPr>
          <a:xfrm rot="5400000" flipH="1" flipV="1">
            <a:off x="5793202" y="2554110"/>
            <a:ext cx="1687253" cy="1933484"/>
          </a:xfrm>
          <a:prstGeom prst="bentConnector2">
            <a:avLst/>
          </a:prstGeom>
          <a:ln w="15875">
            <a:solidFill>
              <a:srgbClr val="0065BD"/>
            </a:solidFill>
            <a:headEnd type="oval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矢印コネクタ 33">
            <a:extLst>
              <a:ext uri="{FF2B5EF4-FFF2-40B4-BE49-F238E27FC236}">
                <a16:creationId xmlns:a16="http://schemas.microsoft.com/office/drawing/2014/main" id="{BB39F421-7EB0-FCFB-F202-F03B7D8CFCD2}"/>
              </a:ext>
            </a:extLst>
          </p:cNvPr>
          <p:cNvCxnSpPr>
            <a:cxnSpLocks/>
            <a:stCxn id="17" idx="2"/>
            <a:endCxn id="54" idx="1"/>
          </p:cNvCxnSpPr>
          <p:nvPr/>
        </p:nvCxnSpPr>
        <p:spPr>
          <a:xfrm>
            <a:off x="6538111" y="4999592"/>
            <a:ext cx="3312074" cy="1030112"/>
          </a:xfrm>
          <a:prstGeom prst="straightConnector1">
            <a:avLst/>
          </a:prstGeom>
          <a:ln w="15875">
            <a:solidFill>
              <a:srgbClr val="0065BD"/>
            </a:solidFill>
            <a:headEnd type="oval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矢印コネクタ 33">
            <a:extLst>
              <a:ext uri="{FF2B5EF4-FFF2-40B4-BE49-F238E27FC236}">
                <a16:creationId xmlns:a16="http://schemas.microsoft.com/office/drawing/2014/main" id="{B2653E7F-9C8A-D2D7-3CAA-362A703A48CA}"/>
              </a:ext>
            </a:extLst>
          </p:cNvPr>
          <p:cNvCxnSpPr>
            <a:cxnSpLocks/>
            <a:stCxn id="19" idx="2"/>
            <a:endCxn id="54" idx="1"/>
          </p:cNvCxnSpPr>
          <p:nvPr/>
        </p:nvCxnSpPr>
        <p:spPr>
          <a:xfrm>
            <a:off x="7592837" y="4999591"/>
            <a:ext cx="2257348" cy="1030113"/>
          </a:xfrm>
          <a:prstGeom prst="straightConnector1">
            <a:avLst/>
          </a:prstGeom>
          <a:ln w="15875">
            <a:solidFill>
              <a:srgbClr val="0065BD"/>
            </a:solidFill>
            <a:headEnd type="oval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矢印コネクタ 33">
            <a:extLst>
              <a:ext uri="{FF2B5EF4-FFF2-40B4-BE49-F238E27FC236}">
                <a16:creationId xmlns:a16="http://schemas.microsoft.com/office/drawing/2014/main" id="{1B357224-C3D5-63BD-B94B-0B79EDBE3784}"/>
              </a:ext>
            </a:extLst>
          </p:cNvPr>
          <p:cNvCxnSpPr>
            <a:cxnSpLocks/>
            <a:stCxn id="21" idx="2"/>
            <a:endCxn id="54" idx="1"/>
          </p:cNvCxnSpPr>
          <p:nvPr/>
        </p:nvCxnSpPr>
        <p:spPr>
          <a:xfrm>
            <a:off x="8647562" y="4999590"/>
            <a:ext cx="1202623" cy="1030114"/>
          </a:xfrm>
          <a:prstGeom prst="straightConnector1">
            <a:avLst/>
          </a:prstGeom>
          <a:ln w="15875">
            <a:solidFill>
              <a:srgbClr val="0065BD"/>
            </a:solidFill>
            <a:headEnd type="oval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四角形: 角を丸くする 53">
            <a:extLst>
              <a:ext uri="{FF2B5EF4-FFF2-40B4-BE49-F238E27FC236}">
                <a16:creationId xmlns:a16="http://schemas.microsoft.com/office/drawing/2014/main" id="{A7DEEA1F-E823-86A6-EDC8-42623E57D6BA}"/>
              </a:ext>
            </a:extLst>
          </p:cNvPr>
          <p:cNvSpPr/>
          <p:nvPr/>
        </p:nvSpPr>
        <p:spPr>
          <a:xfrm>
            <a:off x="9850185" y="5657036"/>
            <a:ext cx="2090721" cy="745335"/>
          </a:xfrm>
          <a:prstGeom prst="roundRect">
            <a:avLst>
              <a:gd name="adj" fmla="val 0"/>
            </a:avLst>
          </a:prstGeom>
          <a:solidFill>
            <a:srgbClr val="FFFFCC"/>
          </a:solidFill>
          <a:ln w="15875" cap="flat" cmpd="sng" algn="ctr">
            <a:solidFill>
              <a:srgbClr val="0070C0"/>
            </a:solidFill>
            <a:prstDash val="solid"/>
            <a:miter lim="800000"/>
            <a:headEnd type="none"/>
            <a:tailEnd type="oval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ja-JP" sz="1100" b="1" u="sng" kern="0" dirty="0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Arial"/>
              </a:rPr>
              <a:t>AI</a:t>
            </a:r>
            <a:r>
              <a:rPr kumimoji="0" lang="ja-JP" altLang="en-US" sz="1100" b="1" u="sng" kern="0" dirty="0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Arial"/>
              </a:rPr>
              <a:t>によるチェック</a:t>
            </a:r>
            <a:endParaRPr kumimoji="0" lang="en-US" altLang="ja-JP" sz="1100" b="1" u="sng" kern="0" dirty="0">
              <a:solidFill>
                <a:srgbClr val="0070C0"/>
              </a:solidFill>
              <a:latin typeface="Meiryo UI" panose="020B0604030504040204" pitchFamily="50" charset="-128"/>
              <a:ea typeface="Meiryo UI" panose="020B0604030504040204" pitchFamily="50" charset="-128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ja-JP" altLang="en-US" sz="1100" kern="0" dirty="0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Arial"/>
              </a:rPr>
              <a:t>①支払申請種類の確認</a:t>
            </a:r>
            <a:endParaRPr kumimoji="0" lang="en-US" altLang="ja-JP" sz="1100" kern="0" dirty="0">
              <a:solidFill>
                <a:srgbClr val="0070C0"/>
              </a:solidFill>
              <a:latin typeface="Meiryo UI" panose="020B0604030504040204" pitchFamily="50" charset="-128"/>
              <a:ea typeface="Meiryo UI" panose="020B0604030504040204" pitchFamily="50" charset="-128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ja-JP" altLang="en-US" sz="1100" kern="0" dirty="0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Arial"/>
              </a:rPr>
              <a:t>②請求書に値する証憑の特定</a:t>
            </a:r>
            <a:endParaRPr kumimoji="0" lang="en-US" altLang="ja-JP" sz="1100" kern="0" dirty="0">
              <a:solidFill>
                <a:srgbClr val="0070C0"/>
              </a:solidFill>
              <a:latin typeface="Meiryo UI" panose="020B0604030504040204" pitchFamily="50" charset="-128"/>
              <a:ea typeface="Meiryo UI" panose="020B0604030504040204" pitchFamily="50" charset="-128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ja-JP" altLang="en-US" sz="1100" kern="0" dirty="0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Arial"/>
              </a:rPr>
              <a:t>③支払申請チェック</a:t>
            </a:r>
            <a:endParaRPr kumimoji="0" lang="en-US" altLang="ja-JP" sz="1100" kern="0" dirty="0">
              <a:solidFill>
                <a:srgbClr val="0070C0"/>
              </a:solidFill>
              <a:latin typeface="Meiryo UI" panose="020B0604030504040204" pitchFamily="50" charset="-128"/>
              <a:ea typeface="Meiryo UI" panose="020B0604030504040204" pitchFamily="50" charset="-128"/>
              <a:sym typeface="Arial"/>
            </a:endParaRP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C52F5974-317B-1C73-77A2-F5B260E2BA5A}"/>
              </a:ext>
            </a:extLst>
          </p:cNvPr>
          <p:cNvSpPr txBox="1"/>
          <p:nvPr/>
        </p:nvSpPr>
        <p:spPr bwMode="auto">
          <a:xfrm>
            <a:off x="5659351" y="2272273"/>
            <a:ext cx="1933486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kern="0" dirty="0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業務フローに対し、</a:t>
            </a:r>
            <a:br>
              <a:rPr kumimoji="0" lang="en-US" altLang="ja-JP" sz="1100" kern="0" dirty="0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kumimoji="0" lang="en-US" altLang="ja-JP" sz="1100" kern="0" dirty="0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AI</a:t>
            </a:r>
            <a:r>
              <a:rPr kumimoji="0" lang="ja-JP" altLang="en-US" sz="1100" kern="0" dirty="0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が読み取れる形式で定義</a:t>
            </a:r>
          </a:p>
        </p:txBody>
      </p:sp>
    </p:spTree>
    <p:extLst>
      <p:ext uri="{BB962C8B-B14F-4D97-AF65-F5344CB8AC3E}">
        <p14:creationId xmlns:p14="http://schemas.microsoft.com/office/powerpoint/2010/main" val="114352506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4162&quot;&gt;&lt;version val=&quot;2703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m/%d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dyTtjIS21a0UPYxunXJr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5potWIdYMJl6F809y9Vx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企画書テンプレートRLS14ver">
  <a:themeElements>
    <a:clrScheme name="ユーザー定義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B2B2B2"/>
      </a:folHlink>
    </a:clrScheme>
    <a:fontScheme name="3_JJ Division 企画Ｇ">
      <a:majorFont>
        <a:latin typeface="MS UI Gothic"/>
        <a:ea typeface="MS UI Gothic"/>
        <a:cs typeface=""/>
      </a:majorFont>
      <a:minorFont>
        <a:latin typeface="MS UI Gothic"/>
        <a:ea typeface="MS UI Gothi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EECFE"/>
        </a:solidFill>
        <a:ln w="12700" cap="flat" cmpd="sng" algn="ctr">
          <a:solidFill>
            <a:srgbClr val="FF0066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0" tIns="72000" rIns="0" bIns="72000" numCol="1" rtlCol="0" anchor="ctr" anchorCtr="0" compatLnSpc="1">
        <a:prstTxWarp prst="textNoShape">
          <a:avLst/>
        </a:prstTxWarp>
      </a:bodyPr>
      <a:lstStyle>
        <a:defPPr algn="ctr" fontAlgn="auto">
          <a:spcBef>
            <a:spcPts val="0"/>
          </a:spcBef>
          <a:spcAft>
            <a:spcPts val="0"/>
          </a:spcAft>
          <a:defRPr kumimoji="0" sz="1100" kern="0" dirty="0" smtClean="0">
            <a:solidFill>
              <a:srgbClr val="FF0066"/>
            </a:solidFill>
            <a:latin typeface="Meiryo UI" panose="020B0604030504040204" pitchFamily="50" charset="-128"/>
            <a:ea typeface="Meiryo UI" panose="020B0604030504040204" pitchFamily="50" charset="-128"/>
            <a:cs typeface="メイリオ" panose="020B0604030504040204" pitchFamily="50" charset="-128"/>
          </a:defRPr>
        </a:defPPr>
      </a:lst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</a:spPr>
      <a:bodyPr wrap="none" rtlCol="0">
        <a:spAutoFit/>
      </a:bodyPr>
      <a:lstStyle>
        <a:defPPr algn="l">
          <a:defRPr kumimoji="1" sz="1600" dirty="0" smtClean="0">
            <a:solidFill>
              <a:schemeClr val="accent4">
                <a:lumMod val="65000"/>
                <a:lumOff val="35000"/>
              </a:schemeClr>
            </a:solidFill>
            <a:latin typeface="MS UI Gothic" panose="020B0600070205080204" pitchFamily="50" charset="-128"/>
            <a:ea typeface="MS UI Gothic" panose="020B0600070205080204" pitchFamily="50" charset="-128"/>
            <a:cs typeface="メイリオ"/>
          </a:defRPr>
        </a:defPPr>
      </a:lstStyle>
    </a:txDef>
  </a:objectDefaults>
  <a:extraClrSchemeLst>
    <a:extraClrScheme>
      <a:clrScheme name="3_JJ Division 企画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JJ Division 企画Ｇ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JJ Division 企画Ｇ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JJ Division 企画Ｇ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JJ Division 企画Ｇ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JJ Division 企画Ｇ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JJ Division 企画Ｇ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978</Words>
  <Application>Microsoft Office PowerPoint</Application>
  <PresentationFormat>ワイド画面</PresentationFormat>
  <Paragraphs>142</Paragraphs>
  <Slides>7</Slides>
  <Notes>7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4" baseType="lpstr">
      <vt:lpstr>Meiryo UI</vt:lpstr>
      <vt:lpstr>MS UI Gothic</vt:lpstr>
      <vt:lpstr>游ゴシック</vt:lpstr>
      <vt:lpstr>Arial</vt:lpstr>
      <vt:lpstr>Wingdings</vt:lpstr>
      <vt:lpstr>企画書テンプレートRLS14ver</vt:lpstr>
      <vt:lpstr>think-cell スライド</vt:lpstr>
      <vt:lpstr>デモの内容について</vt:lpstr>
      <vt:lpstr>サマリ：BPSのConcurInvoice登録処理＆経理のConcurInovoiceチェック業務のn8n導入</vt:lpstr>
      <vt:lpstr>n8nのBPS導入状況について（１/２）</vt:lpstr>
      <vt:lpstr>n8nのBPS導入状況について（２/２）</vt:lpstr>
      <vt:lpstr>対象業務</vt:lpstr>
      <vt:lpstr>データパターン</vt:lpstr>
      <vt:lpstr>n8nによるAIチェックの特徴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modified xsi:type="dcterms:W3CDTF">2025-12-11T02:59:20Z</dcterms:modified>
</cp:coreProperties>
</file>