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heme/theme6.xml" ContentType="application/vnd.openxmlformats-officedocument.theme+xml"/>
  <Override PartName="/ppt/notesSlides/notesSlide1.xml" ContentType="application/vnd.openxmlformats-officedocument.presentationml.notesSlide+xml"/>
  <Override PartName="/ppt/tags/tag58.xml" ContentType="application/vnd.openxmlformats-officedocument.presentationml.tags+xml"/>
  <Override PartName="/ppt/notesSlides/notesSlide2.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687" r:id="rId5"/>
    <p:sldMasterId id="2147483700" r:id="rId6"/>
    <p:sldMasterId id="2147483714" r:id="rId7"/>
    <p:sldMasterId id="2147483727" r:id="rId8"/>
  </p:sldMasterIdLst>
  <p:notesMasterIdLst>
    <p:notesMasterId r:id="rId50"/>
  </p:notesMasterIdLst>
  <p:sldIdLst>
    <p:sldId id="4919" r:id="rId9"/>
    <p:sldId id="523" r:id="rId10"/>
    <p:sldId id="2260" r:id="rId11"/>
    <p:sldId id="1144" r:id="rId12"/>
    <p:sldId id="1132" r:id="rId13"/>
    <p:sldId id="2147375826" r:id="rId14"/>
    <p:sldId id="2147375828" r:id="rId15"/>
    <p:sldId id="2147375829" r:id="rId16"/>
    <p:sldId id="2147375830" r:id="rId17"/>
    <p:sldId id="2147375835" r:id="rId18"/>
    <p:sldId id="2147375831" r:id="rId19"/>
    <p:sldId id="2147375832" r:id="rId20"/>
    <p:sldId id="2147375833" r:id="rId21"/>
    <p:sldId id="2147375834" r:id="rId22"/>
    <p:sldId id="2147375569" r:id="rId23"/>
    <p:sldId id="2147375591" r:id="rId24"/>
    <p:sldId id="2147375594" r:id="rId25"/>
    <p:sldId id="2147375600" r:id="rId26"/>
    <p:sldId id="2147375823" r:id="rId27"/>
    <p:sldId id="2147375794" r:id="rId28"/>
    <p:sldId id="2147375817" r:id="rId29"/>
    <p:sldId id="2262" r:id="rId30"/>
    <p:sldId id="2235" r:id="rId31"/>
    <p:sldId id="2241" r:id="rId32"/>
    <p:sldId id="2147375595" r:id="rId33"/>
    <p:sldId id="2242" r:id="rId34"/>
    <p:sldId id="2147375596" r:id="rId35"/>
    <p:sldId id="2147375803" r:id="rId36"/>
    <p:sldId id="2147375418" r:id="rId37"/>
    <p:sldId id="2147375419" r:id="rId38"/>
    <p:sldId id="2147375420" r:id="rId39"/>
    <p:sldId id="2274" r:id="rId40"/>
    <p:sldId id="2147375597" r:id="rId41"/>
    <p:sldId id="2147375811" r:id="rId42"/>
    <p:sldId id="2147375820" r:id="rId43"/>
    <p:sldId id="2147375599" r:id="rId44"/>
    <p:sldId id="2147374910" r:id="rId45"/>
    <p:sldId id="2147375593" r:id="rId46"/>
    <p:sldId id="2147375813" r:id="rId47"/>
    <p:sldId id="2147375492" r:id="rId48"/>
    <p:sldId id="2147375504" r:id="rId4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本編" id="{C74D1B05-F745-4821-9988-6A4753E06D5A}">
          <p14:sldIdLst>
            <p14:sldId id="4919"/>
            <p14:sldId id="523"/>
          </p14:sldIdLst>
        </p14:section>
        <p14:section name="説明資料" id="{2DC3D023-5C47-48C9-B61E-01AE25E52B6D}">
          <p14:sldIdLst>
            <p14:sldId id="2260"/>
            <p14:sldId id="1144"/>
            <p14:sldId id="1132"/>
            <p14:sldId id="2147375826"/>
            <p14:sldId id="2147375828"/>
            <p14:sldId id="2147375829"/>
            <p14:sldId id="2147375830"/>
            <p14:sldId id="2147375835"/>
            <p14:sldId id="2147375831"/>
            <p14:sldId id="2147375832"/>
            <p14:sldId id="2147375833"/>
            <p14:sldId id="2147375834"/>
            <p14:sldId id="2147375569"/>
            <p14:sldId id="2147375591"/>
            <p14:sldId id="2147375594"/>
            <p14:sldId id="2147375600"/>
            <p14:sldId id="2147375823"/>
            <p14:sldId id="2147375794"/>
            <p14:sldId id="2147375817"/>
            <p14:sldId id="2262"/>
            <p14:sldId id="2235"/>
            <p14:sldId id="2241"/>
            <p14:sldId id="2147375595"/>
            <p14:sldId id="2242"/>
            <p14:sldId id="2147375596"/>
            <p14:sldId id="2147375803"/>
            <p14:sldId id="2147375418"/>
            <p14:sldId id="2147375419"/>
            <p14:sldId id="2147375420"/>
            <p14:sldId id="2274"/>
            <p14:sldId id="2147375597"/>
            <p14:sldId id="2147375811"/>
            <p14:sldId id="2147375820"/>
            <p14:sldId id="2147375599"/>
            <p14:sldId id="2147374910"/>
            <p14:sldId id="2147375593"/>
          </p14:sldIdLst>
        </p14:section>
        <p14:section name="APPENDIX" id="{DCD2BAD8-F3B8-4B11-9075-710FFD42517A}">
          <p14:sldIdLst>
            <p14:sldId id="2147375813"/>
          </p14:sldIdLst>
        </p14:section>
        <p14:section name="検討工程でコンサルを入れる理由" id="{4041B254-4071-4DF5-982E-2C3BA481E7FF}">
          <p14:sldIdLst>
            <p14:sldId id="2147375492"/>
            <p14:sldId id="2147375504"/>
          </p14:sldIdLst>
        </p14:section>
        <p14:section name="WORK" id="{B76E4037-F378-4EC6-A0A1-3DED0B85409A}">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C965707-383C-1590-7E1E-1CC0529CB55F}" name="大島 靖弘" initials="大靖" userId="S::yasuhiro_oshima@r.recruit.co.jp::28eeaa14-31cc-4ece-87ec-e8962a8a84d4" providerId="AD"/>
  <p188:author id="{6431D53F-952F-5F50-953F-364987793893}" name="柳 健太郎" initials="柳" userId="S::kentaro_yanagi@waku-2.com::e70dbdbe-df40-49ae-a86a-1e8d7be31622" providerId="AD"/>
  <p188:author id="{F1F32761-01E8-6056-7038-BB44C368A65E}" name="廣重 仁美" initials="廣仁" userId="S::hitomi_hiroshige@r.recruit.co.jp::c84703b0-159c-4dcd-9b70-45758aeefaa2" providerId="AD"/>
  <p188:author id="{D24CD376-B6C9-3489-6D9D-E30C1787331D}" name="七田　昌俊" initials="M.S." userId="七田　昌俊" providerId="None"/>
  <p188:author id="{6460BEA9-7274-72F9-072B-5A6B86DB92DA}" name="佐伯 奈々" initials="佐伯" userId="S::nana_saeki@r.recruit.co.jp::4e96e5c6-a182-4590-8066-b53b29189d21" providerId="AD"/>
  <p188:author id="{1C87C6BB-0E83-6D4C-4D1C-CF848BA4275F}" name="紺谷 龍太郎" initials="紺谷" userId="S::ryutaro_konya@waku-2.com::92c16fd9-bfdd-4abc-9dc0-c31ed4ed90b6" providerId="AD"/>
  <p188:author id="{355150C8-2B5B-65E8-B901-E35A8F093439}" name="恒屋 雄治" initials="恒屋" userId="S::y_tsuneya@r.recruit.co.jp::eb5c1709-198a-482d-8458-73fb0d140cd6" providerId="AD"/>
  <p188:author id="{F60350E1-ED74-C168-7D68-2E4689A28705}" name="土久 穂高" initials="土穂" userId="S::do9h@r.recruit.co.jp::43519758-b9b7-42e7-8b1b-732548645f8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F2B9"/>
    <a:srgbClr val="FFDDDD"/>
    <a:srgbClr val="C2FFF0"/>
    <a:srgbClr val="FFCCFF"/>
    <a:srgbClr val="E7F3FF"/>
    <a:srgbClr val="404040"/>
    <a:srgbClr val="FF6666"/>
    <a:srgbClr val="FFCCCC"/>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34AD3E-271F-40B0-A21B-54ED6685DCB3}" v="79" dt="2023-12-14T23:50:17.639"/>
    <p1510:client id="{A569FA59-7272-47FF-A0D4-FE4CBF4EE43C}" v="6231" dt="2023-12-15T03:49:01.534"/>
    <p1510:client id="{BEB27876-B0B7-4DA2-B898-23EB7D50699A}" v="222" dt="2023-12-15T01:44:06.557"/>
    <p1510:client id="{D8F90F08-7A7A-0C38-F336-62DCDC86FCF5}" v="2" dt="2023-12-19T14:39:41.669"/>
    <p1510:client id="{F464902D-6CAE-4086-7583-E450F7EC8294}" v="1" dt="2023-12-19T10:17:34.3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79" d="100"/>
          <a:sy n="79" d="100"/>
        </p:scale>
        <p:origin x="9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notesMaster" Target="notesMasters/notesMaster1.xml"/><Relationship Id="rId55"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microsoft.com/office/2018/10/relationships/authors" Target="authors.xml"/><Relationship Id="rId8" Type="http://schemas.openxmlformats.org/officeDocument/2006/relationships/slideMaster" Target="slideMasters/slideMaster5.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2E2322-BDA3-4EEB-BC4E-E178FFD202E9}" type="datetimeFigureOut">
              <a:rPr kumimoji="1" lang="ja-JP" altLang="en-US" smtClean="0"/>
              <a:t>2026/2/20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78173A-8754-48DB-9150-A006ED359F83}" type="slidenum">
              <a:rPr kumimoji="1" lang="ja-JP" altLang="en-US" smtClean="0"/>
              <a:t>‹#›</a:t>
            </a:fld>
            <a:endParaRPr kumimoji="1" lang="ja-JP" altLang="en-US"/>
          </a:p>
        </p:txBody>
      </p:sp>
    </p:spTree>
    <p:extLst>
      <p:ext uri="{BB962C8B-B14F-4D97-AF65-F5344CB8AC3E}">
        <p14:creationId xmlns:p14="http://schemas.microsoft.com/office/powerpoint/2010/main" val="36666761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478173A-8754-48DB-9150-A006ED359F83}" type="slidenum">
              <a:rPr kumimoji="1" lang="ja-JP" altLang="en-US" smtClean="0"/>
              <a:t>1</a:t>
            </a:fld>
            <a:endParaRPr kumimoji="1" lang="ja-JP" altLang="en-US"/>
          </a:p>
        </p:txBody>
      </p:sp>
    </p:spTree>
    <p:extLst>
      <p:ext uri="{BB962C8B-B14F-4D97-AF65-F5344CB8AC3E}">
        <p14:creationId xmlns:p14="http://schemas.microsoft.com/office/powerpoint/2010/main" val="2282038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BA8B97-EA20-4E51-B89E-A53695773E41}" type="slidenum">
              <a:rPr kumimoji="1" lang="ja-JP" altLang="en-US" sz="1200" b="0" i="0" u="none" strike="noStrike" kern="1200" cap="none" spc="0" normalizeH="0" baseline="0" noProof="0" smtClean="0">
                <a:ln>
                  <a:noFill/>
                </a:ln>
                <a:solidFill>
                  <a:prstClr val="black"/>
                </a:solidFill>
                <a:effectLst/>
                <a:uLnTx/>
                <a:uFillTx/>
                <a:latin typeface="Calibri" panose="020F0502020204030204"/>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50" charset="-128"/>
              <a:cs typeface="+mn-cs"/>
            </a:endParaRPr>
          </a:p>
        </p:txBody>
      </p:sp>
    </p:spTree>
    <p:extLst>
      <p:ext uri="{BB962C8B-B14F-4D97-AF65-F5344CB8AC3E}">
        <p14:creationId xmlns:p14="http://schemas.microsoft.com/office/powerpoint/2010/main" val="3979774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altLang="ja-JP" sz="1200" kern="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995E5F2-CFD4-4C01-86D5-B0EFD3165D97}" type="slidenum">
              <a:rPr kumimoji="1" lang="ja-JP" altLang="en-US" smtClean="0"/>
              <a:t>17</a:t>
            </a:fld>
            <a:endParaRPr kumimoji="1" lang="ja-JP" altLang="en-US"/>
          </a:p>
        </p:txBody>
      </p:sp>
    </p:spTree>
    <p:extLst>
      <p:ext uri="{BB962C8B-B14F-4D97-AF65-F5344CB8AC3E}">
        <p14:creationId xmlns:p14="http://schemas.microsoft.com/office/powerpoint/2010/main" val="2057497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26464A4C-970C-495A-8996-BE6A14F7F812}" type="slidenum">
              <a:rPr kumimoji="1" lang="ja-JP" altLang="en-US" smtClean="0"/>
              <a:t>21</a:t>
            </a:fld>
            <a:endParaRPr kumimoji="1" lang="ja-JP" altLang="en-US"/>
          </a:p>
        </p:txBody>
      </p:sp>
    </p:spTree>
    <p:extLst>
      <p:ext uri="{BB962C8B-B14F-4D97-AF65-F5344CB8AC3E}">
        <p14:creationId xmlns:p14="http://schemas.microsoft.com/office/powerpoint/2010/main" val="3751388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1FBF1EA7-1322-4E8A-8143-24868A27BA7C}" type="slidenum">
              <a:rPr lang="ja-JP" altLang="en-US" smtClean="0"/>
              <a:pPr>
                <a:defRPr/>
              </a:pPr>
              <a:t>28</a:t>
            </a:fld>
            <a:endParaRPr lang="ja-JP" altLang="en-US"/>
          </a:p>
        </p:txBody>
      </p:sp>
    </p:spTree>
    <p:extLst>
      <p:ext uri="{BB962C8B-B14F-4D97-AF65-F5344CB8AC3E}">
        <p14:creationId xmlns:p14="http://schemas.microsoft.com/office/powerpoint/2010/main" val="3643718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1FBF1EA7-1322-4E8A-8143-24868A27BA7C}" type="slidenum">
              <a:rPr lang="ja-JP" altLang="en-US" smtClean="0"/>
              <a:pPr>
                <a:defRPr/>
              </a:pPr>
              <a:t>29</a:t>
            </a:fld>
            <a:endParaRPr lang="ja-JP" altLang="en-US"/>
          </a:p>
        </p:txBody>
      </p:sp>
    </p:spTree>
    <p:extLst>
      <p:ext uri="{BB962C8B-B14F-4D97-AF65-F5344CB8AC3E}">
        <p14:creationId xmlns:p14="http://schemas.microsoft.com/office/powerpoint/2010/main" val="358369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1FBF1EA7-1322-4E8A-8143-24868A27BA7C}" type="slidenum">
              <a:rPr lang="ja-JP" altLang="en-US" smtClean="0"/>
              <a:pPr>
                <a:defRPr/>
              </a:pPr>
              <a:t>30</a:t>
            </a:fld>
            <a:endParaRPr lang="ja-JP" altLang="en-US"/>
          </a:p>
        </p:txBody>
      </p:sp>
    </p:spTree>
    <p:extLst>
      <p:ext uri="{BB962C8B-B14F-4D97-AF65-F5344CB8AC3E}">
        <p14:creationId xmlns:p14="http://schemas.microsoft.com/office/powerpoint/2010/main" val="1468280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1FBF1EA7-1322-4E8A-8143-24868A27BA7C}" type="slidenum">
              <a:rPr lang="ja-JP" altLang="en-US" smtClean="0"/>
              <a:pPr>
                <a:defRPr/>
              </a:pPr>
              <a:t>35</a:t>
            </a:fld>
            <a:endParaRPr lang="ja-JP" altLang="en-US"/>
          </a:p>
        </p:txBody>
      </p:sp>
    </p:spTree>
    <p:extLst>
      <p:ext uri="{BB962C8B-B14F-4D97-AF65-F5344CB8AC3E}">
        <p14:creationId xmlns:p14="http://schemas.microsoft.com/office/powerpoint/2010/main" val="2027812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altLang="ja-JP" sz="1200" kern="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995E5F2-CFD4-4C01-86D5-B0EFD3165D97}" type="slidenum">
              <a:rPr kumimoji="1" lang="ja-JP" altLang="en-US" smtClean="0"/>
              <a:t>37</a:t>
            </a:fld>
            <a:endParaRPr kumimoji="1" lang="ja-JP" altLang="en-US"/>
          </a:p>
        </p:txBody>
      </p:sp>
    </p:spTree>
    <p:extLst>
      <p:ext uri="{BB962C8B-B14F-4D97-AF65-F5344CB8AC3E}">
        <p14:creationId xmlns:p14="http://schemas.microsoft.com/office/powerpoint/2010/main" val="21552825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5.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7.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8.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0.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2.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5.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6.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7.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8.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5.xml"/><Relationship Id="rId4" Type="http://schemas.openxmlformats.org/officeDocument/2006/relationships/image" Target="../media/image9.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10.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7.xml"/><Relationship Id="rId4" Type="http://schemas.openxmlformats.org/officeDocument/2006/relationships/image" Target="../media/image1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8.xml"/><Relationship Id="rId4" Type="http://schemas.openxmlformats.org/officeDocument/2006/relationships/image" Target="../media/image12.e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9.xml"/><Relationship Id="rId4" Type="http://schemas.openxmlformats.org/officeDocument/2006/relationships/image" Target="../media/image1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2.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3.xml"/><Relationship Id="rId4" Type="http://schemas.openxmlformats.org/officeDocument/2006/relationships/image" Target="../media/image2.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4.xml"/><Relationship Id="rId4" Type="http://schemas.openxmlformats.org/officeDocument/2006/relationships/image" Target="../media/image3.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4.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6.xml"/><Relationship Id="rId4" Type="http://schemas.openxmlformats.org/officeDocument/2006/relationships/image" Target="../media/image5.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7.xml"/><Relationship Id="rId4" Type="http://schemas.openxmlformats.org/officeDocument/2006/relationships/image" Target="../media/image6.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8.xml"/><Relationship Id="rId4" Type="http://schemas.openxmlformats.org/officeDocument/2006/relationships/image" Target="../media/image7.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9.xml"/><Relationship Id="rId4" Type="http://schemas.openxmlformats.org/officeDocument/2006/relationships/image" Target="../media/image8.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0.xml"/><Relationship Id="rId4" Type="http://schemas.openxmlformats.org/officeDocument/2006/relationships/image" Target="../media/image9.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1.xml"/><Relationship Id="rId4" Type="http://schemas.openxmlformats.org/officeDocument/2006/relationships/image" Target="../media/image10.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1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3.xml"/><Relationship Id="rId4" Type="http://schemas.openxmlformats.org/officeDocument/2006/relationships/image" Target="../media/image12.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6.xml"/><Relationship Id="rId4"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7.xml"/><Relationship Id="rId4" Type="http://schemas.openxmlformats.org/officeDocument/2006/relationships/image" Target="../media/image2.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8.xml"/><Relationship Id="rId4" Type="http://schemas.openxmlformats.org/officeDocument/2006/relationships/image" Target="../media/image3.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9.xml"/><Relationship Id="rId4" Type="http://schemas.openxmlformats.org/officeDocument/2006/relationships/image" Target="../media/image4.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0.xml"/><Relationship Id="rId4" Type="http://schemas.openxmlformats.org/officeDocument/2006/relationships/image" Target="../media/image5.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6.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2.xml"/><Relationship Id="rId4" Type="http://schemas.openxmlformats.org/officeDocument/2006/relationships/image" Target="../media/image7.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3.xml"/><Relationship Id="rId4" Type="http://schemas.openxmlformats.org/officeDocument/2006/relationships/image" Target="../media/image8.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9.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5.xml"/><Relationship Id="rId4" Type="http://schemas.openxmlformats.org/officeDocument/2006/relationships/image" Target="../media/image10.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6.xml"/><Relationship Id="rId4" Type="http://schemas.openxmlformats.org/officeDocument/2006/relationships/image" Target="../media/image1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7.xml"/><Relationship Id="rId4" Type="http://schemas.openxmlformats.org/officeDocument/2006/relationships/image" Target="../media/image1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extLst>
              <p:ext uri="{D42A27DB-BD31-4B8C-83A1-F6EECF244321}">
                <p14:modId xmlns:p14="http://schemas.microsoft.com/office/powerpoint/2010/main" val="274101276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2508646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extLst>
              <p:ext uri="{D42A27DB-BD31-4B8C-83A1-F6EECF244321}">
                <p14:modId xmlns:p14="http://schemas.microsoft.com/office/powerpoint/2010/main" val="282361565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2" name="テキスト ボックス 1">
            <a:extLst>
              <a:ext uri="{FF2B5EF4-FFF2-40B4-BE49-F238E27FC236}">
                <a16:creationId xmlns:a16="http://schemas.microsoft.com/office/drawing/2014/main" id="{D1CFF65B-A8B2-A742-960E-AEE2B0C95AC6}"/>
              </a:ext>
            </a:extLst>
          </p:cNvPr>
          <p:cNvSpPr txBox="1"/>
          <p:nvPr userDrawn="1"/>
        </p:nvSpPr>
        <p:spPr bwMode="auto">
          <a:xfrm>
            <a:off x="1" y="6629400"/>
            <a:ext cx="1276311" cy="230832"/>
          </a:xfrm>
          <a:prstGeom prst="rect">
            <a:avLst/>
          </a:prstGeom>
          <a:noFill/>
          <a:ln w="9525">
            <a:noFill/>
            <a:miter lim="800000"/>
            <a:headEnd/>
            <a:tailEnd/>
          </a:ln>
        </p:spPr>
        <p:txBody>
          <a:bodyPr wrap="none" rtlCol="0">
            <a:spAutoFit/>
          </a:bodyPr>
          <a:lstStyle/>
          <a:p>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Strictly Confidential</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
        <p:nvSpPr>
          <p:cNvPr id="6" name="テキスト ボックス 5">
            <a:extLst>
              <a:ext uri="{FF2B5EF4-FFF2-40B4-BE49-F238E27FC236}">
                <a16:creationId xmlns:a16="http://schemas.microsoft.com/office/drawing/2014/main" id="{BE61E06D-0804-AA4D-AD56-81FE58AB9EB9}"/>
              </a:ext>
            </a:extLst>
          </p:cNvPr>
          <p:cNvSpPr txBox="1"/>
          <p:nvPr userDrawn="1"/>
        </p:nvSpPr>
        <p:spPr bwMode="auto">
          <a:xfrm>
            <a:off x="9713699" y="6629400"/>
            <a:ext cx="2473755" cy="230832"/>
          </a:xfrm>
          <a:prstGeom prst="rect">
            <a:avLst/>
          </a:prstGeom>
          <a:noFill/>
          <a:ln w="9525">
            <a:noFill/>
            <a:miter lim="800000"/>
            <a:headEnd/>
            <a:tailEnd/>
          </a:ln>
        </p:spPr>
        <p:txBody>
          <a:bodyPr wrap="none" rtlCol="0">
            <a:spAutoFit/>
          </a:bodyPr>
          <a:lstStyle/>
          <a:p>
            <a:pPr algn="r"/>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All Rights Reserved Recruit Co, Ltd 2023</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Tree>
    <p:extLst>
      <p:ext uri="{BB962C8B-B14F-4D97-AF65-F5344CB8AC3E}">
        <p14:creationId xmlns:p14="http://schemas.microsoft.com/office/powerpoint/2010/main" val="138922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extLst>
              <p:ext uri="{D42A27DB-BD31-4B8C-83A1-F6EECF244321}">
                <p14:modId xmlns:p14="http://schemas.microsoft.com/office/powerpoint/2010/main" val="30861839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3942530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extLst>
              <p:ext uri="{D42A27DB-BD31-4B8C-83A1-F6EECF244321}">
                <p14:modId xmlns:p14="http://schemas.microsoft.com/office/powerpoint/2010/main" val="10826729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16711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extLst>
              <p:ext uri="{D42A27DB-BD31-4B8C-83A1-F6EECF244321}">
                <p14:modId xmlns:p14="http://schemas.microsoft.com/office/powerpoint/2010/main" val="340292042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3123506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extLst>
              <p:ext uri="{D42A27DB-BD31-4B8C-83A1-F6EECF244321}">
                <p14:modId xmlns:p14="http://schemas.microsoft.com/office/powerpoint/2010/main" val="291951583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839395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extLst>
              <p:ext uri="{D42A27DB-BD31-4B8C-83A1-F6EECF244321}">
                <p14:modId xmlns:p14="http://schemas.microsoft.com/office/powerpoint/2010/main" val="31791012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1111349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extLst>
              <p:ext uri="{D42A27DB-BD31-4B8C-83A1-F6EECF244321}">
                <p14:modId xmlns:p14="http://schemas.microsoft.com/office/powerpoint/2010/main" val="66475686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330398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extLst>
              <p:ext uri="{D42A27DB-BD31-4B8C-83A1-F6EECF244321}">
                <p14:modId xmlns:p14="http://schemas.microsoft.com/office/powerpoint/2010/main" val="34114356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147790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extLst>
              <p:ext uri="{D42A27DB-BD31-4B8C-83A1-F6EECF244321}">
                <p14:modId xmlns:p14="http://schemas.microsoft.com/office/powerpoint/2010/main" val="25972201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2107188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extLst>
              <p:ext uri="{D42A27DB-BD31-4B8C-83A1-F6EECF244321}">
                <p14:modId xmlns:p14="http://schemas.microsoft.com/office/powerpoint/2010/main" val="14654062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3292182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575213273"/>
              </p:ext>
            </p:ext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3136871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1_タイトル スライド">
    <p:spTree>
      <p:nvGrpSpPr>
        <p:cNvPr id="1" name=""/>
        <p:cNvGrpSpPr/>
        <p:nvPr/>
      </p:nvGrpSpPr>
      <p:grpSpPr>
        <a:xfrm>
          <a:off x="0" y="0"/>
          <a:ext cx="0" cy="0"/>
          <a:chOff x="0" y="0"/>
          <a:chExt cx="0" cy="0"/>
        </a:xfrm>
      </p:grpSpPr>
      <p:pic>
        <p:nvPicPr>
          <p:cNvPr id="3" name="図 11" descr="名称未設定-1.png"/>
          <p:cNvPicPr>
            <a:picLocks noChangeAspect="1"/>
          </p:cNvPicPr>
          <p:nvPr userDrawn="1"/>
        </p:nvPicPr>
        <p:blipFill>
          <a:blip r:embed="rId2"/>
          <a:srcRect/>
          <a:stretch>
            <a:fillRect/>
          </a:stretch>
        </p:blipFill>
        <p:spPr bwMode="auto">
          <a:xfrm>
            <a:off x="8049684" y="5770564"/>
            <a:ext cx="3655483" cy="719137"/>
          </a:xfrm>
          <a:prstGeom prst="rect">
            <a:avLst/>
          </a:prstGeom>
          <a:noFill/>
          <a:ln w="9525">
            <a:noFill/>
            <a:miter lim="800000"/>
            <a:headEnd/>
            <a:tailEnd/>
          </a:ln>
        </p:spPr>
      </p:pic>
      <p:pic>
        <p:nvPicPr>
          <p:cNvPr id="4" name="図 10" descr="リクルート＿パワーポイント＿元データ.png"/>
          <p:cNvPicPr>
            <a:picLocks noChangeAspect="1"/>
          </p:cNvPicPr>
          <p:nvPr userDrawn="1"/>
        </p:nvPicPr>
        <p:blipFill>
          <a:blip r:embed="rId3"/>
          <a:srcRect/>
          <a:stretch>
            <a:fillRect/>
          </a:stretch>
        </p:blipFill>
        <p:spPr bwMode="auto">
          <a:xfrm>
            <a:off x="0" y="0"/>
            <a:ext cx="11717867" cy="5316538"/>
          </a:xfrm>
          <a:prstGeom prst="rect">
            <a:avLst/>
          </a:prstGeom>
          <a:noFill/>
          <a:ln w="9525">
            <a:noFill/>
            <a:miter lim="800000"/>
            <a:headEnd/>
            <a:tailEnd/>
          </a:ln>
        </p:spPr>
      </p:pic>
      <p:sp>
        <p:nvSpPr>
          <p:cNvPr id="6157" name="Rectangle 13"/>
          <p:cNvSpPr>
            <a:spLocks noGrp="1" noChangeArrowheads="1"/>
          </p:cNvSpPr>
          <p:nvPr>
            <p:ph type="ctrTitle"/>
          </p:nvPr>
        </p:nvSpPr>
        <p:spPr>
          <a:xfrm>
            <a:off x="3874956" y="2557196"/>
            <a:ext cx="6833789" cy="1586089"/>
          </a:xfrm>
        </p:spPr>
        <p:txBody>
          <a:bodyPr/>
          <a:lstStyle>
            <a:lvl1pPr algn="r">
              <a:defRPr sz="2400">
                <a:solidFill>
                  <a:srgbClr val="34464D"/>
                </a:solidFill>
                <a:latin typeface="+mn-ea"/>
                <a:ea typeface="+mn-ea"/>
                <a:cs typeface="ＭＳ ゴシック"/>
              </a:defRPr>
            </a:lvl1pPr>
          </a:lstStyle>
          <a:p>
            <a:pPr lvl="0"/>
            <a:r>
              <a:rPr lang="ja-JP" altLang="en-US" noProof="0"/>
              <a:t>マスター タイトルの書式設定</a:t>
            </a:r>
          </a:p>
        </p:txBody>
      </p:sp>
    </p:spTree>
    <p:extLst>
      <p:ext uri="{BB962C8B-B14F-4D97-AF65-F5344CB8AC3E}">
        <p14:creationId xmlns:p14="http://schemas.microsoft.com/office/powerpoint/2010/main" val="1335607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3639961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0" indent="0">
              <a:buFont typeface="Arial" charset="0"/>
              <a:buNone/>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Tree>
    <p:extLst>
      <p:ext uri="{BB962C8B-B14F-4D97-AF65-F5344CB8AC3E}">
        <p14:creationId xmlns:p14="http://schemas.microsoft.com/office/powerpoint/2010/main" val="411663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40441236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23715864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26300268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3473686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26230147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8974781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42663445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9283454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24358811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16070709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基本版） 中表紙_Proposal">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bwMode="gray">
          <a:xfrm>
            <a:off x="1191877" y="2124001"/>
            <a:ext cx="6371438" cy="667409"/>
          </a:xfrm>
          <a:prstGeom prst="rect">
            <a:avLst/>
          </a:prstGeom>
          <a:noFill/>
        </p:spPr>
        <p:txBody>
          <a:bodyPr wrap="none" lIns="72000" rIns="73152" anchor="ctr" anchorCtr="0">
            <a:noAutofit/>
          </a:bodyPr>
          <a:lstStyle>
            <a:lvl1pPr marL="0" indent="0" algn="l">
              <a:lnSpc>
                <a:spcPct val="100000"/>
              </a:lnSpc>
              <a:spcBef>
                <a:spcPts val="0"/>
              </a:spcBef>
              <a:buNone/>
              <a:defRPr sz="2800" b="1" baseline="0">
                <a:solidFill>
                  <a:schemeClr val="tx1"/>
                </a:solidFill>
                <a:latin typeface="+mj-lt"/>
                <a:ea typeface="+mj-ea"/>
                <a:cs typeface="Arial" pitchFamily="34" charset="0"/>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868431" y="6588000"/>
            <a:ext cx="5006769" cy="169200"/>
          </a:xfrm>
          <a:prstGeom prst="rect">
            <a:avLst/>
          </a:prstGeom>
        </p:spPr>
        <p:txBody>
          <a:bodyPr/>
          <a:lstStyle>
            <a:lvl1pPr>
              <a:defRPr>
                <a:solidFill>
                  <a:schemeClr val="tx1"/>
                </a:solidFill>
              </a:defRPr>
            </a:lvl1pPr>
          </a:lstStyle>
          <a:p>
            <a:endParaRPr lang="en-GB" altLang="en-GB"/>
          </a:p>
        </p:txBody>
      </p:sp>
    </p:spTree>
    <p:extLst>
      <p:ext uri="{BB962C8B-B14F-4D97-AF65-F5344CB8AC3E}">
        <p14:creationId xmlns:p14="http://schemas.microsoft.com/office/powerpoint/2010/main" val="21094171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5_通常スライド">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5" name="Rectangle 3"/>
          <p:cNvSpPr>
            <a:spLocks noGrp="1" noChangeArrowheads="1"/>
          </p:cNvSpPr>
          <p:nvPr>
            <p:ph idx="1"/>
          </p:nvPr>
        </p:nvSpPr>
        <p:spPr bwMode="auto">
          <a:xfrm>
            <a:off x="703384" y="5836762"/>
            <a:ext cx="10800862" cy="545783"/>
          </a:xfrm>
          <a:prstGeom prst="rect">
            <a:avLst/>
          </a:prstGeom>
          <a:noFill/>
          <a:ln w="9525">
            <a:solidFill>
              <a:schemeClr val="tx1"/>
            </a:solidFill>
            <a:miter lim="800000"/>
            <a:headEnd/>
            <a:tailEnd/>
          </a:ln>
        </p:spPr>
        <p:txBody>
          <a:bodyPr vert="horz" wrap="square" lIns="0" tIns="0" rIns="0" bIns="0" numCol="1" anchor="ctr" anchorCtr="0" compatLnSpc="1">
            <a:prstTxWarp prst="textNoShape">
              <a:avLst/>
            </a:prstTxWarp>
          </a:bodyPr>
          <a:lstStyle/>
          <a:p>
            <a:pPr lvl="0"/>
            <a:r>
              <a:rPr lang="ja-JP" altLang="en-US"/>
              <a:t>メッセージの入力（</a:t>
            </a:r>
            <a:r>
              <a:rPr lang="en-US" altLang="ja-JP"/>
              <a:t>50</a:t>
            </a:r>
            <a:r>
              <a:rPr lang="ja-JP" altLang="en-US"/>
              <a:t>文字以内）</a:t>
            </a:r>
            <a:endParaRPr lang="en-US" altLang="ja-JP"/>
          </a:p>
        </p:txBody>
      </p:sp>
      <p:sp>
        <p:nvSpPr>
          <p:cNvPr id="7" name="Rectangle 2"/>
          <p:cNvSpPr>
            <a:spLocks noGrp="1" noChangeArrowheads="1"/>
          </p:cNvSpPr>
          <p:nvPr>
            <p:ph type="title"/>
          </p:nvPr>
        </p:nvSpPr>
        <p:spPr bwMode="auto">
          <a:xfrm>
            <a:off x="447264" y="0"/>
            <a:ext cx="11303332" cy="499222"/>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ja-JP" altLang="en-US"/>
              <a:t>スライドタイトルの入力</a:t>
            </a:r>
          </a:p>
        </p:txBody>
      </p:sp>
    </p:spTree>
    <p:extLst>
      <p:ext uri="{BB962C8B-B14F-4D97-AF65-F5344CB8AC3E}">
        <p14:creationId xmlns:p14="http://schemas.microsoft.com/office/powerpoint/2010/main" val="16142416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5AF7C2B3-6422-4495-BC2B-48D8CB765D15}" type="datetimeFigureOut">
              <a:rPr kumimoji="1" lang="ja-JP" altLang="en-US" smtClean="0"/>
              <a:t>2026/2/20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0390524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AF7C2B3-6422-4495-BC2B-48D8CB765D15}" type="datetimeFigureOut">
              <a:rPr kumimoji="1" lang="ja-JP" altLang="en-US" smtClean="0"/>
              <a:t>2026/2/20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8646975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5AF7C2B3-6422-4495-BC2B-48D8CB765D15}" type="datetimeFigureOut">
              <a:rPr kumimoji="1" lang="ja-JP" altLang="en-US" smtClean="0"/>
              <a:t>2026/2/20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34160908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5AF7C2B3-6422-4495-BC2B-48D8CB765D15}" type="datetimeFigureOut">
              <a:rPr kumimoji="1" lang="ja-JP" altLang="en-US" smtClean="0"/>
              <a:t>2026/2/20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5030388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5AF7C2B3-6422-4495-BC2B-48D8CB765D15}" type="datetimeFigureOut">
              <a:rPr kumimoji="1" lang="ja-JP" altLang="en-US" smtClean="0"/>
              <a:t>2026/2/20</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8902595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5AF7C2B3-6422-4495-BC2B-48D8CB765D15}" type="datetimeFigureOut">
              <a:rPr kumimoji="1" lang="ja-JP" altLang="en-US" smtClean="0"/>
              <a:t>2026/2/20</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9157675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F7C2B3-6422-4495-BC2B-48D8CB765D15}" type="datetimeFigureOut">
              <a:rPr kumimoji="1" lang="ja-JP" altLang="en-US" smtClean="0"/>
              <a:t>2026/2/20</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619821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AF7C2B3-6422-4495-BC2B-48D8CB765D15}" type="datetimeFigureOut">
              <a:rPr kumimoji="1" lang="ja-JP" altLang="en-US" smtClean="0"/>
              <a:t>2026/2/20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1952727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図を追加</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AF7C2B3-6422-4495-BC2B-48D8CB765D15}" type="datetimeFigureOut">
              <a:rPr kumimoji="1" lang="ja-JP" altLang="en-US" smtClean="0"/>
              <a:t>2026/2/20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32623312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AF7C2B3-6422-4495-BC2B-48D8CB765D15}" type="datetimeFigureOut">
              <a:rPr kumimoji="1" lang="ja-JP" altLang="en-US" smtClean="0"/>
              <a:t>2026/2/20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4502114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AF7C2B3-6422-4495-BC2B-48D8CB765D15}" type="datetimeFigureOut">
              <a:rPr kumimoji="1" lang="ja-JP" altLang="en-US" smtClean="0"/>
              <a:t>2026/2/20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32858071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34671070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Tree>
    <p:extLst>
      <p:ext uri="{BB962C8B-B14F-4D97-AF65-F5344CB8AC3E}">
        <p14:creationId xmlns:p14="http://schemas.microsoft.com/office/powerpoint/2010/main" val="396232977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5135220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26246056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9898073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1336251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36099703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1485813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20421289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39370408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39795700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39203661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184920476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2" name="テキスト ボックス 1">
            <a:extLst>
              <a:ext uri="{FF2B5EF4-FFF2-40B4-BE49-F238E27FC236}">
                <a16:creationId xmlns:a16="http://schemas.microsoft.com/office/drawing/2014/main" id="{D1CFF65B-A8B2-A742-960E-AEE2B0C95AC6}"/>
              </a:ext>
            </a:extLst>
          </p:cNvPr>
          <p:cNvSpPr txBox="1"/>
          <p:nvPr userDrawn="1"/>
        </p:nvSpPr>
        <p:spPr bwMode="auto">
          <a:xfrm>
            <a:off x="1" y="6629400"/>
            <a:ext cx="1276311" cy="230832"/>
          </a:xfrm>
          <a:prstGeom prst="rect">
            <a:avLst/>
          </a:prstGeom>
          <a:noFill/>
          <a:ln w="9525">
            <a:noFill/>
            <a:miter lim="800000"/>
            <a:headEnd/>
            <a:tailEnd/>
          </a:ln>
        </p:spPr>
        <p:txBody>
          <a:bodyPr wrap="none" rtlCol="0">
            <a:spAutoFit/>
          </a:bodyPr>
          <a:lstStyle/>
          <a:p>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Strictly Confidential</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
        <p:nvSpPr>
          <p:cNvPr id="6" name="テキスト ボックス 5">
            <a:extLst>
              <a:ext uri="{FF2B5EF4-FFF2-40B4-BE49-F238E27FC236}">
                <a16:creationId xmlns:a16="http://schemas.microsoft.com/office/drawing/2014/main" id="{BE61E06D-0804-AA4D-AD56-81FE58AB9EB9}"/>
              </a:ext>
            </a:extLst>
          </p:cNvPr>
          <p:cNvSpPr txBox="1"/>
          <p:nvPr userDrawn="1"/>
        </p:nvSpPr>
        <p:spPr bwMode="auto">
          <a:xfrm>
            <a:off x="9713699" y="6629400"/>
            <a:ext cx="2473755" cy="230832"/>
          </a:xfrm>
          <a:prstGeom prst="rect">
            <a:avLst/>
          </a:prstGeom>
          <a:noFill/>
          <a:ln w="9525">
            <a:noFill/>
            <a:miter lim="800000"/>
            <a:headEnd/>
            <a:tailEnd/>
          </a:ln>
        </p:spPr>
        <p:txBody>
          <a:bodyPr wrap="none" rtlCol="0">
            <a:spAutoFit/>
          </a:bodyPr>
          <a:lstStyle/>
          <a:p>
            <a:pPr algn="r"/>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All Rights Reserved Recruit Co, Ltd 2020</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Tree>
    <p:extLst>
      <p:ext uri="{BB962C8B-B14F-4D97-AF65-F5344CB8AC3E}">
        <p14:creationId xmlns:p14="http://schemas.microsoft.com/office/powerpoint/2010/main" val="42661890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160596943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339677907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205173098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9633550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340150820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2264331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296161502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315132366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22112670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2848808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NUL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oleObject" Target="../embeddings/oleObject1.bin"/><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ags" Target="../tags/tag16.xml"/><Relationship Id="rId2" Type="http://schemas.openxmlformats.org/officeDocument/2006/relationships/slideLayout" Target="../slideLayouts/slideLayout15.xml"/><Relationship Id="rId16" Type="http://schemas.openxmlformats.org/officeDocument/2006/relationships/tags" Target="../tags/tag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19" Type="http://schemas.openxmlformats.org/officeDocument/2006/relationships/image" Target="NUL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image" Target="NULL"/><Relationship Id="rId2" Type="http://schemas.openxmlformats.org/officeDocument/2006/relationships/slideLayout" Target="../slideLayouts/slideLayout40.xml"/><Relationship Id="rId16" Type="http://schemas.openxmlformats.org/officeDocument/2006/relationships/oleObject" Target="../embeddings/oleObject1.bin"/><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tags" Target="../tags/tag31.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ags" Target="../tags/tag3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image" Target="NULL"/><Relationship Id="rId2" Type="http://schemas.openxmlformats.org/officeDocument/2006/relationships/slideLayout" Target="../slideLayouts/slideLayout52.xml"/><Relationship Id="rId16" Type="http://schemas.openxmlformats.org/officeDocument/2006/relationships/oleObject" Target="../embeddings/oleObject1.bin"/><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tags" Target="../tags/tag4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tags" Target="../tags/tag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5"/>
            </p:custDataLst>
            <p:extLst>
              <p:ext uri="{D42A27DB-BD31-4B8C-83A1-F6EECF244321}">
                <p14:modId xmlns:p14="http://schemas.microsoft.com/office/powerpoint/2010/main" val="2287059294"/>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7" imgW="3886200" imgH="5029200" progId="TCLayout.ActiveDocument.1">
                  <p:embed/>
                </p:oleObj>
              </mc:Choice>
              <mc:Fallback>
                <p:oleObj name="think-cell スライド" r:id="rId17"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8"/>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6"/>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042717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6"/>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8" imgW="3886200" imgH="5029200" progId="TCLayout.ActiveDocument.1">
                  <p:embed/>
                </p:oleObj>
              </mc:Choice>
              <mc:Fallback>
                <p:oleObj name="think-cell スライド" r:id="rId18"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9"/>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7"/>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1439595198"/>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12" r:id="rId13"/>
    <p:sldLayoutId id="2147483740" r:id="rId14"/>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F7C2B3-6422-4495-BC2B-48D8CB765D15}" type="datetimeFigureOut">
              <a:rPr kumimoji="1" lang="ja-JP" altLang="en-US" smtClean="0"/>
              <a:t>2026/2/20</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798956510"/>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4"/>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26258379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4"/>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930760589"/>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4.xml"/><Relationship Id="rId1" Type="http://schemas.openxmlformats.org/officeDocument/2006/relationships/tags" Target="../tags/tag58.xml"/><Relationship Id="rId5" Type="http://schemas.openxmlformats.org/officeDocument/2006/relationships/image" Target="../media/image15.emf"/><Relationship Id="rId4"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59.xml"/><Relationship Id="rId4" Type="http://schemas.openxmlformats.org/officeDocument/2006/relationships/image" Target="../media/image15.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0.xml"/><Relationship Id="rId4" Type="http://schemas.openxmlformats.org/officeDocument/2006/relationships/image" Target="../media/image15.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1.xml"/><Relationship Id="rId4" Type="http://schemas.openxmlformats.org/officeDocument/2006/relationships/image" Target="../media/image15.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2.xml"/><Relationship Id="rId4" Type="http://schemas.openxmlformats.org/officeDocument/2006/relationships/image" Target="../media/image15.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3.xml"/><Relationship Id="rId4" Type="http://schemas.openxmlformats.org/officeDocument/2006/relationships/image" Target="../media/image15.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4.xml"/><Relationship Id="rId4" Type="http://schemas.openxmlformats.org/officeDocument/2006/relationships/image" Target="../media/image15.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5.xml"/><Relationship Id="rId4" Type="http://schemas.openxmlformats.org/officeDocument/2006/relationships/image" Target="../media/image15.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6.xml"/><Relationship Id="rId4" Type="http://schemas.openxmlformats.org/officeDocument/2006/relationships/image" Target="../media/image15.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7.xml"/><Relationship Id="rId4" Type="http://schemas.openxmlformats.org/officeDocument/2006/relationships/image" Target="../media/image15.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8.xml"/><Relationship Id="rId4" Type="http://schemas.openxmlformats.org/officeDocument/2006/relationships/image" Target="../media/image15.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D6166C26-BB72-BC84-A071-199766AA4EDF}"/>
              </a:ext>
            </a:extLst>
          </p:cNvPr>
          <p:cNvGraphicFramePr>
            <a:graphicFrameLocks noGrp="1"/>
          </p:cNvGraphicFramePr>
          <p:nvPr>
            <p:extLst>
              <p:ext uri="{D42A27DB-BD31-4B8C-83A1-F6EECF244321}">
                <p14:modId xmlns:p14="http://schemas.microsoft.com/office/powerpoint/2010/main" val="1133147085"/>
              </p:ext>
            </p:extLst>
          </p:nvPr>
        </p:nvGraphicFramePr>
        <p:xfrm>
          <a:off x="5583728" y="800483"/>
          <a:ext cx="6488938" cy="6032044"/>
        </p:xfrm>
        <a:graphic>
          <a:graphicData uri="http://schemas.openxmlformats.org/drawingml/2006/table">
            <a:tbl>
              <a:tblPr firstRow="1" bandRow="1">
                <a:tableStyleId>{5940675A-B579-460E-94D1-54222C63F5DA}</a:tableStyleId>
              </a:tblPr>
              <a:tblGrid>
                <a:gridCol w="808991">
                  <a:extLst>
                    <a:ext uri="{9D8B030D-6E8A-4147-A177-3AD203B41FA5}">
                      <a16:colId xmlns:a16="http://schemas.microsoft.com/office/drawing/2014/main" val="20000"/>
                    </a:ext>
                  </a:extLst>
                </a:gridCol>
                <a:gridCol w="5679947">
                  <a:extLst>
                    <a:ext uri="{9D8B030D-6E8A-4147-A177-3AD203B41FA5}">
                      <a16:colId xmlns:a16="http://schemas.microsoft.com/office/drawing/2014/main" val="20002"/>
                    </a:ext>
                  </a:extLst>
                </a:gridCol>
              </a:tblGrid>
              <a:tr h="811356">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報告</a:t>
                      </a:r>
                      <a:r>
                        <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決議</a:t>
                      </a:r>
                      <a:endPar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endParaRPr>
                    </a:p>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事項</a:t>
                      </a:r>
                    </a:p>
                  </a:txBody>
                  <a:tcPr marL="36000" marR="36000" anchor="ctr">
                    <a:solidFill>
                      <a:schemeClr val="accent1">
                        <a:lumMod val="20000"/>
                        <a:lumOff val="80000"/>
                      </a:schemeClr>
                    </a:solidFill>
                  </a:tcPr>
                </a:tc>
                <a:tc>
                  <a:txBody>
                    <a:bodyPr/>
                    <a:lstStyle/>
                    <a:p>
                      <a:pPr marL="0" lvl="1" indent="0">
                        <a:buFont typeface="Arial" panose="020B0604020202020204" pitchFamily="34" charset="0"/>
                        <a:buNone/>
                      </a:pP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JKK1</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丁目の周辺システム対応にあたり、合計投資額</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3.5</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億の実行承認を頂きたい</a:t>
                      </a:r>
                      <a:br>
                        <a:rPr lang="en-US" altLang="ja-JP" sz="120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要件定義工程　　   ：</a:t>
                      </a:r>
                      <a:r>
                        <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0.6</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億（</a:t>
                      </a:r>
                      <a:r>
                        <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19</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システム）</a:t>
                      </a:r>
                      <a:r>
                        <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起案済み</a:t>
                      </a:r>
                      <a:br>
                        <a:rPr lang="en-US" altLang="ja-JP" sz="110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a:latin typeface="メイリオ" panose="020B0604030504040204" pitchFamily="50" charset="-128"/>
                          <a:ea typeface="メイリオ" panose="020B0604030504040204" pitchFamily="50" charset="-128"/>
                          <a:cs typeface="メイリオ" panose="020B0604030504040204" pitchFamily="50" charset="-128"/>
                        </a:rPr>
                        <a:t>　・基本設計工程～</a:t>
                      </a:r>
                      <a:r>
                        <a:rPr lang="en-US" altLang="ja-JP" sz="1100">
                          <a:latin typeface="メイリオ" panose="020B0604030504040204" pitchFamily="50" charset="-128"/>
                          <a:ea typeface="メイリオ" panose="020B0604030504040204" pitchFamily="50" charset="-128"/>
                          <a:cs typeface="メイリオ" panose="020B0604030504040204" pitchFamily="50" charset="-128"/>
                        </a:rPr>
                        <a:t>C/O</a:t>
                      </a:r>
                      <a:r>
                        <a:rPr lang="ja-JP" altLang="en-US" sz="110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100">
                          <a:latin typeface="メイリオ" panose="020B0604030504040204" pitchFamily="50" charset="-128"/>
                          <a:ea typeface="メイリオ" panose="020B0604030504040204" pitchFamily="50" charset="-128"/>
                          <a:cs typeface="メイリオ" panose="020B0604030504040204" pitchFamily="50" charset="-128"/>
                        </a:rPr>
                        <a:t>2.9</a:t>
                      </a:r>
                      <a:r>
                        <a:rPr lang="ja-JP" altLang="en-US" sz="1100">
                          <a:latin typeface="メイリオ" panose="020B0604030504040204" pitchFamily="50" charset="-128"/>
                          <a:ea typeface="メイリオ" panose="020B0604030504040204" pitchFamily="50" charset="-128"/>
                          <a:cs typeface="メイリオ" panose="020B0604030504040204" pitchFamily="50" charset="-128"/>
                        </a:rPr>
                        <a:t>億（</a:t>
                      </a:r>
                      <a:r>
                        <a:rPr lang="en-US" altLang="ja-JP" sz="1100">
                          <a:latin typeface="メイリオ" panose="020B0604030504040204" pitchFamily="50" charset="-128"/>
                          <a:ea typeface="メイリオ" panose="020B0604030504040204" pitchFamily="50" charset="-128"/>
                          <a:cs typeface="メイリオ" panose="020B0604030504040204" pitchFamily="50" charset="-128"/>
                        </a:rPr>
                        <a:t>12</a:t>
                      </a:r>
                      <a:r>
                        <a:rPr lang="ja-JP" altLang="en-US" sz="1100">
                          <a:latin typeface="メイリオ" panose="020B0604030504040204" pitchFamily="50" charset="-128"/>
                          <a:ea typeface="メイリオ" panose="020B0604030504040204" pitchFamily="50" charset="-128"/>
                          <a:cs typeface="メイリオ" panose="020B0604030504040204" pitchFamily="50" charset="-128"/>
                        </a:rPr>
                        <a:t>システム）</a:t>
                      </a:r>
                      <a:endParaRPr lang="en-US" altLang="ja-JP" sz="1100">
                        <a:latin typeface="メイリオ" panose="020B0604030504040204" pitchFamily="50" charset="-128"/>
                        <a:ea typeface="メイリオ" panose="020B0604030504040204" pitchFamily="50" charset="-128"/>
                        <a:cs typeface="メイリオ" panose="020B0604030504040204" pitchFamily="50" charset="-128"/>
                      </a:endParaRPr>
                    </a:p>
                    <a:p>
                      <a:pPr marL="0" lvl="1" indent="0">
                        <a:buFont typeface="Arial" panose="020B0604020202020204" pitchFamily="34" charset="0"/>
                        <a:buNone/>
                      </a:pP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開発編成会</a:t>
                      </a:r>
                      <a:r>
                        <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見立て会は同内容で起案予定</a:t>
                      </a:r>
                      <a:endPar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solidFill>
                      <a:schemeClr val="bg1"/>
                    </a:solidFill>
                  </a:tcPr>
                </a:tc>
                <a:extLst>
                  <a:ext uri="{0D108BD9-81ED-4DB2-BD59-A6C34878D82A}">
                    <a16:rowId xmlns:a16="http://schemas.microsoft.com/office/drawing/2014/main" val="2266837193"/>
                  </a:ext>
                </a:extLst>
              </a:tr>
              <a:tr h="2116806">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起案の</a:t>
                      </a:r>
                      <a:endPar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endParaRPr>
                    </a:p>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背景</a:t>
                      </a:r>
                    </a:p>
                  </a:txBody>
                  <a:tcPr marL="36000" marR="36000" anchor="ctr">
                    <a:solidFill>
                      <a:schemeClr val="accent1">
                        <a:lumMod val="20000"/>
                        <a:lumOff val="8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＜全社＞</a:t>
                      </a:r>
                    </a:p>
                    <a:p>
                      <a:pPr marL="171450" lvl="1" indent="-171450">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リクルートの経営管理は、約</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30</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年の利用を経て劣化した基盤の上で、</a:t>
                      </a:r>
                      <a:b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経営体制や法制度の変更の都度、手作業での対応を積み重ねてきた結果、</a:t>
                      </a:r>
                      <a:b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会計品質の課題が顕在化</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pPr marL="171450" lvl="1" indent="-171450">
                        <a:buFont typeface="Arial" panose="020B0604020202020204" pitchFamily="34" charset="0"/>
                        <a:buChar char="•"/>
                      </a:pP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RCL</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での「財務会計のグローバル標準化」および「経営の自由度の確保」を</a:t>
                      </a:r>
                      <a:b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達成するため、全社会計基盤刷新プロジェクト（</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）が発足</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pPr marL="0" lvl="1" indent="0">
                        <a:buFont typeface="Arial" panose="020B0604020202020204" pitchFamily="34" charset="0"/>
                        <a:buNone/>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＜基幹システム</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U</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pPr marL="171450" lvl="1" indent="-171450">
                        <a:buFont typeface="Arial" panose="020B0604020202020204" pitchFamily="34" charset="0"/>
                        <a:buChar char="•"/>
                      </a:pP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要求を満たすため、基シス管轄の周辺システム</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(12</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システム</a:t>
                      </a:r>
                      <a:r>
                        <a:rPr lang="en-US" altLang="ja-JP" sz="9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基本設計以降の対象</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を</a:t>
                      </a:r>
                      <a:b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横断する開発プロジェクト体制を構築</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pPr marL="171450" lvl="1" indent="-171450">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開発プロジェクトの中で要件定義を</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2024</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年</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月までに行い、</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2024</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年</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2</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月以降基本設計工程以降に着手予定</a:t>
                      </a:r>
                    </a:p>
                  </a:txBody>
                  <a:tcPr anchor="ctr">
                    <a:solidFill>
                      <a:schemeClr val="bg1"/>
                    </a:solidFill>
                  </a:tcPr>
                </a:tc>
                <a:extLst>
                  <a:ext uri="{0D108BD9-81ED-4DB2-BD59-A6C34878D82A}">
                    <a16:rowId xmlns:a16="http://schemas.microsoft.com/office/drawing/2014/main" val="10001"/>
                  </a:ext>
                </a:extLst>
              </a:tr>
              <a:tr h="2201591">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論点と</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方向性</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各システムの総コストは、以下の通り</a:t>
                      </a:r>
                      <a:r>
                        <a:rPr lang="en-US" altLang="ja-JP" sz="1050" u="none"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050" u="none" dirty="0">
                          <a:latin typeface="メイリオ" panose="020B0604030504040204" pitchFamily="50" charset="-128"/>
                          <a:ea typeface="メイリオ" panose="020B0604030504040204" pitchFamily="50" charset="-128"/>
                          <a:cs typeface="メイリオ" panose="020B0604030504040204" pitchFamily="50" charset="-128"/>
                        </a:rPr>
                        <a:t>基本設計工程以降対象外のシステムは割愛</a:t>
                      </a:r>
                      <a:r>
                        <a:rPr lang="en-US" altLang="ja-JP" sz="1050" u="none"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上記の内</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RETMAS</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の占めるコストが大きいため更なるコスト削減余地を検討</a:t>
                      </a:r>
                      <a:b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＜検討案＞</a:t>
                      </a:r>
                      <a:b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案①</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SAP</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ベースで業務</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システムの標準化を図る</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原案</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:8,770</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万円</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b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案②</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SAP</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ベース情報を現行</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RIND</a:t>
                      </a:r>
                      <a:r>
                        <a:rPr lang="ja-JP" altLang="en-US" sz="1200" u="none">
                          <a:latin typeface="メイリオ" panose="020B0604030504040204" pitchFamily="50" charset="-128"/>
                          <a:ea typeface="メイリオ" panose="020B0604030504040204" pitchFamily="50" charset="-128"/>
                          <a:cs typeface="メイリオ" panose="020B0604030504040204" pitchFamily="50" charset="-128"/>
                        </a:rPr>
                        <a:t>に置き換え現行</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踏襲する</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削減案</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:7,228</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万円</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コスト面では案②が優位であるが、品質</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、納期</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(D)</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を安定して実現するため、案①のまま進める方針とした（詳細は本資料ページ</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9</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参照）</a:t>
                      </a:r>
                      <a:endPar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endParaRPr>
                    </a:p>
                  </a:txBody>
                  <a:tcPr anchor="ctr">
                    <a:solidFill>
                      <a:schemeClr val="bg1"/>
                    </a:solidFill>
                  </a:tcPr>
                </a:tc>
                <a:extLst>
                  <a:ext uri="{0D108BD9-81ED-4DB2-BD59-A6C34878D82A}">
                    <a16:rowId xmlns:a16="http://schemas.microsoft.com/office/drawing/2014/main" val="3274633517"/>
                  </a:ext>
                </a:extLst>
              </a:tr>
              <a:tr h="902291">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懸案</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事項</a:t>
                      </a:r>
                    </a:p>
                  </a:txBody>
                  <a:tcPr marL="36000" marR="36000"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JKK</a:t>
                      </a:r>
                      <a:r>
                        <a:rPr kumimoji="1" lang="ja-JP" altLang="en-US"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本線側の仕様変更や計画変更の影響により、追加開発要件の発生や</a:t>
                      </a:r>
                      <a:br>
                        <a:rPr kumimoji="1" lang="en-US" altLang="ja-JP"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br>
                      <a:r>
                        <a:rPr kumimoji="1" lang="ja-JP" altLang="en-US"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体制確保が必要になる可能性がある</a:t>
                      </a:r>
                      <a:br>
                        <a:rPr kumimoji="1" lang="en-US" altLang="ja-JP"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br>
                      <a:r>
                        <a:rPr kumimoji="1" lang="en-US" altLang="ja-JP"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その場合は、</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スコープ調整もしくはコストにより解決する方針とする</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endParaRPr kumimoji="1" lang="en-US" altLang="ja-JP"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extLst>
                  <a:ext uri="{0D108BD9-81ED-4DB2-BD59-A6C34878D82A}">
                    <a16:rowId xmlns:a16="http://schemas.microsoft.com/office/drawing/2014/main" val="1034710565"/>
                  </a:ext>
                </a:extLst>
              </a:tr>
            </a:tbl>
          </a:graphicData>
        </a:graphic>
      </p:graphicFrame>
      <p:graphicFrame>
        <p:nvGraphicFramePr>
          <p:cNvPr id="8" name="表 7">
            <a:extLst>
              <a:ext uri="{FF2B5EF4-FFF2-40B4-BE49-F238E27FC236}">
                <a16:creationId xmlns:a16="http://schemas.microsoft.com/office/drawing/2014/main" id="{CCF5B1A5-9B89-C2F3-90FD-ABE34B3549AF}"/>
              </a:ext>
            </a:extLst>
          </p:cNvPr>
          <p:cNvGraphicFramePr>
            <a:graphicFrameLocks noGrp="1"/>
          </p:cNvGraphicFramePr>
          <p:nvPr>
            <p:extLst>
              <p:ext uri="{D42A27DB-BD31-4B8C-83A1-F6EECF244321}">
                <p14:modId xmlns:p14="http://schemas.microsoft.com/office/powerpoint/2010/main" val="365691383"/>
              </p:ext>
            </p:extLst>
          </p:nvPr>
        </p:nvGraphicFramePr>
        <p:xfrm>
          <a:off x="6566226" y="4083788"/>
          <a:ext cx="5351451" cy="493702"/>
        </p:xfrm>
        <a:graphic>
          <a:graphicData uri="http://schemas.openxmlformats.org/drawingml/2006/table">
            <a:tbl>
              <a:tblPr/>
              <a:tblGrid>
                <a:gridCol w="764493">
                  <a:extLst>
                    <a:ext uri="{9D8B030D-6E8A-4147-A177-3AD203B41FA5}">
                      <a16:colId xmlns:a16="http://schemas.microsoft.com/office/drawing/2014/main" val="425264825"/>
                    </a:ext>
                  </a:extLst>
                </a:gridCol>
                <a:gridCol w="764493">
                  <a:extLst>
                    <a:ext uri="{9D8B030D-6E8A-4147-A177-3AD203B41FA5}">
                      <a16:colId xmlns:a16="http://schemas.microsoft.com/office/drawing/2014/main" val="1235261652"/>
                    </a:ext>
                  </a:extLst>
                </a:gridCol>
                <a:gridCol w="764493">
                  <a:extLst>
                    <a:ext uri="{9D8B030D-6E8A-4147-A177-3AD203B41FA5}">
                      <a16:colId xmlns:a16="http://schemas.microsoft.com/office/drawing/2014/main" val="364297123"/>
                    </a:ext>
                  </a:extLst>
                </a:gridCol>
                <a:gridCol w="764493">
                  <a:extLst>
                    <a:ext uri="{9D8B030D-6E8A-4147-A177-3AD203B41FA5}">
                      <a16:colId xmlns:a16="http://schemas.microsoft.com/office/drawing/2014/main" val="1711547277"/>
                    </a:ext>
                  </a:extLst>
                </a:gridCol>
                <a:gridCol w="764493">
                  <a:extLst>
                    <a:ext uri="{9D8B030D-6E8A-4147-A177-3AD203B41FA5}">
                      <a16:colId xmlns:a16="http://schemas.microsoft.com/office/drawing/2014/main" val="2240503056"/>
                    </a:ext>
                  </a:extLst>
                </a:gridCol>
                <a:gridCol w="764493">
                  <a:extLst>
                    <a:ext uri="{9D8B030D-6E8A-4147-A177-3AD203B41FA5}">
                      <a16:colId xmlns:a16="http://schemas.microsoft.com/office/drawing/2014/main" val="1160647075"/>
                    </a:ext>
                  </a:extLst>
                </a:gridCol>
                <a:gridCol w="764493">
                  <a:extLst>
                    <a:ext uri="{9D8B030D-6E8A-4147-A177-3AD203B41FA5}">
                      <a16:colId xmlns:a16="http://schemas.microsoft.com/office/drawing/2014/main" val="4244720076"/>
                    </a:ext>
                  </a:extLst>
                </a:gridCol>
              </a:tblGrid>
              <a:tr h="194900">
                <a:tc>
                  <a:txBody>
                    <a:bodyPr/>
                    <a:lstStyle/>
                    <a:p>
                      <a:pPr algn="ctr" fontAlgn="ctr"/>
                      <a:r>
                        <a:rPr lang="en-US" altLang="ja-JP" sz="1000" b="0" i="0" u="none" strike="noStrike">
                          <a:solidFill>
                            <a:srgbClr val="000000"/>
                          </a:solidFill>
                          <a:effectLst/>
                          <a:latin typeface="Meiryo UI" panose="020B0604030504040204" pitchFamily="50" charset="-128"/>
                          <a:ea typeface="Meiryo UI" panose="020B0604030504040204" pitchFamily="50" charset="-128"/>
                        </a:rPr>
                        <a:t>Concur</a:t>
                      </a:r>
                      <a:r>
                        <a:rPr lang="ja-JP" altLang="en-US" sz="1000" b="0" i="0" u="none" strike="noStrike">
                          <a:solidFill>
                            <a:srgbClr val="000000"/>
                          </a:solidFill>
                          <a:effectLst/>
                          <a:latin typeface="Meiryo UI" panose="020B0604030504040204" pitchFamily="50" charset="-128"/>
                          <a:ea typeface="Meiryo UI" panose="020B0604030504040204" pitchFamily="50" charset="-128"/>
                        </a:rPr>
                        <a:t>系</a:t>
                      </a:r>
                      <a:br>
                        <a:rPr lang="en-US" altLang="ja-JP" sz="1000" b="0" i="0" u="none" strike="noStrike">
                          <a:solidFill>
                            <a:srgbClr val="000000"/>
                          </a:solidFill>
                          <a:effectLst/>
                          <a:latin typeface="Meiryo UI" panose="020B0604030504040204" pitchFamily="50" charset="-128"/>
                          <a:ea typeface="Meiryo UI" panose="020B0604030504040204" pitchFamily="50" charset="-128"/>
                        </a:rPr>
                      </a:br>
                      <a:r>
                        <a:rPr lang="en-US" altLang="ja-JP" sz="800" b="0" i="0" u="none" strike="noStrike">
                          <a:solidFill>
                            <a:srgbClr val="000000"/>
                          </a:solidFill>
                          <a:effectLst/>
                          <a:latin typeface="Meiryo UI" panose="020B0604030504040204" pitchFamily="50" charset="-128"/>
                          <a:ea typeface="Meiryo UI" panose="020B0604030504040204" pitchFamily="50" charset="-128"/>
                        </a:rPr>
                        <a:t>(</a:t>
                      </a:r>
                      <a:r>
                        <a:rPr lang="ja-JP" altLang="en-US" sz="800" b="0" i="0" u="none" strike="noStrike">
                          <a:solidFill>
                            <a:srgbClr val="000000"/>
                          </a:solidFill>
                          <a:effectLst/>
                          <a:latin typeface="Meiryo UI" panose="020B0604030504040204" pitchFamily="50" charset="-128"/>
                          <a:ea typeface="Meiryo UI" panose="020B0604030504040204" pitchFamily="50" charset="-128"/>
                        </a:rPr>
                        <a:t>計</a:t>
                      </a:r>
                      <a:r>
                        <a:rPr lang="en-US" altLang="ja-JP" sz="800" b="0" i="0" u="none" strike="noStrike">
                          <a:solidFill>
                            <a:srgbClr val="000000"/>
                          </a:solidFill>
                          <a:effectLst/>
                          <a:latin typeface="Meiryo UI" panose="020B0604030504040204" pitchFamily="50" charset="-128"/>
                          <a:ea typeface="Meiryo UI" panose="020B0604030504040204" pitchFamily="50" charset="-128"/>
                        </a:rPr>
                        <a:t>6</a:t>
                      </a:r>
                      <a:r>
                        <a:rPr lang="ja-JP" altLang="en-US" sz="800" b="0" i="0" u="none" strike="noStrike">
                          <a:solidFill>
                            <a:srgbClr val="000000"/>
                          </a:solidFill>
                          <a:effectLst/>
                          <a:latin typeface="Meiryo UI" panose="020B0604030504040204" pitchFamily="50" charset="-128"/>
                          <a:ea typeface="Meiryo UI" panose="020B0604030504040204" pitchFamily="50" charset="-128"/>
                        </a:rPr>
                        <a:t>システム</a:t>
                      </a:r>
                      <a:r>
                        <a:rPr lang="en-US" altLang="ja-JP" sz="800" b="0" i="0" u="none" strike="noStrike">
                          <a:solidFill>
                            <a:srgbClr val="000000"/>
                          </a:solidFill>
                          <a:effectLst/>
                          <a:latin typeface="Meiryo UI" panose="020B0604030504040204" pitchFamily="50" charset="-128"/>
                          <a:ea typeface="Meiryo UI" panose="020B0604030504040204" pitchFamily="50" charset="-128"/>
                        </a:rPr>
                        <a:t>)</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ロコン購買</a:t>
                      </a:r>
                      <a:r>
                        <a:rPr lang="en-US" sz="1000" b="0" i="0" u="none" strike="noStrike">
                          <a:solidFill>
                            <a:srgbClr val="000000"/>
                          </a:solidFill>
                          <a:effectLst/>
                          <a:latin typeface="Meiryo UI" panose="020B0604030504040204" pitchFamily="50" charset="-128"/>
                          <a:ea typeface="Meiryo UI" panose="020B0604030504040204" pitchFamily="50" charset="-128"/>
                        </a:rPr>
                        <a:t>HUB</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ロコン銀行</a:t>
                      </a:r>
                      <a:r>
                        <a:rPr lang="en-US" sz="1000" b="0" i="0" u="none" strike="noStrike">
                          <a:solidFill>
                            <a:srgbClr val="000000"/>
                          </a:solidFill>
                          <a:effectLst/>
                          <a:latin typeface="Meiryo UI" panose="020B0604030504040204" pitchFamily="50" charset="-128"/>
                          <a:ea typeface="Meiryo UI" panose="020B0604030504040204" pitchFamily="50" charset="-128"/>
                        </a:rPr>
                        <a:t>HUB</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en-US" sz="1000" b="0" i="0" u="none" strike="noStrike">
                          <a:solidFill>
                            <a:srgbClr val="000000"/>
                          </a:solidFill>
                          <a:effectLst/>
                          <a:latin typeface="Meiryo UI" panose="020B0604030504040204" pitchFamily="50" charset="-128"/>
                          <a:ea typeface="Meiryo UI" panose="020B0604030504040204" pitchFamily="50" charset="-128"/>
                        </a:rPr>
                        <a:t>RETMAS</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とんぺい</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en-US" sz="1000" b="0" i="0" u="none" strike="noStrike" dirty="0" err="1">
                          <a:solidFill>
                            <a:srgbClr val="000000"/>
                          </a:solidFill>
                          <a:effectLst/>
                          <a:latin typeface="Meiryo UI" panose="020B0604030504040204" pitchFamily="50" charset="-128"/>
                          <a:ea typeface="Meiryo UI" panose="020B0604030504040204" pitchFamily="50" charset="-128"/>
                        </a:rPr>
                        <a:t>Mico</a:t>
                      </a:r>
                      <a:r>
                        <a:rPr lang="en-US" sz="1000" b="0" i="0" u="none" strike="noStrike" dirty="0">
                          <a:solidFill>
                            <a:srgbClr val="000000"/>
                          </a:solidFill>
                          <a:effectLst/>
                          <a:latin typeface="Meiryo UI" panose="020B0604030504040204" pitchFamily="50" charset="-128"/>
                          <a:ea typeface="Meiryo UI" panose="020B0604030504040204" pitchFamily="50" charset="-128"/>
                        </a:rPr>
                        <a:t>/Chaco</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ミスギ</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3112292994"/>
                  </a:ext>
                </a:extLst>
              </a:tr>
              <a:tr h="188902">
                <a:tc>
                  <a:txBody>
                    <a:bodyPr/>
                    <a:lstStyle/>
                    <a:p>
                      <a:pPr algn="ctr" fontAlgn="ctr"/>
                      <a:r>
                        <a:rPr lang="en-US" altLang="ja-JP" sz="1000" b="0" i="0" u="none" strike="noStrike">
                          <a:solidFill>
                            <a:srgbClr val="000000"/>
                          </a:solidFill>
                          <a:effectLst/>
                          <a:latin typeface="Meiryo UI" panose="020B0604030504040204" pitchFamily="50" charset="-128"/>
                          <a:ea typeface="Meiryo UI" panose="020B0604030504040204" pitchFamily="50" charset="-128"/>
                        </a:rPr>
                        <a:t>10,867</a:t>
                      </a:r>
                      <a:r>
                        <a:rPr lang="ja-JP" altLang="en-US" sz="1000" b="0" i="0" u="none" strike="noStrike">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a:solidFill>
                            <a:srgbClr val="000000"/>
                          </a:solidFill>
                          <a:effectLst/>
                          <a:latin typeface="Meiryo UI" panose="020B0604030504040204" pitchFamily="50" charset="-128"/>
                          <a:ea typeface="Meiryo UI" panose="020B0604030504040204" pitchFamily="50" charset="-128"/>
                        </a:rPr>
                        <a:t>4,150</a:t>
                      </a:r>
                      <a:r>
                        <a:rPr lang="ja-JP" altLang="en-US" sz="1000" b="0" i="0" u="none" strike="noStrike">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2,992</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a:solidFill>
                            <a:srgbClr val="000000"/>
                          </a:solidFill>
                          <a:effectLst/>
                          <a:latin typeface="Meiryo UI" panose="020B0604030504040204" pitchFamily="50" charset="-128"/>
                          <a:ea typeface="Meiryo UI" panose="020B0604030504040204" pitchFamily="50" charset="-128"/>
                        </a:rPr>
                        <a:t>8,770</a:t>
                      </a:r>
                      <a:r>
                        <a:rPr lang="ja-JP" altLang="en-US" sz="1000" b="0" i="0" u="none" strike="noStrike">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a:solidFill>
                            <a:srgbClr val="000000"/>
                          </a:solidFill>
                          <a:effectLst/>
                          <a:latin typeface="Meiryo UI" panose="020B0604030504040204" pitchFamily="50" charset="-128"/>
                          <a:ea typeface="Meiryo UI" panose="020B0604030504040204" pitchFamily="50" charset="-128"/>
                        </a:rPr>
                        <a:t>4,755</a:t>
                      </a:r>
                      <a:r>
                        <a:rPr lang="ja-JP" altLang="en-US" sz="1000" b="0" i="0" u="none" strike="noStrike">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600</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1,756</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61659398"/>
                  </a:ext>
                </a:extLst>
              </a:tr>
            </a:tbl>
          </a:graphicData>
        </a:graphic>
      </p:graphicFrame>
      <p:graphicFrame>
        <p:nvGraphicFramePr>
          <p:cNvPr id="16" name="表 15">
            <a:extLst>
              <a:ext uri="{FF2B5EF4-FFF2-40B4-BE49-F238E27FC236}">
                <a16:creationId xmlns:a16="http://schemas.microsoft.com/office/drawing/2014/main" id="{99BCB8AC-A471-44CF-96E2-DF63BD255768}"/>
              </a:ext>
            </a:extLst>
          </p:cNvPr>
          <p:cNvGraphicFramePr>
            <a:graphicFrameLocks noGrp="1"/>
          </p:cNvGraphicFramePr>
          <p:nvPr>
            <p:extLst>
              <p:ext uri="{D42A27DB-BD31-4B8C-83A1-F6EECF244321}">
                <p14:modId xmlns:p14="http://schemas.microsoft.com/office/powerpoint/2010/main" val="2472467379"/>
              </p:ext>
            </p:extLst>
          </p:nvPr>
        </p:nvGraphicFramePr>
        <p:xfrm>
          <a:off x="119334" y="81714"/>
          <a:ext cx="5416135" cy="6750814"/>
        </p:xfrm>
        <a:graphic>
          <a:graphicData uri="http://schemas.openxmlformats.org/drawingml/2006/table">
            <a:tbl>
              <a:tblPr firstRow="1" bandRow="1">
                <a:tableStyleId>{5C22544A-7EE6-4342-B048-85BDC9FD1C3A}</a:tableStyleId>
              </a:tblPr>
              <a:tblGrid>
                <a:gridCol w="899574">
                  <a:extLst>
                    <a:ext uri="{9D8B030D-6E8A-4147-A177-3AD203B41FA5}">
                      <a16:colId xmlns:a16="http://schemas.microsoft.com/office/drawing/2014/main" val="20000"/>
                    </a:ext>
                  </a:extLst>
                </a:gridCol>
                <a:gridCol w="873690">
                  <a:extLst>
                    <a:ext uri="{9D8B030D-6E8A-4147-A177-3AD203B41FA5}">
                      <a16:colId xmlns:a16="http://schemas.microsoft.com/office/drawing/2014/main" val="20001"/>
                    </a:ext>
                  </a:extLst>
                </a:gridCol>
                <a:gridCol w="394353">
                  <a:extLst>
                    <a:ext uri="{9D8B030D-6E8A-4147-A177-3AD203B41FA5}">
                      <a16:colId xmlns:a16="http://schemas.microsoft.com/office/drawing/2014/main" val="4179800796"/>
                    </a:ext>
                  </a:extLst>
                </a:gridCol>
                <a:gridCol w="877097">
                  <a:extLst>
                    <a:ext uri="{9D8B030D-6E8A-4147-A177-3AD203B41FA5}">
                      <a16:colId xmlns:a16="http://schemas.microsoft.com/office/drawing/2014/main" val="478060398"/>
                    </a:ext>
                  </a:extLst>
                </a:gridCol>
                <a:gridCol w="195637">
                  <a:extLst>
                    <a:ext uri="{9D8B030D-6E8A-4147-A177-3AD203B41FA5}">
                      <a16:colId xmlns:a16="http://schemas.microsoft.com/office/drawing/2014/main" val="2460475193"/>
                    </a:ext>
                  </a:extLst>
                </a:gridCol>
                <a:gridCol w="760294">
                  <a:extLst>
                    <a:ext uri="{9D8B030D-6E8A-4147-A177-3AD203B41FA5}">
                      <a16:colId xmlns:a16="http://schemas.microsoft.com/office/drawing/2014/main" val="1415608924"/>
                    </a:ext>
                  </a:extLst>
                </a:gridCol>
                <a:gridCol w="226738">
                  <a:extLst>
                    <a:ext uri="{9D8B030D-6E8A-4147-A177-3AD203B41FA5}">
                      <a16:colId xmlns:a16="http://schemas.microsoft.com/office/drawing/2014/main" val="3029277389"/>
                    </a:ext>
                  </a:extLst>
                </a:gridCol>
                <a:gridCol w="1188752">
                  <a:extLst>
                    <a:ext uri="{9D8B030D-6E8A-4147-A177-3AD203B41FA5}">
                      <a16:colId xmlns:a16="http://schemas.microsoft.com/office/drawing/2014/main" val="3000293179"/>
                    </a:ext>
                  </a:extLst>
                </a:gridCol>
              </a:tblGrid>
              <a:tr h="343129">
                <a:tc gridSpan="5">
                  <a:txBody>
                    <a:bodyPr/>
                    <a:lstStyle/>
                    <a:p>
                      <a:pPr algn="just"/>
                      <a:r>
                        <a:rPr kumimoji="1" lang="en-US" altLang="ja-JP" sz="1400" b="1">
                          <a:solidFill>
                            <a:schemeClr val="bg1"/>
                          </a:solidFill>
                          <a:latin typeface="メイリオ"/>
                          <a:ea typeface="メイリオ"/>
                          <a:cs typeface="メイリオ" panose="020B0604030504040204" pitchFamily="50" charset="-128"/>
                        </a:rPr>
                        <a:t>【ICT</a:t>
                      </a:r>
                      <a:r>
                        <a:rPr kumimoji="1" lang="ja-JP" altLang="en-US" sz="1400" b="1">
                          <a:solidFill>
                            <a:schemeClr val="bg1"/>
                          </a:solidFill>
                          <a:latin typeface="メイリオ"/>
                          <a:ea typeface="メイリオ"/>
                          <a:cs typeface="メイリオ" panose="020B0604030504040204" pitchFamily="50" charset="-128"/>
                        </a:rPr>
                        <a:t>統括室ボード会 　起案書</a:t>
                      </a:r>
                      <a:r>
                        <a:rPr kumimoji="1" lang="en-US" altLang="ja-JP" sz="1400" b="1">
                          <a:solidFill>
                            <a:schemeClr val="bg1"/>
                          </a:solidFill>
                          <a:latin typeface="メイリオ"/>
                          <a:ea typeface="メイリオ"/>
                          <a:cs typeface="メイリオ" panose="020B0604030504040204" pitchFamily="50" charset="-128"/>
                        </a:rPr>
                        <a:t>】</a:t>
                      </a:r>
                      <a:endParaRPr kumimoji="1" lang="ja-JP" altLang="en-US" sz="1400" b="1">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kumimoji="1" lang="ja-JP" altLang="en-US"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pPr algn="ctr"/>
                      <a:r>
                        <a:rPr kumimoji="1" lang="ja-JP" altLang="en-US"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起案日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起案日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pPr algn="ctr"/>
                      <a:r>
                        <a:rPr lang="en-US" altLang="ja-JP" sz="1200" b="1">
                          <a:solidFill>
                            <a:schemeClr val="tx1"/>
                          </a:solidFill>
                          <a:latin typeface="メイリオ"/>
                          <a:ea typeface="メイリオ"/>
                          <a:cs typeface="メイリオ" panose="020B0604030504040204" pitchFamily="50" charset="-128"/>
                        </a:rPr>
                        <a:t>2024/1</a:t>
                      </a:r>
                      <a:r>
                        <a:rPr kumimoji="1" lang="en-US" altLang="ja-JP" sz="1200" b="1">
                          <a:solidFill>
                            <a:schemeClr val="tx1"/>
                          </a:solidFill>
                          <a:latin typeface="メイリオ"/>
                          <a:ea typeface="メイリオ"/>
                          <a:cs typeface="メイリオ" panose="020B0604030504040204" pitchFamily="50" charset="-128"/>
                        </a:rPr>
                        <a:t>/11</a:t>
                      </a:r>
                      <a:endParaRPr kumimoji="1" lang="ja-JP" altLang="en-US"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r>
                        <a:rPr kumimoji="1" lang="en-US" altLang="ja-JP" sz="1200" b="1" err="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yyyy</a:t>
                      </a:r>
                      <a:r>
                        <a:rPr kumimoji="1" lang="en-US" altLang="ja-JP"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/mm/</a:t>
                      </a:r>
                      <a:r>
                        <a:rPr kumimoji="1" lang="en-US" altLang="ja-JP" sz="1200" b="1" err="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dd</a:t>
                      </a:r>
                      <a:endParaRPr kumimoji="1" lang="ja-JP" altLang="en-US"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76194">
                <a:tc>
                  <a:txBody>
                    <a:bodyPr/>
                    <a:lstStyle/>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件名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r>
                        <a:rPr kumimoji="1" lang="en-US" altLang="ja-JP" sz="1400" b="1">
                          <a:solidFill>
                            <a:schemeClr val="tx1"/>
                          </a:solidFill>
                          <a:latin typeface="メイリオ"/>
                          <a:ea typeface="メイリオ"/>
                          <a:cs typeface="メイリオ" panose="020B0604030504040204" pitchFamily="50" charset="-128"/>
                        </a:rPr>
                        <a:t>【JKK</a:t>
                      </a:r>
                      <a:r>
                        <a:rPr kumimoji="1" lang="ja-JP" altLang="en-US" sz="1400" b="1">
                          <a:solidFill>
                            <a:schemeClr val="tx1"/>
                          </a:solidFill>
                          <a:latin typeface="メイリオ"/>
                          <a:ea typeface="メイリオ"/>
                          <a:cs typeface="メイリオ" panose="020B0604030504040204" pitchFamily="50" charset="-128"/>
                        </a:rPr>
                        <a:t>対応</a:t>
                      </a:r>
                      <a:r>
                        <a:rPr kumimoji="1" lang="en-US" altLang="ja-JP" sz="1400" b="1">
                          <a:solidFill>
                            <a:schemeClr val="tx1"/>
                          </a:solidFill>
                          <a:latin typeface="メイリオ"/>
                          <a:ea typeface="メイリオ"/>
                          <a:cs typeface="メイリオ" panose="020B0604030504040204" pitchFamily="50" charset="-128"/>
                        </a:rPr>
                        <a:t>】</a:t>
                      </a:r>
                      <a:r>
                        <a:rPr kumimoji="1" lang="ja-JP" altLang="en-US" sz="1400" b="1">
                          <a:solidFill>
                            <a:schemeClr val="tx1"/>
                          </a:solidFill>
                          <a:latin typeface="メイリオ"/>
                          <a:ea typeface="メイリオ"/>
                          <a:cs typeface="メイリオ" panose="020B0604030504040204" pitchFamily="50" charset="-128"/>
                        </a:rPr>
                        <a:t>基シス周辺システム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283130">
                <a:tc>
                  <a:txBody>
                    <a:bodyPr/>
                    <a:lstStyle/>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起案方法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□対面必須　■書面可</a:t>
                      </a:r>
                      <a:endParaRPr kumimoji="1" lang="en-US" altLang="ja-JP"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所要時間</a:t>
                      </a:r>
                      <a:endParaRPr kumimoji="1" lang="en-US" altLang="ja-JP" sz="16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6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a:solidFill>
                            <a:schemeClr val="tx1"/>
                          </a:solidFill>
                          <a:latin typeface="メイリオ"/>
                          <a:ea typeface="メイリオ"/>
                          <a:cs typeface="メイリオ" panose="020B0604030504040204" pitchFamily="50" charset="-128"/>
                        </a:rPr>
                        <a:t>10</a:t>
                      </a:r>
                      <a:r>
                        <a:rPr kumimoji="1" lang="ja-JP" altLang="en-US" sz="1200" b="0">
                          <a:solidFill>
                            <a:schemeClr val="tx1"/>
                          </a:solidFill>
                          <a:latin typeface="メイリオ"/>
                          <a:ea typeface="メイリオ"/>
                          <a:cs typeface="メイリオ" panose="020B0604030504040204" pitchFamily="50" charset="-128"/>
                        </a:rPr>
                        <a:t>分</a:t>
                      </a:r>
                      <a:endParaRPr kumimoji="1" lang="en-US" altLang="ja-JP" sz="1200" b="0">
                        <a:solidFill>
                          <a:schemeClr val="tx1"/>
                        </a:solidFill>
                        <a:latin typeface="メイリオ"/>
                        <a:ea typeface="メイリオ"/>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3130">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開示範囲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ICT</a:t>
                      </a: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統括室 </a:t>
                      </a:r>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ALL</a:t>
                      </a: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3"/>
                  </a:ext>
                </a:extLst>
              </a:tr>
              <a:tr h="283130">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起案部署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ICT</a:t>
                      </a: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統括室 基幹システム</a:t>
                      </a:r>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U</a:t>
                      </a: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 基幹システム</a:t>
                      </a:r>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3G</a:t>
                      </a:r>
                      <a:endPar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endParaRP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283130">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責任者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石原　和幸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283130">
                <a:tc>
                  <a:txBody>
                    <a:bodyPr/>
                    <a:lstStyle/>
                    <a:p>
                      <a:pPr algn="ct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発表</a:t>
                      </a:r>
                      <a:r>
                        <a:rPr kumimoji="1" lang="en-US" altLang="ja-JP" sz="1000" b="0">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陪席者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赤塚　拓也／勝美　理沙、小高　裕介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394868">
                <a:tc>
                  <a:txBody>
                    <a:bodyPr/>
                    <a:lstStyle/>
                    <a:p>
                      <a:pPr algn="ct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最終決議</a:t>
                      </a:r>
                      <a:endParaRPr kumimoji="1" lang="en-US" altLang="ja-JP" sz="10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会議体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ICT</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統括室ボード会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標準プロセス</a:t>
                      </a:r>
                      <a:endParaRPr kumimoji="1" lang="en-US" altLang="ja-JP" sz="100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結果</a:t>
                      </a:r>
                      <a:endParaRPr kumimoji="1" lang="ja-JP" altLang="en-US" sz="80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80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対象外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5511076"/>
                  </a:ext>
                </a:extLst>
              </a:tr>
              <a:tr h="1207386">
                <a:tc>
                  <a:txBody>
                    <a:bodyPr/>
                    <a:lstStyle/>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今後</a:t>
                      </a:r>
                      <a:endParaRPr kumimoji="1" lang="en-US" altLang="ja-JP"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の予定</a:t>
                      </a:r>
                      <a:endParaRPr kumimoji="1" lang="ja-JP" altLang="en-US" sz="10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今後の開発スケジュールを記載</a:t>
                      </a:r>
                      <a:endPar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2024/02</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　基本設計開始</a:t>
                      </a:r>
                      <a:endPar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2024/10</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　</a:t>
                      </a: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JKK</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外部結合フェーズから合流</a:t>
                      </a:r>
                      <a:endPar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　　　　（一部</a:t>
                      </a: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2024/08</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から先行合流するシステムあり）</a:t>
                      </a:r>
                      <a:endPar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2025/10</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　システム</a:t>
                      </a: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C/O</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（販売管理領域）</a:t>
                      </a:r>
                      <a:endPar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2026/04</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　システム</a:t>
                      </a: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C/O</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（購買管理領域）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70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07073666"/>
                  </a:ext>
                </a:extLst>
              </a:tr>
              <a:tr h="411947">
                <a:tc>
                  <a:txBody>
                    <a:bodyPr/>
                    <a:lstStyle/>
                    <a:p>
                      <a:pPr algn="ctr"/>
                      <a:r>
                        <a:rPr kumimoji="1" lang="ja-JP" altLang="en-US" sz="10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予算部門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a:latin typeface="メイリオ"/>
                          <a:ea typeface="メイリオ"/>
                          <a:cs typeface="メイリオ" panose="020B0604030504040204" pitchFamily="50" charset="-128"/>
                        </a:rPr>
                        <a:t>経理統括室</a:t>
                      </a:r>
                      <a:r>
                        <a:rPr kumimoji="1" lang="en-US" altLang="ja-JP" sz="1050" b="0">
                          <a:latin typeface="メイリオ"/>
                          <a:ea typeface="メイリオ"/>
                          <a:cs typeface="メイリオ" panose="020B0604030504040204" pitchFamily="50" charset="-128"/>
                        </a:rPr>
                        <a:t>/</a:t>
                      </a:r>
                      <a:r>
                        <a:rPr kumimoji="1" lang="ja-JP" altLang="en-US" sz="1050" b="0">
                          <a:latin typeface="メイリオ"/>
                          <a:ea typeface="メイリオ"/>
                          <a:cs typeface="メイリオ" panose="020B0604030504040204" pitchFamily="50" charset="-128"/>
                        </a:rPr>
                        <a:t>事業統括室</a:t>
                      </a:r>
                      <a:r>
                        <a:rPr kumimoji="1" lang="en-US" altLang="ja-JP" sz="1050" b="0">
                          <a:latin typeface="メイリオ"/>
                          <a:ea typeface="メイリオ"/>
                          <a:cs typeface="メイリオ" panose="020B0604030504040204" pitchFamily="50" charset="-128"/>
                        </a:rPr>
                        <a:t>/</a:t>
                      </a:r>
                      <a:r>
                        <a:rPr kumimoji="1" lang="ja-JP" altLang="en-US" sz="1050" b="0">
                          <a:latin typeface="メイリオ"/>
                          <a:ea typeface="メイリオ"/>
                          <a:cs typeface="メイリオ" panose="020B0604030504040204" pitchFamily="50" charset="-128"/>
                        </a:rPr>
                        <a:t>プロダクト開発統括室</a:t>
                      </a:r>
                      <a:endParaRPr kumimoji="1" lang="ja-JP" altLang="en-US" sz="1050" b="0">
                        <a:solidFill>
                          <a:schemeClr val="tx1"/>
                        </a:solidFill>
                        <a:latin typeface="メイリオ"/>
                        <a:ea typeface="メイリオ"/>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sz="1000" b="0" kern="1200">
                        <a:solidFill>
                          <a:schemeClr val="tx1"/>
                        </a:solidFill>
                        <a:latin typeface="メイリオ" panose="020B0604030504040204" pitchFamily="50" charset="-128"/>
                        <a:ea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sz="1050" b="0" kern="1200">
                        <a:solidFill>
                          <a:schemeClr val="dk1"/>
                        </a:solidFill>
                        <a:latin typeface="メイリオ" panose="020B0604030504040204" pitchFamily="50" charset="-128"/>
                        <a:ea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89703962"/>
                  </a:ext>
                </a:extLst>
              </a:tr>
              <a:tr h="1113429">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投資決裁</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金額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a:ea typeface="メイリオ"/>
                          <a:cs typeface="メイリオ" panose="020B0604030504040204" pitchFamily="50" charset="-128"/>
                        </a:rPr>
                        <a:t>3.5</a:t>
                      </a:r>
                      <a:r>
                        <a:rPr kumimoji="1" lang="ja-JP" altLang="en-US" sz="1050" b="0">
                          <a:latin typeface="メイリオ"/>
                          <a:ea typeface="メイリオ"/>
                          <a:cs typeface="メイリオ" panose="020B0604030504040204" pitchFamily="50" charset="-128"/>
                        </a:rPr>
                        <a:t>億円</a:t>
                      </a:r>
                      <a:br>
                        <a:rPr kumimoji="1" lang="en-US" altLang="ja-JP" sz="1050" b="0">
                          <a:latin typeface="メイリオ"/>
                          <a:ea typeface="メイリオ"/>
                          <a:cs typeface="メイリオ" panose="020B0604030504040204" pitchFamily="50" charset="-128"/>
                        </a:rPr>
                      </a:br>
                      <a:br>
                        <a:rPr kumimoji="1" lang="en-US" altLang="ja-JP" sz="1050" b="0">
                          <a:latin typeface="メイリオ"/>
                          <a:ea typeface="メイリオ"/>
                          <a:cs typeface="メイリオ" panose="020B0604030504040204" pitchFamily="50" charset="-128"/>
                        </a:rPr>
                      </a:br>
                      <a:r>
                        <a:rPr kumimoji="1" lang="en-US" altLang="ja-JP" sz="1050" b="0">
                          <a:solidFill>
                            <a:schemeClr val="tx1"/>
                          </a:solidFill>
                          <a:latin typeface="メイリオ"/>
                          <a:ea typeface="メイリオ"/>
                          <a:cs typeface="メイリオ" panose="020B0604030504040204" pitchFamily="50" charset="-128"/>
                        </a:rPr>
                        <a:t>※</a:t>
                      </a:r>
                      <a:r>
                        <a:rPr kumimoji="1" lang="ja-JP" altLang="en-US" sz="1050" b="0">
                          <a:solidFill>
                            <a:schemeClr val="tx1"/>
                          </a:solidFill>
                          <a:latin typeface="メイリオ"/>
                          <a:ea typeface="メイリオ"/>
                          <a:cs typeface="メイリオ" panose="020B0604030504040204" pitchFamily="50" charset="-128"/>
                        </a:rPr>
                        <a:t>要件定義分</a:t>
                      </a:r>
                      <a:r>
                        <a:rPr kumimoji="1" lang="en-US" altLang="ja-JP" sz="1050" b="0">
                          <a:solidFill>
                            <a:schemeClr val="tx1"/>
                          </a:solidFill>
                          <a:latin typeface="メイリオ"/>
                          <a:ea typeface="メイリオ"/>
                          <a:cs typeface="メイリオ" panose="020B0604030504040204" pitchFamily="50" charset="-128"/>
                        </a:rPr>
                        <a:t>0.6</a:t>
                      </a:r>
                      <a:r>
                        <a:rPr kumimoji="1" lang="ja-JP" altLang="en-US" sz="1050" b="0">
                          <a:solidFill>
                            <a:schemeClr val="tx1"/>
                          </a:solidFill>
                          <a:latin typeface="メイリオ"/>
                          <a:ea typeface="メイリオ"/>
                          <a:cs typeface="メイリオ" panose="020B0604030504040204" pitchFamily="50" charset="-128"/>
                        </a:rPr>
                        <a:t>億は起案済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詳細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5">
                  <a:txBody>
                    <a:bodyPr/>
                    <a:lstStyle/>
                    <a:p>
                      <a:r>
                        <a:rPr kumimoji="1" lang="ja-JP" altLang="en-US" sz="1050">
                          <a:latin typeface="メイリオ" panose="020B0604030504040204" pitchFamily="50" charset="-128"/>
                          <a:ea typeface="メイリオ" panose="020B0604030504040204" pitchFamily="50" charset="-128"/>
                        </a:rPr>
                        <a:t>・内訳</a:t>
                      </a:r>
                      <a:endParaRPr kumimoji="1" lang="en-US" altLang="ja-JP" sz="1050">
                        <a:latin typeface="メイリオ" panose="020B0604030504040204" pitchFamily="50" charset="-128"/>
                        <a:ea typeface="メイリオ" panose="020B0604030504040204" pitchFamily="50" charset="-128"/>
                      </a:endParaRPr>
                    </a:p>
                    <a:p>
                      <a:r>
                        <a:rPr kumimoji="1" lang="ja-JP" altLang="en-US" sz="1050">
                          <a:latin typeface="メイリオ"/>
                          <a:ea typeface="メイリオ"/>
                        </a:rPr>
                        <a:t>　初期投資</a:t>
                      </a:r>
                      <a:r>
                        <a:rPr kumimoji="1" lang="en-US" altLang="ja-JP" sz="1050">
                          <a:latin typeface="メイリオ"/>
                          <a:ea typeface="メイリオ"/>
                        </a:rPr>
                        <a:t>(</a:t>
                      </a:r>
                      <a:r>
                        <a:rPr kumimoji="1" lang="ja-JP" altLang="en-US" sz="1050">
                          <a:latin typeface="メイリオ"/>
                          <a:ea typeface="メイリオ"/>
                        </a:rPr>
                        <a:t>資産</a:t>
                      </a:r>
                      <a:r>
                        <a:rPr kumimoji="1" lang="en-US" altLang="ja-JP" sz="1050">
                          <a:latin typeface="メイリオ"/>
                          <a:ea typeface="メイリオ"/>
                        </a:rPr>
                        <a:t>)</a:t>
                      </a:r>
                      <a:r>
                        <a:rPr kumimoji="1" lang="ja-JP" altLang="en-US" sz="1050">
                          <a:latin typeface="メイリオ"/>
                          <a:ea typeface="メイリオ"/>
                        </a:rPr>
                        <a:t>：</a:t>
                      </a:r>
                      <a:r>
                        <a:rPr kumimoji="1" lang="en-US" altLang="ja-JP" sz="1050">
                          <a:solidFill>
                            <a:schemeClr val="tx1"/>
                          </a:solidFill>
                          <a:latin typeface="メイリオ"/>
                          <a:ea typeface="メイリオ"/>
                        </a:rPr>
                        <a:t>3.5</a:t>
                      </a:r>
                      <a:r>
                        <a:rPr kumimoji="1" lang="ja-JP" altLang="en-US" sz="1050">
                          <a:solidFill>
                            <a:schemeClr val="tx1"/>
                          </a:solidFill>
                          <a:latin typeface="メイリオ"/>
                          <a:ea typeface="メイリオ"/>
                        </a:rPr>
                        <a:t>億円 </a:t>
                      </a:r>
                      <a:r>
                        <a:rPr kumimoji="1" lang="en-US" altLang="ja-JP" sz="1050">
                          <a:solidFill>
                            <a:schemeClr val="tx1"/>
                          </a:solidFill>
                          <a:latin typeface="メイリオ"/>
                          <a:ea typeface="メイリオ"/>
                        </a:rPr>
                        <a:t>(</a:t>
                      </a:r>
                      <a:r>
                        <a:rPr kumimoji="1" lang="ja-JP" altLang="en-US" sz="1050">
                          <a:solidFill>
                            <a:schemeClr val="tx1"/>
                          </a:solidFill>
                          <a:latin typeface="メイリオ"/>
                          <a:ea typeface="メイリオ"/>
                        </a:rPr>
                        <a:t>内、</a:t>
                      </a:r>
                      <a:r>
                        <a:rPr kumimoji="1" lang="en-US" altLang="ja-JP" sz="1050">
                          <a:solidFill>
                            <a:schemeClr val="tx1"/>
                          </a:solidFill>
                          <a:latin typeface="メイリオ"/>
                          <a:ea typeface="メイリオ"/>
                        </a:rPr>
                        <a:t>0.6</a:t>
                      </a:r>
                      <a:r>
                        <a:rPr kumimoji="1" lang="ja-JP" altLang="en-US" sz="1050">
                          <a:solidFill>
                            <a:schemeClr val="tx1"/>
                          </a:solidFill>
                          <a:latin typeface="メイリオ"/>
                          <a:ea typeface="メイリオ"/>
                        </a:rPr>
                        <a:t>億は起案済</a:t>
                      </a:r>
                      <a:r>
                        <a:rPr kumimoji="1" lang="en-US" altLang="ja-JP" sz="1050">
                          <a:solidFill>
                            <a:schemeClr val="tx1"/>
                          </a:solidFill>
                          <a:latin typeface="メイリオ"/>
                          <a:ea typeface="メイリオ"/>
                        </a:rPr>
                        <a:t>)</a:t>
                      </a:r>
                    </a:p>
                    <a:p>
                      <a:r>
                        <a:rPr kumimoji="1" lang="ja-JP" altLang="en-US" sz="1050">
                          <a:latin typeface="メイリオ" panose="020B0604030504040204" pitchFamily="50" charset="-128"/>
                          <a:ea typeface="メイリオ" panose="020B0604030504040204" pitchFamily="50" charset="-128"/>
                        </a:rPr>
                        <a:t>　初期投資</a:t>
                      </a:r>
                      <a:r>
                        <a:rPr kumimoji="1" lang="en-US" altLang="ja-JP" sz="1050">
                          <a:latin typeface="メイリオ" panose="020B0604030504040204" pitchFamily="50" charset="-128"/>
                          <a:ea typeface="メイリオ" panose="020B0604030504040204" pitchFamily="50" charset="-128"/>
                        </a:rPr>
                        <a:t>(</a:t>
                      </a:r>
                      <a:r>
                        <a:rPr kumimoji="1" lang="ja-JP" altLang="en-US" sz="1050">
                          <a:latin typeface="メイリオ" panose="020B0604030504040204" pitchFamily="50" charset="-128"/>
                          <a:ea typeface="メイリオ" panose="020B0604030504040204" pitchFamily="50" charset="-128"/>
                        </a:rPr>
                        <a:t>費用</a:t>
                      </a:r>
                      <a:r>
                        <a:rPr kumimoji="1" lang="en-US" altLang="ja-JP" sz="1050">
                          <a:latin typeface="メイリオ" panose="020B0604030504040204" pitchFamily="50" charset="-128"/>
                          <a:ea typeface="メイリオ" panose="020B0604030504040204" pitchFamily="50" charset="-128"/>
                        </a:rPr>
                        <a:t>)</a:t>
                      </a:r>
                      <a:r>
                        <a:rPr kumimoji="1" lang="ja-JP" altLang="en-US" sz="1050">
                          <a:latin typeface="メイリオ" panose="020B0604030504040204" pitchFamily="50" charset="-128"/>
                          <a:ea typeface="メイリオ" panose="020B0604030504040204" pitchFamily="50" charset="-128"/>
                        </a:rPr>
                        <a:t>：なし</a:t>
                      </a:r>
                      <a:endParaRPr kumimoji="1" lang="en-US" altLang="ja-JP" sz="1050">
                        <a:latin typeface="メイリオ" panose="020B0604030504040204" pitchFamily="50" charset="-128"/>
                        <a:ea typeface="メイリオ" panose="020B0604030504040204" pitchFamily="50" charset="-128"/>
                      </a:endParaRPr>
                    </a:p>
                    <a:p>
                      <a:r>
                        <a:rPr kumimoji="1" lang="ja-JP" altLang="en-US" sz="1050">
                          <a:latin typeface="メイリオ"/>
                          <a:ea typeface="メイリオ"/>
                        </a:rPr>
                        <a:t>　ランニング　：なし（現行保守費維持想定）</a:t>
                      </a:r>
                      <a:br>
                        <a:rPr kumimoji="1" lang="en-US" altLang="ja-JP" sz="1050">
                          <a:latin typeface="メイリオ"/>
                          <a:ea typeface="メイリオ"/>
                        </a:rPr>
                      </a:br>
                      <a:r>
                        <a:rPr kumimoji="1" lang="ja-JP" altLang="en-US" sz="1050">
                          <a:solidFill>
                            <a:schemeClr val="tx1"/>
                          </a:solidFill>
                          <a:latin typeface="メイリオ"/>
                          <a:ea typeface="メイリオ"/>
                        </a:rPr>
                        <a:t>・投資目的： コスト削減</a:t>
                      </a:r>
                      <a:r>
                        <a:rPr lang="ja-JP" altLang="en-US" sz="1050">
                          <a:solidFill>
                            <a:schemeClr val="tx1"/>
                          </a:solidFill>
                          <a:latin typeface="メイリオ"/>
                          <a:ea typeface="メイリオ"/>
                        </a:rPr>
                        <a:t>を</a:t>
                      </a:r>
                      <a:r>
                        <a:rPr lang="ja-JP" altLang="en-US" sz="1050" b="1">
                          <a:solidFill>
                            <a:schemeClr val="tx1"/>
                          </a:solidFill>
                          <a:latin typeface="メイリオ"/>
                          <a:ea typeface="メイリオ"/>
                        </a:rPr>
                        <a:t>含まない</a:t>
                      </a:r>
                      <a:br>
                        <a:rPr kumimoji="1" lang="en-US" altLang="ja-JP" sz="1050" b="1">
                          <a:solidFill>
                            <a:srgbClr val="000000"/>
                          </a:solidFill>
                          <a:latin typeface="メイリオ"/>
                          <a:ea typeface="メイリオ"/>
                        </a:rPr>
                      </a:br>
                      <a:r>
                        <a:rPr kumimoji="1" lang="ja-JP" altLang="en-US" sz="1050">
                          <a:solidFill>
                            <a:schemeClr val="tx1"/>
                          </a:solidFill>
                          <a:latin typeface="メイリオ"/>
                          <a:ea typeface="メイリオ"/>
                        </a:rPr>
                        <a:t>・投資回収期間</a:t>
                      </a:r>
                      <a:r>
                        <a:rPr kumimoji="1" lang="ja-JP" altLang="en-US" sz="1050">
                          <a:solidFill>
                            <a:schemeClr val="tx1"/>
                          </a:solidFill>
                          <a:latin typeface="メイリオ"/>
                          <a:ea typeface="メイリオ"/>
                          <a:sym typeface="Wingdings" panose="05000000000000000000" pitchFamily="2" charset="2"/>
                        </a:rPr>
                        <a:t>：</a:t>
                      </a:r>
                      <a:r>
                        <a:rPr kumimoji="1" lang="en-US" altLang="ja-JP" sz="1050">
                          <a:solidFill>
                            <a:schemeClr val="tx1"/>
                          </a:solidFill>
                          <a:latin typeface="メイリオ"/>
                          <a:ea typeface="メイリオ"/>
                          <a:sym typeface="Wingdings" panose="05000000000000000000" pitchFamily="2" charset="2"/>
                        </a:rPr>
                        <a:t>-</a:t>
                      </a:r>
                      <a:endParaRPr kumimoji="1" lang="ja-JP" altLang="en-US">
                        <a:solidFill>
                          <a:schemeClr val="tx1"/>
                        </a:solidFill>
                        <a:latin typeface="メイリオ"/>
                        <a:ea typeface="メイリオ"/>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70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4840806"/>
                  </a:ext>
                </a:extLst>
              </a:tr>
              <a:tr h="1386839">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発注先</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情報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pPr>
                        <a:defRPr/>
                      </a:pPr>
                      <a:r>
                        <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社あたりの</a:t>
                      </a:r>
                      <a:r>
                        <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5000</a:t>
                      </a: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万以上の発注有無：有</a:t>
                      </a:r>
                      <a:endPar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endParaRPr>
                    </a:p>
                    <a:p>
                      <a:pPr>
                        <a:defRPr/>
                      </a:pP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　　発注内容　：設計・開発・テスト・移行の業務委託費用</a:t>
                      </a:r>
                      <a:endPar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endParaRPr>
                    </a:p>
                    <a:p>
                      <a:pPr>
                        <a:defRPr/>
                      </a:pP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　　発注先候補：株式会社アークシステム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　　発注金額　：</a:t>
                      </a:r>
                      <a:r>
                        <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1.9</a:t>
                      </a: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億円 </a:t>
                      </a:r>
                      <a:r>
                        <a:rPr kumimoji="1" lang="en-US" altLang="ja-JP" sz="1050">
                          <a:solidFill>
                            <a:schemeClr val="tx1"/>
                          </a:solidFill>
                          <a:latin typeface="メイリオ"/>
                          <a:ea typeface="メイリオ"/>
                        </a:rPr>
                        <a:t>(</a:t>
                      </a:r>
                      <a:r>
                        <a:rPr kumimoji="1" lang="ja-JP" altLang="en-US" sz="1050">
                          <a:solidFill>
                            <a:schemeClr val="tx1"/>
                          </a:solidFill>
                          <a:latin typeface="メイリオ"/>
                          <a:ea typeface="メイリオ"/>
                        </a:rPr>
                        <a:t>内、</a:t>
                      </a:r>
                      <a:r>
                        <a:rPr kumimoji="1" lang="en-US" altLang="ja-JP" sz="1050">
                          <a:solidFill>
                            <a:schemeClr val="tx1"/>
                          </a:solidFill>
                          <a:latin typeface="メイリオ"/>
                          <a:ea typeface="メイリオ"/>
                        </a:rPr>
                        <a:t>0.2</a:t>
                      </a:r>
                      <a:r>
                        <a:rPr kumimoji="1" lang="ja-JP" altLang="en-US" sz="1050">
                          <a:solidFill>
                            <a:schemeClr val="tx1"/>
                          </a:solidFill>
                          <a:latin typeface="メイリオ"/>
                          <a:ea typeface="メイリオ"/>
                        </a:rPr>
                        <a:t>億</a:t>
                      </a:r>
                      <a:r>
                        <a:rPr kumimoji="1" lang="en-US" altLang="ja-JP" sz="1050">
                          <a:solidFill>
                            <a:schemeClr val="tx1"/>
                          </a:solidFill>
                          <a:latin typeface="メイリオ"/>
                          <a:ea typeface="メイリオ"/>
                        </a:rPr>
                        <a:t>(</a:t>
                      </a:r>
                      <a:r>
                        <a:rPr kumimoji="1" lang="ja-JP" altLang="en-US" sz="1050">
                          <a:solidFill>
                            <a:schemeClr val="tx1"/>
                          </a:solidFill>
                          <a:latin typeface="メイリオ"/>
                          <a:ea typeface="メイリオ"/>
                        </a:rPr>
                        <a:t>要件定義分</a:t>
                      </a:r>
                      <a:r>
                        <a:rPr kumimoji="1" lang="en-US" altLang="ja-JP" sz="1050">
                          <a:solidFill>
                            <a:schemeClr val="tx1"/>
                          </a:solidFill>
                          <a:latin typeface="メイリオ"/>
                          <a:ea typeface="メイリオ"/>
                        </a:rPr>
                        <a:t>)</a:t>
                      </a:r>
                      <a:r>
                        <a:rPr kumimoji="1" lang="ja-JP" altLang="en-US" sz="1050">
                          <a:solidFill>
                            <a:schemeClr val="tx1"/>
                          </a:solidFill>
                          <a:latin typeface="メイリオ"/>
                          <a:ea typeface="メイリオ"/>
                        </a:rPr>
                        <a:t>は起案済</a:t>
                      </a:r>
                      <a:r>
                        <a:rPr kumimoji="1" lang="en-US" altLang="ja-JP" sz="1050">
                          <a:solidFill>
                            <a:schemeClr val="tx1"/>
                          </a:solidFill>
                          <a:latin typeface="メイリオ"/>
                          <a:ea typeface="メイリオ"/>
                        </a:rPr>
                        <a:t>)</a:t>
                      </a:r>
                    </a:p>
                    <a:p>
                      <a:pPr>
                        <a:defRPr/>
                      </a:pP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　　発注開始日～終了日：</a:t>
                      </a:r>
                      <a:r>
                        <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2023/10/01~2026/04/30</a:t>
                      </a:r>
                    </a:p>
                    <a:p>
                      <a:pPr>
                        <a:defRPr/>
                      </a:pP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　　　　　　　　　　　（要件定義工程以降）</a:t>
                      </a:r>
                      <a:endPar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kumimoji="1" lang="ja-JP" altLang="en-US"/>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70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37184939"/>
                  </a:ext>
                </a:extLst>
              </a:tr>
            </a:tbl>
          </a:graphicData>
        </a:graphic>
      </p:graphicFrame>
      <p:graphicFrame>
        <p:nvGraphicFramePr>
          <p:cNvPr id="2" name="表 1"/>
          <p:cNvGraphicFramePr>
            <a:graphicFrameLocks noGrp="1" noChangeAspect="1"/>
          </p:cNvGraphicFramePr>
          <p:nvPr>
            <p:extLst>
              <p:ext uri="{D42A27DB-BD31-4B8C-83A1-F6EECF244321}">
                <p14:modId xmlns:p14="http://schemas.microsoft.com/office/powerpoint/2010/main" val="1710968833"/>
              </p:ext>
            </p:extLst>
          </p:nvPr>
        </p:nvGraphicFramePr>
        <p:xfrm>
          <a:off x="5583728" y="81714"/>
          <a:ext cx="6488938" cy="457200"/>
        </p:xfrm>
        <a:graphic>
          <a:graphicData uri="http://schemas.openxmlformats.org/drawingml/2006/table">
            <a:tbl>
              <a:tblPr firstRow="1" bandRow="1">
                <a:tableStyleId>{5C22544A-7EE6-4342-B048-85BDC9FD1C3A}</a:tableStyleId>
              </a:tblPr>
              <a:tblGrid>
                <a:gridCol w="800304">
                  <a:extLst>
                    <a:ext uri="{9D8B030D-6E8A-4147-A177-3AD203B41FA5}">
                      <a16:colId xmlns:a16="http://schemas.microsoft.com/office/drawing/2014/main" val="1201805949"/>
                    </a:ext>
                  </a:extLst>
                </a:gridCol>
                <a:gridCol w="5688634">
                  <a:extLst>
                    <a:ext uri="{9D8B030D-6E8A-4147-A177-3AD203B41FA5}">
                      <a16:colId xmlns:a16="http://schemas.microsoft.com/office/drawing/2014/main" val="20000"/>
                    </a:ext>
                  </a:extLst>
                </a:gridCol>
              </a:tblGrid>
              <a:tr h="263999">
                <a:tc>
                  <a:txBody>
                    <a:bodyPr/>
                    <a:lstStyle/>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起案</a:t>
                      </a:r>
                      <a:endParaRPr kumimoji="1" lang="en-US" altLang="ja-JP"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種別</a:t>
                      </a:r>
                      <a:endParaRPr kumimoji="1" lang="en-US" altLang="ja-JP"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6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投資決裁</a:t>
                      </a:r>
                      <a:r>
                        <a:rPr kumimoji="1" lang="en-US" altLang="ja-JP" sz="16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6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案件・</a:t>
                      </a:r>
                      <a:r>
                        <a:rPr kumimoji="1" lang="en-US" altLang="ja-JP" sz="16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PJ)</a:t>
                      </a:r>
                      <a:endParaRPr kumimoji="1" lang="en-US" altLang="ja-JP" sz="24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8151362"/>
                  </a:ext>
                </a:extLst>
              </a:tr>
            </a:tbl>
          </a:graphicData>
        </a:graphic>
      </p:graphicFrame>
    </p:spTree>
    <p:extLst>
      <p:ext uri="{BB962C8B-B14F-4D97-AF65-F5344CB8AC3E}">
        <p14:creationId xmlns:p14="http://schemas.microsoft.com/office/powerpoint/2010/main" val="1704660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360" imgH="360" progId="TCLayout.ActiveDocument.1">
                  <p:embed/>
                </p:oleObj>
              </mc:Choice>
              <mc:Fallback>
                <p:oleObj name="think-cell スライド" r:id="rId4" imgW="360" imgH="360" progId="TCLayout.ActiveDocument.1">
                  <p:embed/>
                  <p:pic>
                    <p:nvPicPr>
                      <p:cNvPr id="4" name="オブジェクト 3" hidden="1"/>
                      <p:cNvPicPr/>
                      <p:nvPr/>
                    </p:nvPicPr>
                    <p:blipFill>
                      <a:blip r:embed="rId5"/>
                      <a:stretch>
                        <a:fillRect/>
                      </a:stretch>
                    </p:blipFill>
                    <p:spPr>
                      <a:xfrm>
                        <a:off x="1144588" y="1588"/>
                        <a:ext cx="1588" cy="1588"/>
                      </a:xfrm>
                      <a:prstGeom prst="rect">
                        <a:avLst/>
                      </a:prstGeom>
                    </p:spPr>
                  </p:pic>
                </p:oleObj>
              </mc:Fallback>
            </mc:AlternateContent>
          </a:graphicData>
        </a:graphic>
      </p:graphicFrame>
      <p:graphicFrame>
        <p:nvGraphicFramePr>
          <p:cNvPr id="2" name="表 1"/>
          <p:cNvGraphicFramePr>
            <a:graphicFrameLocks noGrp="1" noChangeAspect="1"/>
          </p:cNvGraphicFramePr>
          <p:nvPr/>
        </p:nvGraphicFramePr>
        <p:xfrm>
          <a:off x="263352" y="44624"/>
          <a:ext cx="11665295" cy="365760"/>
        </p:xfrm>
        <a:graphic>
          <a:graphicData uri="http://schemas.openxmlformats.org/drawingml/2006/table">
            <a:tbl>
              <a:tblPr firstRow="1" bandRow="1">
                <a:tableStyleId>{5C22544A-7EE6-4342-B048-85BDC9FD1C3A}</a:tableStyleId>
              </a:tblPr>
              <a:tblGrid>
                <a:gridCol w="11665295">
                  <a:extLst>
                    <a:ext uri="{9D8B030D-6E8A-4147-A177-3AD203B41FA5}">
                      <a16:colId xmlns:a16="http://schemas.microsoft.com/office/drawing/2014/main" val="20000"/>
                    </a:ext>
                  </a:extLst>
                </a:gridCol>
              </a:tblGrid>
              <a:tr h="301744">
                <a:tc>
                  <a:txBody>
                    <a:bodyPr/>
                    <a:lstStyle/>
                    <a:p>
                      <a:pPr algn="ctr"/>
                      <a:r>
                        <a:rPr kumimoji="1" lang="ja-JP" altLang="en-US" sz="18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案件・プロジェクト投資決裁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6" name="表 5"/>
          <p:cNvGraphicFramePr>
            <a:graphicFrameLocks noGrp="1"/>
          </p:cNvGraphicFramePr>
          <p:nvPr>
            <p:extLst>
              <p:ext uri="{D42A27DB-BD31-4B8C-83A1-F6EECF244321}">
                <p14:modId xmlns:p14="http://schemas.microsoft.com/office/powerpoint/2010/main" val="275662993"/>
              </p:ext>
            </p:extLst>
          </p:nvPr>
        </p:nvGraphicFramePr>
        <p:xfrm>
          <a:off x="263352" y="513368"/>
          <a:ext cx="11665296" cy="5621190"/>
        </p:xfrm>
        <a:graphic>
          <a:graphicData uri="http://schemas.openxmlformats.org/drawingml/2006/table">
            <a:tbl>
              <a:tblPr firstRow="1" bandRow="1">
                <a:tableStyleId>{5940675A-B579-460E-94D1-54222C63F5DA}</a:tableStyleId>
              </a:tblPr>
              <a:tblGrid>
                <a:gridCol w="1213191">
                  <a:extLst>
                    <a:ext uri="{9D8B030D-6E8A-4147-A177-3AD203B41FA5}">
                      <a16:colId xmlns:a16="http://schemas.microsoft.com/office/drawing/2014/main" val="20000"/>
                    </a:ext>
                  </a:extLst>
                </a:gridCol>
                <a:gridCol w="1161345">
                  <a:extLst>
                    <a:ext uri="{9D8B030D-6E8A-4147-A177-3AD203B41FA5}">
                      <a16:colId xmlns:a16="http://schemas.microsoft.com/office/drawing/2014/main" val="20002"/>
                    </a:ext>
                  </a:extLst>
                </a:gridCol>
                <a:gridCol w="1161345">
                  <a:extLst>
                    <a:ext uri="{9D8B030D-6E8A-4147-A177-3AD203B41FA5}">
                      <a16:colId xmlns:a16="http://schemas.microsoft.com/office/drawing/2014/main" val="2448290993"/>
                    </a:ext>
                  </a:extLst>
                </a:gridCol>
                <a:gridCol w="1161345">
                  <a:extLst>
                    <a:ext uri="{9D8B030D-6E8A-4147-A177-3AD203B41FA5}">
                      <a16:colId xmlns:a16="http://schemas.microsoft.com/office/drawing/2014/main" val="1171915222"/>
                    </a:ext>
                  </a:extLst>
                </a:gridCol>
                <a:gridCol w="1161345">
                  <a:extLst>
                    <a:ext uri="{9D8B030D-6E8A-4147-A177-3AD203B41FA5}">
                      <a16:colId xmlns:a16="http://schemas.microsoft.com/office/drawing/2014/main" val="2296412393"/>
                    </a:ext>
                  </a:extLst>
                </a:gridCol>
                <a:gridCol w="1161345">
                  <a:extLst>
                    <a:ext uri="{9D8B030D-6E8A-4147-A177-3AD203B41FA5}">
                      <a16:colId xmlns:a16="http://schemas.microsoft.com/office/drawing/2014/main" val="2578769169"/>
                    </a:ext>
                  </a:extLst>
                </a:gridCol>
                <a:gridCol w="1161345">
                  <a:extLst>
                    <a:ext uri="{9D8B030D-6E8A-4147-A177-3AD203B41FA5}">
                      <a16:colId xmlns:a16="http://schemas.microsoft.com/office/drawing/2014/main" val="2579761719"/>
                    </a:ext>
                  </a:extLst>
                </a:gridCol>
                <a:gridCol w="1161345">
                  <a:extLst>
                    <a:ext uri="{9D8B030D-6E8A-4147-A177-3AD203B41FA5}">
                      <a16:colId xmlns:a16="http://schemas.microsoft.com/office/drawing/2014/main" val="1724195348"/>
                    </a:ext>
                  </a:extLst>
                </a:gridCol>
                <a:gridCol w="1161345">
                  <a:extLst>
                    <a:ext uri="{9D8B030D-6E8A-4147-A177-3AD203B41FA5}">
                      <a16:colId xmlns:a16="http://schemas.microsoft.com/office/drawing/2014/main" val="4147222660"/>
                    </a:ext>
                  </a:extLst>
                </a:gridCol>
                <a:gridCol w="1161345">
                  <a:extLst>
                    <a:ext uri="{9D8B030D-6E8A-4147-A177-3AD203B41FA5}">
                      <a16:colId xmlns:a16="http://schemas.microsoft.com/office/drawing/2014/main" val="2024522138"/>
                    </a:ext>
                  </a:extLst>
                </a:gridCol>
              </a:tblGrid>
              <a:tr h="377674">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案件名</a:t>
                      </a:r>
                      <a:endPar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gridSpan="9">
                  <a:txBody>
                    <a:bodyPr/>
                    <a:lstStyle/>
                    <a:p>
                      <a:pPr marL="0" lvl="1" indent="0">
                        <a:buFont typeface="Arial" panose="020B0604020202020204" pitchFamily="34" charset="0"/>
                        <a:buNone/>
                      </a:pP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対応</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基シス周辺システム</a:t>
                      </a:r>
                      <a:endParaRPr lang="en-US" altLang="ja-JP" sz="1200">
                        <a:latin typeface="メイリオ" panose="020B0604030504040204" pitchFamily="50" charset="-128"/>
                        <a:ea typeface="メイリオ" panose="020B0604030504040204" pitchFamily="50" charset="-128"/>
                        <a:cs typeface="メイリオ" panose="020B0604030504040204" pitchFamily="50" charset="-128"/>
                      </a:endParaRPr>
                    </a:p>
                  </a:txBody>
                  <a:tcPr anchor="ct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266837193"/>
                  </a:ext>
                </a:extLst>
              </a:tr>
              <a:tr h="377674">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期間</a:t>
                      </a:r>
                    </a:p>
                  </a:txBody>
                  <a:tcPr marL="36000" marR="36000" anchor="ctr">
                    <a:solidFill>
                      <a:schemeClr val="accent1">
                        <a:lumMod val="20000"/>
                        <a:lumOff val="80000"/>
                      </a:schemeClr>
                    </a:solidFill>
                  </a:tcPr>
                </a:tc>
                <a:tc gridSpan="9">
                  <a:txBody>
                    <a:bodyPr/>
                    <a:lstStyle/>
                    <a:p>
                      <a:pPr marL="0" lvl="1" indent="0"/>
                      <a:r>
                        <a:rPr lang="en-US" altLang="ja-JP" sz="1200">
                          <a:latin typeface="メイリオ" panose="020B0604030504040204" pitchFamily="50" charset="-128"/>
                          <a:ea typeface="メイリオ" panose="020B0604030504040204" pitchFamily="50" charset="-128"/>
                          <a:cs typeface="メイリオ" panose="020B0604030504040204" pitchFamily="50" charset="-128"/>
                        </a:rPr>
                        <a:t>2023/10/01</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2026/4/30</a:t>
                      </a:r>
                    </a:p>
                  </a:txBody>
                  <a:tcPr anchor="ct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072617541"/>
                  </a:ext>
                </a:extLst>
              </a:tr>
              <a:tr h="377674">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資産</a:t>
                      </a:r>
                      <a:r>
                        <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rPr>
                        <a:t>C/O</a:t>
                      </a:r>
                      <a:endPar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gridSpan="9">
                  <a:txBody>
                    <a:bodyPr/>
                    <a:lstStyle/>
                    <a:p>
                      <a:pPr marL="0" lvl="1" indent="0"/>
                      <a:r>
                        <a:rPr lang="en-US" altLang="ja-JP" sz="1200">
                          <a:latin typeface="メイリオ" panose="020B0604030504040204" pitchFamily="50" charset="-128"/>
                          <a:ea typeface="メイリオ" panose="020B0604030504040204" pitchFamily="50" charset="-128"/>
                          <a:cs typeface="メイリオ" panose="020B0604030504040204" pitchFamily="50" charset="-128"/>
                        </a:rPr>
                        <a:t>2026/04</a:t>
                      </a:r>
                    </a:p>
                  </a:txBody>
                  <a:tcPr anchor="ct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116698013"/>
                  </a:ext>
                </a:extLst>
              </a:tr>
              <a:tr h="0">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投資</a:t>
                      </a:r>
                      <a:endPar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endParaRPr>
                    </a:p>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目的</a:t>
                      </a:r>
                    </a:p>
                  </a:txBody>
                  <a:tcPr marL="36000" marR="36000" anchor="ctr">
                    <a:solidFill>
                      <a:schemeClr val="accent1">
                        <a:lumMod val="20000"/>
                        <a:lumOff val="80000"/>
                      </a:schemeClr>
                    </a:solidFill>
                  </a:tcPr>
                </a:tc>
                <a:tc gridSpan="9">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・基シス周辺システムにおいて、</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要求を満たすためシステム改修を行い、</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本線</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C/O</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後も継続してシステム・業務運用が行える状態にすること</a:t>
                      </a:r>
                      <a:br>
                        <a:rPr lang="en-US" altLang="ja-JP" sz="1200">
                          <a:latin typeface="メイリオ" panose="020B0604030504040204" pitchFamily="50" charset="-128"/>
                          <a:ea typeface="メイリオ" panose="020B0604030504040204" pitchFamily="50" charset="-128"/>
                          <a:cs typeface="メイリオ" panose="020B0604030504040204" pitchFamily="50" charset="-128"/>
                        </a:rPr>
                      </a:br>
                      <a:r>
                        <a:rPr lang="ja-JP" altLang="en-US" sz="120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対応の投資目的に準ずる</a:t>
                      </a:r>
                      <a:br>
                        <a:rPr lang="en-US" altLang="ja-JP" sz="1200">
                          <a:latin typeface="メイリオ" panose="020B0604030504040204" pitchFamily="50" charset="-128"/>
                          <a:ea typeface="メイリオ" panose="020B0604030504040204" pitchFamily="50" charset="-128"/>
                          <a:cs typeface="メイリオ" panose="020B0604030504040204" pitchFamily="50" charset="-128"/>
                        </a:rPr>
                      </a:br>
                      <a:endParaRPr lang="en-US" altLang="ja-JP" sz="1200">
                        <a:latin typeface="メイリオ" panose="020B0604030504040204" pitchFamily="50" charset="-128"/>
                        <a:ea typeface="メイリオ" panose="020B0604030504040204" pitchFamily="50" charset="-128"/>
                        <a:cs typeface="メイリオ" panose="020B0604030504040204" pitchFamily="50" charset="-128"/>
                      </a:endParaRPr>
                    </a:p>
                  </a:txBody>
                  <a:tcP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1"/>
                  </a:ext>
                </a:extLst>
              </a:tr>
              <a:tr h="780411">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投資</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効果</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gridSpan="9">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u="none">
                          <a:latin typeface="メイリオ" panose="020B0604030504040204" pitchFamily="50" charset="-128"/>
                          <a:ea typeface="メイリオ" panose="020B0604030504040204" pitchFamily="50" charset="-128"/>
                          <a:cs typeface="メイリオ" panose="020B0604030504040204" pitchFamily="50" charset="-128"/>
                        </a:rPr>
                        <a:t>■定性</a:t>
                      </a:r>
                      <a:endParaRPr lang="en-US" altLang="ja-JP" sz="1200" u="none">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u="none">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200" u="none">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u="none">
                          <a:latin typeface="メイリオ" panose="020B0604030504040204" pitchFamily="50" charset="-128"/>
                          <a:ea typeface="メイリオ" panose="020B0604030504040204" pitchFamily="50" charset="-128"/>
                          <a:cs typeface="メイリオ" panose="020B0604030504040204" pitchFamily="50" charset="-128"/>
                        </a:rPr>
                        <a:t>要求を満たすことで、</a:t>
                      </a:r>
                      <a:r>
                        <a:rPr lang="en-US" altLang="ja-JP" sz="1200" u="none">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u="none">
                          <a:latin typeface="メイリオ" panose="020B0604030504040204" pitchFamily="50" charset="-128"/>
                          <a:ea typeface="メイリオ" panose="020B0604030504040204" pitchFamily="50" charset="-128"/>
                          <a:cs typeface="メイリオ" panose="020B0604030504040204" pitchFamily="50" charset="-128"/>
                        </a:rPr>
                        <a:t>が目指す</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「財務会計のグローバル標準化」および「経営の自由度の確保」に寄与する</a:t>
                      </a:r>
                      <a:br>
                        <a:rPr lang="en-US" altLang="ja-JP" sz="1200">
                          <a:latin typeface="メイリオ" panose="020B0604030504040204" pitchFamily="50" charset="-128"/>
                          <a:ea typeface="メイリオ" panose="020B0604030504040204" pitchFamily="50" charset="-128"/>
                          <a:cs typeface="メイリオ" panose="020B0604030504040204" pitchFamily="50" charset="-128"/>
                        </a:rPr>
                      </a:br>
                      <a:r>
                        <a:rPr lang="ja-JP" altLang="en-US" sz="120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対応の投資効果に準ずる</a:t>
                      </a:r>
                      <a:endParaRPr lang="en-US" altLang="ja-JP" sz="1200">
                        <a:latin typeface="メイリオ" panose="020B0604030504040204" pitchFamily="50" charset="-128"/>
                        <a:ea typeface="メイリオ" panose="020B0604030504040204" pitchFamily="50" charset="-128"/>
                        <a:cs typeface="メイリオ" panose="020B0604030504040204" pitchFamily="50" charset="-128"/>
                      </a:endParaRPr>
                    </a:p>
                  </a:txBody>
                  <a:tcP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274633517"/>
                  </a:ext>
                </a:extLst>
              </a:tr>
              <a:tr h="922492">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投資</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内容</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gridSpan="9">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JKK</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要求対応に伴う基幹システムユニット管轄の</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システム</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基本設計以降の対象</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の改修に係る業務委託費用を投資する</a:t>
                      </a: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■初期投資額：総額</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億</a:t>
                      </a: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361950" marR="0" lvl="0" indent="-180975"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要件定義工程：</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0.6</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億（起案済み）</a:t>
                      </a: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361950" marR="0" lvl="0" indent="-180975"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基本設計工程～</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C/O</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2.9</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億　</a:t>
                      </a:r>
                      <a:b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b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u="none">
                          <a:solidFill>
                            <a:schemeClr val="tx1"/>
                          </a:solidFill>
                          <a:latin typeface="メイリオ"/>
                          <a:ea typeface="メイリオ"/>
                          <a:cs typeface="メイリオ" panose="020B0604030504040204" pitchFamily="50" charset="-128"/>
                        </a:rPr>
                        <a:t>詳細は本資料</a:t>
                      </a:r>
                      <a:r>
                        <a:rPr kumimoji="1" lang="en-US" altLang="ja-JP" sz="1200" b="0" u="none">
                          <a:solidFill>
                            <a:schemeClr val="tx1"/>
                          </a:solidFill>
                          <a:latin typeface="メイリオ"/>
                          <a:ea typeface="メイリオ"/>
                          <a:cs typeface="メイリオ" panose="020B0604030504040204" pitchFamily="50" charset="-128"/>
                        </a:rPr>
                        <a:t>8</a:t>
                      </a:r>
                      <a:r>
                        <a:rPr kumimoji="1" lang="ja-JP" altLang="en-US" sz="1200" b="0" u="none">
                          <a:solidFill>
                            <a:schemeClr val="tx1"/>
                          </a:solidFill>
                          <a:latin typeface="メイリオ"/>
                          <a:ea typeface="メイリオ"/>
                          <a:cs typeface="メイリオ" panose="020B0604030504040204" pitchFamily="50" charset="-128"/>
                        </a:rPr>
                        <a:t>ページを参照。</a:t>
                      </a: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42571683"/>
                  </a:ext>
                </a:extLst>
              </a:tr>
              <a:tr h="339907">
                <a:tc rowSpan="5">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投資決裁額の</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内訳</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CF(</a:t>
                      </a: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億円</a:t>
                      </a:r>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a:t>
                      </a:r>
                    </a:p>
                  </a:txBody>
                  <a:tcPr marL="36000" marR="36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イニシャル</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ランニング</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合計</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投資決裁額の内訳</a:t>
                      </a: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PL(</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億円</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当期</a:t>
                      </a:r>
                      <a:r>
                        <a:rPr kumimoji="1" lang="en-US" altLang="ja-JP" sz="10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PL</a:t>
                      </a: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翌期以降</a:t>
                      </a:r>
                      <a:r>
                        <a:rPr kumimoji="1" lang="en-US" altLang="ja-JP" sz="10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PL</a:t>
                      </a: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合計</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extLst>
                  <a:ext uri="{0D108BD9-81ED-4DB2-BD59-A6C34878D82A}">
                    <a16:rowId xmlns:a16="http://schemas.microsoft.com/office/drawing/2014/main" val="299547456"/>
                  </a:ext>
                </a:extLst>
              </a:tr>
              <a:tr h="457049">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費用分</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費用分</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8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減価償却除く</a:t>
                      </a:r>
                      <a:endParaRPr kumimoji="1" lang="en-US" altLang="ja-JP" sz="8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extLst>
                  <a:ext uri="{0D108BD9-81ED-4DB2-BD59-A6C34878D82A}">
                    <a16:rowId xmlns:a16="http://schemas.microsoft.com/office/drawing/2014/main" val="1277612449"/>
                  </a:ext>
                </a:extLst>
              </a:tr>
              <a:tr h="339907">
                <a:tc vMerge="1">
                  <a:txBody>
                    <a:bodyPr/>
                    <a:lstStyle/>
                    <a:p>
                      <a:pPr algn="ct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資産分</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減価償却分</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extLst>
                  <a:ext uri="{0D108BD9-81ED-4DB2-BD59-A6C34878D82A}">
                    <a16:rowId xmlns:a16="http://schemas.microsoft.com/office/drawing/2014/main" val="3848715997"/>
                  </a:ext>
                </a:extLst>
              </a:tr>
              <a:tr h="339907">
                <a:tc vMerge="1">
                  <a:txBody>
                    <a:bodyPr/>
                    <a:lstStyle/>
                    <a:p>
                      <a:pPr algn="ct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合計</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合計</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extLst>
                  <a:ext uri="{0D108BD9-81ED-4DB2-BD59-A6C34878D82A}">
                    <a16:rowId xmlns:a16="http://schemas.microsoft.com/office/drawing/2014/main" val="3300211993"/>
                  </a:ext>
                </a:extLst>
              </a:tr>
              <a:tr h="339907">
                <a:tc vMerge="1">
                  <a:txBody>
                    <a:bodyPr/>
                    <a:lstStyle/>
                    <a:p>
                      <a:pPr algn="ct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補足：各システムの内訳は、</a:t>
                      </a:r>
                      <a:r>
                        <a:rPr kumimoji="1" lang="ja-JP" altLang="en-US" sz="1050" b="0" u="none">
                          <a:solidFill>
                            <a:schemeClr val="tx1"/>
                          </a:solidFill>
                          <a:latin typeface="メイリオ"/>
                          <a:ea typeface="メイリオ"/>
                          <a:cs typeface="メイリオ" panose="020B0604030504040204" pitchFamily="50" charset="-128"/>
                        </a:rPr>
                        <a:t>本資料</a:t>
                      </a:r>
                      <a:r>
                        <a:rPr kumimoji="1" lang="en-US" altLang="ja-JP" sz="1050" b="0" u="none">
                          <a:solidFill>
                            <a:schemeClr val="tx1"/>
                          </a:solidFill>
                          <a:latin typeface="メイリオ"/>
                          <a:ea typeface="メイリオ"/>
                          <a:cs typeface="メイリオ" panose="020B0604030504040204" pitchFamily="50" charset="-128"/>
                        </a:rPr>
                        <a:t>8</a:t>
                      </a:r>
                      <a:r>
                        <a:rPr kumimoji="1" lang="ja-JP" altLang="en-US" sz="1050" b="0" u="none">
                          <a:solidFill>
                            <a:schemeClr val="tx1"/>
                          </a:solidFill>
                          <a:latin typeface="メイリオ"/>
                          <a:ea typeface="メイリオ"/>
                          <a:cs typeface="メイリオ" panose="020B0604030504040204" pitchFamily="50" charset="-128"/>
                        </a:rPr>
                        <a:t>ページを参照</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1"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1"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extLst>
                  <a:ext uri="{0D108BD9-81ED-4DB2-BD59-A6C34878D82A}">
                    <a16:rowId xmlns:a16="http://schemas.microsoft.com/office/drawing/2014/main" val="33518742"/>
                  </a:ext>
                </a:extLst>
              </a:tr>
            </a:tbl>
          </a:graphicData>
        </a:graphic>
      </p:graphicFrame>
    </p:spTree>
    <p:extLst>
      <p:ext uri="{BB962C8B-B14F-4D97-AF65-F5344CB8AC3E}">
        <p14:creationId xmlns:p14="http://schemas.microsoft.com/office/powerpoint/2010/main" val="2115313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51F11861-2919-A5AA-E71C-7B9F58BD9339}"/>
              </a:ext>
            </a:extLst>
          </p:cNvPr>
          <p:cNvSpPr>
            <a:spLocks noGrp="1"/>
          </p:cNvSpPr>
          <p:nvPr>
            <p:ph idx="1"/>
          </p:nvPr>
        </p:nvSpPr>
        <p:spPr>
          <a:xfrm>
            <a:off x="336521" y="692698"/>
            <a:ext cx="11525251" cy="5806713"/>
          </a:xfrm>
        </p:spPr>
        <p:txBody>
          <a:bodyPr numCol="2"/>
          <a:lstStyle/>
          <a:p>
            <a:pPr marL="342900" indent="-342900">
              <a:lnSpc>
                <a:spcPct val="150000"/>
              </a:lnSpc>
              <a:buFont typeface="+mj-lt"/>
              <a:buAutoNum type="arabicPeriod"/>
            </a:pPr>
            <a:r>
              <a:rPr kumimoji="1" lang="ja-JP" altLang="en-US" sz="1200" dirty="0">
                <a:latin typeface="Meiryo UI"/>
                <a:ea typeface="Meiryo UI"/>
                <a:cs typeface="Arial"/>
              </a:rPr>
              <a:t>背景・目的</a:t>
            </a:r>
            <a:endParaRPr kumimoji="1" lang="en-US" altLang="ja-JP" sz="1200" dirty="0">
              <a:latin typeface="Meiryo UI"/>
              <a:ea typeface="Meiryo UI"/>
              <a:cs typeface="Arial"/>
            </a:endParaRPr>
          </a:p>
          <a:p>
            <a:pPr marL="342900" indent="-342900">
              <a:lnSpc>
                <a:spcPct val="150000"/>
              </a:lnSpc>
              <a:buFont typeface="+mj-lt"/>
              <a:buAutoNum type="arabicPeriod"/>
            </a:pPr>
            <a:r>
              <a:rPr lang="ja-JP" altLang="en-US" sz="1200" dirty="0">
                <a:latin typeface="Meiryo UI"/>
                <a:ea typeface="Meiryo UI"/>
                <a:cs typeface="Arial"/>
              </a:rPr>
              <a:t>組織の方針（前提）</a:t>
            </a:r>
            <a:endParaRPr kumimoji="1" lang="en-US" altLang="ja-JP" sz="1200" dirty="0">
              <a:latin typeface="Meiryo UI"/>
              <a:ea typeface="Meiryo UI"/>
              <a:cs typeface="Arial"/>
            </a:endParaRPr>
          </a:p>
          <a:p>
            <a:pPr marL="342900" indent="-342900">
              <a:lnSpc>
                <a:spcPct val="150000"/>
              </a:lnSpc>
              <a:buFont typeface="+mj-lt"/>
              <a:buAutoNum type="arabicPeriod"/>
            </a:pPr>
            <a:r>
              <a:rPr lang="en-US" altLang="ja-JP" sz="1200" strike="sngStrike" dirty="0">
                <a:latin typeface="Meiryo UI"/>
                <a:ea typeface="Meiryo UI"/>
                <a:cs typeface="Arial"/>
              </a:rPr>
              <a:t>Win11</a:t>
            </a:r>
            <a:r>
              <a:rPr lang="ja-JP" altLang="en-US" sz="1200" strike="sngStrike" dirty="0">
                <a:latin typeface="Meiryo UI"/>
                <a:ea typeface="Meiryo UI"/>
                <a:cs typeface="Arial"/>
              </a:rPr>
              <a:t>対応（与件）</a:t>
            </a:r>
            <a:br>
              <a:rPr lang="en-US" altLang="ja-JP" sz="1200" strike="sngStrike" dirty="0">
                <a:latin typeface="Meiryo UI"/>
                <a:ea typeface="Meiryo UI"/>
                <a:cs typeface="Arial"/>
              </a:rPr>
            </a:br>
            <a:r>
              <a:rPr lang="ja-JP" altLang="en-US" sz="1200" strike="sngStrike" dirty="0">
                <a:latin typeface="Meiryo UI"/>
                <a:ea typeface="Meiryo UI"/>
                <a:cs typeface="Arial"/>
              </a:rPr>
              <a:t>→</a:t>
            </a:r>
            <a:r>
              <a:rPr lang="en-US" altLang="ja-JP" sz="1200" strike="sngStrike" dirty="0">
                <a:latin typeface="Meiryo UI"/>
                <a:ea typeface="Meiryo UI"/>
                <a:cs typeface="Arial"/>
              </a:rPr>
              <a:t>XXX</a:t>
            </a:r>
            <a:r>
              <a:rPr lang="ja-JP" altLang="en-US" sz="1200" strike="sngStrike" dirty="0">
                <a:latin typeface="Meiryo UI"/>
                <a:ea typeface="Meiryo UI"/>
                <a:cs typeface="Arial"/>
              </a:rPr>
              <a:t>までに</a:t>
            </a:r>
            <a:r>
              <a:rPr lang="en-US" altLang="ja-JP" sz="1200" strike="sngStrike" dirty="0">
                <a:latin typeface="Meiryo UI"/>
                <a:ea typeface="Meiryo UI"/>
                <a:cs typeface="Arial"/>
              </a:rPr>
              <a:t>Win11</a:t>
            </a:r>
            <a:r>
              <a:rPr lang="ja-JP" altLang="en-US" sz="1200" strike="sngStrike" dirty="0">
                <a:latin typeface="Meiryo UI"/>
                <a:ea typeface="Meiryo UI"/>
                <a:cs typeface="Arial"/>
              </a:rPr>
              <a:t>化はしていかなくてはいけない</a:t>
            </a:r>
            <a:endParaRPr lang="en-US" altLang="ja-JP" sz="1200" strike="sngStrike" dirty="0">
              <a:latin typeface="Meiryo UI"/>
              <a:ea typeface="Meiryo UI"/>
              <a:cs typeface="Arial"/>
            </a:endParaRPr>
          </a:p>
          <a:p>
            <a:pPr marL="342900" indent="-342900">
              <a:lnSpc>
                <a:spcPct val="150000"/>
              </a:lnSpc>
              <a:buFont typeface="+mj-lt"/>
              <a:buAutoNum type="arabicPeriod"/>
            </a:pPr>
            <a:r>
              <a:rPr kumimoji="1" lang="en-US" altLang="ja-JP" sz="1200" strike="sngStrike" dirty="0">
                <a:latin typeface="Meiryo UI"/>
                <a:ea typeface="Meiryo UI"/>
                <a:cs typeface="Arial"/>
              </a:rPr>
              <a:t>JKK</a:t>
            </a:r>
            <a:r>
              <a:rPr kumimoji="1" lang="ja-JP" altLang="en-US" sz="1200" strike="sngStrike" dirty="0">
                <a:latin typeface="Meiryo UI"/>
                <a:ea typeface="Meiryo UI"/>
                <a:cs typeface="Arial"/>
              </a:rPr>
              <a:t>対応（与件）</a:t>
            </a:r>
            <a:br>
              <a:rPr kumimoji="1" lang="en-US" altLang="ja-JP" sz="1200" strike="sngStrike" dirty="0">
                <a:latin typeface="Meiryo UI"/>
                <a:ea typeface="Meiryo UI"/>
                <a:cs typeface="Arial"/>
              </a:rPr>
            </a:br>
            <a:r>
              <a:rPr kumimoji="1" lang="ja-JP" altLang="en-US" sz="1200" strike="sngStrike" dirty="0">
                <a:latin typeface="Meiryo UI"/>
                <a:ea typeface="Meiryo UI"/>
                <a:cs typeface="Arial"/>
              </a:rPr>
              <a:t>→</a:t>
            </a:r>
            <a:r>
              <a:rPr kumimoji="1" lang="en-US" altLang="ja-JP" sz="1200" strike="sngStrike" dirty="0">
                <a:latin typeface="Meiryo UI"/>
                <a:ea typeface="Meiryo UI"/>
                <a:cs typeface="Arial"/>
              </a:rPr>
              <a:t>FU</a:t>
            </a:r>
            <a:r>
              <a:rPr lang="ja-JP" altLang="en-US" sz="1200" strike="sngStrike" dirty="0">
                <a:latin typeface="Meiryo UI"/>
                <a:ea typeface="Meiryo UI"/>
                <a:cs typeface="Arial"/>
              </a:rPr>
              <a:t>の対応費用はなくしていく方針</a:t>
            </a:r>
            <a:endParaRPr kumimoji="1" lang="en-US" altLang="ja-JP" sz="1200" strike="sngStrike" dirty="0">
              <a:latin typeface="Meiryo UI"/>
              <a:ea typeface="Meiryo UI"/>
              <a:cs typeface="Arial"/>
            </a:endParaRPr>
          </a:p>
          <a:p>
            <a:pPr marL="342900" indent="-342900">
              <a:lnSpc>
                <a:spcPct val="150000"/>
              </a:lnSpc>
              <a:buFont typeface="+mj-lt"/>
              <a:buAutoNum type="arabicPeriod"/>
            </a:pPr>
            <a:r>
              <a:rPr kumimoji="1" lang="ja-JP" altLang="en-US" sz="1200" dirty="0">
                <a:latin typeface="Meiryo UI"/>
                <a:ea typeface="Meiryo UI"/>
                <a:cs typeface="Arial"/>
              </a:rPr>
              <a:t>プロジェクトスコープ</a:t>
            </a:r>
            <a:br>
              <a:rPr kumimoji="1" lang="en-US" altLang="ja-JP" sz="1200" dirty="0">
                <a:latin typeface="Meiryo UI"/>
                <a:ea typeface="Meiryo UI"/>
                <a:cs typeface="Arial"/>
              </a:rPr>
            </a:br>
            <a:r>
              <a:rPr kumimoji="1" lang="ja-JP" altLang="en-US" sz="1200" dirty="0">
                <a:latin typeface="Meiryo UI"/>
                <a:ea typeface="Meiryo UI"/>
                <a:cs typeface="Arial"/>
              </a:rPr>
              <a:t>→どの領域の</a:t>
            </a:r>
            <a:r>
              <a:rPr kumimoji="1" lang="en-US" altLang="ja-JP" sz="1200" dirty="0">
                <a:latin typeface="Meiryo UI"/>
                <a:ea typeface="Meiryo UI"/>
                <a:cs typeface="Arial"/>
              </a:rPr>
              <a:t>Access</a:t>
            </a:r>
            <a:r>
              <a:rPr kumimoji="1" lang="ja-JP" altLang="en-US" sz="1200" dirty="0">
                <a:latin typeface="Meiryo UI"/>
                <a:ea typeface="Meiryo UI"/>
                <a:cs typeface="Arial"/>
              </a:rPr>
              <a:t>ツールが対象か</a:t>
            </a:r>
            <a:endParaRPr kumimoji="1" lang="en-US" altLang="ja-JP" sz="1200" dirty="0">
              <a:latin typeface="Meiryo UI"/>
              <a:ea typeface="Meiryo UI"/>
              <a:cs typeface="Arial"/>
            </a:endParaRPr>
          </a:p>
          <a:p>
            <a:pPr marL="342900" indent="-342900">
              <a:lnSpc>
                <a:spcPct val="150000"/>
              </a:lnSpc>
              <a:buFont typeface="+mj-lt"/>
              <a:buAutoNum type="arabicPeriod"/>
            </a:pPr>
            <a:r>
              <a:rPr lang="ja-JP" altLang="en-US" sz="1200" strike="sngStrike" dirty="0">
                <a:latin typeface="Meiryo UI"/>
                <a:ea typeface="Meiryo UI"/>
                <a:cs typeface="Arial"/>
              </a:rPr>
              <a:t>課題と戦略（→背景・目的に。）</a:t>
            </a:r>
            <a:br>
              <a:rPr lang="en-US" altLang="ja-JP" sz="1200" strike="sngStrike" dirty="0">
                <a:latin typeface="Meiryo UI"/>
                <a:ea typeface="Meiryo UI"/>
                <a:cs typeface="Arial"/>
              </a:rPr>
            </a:br>
            <a:r>
              <a:rPr lang="ja-JP" altLang="en-US" sz="1200" strike="sngStrike" dirty="0">
                <a:latin typeface="Meiryo UI"/>
                <a:ea typeface="Meiryo UI"/>
                <a:cs typeface="Arial"/>
              </a:rPr>
              <a:t>課題：</a:t>
            </a:r>
            <a:r>
              <a:rPr lang="en-US" altLang="ja-JP" sz="1200" strike="sngStrike" dirty="0">
                <a:latin typeface="Meiryo UI"/>
                <a:ea typeface="Meiryo UI"/>
                <a:cs typeface="Arial"/>
              </a:rPr>
              <a:t>JKK</a:t>
            </a:r>
            <a:r>
              <a:rPr lang="ja-JP" altLang="en-US" sz="1200" strike="sngStrike" dirty="0">
                <a:latin typeface="Meiryo UI"/>
                <a:ea typeface="Meiryo UI"/>
                <a:cs typeface="Arial"/>
              </a:rPr>
              <a:t>と基シスでそれぞれ対応した場合に無駄な資源とリソース（工数）がかかる</a:t>
            </a:r>
            <a:br>
              <a:rPr lang="en-US" altLang="ja-JP" sz="1200" strike="sngStrike" dirty="0">
                <a:latin typeface="Meiryo UI"/>
                <a:ea typeface="Meiryo UI"/>
                <a:cs typeface="Arial"/>
              </a:rPr>
            </a:br>
            <a:r>
              <a:rPr lang="ja-JP" altLang="en-US" sz="1200" strike="sngStrike" dirty="0">
                <a:latin typeface="Meiryo UI"/>
                <a:ea typeface="Meiryo UI"/>
                <a:cs typeface="Arial"/>
              </a:rPr>
              <a:t>戦略：</a:t>
            </a:r>
            <a:r>
              <a:rPr lang="en-US" altLang="ja-JP" sz="1200" strike="sngStrike" dirty="0">
                <a:latin typeface="Meiryo UI"/>
                <a:ea typeface="Meiryo UI"/>
                <a:cs typeface="Arial"/>
              </a:rPr>
              <a:t>Access</a:t>
            </a:r>
            <a:r>
              <a:rPr lang="ja-JP" altLang="en-US" sz="1200" strike="sngStrike" dirty="0">
                <a:latin typeface="Meiryo UI"/>
                <a:ea typeface="Meiryo UI"/>
                <a:cs typeface="Arial"/>
              </a:rPr>
              <a:t>のスプシ化を早期に目指し、本来</a:t>
            </a:r>
            <a:r>
              <a:rPr lang="en-US" altLang="ja-JP" sz="1200" strike="sngStrike" dirty="0">
                <a:latin typeface="Meiryo UI"/>
                <a:ea typeface="Meiryo UI"/>
                <a:cs typeface="Arial"/>
              </a:rPr>
              <a:t>Win11</a:t>
            </a:r>
            <a:r>
              <a:rPr lang="ja-JP" altLang="en-US" sz="1200" strike="sngStrike" dirty="0">
                <a:latin typeface="Meiryo UI"/>
                <a:ea typeface="Meiryo UI"/>
                <a:cs typeface="Arial"/>
              </a:rPr>
              <a:t>対応にかかるコストを減らし適正化を図る</a:t>
            </a:r>
            <a:br>
              <a:rPr lang="en-US" altLang="ja-JP" sz="1200" strike="sngStrike" dirty="0">
                <a:latin typeface="Meiryo UI"/>
                <a:ea typeface="Meiryo UI"/>
                <a:cs typeface="Arial"/>
              </a:rPr>
            </a:br>
            <a:r>
              <a:rPr lang="ja-JP" altLang="en-US" sz="1200" strike="sngStrike" dirty="0">
                <a:latin typeface="Meiryo UI"/>
                <a:ea typeface="Meiryo UI"/>
                <a:cs typeface="Arial"/>
              </a:rPr>
              <a:t>→概念図みたいなの書くか？</a:t>
            </a:r>
            <a:endParaRPr kumimoji="1" lang="ja-JP" altLang="en-US" sz="1200" strike="sngStrike" dirty="0">
              <a:latin typeface="Meiryo UI"/>
              <a:ea typeface="Meiryo UI"/>
              <a:cs typeface="Arial"/>
            </a:endParaRPr>
          </a:p>
          <a:p>
            <a:pPr marL="342900" indent="-342900">
              <a:lnSpc>
                <a:spcPct val="150000"/>
              </a:lnSpc>
              <a:buFont typeface="+mj-lt"/>
              <a:buAutoNum type="arabicPeriod"/>
            </a:pPr>
            <a:r>
              <a:rPr lang="ja-JP" altLang="en-US" sz="1200" dirty="0">
                <a:latin typeface="Meiryo UI"/>
                <a:ea typeface="Meiryo UI"/>
                <a:cs typeface="Arial"/>
              </a:rPr>
              <a:t>施策</a:t>
            </a:r>
            <a:br>
              <a:rPr lang="en-US" altLang="ja-JP" sz="1200" dirty="0">
                <a:latin typeface="Meiryo UI"/>
                <a:ea typeface="Meiryo UI"/>
                <a:cs typeface="Arial"/>
              </a:rPr>
            </a:br>
            <a:r>
              <a:rPr lang="ja-JP" altLang="en-US" sz="1200" dirty="0">
                <a:latin typeface="Meiryo UI"/>
                <a:ea typeface="Meiryo UI"/>
                <a:cs typeface="Arial"/>
              </a:rPr>
              <a:t>①：ソリューションの検討</a:t>
            </a:r>
            <a:br>
              <a:rPr lang="en-US" altLang="ja-JP" sz="1200" dirty="0">
                <a:latin typeface="Meiryo UI"/>
                <a:ea typeface="Meiryo UI"/>
                <a:cs typeface="Arial"/>
              </a:rPr>
            </a:br>
            <a:r>
              <a:rPr lang="ja-JP" altLang="en-US" sz="1200" dirty="0">
                <a:latin typeface="Meiryo UI"/>
                <a:ea typeface="Meiryo UI"/>
                <a:cs typeface="Arial"/>
              </a:rPr>
              <a:t>②：担当領域の検討</a:t>
            </a:r>
            <a:endParaRPr lang="en-US" altLang="ja-JP" sz="1200" dirty="0">
              <a:latin typeface="Meiryo UI"/>
              <a:ea typeface="Meiryo UI"/>
              <a:cs typeface="Arial"/>
            </a:endParaRPr>
          </a:p>
          <a:p>
            <a:pPr marL="342900" indent="-342900">
              <a:lnSpc>
                <a:spcPct val="150000"/>
              </a:lnSpc>
              <a:buFont typeface="+mj-lt"/>
              <a:buAutoNum type="arabicPeriod"/>
            </a:pPr>
            <a:r>
              <a:rPr kumimoji="1" lang="ja-JP" altLang="en-US" sz="1200" dirty="0">
                <a:latin typeface="Meiryo UI"/>
                <a:ea typeface="Meiryo UI"/>
                <a:cs typeface="Arial"/>
              </a:rPr>
              <a:t>コストと工数</a:t>
            </a:r>
            <a:br>
              <a:rPr kumimoji="1" lang="en-US" altLang="ja-JP" sz="1200" dirty="0">
                <a:latin typeface="Meiryo UI"/>
                <a:ea typeface="Meiryo UI"/>
                <a:cs typeface="Arial"/>
              </a:rPr>
            </a:br>
            <a:r>
              <a:rPr kumimoji="1" lang="ja-JP" altLang="en-US" sz="1200" dirty="0">
                <a:latin typeface="Meiryo UI"/>
                <a:ea typeface="Meiryo UI"/>
                <a:cs typeface="Arial"/>
              </a:rPr>
              <a:t>①：本施策にかかるコストと工数</a:t>
            </a:r>
            <a:br>
              <a:rPr lang="en-US" altLang="ja-JP" sz="1200" dirty="0">
                <a:latin typeface="Meiryo UI"/>
                <a:ea typeface="Meiryo UI"/>
                <a:cs typeface="Arial"/>
              </a:rPr>
            </a:br>
            <a:r>
              <a:rPr lang="ja-JP" altLang="en-US" sz="1200" dirty="0">
                <a:latin typeface="Meiryo UI"/>
                <a:ea typeface="Meiryo UI"/>
                <a:cs typeface="Arial"/>
              </a:rPr>
              <a:t>②：本施策の効果（本施策と独立してそれぞれ行った場合の比較結果）</a:t>
            </a:r>
            <a:endParaRPr lang="en-US" altLang="ja-JP" sz="1200" dirty="0"/>
          </a:p>
          <a:p>
            <a:pPr marL="342900" indent="-342900">
              <a:lnSpc>
                <a:spcPct val="150000"/>
              </a:lnSpc>
              <a:buFont typeface="+mj-lt"/>
              <a:buAutoNum type="arabicPeriod"/>
            </a:pPr>
            <a:r>
              <a:rPr kumimoji="1" lang="ja-JP" altLang="en-US" sz="1200" dirty="0"/>
              <a:t>体制</a:t>
            </a:r>
          </a:p>
          <a:p>
            <a:pPr marL="342900" indent="-342900">
              <a:lnSpc>
                <a:spcPct val="150000"/>
              </a:lnSpc>
              <a:buFont typeface="+mj-lt"/>
              <a:buAutoNum type="arabicPeriod"/>
            </a:pPr>
            <a:r>
              <a:rPr kumimoji="1" lang="ja-JP" altLang="en-US" sz="1200" dirty="0"/>
              <a:t>スケジュール</a:t>
            </a:r>
          </a:p>
          <a:p>
            <a:pPr marL="342900" indent="-342900">
              <a:lnSpc>
                <a:spcPct val="150000"/>
              </a:lnSpc>
              <a:buFont typeface="+mj-lt"/>
              <a:buAutoNum type="arabicPeriod"/>
            </a:pP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リスクと対応</a:t>
            </a:r>
            <a:r>
              <a:rPr lang="ja-JP" altLang="en-US" sz="1200" kern="0" dirty="0">
                <a:solidFill>
                  <a:srgbClr val="000000">
                    <a:lumMod val="65000"/>
                    <a:lumOff val="35000"/>
                  </a:srgbClr>
                </a:solidFill>
              </a:rPr>
              <a:t>方針</a:t>
            </a:r>
            <a:br>
              <a:rPr lang="en-US" altLang="ja-JP" sz="1200" kern="0" dirty="0">
                <a:solidFill>
                  <a:srgbClr val="000000">
                    <a:lumMod val="65000"/>
                    <a:lumOff val="35000"/>
                  </a:srgbClr>
                </a:solidFill>
              </a:rPr>
            </a:br>
            <a:r>
              <a:rPr lang="ja-JP" altLang="en-US" sz="1200" kern="0" dirty="0">
                <a:solidFill>
                  <a:srgbClr val="000000">
                    <a:lumMod val="65000"/>
                    <a:lumOff val="35000"/>
                  </a:srgbClr>
                </a:solidFill>
              </a:rPr>
              <a:t>→スプシ化が間に合わなかった場合は</a:t>
            </a:r>
            <a:r>
              <a:rPr lang="en-US" altLang="ja-JP" sz="1200" kern="0" dirty="0">
                <a:solidFill>
                  <a:srgbClr val="000000">
                    <a:lumMod val="65000"/>
                    <a:lumOff val="35000"/>
                  </a:srgbClr>
                </a:solidFill>
              </a:rPr>
              <a:t>Win11</a:t>
            </a:r>
            <a:r>
              <a:rPr lang="ja-JP" altLang="en-US" sz="1200" kern="0" dirty="0">
                <a:solidFill>
                  <a:srgbClr val="000000">
                    <a:lumMod val="65000"/>
                    <a:lumOff val="35000"/>
                  </a:srgbClr>
                </a:solidFill>
              </a:rPr>
              <a:t>対応をできる状態にする</a:t>
            </a:r>
            <a:endParaRPr lang="en-US" altLang="ja-JP" sz="1200" kern="0" dirty="0">
              <a:solidFill>
                <a:srgbClr val="000000">
                  <a:lumMod val="65000"/>
                  <a:lumOff val="35000"/>
                </a:srgbClr>
              </a:solidFill>
            </a:endParaRPr>
          </a:p>
          <a:p>
            <a:pPr marL="342900" indent="-342900">
              <a:lnSpc>
                <a:spcPct val="150000"/>
              </a:lnSpc>
              <a:buFont typeface="+mj-lt"/>
              <a:buAutoNum type="arabicPeriod"/>
            </a:pPr>
            <a:r>
              <a:rPr lang="ja-JP" altLang="en-US" sz="1200" dirty="0"/>
              <a:t>（</a:t>
            </a:r>
            <a:r>
              <a:rPr lang="en-US" altLang="ja-JP" sz="1200" dirty="0"/>
              <a:t>Appendix</a:t>
            </a:r>
            <a:r>
              <a:rPr lang="ja-JP" altLang="en-US" sz="1200" dirty="0"/>
              <a:t>）スプシ化の設計思想</a:t>
            </a:r>
            <a:br>
              <a:rPr lang="en-US" altLang="ja-JP" sz="1200" dirty="0"/>
            </a:br>
            <a:r>
              <a:rPr lang="ja-JP" altLang="en-US" sz="1200" dirty="0"/>
              <a:t>→機能のコンポーネント化を図り、データ構造の変更に強くした</a:t>
            </a:r>
            <a:endParaRPr lang="en-US" altLang="ja-JP" sz="1200" dirty="0"/>
          </a:p>
        </p:txBody>
      </p:sp>
      <p:sp>
        <p:nvSpPr>
          <p:cNvPr id="3" name="タイトル 2">
            <a:extLst>
              <a:ext uri="{FF2B5EF4-FFF2-40B4-BE49-F238E27FC236}">
                <a16:creationId xmlns:a16="http://schemas.microsoft.com/office/drawing/2014/main" id="{3F21CE34-BE7B-427C-B8B7-E3AA796BBBA2}"/>
              </a:ext>
            </a:extLst>
          </p:cNvPr>
          <p:cNvSpPr>
            <a:spLocks noGrp="1"/>
          </p:cNvSpPr>
          <p:nvPr>
            <p:ph type="title"/>
          </p:nvPr>
        </p:nvSpPr>
        <p:spPr/>
        <p:txBody>
          <a:bodyPr/>
          <a:lstStyle/>
          <a:p>
            <a:r>
              <a:rPr kumimoji="1" lang="ja-JP" altLang="en-US"/>
              <a:t>アジェンダ</a:t>
            </a:r>
          </a:p>
        </p:txBody>
      </p:sp>
      <p:sp>
        <p:nvSpPr>
          <p:cNvPr id="4" name="スライド番号プレースホルダー 3">
            <a:extLst>
              <a:ext uri="{FF2B5EF4-FFF2-40B4-BE49-F238E27FC236}">
                <a16:creationId xmlns:a16="http://schemas.microsoft.com/office/drawing/2014/main" id="{12418BEE-8C0C-1B87-F706-16233F0FCD83}"/>
              </a:ext>
            </a:extLst>
          </p:cNvPr>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923374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p:txBody>
          <a:bodyPr vert="horz"/>
          <a:lstStyle/>
          <a:p>
            <a:r>
              <a:rPr lang="ja-JP" altLang="en-US" kern="1200" dirty="0">
                <a:solidFill>
                  <a:schemeClr val="tx1">
                    <a:lumMod val="65000"/>
                    <a:lumOff val="35000"/>
                  </a:schemeClr>
                </a:solidFill>
                <a:cs typeface="Arial" panose="020B0604020202020204" pitchFamily="34" charset="0"/>
              </a:rPr>
              <a:t>背景・目的</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4</a:t>
            </a:fld>
            <a:endParaRPr lang="en-US" altLang="ja-JP"/>
          </a:p>
        </p:txBody>
      </p:sp>
      <p:grpSp>
        <p:nvGrpSpPr>
          <p:cNvPr id="28" name="グループ化 27">
            <a:extLst>
              <a:ext uri="{FF2B5EF4-FFF2-40B4-BE49-F238E27FC236}">
                <a16:creationId xmlns:a16="http://schemas.microsoft.com/office/drawing/2014/main" id="{170DA7B3-463C-3163-FBDB-8633F5DEAEC3}"/>
              </a:ext>
            </a:extLst>
          </p:cNvPr>
          <p:cNvGrpSpPr/>
          <p:nvPr/>
        </p:nvGrpSpPr>
        <p:grpSpPr>
          <a:xfrm>
            <a:off x="732341" y="1013021"/>
            <a:ext cx="10727318" cy="1582398"/>
            <a:chOff x="596462" y="1013021"/>
            <a:chExt cx="10727318" cy="1582398"/>
          </a:xfrm>
        </p:grpSpPr>
        <p:sp>
          <p:nvSpPr>
            <p:cNvPr id="14" name="正方形/長方形 13">
              <a:extLst>
                <a:ext uri="{FF2B5EF4-FFF2-40B4-BE49-F238E27FC236}">
                  <a16:creationId xmlns:a16="http://schemas.microsoft.com/office/drawing/2014/main" id="{FBB7BAA9-00DB-38F0-288F-47067CAD8452}"/>
                </a:ext>
              </a:extLst>
            </p:cNvPr>
            <p:cNvSpPr/>
            <p:nvPr/>
          </p:nvSpPr>
          <p:spPr>
            <a:xfrm>
              <a:off x="596462" y="1013021"/>
              <a:ext cx="1186156" cy="1582398"/>
            </a:xfrm>
            <a:prstGeom prst="rect">
              <a:avLst/>
            </a:prstGeom>
            <a:solidFill>
              <a:srgbClr val="FFFFFF">
                <a:lumMod val="50000"/>
              </a:srgbClr>
            </a:solidFill>
            <a:ln w="9525" cap="flat" cmpd="sng" algn="ctr">
              <a:solidFill>
                <a:srgbClr val="FFFFFF">
                  <a:lumMod val="50000"/>
                </a:srgbClr>
              </a:solidFill>
              <a:prstDash val="solid"/>
            </a:ln>
            <a:effectLst/>
          </p:spPr>
          <p:txBody>
            <a:bodyPr vert="horz"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2000" b="1" kern="0">
                  <a:solidFill>
                    <a:srgbClr val="FFFFFF"/>
                  </a:solidFill>
                  <a:latin typeface="Meiryo UI" panose="020B0604030504040204" pitchFamily="50" charset="-128"/>
                  <a:ea typeface="Meiryo UI" panose="020B0604030504040204" pitchFamily="50" charset="-128"/>
                </a:rPr>
                <a:t>背景</a:t>
              </a:r>
              <a:endParaRPr kumimoji="0" lang="en-US" altLang="ja-JP" sz="20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6" name="コンテンツ プレースホルダー 5">
              <a:extLst>
                <a:ext uri="{FF2B5EF4-FFF2-40B4-BE49-F238E27FC236}">
                  <a16:creationId xmlns:a16="http://schemas.microsoft.com/office/drawing/2014/main" id="{54335A62-742D-888A-C3BA-B934FB3B0DDE}"/>
                </a:ext>
              </a:extLst>
            </p:cNvPr>
            <p:cNvSpPr txBox="1">
              <a:spLocks/>
            </p:cNvSpPr>
            <p:nvPr/>
          </p:nvSpPr>
          <p:spPr bwMode="auto">
            <a:xfrm>
              <a:off x="1930399" y="1013021"/>
              <a:ext cx="9393381" cy="1582398"/>
            </a:xfrm>
            <a:prstGeom prst="rect">
              <a:avLst/>
            </a:prstGeom>
            <a:noFill/>
            <a:ln w="19050">
              <a:solidFill>
                <a:srgbClr val="FFFFFF">
                  <a:lumMod val="50000"/>
                </a:srgbClr>
              </a:solid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355600" lvl="1" defTabSz="762000" eaLnBrk="0" hangingPunct="0">
                <a:lnSpc>
                  <a:spcPct val="106000"/>
                </a:lnSpc>
                <a:buFont typeface="Arial" panose="020B0604020202020204" pitchFamily="34" charset="0"/>
                <a:buChar char="•"/>
              </a:pPr>
              <a:r>
                <a:rPr lang="en-US" altLang="ja-JP" sz="1800" dirty="0">
                  <a:solidFill>
                    <a:schemeClr val="tx1">
                      <a:lumMod val="65000"/>
                      <a:lumOff val="35000"/>
                    </a:schemeClr>
                  </a:solidFill>
                  <a:latin typeface="Meiryo UI"/>
                  <a:ea typeface="Meiryo UI"/>
                  <a:cs typeface="Arial"/>
                </a:rPr>
                <a:t>JKK</a:t>
              </a:r>
              <a:r>
                <a:rPr lang="ja-JP" altLang="en-US" sz="1800" dirty="0">
                  <a:solidFill>
                    <a:schemeClr val="tx1">
                      <a:lumMod val="65000"/>
                      <a:lumOff val="35000"/>
                    </a:schemeClr>
                  </a:solidFill>
                  <a:latin typeface="Meiryo UI"/>
                  <a:ea typeface="Meiryo UI"/>
                  <a:cs typeface="Arial"/>
                </a:rPr>
                <a:t>一丁目でスプシ化対象となっている資源と 基シスの</a:t>
              </a:r>
              <a:r>
                <a:rPr lang="en-US" altLang="ja-JP" sz="1800" dirty="0">
                  <a:solidFill>
                    <a:schemeClr val="tx1">
                      <a:lumMod val="65000"/>
                      <a:lumOff val="35000"/>
                    </a:schemeClr>
                  </a:solidFill>
                  <a:latin typeface="Meiryo UI"/>
                  <a:ea typeface="Meiryo UI"/>
                  <a:cs typeface="Arial"/>
                </a:rPr>
                <a:t>Win11</a:t>
              </a:r>
              <a:r>
                <a:rPr lang="ja-JP" altLang="en-US" sz="1800" dirty="0">
                  <a:solidFill>
                    <a:schemeClr val="tx1">
                      <a:lumMod val="65000"/>
                      <a:lumOff val="35000"/>
                    </a:schemeClr>
                  </a:solidFill>
                  <a:latin typeface="Meiryo UI"/>
                  <a:ea typeface="Meiryo UI"/>
                  <a:cs typeface="Arial"/>
                </a:rPr>
                <a:t>対応予定の資源に重複がある</a:t>
              </a:r>
              <a:endParaRPr lang="en-US" altLang="ja-JP" sz="1800" dirty="0">
                <a:solidFill>
                  <a:schemeClr val="tx1">
                    <a:lumMod val="65000"/>
                    <a:lumOff val="35000"/>
                  </a:schemeClr>
                </a:solidFill>
                <a:latin typeface="Meiryo UI"/>
                <a:ea typeface="Meiryo UI"/>
                <a:cs typeface="Arial"/>
              </a:endParaRPr>
            </a:p>
            <a:p>
              <a:pPr marL="355600" lvl="1" defTabSz="762000">
                <a:lnSpc>
                  <a:spcPct val="106000"/>
                </a:lnSpc>
                <a:buFont typeface="Arial" panose="020B0604020202020204" pitchFamily="34" charset="0"/>
                <a:buChar char="•"/>
              </a:pPr>
              <a:r>
                <a:rPr lang="en-US" altLang="ja-JP" sz="1800" dirty="0">
                  <a:latin typeface="Meiryo UI"/>
                  <a:ea typeface="Meiryo UI"/>
                  <a:cs typeface="Arial"/>
                </a:rPr>
                <a:t>JKK</a:t>
              </a:r>
              <a:r>
                <a:rPr lang="ja-JP" altLang="en-US" sz="1800" dirty="0">
                  <a:latin typeface="Meiryo UI"/>
                  <a:ea typeface="Meiryo UI"/>
                  <a:cs typeface="Arial"/>
                </a:rPr>
                <a:t>と基シスそれぞれが独立して対応した場合に無駄な資源とリソース（工数）が発生する</a:t>
              </a:r>
              <a:endParaRPr lang="en-US" altLang="ja-JP" sz="1800" dirty="0">
                <a:solidFill>
                  <a:schemeClr val="tx1">
                    <a:lumMod val="65000"/>
                    <a:lumOff val="35000"/>
                  </a:schemeClr>
                </a:solidFill>
                <a:latin typeface="Meiryo UI"/>
                <a:ea typeface="Meiryo UI"/>
                <a:cs typeface="Arial"/>
              </a:endParaRPr>
            </a:p>
            <a:p>
              <a:pPr marL="355600" lvl="1" defTabSz="762000">
                <a:lnSpc>
                  <a:spcPct val="106000"/>
                </a:lnSpc>
                <a:buFont typeface="Arial" panose="020B0604020202020204" pitchFamily="34" charset="0"/>
                <a:buChar char="•"/>
              </a:pPr>
              <a:r>
                <a:rPr lang="ja-JP" altLang="en-US" sz="1800" strike="sngStrike" dirty="0">
                  <a:solidFill>
                    <a:schemeClr val="tx1">
                      <a:lumMod val="65000"/>
                      <a:lumOff val="35000"/>
                    </a:schemeClr>
                  </a:solidFill>
                  <a:latin typeface="Meiryo UI"/>
                  <a:ea typeface="Meiryo UI"/>
                  <a:cs typeface="Arial"/>
                </a:rPr>
                <a:t>資源や改修業務の最適化を行い、各資源のソリューション </a:t>
              </a:r>
              <a:r>
                <a:rPr lang="en-US" altLang="ja-JP" sz="1800" strike="sngStrike" dirty="0">
                  <a:solidFill>
                    <a:schemeClr val="tx1">
                      <a:lumMod val="65000"/>
                      <a:lumOff val="35000"/>
                    </a:schemeClr>
                  </a:solidFill>
                  <a:latin typeface="Meiryo UI"/>
                  <a:ea typeface="Meiryo UI"/>
                  <a:cs typeface="Arial"/>
                </a:rPr>
                <a:t>/ </a:t>
              </a:r>
              <a:r>
                <a:rPr lang="ja-JP" altLang="en-US" sz="1800" strike="sngStrike" dirty="0">
                  <a:solidFill>
                    <a:schemeClr val="tx1">
                      <a:lumMod val="65000"/>
                      <a:lumOff val="35000"/>
                    </a:schemeClr>
                  </a:solidFill>
                  <a:latin typeface="Meiryo UI"/>
                  <a:ea typeface="Meiryo UI"/>
                  <a:cs typeface="Arial"/>
                </a:rPr>
                <a:t>担当を整理する必要がある</a:t>
              </a:r>
              <a:endParaRPr lang="en-US" altLang="ja-JP" sz="1800" strike="sngStrike" dirty="0">
                <a:solidFill>
                  <a:schemeClr val="tx1">
                    <a:lumMod val="65000"/>
                    <a:lumOff val="35000"/>
                  </a:schemeClr>
                </a:solidFill>
                <a:latin typeface="Meiryo UI"/>
                <a:ea typeface="Meiryo UI"/>
                <a:cs typeface="Arial"/>
              </a:endParaRPr>
            </a:p>
          </p:txBody>
        </p:sp>
      </p:grpSp>
      <p:grpSp>
        <p:nvGrpSpPr>
          <p:cNvPr id="6" name="グループ化 5">
            <a:extLst>
              <a:ext uri="{FF2B5EF4-FFF2-40B4-BE49-F238E27FC236}">
                <a16:creationId xmlns:a16="http://schemas.microsoft.com/office/drawing/2014/main" id="{505FCE90-318E-8848-BCAE-D07831F8AF86}"/>
              </a:ext>
            </a:extLst>
          </p:cNvPr>
          <p:cNvGrpSpPr/>
          <p:nvPr/>
        </p:nvGrpSpPr>
        <p:grpSpPr>
          <a:xfrm>
            <a:off x="732341" y="3324159"/>
            <a:ext cx="10727318" cy="1582398"/>
            <a:chOff x="596462" y="1013021"/>
            <a:chExt cx="10727318" cy="1582398"/>
          </a:xfrm>
        </p:grpSpPr>
        <p:sp>
          <p:nvSpPr>
            <p:cNvPr id="7" name="正方形/長方形 6">
              <a:extLst>
                <a:ext uri="{FF2B5EF4-FFF2-40B4-BE49-F238E27FC236}">
                  <a16:creationId xmlns:a16="http://schemas.microsoft.com/office/drawing/2014/main" id="{3C3D9DA6-7241-F434-5832-72EBD48C3D72}"/>
                </a:ext>
              </a:extLst>
            </p:cNvPr>
            <p:cNvSpPr/>
            <p:nvPr/>
          </p:nvSpPr>
          <p:spPr>
            <a:xfrm>
              <a:off x="596462" y="1013021"/>
              <a:ext cx="1186156" cy="1582398"/>
            </a:xfrm>
            <a:prstGeom prst="rect">
              <a:avLst/>
            </a:prstGeom>
            <a:solidFill>
              <a:srgbClr val="FFFFFF">
                <a:lumMod val="50000"/>
              </a:srgbClr>
            </a:solidFill>
            <a:ln w="9525" cap="flat" cmpd="sng" algn="ctr">
              <a:solidFill>
                <a:srgbClr val="FFFFFF">
                  <a:lumMod val="50000"/>
                </a:srgbClr>
              </a:solidFill>
              <a:prstDash val="solid"/>
            </a:ln>
            <a:effectLst/>
          </p:spPr>
          <p:txBody>
            <a:bodyPr vert="horz"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2000" b="1" kern="0">
                  <a:solidFill>
                    <a:srgbClr val="FFFFFF"/>
                  </a:solidFill>
                  <a:latin typeface="Meiryo UI" panose="020B0604030504040204" pitchFamily="50" charset="-128"/>
                  <a:ea typeface="Meiryo UI" panose="020B0604030504040204" pitchFamily="50" charset="-128"/>
                </a:rPr>
                <a:t>目的</a:t>
              </a:r>
              <a:endParaRPr kumimoji="0" lang="en-US" altLang="ja-JP" sz="20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8" name="コンテンツ プレースホルダー 5">
              <a:extLst>
                <a:ext uri="{FF2B5EF4-FFF2-40B4-BE49-F238E27FC236}">
                  <a16:creationId xmlns:a16="http://schemas.microsoft.com/office/drawing/2014/main" id="{3C938265-B4A7-C93B-EC71-00E91C4ABBF5}"/>
                </a:ext>
              </a:extLst>
            </p:cNvPr>
            <p:cNvSpPr txBox="1">
              <a:spLocks/>
            </p:cNvSpPr>
            <p:nvPr/>
          </p:nvSpPr>
          <p:spPr bwMode="auto">
            <a:xfrm>
              <a:off x="1930399" y="1013021"/>
              <a:ext cx="9393381" cy="1582398"/>
            </a:xfrm>
            <a:prstGeom prst="rect">
              <a:avLst/>
            </a:prstGeom>
            <a:noFill/>
            <a:ln w="19050">
              <a:solidFill>
                <a:srgbClr val="FFFFFF">
                  <a:lumMod val="50000"/>
                </a:srgbClr>
              </a:solid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177800" lvl="1" indent="0" defTabSz="762000" eaLnBrk="0" hangingPunct="0">
                <a:lnSpc>
                  <a:spcPct val="106000"/>
                </a:lnSpc>
                <a:buNone/>
              </a:pPr>
              <a:r>
                <a:rPr lang="en-US" altLang="ja-JP" sz="1800" b="1" u="sng" dirty="0">
                  <a:latin typeface="Meiryo UI"/>
                  <a:ea typeface="Meiryo UI"/>
                  <a:cs typeface="Arial"/>
                </a:rPr>
                <a:t>JKK</a:t>
              </a:r>
              <a:r>
                <a:rPr lang="ja-JP" altLang="en-US" sz="1800" b="1" u="sng" dirty="0">
                  <a:latin typeface="Meiryo UI"/>
                  <a:ea typeface="Meiryo UI"/>
                  <a:cs typeface="Arial"/>
                </a:rPr>
                <a:t>対応を踏まえ、基幹システム</a:t>
              </a:r>
              <a:r>
                <a:rPr lang="en-US" altLang="ja-JP" sz="1800" b="1" u="sng" dirty="0">
                  <a:latin typeface="Meiryo UI"/>
                  <a:ea typeface="Meiryo UI"/>
                  <a:cs typeface="Arial"/>
                </a:rPr>
                <a:t>U</a:t>
              </a:r>
              <a:r>
                <a:rPr lang="ja-JP" altLang="en-US" sz="1800" b="1" u="sng" dirty="0">
                  <a:latin typeface="Meiryo UI"/>
                  <a:ea typeface="Meiryo UI"/>
                  <a:cs typeface="Arial"/>
                </a:rPr>
                <a:t>の</a:t>
              </a:r>
              <a:r>
                <a:rPr lang="en-US" altLang="ja-JP" sz="1800" b="1" u="sng" dirty="0">
                  <a:latin typeface="Meiryo UI"/>
                  <a:ea typeface="Meiryo UI"/>
                  <a:cs typeface="Arial"/>
                </a:rPr>
                <a:t>Win11</a:t>
              </a:r>
              <a:r>
                <a:rPr lang="ja-JP" altLang="en-US" sz="1800" b="1" u="sng" dirty="0">
                  <a:latin typeface="Meiryo UI"/>
                  <a:ea typeface="Meiryo UI"/>
                  <a:cs typeface="Arial"/>
                </a:rPr>
                <a:t>対応にかかるコストを減らし適正化を図る</a:t>
              </a:r>
              <a:endParaRPr lang="en-US" altLang="ja-JP" sz="1800" b="1" u="sng" dirty="0">
                <a:solidFill>
                  <a:schemeClr val="tx1">
                    <a:lumMod val="65000"/>
                    <a:lumOff val="35000"/>
                  </a:schemeClr>
                </a:solidFill>
                <a:latin typeface="Meiryo UI"/>
                <a:ea typeface="Meiryo UI"/>
                <a:cs typeface="Arial"/>
              </a:endParaRPr>
            </a:p>
            <a:p>
              <a:pPr marL="520700" lvl="1" indent="-342900" defTabSz="762000" eaLnBrk="0" hangingPunct="0">
                <a:lnSpc>
                  <a:spcPct val="106000"/>
                </a:lnSpc>
                <a:buFont typeface="+mj-ea"/>
                <a:buAutoNum type="circleNumDbPlain"/>
              </a:pPr>
              <a:r>
                <a:rPr lang="ja-JP" altLang="en-US" sz="1800" dirty="0">
                  <a:solidFill>
                    <a:schemeClr val="tx1">
                      <a:lumMod val="65000"/>
                      <a:lumOff val="35000"/>
                    </a:schemeClr>
                  </a:solidFill>
                  <a:latin typeface="Meiryo UI"/>
                  <a:ea typeface="Meiryo UI"/>
                  <a:cs typeface="Arial"/>
                </a:rPr>
                <a:t>スプシ化/</a:t>
              </a:r>
              <a:r>
                <a:rPr lang="en-US" altLang="ja-JP" sz="1800" dirty="0">
                  <a:solidFill>
                    <a:schemeClr val="tx1">
                      <a:lumMod val="65000"/>
                      <a:lumOff val="35000"/>
                    </a:schemeClr>
                  </a:solidFill>
                  <a:latin typeface="Meiryo UI"/>
                  <a:ea typeface="Meiryo UI"/>
                  <a:cs typeface="Arial"/>
                </a:rPr>
                <a:t>Access</a:t>
              </a:r>
              <a:r>
                <a:rPr lang="ja-JP" altLang="en-US" sz="1800" dirty="0">
                  <a:solidFill>
                    <a:schemeClr val="tx1">
                      <a:lumMod val="65000"/>
                      <a:lumOff val="35000"/>
                    </a:schemeClr>
                  </a:solidFill>
                  <a:latin typeface="Meiryo UI"/>
                  <a:ea typeface="Meiryo UI"/>
                  <a:cs typeface="Arial"/>
                </a:rPr>
                <a:t>維持などソリューションを検討する</a:t>
              </a:r>
              <a:endParaRPr lang="en-US" altLang="ja-JP" sz="1800" dirty="0">
                <a:solidFill>
                  <a:schemeClr val="tx1">
                    <a:lumMod val="65000"/>
                    <a:lumOff val="35000"/>
                  </a:schemeClr>
                </a:solidFill>
                <a:latin typeface="Meiryo UI"/>
                <a:ea typeface="Meiryo UI"/>
                <a:cs typeface="Arial"/>
              </a:endParaRPr>
            </a:p>
            <a:p>
              <a:pPr marL="520700" lvl="1" indent="-342900" defTabSz="762000" eaLnBrk="0" hangingPunct="0">
                <a:lnSpc>
                  <a:spcPct val="106000"/>
                </a:lnSpc>
                <a:buFont typeface="+mj-ea"/>
                <a:buAutoNum type="circleNumDbPlain"/>
              </a:pPr>
              <a:r>
                <a:rPr lang="en-US" altLang="ja-JP" sz="1800" dirty="0">
                  <a:solidFill>
                    <a:schemeClr val="tx1">
                      <a:lumMod val="65000"/>
                      <a:lumOff val="35000"/>
                    </a:schemeClr>
                  </a:solidFill>
                  <a:latin typeface="Meiryo UI"/>
                  <a:ea typeface="Meiryo UI"/>
                  <a:cs typeface="Arial"/>
                </a:rPr>
                <a:t>JKK</a:t>
              </a:r>
              <a:r>
                <a:rPr lang="ja-JP" altLang="en-US" sz="1800" dirty="0">
                  <a:solidFill>
                    <a:schemeClr val="tx1">
                      <a:lumMod val="65000"/>
                      <a:lumOff val="35000"/>
                    </a:schemeClr>
                  </a:solidFill>
                  <a:latin typeface="Meiryo UI"/>
                  <a:ea typeface="Meiryo UI"/>
                  <a:cs typeface="Arial"/>
                </a:rPr>
                <a:t>と基シスのスコープを明確化し、双方にとって最適な役割を検討する</a:t>
              </a:r>
            </a:p>
          </p:txBody>
        </p:sp>
      </p:grpSp>
    </p:spTree>
    <p:extLst>
      <p:ext uri="{BB962C8B-B14F-4D97-AF65-F5344CB8AC3E}">
        <p14:creationId xmlns:p14="http://schemas.microsoft.com/office/powerpoint/2010/main" val="1455339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p:txBody>
          <a:bodyPr vert="horz"/>
          <a:lstStyle/>
          <a:p>
            <a:r>
              <a:rPr lang="ja-JP" altLang="en-US" kern="1200" dirty="0">
                <a:solidFill>
                  <a:schemeClr val="tx1">
                    <a:lumMod val="65000"/>
                    <a:lumOff val="35000"/>
                  </a:schemeClr>
                </a:solidFill>
                <a:cs typeface="Arial" panose="020B0604020202020204" pitchFamily="34" charset="0"/>
              </a:rPr>
              <a:t>前提</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5</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ja-JP" altLang="en-US" b="1" u="sng">
                <a:solidFill>
                  <a:schemeClr val="tx1">
                    <a:lumMod val="65000"/>
                    <a:lumOff val="35000"/>
                  </a:schemeClr>
                </a:solidFill>
                <a:latin typeface="Meiryo"/>
                <a:ea typeface="Meiryo"/>
                <a:cs typeface="Meiryo"/>
                <a:sym typeface="Meiryo"/>
              </a:rPr>
              <a:t>組織の方針</a:t>
            </a:r>
            <a:endParaRPr lang="en-US" altLang="ja-JP" b="1" u="sng">
              <a:solidFill>
                <a:schemeClr val="tx1">
                  <a:lumMod val="65000"/>
                  <a:lumOff val="35000"/>
                </a:schemeClr>
              </a:solidFill>
              <a:latin typeface="Meiryo"/>
              <a:ea typeface="Meiryo"/>
              <a:cs typeface="Meiryo"/>
              <a:sym typeface="Meiryo"/>
            </a:endParaRPr>
          </a:p>
          <a:p>
            <a:pPr marL="0" marR="0" lvl="0" indent="0" algn="l" rtl="0">
              <a:lnSpc>
                <a:spcPct val="115000"/>
              </a:lnSpc>
              <a:spcBef>
                <a:spcPts val="0"/>
              </a:spcBef>
              <a:spcAft>
                <a:spcPts val="0"/>
              </a:spcAft>
              <a:buNone/>
            </a:pPr>
            <a:r>
              <a:rPr lang="ja-JP" altLang="en-US">
                <a:solidFill>
                  <a:schemeClr val="tx1">
                    <a:lumMod val="65000"/>
                    <a:lumOff val="35000"/>
                  </a:schemeClr>
                </a:solidFill>
                <a:latin typeface="Meiryo"/>
                <a:ea typeface="Meiryo"/>
                <a:cs typeface="Meiryo"/>
                <a:sym typeface="Meiryo"/>
              </a:rPr>
              <a:t>・</a:t>
            </a:r>
            <a:r>
              <a:rPr lang="en-US" altLang="ja-JP">
                <a:solidFill>
                  <a:schemeClr val="tx1">
                    <a:lumMod val="65000"/>
                    <a:lumOff val="35000"/>
                  </a:schemeClr>
                </a:solidFill>
                <a:latin typeface="Meiryo"/>
                <a:ea typeface="Meiryo"/>
                <a:cs typeface="Meiryo"/>
                <a:sym typeface="Meiryo"/>
              </a:rPr>
              <a:t>ICT</a:t>
            </a:r>
            <a:r>
              <a:rPr lang="ja-JP" altLang="en-US">
                <a:solidFill>
                  <a:schemeClr val="tx1">
                    <a:lumMod val="65000"/>
                    <a:lumOff val="35000"/>
                  </a:schemeClr>
                </a:solidFill>
                <a:latin typeface="Meiryo"/>
                <a:ea typeface="Meiryo"/>
                <a:cs typeface="Meiryo"/>
                <a:sym typeface="Meiryo"/>
              </a:rPr>
              <a:t>統括室としてクラウド化（BQースプシ化など）を推進している</a:t>
            </a:r>
            <a:endParaRPr lang="en-US" altLang="ja-JP">
              <a:solidFill>
                <a:schemeClr val="tx1">
                  <a:lumMod val="65000"/>
                  <a:lumOff val="35000"/>
                </a:schemeClr>
              </a:solidFill>
              <a:latin typeface="Meiryo"/>
              <a:ea typeface="Meiryo"/>
              <a:cs typeface="Meiryo"/>
              <a:sym typeface="Meiryo"/>
            </a:endParaRPr>
          </a:p>
          <a:p>
            <a:pPr marL="0" marR="0" lvl="0" indent="0" algn="l" rtl="0">
              <a:lnSpc>
                <a:spcPct val="115000"/>
              </a:lnSpc>
              <a:spcBef>
                <a:spcPts val="0"/>
              </a:spcBef>
              <a:spcAft>
                <a:spcPts val="0"/>
              </a:spcAft>
              <a:buNone/>
            </a:pPr>
            <a:r>
              <a:rPr lang="ja-JP" altLang="en-US">
                <a:solidFill>
                  <a:schemeClr val="tx1">
                    <a:lumMod val="65000"/>
                    <a:lumOff val="35000"/>
                  </a:schemeClr>
                </a:solidFill>
                <a:latin typeface="Meiryo"/>
                <a:ea typeface="Meiryo"/>
                <a:cs typeface="Meiryo"/>
                <a:sym typeface="Meiryo"/>
              </a:rPr>
              <a:t>・将来廃止するシステムやツールへの投資は必要最低限にする</a:t>
            </a:r>
            <a:endParaRPr lang="en-US" altLang="ja-JP">
              <a:solidFill>
                <a:schemeClr val="tx1">
                  <a:lumMod val="65000"/>
                  <a:lumOff val="35000"/>
                </a:schemeClr>
              </a:solidFill>
              <a:latin typeface="Meiryo"/>
              <a:ea typeface="Meiryo"/>
              <a:cs typeface="Meiryo"/>
              <a:sym typeface="Meiryo"/>
            </a:endParaRPr>
          </a:p>
          <a:p>
            <a:pPr marL="0" marR="0" lvl="0" indent="0" algn="l" rtl="0">
              <a:lnSpc>
                <a:spcPct val="115000"/>
              </a:lnSpc>
              <a:spcBef>
                <a:spcPts val="0"/>
              </a:spcBef>
              <a:spcAft>
                <a:spcPts val="0"/>
              </a:spcAft>
              <a:buNone/>
            </a:pPr>
            <a:endParaRPr lang="en-US" altLang="ja-JP">
              <a:solidFill>
                <a:schemeClr val="tx1">
                  <a:lumMod val="65000"/>
                  <a:lumOff val="35000"/>
                </a:schemeClr>
              </a:solidFill>
              <a:latin typeface="Meiryo"/>
              <a:ea typeface="Meiryo"/>
              <a:cs typeface="Meiryo"/>
              <a:sym typeface="Meiryo"/>
            </a:endParaRPr>
          </a:p>
          <a:p>
            <a:pPr marL="0" marR="0" lvl="0" indent="0" algn="l" rtl="0">
              <a:lnSpc>
                <a:spcPct val="115000"/>
              </a:lnSpc>
              <a:spcBef>
                <a:spcPts val="0"/>
              </a:spcBef>
              <a:spcAft>
                <a:spcPts val="0"/>
              </a:spcAft>
              <a:buNone/>
            </a:pPr>
            <a:r>
              <a:rPr lang="ja-JP" altLang="en-US" b="1" u="sng">
                <a:solidFill>
                  <a:schemeClr val="tx1">
                    <a:lumMod val="65000"/>
                    <a:lumOff val="35000"/>
                  </a:schemeClr>
                </a:solidFill>
                <a:latin typeface="Meiryo"/>
                <a:ea typeface="Meiryo"/>
                <a:cs typeface="Meiryo"/>
                <a:sym typeface="Meiryo"/>
              </a:rPr>
              <a:t>当初の予定</a:t>
            </a:r>
            <a:endParaRPr lang="en-US" altLang="ja-JP" b="1" u="sng">
              <a:solidFill>
                <a:schemeClr val="tx1">
                  <a:lumMod val="65000"/>
                  <a:lumOff val="35000"/>
                </a:schemeClr>
              </a:solidFill>
              <a:latin typeface="Meiryo"/>
              <a:ea typeface="Meiryo"/>
              <a:cs typeface="Meiryo"/>
              <a:sym typeface="Meiryo"/>
            </a:endParaRPr>
          </a:p>
          <a:p>
            <a:pPr>
              <a:lnSpc>
                <a:spcPct val="115000"/>
              </a:lnSpc>
              <a:spcBef>
                <a:spcPts val="0"/>
              </a:spcBef>
              <a:spcAft>
                <a:spcPts val="0"/>
              </a:spcAft>
            </a:pPr>
            <a:r>
              <a:rPr lang="ja-JP" altLang="en-US">
                <a:solidFill>
                  <a:schemeClr val="tx1">
                    <a:lumMod val="65000"/>
                    <a:lumOff val="35000"/>
                  </a:schemeClr>
                </a:solidFill>
                <a:latin typeface="Meiryo"/>
                <a:ea typeface="Meiryo"/>
                <a:cs typeface="Meiryo"/>
                <a:sym typeface="Meiryo"/>
              </a:rPr>
              <a:t>・基幹システムUの方で、</a:t>
            </a:r>
            <a:r>
              <a:rPr lang="en-US" altLang="ja-JP">
                <a:solidFill>
                  <a:schemeClr val="tx1">
                    <a:lumMod val="65000"/>
                    <a:lumOff val="35000"/>
                  </a:schemeClr>
                </a:solidFill>
                <a:latin typeface="Meiryo"/>
                <a:ea typeface="Meiryo"/>
                <a:cs typeface="Meiryo"/>
                <a:sym typeface="Meiryo"/>
              </a:rPr>
              <a:t>Win11</a:t>
            </a:r>
            <a:r>
              <a:rPr lang="ja-JP" altLang="en-US">
                <a:solidFill>
                  <a:schemeClr val="tx1">
                    <a:lumMod val="65000"/>
                    <a:lumOff val="35000"/>
                  </a:schemeClr>
                </a:solidFill>
                <a:latin typeface="Meiryo"/>
                <a:ea typeface="Meiryo"/>
                <a:cs typeface="Meiryo"/>
                <a:sym typeface="Meiryo"/>
              </a:rPr>
              <a:t>対応を実施する計画となっている</a:t>
            </a:r>
            <a:br>
              <a:rPr lang="en-US" altLang="ja-JP">
                <a:latin typeface="Meiryo"/>
                <a:ea typeface="Meiryo"/>
                <a:cs typeface="Meiryo"/>
              </a:rPr>
            </a:br>
            <a:r>
              <a:rPr lang="ja-JP" altLang="en-US">
                <a:solidFill>
                  <a:schemeClr val="tx1">
                    <a:lumMod val="65000"/>
                    <a:lumOff val="35000"/>
                  </a:schemeClr>
                </a:solidFill>
                <a:latin typeface="Meiryo"/>
                <a:ea typeface="Meiryo"/>
                <a:cs typeface="Meiryo"/>
                <a:sym typeface="Meiryo"/>
              </a:rPr>
              <a:t>・JKK 基盤Uの方で、</a:t>
            </a:r>
            <a:r>
              <a:rPr lang="en-US" altLang="ja-JP">
                <a:solidFill>
                  <a:schemeClr val="tx1">
                    <a:lumMod val="65000"/>
                    <a:lumOff val="35000"/>
                  </a:schemeClr>
                </a:solidFill>
                <a:latin typeface="Meiryo"/>
                <a:ea typeface="Meiryo"/>
                <a:cs typeface="Meiryo"/>
                <a:sym typeface="Meiryo"/>
              </a:rPr>
              <a:t>JKK</a:t>
            </a:r>
            <a:r>
              <a:rPr lang="ja-JP" altLang="en-US">
                <a:solidFill>
                  <a:schemeClr val="tx1">
                    <a:lumMod val="65000"/>
                    <a:lumOff val="35000"/>
                  </a:schemeClr>
                </a:solidFill>
                <a:latin typeface="Meiryo"/>
                <a:ea typeface="Meiryo"/>
                <a:cs typeface="Meiryo"/>
                <a:sym typeface="Meiryo"/>
              </a:rPr>
              <a:t>対応によるツール改修をスコープとしている</a:t>
            </a:r>
            <a:endParaRPr lang="en-US" altLang="ja-JP">
              <a:solidFill>
                <a:schemeClr val="tx1">
                  <a:lumMod val="65000"/>
                  <a:lumOff val="35000"/>
                </a:schemeClr>
              </a:solidFill>
              <a:latin typeface="Meiryo"/>
              <a:ea typeface="Meiryo"/>
              <a:cs typeface="Meiryo"/>
              <a:sym typeface="Meiryo"/>
            </a:endParaRPr>
          </a:p>
          <a:p>
            <a:pPr>
              <a:lnSpc>
                <a:spcPct val="114999"/>
              </a:lnSpc>
              <a:spcBef>
                <a:spcPts val="0"/>
              </a:spcBef>
              <a:spcAft>
                <a:spcPts val="0"/>
              </a:spcAft>
            </a:pPr>
            <a:r>
              <a:rPr lang="ja-JP" altLang="en-US">
                <a:solidFill>
                  <a:schemeClr val="tx1">
                    <a:lumMod val="65000"/>
                    <a:lumOff val="35000"/>
                  </a:schemeClr>
                </a:solidFill>
                <a:latin typeface="Meiryo"/>
                <a:ea typeface="Meiryo"/>
                <a:cs typeface="Meiryo"/>
                <a:sym typeface="Meiryo"/>
              </a:rPr>
              <a:t>・</a:t>
            </a:r>
            <a:r>
              <a:rPr lang="en-US" altLang="ja-JP" err="1">
                <a:solidFill>
                  <a:schemeClr val="tx1">
                    <a:lumMod val="65000"/>
                    <a:lumOff val="35000"/>
                  </a:schemeClr>
                </a:solidFill>
                <a:latin typeface="Meiryo"/>
                <a:ea typeface="Meiryo"/>
                <a:cs typeface="Meiryo"/>
                <a:sym typeface="Meiryo"/>
              </a:rPr>
              <a:t>JKKでは</a:t>
            </a:r>
            <a:r>
              <a:rPr lang="ja-JP" altLang="en-US">
                <a:solidFill>
                  <a:schemeClr val="tx1">
                    <a:lumMod val="65000"/>
                    <a:lumOff val="35000"/>
                  </a:schemeClr>
                </a:solidFill>
                <a:latin typeface="Meiryo"/>
                <a:ea typeface="Meiryo"/>
                <a:cs typeface="Meiryo"/>
                <a:sym typeface="Meiryo"/>
              </a:rPr>
              <a:t> MS ACCESS等 クライアント依存のツールから、OS依存しないクラウドソリューションへ変更する</a:t>
            </a:r>
            <a:endParaRPr lang="en-US" altLang="ja-JP" b="1" u="sng">
              <a:solidFill>
                <a:schemeClr val="tx1">
                  <a:lumMod val="65000"/>
                  <a:lumOff val="35000"/>
                </a:schemeClr>
              </a:solidFill>
              <a:latin typeface="Meiryo"/>
              <a:ea typeface="Meiryo"/>
              <a:cs typeface="Meiryo"/>
              <a:sym typeface="Meiryo"/>
            </a:endParaRPr>
          </a:p>
          <a:p>
            <a:pPr>
              <a:lnSpc>
                <a:spcPct val="114999"/>
              </a:lnSpc>
              <a:spcBef>
                <a:spcPts val="0"/>
              </a:spcBef>
              <a:spcAft>
                <a:spcPts val="0"/>
              </a:spcAft>
            </a:pPr>
            <a:endParaRPr lang="ja-JP" altLang="en-US">
              <a:solidFill>
                <a:schemeClr val="tx1">
                  <a:lumMod val="65000"/>
                  <a:lumOff val="35000"/>
                </a:schemeClr>
              </a:solidFill>
              <a:latin typeface="Meiryo"/>
              <a:ea typeface="Meiryo"/>
              <a:cs typeface="Meiryo"/>
              <a:sym typeface="Meiryo"/>
            </a:endParaRPr>
          </a:p>
          <a:p>
            <a:pPr>
              <a:lnSpc>
                <a:spcPct val="114999"/>
              </a:lnSpc>
              <a:spcBef>
                <a:spcPts val="0"/>
              </a:spcBef>
              <a:spcAft>
                <a:spcPts val="0"/>
              </a:spcAft>
            </a:pPr>
            <a:r>
              <a:rPr lang="ja-JP" altLang="en-US" b="1" u="sng">
                <a:solidFill>
                  <a:schemeClr val="tx1">
                    <a:lumMod val="65000"/>
                    <a:lumOff val="35000"/>
                  </a:schemeClr>
                </a:solidFill>
                <a:latin typeface="Meiryo"/>
                <a:ea typeface="Meiryo"/>
                <a:cs typeface="Meiryo"/>
                <a:sym typeface="Meiryo"/>
              </a:rPr>
              <a:t>他プロジェクトの動き</a:t>
            </a:r>
            <a:endParaRPr lang="en-US" altLang="ja-JP" b="1" u="sng">
              <a:solidFill>
                <a:schemeClr val="tx1">
                  <a:lumMod val="65000"/>
                  <a:lumOff val="35000"/>
                </a:schemeClr>
              </a:solidFill>
              <a:latin typeface="Meiryo"/>
              <a:ea typeface="Meiryo"/>
              <a:cs typeface="Meiryo"/>
            </a:endParaRPr>
          </a:p>
          <a:p>
            <a:pPr>
              <a:lnSpc>
                <a:spcPct val="115000"/>
              </a:lnSpc>
              <a:spcBef>
                <a:spcPts val="0"/>
              </a:spcBef>
              <a:spcAft>
                <a:spcPts val="0"/>
              </a:spcAft>
            </a:pPr>
            <a:r>
              <a:rPr lang="ja-JP" altLang="en-US">
                <a:solidFill>
                  <a:schemeClr val="tx1">
                    <a:lumMod val="65000"/>
                    <a:lumOff val="35000"/>
                  </a:schemeClr>
                </a:solidFill>
                <a:latin typeface="Meiryo"/>
                <a:ea typeface="Meiryo"/>
                <a:cs typeface="Meiryo"/>
                <a:sym typeface="Meiryo"/>
              </a:rPr>
              <a:t>・</a:t>
            </a:r>
            <a:r>
              <a:rPr lang="en-US" altLang="ja-JP">
                <a:solidFill>
                  <a:schemeClr val="tx1">
                    <a:lumMod val="65000"/>
                    <a:lumOff val="35000"/>
                  </a:schemeClr>
                </a:solidFill>
                <a:latin typeface="Meiryo"/>
                <a:ea typeface="Meiryo"/>
                <a:cs typeface="Meiryo"/>
                <a:sym typeface="Meiryo"/>
              </a:rPr>
              <a:t>Rogue One </a:t>
            </a:r>
            <a:r>
              <a:rPr lang="en-US" altLang="ja-JP" err="1">
                <a:solidFill>
                  <a:schemeClr val="tx1">
                    <a:lumMod val="65000"/>
                    <a:lumOff val="35000"/>
                  </a:schemeClr>
                </a:solidFill>
                <a:latin typeface="Meiryo"/>
                <a:ea typeface="Meiryo"/>
                <a:cs typeface="Meiryo"/>
                <a:sym typeface="Meiryo"/>
              </a:rPr>
              <a:t>プロジェクトが進行している事もあり、既存ツールの改修は実施しない方向としている</a:t>
            </a:r>
            <a:endParaRPr lang="en-US" altLang="ja-JP" i="0" u="none" strike="noStrike" cap="none" err="1">
              <a:solidFill>
                <a:schemeClr val="tx1">
                  <a:lumMod val="65000"/>
                  <a:lumOff val="35000"/>
                </a:schemeClr>
              </a:solidFill>
              <a:latin typeface="Meiryo"/>
              <a:ea typeface="Meiryo"/>
              <a:cs typeface="Meiryo"/>
            </a:endParaRPr>
          </a:p>
        </p:txBody>
      </p:sp>
      <p:sp>
        <p:nvSpPr>
          <p:cNvPr id="6" name="正方形/長方形 5">
            <a:extLst>
              <a:ext uri="{FF2B5EF4-FFF2-40B4-BE49-F238E27FC236}">
                <a16:creationId xmlns:a16="http://schemas.microsoft.com/office/drawing/2014/main" id="{165B8A07-D0DD-60A1-0A22-4D149C223C49}"/>
              </a:ext>
            </a:extLst>
          </p:cNvPr>
          <p:cNvSpPr/>
          <p:nvPr/>
        </p:nvSpPr>
        <p:spPr>
          <a:xfrm>
            <a:off x="8681339" y="907220"/>
            <a:ext cx="3004970" cy="1609403"/>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kumimoji="1" lang="en-US" altLang="ja-JP" sz="1400" dirty="0">
                <a:solidFill>
                  <a:schemeClr val="accent4">
                    <a:lumMod val="65000"/>
                    <a:lumOff val="35000"/>
                  </a:schemeClr>
                </a:solidFill>
                <a:latin typeface="+mn-ea"/>
                <a:cs typeface="Hiragino Kaku Gothic Pro W3" charset="-128"/>
              </a:rPr>
              <a:t>Win11</a:t>
            </a:r>
            <a:r>
              <a:rPr kumimoji="1" lang="ja-JP" altLang="en-US" sz="1400" dirty="0">
                <a:solidFill>
                  <a:schemeClr val="accent4">
                    <a:lumMod val="65000"/>
                    <a:lumOff val="35000"/>
                  </a:schemeClr>
                </a:solidFill>
                <a:latin typeface="+mn-ea"/>
                <a:cs typeface="Hiragino Kaku Gothic Pro W3" charset="-128"/>
              </a:rPr>
              <a:t>対応と</a:t>
            </a:r>
            <a:r>
              <a:rPr kumimoji="1" lang="en-US" altLang="ja-JP" sz="1400" dirty="0">
                <a:solidFill>
                  <a:schemeClr val="accent4">
                    <a:lumMod val="65000"/>
                    <a:lumOff val="35000"/>
                  </a:schemeClr>
                </a:solidFill>
                <a:latin typeface="+mn-ea"/>
                <a:cs typeface="Hiragino Kaku Gothic Pro W3" charset="-128"/>
              </a:rPr>
              <a:t>JKK</a:t>
            </a:r>
            <a:r>
              <a:rPr kumimoji="1" lang="ja-JP" altLang="en-US" sz="1400" dirty="0">
                <a:solidFill>
                  <a:schemeClr val="accent4">
                    <a:lumMod val="65000"/>
                    <a:lumOff val="35000"/>
                  </a:schemeClr>
                </a:solidFill>
                <a:latin typeface="+mn-ea"/>
                <a:cs typeface="Hiragino Kaku Gothic Pro W3" charset="-128"/>
              </a:rPr>
              <a:t>対応の不足分を追加する</a:t>
            </a:r>
          </a:p>
        </p:txBody>
      </p:sp>
    </p:spTree>
    <p:extLst>
      <p:ext uri="{BB962C8B-B14F-4D97-AF65-F5344CB8AC3E}">
        <p14:creationId xmlns:p14="http://schemas.microsoft.com/office/powerpoint/2010/main" val="2299606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プロジェクトスコープ</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6</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ja-JP" altLang="en-US" dirty="0">
                <a:solidFill>
                  <a:schemeClr val="tx1">
                    <a:lumMod val="65000"/>
                    <a:lumOff val="35000"/>
                  </a:schemeClr>
                </a:solidFill>
                <a:latin typeface="Meiryo"/>
                <a:ea typeface="Meiryo"/>
                <a:cs typeface="Meiryo"/>
                <a:sym typeface="Meiryo"/>
              </a:rPr>
              <a:t>本プロジェクトでは事業と経理の</a:t>
            </a:r>
            <a:r>
              <a:rPr lang="en-US" altLang="ja-JP" dirty="0">
                <a:solidFill>
                  <a:schemeClr val="tx1">
                    <a:lumMod val="65000"/>
                    <a:lumOff val="35000"/>
                  </a:schemeClr>
                </a:solidFill>
                <a:latin typeface="Meiryo"/>
                <a:ea typeface="Meiryo"/>
                <a:cs typeface="Meiryo"/>
                <a:sym typeface="Meiryo"/>
              </a:rPr>
              <a:t>BI</a:t>
            </a:r>
            <a:r>
              <a:rPr lang="ja-JP" altLang="en-US" dirty="0">
                <a:solidFill>
                  <a:schemeClr val="tx1">
                    <a:lumMod val="65000"/>
                    <a:lumOff val="35000"/>
                  </a:schemeClr>
                </a:solidFill>
                <a:latin typeface="Meiryo"/>
                <a:ea typeface="Meiryo"/>
                <a:cs typeface="Meiryo"/>
                <a:sym typeface="Meiryo"/>
              </a:rPr>
              <a:t>ツールの</a:t>
            </a:r>
            <a:r>
              <a:rPr lang="en-US" altLang="ja-JP" dirty="0">
                <a:solidFill>
                  <a:schemeClr val="tx1">
                    <a:lumMod val="65000"/>
                    <a:lumOff val="35000"/>
                  </a:schemeClr>
                </a:solidFill>
                <a:latin typeface="Meiryo"/>
                <a:ea typeface="Meiryo"/>
                <a:cs typeface="Meiryo"/>
                <a:sym typeface="Meiryo"/>
              </a:rPr>
              <a:t>JKK1</a:t>
            </a:r>
            <a:r>
              <a:rPr lang="ja-JP" altLang="en-US" dirty="0">
                <a:solidFill>
                  <a:schemeClr val="tx1">
                    <a:lumMod val="65000"/>
                    <a:lumOff val="35000"/>
                  </a:schemeClr>
                </a:solidFill>
                <a:latin typeface="Meiryo"/>
                <a:ea typeface="Meiryo"/>
                <a:cs typeface="Meiryo"/>
                <a:sym typeface="Meiryo"/>
              </a:rPr>
              <a:t>丁目までをスコープとしている。</a:t>
            </a:r>
            <a:endParaRPr lang="en-US" altLang="ja-JP" dirty="0">
              <a:solidFill>
                <a:schemeClr val="tx1">
                  <a:lumMod val="65000"/>
                  <a:lumOff val="35000"/>
                </a:schemeClr>
              </a:solidFill>
              <a:latin typeface="Meiryo"/>
              <a:ea typeface="Meiryo"/>
              <a:cs typeface="Meiryo"/>
              <a:sym typeface="Meiryo"/>
            </a:endParaRPr>
          </a:p>
        </p:txBody>
      </p:sp>
      <p:grpSp>
        <p:nvGrpSpPr>
          <p:cNvPr id="129" name="グループ化 128">
            <a:extLst>
              <a:ext uri="{FF2B5EF4-FFF2-40B4-BE49-F238E27FC236}">
                <a16:creationId xmlns:a16="http://schemas.microsoft.com/office/drawing/2014/main" id="{0B0EEA4E-E88E-D810-0DE2-3868838A5B06}"/>
              </a:ext>
            </a:extLst>
          </p:cNvPr>
          <p:cNvGrpSpPr/>
          <p:nvPr/>
        </p:nvGrpSpPr>
        <p:grpSpPr>
          <a:xfrm>
            <a:off x="334662" y="2422807"/>
            <a:ext cx="11522677" cy="2537322"/>
            <a:chOff x="224989" y="2591100"/>
            <a:chExt cx="11522677" cy="2537322"/>
          </a:xfrm>
        </p:grpSpPr>
        <p:grpSp>
          <p:nvGrpSpPr>
            <p:cNvPr id="6" name="グループ化 5">
              <a:extLst>
                <a:ext uri="{FF2B5EF4-FFF2-40B4-BE49-F238E27FC236}">
                  <a16:creationId xmlns:a16="http://schemas.microsoft.com/office/drawing/2014/main" id="{0B402B6C-3F9A-E7FE-AE9B-CEF07BD61B7A}"/>
                </a:ext>
              </a:extLst>
            </p:cNvPr>
            <p:cNvGrpSpPr/>
            <p:nvPr/>
          </p:nvGrpSpPr>
          <p:grpSpPr>
            <a:xfrm>
              <a:off x="224989" y="2591100"/>
              <a:ext cx="5400000" cy="2537322"/>
              <a:chOff x="260499" y="1768437"/>
              <a:chExt cx="5400000" cy="2537322"/>
            </a:xfrm>
          </p:grpSpPr>
          <p:sp>
            <p:nvSpPr>
              <p:cNvPr id="7" name="正方形/長方形 6">
                <a:extLst>
                  <a:ext uri="{FF2B5EF4-FFF2-40B4-BE49-F238E27FC236}">
                    <a16:creationId xmlns:a16="http://schemas.microsoft.com/office/drawing/2014/main" id="{7422FBDF-B7EA-EF9F-5461-3509EFD47138}"/>
                  </a:ext>
                </a:extLst>
              </p:cNvPr>
              <p:cNvSpPr/>
              <p:nvPr/>
            </p:nvSpPr>
            <p:spPr>
              <a:xfrm>
                <a:off x="260499" y="1972520"/>
                <a:ext cx="5400000" cy="2333239"/>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200">
                  <a:solidFill>
                    <a:schemeClr val="bg1"/>
                  </a:solidFill>
                  <a:latin typeface="+mj-lt"/>
                  <a:ea typeface="Meiryo UI" panose="020B0604030504040204" pitchFamily="50" charset="-128"/>
                </a:endParaRPr>
              </a:p>
            </p:txBody>
          </p:sp>
          <p:sp>
            <p:nvSpPr>
              <p:cNvPr id="9" name="正方形/長方形 8">
                <a:extLst>
                  <a:ext uri="{FF2B5EF4-FFF2-40B4-BE49-F238E27FC236}">
                    <a16:creationId xmlns:a16="http://schemas.microsoft.com/office/drawing/2014/main" id="{C8C9E66F-FAA9-70AD-653B-CA7BB72D9DFB}"/>
                  </a:ext>
                </a:extLst>
              </p:cNvPr>
              <p:cNvSpPr/>
              <p:nvPr/>
            </p:nvSpPr>
            <p:spPr>
              <a:xfrm>
                <a:off x="260499" y="1768437"/>
                <a:ext cx="5400000" cy="202310"/>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200">
                    <a:solidFill>
                      <a:schemeClr val="bg1"/>
                    </a:solidFill>
                    <a:latin typeface="+mj-lt"/>
                    <a:ea typeface="Meiryo UI" panose="020B0604030504040204" pitchFamily="50" charset="-128"/>
                  </a:rPr>
                  <a:t>現在</a:t>
                </a:r>
              </a:p>
            </p:txBody>
          </p:sp>
          <p:grpSp>
            <p:nvGrpSpPr>
              <p:cNvPr id="10" name="グループ化 9">
                <a:extLst>
                  <a:ext uri="{FF2B5EF4-FFF2-40B4-BE49-F238E27FC236}">
                    <a16:creationId xmlns:a16="http://schemas.microsoft.com/office/drawing/2014/main" id="{2D5A0B0F-362B-FD84-8716-6D51CE1FDC95}"/>
                  </a:ext>
                </a:extLst>
              </p:cNvPr>
              <p:cNvGrpSpPr/>
              <p:nvPr/>
            </p:nvGrpSpPr>
            <p:grpSpPr>
              <a:xfrm>
                <a:off x="1809083" y="2322113"/>
                <a:ext cx="3093645" cy="1858004"/>
                <a:chOff x="3928841" y="2696703"/>
                <a:chExt cx="5611471" cy="3867171"/>
              </a:xfrm>
            </p:grpSpPr>
            <p:cxnSp>
              <p:nvCxnSpPr>
                <p:cNvPr id="55" name="直線コネクタ 54">
                  <a:extLst>
                    <a:ext uri="{FF2B5EF4-FFF2-40B4-BE49-F238E27FC236}">
                      <a16:creationId xmlns:a16="http://schemas.microsoft.com/office/drawing/2014/main" id="{4EA3F112-D599-BFC0-672E-2980B64B9AAB}"/>
                    </a:ext>
                  </a:extLst>
                </p:cNvPr>
                <p:cNvCxnSpPr>
                  <a:cxnSpLocks/>
                </p:cNvCxnSpPr>
                <p:nvPr/>
              </p:nvCxnSpPr>
              <p:spPr>
                <a:xfrm>
                  <a:off x="3928841"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A76123BB-22C3-E6C8-AB30-D4A34748F1B0}"/>
                    </a:ext>
                  </a:extLst>
                </p:cNvPr>
                <p:cNvCxnSpPr>
                  <a:cxnSpLocks/>
                </p:cNvCxnSpPr>
                <p:nvPr/>
              </p:nvCxnSpPr>
              <p:spPr>
                <a:xfrm>
                  <a:off x="5331708"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33B3C9B4-02CD-341D-9EEE-FDFDA429D8F1}"/>
                    </a:ext>
                  </a:extLst>
                </p:cNvPr>
                <p:cNvCxnSpPr>
                  <a:cxnSpLocks/>
                </p:cNvCxnSpPr>
                <p:nvPr/>
              </p:nvCxnSpPr>
              <p:spPr>
                <a:xfrm>
                  <a:off x="6734577"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62BC8AC9-BBD8-325E-3E5D-C1B5D7142408}"/>
                    </a:ext>
                  </a:extLst>
                </p:cNvPr>
                <p:cNvCxnSpPr>
                  <a:cxnSpLocks/>
                </p:cNvCxnSpPr>
                <p:nvPr/>
              </p:nvCxnSpPr>
              <p:spPr>
                <a:xfrm>
                  <a:off x="8137445"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1CAA7746-1638-52A1-7A3F-DA72460FC6E1}"/>
                    </a:ext>
                  </a:extLst>
                </p:cNvPr>
                <p:cNvCxnSpPr>
                  <a:cxnSpLocks/>
                </p:cNvCxnSpPr>
                <p:nvPr/>
              </p:nvCxnSpPr>
              <p:spPr>
                <a:xfrm>
                  <a:off x="9540312"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1" name="グループ化 10">
                <a:extLst>
                  <a:ext uri="{FF2B5EF4-FFF2-40B4-BE49-F238E27FC236}">
                    <a16:creationId xmlns:a16="http://schemas.microsoft.com/office/drawing/2014/main" id="{265898F4-6457-B81F-4520-C601F11A6BE0}"/>
                  </a:ext>
                </a:extLst>
              </p:cNvPr>
              <p:cNvGrpSpPr/>
              <p:nvPr/>
            </p:nvGrpSpPr>
            <p:grpSpPr>
              <a:xfrm>
                <a:off x="1088183" y="2076597"/>
                <a:ext cx="668391" cy="153837"/>
                <a:chOff x="603818" y="1990672"/>
                <a:chExt cx="1915281" cy="258572"/>
              </a:xfrm>
            </p:grpSpPr>
            <p:cxnSp>
              <p:nvCxnSpPr>
                <p:cNvPr id="53" name="直線コネクタ 52">
                  <a:extLst>
                    <a:ext uri="{FF2B5EF4-FFF2-40B4-BE49-F238E27FC236}">
                      <a16:creationId xmlns:a16="http://schemas.microsoft.com/office/drawing/2014/main" id="{5902636D-41AE-8CC4-1B80-BDF8EED6F7E1}"/>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4" name="正方形/長方形 53">
                  <a:extLst>
                    <a:ext uri="{FF2B5EF4-FFF2-40B4-BE49-F238E27FC236}">
                      <a16:creationId xmlns:a16="http://schemas.microsoft.com/office/drawing/2014/main" id="{ED52B1B3-3683-0FF6-38EF-E23F5E9ECEFF}"/>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データ生成</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grpSp>
            <p:nvGrpSpPr>
              <p:cNvPr id="12" name="グループ化 11">
                <a:extLst>
                  <a:ext uri="{FF2B5EF4-FFF2-40B4-BE49-F238E27FC236}">
                    <a16:creationId xmlns:a16="http://schemas.microsoft.com/office/drawing/2014/main" id="{A3C32907-A4DA-B2C1-2FEE-8DBFAC4C6B5E}"/>
                  </a:ext>
                </a:extLst>
              </p:cNvPr>
              <p:cNvGrpSpPr/>
              <p:nvPr/>
            </p:nvGrpSpPr>
            <p:grpSpPr>
              <a:xfrm>
                <a:off x="1861592" y="2076597"/>
                <a:ext cx="2214743" cy="153837"/>
                <a:chOff x="603818" y="1990672"/>
                <a:chExt cx="1915281" cy="258572"/>
              </a:xfrm>
            </p:grpSpPr>
            <p:cxnSp>
              <p:nvCxnSpPr>
                <p:cNvPr id="51" name="直線コネクタ 50">
                  <a:extLst>
                    <a:ext uri="{FF2B5EF4-FFF2-40B4-BE49-F238E27FC236}">
                      <a16:creationId xmlns:a16="http://schemas.microsoft.com/office/drawing/2014/main" id="{23649FB0-0667-28A7-A4C2-53796F22B542}"/>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2" name="正方形/長方形 51">
                  <a:extLst>
                    <a:ext uri="{FF2B5EF4-FFF2-40B4-BE49-F238E27FC236}">
                      <a16:creationId xmlns:a16="http://schemas.microsoft.com/office/drawing/2014/main" id="{C767774A-DB99-44F9-AC50-E2D81CE0501A}"/>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データ集計・蓄積・整形</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grpSp>
            <p:nvGrpSpPr>
              <p:cNvPr id="13" name="グループ化 12">
                <a:extLst>
                  <a:ext uri="{FF2B5EF4-FFF2-40B4-BE49-F238E27FC236}">
                    <a16:creationId xmlns:a16="http://schemas.microsoft.com/office/drawing/2014/main" id="{BDA1ECD1-BBF1-1C1A-B379-24C9F6081A1B}"/>
                  </a:ext>
                </a:extLst>
              </p:cNvPr>
              <p:cNvGrpSpPr/>
              <p:nvPr/>
            </p:nvGrpSpPr>
            <p:grpSpPr>
              <a:xfrm>
                <a:off x="4181353" y="2076597"/>
                <a:ext cx="1442277" cy="153837"/>
                <a:chOff x="603818" y="1990672"/>
                <a:chExt cx="1915281" cy="258572"/>
              </a:xfrm>
            </p:grpSpPr>
            <p:cxnSp>
              <p:nvCxnSpPr>
                <p:cNvPr id="49" name="直線コネクタ 48">
                  <a:extLst>
                    <a:ext uri="{FF2B5EF4-FFF2-40B4-BE49-F238E27FC236}">
                      <a16:creationId xmlns:a16="http://schemas.microsoft.com/office/drawing/2014/main" id="{74D5FBFC-ED41-ACC5-8E0C-D61514F44468}"/>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0" name="正方形/長方形 49">
                  <a:extLst>
                    <a:ext uri="{FF2B5EF4-FFF2-40B4-BE49-F238E27FC236}">
                      <a16:creationId xmlns:a16="http://schemas.microsoft.com/office/drawing/2014/main" id="{F49FA89B-998A-D4DE-684F-0D267E91E006}"/>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データ利用</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sp>
            <p:nvSpPr>
              <p:cNvPr id="14" name="正方形/長方形 13">
                <a:extLst>
                  <a:ext uri="{FF2B5EF4-FFF2-40B4-BE49-F238E27FC236}">
                    <a16:creationId xmlns:a16="http://schemas.microsoft.com/office/drawing/2014/main" id="{C517F4C0-FD3E-E315-F34B-60509EF9D6B2}"/>
                  </a:ext>
                </a:extLst>
              </p:cNvPr>
              <p:cNvSpPr/>
              <p:nvPr/>
            </p:nvSpPr>
            <p:spPr>
              <a:xfrm>
                <a:off x="1088183"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データ元</a:t>
                </a:r>
              </a:p>
            </p:txBody>
          </p:sp>
          <p:sp>
            <p:nvSpPr>
              <p:cNvPr id="15" name="正方形/長方形 14">
                <a:extLst>
                  <a:ext uri="{FF2B5EF4-FFF2-40B4-BE49-F238E27FC236}">
                    <a16:creationId xmlns:a16="http://schemas.microsoft.com/office/drawing/2014/main" id="{29594794-F3CF-BB62-C127-83A0C6EDC0BF}"/>
                  </a:ext>
                </a:extLst>
              </p:cNvPr>
              <p:cNvSpPr/>
              <p:nvPr/>
            </p:nvSpPr>
            <p:spPr>
              <a:xfrm>
                <a:off x="2635003"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a:solidFill>
                      <a:schemeClr val="bg1"/>
                    </a:solidFill>
                    <a:latin typeface="+mj-lt"/>
                  </a:rPr>
                  <a:t>DWH</a:t>
                </a:r>
                <a:endParaRPr kumimoji="1" lang="ja-JP" altLang="en-US" sz="800">
                  <a:solidFill>
                    <a:schemeClr val="bg1"/>
                  </a:solidFill>
                  <a:latin typeface="+mj-lt"/>
                </a:endParaRPr>
              </a:p>
            </p:txBody>
          </p:sp>
          <p:sp>
            <p:nvSpPr>
              <p:cNvPr id="16" name="正方形/長方形 15">
                <a:extLst>
                  <a:ext uri="{FF2B5EF4-FFF2-40B4-BE49-F238E27FC236}">
                    <a16:creationId xmlns:a16="http://schemas.microsoft.com/office/drawing/2014/main" id="{72F1B671-4C9F-E303-2035-B29B601E442E}"/>
                  </a:ext>
                </a:extLst>
              </p:cNvPr>
              <p:cNvSpPr/>
              <p:nvPr/>
            </p:nvSpPr>
            <p:spPr>
              <a:xfrm>
                <a:off x="3408415"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データマート</a:t>
                </a:r>
              </a:p>
            </p:txBody>
          </p:sp>
          <p:sp>
            <p:nvSpPr>
              <p:cNvPr id="17" name="正方形/長方形 16">
                <a:extLst>
                  <a:ext uri="{FF2B5EF4-FFF2-40B4-BE49-F238E27FC236}">
                    <a16:creationId xmlns:a16="http://schemas.microsoft.com/office/drawing/2014/main" id="{98D4EA87-DFE6-205A-A158-C72356AC6BD8}"/>
                  </a:ext>
                </a:extLst>
              </p:cNvPr>
              <p:cNvSpPr/>
              <p:nvPr/>
            </p:nvSpPr>
            <p:spPr>
              <a:xfrm>
                <a:off x="1861593"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集計</a:t>
                </a:r>
              </a:p>
            </p:txBody>
          </p:sp>
          <p:sp>
            <p:nvSpPr>
              <p:cNvPr id="18" name="正方形/長方形 17">
                <a:extLst>
                  <a:ext uri="{FF2B5EF4-FFF2-40B4-BE49-F238E27FC236}">
                    <a16:creationId xmlns:a16="http://schemas.microsoft.com/office/drawing/2014/main" id="{701265DA-B43B-7B1A-92FF-57A30A0EF995}"/>
                  </a:ext>
                </a:extLst>
              </p:cNvPr>
              <p:cNvSpPr/>
              <p:nvPr/>
            </p:nvSpPr>
            <p:spPr>
              <a:xfrm>
                <a:off x="4181826"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a:solidFill>
                      <a:schemeClr val="bg1"/>
                    </a:solidFill>
                    <a:latin typeface="+mj-lt"/>
                  </a:rPr>
                  <a:t>BI</a:t>
                </a:r>
                <a:r>
                  <a:rPr kumimoji="1" lang="ja-JP" altLang="en-US" sz="800">
                    <a:solidFill>
                      <a:schemeClr val="bg1"/>
                    </a:solidFill>
                    <a:latin typeface="+mj-lt"/>
                  </a:rPr>
                  <a:t>ツール</a:t>
                </a:r>
              </a:p>
            </p:txBody>
          </p:sp>
          <p:sp>
            <p:nvSpPr>
              <p:cNvPr id="19" name="正方形/長方形 18">
                <a:extLst>
                  <a:ext uri="{FF2B5EF4-FFF2-40B4-BE49-F238E27FC236}">
                    <a16:creationId xmlns:a16="http://schemas.microsoft.com/office/drawing/2014/main" id="{AA83703E-6EB9-080A-BAFE-5C611DC2FF98}"/>
                  </a:ext>
                </a:extLst>
              </p:cNvPr>
              <p:cNvSpPr/>
              <p:nvPr/>
            </p:nvSpPr>
            <p:spPr>
              <a:xfrm>
                <a:off x="4955238"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a:solidFill>
                      <a:schemeClr val="bg1"/>
                    </a:solidFill>
                    <a:latin typeface="+mj-lt"/>
                  </a:rPr>
                  <a:t>ユーザ</a:t>
                </a:r>
              </a:p>
            </p:txBody>
          </p:sp>
          <p:sp>
            <p:nvSpPr>
              <p:cNvPr id="20" name="正方形/長方形 19">
                <a:extLst>
                  <a:ext uri="{FF2B5EF4-FFF2-40B4-BE49-F238E27FC236}">
                    <a16:creationId xmlns:a16="http://schemas.microsoft.com/office/drawing/2014/main" id="{59470779-50DF-F5B3-D94E-53E5532304D7}"/>
                  </a:ext>
                </a:extLst>
              </p:cNvPr>
              <p:cNvSpPr/>
              <p:nvPr/>
            </p:nvSpPr>
            <p:spPr>
              <a:xfrm>
                <a:off x="526141" y="2904534"/>
                <a:ext cx="476862" cy="697086"/>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b="1">
                    <a:solidFill>
                      <a:schemeClr val="bg1"/>
                    </a:solidFill>
                    <a:latin typeface="+mj-lt"/>
                    <a:ea typeface="Meiryo UI" panose="020B0604030504040204" pitchFamily="50" charset="-128"/>
                  </a:rPr>
                  <a:t>財務会計</a:t>
                </a:r>
                <a:endParaRPr kumimoji="1" lang="en-US" altLang="ja-JP" sz="800" b="1">
                  <a:solidFill>
                    <a:schemeClr val="bg1"/>
                  </a:solidFill>
                  <a:latin typeface="+mj-lt"/>
                  <a:ea typeface="Meiryo UI" panose="020B0604030504040204" pitchFamily="50" charset="-128"/>
                </a:endParaRPr>
              </a:p>
            </p:txBody>
          </p:sp>
          <p:sp>
            <p:nvSpPr>
              <p:cNvPr id="21" name="正方形/長方形 20">
                <a:extLst>
                  <a:ext uri="{FF2B5EF4-FFF2-40B4-BE49-F238E27FC236}">
                    <a16:creationId xmlns:a16="http://schemas.microsoft.com/office/drawing/2014/main" id="{C611ED65-5D46-6980-AAA8-A800F6756FDB}"/>
                  </a:ext>
                </a:extLst>
              </p:cNvPr>
              <p:cNvSpPr/>
              <p:nvPr/>
            </p:nvSpPr>
            <p:spPr>
              <a:xfrm>
                <a:off x="526141" y="2587307"/>
                <a:ext cx="476862" cy="265382"/>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b="1">
                    <a:solidFill>
                      <a:schemeClr val="bg1"/>
                    </a:solidFill>
                    <a:latin typeface="+mj-lt"/>
                    <a:ea typeface="Meiryo UI" panose="020B0604030504040204" pitchFamily="50" charset="-128"/>
                  </a:rPr>
                  <a:t>管理会計</a:t>
                </a:r>
                <a:endParaRPr kumimoji="1" lang="en-US" altLang="ja-JP" sz="800" b="1">
                  <a:solidFill>
                    <a:schemeClr val="bg1"/>
                  </a:solidFill>
                  <a:latin typeface="+mj-lt"/>
                  <a:ea typeface="Meiryo UI" panose="020B0604030504040204" pitchFamily="50" charset="-128"/>
                </a:endParaRPr>
              </a:p>
            </p:txBody>
          </p:sp>
          <p:sp>
            <p:nvSpPr>
              <p:cNvPr id="22" name="正方形/長方形 21">
                <a:extLst>
                  <a:ext uri="{FF2B5EF4-FFF2-40B4-BE49-F238E27FC236}">
                    <a16:creationId xmlns:a16="http://schemas.microsoft.com/office/drawing/2014/main" id="{A3EC71ED-8EEE-9055-C2CC-9E0496F7FA0F}"/>
                  </a:ext>
                </a:extLst>
              </p:cNvPr>
              <p:cNvSpPr/>
              <p:nvPr/>
            </p:nvSpPr>
            <p:spPr>
              <a:xfrm>
                <a:off x="1088180" y="2604597"/>
                <a:ext cx="668392" cy="1364065"/>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Neo</a:t>
                </a:r>
              </a:p>
              <a:p>
                <a:pPr algn="ctr"/>
                <a:r>
                  <a:rPr lang="ja-JP" altLang="en-US" sz="800">
                    <a:solidFill>
                      <a:schemeClr val="tx1"/>
                    </a:solidFill>
                    <a:latin typeface="+mj-lt"/>
                  </a:rPr>
                  <a:t>事業</a:t>
                </a:r>
                <a:r>
                  <a:rPr lang="en-US" altLang="ja-JP" sz="800">
                    <a:solidFill>
                      <a:schemeClr val="tx1"/>
                    </a:solidFill>
                    <a:latin typeface="+mj-lt"/>
                  </a:rPr>
                  <a:t>Neo</a:t>
                </a:r>
              </a:p>
              <a:p>
                <a:pPr algn="ctr"/>
                <a:r>
                  <a:rPr lang="en-US" altLang="ja-JP" sz="800">
                    <a:solidFill>
                      <a:schemeClr val="tx1"/>
                    </a:solidFill>
                    <a:latin typeface="+mj-lt"/>
                  </a:rPr>
                  <a:t>PV</a:t>
                </a:r>
                <a:r>
                  <a:rPr lang="ja-JP" altLang="en-US" sz="800">
                    <a:solidFill>
                      <a:schemeClr val="tx1"/>
                    </a:solidFill>
                    <a:latin typeface="+mj-lt"/>
                  </a:rPr>
                  <a:t>システム</a:t>
                </a:r>
                <a:endParaRPr lang="en-US" altLang="ja-JP" sz="800">
                  <a:solidFill>
                    <a:schemeClr val="tx1"/>
                  </a:solidFill>
                  <a:latin typeface="+mj-lt"/>
                </a:endParaRPr>
              </a:p>
            </p:txBody>
          </p:sp>
          <p:sp>
            <p:nvSpPr>
              <p:cNvPr id="23" name="正方形/長方形 22">
                <a:extLst>
                  <a:ext uri="{FF2B5EF4-FFF2-40B4-BE49-F238E27FC236}">
                    <a16:creationId xmlns:a16="http://schemas.microsoft.com/office/drawing/2014/main" id="{FA868783-1FB4-C95F-BF5E-896F424CA216}"/>
                  </a:ext>
                </a:extLst>
              </p:cNvPr>
              <p:cNvSpPr/>
              <p:nvPr/>
            </p:nvSpPr>
            <p:spPr>
              <a:xfrm>
                <a:off x="1861592" y="2604597"/>
                <a:ext cx="1441802" cy="136278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RINDBERG</a:t>
                </a:r>
              </a:p>
            </p:txBody>
          </p:sp>
          <p:sp>
            <p:nvSpPr>
              <p:cNvPr id="24" name="正方形/長方形 23">
                <a:extLst>
                  <a:ext uri="{FF2B5EF4-FFF2-40B4-BE49-F238E27FC236}">
                    <a16:creationId xmlns:a16="http://schemas.microsoft.com/office/drawing/2014/main" id="{73B71BB3-15AD-FE54-75F5-AEAD1A390738}"/>
                  </a:ext>
                </a:extLst>
              </p:cNvPr>
              <p:cNvSpPr/>
              <p:nvPr/>
            </p:nvSpPr>
            <p:spPr>
              <a:xfrm>
                <a:off x="3407942" y="3328943"/>
                <a:ext cx="665893" cy="272677"/>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RINDBIRG</a:t>
                </a:r>
              </a:p>
              <a:p>
                <a:pPr algn="ctr"/>
                <a:r>
                  <a:rPr lang="en-US" altLang="ja-JP" sz="800">
                    <a:solidFill>
                      <a:schemeClr val="tx1"/>
                    </a:solidFill>
                    <a:latin typeface="+mj-lt"/>
                  </a:rPr>
                  <a:t>View</a:t>
                </a:r>
              </a:p>
            </p:txBody>
          </p:sp>
          <p:sp>
            <p:nvSpPr>
              <p:cNvPr id="25" name="正方形/長方形 24">
                <a:extLst>
                  <a:ext uri="{FF2B5EF4-FFF2-40B4-BE49-F238E27FC236}">
                    <a16:creationId xmlns:a16="http://schemas.microsoft.com/office/drawing/2014/main" id="{3F1EB53B-94CE-76E8-A996-1D9CE3446C52}"/>
                  </a:ext>
                </a:extLst>
              </p:cNvPr>
              <p:cNvSpPr/>
              <p:nvPr/>
            </p:nvSpPr>
            <p:spPr>
              <a:xfrm>
                <a:off x="3409900" y="2577327"/>
                <a:ext cx="668391"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a:solidFill>
                      <a:schemeClr val="tx1"/>
                    </a:solidFill>
                    <a:latin typeface="+mj-lt"/>
                  </a:rPr>
                  <a:t>RETMAS</a:t>
                </a:r>
              </a:p>
              <a:p>
                <a:pPr algn="ctr"/>
                <a:r>
                  <a:rPr lang="ja-JP" altLang="en-US" sz="600">
                    <a:solidFill>
                      <a:schemeClr val="tx1"/>
                    </a:solidFill>
                    <a:latin typeface="+mj-lt"/>
                  </a:rPr>
                  <a:t>（会計システム）</a:t>
                </a:r>
                <a:endParaRPr lang="en-US" altLang="ja-JP" sz="600">
                  <a:solidFill>
                    <a:schemeClr val="tx1"/>
                  </a:solidFill>
                  <a:latin typeface="+mj-lt"/>
                </a:endParaRPr>
              </a:p>
            </p:txBody>
          </p:sp>
          <p:sp>
            <p:nvSpPr>
              <p:cNvPr id="26" name="正方形/長方形 25">
                <a:extLst>
                  <a:ext uri="{FF2B5EF4-FFF2-40B4-BE49-F238E27FC236}">
                    <a16:creationId xmlns:a16="http://schemas.microsoft.com/office/drawing/2014/main" id="{344E4BE9-777C-1527-027F-E38EA3A6B4F0}"/>
                  </a:ext>
                </a:extLst>
              </p:cNvPr>
              <p:cNvSpPr/>
              <p:nvPr/>
            </p:nvSpPr>
            <p:spPr>
              <a:xfrm>
                <a:off x="4180879" y="2577327"/>
                <a:ext cx="668391"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a:solidFill>
                      <a:schemeClr val="tx1"/>
                    </a:solidFill>
                    <a:latin typeface="+mj-lt"/>
                  </a:rPr>
                  <a:t>データ</a:t>
                </a:r>
                <a:r>
                  <a:rPr lang="en-US" altLang="ja-JP" sz="800">
                    <a:solidFill>
                      <a:schemeClr val="tx1"/>
                    </a:solidFill>
                    <a:latin typeface="+mj-lt"/>
                  </a:rPr>
                  <a:t>DL</a:t>
                </a:r>
              </a:p>
              <a:p>
                <a:pPr algn="ctr"/>
                <a:r>
                  <a:rPr lang="ja-JP" altLang="en-US" sz="600">
                    <a:solidFill>
                      <a:schemeClr val="tx1"/>
                    </a:solidFill>
                    <a:latin typeface="+mj-lt"/>
                  </a:rPr>
                  <a:t>（手作業）</a:t>
                </a:r>
                <a:endParaRPr lang="en-US" altLang="ja-JP" sz="600">
                  <a:solidFill>
                    <a:schemeClr val="tx1"/>
                  </a:solidFill>
                  <a:latin typeface="+mj-lt"/>
                </a:endParaRPr>
              </a:p>
            </p:txBody>
          </p:sp>
          <p:sp>
            <p:nvSpPr>
              <p:cNvPr id="27" name="正方形/長方形 26">
                <a:extLst>
                  <a:ext uri="{FF2B5EF4-FFF2-40B4-BE49-F238E27FC236}">
                    <a16:creationId xmlns:a16="http://schemas.microsoft.com/office/drawing/2014/main" id="{29093AA8-521A-07C5-5244-1C8470F4A3C1}"/>
                  </a:ext>
                </a:extLst>
              </p:cNvPr>
              <p:cNvSpPr/>
              <p:nvPr/>
            </p:nvSpPr>
            <p:spPr>
              <a:xfrm>
                <a:off x="4955238" y="2577327"/>
                <a:ext cx="668391"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tx1"/>
                    </a:solidFill>
                    <a:latin typeface="+mj-lt"/>
                  </a:rPr>
                  <a:t>FPA &amp; </a:t>
                </a:r>
                <a:r>
                  <a:rPr lang="ja-JP" altLang="en-US" sz="800" dirty="0">
                    <a:solidFill>
                      <a:schemeClr val="tx1"/>
                    </a:solidFill>
                    <a:latin typeface="+mj-lt"/>
                  </a:rPr>
                  <a:t>収支</a:t>
                </a:r>
                <a:endParaRPr lang="en-US" altLang="ja-JP" sz="800" dirty="0">
                  <a:solidFill>
                    <a:schemeClr val="tx1"/>
                  </a:solidFill>
                  <a:latin typeface="+mj-lt"/>
                </a:endParaRPr>
              </a:p>
            </p:txBody>
          </p:sp>
          <p:cxnSp>
            <p:nvCxnSpPr>
              <p:cNvPr id="28" name="直線矢印コネクタ 27">
                <a:extLst>
                  <a:ext uri="{FF2B5EF4-FFF2-40B4-BE49-F238E27FC236}">
                    <a16:creationId xmlns:a16="http://schemas.microsoft.com/office/drawing/2014/main" id="{FAB95D30-8F4A-0075-43CC-00D7C826CA8C}"/>
                  </a:ext>
                </a:extLst>
              </p:cNvPr>
              <p:cNvCxnSpPr>
                <a:cxnSpLocks/>
              </p:cNvCxnSpPr>
              <p:nvPr/>
            </p:nvCxnSpPr>
            <p:spPr>
              <a:xfrm>
                <a:off x="4078292" y="2731572"/>
                <a:ext cx="102589"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二等辺三角形 127">
                <a:extLst>
                  <a:ext uri="{FF2B5EF4-FFF2-40B4-BE49-F238E27FC236}">
                    <a16:creationId xmlns:a16="http://schemas.microsoft.com/office/drawing/2014/main" id="{0C7B7969-5E3D-1B38-4A97-34DADE4D2976}"/>
                  </a:ext>
                </a:extLst>
              </p:cNvPr>
              <p:cNvSpPr/>
              <p:nvPr/>
            </p:nvSpPr>
            <p:spPr>
              <a:xfrm rot="5400000">
                <a:off x="1762393" y="2137042"/>
                <a:ext cx="93377" cy="32946"/>
              </a:xfrm>
              <a:prstGeom prst="triangle">
                <a:avLst/>
              </a:prstGeom>
              <a:solidFill>
                <a:schemeClr val="bg1">
                  <a:lumMod val="75000"/>
                </a:schemeClr>
              </a:solidFill>
              <a:ln w="9525">
                <a:solidFill>
                  <a:srgbClr val="B4B4B4"/>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a:endParaRPr kumimoji="1" lang="ja-JP" altLang="en-US" sz="800">
                  <a:solidFill>
                    <a:schemeClr val="accent4">
                      <a:lumMod val="65000"/>
                      <a:lumOff val="35000"/>
                    </a:schemeClr>
                  </a:solidFill>
                  <a:latin typeface="+mj-lt"/>
                  <a:cs typeface="Hiragino Kaku Gothic Pro W3" charset="-128"/>
                </a:endParaRPr>
              </a:p>
            </p:txBody>
          </p:sp>
          <p:sp>
            <p:nvSpPr>
              <p:cNvPr id="30" name="二等辺三角形 128">
                <a:extLst>
                  <a:ext uri="{FF2B5EF4-FFF2-40B4-BE49-F238E27FC236}">
                    <a16:creationId xmlns:a16="http://schemas.microsoft.com/office/drawing/2014/main" id="{CF3AC5CF-72A5-CDC8-4C47-4541C20B8FBD}"/>
                  </a:ext>
                </a:extLst>
              </p:cNvPr>
              <p:cNvSpPr/>
              <p:nvPr/>
            </p:nvSpPr>
            <p:spPr>
              <a:xfrm rot="5400000">
                <a:off x="4082154" y="2137042"/>
                <a:ext cx="93377" cy="32946"/>
              </a:xfrm>
              <a:prstGeom prst="triangle">
                <a:avLst/>
              </a:prstGeom>
              <a:solidFill>
                <a:schemeClr val="bg1">
                  <a:lumMod val="75000"/>
                </a:schemeClr>
              </a:solidFill>
              <a:ln w="9525">
                <a:solidFill>
                  <a:srgbClr val="B4B4B4"/>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a:endParaRPr kumimoji="1" lang="ja-JP" altLang="en-US" sz="800">
                  <a:solidFill>
                    <a:schemeClr val="accent4">
                      <a:lumMod val="65000"/>
                      <a:lumOff val="35000"/>
                    </a:schemeClr>
                  </a:solidFill>
                  <a:latin typeface="+mj-lt"/>
                  <a:cs typeface="Hiragino Kaku Gothic Pro W3" charset="-128"/>
                </a:endParaRPr>
              </a:p>
            </p:txBody>
          </p:sp>
          <p:sp>
            <p:nvSpPr>
              <p:cNvPr id="31" name="正方形/長方形 30">
                <a:extLst>
                  <a:ext uri="{FF2B5EF4-FFF2-40B4-BE49-F238E27FC236}">
                    <a16:creationId xmlns:a16="http://schemas.microsoft.com/office/drawing/2014/main" id="{EB968C99-AD73-B84C-C1E4-707BE834AE54}"/>
                  </a:ext>
                </a:extLst>
              </p:cNvPr>
              <p:cNvSpPr/>
              <p:nvPr/>
            </p:nvSpPr>
            <p:spPr>
              <a:xfrm>
                <a:off x="4184797" y="2931843"/>
                <a:ext cx="665893"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Access</a:t>
                </a:r>
              </a:p>
              <a:p>
                <a:pPr algn="ctr"/>
                <a:r>
                  <a:rPr lang="en-US" altLang="ja-JP" sz="800">
                    <a:solidFill>
                      <a:schemeClr val="tx1"/>
                    </a:solidFill>
                    <a:latin typeface="+mj-lt"/>
                  </a:rPr>
                  <a:t>/Excel</a:t>
                </a:r>
              </a:p>
            </p:txBody>
          </p:sp>
          <p:cxnSp>
            <p:nvCxnSpPr>
              <p:cNvPr id="32" name="直線矢印コネクタ 31">
                <a:extLst>
                  <a:ext uri="{FF2B5EF4-FFF2-40B4-BE49-F238E27FC236}">
                    <a16:creationId xmlns:a16="http://schemas.microsoft.com/office/drawing/2014/main" id="{DD199816-0BEA-26F9-0E72-0CB32A29BA95}"/>
                  </a:ext>
                </a:extLst>
              </p:cNvPr>
              <p:cNvCxnSpPr>
                <a:cxnSpLocks/>
              </p:cNvCxnSpPr>
              <p:nvPr/>
            </p:nvCxnSpPr>
            <p:spPr>
              <a:xfrm>
                <a:off x="4078292" y="3081616"/>
                <a:ext cx="106506"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正方形/長方形 32">
                <a:extLst>
                  <a:ext uri="{FF2B5EF4-FFF2-40B4-BE49-F238E27FC236}">
                    <a16:creationId xmlns:a16="http://schemas.microsoft.com/office/drawing/2014/main" id="{F721B1FF-7B0D-9477-9B91-5F7A133FDA1F}"/>
                  </a:ext>
                </a:extLst>
              </p:cNvPr>
              <p:cNvSpPr/>
              <p:nvPr/>
            </p:nvSpPr>
            <p:spPr>
              <a:xfrm>
                <a:off x="4184796" y="3328943"/>
                <a:ext cx="665893" cy="265383"/>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Access</a:t>
                </a:r>
              </a:p>
              <a:p>
                <a:pPr algn="ctr"/>
                <a:r>
                  <a:rPr lang="en-US" altLang="ja-JP" sz="800">
                    <a:solidFill>
                      <a:schemeClr val="tx1"/>
                    </a:solidFill>
                    <a:latin typeface="+mj-lt"/>
                  </a:rPr>
                  <a:t>/Excel</a:t>
                </a:r>
              </a:p>
            </p:txBody>
          </p:sp>
          <p:sp>
            <p:nvSpPr>
              <p:cNvPr id="34" name="正方形/長方形 33">
                <a:extLst>
                  <a:ext uri="{FF2B5EF4-FFF2-40B4-BE49-F238E27FC236}">
                    <a16:creationId xmlns:a16="http://schemas.microsoft.com/office/drawing/2014/main" id="{86419AE2-C64A-B4AC-F2DC-4234E7A50F06}"/>
                  </a:ext>
                </a:extLst>
              </p:cNvPr>
              <p:cNvSpPr/>
              <p:nvPr/>
            </p:nvSpPr>
            <p:spPr>
              <a:xfrm>
                <a:off x="4960037" y="3697880"/>
                <a:ext cx="668391" cy="252000"/>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solidFill>
                    <a:latin typeface="+mj-lt"/>
                  </a:rPr>
                  <a:t>周辺システム</a:t>
                </a:r>
                <a:endParaRPr lang="en-US" altLang="ja-JP" sz="800" dirty="0">
                  <a:solidFill>
                    <a:schemeClr val="tx1"/>
                  </a:solidFill>
                  <a:latin typeface="+mj-lt"/>
                </a:endParaRPr>
              </a:p>
            </p:txBody>
          </p:sp>
          <p:cxnSp>
            <p:nvCxnSpPr>
              <p:cNvPr id="35" name="直線矢印コネクタ 34">
                <a:extLst>
                  <a:ext uri="{FF2B5EF4-FFF2-40B4-BE49-F238E27FC236}">
                    <a16:creationId xmlns:a16="http://schemas.microsoft.com/office/drawing/2014/main" id="{085BB009-CBEF-D2AF-4E7F-881D22E2FB0B}"/>
                  </a:ext>
                </a:extLst>
              </p:cNvPr>
              <p:cNvCxnSpPr>
                <a:cxnSpLocks/>
                <a:endCxn id="34" idx="1"/>
              </p:cNvCxnSpPr>
              <p:nvPr/>
            </p:nvCxnSpPr>
            <p:spPr>
              <a:xfrm>
                <a:off x="3299399" y="3823880"/>
                <a:ext cx="1660638"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4867EFD2-DC35-6D79-D17B-7E34055773B7}"/>
                  </a:ext>
                </a:extLst>
              </p:cNvPr>
              <p:cNvCxnSpPr>
                <a:cxnSpLocks/>
              </p:cNvCxnSpPr>
              <p:nvPr/>
            </p:nvCxnSpPr>
            <p:spPr>
              <a:xfrm>
                <a:off x="4078292" y="3454324"/>
                <a:ext cx="106506"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855003D7-6A1E-5B55-9711-936FCDF482A1}"/>
                  </a:ext>
                </a:extLst>
              </p:cNvPr>
              <p:cNvCxnSpPr>
                <a:cxnSpLocks/>
              </p:cNvCxnSpPr>
              <p:nvPr/>
            </p:nvCxnSpPr>
            <p:spPr>
              <a:xfrm>
                <a:off x="3299399" y="3081616"/>
                <a:ext cx="106506"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BFB10AFF-FCE9-E993-CE89-B2200063E151}"/>
                  </a:ext>
                </a:extLst>
              </p:cNvPr>
              <p:cNvCxnSpPr>
                <a:cxnSpLocks/>
              </p:cNvCxnSpPr>
              <p:nvPr/>
            </p:nvCxnSpPr>
            <p:spPr>
              <a:xfrm>
                <a:off x="3299399" y="3454324"/>
                <a:ext cx="106506"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C0DA7187-A5C3-582F-FD83-A6BB9A74F1AC}"/>
                  </a:ext>
                </a:extLst>
              </p:cNvPr>
              <p:cNvCxnSpPr>
                <a:cxnSpLocks/>
              </p:cNvCxnSpPr>
              <p:nvPr/>
            </p:nvCxnSpPr>
            <p:spPr>
              <a:xfrm>
                <a:off x="3299399" y="2731572"/>
                <a:ext cx="106506"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C7B74B56-4681-ED51-AD44-CBB3266C1DF5}"/>
                  </a:ext>
                </a:extLst>
              </p:cNvPr>
              <p:cNvCxnSpPr>
                <a:cxnSpLocks/>
              </p:cNvCxnSpPr>
              <p:nvPr/>
            </p:nvCxnSpPr>
            <p:spPr>
              <a:xfrm>
                <a:off x="4849270" y="2731572"/>
                <a:ext cx="105968"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正方形/長方形 40">
                <a:extLst>
                  <a:ext uri="{FF2B5EF4-FFF2-40B4-BE49-F238E27FC236}">
                    <a16:creationId xmlns:a16="http://schemas.microsoft.com/office/drawing/2014/main" id="{F13F0065-CD49-3D1B-A1CC-0B6E73B1B413}"/>
                  </a:ext>
                </a:extLst>
              </p:cNvPr>
              <p:cNvSpPr/>
              <p:nvPr/>
            </p:nvSpPr>
            <p:spPr>
              <a:xfrm>
                <a:off x="4955238" y="2931843"/>
                <a:ext cx="668392"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solidFill>
                    <a:latin typeface="+mj-lt"/>
                  </a:rPr>
                  <a:t>事業</a:t>
                </a:r>
                <a:endParaRPr kumimoji="1" lang="en-US" altLang="ja-JP" sz="800" dirty="0">
                  <a:solidFill>
                    <a:schemeClr val="tx1"/>
                  </a:solidFill>
                  <a:latin typeface="+mj-lt"/>
                </a:endParaRPr>
              </a:p>
            </p:txBody>
          </p:sp>
          <p:sp>
            <p:nvSpPr>
              <p:cNvPr id="42" name="正方形/長方形 41">
                <a:extLst>
                  <a:ext uri="{FF2B5EF4-FFF2-40B4-BE49-F238E27FC236}">
                    <a16:creationId xmlns:a16="http://schemas.microsoft.com/office/drawing/2014/main" id="{63E0677B-F0C7-D8F4-C1FE-68F3DC8B1453}"/>
                  </a:ext>
                </a:extLst>
              </p:cNvPr>
              <p:cNvSpPr/>
              <p:nvPr/>
            </p:nvSpPr>
            <p:spPr>
              <a:xfrm>
                <a:off x="4955238" y="3328943"/>
                <a:ext cx="668392" cy="265383"/>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solidFill>
                    <a:latin typeface="+mj-lt"/>
                  </a:rPr>
                  <a:t>経理</a:t>
                </a:r>
                <a:endParaRPr lang="en-US" altLang="ja-JP" sz="800" dirty="0">
                  <a:solidFill>
                    <a:schemeClr val="tx1"/>
                  </a:solidFill>
                  <a:latin typeface="+mj-lt"/>
                </a:endParaRPr>
              </a:p>
            </p:txBody>
          </p:sp>
          <p:cxnSp>
            <p:nvCxnSpPr>
              <p:cNvPr id="43" name="直線矢印コネクタ 42">
                <a:extLst>
                  <a:ext uri="{FF2B5EF4-FFF2-40B4-BE49-F238E27FC236}">
                    <a16:creationId xmlns:a16="http://schemas.microsoft.com/office/drawing/2014/main" id="{34C3FAE1-08B9-0055-5B76-EA5A396DBF96}"/>
                  </a:ext>
                </a:extLst>
              </p:cNvPr>
              <p:cNvCxnSpPr>
                <a:cxnSpLocks/>
                <a:stCxn id="31" idx="3"/>
                <a:endCxn id="41" idx="1"/>
              </p:cNvCxnSpPr>
              <p:nvPr/>
            </p:nvCxnSpPr>
            <p:spPr>
              <a:xfrm>
                <a:off x="4850690" y="3064535"/>
                <a:ext cx="104548"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6BEF379E-B7A6-2C61-2BCD-3EB53501F6EA}"/>
                  </a:ext>
                </a:extLst>
              </p:cNvPr>
              <p:cNvCxnSpPr>
                <a:cxnSpLocks/>
                <a:stCxn id="33" idx="3"/>
                <a:endCxn id="42" idx="1"/>
              </p:cNvCxnSpPr>
              <p:nvPr/>
            </p:nvCxnSpPr>
            <p:spPr>
              <a:xfrm>
                <a:off x="4850689" y="3461635"/>
                <a:ext cx="104549"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BDC1B4EE-079D-9DB5-39C8-A0575219F591}"/>
                  </a:ext>
                </a:extLst>
              </p:cNvPr>
              <p:cNvCxnSpPr>
                <a:cxnSpLocks/>
              </p:cNvCxnSpPr>
              <p:nvPr/>
            </p:nvCxnSpPr>
            <p:spPr>
              <a:xfrm>
                <a:off x="1756572" y="3195430"/>
                <a:ext cx="105020"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正方形/長方形 45">
                <a:extLst>
                  <a:ext uri="{FF2B5EF4-FFF2-40B4-BE49-F238E27FC236}">
                    <a16:creationId xmlns:a16="http://schemas.microsoft.com/office/drawing/2014/main" id="{A8334BDD-3326-7428-4936-697C6FEDB46B}"/>
                  </a:ext>
                </a:extLst>
              </p:cNvPr>
              <p:cNvSpPr/>
              <p:nvPr/>
            </p:nvSpPr>
            <p:spPr>
              <a:xfrm>
                <a:off x="3407942" y="2931843"/>
                <a:ext cx="665893" cy="272677"/>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RINDBIRG</a:t>
                </a:r>
              </a:p>
              <a:p>
                <a:pPr algn="ctr"/>
                <a:r>
                  <a:rPr lang="en-US" altLang="ja-JP" sz="800">
                    <a:solidFill>
                      <a:schemeClr val="tx1"/>
                    </a:solidFill>
                    <a:latin typeface="+mj-lt"/>
                  </a:rPr>
                  <a:t>View</a:t>
                </a:r>
              </a:p>
            </p:txBody>
          </p:sp>
          <p:sp>
            <p:nvSpPr>
              <p:cNvPr id="47" name="正方形/長方形 46">
                <a:extLst>
                  <a:ext uri="{FF2B5EF4-FFF2-40B4-BE49-F238E27FC236}">
                    <a16:creationId xmlns:a16="http://schemas.microsoft.com/office/drawing/2014/main" id="{6CA18113-5295-2EF7-4AEC-945F05AD75B2}"/>
                  </a:ext>
                </a:extLst>
              </p:cNvPr>
              <p:cNvSpPr/>
              <p:nvPr/>
            </p:nvSpPr>
            <p:spPr>
              <a:xfrm>
                <a:off x="525633" y="3653465"/>
                <a:ext cx="476862" cy="316479"/>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b="1">
                    <a:solidFill>
                      <a:schemeClr val="bg1"/>
                    </a:solidFill>
                    <a:latin typeface="+mj-lt"/>
                    <a:ea typeface="Meiryo UI" panose="020B0604030504040204" pitchFamily="50" charset="-128"/>
                  </a:rPr>
                  <a:t>その他</a:t>
                </a:r>
                <a:endParaRPr lang="en-US" altLang="ja-JP" sz="800" b="1">
                  <a:solidFill>
                    <a:schemeClr val="bg1"/>
                  </a:solidFill>
                  <a:latin typeface="+mj-lt"/>
                  <a:ea typeface="Meiryo UI" panose="020B0604030504040204" pitchFamily="50" charset="-128"/>
                </a:endParaRPr>
              </a:p>
              <a:p>
                <a:pPr algn="ctr"/>
                <a:r>
                  <a:rPr kumimoji="1" lang="ja-JP" altLang="en-US" sz="800" b="1">
                    <a:solidFill>
                      <a:schemeClr val="bg1"/>
                    </a:solidFill>
                    <a:latin typeface="+mj-lt"/>
                    <a:ea typeface="Meiryo UI" panose="020B0604030504040204" pitchFamily="50" charset="-128"/>
                  </a:rPr>
                  <a:t>利活用</a:t>
                </a:r>
                <a:endParaRPr kumimoji="1" lang="en-US" altLang="ja-JP" sz="800" b="1">
                  <a:solidFill>
                    <a:schemeClr val="bg1"/>
                  </a:solidFill>
                  <a:latin typeface="+mj-lt"/>
                  <a:ea typeface="Meiryo UI" panose="020B0604030504040204" pitchFamily="50" charset="-128"/>
                </a:endParaRPr>
              </a:p>
            </p:txBody>
          </p:sp>
        </p:grpSp>
        <p:sp>
          <p:nvSpPr>
            <p:cNvPr id="63" name="二等辺三角形 62">
              <a:extLst>
                <a:ext uri="{FF2B5EF4-FFF2-40B4-BE49-F238E27FC236}">
                  <a16:creationId xmlns:a16="http://schemas.microsoft.com/office/drawing/2014/main" id="{88C8FD16-973F-0F94-B169-0BBC3C0E859C}"/>
                </a:ext>
              </a:extLst>
            </p:cNvPr>
            <p:cNvSpPr/>
            <p:nvPr/>
          </p:nvSpPr>
          <p:spPr>
            <a:xfrm rot="16200000" flipV="1">
              <a:off x="5104861" y="3760679"/>
              <a:ext cx="1794423" cy="198164"/>
            </a:xfrm>
            <a:prstGeom prst="triangle">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400">
                <a:solidFill>
                  <a:schemeClr val="accent4">
                    <a:lumMod val="65000"/>
                    <a:lumOff val="35000"/>
                  </a:schemeClr>
                </a:solidFill>
                <a:latin typeface="+mn-ea"/>
                <a:cs typeface="Hiragino Kaku Gothic Pro W3" charset="-128"/>
              </a:endParaRPr>
            </a:p>
          </p:txBody>
        </p:sp>
        <p:grpSp>
          <p:nvGrpSpPr>
            <p:cNvPr id="128" name="グループ化 127">
              <a:extLst>
                <a:ext uri="{FF2B5EF4-FFF2-40B4-BE49-F238E27FC236}">
                  <a16:creationId xmlns:a16="http://schemas.microsoft.com/office/drawing/2014/main" id="{83212546-2C1A-25C9-83EC-A46FDEF801CB}"/>
                </a:ext>
              </a:extLst>
            </p:cNvPr>
            <p:cNvGrpSpPr/>
            <p:nvPr/>
          </p:nvGrpSpPr>
          <p:grpSpPr>
            <a:xfrm>
              <a:off x="6379157" y="2591987"/>
              <a:ext cx="5368509" cy="2535549"/>
              <a:chOff x="6379157" y="2591987"/>
              <a:chExt cx="5368509" cy="2535549"/>
            </a:xfrm>
          </p:grpSpPr>
          <p:sp>
            <p:nvSpPr>
              <p:cNvPr id="60" name="正方形/長方形 59">
                <a:extLst>
                  <a:ext uri="{FF2B5EF4-FFF2-40B4-BE49-F238E27FC236}">
                    <a16:creationId xmlns:a16="http://schemas.microsoft.com/office/drawing/2014/main" id="{AF1D0412-B86A-F50C-517D-30F773814471}"/>
                  </a:ext>
                </a:extLst>
              </p:cNvPr>
              <p:cNvSpPr/>
              <p:nvPr/>
            </p:nvSpPr>
            <p:spPr>
              <a:xfrm>
                <a:off x="6382361" y="2794297"/>
                <a:ext cx="5365305" cy="2333239"/>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200">
                  <a:solidFill>
                    <a:schemeClr val="bg1"/>
                  </a:solidFill>
                  <a:latin typeface="+mj-lt"/>
                  <a:ea typeface="Meiryo UI" panose="020B0604030504040204" pitchFamily="50" charset="-128"/>
                </a:endParaRPr>
              </a:p>
            </p:txBody>
          </p:sp>
          <p:sp>
            <p:nvSpPr>
              <p:cNvPr id="62" name="正方形/長方形 61">
                <a:extLst>
                  <a:ext uri="{FF2B5EF4-FFF2-40B4-BE49-F238E27FC236}">
                    <a16:creationId xmlns:a16="http://schemas.microsoft.com/office/drawing/2014/main" id="{D4CEF382-1C0B-2D17-413F-FB6B9414F4F4}"/>
                  </a:ext>
                </a:extLst>
              </p:cNvPr>
              <p:cNvSpPr/>
              <p:nvPr/>
            </p:nvSpPr>
            <p:spPr>
              <a:xfrm>
                <a:off x="7933179" y="3400877"/>
                <a:ext cx="1377959" cy="63900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RINDBERG</a:t>
                </a:r>
              </a:p>
            </p:txBody>
          </p:sp>
          <p:sp>
            <p:nvSpPr>
              <p:cNvPr id="64" name="正方形/長方形 63">
                <a:extLst>
                  <a:ext uri="{FF2B5EF4-FFF2-40B4-BE49-F238E27FC236}">
                    <a16:creationId xmlns:a16="http://schemas.microsoft.com/office/drawing/2014/main" id="{89CD1581-125B-FC76-D09E-EAC572A760DE}"/>
                  </a:ext>
                </a:extLst>
              </p:cNvPr>
              <p:cNvSpPr/>
              <p:nvPr/>
            </p:nvSpPr>
            <p:spPr>
              <a:xfrm>
                <a:off x="6379157" y="2591987"/>
                <a:ext cx="5367815" cy="202310"/>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200" dirty="0">
                    <a:solidFill>
                      <a:schemeClr val="bg1"/>
                    </a:solidFill>
                    <a:latin typeface="+mj-lt"/>
                    <a:ea typeface="Meiryo UI" panose="020B0604030504040204" pitchFamily="50" charset="-128"/>
                  </a:rPr>
                  <a:t>JKK1</a:t>
                </a:r>
                <a:r>
                  <a:rPr kumimoji="1" lang="ja-JP" altLang="en-US" sz="1200" dirty="0">
                    <a:solidFill>
                      <a:schemeClr val="bg1"/>
                    </a:solidFill>
                    <a:latin typeface="+mj-lt"/>
                    <a:ea typeface="Meiryo UI" panose="020B0604030504040204" pitchFamily="50" charset="-128"/>
                  </a:rPr>
                  <a:t>丁目の姿</a:t>
                </a:r>
              </a:p>
            </p:txBody>
          </p:sp>
          <p:grpSp>
            <p:nvGrpSpPr>
              <p:cNvPr id="65" name="グループ化 64">
                <a:extLst>
                  <a:ext uri="{FF2B5EF4-FFF2-40B4-BE49-F238E27FC236}">
                    <a16:creationId xmlns:a16="http://schemas.microsoft.com/office/drawing/2014/main" id="{346CF449-79DF-828D-C71E-98703FA921DD}"/>
                  </a:ext>
                </a:extLst>
              </p:cNvPr>
              <p:cNvGrpSpPr/>
              <p:nvPr/>
            </p:nvGrpSpPr>
            <p:grpSpPr>
              <a:xfrm>
                <a:off x="7900168" y="3050578"/>
                <a:ext cx="2993548" cy="1936600"/>
                <a:chOff x="3928841" y="2696703"/>
                <a:chExt cx="5681485" cy="3867171"/>
              </a:xfrm>
            </p:grpSpPr>
            <p:cxnSp>
              <p:nvCxnSpPr>
                <p:cNvPr id="66" name="直線コネクタ 65">
                  <a:extLst>
                    <a:ext uri="{FF2B5EF4-FFF2-40B4-BE49-F238E27FC236}">
                      <a16:creationId xmlns:a16="http://schemas.microsoft.com/office/drawing/2014/main" id="{20BD8806-E01A-4262-2058-946C18EB405B}"/>
                    </a:ext>
                  </a:extLst>
                </p:cNvPr>
                <p:cNvCxnSpPr>
                  <a:cxnSpLocks/>
                </p:cNvCxnSpPr>
                <p:nvPr/>
              </p:nvCxnSpPr>
              <p:spPr>
                <a:xfrm>
                  <a:off x="3928841"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CCA336E1-8578-04FB-4366-90655D4F8561}"/>
                    </a:ext>
                  </a:extLst>
                </p:cNvPr>
                <p:cNvCxnSpPr>
                  <a:cxnSpLocks/>
                </p:cNvCxnSpPr>
                <p:nvPr/>
              </p:nvCxnSpPr>
              <p:spPr>
                <a:xfrm>
                  <a:off x="5331708"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03399937-0213-C46A-88E9-8E530FFB0405}"/>
                    </a:ext>
                  </a:extLst>
                </p:cNvPr>
                <p:cNvCxnSpPr>
                  <a:cxnSpLocks/>
                </p:cNvCxnSpPr>
                <p:nvPr/>
              </p:nvCxnSpPr>
              <p:spPr>
                <a:xfrm>
                  <a:off x="6734577"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5C096A53-C3C2-3EB9-7529-088894A6F28E}"/>
                    </a:ext>
                  </a:extLst>
                </p:cNvPr>
                <p:cNvCxnSpPr>
                  <a:cxnSpLocks/>
                </p:cNvCxnSpPr>
                <p:nvPr/>
              </p:nvCxnSpPr>
              <p:spPr>
                <a:xfrm>
                  <a:off x="8137445"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CA453BCA-EB65-7F65-7F0E-D3F53B4DA6B3}"/>
                    </a:ext>
                  </a:extLst>
                </p:cNvPr>
                <p:cNvCxnSpPr>
                  <a:cxnSpLocks/>
                </p:cNvCxnSpPr>
                <p:nvPr/>
              </p:nvCxnSpPr>
              <p:spPr>
                <a:xfrm>
                  <a:off x="9610326"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71" name="グループ化 70">
                <a:extLst>
                  <a:ext uri="{FF2B5EF4-FFF2-40B4-BE49-F238E27FC236}">
                    <a16:creationId xmlns:a16="http://schemas.microsoft.com/office/drawing/2014/main" id="{F3AE9F2B-38B5-1D22-E7DC-6BDF28FD2815}"/>
                  </a:ext>
                </a:extLst>
              </p:cNvPr>
              <p:cNvGrpSpPr/>
              <p:nvPr/>
            </p:nvGrpSpPr>
            <p:grpSpPr>
              <a:xfrm>
                <a:off x="7211189" y="2900147"/>
                <a:ext cx="638795" cy="153837"/>
                <a:chOff x="603818" y="1990672"/>
                <a:chExt cx="1915281" cy="258572"/>
              </a:xfrm>
            </p:grpSpPr>
            <p:cxnSp>
              <p:nvCxnSpPr>
                <p:cNvPr id="72" name="直線コネクタ 71">
                  <a:extLst>
                    <a:ext uri="{FF2B5EF4-FFF2-40B4-BE49-F238E27FC236}">
                      <a16:creationId xmlns:a16="http://schemas.microsoft.com/office/drawing/2014/main" id="{8E31E78A-52DA-2F4F-410A-F3B2D70F64BF}"/>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3" name="正方形/長方形 72">
                  <a:extLst>
                    <a:ext uri="{FF2B5EF4-FFF2-40B4-BE49-F238E27FC236}">
                      <a16:creationId xmlns:a16="http://schemas.microsoft.com/office/drawing/2014/main" id="{F5C6C1CA-CE19-8CCA-F4E3-FDAC468F0C89}"/>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データ生成</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grpSp>
            <p:nvGrpSpPr>
              <p:cNvPr id="74" name="グループ化 73">
                <a:extLst>
                  <a:ext uri="{FF2B5EF4-FFF2-40B4-BE49-F238E27FC236}">
                    <a16:creationId xmlns:a16="http://schemas.microsoft.com/office/drawing/2014/main" id="{DE10A9D9-47A9-10FD-E150-562E2D2257FA}"/>
                  </a:ext>
                </a:extLst>
              </p:cNvPr>
              <p:cNvGrpSpPr/>
              <p:nvPr/>
            </p:nvGrpSpPr>
            <p:grpSpPr>
              <a:xfrm>
                <a:off x="7950352" y="2900147"/>
                <a:ext cx="2116674" cy="153837"/>
                <a:chOff x="603818" y="1990672"/>
                <a:chExt cx="1915281" cy="258572"/>
              </a:xfrm>
            </p:grpSpPr>
            <p:cxnSp>
              <p:nvCxnSpPr>
                <p:cNvPr id="75" name="直線コネクタ 74">
                  <a:extLst>
                    <a:ext uri="{FF2B5EF4-FFF2-40B4-BE49-F238E27FC236}">
                      <a16:creationId xmlns:a16="http://schemas.microsoft.com/office/drawing/2014/main" id="{DB094BA1-426E-981E-AF39-83405566E7EC}"/>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6" name="正方形/長方形 75">
                  <a:extLst>
                    <a:ext uri="{FF2B5EF4-FFF2-40B4-BE49-F238E27FC236}">
                      <a16:creationId xmlns:a16="http://schemas.microsoft.com/office/drawing/2014/main" id="{AF249D10-5EA6-A0CA-F67F-E7A4825A206F}"/>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データ集計・蓄積・整形</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grpSp>
            <p:nvGrpSpPr>
              <p:cNvPr id="77" name="グループ化 76">
                <a:extLst>
                  <a:ext uri="{FF2B5EF4-FFF2-40B4-BE49-F238E27FC236}">
                    <a16:creationId xmlns:a16="http://schemas.microsoft.com/office/drawing/2014/main" id="{977ED7BC-358B-970F-4781-8059B10F8A4F}"/>
                  </a:ext>
                </a:extLst>
              </p:cNvPr>
              <p:cNvGrpSpPr/>
              <p:nvPr/>
            </p:nvGrpSpPr>
            <p:grpSpPr>
              <a:xfrm>
                <a:off x="10206100" y="2900147"/>
                <a:ext cx="1378413" cy="153837"/>
                <a:chOff x="603818" y="1990672"/>
                <a:chExt cx="1915281" cy="258572"/>
              </a:xfrm>
            </p:grpSpPr>
            <p:cxnSp>
              <p:nvCxnSpPr>
                <p:cNvPr id="78" name="直線コネクタ 77">
                  <a:extLst>
                    <a:ext uri="{FF2B5EF4-FFF2-40B4-BE49-F238E27FC236}">
                      <a16:creationId xmlns:a16="http://schemas.microsoft.com/office/drawing/2014/main" id="{35D058D2-F8DC-27C3-ED97-C1898B6BE0DC}"/>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9" name="正方形/長方形 78">
                  <a:extLst>
                    <a:ext uri="{FF2B5EF4-FFF2-40B4-BE49-F238E27FC236}">
                      <a16:creationId xmlns:a16="http://schemas.microsoft.com/office/drawing/2014/main" id="{171A7EBE-19A1-F7DC-3776-E2328FDCDE66}"/>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データ利用</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sp>
            <p:nvSpPr>
              <p:cNvPr id="80" name="正方形/長方形 79">
                <a:extLst>
                  <a:ext uri="{FF2B5EF4-FFF2-40B4-BE49-F238E27FC236}">
                    <a16:creationId xmlns:a16="http://schemas.microsoft.com/office/drawing/2014/main" id="{921D3A27-62AD-7DD3-DF01-FD478C250156}"/>
                  </a:ext>
                </a:extLst>
              </p:cNvPr>
              <p:cNvSpPr/>
              <p:nvPr/>
            </p:nvSpPr>
            <p:spPr>
              <a:xfrm>
                <a:off x="7211189"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データ元</a:t>
                </a:r>
              </a:p>
            </p:txBody>
          </p:sp>
          <p:sp>
            <p:nvSpPr>
              <p:cNvPr id="81" name="正方形/長方形 80">
                <a:extLst>
                  <a:ext uri="{FF2B5EF4-FFF2-40B4-BE49-F238E27FC236}">
                    <a16:creationId xmlns:a16="http://schemas.microsoft.com/office/drawing/2014/main" id="{24F1B086-E25D-EA8F-81A0-6D36E9630897}"/>
                  </a:ext>
                </a:extLst>
              </p:cNvPr>
              <p:cNvSpPr/>
              <p:nvPr/>
            </p:nvSpPr>
            <p:spPr>
              <a:xfrm>
                <a:off x="8689517"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a:solidFill>
                      <a:schemeClr val="bg1"/>
                    </a:solidFill>
                    <a:latin typeface="+mj-lt"/>
                  </a:rPr>
                  <a:t>DWH</a:t>
                </a:r>
                <a:endParaRPr kumimoji="1" lang="ja-JP" altLang="en-US" sz="800">
                  <a:solidFill>
                    <a:schemeClr val="bg1"/>
                  </a:solidFill>
                  <a:latin typeface="+mj-lt"/>
                </a:endParaRPr>
              </a:p>
            </p:txBody>
          </p:sp>
          <p:sp>
            <p:nvSpPr>
              <p:cNvPr id="82" name="正方形/長方形 81">
                <a:extLst>
                  <a:ext uri="{FF2B5EF4-FFF2-40B4-BE49-F238E27FC236}">
                    <a16:creationId xmlns:a16="http://schemas.microsoft.com/office/drawing/2014/main" id="{06F082A5-3BC0-A4EB-05CC-5285F65A5CD0}"/>
                  </a:ext>
                </a:extLst>
              </p:cNvPr>
              <p:cNvSpPr/>
              <p:nvPr/>
            </p:nvSpPr>
            <p:spPr>
              <a:xfrm>
                <a:off x="9428681"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データマート</a:t>
                </a:r>
              </a:p>
            </p:txBody>
          </p:sp>
          <p:sp>
            <p:nvSpPr>
              <p:cNvPr id="83" name="正方形/長方形 82">
                <a:extLst>
                  <a:ext uri="{FF2B5EF4-FFF2-40B4-BE49-F238E27FC236}">
                    <a16:creationId xmlns:a16="http://schemas.microsoft.com/office/drawing/2014/main" id="{88B78607-4026-85CA-D6AD-60BCF11B970E}"/>
                  </a:ext>
                </a:extLst>
              </p:cNvPr>
              <p:cNvSpPr/>
              <p:nvPr/>
            </p:nvSpPr>
            <p:spPr>
              <a:xfrm>
                <a:off x="7950353"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集計</a:t>
                </a:r>
              </a:p>
            </p:txBody>
          </p:sp>
          <p:sp>
            <p:nvSpPr>
              <p:cNvPr id="84" name="正方形/長方形 83">
                <a:extLst>
                  <a:ext uri="{FF2B5EF4-FFF2-40B4-BE49-F238E27FC236}">
                    <a16:creationId xmlns:a16="http://schemas.microsoft.com/office/drawing/2014/main" id="{FA800539-C1EE-A412-3FB8-AC196B0AED4A}"/>
                  </a:ext>
                </a:extLst>
              </p:cNvPr>
              <p:cNvSpPr/>
              <p:nvPr/>
            </p:nvSpPr>
            <p:spPr>
              <a:xfrm>
                <a:off x="10206553"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1"/>
                    </a:solidFill>
                    <a:latin typeface="+mj-lt"/>
                  </a:rPr>
                  <a:t>BI</a:t>
                </a:r>
                <a:r>
                  <a:rPr lang="ja-JP" altLang="en-US" sz="800">
                    <a:solidFill>
                      <a:schemeClr val="bg1"/>
                    </a:solidFill>
                    <a:latin typeface="+mj-lt"/>
                  </a:rPr>
                  <a:t>ツール</a:t>
                </a:r>
                <a:endParaRPr kumimoji="1" lang="ja-JP" altLang="en-US" sz="800">
                  <a:solidFill>
                    <a:schemeClr val="bg1"/>
                  </a:solidFill>
                  <a:latin typeface="+mj-lt"/>
                </a:endParaRPr>
              </a:p>
            </p:txBody>
          </p:sp>
          <p:sp>
            <p:nvSpPr>
              <p:cNvPr id="85" name="正方形/長方形 84">
                <a:extLst>
                  <a:ext uri="{FF2B5EF4-FFF2-40B4-BE49-F238E27FC236}">
                    <a16:creationId xmlns:a16="http://schemas.microsoft.com/office/drawing/2014/main" id="{172AD438-AB8D-9E04-08EF-21BDCB8B5806}"/>
                  </a:ext>
                </a:extLst>
              </p:cNvPr>
              <p:cNvSpPr/>
              <p:nvPr/>
            </p:nvSpPr>
            <p:spPr>
              <a:xfrm>
                <a:off x="11026875"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a:solidFill>
                      <a:schemeClr val="bg1"/>
                    </a:solidFill>
                    <a:latin typeface="+mj-lt"/>
                  </a:rPr>
                  <a:t>ユーザ</a:t>
                </a:r>
              </a:p>
            </p:txBody>
          </p:sp>
          <p:sp>
            <p:nvSpPr>
              <p:cNvPr id="86" name="正方形/長方形 85">
                <a:extLst>
                  <a:ext uri="{FF2B5EF4-FFF2-40B4-BE49-F238E27FC236}">
                    <a16:creationId xmlns:a16="http://schemas.microsoft.com/office/drawing/2014/main" id="{47A715C1-8375-0B5D-8778-98F5F72E7D44}"/>
                  </a:ext>
                </a:extLst>
              </p:cNvPr>
              <p:cNvSpPr/>
              <p:nvPr/>
            </p:nvSpPr>
            <p:spPr>
              <a:xfrm>
                <a:off x="6674035" y="3718102"/>
                <a:ext cx="455746" cy="695820"/>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b="1">
                    <a:solidFill>
                      <a:schemeClr val="bg1"/>
                    </a:solidFill>
                    <a:latin typeface="+mj-lt"/>
                    <a:ea typeface="Meiryo UI" panose="020B0604030504040204" pitchFamily="50" charset="-128"/>
                  </a:rPr>
                  <a:t>財務会計</a:t>
                </a:r>
                <a:endParaRPr kumimoji="1" lang="en-US" altLang="ja-JP" sz="800" b="1">
                  <a:solidFill>
                    <a:schemeClr val="bg1"/>
                  </a:solidFill>
                  <a:latin typeface="+mj-lt"/>
                  <a:ea typeface="Meiryo UI" panose="020B0604030504040204" pitchFamily="50" charset="-128"/>
                </a:endParaRPr>
              </a:p>
            </p:txBody>
          </p:sp>
          <p:sp>
            <p:nvSpPr>
              <p:cNvPr id="87" name="正方形/長方形 86">
                <a:extLst>
                  <a:ext uri="{FF2B5EF4-FFF2-40B4-BE49-F238E27FC236}">
                    <a16:creationId xmlns:a16="http://schemas.microsoft.com/office/drawing/2014/main" id="{BB83D0B6-E872-25A1-6575-90404E890AC3}"/>
                  </a:ext>
                </a:extLst>
              </p:cNvPr>
              <p:cNvSpPr/>
              <p:nvPr/>
            </p:nvSpPr>
            <p:spPr>
              <a:xfrm>
                <a:off x="6674035" y="3403151"/>
                <a:ext cx="455746" cy="265382"/>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b="1">
                    <a:solidFill>
                      <a:schemeClr val="bg1"/>
                    </a:solidFill>
                    <a:latin typeface="+mj-lt"/>
                    <a:ea typeface="Meiryo UI" panose="020B0604030504040204" pitchFamily="50" charset="-128"/>
                  </a:rPr>
                  <a:t>管理会計</a:t>
                </a:r>
                <a:endParaRPr kumimoji="1" lang="en-US" altLang="ja-JP" sz="800" b="1">
                  <a:solidFill>
                    <a:schemeClr val="bg1"/>
                  </a:solidFill>
                  <a:latin typeface="+mj-lt"/>
                  <a:ea typeface="Meiryo UI" panose="020B0604030504040204" pitchFamily="50" charset="-128"/>
                </a:endParaRPr>
              </a:p>
            </p:txBody>
          </p:sp>
          <p:sp>
            <p:nvSpPr>
              <p:cNvPr id="88" name="正方形/長方形 87">
                <a:extLst>
                  <a:ext uri="{FF2B5EF4-FFF2-40B4-BE49-F238E27FC236}">
                    <a16:creationId xmlns:a16="http://schemas.microsoft.com/office/drawing/2014/main" id="{A614669A-512A-813F-C7ED-88EE49D30DF4}"/>
                  </a:ext>
                </a:extLst>
              </p:cNvPr>
              <p:cNvSpPr/>
              <p:nvPr/>
            </p:nvSpPr>
            <p:spPr>
              <a:xfrm>
                <a:off x="7211187" y="3402480"/>
                <a:ext cx="638796" cy="1388451"/>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b="1">
                    <a:solidFill>
                      <a:schemeClr val="tx1">
                        <a:lumMod val="65000"/>
                        <a:lumOff val="35000"/>
                      </a:schemeClr>
                    </a:solidFill>
                    <a:latin typeface="+mj-lt"/>
                  </a:rPr>
                  <a:t>SAP</a:t>
                </a:r>
              </a:p>
              <a:p>
                <a:pPr algn="ctr"/>
                <a:r>
                  <a:rPr lang="en-US" altLang="ja-JP" sz="800" b="1">
                    <a:solidFill>
                      <a:schemeClr val="tx1">
                        <a:lumMod val="65000"/>
                        <a:lumOff val="35000"/>
                      </a:schemeClr>
                    </a:solidFill>
                    <a:latin typeface="+mj-lt"/>
                  </a:rPr>
                  <a:t>NEXUS</a:t>
                </a:r>
              </a:p>
              <a:p>
                <a:pPr algn="ctr"/>
                <a:r>
                  <a:rPr lang="ja-JP" altLang="en-US" sz="800">
                    <a:solidFill>
                      <a:schemeClr val="tx1">
                        <a:lumMod val="65000"/>
                        <a:lumOff val="35000"/>
                      </a:schemeClr>
                    </a:solidFill>
                    <a:latin typeface="+mj-lt"/>
                  </a:rPr>
                  <a:t>事業</a:t>
                </a:r>
                <a:r>
                  <a:rPr lang="en-US" altLang="ja-JP" sz="800">
                    <a:solidFill>
                      <a:schemeClr val="tx1">
                        <a:lumMod val="65000"/>
                        <a:lumOff val="35000"/>
                      </a:schemeClr>
                    </a:solidFill>
                    <a:latin typeface="+mj-lt"/>
                  </a:rPr>
                  <a:t>Neo</a:t>
                </a:r>
              </a:p>
              <a:p>
                <a:pPr algn="ctr"/>
                <a:r>
                  <a:rPr lang="en-US" altLang="ja-JP" sz="800">
                    <a:solidFill>
                      <a:schemeClr val="tx1">
                        <a:lumMod val="65000"/>
                        <a:lumOff val="35000"/>
                      </a:schemeClr>
                    </a:solidFill>
                    <a:latin typeface="+mj-lt"/>
                  </a:rPr>
                  <a:t>PV</a:t>
                </a:r>
                <a:r>
                  <a:rPr lang="ja-JP" altLang="en-US" sz="800">
                    <a:solidFill>
                      <a:schemeClr val="tx1">
                        <a:lumMod val="65000"/>
                        <a:lumOff val="35000"/>
                      </a:schemeClr>
                    </a:solidFill>
                    <a:latin typeface="+mj-lt"/>
                  </a:rPr>
                  <a:t>システム</a:t>
                </a:r>
                <a:endParaRPr lang="en-US" altLang="ja-JP" sz="800">
                  <a:solidFill>
                    <a:schemeClr val="tx1">
                      <a:lumMod val="65000"/>
                      <a:lumOff val="35000"/>
                    </a:schemeClr>
                  </a:solidFill>
                  <a:latin typeface="+mj-lt"/>
                </a:endParaRPr>
              </a:p>
            </p:txBody>
          </p:sp>
          <p:sp>
            <p:nvSpPr>
              <p:cNvPr id="89" name="正方形/長方形 88">
                <a:extLst>
                  <a:ext uri="{FF2B5EF4-FFF2-40B4-BE49-F238E27FC236}">
                    <a16:creationId xmlns:a16="http://schemas.microsoft.com/office/drawing/2014/main" id="{319F1843-68EC-F65C-4EBC-3347D11F7703}"/>
                  </a:ext>
                </a:extLst>
              </p:cNvPr>
              <p:cNvSpPr/>
              <p:nvPr/>
            </p:nvSpPr>
            <p:spPr>
              <a:xfrm>
                <a:off x="9430100" y="3400877"/>
                <a:ext cx="638795"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a:solidFill>
                      <a:schemeClr val="tx1"/>
                    </a:solidFill>
                    <a:latin typeface="+mj-lt"/>
                  </a:rPr>
                  <a:t>RETMAS</a:t>
                </a:r>
              </a:p>
              <a:p>
                <a:pPr algn="ctr"/>
                <a:r>
                  <a:rPr lang="ja-JP" altLang="en-US" sz="600">
                    <a:solidFill>
                      <a:schemeClr val="tx1"/>
                    </a:solidFill>
                    <a:latin typeface="+mj-lt"/>
                  </a:rPr>
                  <a:t>（会計システム）</a:t>
                </a:r>
                <a:endParaRPr lang="en-US" altLang="ja-JP" sz="600">
                  <a:solidFill>
                    <a:schemeClr val="tx1"/>
                  </a:solidFill>
                  <a:latin typeface="+mj-lt"/>
                </a:endParaRPr>
              </a:p>
            </p:txBody>
          </p:sp>
          <p:sp>
            <p:nvSpPr>
              <p:cNvPr id="90" name="正方形/長方形 89">
                <a:extLst>
                  <a:ext uri="{FF2B5EF4-FFF2-40B4-BE49-F238E27FC236}">
                    <a16:creationId xmlns:a16="http://schemas.microsoft.com/office/drawing/2014/main" id="{28222C56-2DBE-102D-8E94-D61D87D14CD4}"/>
                  </a:ext>
                </a:extLst>
              </p:cNvPr>
              <p:cNvSpPr/>
              <p:nvPr/>
            </p:nvSpPr>
            <p:spPr>
              <a:xfrm>
                <a:off x="10211997" y="3400877"/>
                <a:ext cx="638795"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a:solidFill>
                      <a:schemeClr val="tx1"/>
                    </a:solidFill>
                    <a:latin typeface="+mj-lt"/>
                  </a:rPr>
                  <a:t>データ</a:t>
                </a:r>
                <a:r>
                  <a:rPr lang="en-US" altLang="ja-JP" sz="800">
                    <a:solidFill>
                      <a:schemeClr val="tx1"/>
                    </a:solidFill>
                    <a:latin typeface="+mj-lt"/>
                  </a:rPr>
                  <a:t>DL</a:t>
                </a:r>
              </a:p>
              <a:p>
                <a:pPr algn="ctr"/>
                <a:r>
                  <a:rPr lang="ja-JP" altLang="en-US" sz="600">
                    <a:solidFill>
                      <a:schemeClr val="tx1"/>
                    </a:solidFill>
                    <a:latin typeface="+mj-lt"/>
                  </a:rPr>
                  <a:t>（手作業）</a:t>
                </a:r>
                <a:endParaRPr lang="en-US" altLang="ja-JP" sz="600">
                  <a:solidFill>
                    <a:schemeClr val="tx1"/>
                  </a:solidFill>
                  <a:latin typeface="+mj-lt"/>
                </a:endParaRPr>
              </a:p>
            </p:txBody>
          </p:sp>
          <p:sp>
            <p:nvSpPr>
              <p:cNvPr id="91" name="正方形/長方形 90">
                <a:extLst>
                  <a:ext uri="{FF2B5EF4-FFF2-40B4-BE49-F238E27FC236}">
                    <a16:creationId xmlns:a16="http://schemas.microsoft.com/office/drawing/2014/main" id="{8DC5FFC9-879A-2E47-E0D8-1C33123C8370}"/>
                  </a:ext>
                </a:extLst>
              </p:cNvPr>
              <p:cNvSpPr/>
              <p:nvPr/>
            </p:nvSpPr>
            <p:spPr>
              <a:xfrm>
                <a:off x="11026875" y="3400877"/>
                <a:ext cx="638795"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tx1"/>
                    </a:solidFill>
                    <a:latin typeface="+mj-lt"/>
                  </a:rPr>
                  <a:t>FPA &amp; </a:t>
                </a:r>
                <a:r>
                  <a:rPr lang="ja-JP" altLang="en-US" sz="800" dirty="0">
                    <a:solidFill>
                      <a:schemeClr val="tx1"/>
                    </a:solidFill>
                    <a:latin typeface="+mj-lt"/>
                  </a:rPr>
                  <a:t>収支</a:t>
                </a:r>
                <a:endParaRPr lang="en-US" altLang="ja-JP" sz="800" dirty="0">
                  <a:solidFill>
                    <a:schemeClr val="tx1"/>
                  </a:solidFill>
                  <a:latin typeface="+mj-lt"/>
                </a:endParaRPr>
              </a:p>
            </p:txBody>
          </p:sp>
          <p:cxnSp>
            <p:nvCxnSpPr>
              <p:cNvPr id="92" name="直線矢印コネクタ 91">
                <a:extLst>
                  <a:ext uri="{FF2B5EF4-FFF2-40B4-BE49-F238E27FC236}">
                    <a16:creationId xmlns:a16="http://schemas.microsoft.com/office/drawing/2014/main" id="{3CBB0D76-6791-7ACC-BA39-5308E1199494}"/>
                  </a:ext>
                </a:extLst>
              </p:cNvPr>
              <p:cNvCxnSpPr>
                <a:cxnSpLocks/>
              </p:cNvCxnSpPr>
              <p:nvPr/>
            </p:nvCxnSpPr>
            <p:spPr>
              <a:xfrm>
                <a:off x="10059055" y="3561200"/>
                <a:ext cx="146293"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3" name="二等辺三角形 127">
                <a:extLst>
                  <a:ext uri="{FF2B5EF4-FFF2-40B4-BE49-F238E27FC236}">
                    <a16:creationId xmlns:a16="http://schemas.microsoft.com/office/drawing/2014/main" id="{6D77973B-0B8E-3B19-4556-20E5060BBE42}"/>
                  </a:ext>
                </a:extLst>
              </p:cNvPr>
              <p:cNvSpPr/>
              <p:nvPr/>
            </p:nvSpPr>
            <p:spPr>
              <a:xfrm rot="5400000">
                <a:off x="7853478" y="2961322"/>
                <a:ext cx="93377" cy="31487"/>
              </a:xfrm>
              <a:prstGeom prst="triangle">
                <a:avLst/>
              </a:prstGeom>
              <a:solidFill>
                <a:schemeClr val="bg1">
                  <a:lumMod val="75000"/>
                </a:schemeClr>
              </a:solidFill>
              <a:ln w="9525">
                <a:solidFill>
                  <a:srgbClr val="B4B4B4"/>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a:endParaRPr kumimoji="1" lang="ja-JP" altLang="en-US" sz="800">
                  <a:solidFill>
                    <a:schemeClr val="accent4">
                      <a:lumMod val="65000"/>
                      <a:lumOff val="35000"/>
                    </a:schemeClr>
                  </a:solidFill>
                  <a:latin typeface="+mj-lt"/>
                  <a:cs typeface="Hiragino Kaku Gothic Pro W3" charset="-128"/>
                </a:endParaRPr>
              </a:p>
            </p:txBody>
          </p:sp>
          <p:sp>
            <p:nvSpPr>
              <p:cNvPr id="94" name="二等辺三角形 128">
                <a:extLst>
                  <a:ext uri="{FF2B5EF4-FFF2-40B4-BE49-F238E27FC236}">
                    <a16:creationId xmlns:a16="http://schemas.microsoft.com/office/drawing/2014/main" id="{C6183F80-4B3D-169E-E68E-1ADA198115D8}"/>
                  </a:ext>
                </a:extLst>
              </p:cNvPr>
              <p:cNvSpPr/>
              <p:nvPr/>
            </p:nvSpPr>
            <p:spPr>
              <a:xfrm rot="5400000">
                <a:off x="10109227" y="2961322"/>
                <a:ext cx="93377" cy="31487"/>
              </a:xfrm>
              <a:prstGeom prst="triangle">
                <a:avLst/>
              </a:prstGeom>
              <a:solidFill>
                <a:schemeClr val="bg1">
                  <a:lumMod val="75000"/>
                </a:schemeClr>
              </a:solidFill>
              <a:ln w="9525">
                <a:solidFill>
                  <a:srgbClr val="B4B4B4"/>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a:endParaRPr kumimoji="1" lang="ja-JP" altLang="en-US" sz="800">
                  <a:solidFill>
                    <a:schemeClr val="accent4">
                      <a:lumMod val="65000"/>
                      <a:lumOff val="35000"/>
                    </a:schemeClr>
                  </a:solidFill>
                  <a:latin typeface="+mj-lt"/>
                  <a:cs typeface="Hiragino Kaku Gothic Pro W3" charset="-128"/>
                </a:endParaRPr>
              </a:p>
            </p:txBody>
          </p:sp>
          <p:sp>
            <p:nvSpPr>
              <p:cNvPr id="95" name="正方形/長方形 94">
                <a:extLst>
                  <a:ext uri="{FF2B5EF4-FFF2-40B4-BE49-F238E27FC236}">
                    <a16:creationId xmlns:a16="http://schemas.microsoft.com/office/drawing/2014/main" id="{297DC22D-118B-A0AB-BE1E-249CE959C33F}"/>
                  </a:ext>
                </a:extLst>
              </p:cNvPr>
              <p:cNvSpPr/>
              <p:nvPr/>
            </p:nvSpPr>
            <p:spPr>
              <a:xfrm>
                <a:off x="10211997" y="3774501"/>
                <a:ext cx="636407" cy="265383"/>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Access</a:t>
                </a:r>
              </a:p>
              <a:p>
                <a:pPr algn="ctr"/>
                <a:r>
                  <a:rPr lang="en-US" altLang="ja-JP" sz="800">
                    <a:solidFill>
                      <a:schemeClr val="tx1"/>
                    </a:solidFill>
                    <a:latin typeface="+mj-lt"/>
                  </a:rPr>
                  <a:t>/Excel</a:t>
                </a:r>
              </a:p>
            </p:txBody>
          </p:sp>
          <p:cxnSp>
            <p:nvCxnSpPr>
              <p:cNvPr id="96" name="直線矢印コネクタ 95">
                <a:extLst>
                  <a:ext uri="{FF2B5EF4-FFF2-40B4-BE49-F238E27FC236}">
                    <a16:creationId xmlns:a16="http://schemas.microsoft.com/office/drawing/2014/main" id="{3CE5D767-5D90-C984-2E24-EF8D92592577}"/>
                  </a:ext>
                </a:extLst>
              </p:cNvPr>
              <p:cNvCxnSpPr>
                <a:cxnSpLocks/>
              </p:cNvCxnSpPr>
              <p:nvPr/>
            </p:nvCxnSpPr>
            <p:spPr>
              <a:xfrm>
                <a:off x="10059055" y="3914294"/>
                <a:ext cx="146293"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7" name="正方形/長方形 96">
                <a:extLst>
                  <a:ext uri="{FF2B5EF4-FFF2-40B4-BE49-F238E27FC236}">
                    <a16:creationId xmlns:a16="http://schemas.microsoft.com/office/drawing/2014/main" id="{5382EB8F-25A5-EEBD-5FD9-0508F1810AA0}"/>
                  </a:ext>
                </a:extLst>
              </p:cNvPr>
              <p:cNvSpPr/>
              <p:nvPr/>
            </p:nvSpPr>
            <p:spPr>
              <a:xfrm>
                <a:off x="11026875" y="4783898"/>
                <a:ext cx="638795" cy="252000"/>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solidFill>
                    <a:latin typeface="+mj-lt"/>
                  </a:rPr>
                  <a:t>周辺システム</a:t>
                </a:r>
                <a:endParaRPr lang="en-US" altLang="ja-JP" sz="800" dirty="0">
                  <a:solidFill>
                    <a:schemeClr val="tx1"/>
                  </a:solidFill>
                  <a:latin typeface="+mj-lt"/>
                </a:endParaRPr>
              </a:p>
            </p:txBody>
          </p:sp>
          <p:cxnSp>
            <p:nvCxnSpPr>
              <p:cNvPr id="98" name="直線矢印コネクタ 97">
                <a:extLst>
                  <a:ext uri="{FF2B5EF4-FFF2-40B4-BE49-F238E27FC236}">
                    <a16:creationId xmlns:a16="http://schemas.microsoft.com/office/drawing/2014/main" id="{96ABD691-22A7-2783-7CB0-91FB0690DBEE}"/>
                  </a:ext>
                </a:extLst>
              </p:cNvPr>
              <p:cNvCxnSpPr>
                <a:cxnSpLocks/>
              </p:cNvCxnSpPr>
              <p:nvPr/>
            </p:nvCxnSpPr>
            <p:spPr>
              <a:xfrm>
                <a:off x="9305442" y="3914294"/>
                <a:ext cx="144000"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線矢印コネクタ 98">
                <a:extLst>
                  <a:ext uri="{FF2B5EF4-FFF2-40B4-BE49-F238E27FC236}">
                    <a16:creationId xmlns:a16="http://schemas.microsoft.com/office/drawing/2014/main" id="{DE9D1A80-2A2F-1C22-AF30-0F0E2A4D2D83}"/>
                  </a:ext>
                </a:extLst>
              </p:cNvPr>
              <p:cNvCxnSpPr>
                <a:cxnSpLocks/>
              </p:cNvCxnSpPr>
              <p:nvPr/>
            </p:nvCxnSpPr>
            <p:spPr>
              <a:xfrm>
                <a:off x="9305442" y="3561200"/>
                <a:ext cx="144000"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線矢印コネクタ 99">
                <a:extLst>
                  <a:ext uri="{FF2B5EF4-FFF2-40B4-BE49-F238E27FC236}">
                    <a16:creationId xmlns:a16="http://schemas.microsoft.com/office/drawing/2014/main" id="{8D1AC873-5362-5BF6-D68F-F365CAEA8918}"/>
                  </a:ext>
                </a:extLst>
              </p:cNvPr>
              <p:cNvCxnSpPr>
                <a:cxnSpLocks/>
              </p:cNvCxnSpPr>
              <p:nvPr/>
            </p:nvCxnSpPr>
            <p:spPr>
              <a:xfrm>
                <a:off x="10844441" y="3561200"/>
                <a:ext cx="174283"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1" name="正方形/長方形 100">
                <a:extLst>
                  <a:ext uri="{FF2B5EF4-FFF2-40B4-BE49-F238E27FC236}">
                    <a16:creationId xmlns:a16="http://schemas.microsoft.com/office/drawing/2014/main" id="{2C8E2455-C145-ADAC-34ED-20A00B1E3E17}"/>
                  </a:ext>
                </a:extLst>
              </p:cNvPr>
              <p:cNvSpPr/>
              <p:nvPr/>
            </p:nvSpPr>
            <p:spPr>
              <a:xfrm>
                <a:off x="11026875" y="3774501"/>
                <a:ext cx="638796" cy="265383"/>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dirty="0">
                    <a:solidFill>
                      <a:schemeClr val="tx1"/>
                    </a:solidFill>
                    <a:latin typeface="+mj-lt"/>
                  </a:rPr>
                  <a:t>HR</a:t>
                </a:r>
              </a:p>
            </p:txBody>
          </p:sp>
          <p:cxnSp>
            <p:nvCxnSpPr>
              <p:cNvPr id="102" name="直線矢印コネクタ 101">
                <a:extLst>
                  <a:ext uri="{FF2B5EF4-FFF2-40B4-BE49-F238E27FC236}">
                    <a16:creationId xmlns:a16="http://schemas.microsoft.com/office/drawing/2014/main" id="{374F2034-3C30-9630-922E-DA67EEE49A05}"/>
                  </a:ext>
                </a:extLst>
              </p:cNvPr>
              <p:cNvCxnSpPr>
                <a:cxnSpLocks/>
                <a:stCxn id="95" idx="3"/>
                <a:endCxn id="101" idx="1"/>
              </p:cNvCxnSpPr>
              <p:nvPr/>
            </p:nvCxnSpPr>
            <p:spPr>
              <a:xfrm>
                <a:off x="10848404" y="3907193"/>
                <a:ext cx="178471"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矢印コネクタ 102">
                <a:extLst>
                  <a:ext uri="{FF2B5EF4-FFF2-40B4-BE49-F238E27FC236}">
                    <a16:creationId xmlns:a16="http://schemas.microsoft.com/office/drawing/2014/main" id="{6139C005-24A4-5A4B-02FD-935DEEA3C96B}"/>
                  </a:ext>
                </a:extLst>
              </p:cNvPr>
              <p:cNvCxnSpPr>
                <a:cxnSpLocks/>
              </p:cNvCxnSpPr>
              <p:nvPr/>
            </p:nvCxnSpPr>
            <p:spPr>
              <a:xfrm>
                <a:off x="7849982" y="4008999"/>
                <a:ext cx="100370" cy="0"/>
              </a:xfrm>
              <a:prstGeom prst="straightConnector1">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4" name="正方形/長方形 103">
                <a:extLst>
                  <a:ext uri="{FF2B5EF4-FFF2-40B4-BE49-F238E27FC236}">
                    <a16:creationId xmlns:a16="http://schemas.microsoft.com/office/drawing/2014/main" id="{6376B50F-F177-18DE-B88A-7622CB175F86}"/>
                  </a:ext>
                </a:extLst>
              </p:cNvPr>
              <p:cNvSpPr/>
              <p:nvPr/>
            </p:nvSpPr>
            <p:spPr>
              <a:xfrm>
                <a:off x="9429651" y="3774501"/>
                <a:ext cx="636407" cy="272677"/>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RINDBIRG</a:t>
                </a:r>
              </a:p>
              <a:p>
                <a:pPr algn="ctr"/>
                <a:r>
                  <a:rPr lang="en-US" altLang="ja-JP" sz="800">
                    <a:solidFill>
                      <a:schemeClr val="tx1"/>
                    </a:solidFill>
                    <a:latin typeface="+mj-lt"/>
                  </a:rPr>
                  <a:t>View</a:t>
                </a:r>
              </a:p>
            </p:txBody>
          </p:sp>
          <p:sp>
            <p:nvSpPr>
              <p:cNvPr id="105" name="正方形/長方形 104">
                <a:extLst>
                  <a:ext uri="{FF2B5EF4-FFF2-40B4-BE49-F238E27FC236}">
                    <a16:creationId xmlns:a16="http://schemas.microsoft.com/office/drawing/2014/main" id="{8904AF17-763C-A595-A20B-C35544902EC3}"/>
                  </a:ext>
                </a:extLst>
              </p:cNvPr>
              <p:cNvSpPr/>
              <p:nvPr/>
            </p:nvSpPr>
            <p:spPr>
              <a:xfrm>
                <a:off x="8829444" y="4152493"/>
                <a:ext cx="1262750" cy="185899"/>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err="1">
                    <a:solidFill>
                      <a:schemeClr val="tx1">
                        <a:lumMod val="65000"/>
                        <a:lumOff val="35000"/>
                      </a:schemeClr>
                    </a:solidFill>
                    <a:latin typeface="+mj-lt"/>
                  </a:rPr>
                  <a:t>BigQuery</a:t>
                </a:r>
                <a:r>
                  <a:rPr lang="ja-JP" altLang="en-US" sz="800">
                    <a:solidFill>
                      <a:schemeClr val="tx1">
                        <a:lumMod val="65000"/>
                        <a:lumOff val="35000"/>
                      </a:schemeClr>
                    </a:solidFill>
                    <a:latin typeface="+mj-lt"/>
                  </a:rPr>
                  <a:t>（</a:t>
                </a:r>
                <a:r>
                  <a:rPr lang="en-US" altLang="ja-JP" sz="800">
                    <a:solidFill>
                      <a:schemeClr val="tx1">
                        <a:lumMod val="65000"/>
                        <a:lumOff val="35000"/>
                      </a:schemeClr>
                    </a:solidFill>
                    <a:latin typeface="+mj-lt"/>
                  </a:rPr>
                  <a:t>BQ</a:t>
                </a:r>
                <a:r>
                  <a:rPr lang="ja-JP" altLang="en-US" sz="800">
                    <a:solidFill>
                      <a:schemeClr val="tx1">
                        <a:lumMod val="65000"/>
                        <a:lumOff val="35000"/>
                      </a:schemeClr>
                    </a:solidFill>
                    <a:latin typeface="+mj-lt"/>
                  </a:rPr>
                  <a:t>）</a:t>
                </a:r>
                <a:endParaRPr lang="en-US" altLang="ja-JP" sz="800">
                  <a:solidFill>
                    <a:schemeClr val="tx1">
                      <a:lumMod val="65000"/>
                      <a:lumOff val="35000"/>
                    </a:schemeClr>
                  </a:solidFill>
                  <a:latin typeface="+mj-lt"/>
                </a:endParaRPr>
              </a:p>
            </p:txBody>
          </p:sp>
          <p:sp>
            <p:nvSpPr>
              <p:cNvPr id="106" name="正方形/長方形 105">
                <a:extLst>
                  <a:ext uri="{FF2B5EF4-FFF2-40B4-BE49-F238E27FC236}">
                    <a16:creationId xmlns:a16="http://schemas.microsoft.com/office/drawing/2014/main" id="{5682845B-2CAB-B11B-BEF0-05E6202D9B4D}"/>
                  </a:ext>
                </a:extLst>
              </p:cNvPr>
              <p:cNvSpPr/>
              <p:nvPr/>
            </p:nvSpPr>
            <p:spPr>
              <a:xfrm>
                <a:off x="10211997" y="4152493"/>
                <a:ext cx="638796" cy="209856"/>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lumMod val="65000"/>
                        <a:lumOff val="35000"/>
                      </a:schemeClr>
                    </a:solidFill>
                    <a:latin typeface="+mj-lt"/>
                  </a:rPr>
                  <a:t>スプシ</a:t>
                </a:r>
                <a:endParaRPr lang="en-US" altLang="ja-JP" sz="800" dirty="0">
                  <a:solidFill>
                    <a:schemeClr val="tx1">
                      <a:lumMod val="65000"/>
                      <a:lumOff val="35000"/>
                    </a:schemeClr>
                  </a:solidFill>
                  <a:latin typeface="+mj-lt"/>
                </a:endParaRPr>
              </a:p>
              <a:p>
                <a:pPr algn="ctr"/>
                <a:r>
                  <a:rPr lang="en-US" altLang="ja-JP" sz="800" dirty="0">
                    <a:solidFill>
                      <a:schemeClr val="tx1">
                        <a:lumMod val="65000"/>
                        <a:lumOff val="35000"/>
                      </a:schemeClr>
                    </a:solidFill>
                    <a:latin typeface="+mj-lt"/>
                  </a:rPr>
                  <a:t>/GAS</a:t>
                </a:r>
              </a:p>
            </p:txBody>
          </p:sp>
          <p:cxnSp>
            <p:nvCxnSpPr>
              <p:cNvPr id="107" name="直線矢印コネクタ 106">
                <a:extLst>
                  <a:ext uri="{FF2B5EF4-FFF2-40B4-BE49-F238E27FC236}">
                    <a16:creationId xmlns:a16="http://schemas.microsoft.com/office/drawing/2014/main" id="{70AEF176-71C1-B4AA-2074-FB79A589FABD}"/>
                  </a:ext>
                </a:extLst>
              </p:cNvPr>
              <p:cNvCxnSpPr>
                <a:cxnSpLocks/>
              </p:cNvCxnSpPr>
              <p:nvPr/>
            </p:nvCxnSpPr>
            <p:spPr>
              <a:xfrm>
                <a:off x="10056878" y="4257421"/>
                <a:ext cx="180000" cy="0"/>
              </a:xfrm>
              <a:prstGeom prst="straightConnector1">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8" name="正方形/長方形 107">
                <a:extLst>
                  <a:ext uri="{FF2B5EF4-FFF2-40B4-BE49-F238E27FC236}">
                    <a16:creationId xmlns:a16="http://schemas.microsoft.com/office/drawing/2014/main" id="{312401D5-D537-4B73-5EFE-23D4FBF2C469}"/>
                  </a:ext>
                </a:extLst>
              </p:cNvPr>
              <p:cNvSpPr/>
              <p:nvPr/>
            </p:nvSpPr>
            <p:spPr>
              <a:xfrm>
                <a:off x="8308748" y="4145607"/>
                <a:ext cx="432939" cy="209856"/>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a:solidFill>
                      <a:schemeClr val="tx1">
                        <a:lumMod val="65000"/>
                        <a:lumOff val="35000"/>
                      </a:schemeClr>
                    </a:solidFill>
                    <a:latin typeface="+mj-lt"/>
                  </a:rPr>
                  <a:t>中継処理</a:t>
                </a:r>
                <a:endParaRPr lang="en-US" altLang="ja-JP" sz="800">
                  <a:solidFill>
                    <a:schemeClr val="tx1">
                      <a:lumMod val="65000"/>
                      <a:lumOff val="35000"/>
                    </a:schemeClr>
                  </a:solidFill>
                  <a:latin typeface="+mj-lt"/>
                </a:endParaRPr>
              </a:p>
            </p:txBody>
          </p:sp>
          <p:cxnSp>
            <p:nvCxnSpPr>
              <p:cNvPr id="109" name="直線矢印コネクタ 108">
                <a:extLst>
                  <a:ext uri="{FF2B5EF4-FFF2-40B4-BE49-F238E27FC236}">
                    <a16:creationId xmlns:a16="http://schemas.microsoft.com/office/drawing/2014/main" id="{8889922D-00FA-B00F-03BE-6B0E5450A759}"/>
                  </a:ext>
                </a:extLst>
              </p:cNvPr>
              <p:cNvCxnSpPr>
                <a:cxnSpLocks/>
              </p:cNvCxnSpPr>
              <p:nvPr/>
            </p:nvCxnSpPr>
            <p:spPr>
              <a:xfrm>
                <a:off x="8748037" y="4250535"/>
                <a:ext cx="114852" cy="0"/>
              </a:xfrm>
              <a:prstGeom prst="straightConnector1">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0" name="正方形/長方形 109">
                <a:extLst>
                  <a:ext uri="{FF2B5EF4-FFF2-40B4-BE49-F238E27FC236}">
                    <a16:creationId xmlns:a16="http://schemas.microsoft.com/office/drawing/2014/main" id="{4A675B83-C4DE-66B2-7E33-588AB0FD02B2}"/>
                  </a:ext>
                </a:extLst>
              </p:cNvPr>
              <p:cNvSpPr/>
              <p:nvPr/>
            </p:nvSpPr>
            <p:spPr>
              <a:xfrm>
                <a:off x="11024389" y="4152493"/>
                <a:ext cx="638796" cy="209856"/>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tx1"/>
                    </a:solidFill>
                    <a:latin typeface="+mj-lt"/>
                  </a:rPr>
                  <a:t>JJ </a:t>
                </a:r>
                <a:r>
                  <a:rPr lang="ja-JP" altLang="en-US" sz="800" dirty="0">
                    <a:solidFill>
                      <a:schemeClr val="tx1"/>
                    </a:solidFill>
                    <a:latin typeface="+mj-lt"/>
                  </a:rPr>
                  <a:t>＆ 学び</a:t>
                </a:r>
                <a:endParaRPr lang="en-US" altLang="ja-JP" sz="800" dirty="0">
                  <a:solidFill>
                    <a:schemeClr val="tx1"/>
                  </a:solidFill>
                  <a:latin typeface="+mj-lt"/>
                </a:endParaRPr>
              </a:p>
            </p:txBody>
          </p:sp>
          <p:cxnSp>
            <p:nvCxnSpPr>
              <p:cNvPr id="111" name="直線矢印コネクタ 110">
                <a:extLst>
                  <a:ext uri="{FF2B5EF4-FFF2-40B4-BE49-F238E27FC236}">
                    <a16:creationId xmlns:a16="http://schemas.microsoft.com/office/drawing/2014/main" id="{A6C9033D-7C88-F86E-C346-126C129940EA}"/>
                  </a:ext>
                </a:extLst>
              </p:cNvPr>
              <p:cNvCxnSpPr>
                <a:cxnSpLocks/>
              </p:cNvCxnSpPr>
              <p:nvPr/>
            </p:nvCxnSpPr>
            <p:spPr>
              <a:xfrm>
                <a:off x="10850793" y="4257421"/>
                <a:ext cx="173596" cy="0"/>
              </a:xfrm>
              <a:prstGeom prst="straightConnector1">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3" name="正方形/長方形 112">
                <a:extLst>
                  <a:ext uri="{FF2B5EF4-FFF2-40B4-BE49-F238E27FC236}">
                    <a16:creationId xmlns:a16="http://schemas.microsoft.com/office/drawing/2014/main" id="{A427B2EA-EB0D-2FEA-D0E6-89E336DED18F}"/>
                  </a:ext>
                </a:extLst>
              </p:cNvPr>
              <p:cNvSpPr/>
              <p:nvPr/>
            </p:nvSpPr>
            <p:spPr>
              <a:xfrm>
                <a:off x="6672169" y="4465240"/>
                <a:ext cx="476862" cy="316479"/>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b="1">
                    <a:solidFill>
                      <a:schemeClr val="bg1"/>
                    </a:solidFill>
                    <a:latin typeface="+mj-lt"/>
                    <a:ea typeface="Meiryo UI" panose="020B0604030504040204" pitchFamily="50" charset="-128"/>
                  </a:rPr>
                  <a:t>その他</a:t>
                </a:r>
                <a:endParaRPr lang="en-US" altLang="ja-JP" sz="800" b="1">
                  <a:solidFill>
                    <a:schemeClr val="bg1"/>
                  </a:solidFill>
                  <a:latin typeface="+mj-lt"/>
                  <a:ea typeface="Meiryo UI" panose="020B0604030504040204" pitchFamily="50" charset="-128"/>
                </a:endParaRPr>
              </a:p>
              <a:p>
                <a:pPr algn="ctr"/>
                <a:r>
                  <a:rPr kumimoji="1" lang="ja-JP" altLang="en-US" sz="800" b="1">
                    <a:solidFill>
                      <a:schemeClr val="bg1"/>
                    </a:solidFill>
                    <a:latin typeface="+mj-lt"/>
                    <a:ea typeface="Meiryo UI" panose="020B0604030504040204" pitchFamily="50" charset="-128"/>
                  </a:rPr>
                  <a:t>利活用</a:t>
                </a:r>
                <a:endParaRPr kumimoji="1" lang="en-US" altLang="ja-JP" sz="800" b="1">
                  <a:solidFill>
                    <a:schemeClr val="bg1"/>
                  </a:solidFill>
                  <a:latin typeface="+mj-lt"/>
                  <a:ea typeface="Meiryo UI" panose="020B0604030504040204" pitchFamily="50" charset="-128"/>
                </a:endParaRPr>
              </a:p>
            </p:txBody>
          </p:sp>
          <p:cxnSp>
            <p:nvCxnSpPr>
              <p:cNvPr id="114" name="直線矢印コネクタ 113">
                <a:extLst>
                  <a:ext uri="{FF2B5EF4-FFF2-40B4-BE49-F238E27FC236}">
                    <a16:creationId xmlns:a16="http://schemas.microsoft.com/office/drawing/2014/main" id="{4C5AE470-432E-4735-50BA-921040BCDC84}"/>
                  </a:ext>
                </a:extLst>
              </p:cNvPr>
              <p:cNvCxnSpPr>
                <a:cxnSpLocks/>
              </p:cNvCxnSpPr>
              <p:nvPr/>
            </p:nvCxnSpPr>
            <p:spPr>
              <a:xfrm>
                <a:off x="8510822" y="4022490"/>
                <a:ext cx="0" cy="170033"/>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矢印コネクタ 230">
                <a:extLst>
                  <a:ext uri="{FF2B5EF4-FFF2-40B4-BE49-F238E27FC236}">
                    <a16:creationId xmlns:a16="http://schemas.microsoft.com/office/drawing/2014/main" id="{28F4328D-EF9A-0927-3366-909EDDF7E65F}"/>
                  </a:ext>
                </a:extLst>
              </p:cNvPr>
              <p:cNvCxnSpPr>
                <a:cxnSpLocks/>
                <a:endCxn id="97" idx="1"/>
              </p:cNvCxnSpPr>
              <p:nvPr/>
            </p:nvCxnSpPr>
            <p:spPr>
              <a:xfrm>
                <a:off x="8272909" y="4039884"/>
                <a:ext cx="2753966" cy="870014"/>
              </a:xfrm>
              <a:prstGeom prst="bentConnector3">
                <a:avLst>
                  <a:gd name="adj1" fmla="val -112"/>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4" name="正方形/長方形 123">
                <a:extLst>
                  <a:ext uri="{FF2B5EF4-FFF2-40B4-BE49-F238E27FC236}">
                    <a16:creationId xmlns:a16="http://schemas.microsoft.com/office/drawing/2014/main" id="{2556C68D-0854-BF05-E0FC-955928E76D92}"/>
                  </a:ext>
                </a:extLst>
              </p:cNvPr>
              <p:cNvSpPr/>
              <p:nvPr/>
            </p:nvSpPr>
            <p:spPr>
              <a:xfrm>
                <a:off x="11024389" y="4467277"/>
                <a:ext cx="638796" cy="209856"/>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solidFill>
                    <a:latin typeface="+mj-lt"/>
                  </a:rPr>
                  <a:t>経理</a:t>
                </a:r>
                <a:endParaRPr lang="en-US" altLang="ja-JP" sz="800" dirty="0">
                  <a:solidFill>
                    <a:schemeClr val="tx1"/>
                  </a:solidFill>
                  <a:latin typeface="+mj-lt"/>
                </a:endParaRPr>
              </a:p>
            </p:txBody>
          </p:sp>
          <p:cxnSp>
            <p:nvCxnSpPr>
              <p:cNvPr id="125" name="直線矢印コネクタ 124">
                <a:extLst>
                  <a:ext uri="{FF2B5EF4-FFF2-40B4-BE49-F238E27FC236}">
                    <a16:creationId xmlns:a16="http://schemas.microsoft.com/office/drawing/2014/main" id="{5786E8D2-48B7-FE2E-1B5D-2BD534A4F5F5}"/>
                  </a:ext>
                </a:extLst>
              </p:cNvPr>
              <p:cNvCxnSpPr>
                <a:cxnSpLocks/>
                <a:stCxn id="106" idx="3"/>
                <a:endCxn id="124" idx="1"/>
              </p:cNvCxnSpPr>
              <p:nvPr/>
            </p:nvCxnSpPr>
            <p:spPr>
              <a:xfrm>
                <a:off x="10850793" y="4257421"/>
                <a:ext cx="173596" cy="314784"/>
              </a:xfrm>
              <a:prstGeom prst="bentConnector3">
                <a:avLst>
                  <a:gd name="adj1" fmla="val 50000"/>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30" name="テキスト ボックス 129">
            <a:extLst>
              <a:ext uri="{FF2B5EF4-FFF2-40B4-BE49-F238E27FC236}">
                <a16:creationId xmlns:a16="http://schemas.microsoft.com/office/drawing/2014/main" id="{7D562B52-C7A5-2F29-C977-C7170D710EA9}"/>
              </a:ext>
            </a:extLst>
          </p:cNvPr>
          <p:cNvSpPr txBox="1"/>
          <p:nvPr/>
        </p:nvSpPr>
        <p:spPr bwMode="auto">
          <a:xfrm>
            <a:off x="8993944" y="2059501"/>
            <a:ext cx="931194" cy="246221"/>
          </a:xfrm>
          <a:prstGeom prst="rect">
            <a:avLst/>
          </a:prstGeom>
          <a:noFill/>
          <a:ln w="9525">
            <a:noFill/>
            <a:miter lim="800000"/>
            <a:headEnd/>
            <a:tailEnd/>
          </a:ln>
        </p:spPr>
        <p:txBody>
          <a:bodyPr wrap="square" rtlCol="0">
            <a:spAutoFit/>
          </a:bodyPr>
          <a:lstStyle/>
          <a:p>
            <a:pPr algn="l"/>
            <a:r>
              <a:rPr kumimoji="1" lang="ja-JP" altLang="en-US" sz="1000"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凡例：</a:t>
            </a:r>
          </a:p>
        </p:txBody>
      </p:sp>
      <p:sp>
        <p:nvSpPr>
          <p:cNvPr id="131" name="正方形/長方形 130">
            <a:extLst>
              <a:ext uri="{FF2B5EF4-FFF2-40B4-BE49-F238E27FC236}">
                <a16:creationId xmlns:a16="http://schemas.microsoft.com/office/drawing/2014/main" id="{AA31E6B0-BC56-9160-8F5D-91C6061A820C}"/>
              </a:ext>
            </a:extLst>
          </p:cNvPr>
          <p:cNvSpPr/>
          <p:nvPr/>
        </p:nvSpPr>
        <p:spPr>
          <a:xfrm>
            <a:off x="9647585" y="2060762"/>
            <a:ext cx="2182538" cy="243699"/>
          </a:xfrm>
          <a:prstGeom prst="rect">
            <a:avLst/>
          </a:prstGeom>
          <a:noFill/>
          <a:ln w="28575">
            <a:solidFill>
              <a:srgbClr val="FF006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100" dirty="0">
                <a:solidFill>
                  <a:srgbClr val="FF0066"/>
                </a:solidFill>
                <a:latin typeface="+mn-ea"/>
                <a:cs typeface="Hiragino Kaku Gothic Pro W3" charset="-128"/>
              </a:rPr>
              <a:t>スコープ</a:t>
            </a:r>
            <a:endParaRPr kumimoji="1" lang="ja-JP" altLang="en-US" sz="1100" dirty="0">
              <a:solidFill>
                <a:srgbClr val="FF0066"/>
              </a:solidFill>
              <a:latin typeface="+mn-ea"/>
              <a:cs typeface="Hiragino Kaku Gothic Pro W3" charset="-128"/>
            </a:endParaRPr>
          </a:p>
        </p:txBody>
      </p:sp>
      <p:sp>
        <p:nvSpPr>
          <p:cNvPr id="132" name="L 字 131">
            <a:extLst>
              <a:ext uri="{FF2B5EF4-FFF2-40B4-BE49-F238E27FC236}">
                <a16:creationId xmlns:a16="http://schemas.microsoft.com/office/drawing/2014/main" id="{C34FC0F7-A954-3064-5BDE-B47F1B5AAE98}"/>
              </a:ext>
            </a:extLst>
          </p:cNvPr>
          <p:cNvSpPr/>
          <p:nvPr/>
        </p:nvSpPr>
        <p:spPr>
          <a:xfrm flipH="1">
            <a:off x="10245290" y="3558904"/>
            <a:ext cx="1569636" cy="979421"/>
          </a:xfrm>
          <a:prstGeom prst="corner">
            <a:avLst>
              <a:gd name="adj1" fmla="val 46682"/>
              <a:gd name="adj2" fmla="val 530712"/>
            </a:avLst>
          </a:prstGeom>
          <a:noFill/>
          <a:ln w="19050">
            <a:solidFill>
              <a:srgbClr val="FF006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rgbClr val="C00000"/>
              </a:solidFill>
              <a:latin typeface="+mn-ea"/>
              <a:cs typeface="Hiragino Kaku Gothic Pro W3" charset="-128"/>
            </a:endParaRPr>
          </a:p>
        </p:txBody>
      </p:sp>
      <p:sp>
        <p:nvSpPr>
          <p:cNvPr id="133" name="L 字 132">
            <a:extLst>
              <a:ext uri="{FF2B5EF4-FFF2-40B4-BE49-F238E27FC236}">
                <a16:creationId xmlns:a16="http://schemas.microsoft.com/office/drawing/2014/main" id="{D7DBE13B-8E9E-8A66-4C4E-4CFF9855FD08}"/>
              </a:ext>
            </a:extLst>
          </p:cNvPr>
          <p:cNvSpPr/>
          <p:nvPr/>
        </p:nvSpPr>
        <p:spPr>
          <a:xfrm flipH="1">
            <a:off x="4202299" y="3565511"/>
            <a:ext cx="1535222" cy="733473"/>
          </a:xfrm>
          <a:prstGeom prst="corner">
            <a:avLst>
              <a:gd name="adj1" fmla="val 46682"/>
              <a:gd name="adj2" fmla="val 530712"/>
            </a:avLst>
          </a:prstGeom>
          <a:noFill/>
          <a:ln w="19050">
            <a:solidFill>
              <a:srgbClr val="FF006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rgbClr val="C00000"/>
              </a:solidFill>
              <a:latin typeface="+mn-ea"/>
              <a:cs typeface="Hiragino Kaku Gothic Pro W3" charset="-128"/>
            </a:endParaRPr>
          </a:p>
        </p:txBody>
      </p:sp>
    </p:spTree>
    <p:extLst>
      <p:ext uri="{BB962C8B-B14F-4D97-AF65-F5344CB8AC3E}">
        <p14:creationId xmlns:p14="http://schemas.microsoft.com/office/powerpoint/2010/main" val="2152040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施策①：ソリューションの検討</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7</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285750" indent="-285750" defTabSz="879475">
              <a:buFont typeface="Arial" panose="020B0604020202020204" pitchFamily="34" charset="0"/>
              <a:buChar char="•"/>
              <a:defRPr/>
            </a:pPr>
            <a:r>
              <a:rPr lang="ja-JP" altLang="en-US" dirty="0">
                <a:solidFill>
                  <a:schemeClr val="tx1">
                    <a:lumMod val="65000"/>
                    <a:lumOff val="35000"/>
                  </a:schemeClr>
                </a:solidFill>
                <a:latin typeface="Meiryo UI"/>
                <a:ea typeface="Meiryo UI"/>
                <a:cs typeface="Arial"/>
                <a:sym typeface="MS UI Gothic" panose="020B0600070205080204" pitchFamily="34" charset="-128"/>
              </a:rPr>
              <a:t>ICT保守対象/対象外 ツールの主な利用者毎に分類し、ソリューション検討を実施</a:t>
            </a:r>
            <a:endParaRPr lang="en-US" altLang="ja-JP" dirty="0">
              <a:solidFill>
                <a:schemeClr val="tx1">
                  <a:lumMod val="65000"/>
                  <a:lumOff val="35000"/>
                </a:schemeClr>
              </a:solidFill>
              <a:latin typeface="Meiryo UI"/>
              <a:ea typeface="Meiryo UI"/>
              <a:cs typeface="Arial"/>
              <a:sym typeface="MS UI Gothic" panose="020B0600070205080204" pitchFamily="34" charset="-128"/>
            </a:endParaRPr>
          </a:p>
          <a:p>
            <a:pPr marL="285750" indent="-285750" defTabSz="879475">
              <a:buFont typeface="Arial" panose="020B0604020202020204" pitchFamily="34" charset="0"/>
              <a:buChar char="•"/>
              <a:defRPr/>
            </a:pPr>
            <a:r>
              <a:rPr lang="ja-JP" altLang="en-US" dirty="0">
                <a:solidFill>
                  <a:schemeClr val="tx1">
                    <a:lumMod val="65000"/>
                    <a:lumOff val="35000"/>
                  </a:schemeClr>
                </a:solidFill>
                <a:latin typeface="Meiryo UI"/>
                <a:ea typeface="Meiryo UI"/>
                <a:cs typeface="Arial"/>
              </a:rPr>
              <a:t>経理/審査は 既存ツールの終了が見えている為、既存ツールのスプシ化をせず新ツールのみスプシ化する方針とする</a:t>
            </a:r>
            <a:endParaRPr lang="ja-JP" altLang="en-US" dirty="0">
              <a:solidFill>
                <a:schemeClr val="tx1">
                  <a:lumMod val="65000"/>
                  <a:lumOff val="35000"/>
                </a:schemeClr>
              </a:solidFill>
              <a:latin typeface="Meiryo UI"/>
              <a:ea typeface="Meiryo UI"/>
              <a:cs typeface="Arial"/>
              <a:sym typeface="MS UI Gothic" panose="020B0600070205080204" pitchFamily="34" charset="-128"/>
            </a:endParaRPr>
          </a:p>
          <a:p>
            <a:pPr marL="285750" indent="-285750" defTabSz="879475">
              <a:buFont typeface="Arial" panose="020B0604020202020204" pitchFamily="34" charset="0"/>
              <a:buChar char="•"/>
              <a:defRPr/>
            </a:pPr>
            <a:r>
              <a:rPr lang="ja-JP" altLang="en-US" dirty="0">
                <a:solidFill>
                  <a:schemeClr val="tx1">
                    <a:lumMod val="65000"/>
                    <a:lumOff val="35000"/>
                  </a:schemeClr>
                </a:solidFill>
                <a:latin typeface="Meiryo UI"/>
                <a:ea typeface="Meiryo UI"/>
                <a:cs typeface="Arial"/>
              </a:rPr>
              <a:t>HRは 将来利用停止になるツール類になるため、必要最低限の改修にする</a:t>
            </a:r>
            <a:endParaRPr lang="ja-JP" altLang="en-US" dirty="0">
              <a:solidFill>
                <a:schemeClr val="tx1">
                  <a:lumMod val="65000"/>
                  <a:lumOff val="35000"/>
                </a:schemeClr>
              </a:solidFill>
              <a:latin typeface="Meiryo UI"/>
              <a:ea typeface="Meiryo UI"/>
              <a:cs typeface="Arial"/>
              <a:sym typeface="MS UI Gothic" panose="020B0600070205080204" pitchFamily="34" charset="-128"/>
            </a:endParaRPr>
          </a:p>
          <a:p>
            <a:pPr marL="285750" indent="-285750" defTabSz="879475">
              <a:buFont typeface="Arial" panose="020B0604020202020204" pitchFamily="34" charset="0"/>
              <a:buChar char="•"/>
              <a:defRPr/>
            </a:pPr>
            <a:r>
              <a:rPr lang="ja-JP" altLang="en-US" dirty="0">
                <a:solidFill>
                  <a:schemeClr val="tx1">
                    <a:lumMod val="65000"/>
                    <a:lumOff val="35000"/>
                  </a:schemeClr>
                </a:solidFill>
                <a:latin typeface="Meiryo UI"/>
                <a:ea typeface="Meiryo UI"/>
                <a:cs typeface="Arial"/>
                <a:sym typeface="MS UI Gothic" panose="020B0600070205080204" pitchFamily="34" charset="-128"/>
              </a:rPr>
              <a:t>JJ・学びは 既存ツールの軽微な改修になる可能性が高く、Win11対応時にスプシ化を実施する</a:t>
            </a:r>
            <a:endPar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grpSp>
        <p:nvGrpSpPr>
          <p:cNvPr id="9" name="グループ化 8">
            <a:extLst>
              <a:ext uri="{FF2B5EF4-FFF2-40B4-BE49-F238E27FC236}">
                <a16:creationId xmlns:a16="http://schemas.microsoft.com/office/drawing/2014/main" id="{2C685970-3EBD-20CD-A16F-8122188F508E}"/>
              </a:ext>
            </a:extLst>
          </p:cNvPr>
          <p:cNvGrpSpPr/>
          <p:nvPr/>
        </p:nvGrpSpPr>
        <p:grpSpPr>
          <a:xfrm>
            <a:off x="3421191" y="2536469"/>
            <a:ext cx="8577718" cy="3945398"/>
            <a:chOff x="3284356" y="2288185"/>
            <a:chExt cx="10379039" cy="3945398"/>
          </a:xfrm>
        </p:grpSpPr>
        <p:grpSp>
          <p:nvGrpSpPr>
            <p:cNvPr id="45" name="グループ化 44">
              <a:extLst>
                <a:ext uri="{FF2B5EF4-FFF2-40B4-BE49-F238E27FC236}">
                  <a16:creationId xmlns:a16="http://schemas.microsoft.com/office/drawing/2014/main" id="{C7682469-CCC8-CD85-DF2B-41103D05ED9F}"/>
                </a:ext>
              </a:extLst>
            </p:cNvPr>
            <p:cNvGrpSpPr/>
            <p:nvPr/>
          </p:nvGrpSpPr>
          <p:grpSpPr>
            <a:xfrm>
              <a:off x="3284356" y="2288185"/>
              <a:ext cx="10378043" cy="176199"/>
              <a:chOff x="3887240" y="1741428"/>
              <a:chExt cx="7707551" cy="176199"/>
            </a:xfrm>
          </p:grpSpPr>
          <p:cxnSp>
            <p:nvCxnSpPr>
              <p:cNvPr id="77" name="直線矢印コネクタ 76">
                <a:extLst>
                  <a:ext uri="{FF2B5EF4-FFF2-40B4-BE49-F238E27FC236}">
                    <a16:creationId xmlns:a16="http://schemas.microsoft.com/office/drawing/2014/main" id="{1C6FA760-4D88-3EF2-B8EB-84C82BF76657}"/>
                  </a:ext>
                </a:extLst>
              </p:cNvPr>
              <p:cNvCxnSpPr>
                <a:cxnSpLocks/>
              </p:cNvCxnSpPr>
              <p:nvPr/>
            </p:nvCxnSpPr>
            <p:spPr>
              <a:xfrm>
                <a:off x="3887240" y="1917627"/>
                <a:ext cx="7707551" cy="0"/>
              </a:xfrm>
              <a:prstGeom prst="straightConnector1">
                <a:avLst/>
              </a:prstGeom>
              <a:noFill/>
              <a:ln w="12700" cap="flat" cmpd="sng" algn="ctr">
                <a:solidFill>
                  <a:sysClr val="windowText" lastClr="000000"/>
                </a:solidFill>
                <a:prstDash val="solid"/>
                <a:miter lim="800000"/>
                <a:headEnd type="none" w="med" len="med"/>
                <a:tailEnd type="arrow" w="lg" len="sm"/>
              </a:ln>
              <a:effectLst/>
            </p:spPr>
          </p:cxnSp>
          <p:sp>
            <p:nvSpPr>
              <p:cNvPr id="78" name="テキスト プレースホルダー 10">
                <a:extLst>
                  <a:ext uri="{FF2B5EF4-FFF2-40B4-BE49-F238E27FC236}">
                    <a16:creationId xmlns:a16="http://schemas.microsoft.com/office/drawing/2014/main" id="{392340DB-FBCF-0389-0D2B-F81D5B964CF0}"/>
                  </a:ext>
                </a:extLst>
              </p:cNvPr>
              <p:cNvSpPr txBox="1">
                <a:spLocks/>
              </p:cNvSpPr>
              <p:nvPr/>
            </p:nvSpPr>
            <p:spPr>
              <a:xfrm>
                <a:off x="10737016" y="1741428"/>
                <a:ext cx="832072"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時系列</a:t>
                </a:r>
              </a:p>
            </p:txBody>
          </p:sp>
        </p:grpSp>
        <p:grpSp>
          <p:nvGrpSpPr>
            <p:cNvPr id="46" name="グループ化 45">
              <a:extLst>
                <a:ext uri="{FF2B5EF4-FFF2-40B4-BE49-F238E27FC236}">
                  <a16:creationId xmlns:a16="http://schemas.microsoft.com/office/drawing/2014/main" id="{FB9E77D2-1548-B0B7-4D40-633E237A30FF}"/>
                </a:ext>
              </a:extLst>
            </p:cNvPr>
            <p:cNvGrpSpPr/>
            <p:nvPr/>
          </p:nvGrpSpPr>
          <p:grpSpPr>
            <a:xfrm>
              <a:off x="8500994" y="2552803"/>
              <a:ext cx="2581200" cy="3680780"/>
              <a:chOff x="8500994" y="2552803"/>
              <a:chExt cx="2581200" cy="3680780"/>
            </a:xfrm>
          </p:grpSpPr>
          <p:sp>
            <p:nvSpPr>
              <p:cNvPr id="68" name="円/楕円 50">
                <a:extLst>
                  <a:ext uri="{FF2B5EF4-FFF2-40B4-BE49-F238E27FC236}">
                    <a16:creationId xmlns:a16="http://schemas.microsoft.com/office/drawing/2014/main" id="{AAB52D50-A3FB-852C-BA06-A93E5CDBBB4E}"/>
                  </a:ext>
                </a:extLst>
              </p:cNvPr>
              <p:cNvSpPr/>
              <p:nvPr/>
            </p:nvSpPr>
            <p:spPr>
              <a:xfrm>
                <a:off x="8500994" y="2552803"/>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Win11</a:t>
                </a: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対応</a:t>
                </a:r>
              </a:p>
            </p:txBody>
          </p:sp>
          <p:sp>
            <p:nvSpPr>
              <p:cNvPr id="69" name="円/楕円 50">
                <a:extLst>
                  <a:ext uri="{FF2B5EF4-FFF2-40B4-BE49-F238E27FC236}">
                    <a16:creationId xmlns:a16="http://schemas.microsoft.com/office/drawing/2014/main" id="{D4E2F323-3998-5987-BC2D-DD3074D1FA06}"/>
                  </a:ext>
                </a:extLst>
              </p:cNvPr>
              <p:cNvSpPr/>
              <p:nvPr/>
            </p:nvSpPr>
            <p:spPr>
              <a:xfrm>
                <a:off x="8618322" y="302586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kern="0">
                    <a:solidFill>
                      <a:srgbClr val="595959"/>
                    </a:solidFill>
                    <a:latin typeface="Meiryo UI"/>
                    <a:ea typeface="Meiryo UI"/>
                  </a:rPr>
                  <a:t>Access</a:t>
                </a:r>
                <a:r>
                  <a:rPr kumimoji="0" lang="ja-JP" altLang="en-US" sz="1200" b="1" kern="0">
                    <a:solidFill>
                      <a:srgbClr val="595959"/>
                    </a:solidFill>
                    <a:latin typeface="Meiryo UI"/>
                    <a:ea typeface="Meiryo UI"/>
                  </a:rPr>
                  <a:t>の維持</a:t>
                </a:r>
                <a:endParaRPr kumimoji="0" lang="en-US" altLang="ja-JP" sz="1200" b="1" kern="0">
                  <a:solidFill>
                    <a:srgbClr val="595959"/>
                  </a:solidFill>
                  <a:latin typeface="Meiryo UI"/>
                  <a:ea typeface="Meiryo UI"/>
                </a:endParaRPr>
              </a:p>
            </p:txBody>
          </p:sp>
          <p:sp>
            <p:nvSpPr>
              <p:cNvPr id="70" name="円/楕円 50">
                <a:extLst>
                  <a:ext uri="{FF2B5EF4-FFF2-40B4-BE49-F238E27FC236}">
                    <a16:creationId xmlns:a16="http://schemas.microsoft.com/office/drawing/2014/main" id="{677ADB9B-84BD-1CFD-CE4F-40CE8386405E}"/>
                  </a:ext>
                </a:extLst>
              </p:cNvPr>
              <p:cNvSpPr/>
              <p:nvPr/>
            </p:nvSpPr>
            <p:spPr>
              <a:xfrm>
                <a:off x="8618322" y="343722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kern="0">
                    <a:solidFill>
                      <a:srgbClr val="595959"/>
                    </a:solidFill>
                    <a:latin typeface="Meiryo UI"/>
                    <a:ea typeface="Meiryo UI"/>
                  </a:rPr>
                  <a:t>Access</a:t>
                </a:r>
                <a:r>
                  <a:rPr kumimoji="0" lang="ja-JP" altLang="en-US" sz="1200" b="1" kern="0">
                    <a:solidFill>
                      <a:srgbClr val="595959"/>
                    </a:solidFill>
                    <a:latin typeface="Meiryo UI"/>
                    <a:ea typeface="Meiryo UI"/>
                  </a:rPr>
                  <a:t>の維持</a:t>
                </a:r>
                <a:endParaRPr lang="en-US" altLang="ja-JP" sz="1200" b="1" kern="0">
                  <a:solidFill>
                    <a:srgbClr val="595959"/>
                  </a:solidFill>
                  <a:latin typeface="Meiryo UI"/>
                  <a:ea typeface="Meiryo UI"/>
                </a:endParaRPr>
              </a:p>
            </p:txBody>
          </p:sp>
          <p:sp>
            <p:nvSpPr>
              <p:cNvPr id="71" name="円/楕円 50">
                <a:extLst>
                  <a:ext uri="{FF2B5EF4-FFF2-40B4-BE49-F238E27FC236}">
                    <a16:creationId xmlns:a16="http://schemas.microsoft.com/office/drawing/2014/main" id="{BC4D8C8F-2FB0-1621-B7BD-B9AE146A4C8E}"/>
                  </a:ext>
                </a:extLst>
              </p:cNvPr>
              <p:cNvSpPr/>
              <p:nvPr/>
            </p:nvSpPr>
            <p:spPr>
              <a:xfrm>
                <a:off x="8618322" y="384858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72" name="円/楕円 50">
                <a:extLst>
                  <a:ext uri="{FF2B5EF4-FFF2-40B4-BE49-F238E27FC236}">
                    <a16:creationId xmlns:a16="http://schemas.microsoft.com/office/drawing/2014/main" id="{CD576422-D7AC-8CAD-A024-C32BF4F1BD14}"/>
                  </a:ext>
                </a:extLst>
              </p:cNvPr>
              <p:cNvSpPr/>
              <p:nvPr/>
            </p:nvSpPr>
            <p:spPr>
              <a:xfrm>
                <a:off x="8618322" y="4259950"/>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73" name="円/楕円 50">
                <a:extLst>
                  <a:ext uri="{FF2B5EF4-FFF2-40B4-BE49-F238E27FC236}">
                    <a16:creationId xmlns:a16="http://schemas.microsoft.com/office/drawing/2014/main" id="{4E4C2056-005B-B733-AE44-F313ECCBEC75}"/>
                  </a:ext>
                </a:extLst>
              </p:cNvPr>
              <p:cNvSpPr/>
              <p:nvPr/>
            </p:nvSpPr>
            <p:spPr>
              <a:xfrm>
                <a:off x="8618322" y="4671312"/>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74" name="円/楕円 50">
                <a:extLst>
                  <a:ext uri="{FF2B5EF4-FFF2-40B4-BE49-F238E27FC236}">
                    <a16:creationId xmlns:a16="http://schemas.microsoft.com/office/drawing/2014/main" id="{60A24AA1-B164-CD23-C701-3AB8DF271713}"/>
                  </a:ext>
                </a:extLst>
              </p:cNvPr>
              <p:cNvSpPr/>
              <p:nvPr/>
            </p:nvSpPr>
            <p:spPr>
              <a:xfrm>
                <a:off x="8618322" y="508267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75" name="円/楕円 50">
                <a:extLst>
                  <a:ext uri="{FF2B5EF4-FFF2-40B4-BE49-F238E27FC236}">
                    <a16:creationId xmlns:a16="http://schemas.microsoft.com/office/drawing/2014/main" id="{0B2A095A-621D-356E-5E1C-925E9A1ACA7E}"/>
                  </a:ext>
                </a:extLst>
              </p:cNvPr>
              <p:cNvSpPr/>
              <p:nvPr/>
            </p:nvSpPr>
            <p:spPr>
              <a:xfrm>
                <a:off x="8618322" y="549403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76" name="円/楕円 50">
                <a:extLst>
                  <a:ext uri="{FF2B5EF4-FFF2-40B4-BE49-F238E27FC236}">
                    <a16:creationId xmlns:a16="http://schemas.microsoft.com/office/drawing/2014/main" id="{B3D6E30D-9EE7-A44F-6F51-8E1F0D312D47}"/>
                  </a:ext>
                </a:extLst>
              </p:cNvPr>
              <p:cNvSpPr/>
              <p:nvPr/>
            </p:nvSpPr>
            <p:spPr>
              <a:xfrm>
                <a:off x="8618322" y="590539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grpSp>
        <p:grpSp>
          <p:nvGrpSpPr>
            <p:cNvPr id="47" name="グループ化 46">
              <a:extLst>
                <a:ext uri="{FF2B5EF4-FFF2-40B4-BE49-F238E27FC236}">
                  <a16:creationId xmlns:a16="http://schemas.microsoft.com/office/drawing/2014/main" id="{6041C86D-BE97-F7D4-CE3F-75749470FB9F}"/>
                </a:ext>
              </a:extLst>
            </p:cNvPr>
            <p:cNvGrpSpPr/>
            <p:nvPr/>
          </p:nvGrpSpPr>
          <p:grpSpPr>
            <a:xfrm>
              <a:off x="11082195" y="2552803"/>
              <a:ext cx="2581200" cy="3680780"/>
              <a:chOff x="11082194" y="2552803"/>
              <a:chExt cx="2581200" cy="3680780"/>
            </a:xfrm>
          </p:grpSpPr>
          <p:sp>
            <p:nvSpPr>
              <p:cNvPr id="59" name="円/楕円 50">
                <a:extLst>
                  <a:ext uri="{FF2B5EF4-FFF2-40B4-BE49-F238E27FC236}">
                    <a16:creationId xmlns:a16="http://schemas.microsoft.com/office/drawing/2014/main" id="{3E42CF3F-1B87-F7F6-62BC-DFAF69C06299}"/>
                  </a:ext>
                </a:extLst>
              </p:cNvPr>
              <p:cNvSpPr/>
              <p:nvPr/>
            </p:nvSpPr>
            <p:spPr>
              <a:xfrm>
                <a:off x="11082194" y="2552803"/>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JKK</a:t>
                </a: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対応</a:t>
                </a:r>
              </a:p>
            </p:txBody>
          </p:sp>
          <p:sp>
            <p:nvSpPr>
              <p:cNvPr id="60" name="円/楕円 50">
                <a:extLst>
                  <a:ext uri="{FF2B5EF4-FFF2-40B4-BE49-F238E27FC236}">
                    <a16:creationId xmlns:a16="http://schemas.microsoft.com/office/drawing/2014/main" id="{215B4EF8-9394-A3CF-B715-5D4A3A06AA08}"/>
                  </a:ext>
                </a:extLst>
              </p:cNvPr>
              <p:cNvSpPr/>
              <p:nvPr/>
            </p:nvSpPr>
            <p:spPr>
              <a:xfrm>
                <a:off x="11199522" y="302586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1" name="円/楕円 50">
                <a:extLst>
                  <a:ext uri="{FF2B5EF4-FFF2-40B4-BE49-F238E27FC236}">
                    <a16:creationId xmlns:a16="http://schemas.microsoft.com/office/drawing/2014/main" id="{C332D9B2-856B-D04C-0E3F-1D22DEEF9B11}"/>
                  </a:ext>
                </a:extLst>
              </p:cNvPr>
              <p:cNvSpPr/>
              <p:nvPr/>
            </p:nvSpPr>
            <p:spPr>
              <a:xfrm>
                <a:off x="11199522" y="343722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000" kern="0">
                    <a:solidFill>
                      <a:srgbClr val="595959"/>
                    </a:solidFill>
                    <a:latin typeface="Meiryo UI" panose="020B0604030504040204" pitchFamily="50" charset="-128"/>
                    <a:ea typeface="Meiryo UI" panose="020B0604030504040204" pitchFamily="50" charset="-128"/>
                  </a:rPr>
                  <a:t>-</a:t>
                </a:r>
                <a:endParaRPr lang="ja-JP" altLang="en-US" sz="10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62" name="円/楕円 50">
                <a:extLst>
                  <a:ext uri="{FF2B5EF4-FFF2-40B4-BE49-F238E27FC236}">
                    <a16:creationId xmlns:a16="http://schemas.microsoft.com/office/drawing/2014/main" id="{19BEBD7E-0B42-5358-7A33-70D627517C8D}"/>
                  </a:ext>
                </a:extLst>
              </p:cNvPr>
              <p:cNvSpPr/>
              <p:nvPr/>
            </p:nvSpPr>
            <p:spPr>
              <a:xfrm>
                <a:off x="11199522" y="384858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3" name="円/楕円 50">
                <a:extLst>
                  <a:ext uri="{FF2B5EF4-FFF2-40B4-BE49-F238E27FC236}">
                    <a16:creationId xmlns:a16="http://schemas.microsoft.com/office/drawing/2014/main" id="{8A635440-CD27-D39C-8C0F-AB0B1BECC3C2}"/>
                  </a:ext>
                </a:extLst>
              </p:cNvPr>
              <p:cNvSpPr/>
              <p:nvPr/>
            </p:nvSpPr>
            <p:spPr>
              <a:xfrm>
                <a:off x="11199522" y="425994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4" name="円/楕円 50">
                <a:extLst>
                  <a:ext uri="{FF2B5EF4-FFF2-40B4-BE49-F238E27FC236}">
                    <a16:creationId xmlns:a16="http://schemas.microsoft.com/office/drawing/2014/main" id="{AD93B455-48F1-075D-5C9E-8D44D9A98C0D}"/>
                  </a:ext>
                </a:extLst>
              </p:cNvPr>
              <p:cNvSpPr/>
              <p:nvPr/>
            </p:nvSpPr>
            <p:spPr>
              <a:xfrm>
                <a:off x="11199522" y="4671312"/>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kern="0">
                    <a:solidFill>
                      <a:srgbClr val="595959"/>
                    </a:solidFill>
                    <a:latin typeface="Meiryo UI" panose="020B0604030504040204" pitchFamily="50" charset="-128"/>
                    <a:ea typeface="Meiryo UI" panose="020B0604030504040204" pitchFamily="50" charset="-128"/>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5" name="円/楕円 50">
                <a:extLst>
                  <a:ext uri="{FF2B5EF4-FFF2-40B4-BE49-F238E27FC236}">
                    <a16:creationId xmlns:a16="http://schemas.microsoft.com/office/drawing/2014/main" id="{015B6E20-4F12-FE7A-424B-19AF8C2FEDA1}"/>
                  </a:ext>
                </a:extLst>
              </p:cNvPr>
              <p:cNvSpPr/>
              <p:nvPr/>
            </p:nvSpPr>
            <p:spPr>
              <a:xfrm>
                <a:off x="11199522" y="508267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6" name="円/楕円 50">
                <a:extLst>
                  <a:ext uri="{FF2B5EF4-FFF2-40B4-BE49-F238E27FC236}">
                    <a16:creationId xmlns:a16="http://schemas.microsoft.com/office/drawing/2014/main" id="{7547BCC7-7BCA-6D6C-9912-40A3B01ACD16}"/>
                  </a:ext>
                </a:extLst>
              </p:cNvPr>
              <p:cNvSpPr/>
              <p:nvPr/>
            </p:nvSpPr>
            <p:spPr>
              <a:xfrm>
                <a:off x="11199522" y="549403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7" name="円/楕円 50">
                <a:extLst>
                  <a:ext uri="{FF2B5EF4-FFF2-40B4-BE49-F238E27FC236}">
                    <a16:creationId xmlns:a16="http://schemas.microsoft.com/office/drawing/2014/main" id="{720C8D14-535C-8BF2-C26D-B1057796C4CC}"/>
                  </a:ext>
                </a:extLst>
              </p:cNvPr>
              <p:cNvSpPr/>
              <p:nvPr/>
            </p:nvSpPr>
            <p:spPr>
              <a:xfrm>
                <a:off x="11199522" y="590539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grpSp>
        <p:grpSp>
          <p:nvGrpSpPr>
            <p:cNvPr id="48" name="グループ化 47">
              <a:extLst>
                <a:ext uri="{FF2B5EF4-FFF2-40B4-BE49-F238E27FC236}">
                  <a16:creationId xmlns:a16="http://schemas.microsoft.com/office/drawing/2014/main" id="{F7FD09AC-A82E-0026-27BC-B10C1F2C4785}"/>
                </a:ext>
              </a:extLst>
            </p:cNvPr>
            <p:cNvGrpSpPr/>
            <p:nvPr/>
          </p:nvGrpSpPr>
          <p:grpSpPr>
            <a:xfrm>
              <a:off x="5888098" y="2552775"/>
              <a:ext cx="2581200" cy="3680803"/>
              <a:chOff x="5403651" y="2552775"/>
              <a:chExt cx="2581200" cy="3680803"/>
            </a:xfrm>
          </p:grpSpPr>
          <p:sp>
            <p:nvSpPr>
              <p:cNvPr id="54" name="円/楕円 50">
                <a:extLst>
                  <a:ext uri="{FF2B5EF4-FFF2-40B4-BE49-F238E27FC236}">
                    <a16:creationId xmlns:a16="http://schemas.microsoft.com/office/drawing/2014/main" id="{DC8C3229-774A-50C7-ADDA-4F3A6D46246A}"/>
                  </a:ext>
                </a:extLst>
              </p:cNvPr>
              <p:cNvSpPr/>
              <p:nvPr/>
            </p:nvSpPr>
            <p:spPr>
              <a:xfrm>
                <a:off x="5520651" y="5082669"/>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55" name="円/楕円 50">
                <a:extLst>
                  <a:ext uri="{FF2B5EF4-FFF2-40B4-BE49-F238E27FC236}">
                    <a16:creationId xmlns:a16="http://schemas.microsoft.com/office/drawing/2014/main" id="{84DB6C54-DDC7-BCDC-5052-F29FAA0B40BE}"/>
                  </a:ext>
                </a:extLst>
              </p:cNvPr>
              <p:cNvSpPr/>
              <p:nvPr/>
            </p:nvSpPr>
            <p:spPr>
              <a:xfrm>
                <a:off x="5520651" y="5494031"/>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56" name="円/楕円 50">
                <a:extLst>
                  <a:ext uri="{FF2B5EF4-FFF2-40B4-BE49-F238E27FC236}">
                    <a16:creationId xmlns:a16="http://schemas.microsoft.com/office/drawing/2014/main" id="{258BA29C-B28B-1175-7F5E-FD569B4D6D6B}"/>
                  </a:ext>
                </a:extLst>
              </p:cNvPr>
              <p:cNvSpPr/>
              <p:nvPr/>
            </p:nvSpPr>
            <p:spPr>
              <a:xfrm>
                <a:off x="5520651" y="5905393"/>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57" name="円/楕円 50">
                <a:extLst>
                  <a:ext uri="{FF2B5EF4-FFF2-40B4-BE49-F238E27FC236}">
                    <a16:creationId xmlns:a16="http://schemas.microsoft.com/office/drawing/2014/main" id="{D5255FE9-BE04-9B75-01AC-4721C14EF542}"/>
                  </a:ext>
                </a:extLst>
              </p:cNvPr>
              <p:cNvSpPr/>
              <p:nvPr/>
            </p:nvSpPr>
            <p:spPr>
              <a:xfrm>
                <a:off x="5403651" y="2552775"/>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algn="ctr" fontAlgn="auto">
                  <a:spcBef>
                    <a:spcPts val="0"/>
                  </a:spcBef>
                  <a:spcAft>
                    <a:spcPts val="0"/>
                  </a:spcAft>
                </a:pPr>
                <a:r>
                  <a:rPr kumimoji="0" lang="ja-JP" altLang="en-US" sz="1400" b="1" kern="0" dirty="0">
                    <a:solidFill>
                      <a:srgbClr val="595959"/>
                    </a:solidFill>
                    <a:latin typeface="Meiryo UI" panose="020B0604030504040204" pitchFamily="50" charset="-128"/>
                    <a:ea typeface="Meiryo UI" panose="020B0604030504040204" pitchFamily="50" charset="-128"/>
                  </a:rPr>
                  <a:t>要件定義</a:t>
                </a:r>
              </a:p>
            </p:txBody>
          </p:sp>
          <p:sp>
            <p:nvSpPr>
              <p:cNvPr id="58" name="円/楕円 50">
                <a:extLst>
                  <a:ext uri="{FF2B5EF4-FFF2-40B4-BE49-F238E27FC236}">
                    <a16:creationId xmlns:a16="http://schemas.microsoft.com/office/drawing/2014/main" id="{E9938915-6241-A2B5-C766-B22D4FADD803}"/>
                  </a:ext>
                </a:extLst>
              </p:cNvPr>
              <p:cNvSpPr/>
              <p:nvPr/>
            </p:nvSpPr>
            <p:spPr>
              <a:xfrm>
                <a:off x="5520651" y="3025863"/>
                <a:ext cx="2347200" cy="1979774"/>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BPR</a:t>
                </a:r>
                <a:r>
                  <a:rPr kumimoji="0" lang="ja-JP" altLang="en-US" sz="12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＆廃止対応</a:t>
                </a:r>
                <a:endParaRPr kumimoji="0" lang="en-US" altLang="ja-JP" sz="12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grpSp>
        <p:grpSp>
          <p:nvGrpSpPr>
            <p:cNvPr id="49" name="グループ化 48">
              <a:extLst>
                <a:ext uri="{FF2B5EF4-FFF2-40B4-BE49-F238E27FC236}">
                  <a16:creationId xmlns:a16="http://schemas.microsoft.com/office/drawing/2014/main" id="{A79FF781-943C-1EB1-2114-36E9CAB3B477}"/>
                </a:ext>
              </a:extLst>
            </p:cNvPr>
            <p:cNvGrpSpPr/>
            <p:nvPr/>
          </p:nvGrpSpPr>
          <p:grpSpPr>
            <a:xfrm>
              <a:off x="3284356" y="2551094"/>
              <a:ext cx="2581200" cy="3680773"/>
              <a:chOff x="3409509" y="2551094"/>
              <a:chExt cx="2581200" cy="3680773"/>
            </a:xfrm>
          </p:grpSpPr>
          <p:sp>
            <p:nvSpPr>
              <p:cNvPr id="50" name="円/楕円 50">
                <a:extLst>
                  <a:ext uri="{FF2B5EF4-FFF2-40B4-BE49-F238E27FC236}">
                    <a16:creationId xmlns:a16="http://schemas.microsoft.com/office/drawing/2014/main" id="{55D8D0A1-5D7E-B3A2-B3FF-2B800E3D1362}"/>
                  </a:ext>
                </a:extLst>
              </p:cNvPr>
              <p:cNvSpPr/>
              <p:nvPr/>
            </p:nvSpPr>
            <p:spPr>
              <a:xfrm>
                <a:off x="3409509" y="2551094"/>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スプシ化の標準化設計</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grpSp>
            <p:nvGrpSpPr>
              <p:cNvPr id="51" name="グループ化 50">
                <a:extLst>
                  <a:ext uri="{FF2B5EF4-FFF2-40B4-BE49-F238E27FC236}">
                    <a16:creationId xmlns:a16="http://schemas.microsoft.com/office/drawing/2014/main" id="{DCA4BE62-4C51-EF84-2CF0-70330F2A8ED2}"/>
                  </a:ext>
                </a:extLst>
              </p:cNvPr>
              <p:cNvGrpSpPr/>
              <p:nvPr/>
            </p:nvGrpSpPr>
            <p:grpSpPr>
              <a:xfrm>
                <a:off x="3526837" y="3024154"/>
                <a:ext cx="2347003" cy="3207713"/>
                <a:chOff x="3975007" y="2912739"/>
                <a:chExt cx="2347003" cy="3207713"/>
              </a:xfrm>
            </p:grpSpPr>
            <p:sp>
              <p:nvSpPr>
                <p:cNvPr id="52" name="円/楕円 50">
                  <a:extLst>
                    <a:ext uri="{FF2B5EF4-FFF2-40B4-BE49-F238E27FC236}">
                      <a16:creationId xmlns:a16="http://schemas.microsoft.com/office/drawing/2014/main" id="{ABDC0E63-2CDE-D5A2-BB8F-447C0BC7B09E}"/>
                    </a:ext>
                  </a:extLst>
                </p:cNvPr>
                <p:cNvSpPr/>
                <p:nvPr/>
              </p:nvSpPr>
              <p:spPr>
                <a:xfrm>
                  <a:off x="3975007" y="2912739"/>
                  <a:ext cx="2346545" cy="3207713"/>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53" name="円/楕円 50">
                  <a:extLst>
                    <a:ext uri="{FF2B5EF4-FFF2-40B4-BE49-F238E27FC236}">
                      <a16:creationId xmlns:a16="http://schemas.microsoft.com/office/drawing/2014/main" id="{B55DF041-70A2-E91B-1D8F-1362C925F395}"/>
                    </a:ext>
                  </a:extLst>
                </p:cNvPr>
                <p:cNvSpPr/>
                <p:nvPr/>
              </p:nvSpPr>
              <p:spPr>
                <a:xfrm>
                  <a:off x="4559015" y="3714667"/>
                  <a:ext cx="1762995" cy="1603857"/>
                </a:xfrm>
                <a:prstGeom prst="homePlate">
                  <a:avLst>
                    <a:gd name="adj" fmla="val 0"/>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b="1" u="sng" kern="0">
                      <a:solidFill>
                        <a:srgbClr val="595959"/>
                      </a:solidFill>
                      <a:latin typeface="Meiryo UI" panose="020B0604030504040204" pitchFamily="50" charset="-128"/>
                      <a:ea typeface="Meiryo UI" panose="020B0604030504040204" pitchFamily="50" charset="-128"/>
                    </a:rPr>
                    <a:t>開発標準策定</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部品の共通化</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UI</a:t>
                  </a:r>
                  <a:r>
                    <a:rPr kumimoji="0" lang="ja-JP" altLang="en-US"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設計</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コーディング規約</a:t>
                  </a:r>
                  <a:br>
                    <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br>
                  <a:r>
                    <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a:t>
                  </a:r>
                </a:p>
              </p:txBody>
            </p:sp>
          </p:grpSp>
        </p:grpSp>
      </p:grpSp>
      <p:sp>
        <p:nvSpPr>
          <p:cNvPr id="10" name="円/楕円 50">
            <a:extLst>
              <a:ext uri="{FF2B5EF4-FFF2-40B4-BE49-F238E27FC236}">
                <a16:creationId xmlns:a16="http://schemas.microsoft.com/office/drawing/2014/main" id="{FCBB442C-B442-868D-2CD4-3F013CC579D7}"/>
              </a:ext>
            </a:extLst>
          </p:cNvPr>
          <p:cNvSpPr/>
          <p:nvPr/>
        </p:nvSpPr>
        <p:spPr>
          <a:xfrm>
            <a:off x="193091" y="3274149"/>
            <a:ext cx="614869" cy="1562271"/>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ICT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保守</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対象</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※237</a:t>
            </a:r>
            <a:r>
              <a:rPr kumimoji="0" lang="ja-JP" altLang="en-US"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個</a:t>
            </a:r>
            <a:endParaRPr kumimoji="0" lang="en-US" altLang="ja-JP" sz="11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11" name="円/楕円 50">
            <a:extLst>
              <a:ext uri="{FF2B5EF4-FFF2-40B4-BE49-F238E27FC236}">
                <a16:creationId xmlns:a16="http://schemas.microsoft.com/office/drawing/2014/main" id="{5A786510-43A8-DB20-12DB-C5C3A571A2F5}"/>
              </a:ext>
            </a:extLst>
          </p:cNvPr>
          <p:cNvSpPr/>
          <p:nvPr/>
        </p:nvSpPr>
        <p:spPr>
          <a:xfrm>
            <a:off x="193091" y="4919597"/>
            <a:ext cx="615600" cy="1562271"/>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ICT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保守</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対象外</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12" name="円/楕円 50">
            <a:extLst>
              <a:ext uri="{FF2B5EF4-FFF2-40B4-BE49-F238E27FC236}">
                <a16:creationId xmlns:a16="http://schemas.microsoft.com/office/drawing/2014/main" id="{497CEE4C-B11F-AD04-48C4-C34E20EE4422}"/>
              </a:ext>
            </a:extLst>
          </p:cNvPr>
          <p:cNvSpPr/>
          <p:nvPr/>
        </p:nvSpPr>
        <p:spPr>
          <a:xfrm>
            <a:off x="905778" y="3274149"/>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経理</a:t>
            </a:r>
            <a:r>
              <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審査室</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13" name="円/楕円 50">
            <a:extLst>
              <a:ext uri="{FF2B5EF4-FFF2-40B4-BE49-F238E27FC236}">
                <a16:creationId xmlns:a16="http://schemas.microsoft.com/office/drawing/2014/main" id="{F9A7BB63-7807-EE9F-8811-5E0A75433520}"/>
              </a:ext>
            </a:extLst>
          </p:cNvPr>
          <p:cNvSpPr/>
          <p:nvPr/>
        </p:nvSpPr>
        <p:spPr>
          <a:xfrm>
            <a:off x="905778" y="3685510"/>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HR</a:t>
            </a:r>
          </a:p>
        </p:txBody>
      </p:sp>
      <p:sp>
        <p:nvSpPr>
          <p:cNvPr id="14" name="円/楕円 50">
            <a:extLst>
              <a:ext uri="{FF2B5EF4-FFF2-40B4-BE49-F238E27FC236}">
                <a16:creationId xmlns:a16="http://schemas.microsoft.com/office/drawing/2014/main" id="{ABE53A46-45C7-260E-9DCA-F29B863AF14B}"/>
              </a:ext>
            </a:extLst>
          </p:cNvPr>
          <p:cNvSpPr/>
          <p:nvPr/>
        </p:nvSpPr>
        <p:spPr>
          <a:xfrm>
            <a:off x="905778" y="4096871"/>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JJ</a:t>
            </a:r>
          </a:p>
        </p:txBody>
      </p:sp>
      <p:sp>
        <p:nvSpPr>
          <p:cNvPr id="15" name="円/楕円 50">
            <a:extLst>
              <a:ext uri="{FF2B5EF4-FFF2-40B4-BE49-F238E27FC236}">
                <a16:creationId xmlns:a16="http://schemas.microsoft.com/office/drawing/2014/main" id="{9486B34C-D921-5693-B8B7-666799390905}"/>
              </a:ext>
            </a:extLst>
          </p:cNvPr>
          <p:cNvSpPr/>
          <p:nvPr/>
        </p:nvSpPr>
        <p:spPr>
          <a:xfrm>
            <a:off x="905778" y="4508232"/>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学び</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16" name="円/楕円 50">
            <a:extLst>
              <a:ext uri="{FF2B5EF4-FFF2-40B4-BE49-F238E27FC236}">
                <a16:creationId xmlns:a16="http://schemas.microsoft.com/office/drawing/2014/main" id="{8B758490-FCA2-857C-D9B8-91FAB2FB2357}"/>
              </a:ext>
            </a:extLst>
          </p:cNvPr>
          <p:cNvSpPr/>
          <p:nvPr/>
        </p:nvSpPr>
        <p:spPr>
          <a:xfrm>
            <a:off x="905778" y="4919593"/>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経理</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17" name="円/楕円 50">
            <a:extLst>
              <a:ext uri="{FF2B5EF4-FFF2-40B4-BE49-F238E27FC236}">
                <a16:creationId xmlns:a16="http://schemas.microsoft.com/office/drawing/2014/main" id="{F15028A8-B34D-0803-77D7-3512B1553187}"/>
              </a:ext>
            </a:extLst>
          </p:cNvPr>
          <p:cNvSpPr/>
          <p:nvPr/>
        </p:nvSpPr>
        <p:spPr>
          <a:xfrm>
            <a:off x="905778" y="5330954"/>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HR</a:t>
            </a:r>
          </a:p>
        </p:txBody>
      </p:sp>
      <p:sp>
        <p:nvSpPr>
          <p:cNvPr id="18" name="円/楕円 50">
            <a:extLst>
              <a:ext uri="{FF2B5EF4-FFF2-40B4-BE49-F238E27FC236}">
                <a16:creationId xmlns:a16="http://schemas.microsoft.com/office/drawing/2014/main" id="{C785EC7F-B9BB-6F0B-3081-46FC97E44FEB}"/>
              </a:ext>
            </a:extLst>
          </p:cNvPr>
          <p:cNvSpPr/>
          <p:nvPr/>
        </p:nvSpPr>
        <p:spPr>
          <a:xfrm>
            <a:off x="905778" y="5742315"/>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JJ</a:t>
            </a:r>
          </a:p>
        </p:txBody>
      </p:sp>
      <p:sp>
        <p:nvSpPr>
          <p:cNvPr id="19" name="円/楕円 50">
            <a:extLst>
              <a:ext uri="{FF2B5EF4-FFF2-40B4-BE49-F238E27FC236}">
                <a16:creationId xmlns:a16="http://schemas.microsoft.com/office/drawing/2014/main" id="{704922D7-2BD8-62E0-3D1A-947AF40129B5}"/>
              </a:ext>
            </a:extLst>
          </p:cNvPr>
          <p:cNvSpPr/>
          <p:nvPr/>
        </p:nvSpPr>
        <p:spPr>
          <a:xfrm>
            <a:off x="905778" y="6153676"/>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学び</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cxnSp>
        <p:nvCxnSpPr>
          <p:cNvPr id="20" name="直線コネクタ 19">
            <a:extLst>
              <a:ext uri="{FF2B5EF4-FFF2-40B4-BE49-F238E27FC236}">
                <a16:creationId xmlns:a16="http://schemas.microsoft.com/office/drawing/2014/main" id="{AC167246-51BD-A6E8-F8FE-2AA1A4A66112}"/>
              </a:ext>
            </a:extLst>
          </p:cNvPr>
          <p:cNvCxnSpPr/>
          <p:nvPr/>
        </p:nvCxnSpPr>
        <p:spPr>
          <a:xfrm>
            <a:off x="1857852" y="3178272"/>
            <a:ext cx="555182" cy="0"/>
          </a:xfrm>
          <a:prstGeom prst="line">
            <a:avLst/>
          </a:prstGeom>
          <a:noFill/>
          <a:ln w="6350" cap="flat" cmpd="sng" algn="ctr">
            <a:solidFill>
              <a:sysClr val="windowText" lastClr="000000"/>
            </a:solidFill>
            <a:prstDash val="solid"/>
            <a:miter lim="800000"/>
          </a:ln>
          <a:effectLst/>
        </p:spPr>
      </p:cxnSp>
      <p:sp>
        <p:nvSpPr>
          <p:cNvPr id="21" name="テキスト ボックス 20">
            <a:extLst>
              <a:ext uri="{FF2B5EF4-FFF2-40B4-BE49-F238E27FC236}">
                <a16:creationId xmlns:a16="http://schemas.microsoft.com/office/drawing/2014/main" id="{BE6BE2D2-30F2-AEA1-B9A9-AD34635EBCDF}"/>
              </a:ext>
            </a:extLst>
          </p:cNvPr>
          <p:cNvSpPr txBox="1"/>
          <p:nvPr/>
        </p:nvSpPr>
        <p:spPr>
          <a:xfrm>
            <a:off x="1955908" y="2946859"/>
            <a:ext cx="359073" cy="215444"/>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個数</a:t>
            </a: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	</a:t>
            </a:r>
            <a:endPar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2" name="円/楕円 50">
            <a:extLst>
              <a:ext uri="{FF2B5EF4-FFF2-40B4-BE49-F238E27FC236}">
                <a16:creationId xmlns:a16="http://schemas.microsoft.com/office/drawing/2014/main" id="{4BDCDDBD-B3A5-0921-A0FD-EAD5426E4273}"/>
              </a:ext>
            </a:extLst>
          </p:cNvPr>
          <p:cNvSpPr/>
          <p:nvPr/>
        </p:nvSpPr>
        <p:spPr>
          <a:xfrm>
            <a:off x="1857131" y="3274149"/>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algn="ctr" fontAlgn="auto">
              <a:spcBef>
                <a:spcPts val="0"/>
              </a:spcBef>
              <a:spcAft>
                <a:spcPts val="0"/>
              </a:spcAf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66</a:t>
            </a:r>
          </a:p>
        </p:txBody>
      </p:sp>
      <p:sp>
        <p:nvSpPr>
          <p:cNvPr id="23" name="円/楕円 50">
            <a:extLst>
              <a:ext uri="{FF2B5EF4-FFF2-40B4-BE49-F238E27FC236}">
                <a16:creationId xmlns:a16="http://schemas.microsoft.com/office/drawing/2014/main" id="{933975E8-ED99-1060-8347-26925F77B95A}"/>
              </a:ext>
            </a:extLst>
          </p:cNvPr>
          <p:cNvSpPr/>
          <p:nvPr/>
        </p:nvSpPr>
        <p:spPr>
          <a:xfrm>
            <a:off x="1857131" y="3685510"/>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66</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4" name="円/楕円 50">
            <a:extLst>
              <a:ext uri="{FF2B5EF4-FFF2-40B4-BE49-F238E27FC236}">
                <a16:creationId xmlns:a16="http://schemas.microsoft.com/office/drawing/2014/main" id="{96D6A6DC-6E84-9C0F-7BC2-46C54DF51B02}"/>
              </a:ext>
            </a:extLst>
          </p:cNvPr>
          <p:cNvSpPr/>
          <p:nvPr/>
        </p:nvSpPr>
        <p:spPr>
          <a:xfrm>
            <a:off x="1857131" y="4096871"/>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65</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5" name="円/楕円 50">
            <a:extLst>
              <a:ext uri="{FF2B5EF4-FFF2-40B4-BE49-F238E27FC236}">
                <a16:creationId xmlns:a16="http://schemas.microsoft.com/office/drawing/2014/main" id="{F9FAC759-3176-935C-F82D-5985FF4E5821}"/>
              </a:ext>
            </a:extLst>
          </p:cNvPr>
          <p:cNvSpPr/>
          <p:nvPr/>
        </p:nvSpPr>
        <p:spPr>
          <a:xfrm>
            <a:off x="1857131" y="4508232"/>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40</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6" name="円/楕円 50">
            <a:extLst>
              <a:ext uri="{FF2B5EF4-FFF2-40B4-BE49-F238E27FC236}">
                <a16:creationId xmlns:a16="http://schemas.microsoft.com/office/drawing/2014/main" id="{C21CF037-3289-7735-0525-3D4C0FD01AE8}"/>
              </a:ext>
            </a:extLst>
          </p:cNvPr>
          <p:cNvSpPr/>
          <p:nvPr/>
        </p:nvSpPr>
        <p:spPr>
          <a:xfrm>
            <a:off x="1857131" y="4919593"/>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kern="0">
                <a:solidFill>
                  <a:srgbClr val="595959"/>
                </a:solidFill>
                <a:latin typeface="Meiryo UI" panose="020B0604030504040204" pitchFamily="50" charset="-128"/>
                <a:ea typeface="Meiryo UI" panose="020B0604030504040204" pitchFamily="50" charset="-128"/>
              </a:rPr>
              <a:t>22</a:t>
            </a: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6</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7" name="円/楕円 50">
            <a:extLst>
              <a:ext uri="{FF2B5EF4-FFF2-40B4-BE49-F238E27FC236}">
                <a16:creationId xmlns:a16="http://schemas.microsoft.com/office/drawing/2014/main" id="{85366E85-827E-C3C6-2A32-2D94149142FC}"/>
              </a:ext>
            </a:extLst>
          </p:cNvPr>
          <p:cNvSpPr/>
          <p:nvPr/>
        </p:nvSpPr>
        <p:spPr>
          <a:xfrm>
            <a:off x="1857131" y="5330954"/>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8" name="円/楕円 50">
            <a:extLst>
              <a:ext uri="{FF2B5EF4-FFF2-40B4-BE49-F238E27FC236}">
                <a16:creationId xmlns:a16="http://schemas.microsoft.com/office/drawing/2014/main" id="{0842E64D-3684-BBB1-3A92-7261D11BF71E}"/>
              </a:ext>
            </a:extLst>
          </p:cNvPr>
          <p:cNvSpPr/>
          <p:nvPr/>
        </p:nvSpPr>
        <p:spPr>
          <a:xfrm>
            <a:off x="1857131" y="5742315"/>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9" name="円/楕円 50">
            <a:extLst>
              <a:ext uri="{FF2B5EF4-FFF2-40B4-BE49-F238E27FC236}">
                <a16:creationId xmlns:a16="http://schemas.microsoft.com/office/drawing/2014/main" id="{BAD69173-3CC8-5D03-13D1-5CFFC113769F}"/>
              </a:ext>
            </a:extLst>
          </p:cNvPr>
          <p:cNvSpPr/>
          <p:nvPr/>
        </p:nvSpPr>
        <p:spPr>
          <a:xfrm>
            <a:off x="1857131" y="6153676"/>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grpSp>
        <p:nvGrpSpPr>
          <p:cNvPr id="30" name="グループ化 29">
            <a:extLst>
              <a:ext uri="{FF2B5EF4-FFF2-40B4-BE49-F238E27FC236}">
                <a16:creationId xmlns:a16="http://schemas.microsoft.com/office/drawing/2014/main" id="{2B3629A5-7ECD-6783-AB34-8FF4F1906263}"/>
              </a:ext>
            </a:extLst>
          </p:cNvPr>
          <p:cNvGrpSpPr/>
          <p:nvPr/>
        </p:nvGrpSpPr>
        <p:grpSpPr>
          <a:xfrm>
            <a:off x="2431889" y="2731416"/>
            <a:ext cx="897683" cy="446856"/>
            <a:chOff x="1351602" y="1387069"/>
            <a:chExt cx="5685572" cy="446856"/>
          </a:xfrm>
        </p:grpSpPr>
        <p:cxnSp>
          <p:nvCxnSpPr>
            <p:cNvPr id="43" name="直線コネクタ 42">
              <a:extLst>
                <a:ext uri="{FF2B5EF4-FFF2-40B4-BE49-F238E27FC236}">
                  <a16:creationId xmlns:a16="http://schemas.microsoft.com/office/drawing/2014/main" id="{CE093CA8-DC5A-91B3-009B-22399D4905B9}"/>
                </a:ext>
              </a:extLst>
            </p:cNvPr>
            <p:cNvCxnSpPr/>
            <p:nvPr/>
          </p:nvCxnSpPr>
          <p:spPr>
            <a:xfrm>
              <a:off x="1854275" y="1833925"/>
              <a:ext cx="4680200" cy="0"/>
            </a:xfrm>
            <a:prstGeom prst="line">
              <a:avLst/>
            </a:prstGeom>
            <a:noFill/>
            <a:ln w="6350" cap="flat" cmpd="sng" algn="ctr">
              <a:solidFill>
                <a:sysClr val="windowText" lastClr="000000"/>
              </a:solidFill>
              <a:prstDash val="solid"/>
              <a:miter lim="800000"/>
            </a:ln>
            <a:effectLst/>
          </p:spPr>
        </p:cxnSp>
        <p:sp>
          <p:nvSpPr>
            <p:cNvPr id="44" name="テキスト ボックス 43">
              <a:extLst>
                <a:ext uri="{FF2B5EF4-FFF2-40B4-BE49-F238E27FC236}">
                  <a16:creationId xmlns:a16="http://schemas.microsoft.com/office/drawing/2014/main" id="{E7F8C895-F458-C1DE-6797-0E24E73DCB32}"/>
                </a:ext>
              </a:extLst>
            </p:cNvPr>
            <p:cNvSpPr txBox="1"/>
            <p:nvPr/>
          </p:nvSpPr>
          <p:spPr>
            <a:xfrm>
              <a:off x="1351602" y="1387069"/>
              <a:ext cx="5685572" cy="430887"/>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JKK</a:t>
              </a: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対応</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改修</a:t>
              </a:r>
              <a:r>
                <a:rPr kumimoji="0" lang="ja-JP" altLang="en-US" sz="1400" b="1" kern="0">
                  <a:solidFill>
                    <a:srgbClr val="595959"/>
                  </a:solidFill>
                  <a:latin typeface="Meiryo UI" panose="020B0604030504040204" pitchFamily="50" charset="-128"/>
                  <a:ea typeface="Meiryo UI" panose="020B0604030504040204" pitchFamily="50" charset="-128"/>
                </a:rPr>
                <a:t>影響度</a:t>
              </a:r>
              <a:endPar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grpSp>
      <p:sp>
        <p:nvSpPr>
          <p:cNvPr id="31" name="円/楕円 50">
            <a:extLst>
              <a:ext uri="{FF2B5EF4-FFF2-40B4-BE49-F238E27FC236}">
                <a16:creationId xmlns:a16="http://schemas.microsoft.com/office/drawing/2014/main" id="{4160F577-347A-E503-DACF-2F5DE6DEC40B}"/>
              </a:ext>
            </a:extLst>
          </p:cNvPr>
          <p:cNvSpPr/>
          <p:nvPr/>
        </p:nvSpPr>
        <p:spPr>
          <a:xfrm>
            <a:off x="2510295" y="3274149"/>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大</a:t>
            </a:r>
            <a:endParaRPr kumimoji="0" lang="en-US" altLang="ja-JP" sz="11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2" name="円/楕円 50">
            <a:extLst>
              <a:ext uri="{FF2B5EF4-FFF2-40B4-BE49-F238E27FC236}">
                <a16:creationId xmlns:a16="http://schemas.microsoft.com/office/drawing/2014/main" id="{E644F6E2-1288-A70F-8495-A9418C01E552}"/>
              </a:ext>
            </a:extLst>
          </p:cNvPr>
          <p:cNvSpPr/>
          <p:nvPr/>
        </p:nvSpPr>
        <p:spPr>
          <a:xfrm>
            <a:off x="2510295" y="3685510"/>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3" name="円/楕円 50">
            <a:extLst>
              <a:ext uri="{FF2B5EF4-FFF2-40B4-BE49-F238E27FC236}">
                <a16:creationId xmlns:a16="http://schemas.microsoft.com/office/drawing/2014/main" id="{1D3FA3FE-CEAF-07B6-E208-C49A8F841C50}"/>
              </a:ext>
            </a:extLst>
          </p:cNvPr>
          <p:cNvSpPr/>
          <p:nvPr/>
        </p:nvSpPr>
        <p:spPr>
          <a:xfrm>
            <a:off x="2510295" y="4096871"/>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小</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4" name="円/楕円 50">
            <a:extLst>
              <a:ext uri="{FF2B5EF4-FFF2-40B4-BE49-F238E27FC236}">
                <a16:creationId xmlns:a16="http://schemas.microsoft.com/office/drawing/2014/main" id="{40D8C56E-E931-47D1-7B9C-D868FE883A4F}"/>
              </a:ext>
            </a:extLst>
          </p:cNvPr>
          <p:cNvSpPr/>
          <p:nvPr/>
        </p:nvSpPr>
        <p:spPr>
          <a:xfrm>
            <a:off x="2510295" y="4508232"/>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小</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5" name="円/楕円 50">
            <a:extLst>
              <a:ext uri="{FF2B5EF4-FFF2-40B4-BE49-F238E27FC236}">
                <a16:creationId xmlns:a16="http://schemas.microsoft.com/office/drawing/2014/main" id="{37748ECB-B420-9C83-44E0-150EFA56AAAD}"/>
              </a:ext>
            </a:extLst>
          </p:cNvPr>
          <p:cNvSpPr/>
          <p:nvPr/>
        </p:nvSpPr>
        <p:spPr>
          <a:xfrm>
            <a:off x="2510295" y="4919593"/>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大</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6" name="円/楕円 50">
            <a:extLst>
              <a:ext uri="{FF2B5EF4-FFF2-40B4-BE49-F238E27FC236}">
                <a16:creationId xmlns:a16="http://schemas.microsoft.com/office/drawing/2014/main" id="{0D6EA1EE-F36B-EC0C-8813-C070C590BD35}"/>
              </a:ext>
            </a:extLst>
          </p:cNvPr>
          <p:cNvSpPr/>
          <p:nvPr/>
        </p:nvSpPr>
        <p:spPr>
          <a:xfrm>
            <a:off x="2510295" y="5330954"/>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7" name="円/楕円 50">
            <a:extLst>
              <a:ext uri="{FF2B5EF4-FFF2-40B4-BE49-F238E27FC236}">
                <a16:creationId xmlns:a16="http://schemas.microsoft.com/office/drawing/2014/main" id="{2A56DD0F-249C-08C4-7650-2C56261524D8}"/>
              </a:ext>
            </a:extLst>
          </p:cNvPr>
          <p:cNvSpPr/>
          <p:nvPr/>
        </p:nvSpPr>
        <p:spPr>
          <a:xfrm>
            <a:off x="2510295" y="5742315"/>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8" name="円/楕円 50">
            <a:extLst>
              <a:ext uri="{FF2B5EF4-FFF2-40B4-BE49-F238E27FC236}">
                <a16:creationId xmlns:a16="http://schemas.microsoft.com/office/drawing/2014/main" id="{632CBB51-BEF2-DD2B-B25C-A072DA8C4D92}"/>
              </a:ext>
            </a:extLst>
          </p:cNvPr>
          <p:cNvSpPr/>
          <p:nvPr/>
        </p:nvSpPr>
        <p:spPr>
          <a:xfrm>
            <a:off x="2510295" y="6153676"/>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9" name="フリーフォーム: 図形 38">
            <a:extLst>
              <a:ext uri="{FF2B5EF4-FFF2-40B4-BE49-F238E27FC236}">
                <a16:creationId xmlns:a16="http://schemas.microsoft.com/office/drawing/2014/main" id="{8568ADC2-97E7-F601-448A-BDEF2917CCF0}"/>
              </a:ext>
            </a:extLst>
          </p:cNvPr>
          <p:cNvSpPr/>
          <p:nvPr/>
        </p:nvSpPr>
        <p:spPr>
          <a:xfrm>
            <a:off x="5574368" y="4860976"/>
            <a:ext cx="6399844" cy="1657585"/>
          </a:xfrm>
          <a:custGeom>
            <a:avLst/>
            <a:gdLst>
              <a:gd name="connsiteX0" fmla="*/ 2698971 w 7743811"/>
              <a:gd name="connsiteY0" fmla="*/ 0 h 1657585"/>
              <a:gd name="connsiteX1" fmla="*/ 5100091 w 7743811"/>
              <a:gd name="connsiteY1" fmla="*/ 0 h 1657585"/>
              <a:gd name="connsiteX2" fmla="*/ 5100091 w 7743811"/>
              <a:gd name="connsiteY2" fmla="*/ 404829 h 1657585"/>
              <a:gd name="connsiteX3" fmla="*/ 7743811 w 7743811"/>
              <a:gd name="connsiteY3" fmla="*/ 404829 h 1657585"/>
              <a:gd name="connsiteX4" fmla="*/ 7743811 w 7743811"/>
              <a:gd name="connsiteY4" fmla="*/ 1657585 h 1657585"/>
              <a:gd name="connsiteX5" fmla="*/ 0 w 7743811"/>
              <a:gd name="connsiteY5" fmla="*/ 1657585 h 1657585"/>
              <a:gd name="connsiteX6" fmla="*/ 0 w 7743811"/>
              <a:gd name="connsiteY6" fmla="*/ 404829 h 1657585"/>
              <a:gd name="connsiteX7" fmla="*/ 2698971 w 7743811"/>
              <a:gd name="connsiteY7" fmla="*/ 404829 h 165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43811" h="1657585">
                <a:moveTo>
                  <a:pt x="2698971" y="0"/>
                </a:moveTo>
                <a:lnTo>
                  <a:pt x="5100091" y="0"/>
                </a:lnTo>
                <a:lnTo>
                  <a:pt x="5100091" y="404829"/>
                </a:lnTo>
                <a:lnTo>
                  <a:pt x="7743811" y="404829"/>
                </a:lnTo>
                <a:lnTo>
                  <a:pt x="7743811" y="1657585"/>
                </a:lnTo>
                <a:lnTo>
                  <a:pt x="0" y="1657585"/>
                </a:lnTo>
                <a:lnTo>
                  <a:pt x="0" y="404829"/>
                </a:lnTo>
                <a:lnTo>
                  <a:pt x="2698971" y="404829"/>
                </a:lnTo>
                <a:close/>
              </a:path>
            </a:pathLst>
          </a:custGeom>
          <a:solidFill>
            <a:srgbClr val="A5A5A5">
              <a:lumMod val="50000"/>
              <a:alpha val="30000"/>
            </a:srgbClr>
          </a:solidFill>
          <a:ln w="28575" cap="flat" cmpd="sng" algn="ctr">
            <a:noFill/>
            <a:prstDash val="solid"/>
            <a:miter lim="800000"/>
          </a:ln>
          <a:effectLst/>
        </p:spPr>
        <p:txBody>
          <a:bodyPr wrap="square" lIns="36000" tIns="36000" rIns="36000" bIns="36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b="1" kern="0" dirty="0">
                <a:solidFill>
                  <a:srgbClr val="595959"/>
                </a:solidFill>
                <a:latin typeface="HG丸ｺﾞｼｯｸM-PRO" panose="020F0600000000000000" pitchFamily="50" charset="-128"/>
                <a:ea typeface="HG丸ｺﾞｼｯｸM-PRO" panose="020F0600000000000000" pitchFamily="50" charset="-128"/>
              </a:rPr>
              <a:t>対象外</a:t>
            </a:r>
            <a:endParaRPr kumimoji="0" lang="ja-JP" altLang="en-US" sz="1800" b="1" i="0" u="none" strike="noStrike" kern="0" cap="none" spc="0" normalizeH="0" baseline="0" noProof="0" dirty="0">
              <a:ln>
                <a:noFill/>
              </a:ln>
              <a:solidFill>
                <a:srgbClr val="595959"/>
              </a:solidFill>
              <a:effectLst/>
              <a:uLnTx/>
              <a:uFillTx/>
              <a:latin typeface="HG丸ｺﾞｼｯｸM-PRO" panose="020F0600000000000000" pitchFamily="50" charset="-128"/>
              <a:ea typeface="HG丸ｺﾞｼｯｸM-PRO" panose="020F0600000000000000" pitchFamily="50" charset="-128"/>
              <a:cs typeface="+mn-cs"/>
            </a:endParaRPr>
          </a:p>
        </p:txBody>
      </p:sp>
      <p:grpSp>
        <p:nvGrpSpPr>
          <p:cNvPr id="40" name="グループ化 39">
            <a:extLst>
              <a:ext uri="{FF2B5EF4-FFF2-40B4-BE49-F238E27FC236}">
                <a16:creationId xmlns:a16="http://schemas.microsoft.com/office/drawing/2014/main" id="{606E27C3-ADC7-B4FD-7600-003B0E762646}"/>
              </a:ext>
            </a:extLst>
          </p:cNvPr>
          <p:cNvGrpSpPr/>
          <p:nvPr/>
        </p:nvGrpSpPr>
        <p:grpSpPr>
          <a:xfrm>
            <a:off x="906939" y="2946859"/>
            <a:ext cx="894127" cy="231413"/>
            <a:chOff x="1854275" y="1602512"/>
            <a:chExt cx="4680200" cy="231413"/>
          </a:xfrm>
        </p:grpSpPr>
        <p:cxnSp>
          <p:nvCxnSpPr>
            <p:cNvPr id="41" name="直線コネクタ 40">
              <a:extLst>
                <a:ext uri="{FF2B5EF4-FFF2-40B4-BE49-F238E27FC236}">
                  <a16:creationId xmlns:a16="http://schemas.microsoft.com/office/drawing/2014/main" id="{5A22D0AF-DDC5-4D9D-1DDE-AEF7C15F0BF0}"/>
                </a:ext>
              </a:extLst>
            </p:cNvPr>
            <p:cNvCxnSpPr/>
            <p:nvPr/>
          </p:nvCxnSpPr>
          <p:spPr>
            <a:xfrm>
              <a:off x="1854275" y="1833925"/>
              <a:ext cx="4680200" cy="0"/>
            </a:xfrm>
            <a:prstGeom prst="line">
              <a:avLst/>
            </a:prstGeom>
            <a:noFill/>
            <a:ln w="6350" cap="flat" cmpd="sng" algn="ctr">
              <a:solidFill>
                <a:sysClr val="windowText" lastClr="000000"/>
              </a:solidFill>
              <a:prstDash val="solid"/>
              <a:miter lim="800000"/>
            </a:ln>
            <a:effectLst/>
          </p:spPr>
        </p:cxnSp>
        <p:sp>
          <p:nvSpPr>
            <p:cNvPr id="42" name="テキスト ボックス 41">
              <a:extLst>
                <a:ext uri="{FF2B5EF4-FFF2-40B4-BE49-F238E27FC236}">
                  <a16:creationId xmlns:a16="http://schemas.microsoft.com/office/drawing/2014/main" id="{D45C7D47-C075-09F0-0F73-47D8326BCB15}"/>
                </a:ext>
              </a:extLst>
            </p:cNvPr>
            <p:cNvSpPr txBox="1"/>
            <p:nvPr/>
          </p:nvSpPr>
          <p:spPr>
            <a:xfrm>
              <a:off x="3254613" y="1602512"/>
              <a:ext cx="1879524" cy="215444"/>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領域</a:t>
              </a:r>
            </a:p>
          </p:txBody>
        </p:sp>
      </p:grpSp>
      <p:grpSp>
        <p:nvGrpSpPr>
          <p:cNvPr id="83" name="グループ化 82">
            <a:extLst>
              <a:ext uri="{FF2B5EF4-FFF2-40B4-BE49-F238E27FC236}">
                <a16:creationId xmlns:a16="http://schemas.microsoft.com/office/drawing/2014/main" id="{AC738B3E-C5B3-34D8-4C6D-7AC84AF9F8AD}"/>
              </a:ext>
            </a:extLst>
          </p:cNvPr>
          <p:cNvGrpSpPr/>
          <p:nvPr/>
        </p:nvGrpSpPr>
        <p:grpSpPr>
          <a:xfrm>
            <a:off x="9068845" y="2291450"/>
            <a:ext cx="1621468" cy="4166840"/>
            <a:chOff x="8057882" y="1642525"/>
            <a:chExt cx="1961976" cy="4044294"/>
          </a:xfrm>
        </p:grpSpPr>
        <p:cxnSp>
          <p:nvCxnSpPr>
            <p:cNvPr id="84" name="直線コネクタ 83">
              <a:extLst>
                <a:ext uri="{FF2B5EF4-FFF2-40B4-BE49-F238E27FC236}">
                  <a16:creationId xmlns:a16="http://schemas.microsoft.com/office/drawing/2014/main" id="{9630B3AF-0C6F-6938-5D77-B48E5938016E}"/>
                </a:ext>
              </a:extLst>
            </p:cNvPr>
            <p:cNvCxnSpPr>
              <a:cxnSpLocks/>
            </p:cNvCxnSpPr>
            <p:nvPr/>
          </p:nvCxnSpPr>
          <p:spPr>
            <a:xfrm>
              <a:off x="9036415" y="1806910"/>
              <a:ext cx="0" cy="3879909"/>
            </a:xfrm>
            <a:prstGeom prst="line">
              <a:avLst/>
            </a:prstGeom>
            <a:noFill/>
            <a:ln w="19050" cap="flat" cmpd="sng" algn="ctr">
              <a:solidFill>
                <a:srgbClr val="FF0000"/>
              </a:solidFill>
              <a:prstDash val="sysDash"/>
              <a:miter lim="800000"/>
            </a:ln>
            <a:effectLst/>
          </p:spPr>
        </p:cxnSp>
        <p:sp>
          <p:nvSpPr>
            <p:cNvPr id="85" name="テキスト プレースホルダー 10">
              <a:extLst>
                <a:ext uri="{FF2B5EF4-FFF2-40B4-BE49-F238E27FC236}">
                  <a16:creationId xmlns:a16="http://schemas.microsoft.com/office/drawing/2014/main" id="{B62C39D5-5F16-E6FA-D786-2DE9F04C159D}"/>
                </a:ext>
              </a:extLst>
            </p:cNvPr>
            <p:cNvSpPr txBox="1">
              <a:spLocks/>
            </p:cNvSpPr>
            <p:nvPr/>
          </p:nvSpPr>
          <p:spPr>
            <a:xfrm>
              <a:off x="8057882" y="1642525"/>
              <a:ext cx="1961976"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en-US" altLang="ja-JP" sz="14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2025/3</a:t>
              </a:r>
              <a:r>
                <a:rPr kumimoji="1" lang="ja-JP" altLang="en-US" sz="14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a:t>
              </a:r>
            </a:p>
          </p:txBody>
        </p:sp>
      </p:grpSp>
      <p:grpSp>
        <p:nvGrpSpPr>
          <p:cNvPr id="86" name="グループ化 85">
            <a:extLst>
              <a:ext uri="{FF2B5EF4-FFF2-40B4-BE49-F238E27FC236}">
                <a16:creationId xmlns:a16="http://schemas.microsoft.com/office/drawing/2014/main" id="{96919810-DA49-DF6E-6A1C-15188DDE3B39}"/>
              </a:ext>
            </a:extLst>
          </p:cNvPr>
          <p:cNvGrpSpPr/>
          <p:nvPr/>
        </p:nvGrpSpPr>
        <p:grpSpPr>
          <a:xfrm>
            <a:off x="6919353" y="2291450"/>
            <a:ext cx="1621468" cy="4166840"/>
            <a:chOff x="8057882" y="1642525"/>
            <a:chExt cx="1961976" cy="4044294"/>
          </a:xfrm>
        </p:grpSpPr>
        <p:cxnSp>
          <p:nvCxnSpPr>
            <p:cNvPr id="87" name="直線コネクタ 86">
              <a:extLst>
                <a:ext uri="{FF2B5EF4-FFF2-40B4-BE49-F238E27FC236}">
                  <a16:creationId xmlns:a16="http://schemas.microsoft.com/office/drawing/2014/main" id="{1EA85260-B866-693B-9EF1-DA97C789A5DB}"/>
                </a:ext>
              </a:extLst>
            </p:cNvPr>
            <p:cNvCxnSpPr>
              <a:cxnSpLocks/>
            </p:cNvCxnSpPr>
            <p:nvPr/>
          </p:nvCxnSpPr>
          <p:spPr>
            <a:xfrm>
              <a:off x="9036415" y="1806910"/>
              <a:ext cx="0" cy="3879909"/>
            </a:xfrm>
            <a:prstGeom prst="line">
              <a:avLst/>
            </a:prstGeom>
            <a:noFill/>
            <a:ln w="19050" cap="flat" cmpd="sng" algn="ctr">
              <a:solidFill>
                <a:srgbClr val="FF0000"/>
              </a:solidFill>
              <a:prstDash val="sysDash"/>
              <a:miter lim="800000"/>
            </a:ln>
            <a:effectLst/>
          </p:spPr>
        </p:cxnSp>
        <p:sp>
          <p:nvSpPr>
            <p:cNvPr id="88" name="テキスト プレースホルダー 10">
              <a:extLst>
                <a:ext uri="{FF2B5EF4-FFF2-40B4-BE49-F238E27FC236}">
                  <a16:creationId xmlns:a16="http://schemas.microsoft.com/office/drawing/2014/main" id="{96308762-F64E-5CD6-A143-C8DB896DCFF9}"/>
                </a:ext>
              </a:extLst>
            </p:cNvPr>
            <p:cNvSpPr txBox="1">
              <a:spLocks/>
            </p:cNvSpPr>
            <p:nvPr/>
          </p:nvSpPr>
          <p:spPr>
            <a:xfrm>
              <a:off x="8057882" y="1642525"/>
              <a:ext cx="1961976"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en-US" altLang="ja-JP" sz="1400" b="0"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rPr>
                <a:t>2024/5</a:t>
              </a:r>
              <a:r>
                <a:rPr kumimoji="1" lang="ja-JP" altLang="en-US" sz="1400" b="0"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rPr>
                <a:t>～</a:t>
              </a:r>
            </a:p>
          </p:txBody>
        </p:sp>
      </p:grpSp>
    </p:spTree>
    <p:extLst>
      <p:ext uri="{BB962C8B-B14F-4D97-AF65-F5344CB8AC3E}">
        <p14:creationId xmlns:p14="http://schemas.microsoft.com/office/powerpoint/2010/main" val="2425300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施策②：担当領域の検討</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8</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285750" marR="0" lvl="0" indent="-285750" defTabSz="879475">
              <a:lnSpc>
                <a:spcPct val="100000"/>
              </a:lnSpc>
              <a:buClrTx/>
              <a:buSzTx/>
              <a:buFont typeface="Arial" panose="020B0604020202020204" pitchFamily="34" charset="0"/>
              <a:buChar char="•"/>
              <a:tabLst/>
              <a:defRPr/>
            </a:pP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当初の予定としては</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Win11</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対応は基シス、</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JKK</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対応は経理</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:JKK</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、事業</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基シスでそれぞれ改修を行う予定だった。</a:t>
            </a:r>
            <a:endPar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285750" marR="0" lvl="0" indent="-285750" defTabSz="879475">
              <a:lnSpc>
                <a:spcPct val="100000"/>
              </a:lnSpc>
              <a:buClrTx/>
              <a:buSzTx/>
              <a:buFont typeface="Arial" panose="020B0604020202020204" pitchFamily="34" charset="0"/>
              <a:buChar char="•"/>
              <a:tabLst/>
              <a:defRPr/>
            </a:pP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JJ/</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学びは当初の予定通り</a:t>
            </a:r>
            <a:r>
              <a:rPr lang="en-US" altLang="ja-JP" b="1" u="sng"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JKK</a:t>
            </a:r>
            <a:r>
              <a:rPr lang="ja-JP" altLang="en-US" b="1" u="sng"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対応まで基シスで行う</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こととする。理由としては以下。</a:t>
            </a:r>
            <a:endPar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549275" lvl="1" indent="-285750" defTabSz="879475">
              <a:buFont typeface="Meiryo UI" panose="020B0604030504040204" pitchFamily="50" charset="-128"/>
              <a:buChar char="⁃"/>
              <a:defRPr/>
            </a:pP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JJ/</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学びは</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Win11</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対応時点でスプシ化を行うため、軽微な</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JKK</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対応についてもそのまま基シスが行うのが効率的である。</a:t>
            </a:r>
            <a:endPar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285750" indent="-285750" defTabSz="879475">
              <a:buFont typeface="Arial" panose="020B0604020202020204" pitchFamily="34" charset="0"/>
              <a:buChar char="•"/>
              <a:defRPr/>
            </a:pP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HR</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は</a:t>
            </a:r>
            <a:r>
              <a:rPr lang="en-US" altLang="ja-JP" dirty="0" err="1">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RogueOne</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にて廃止。</a:t>
            </a:r>
            <a:endPar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grpSp>
        <p:nvGrpSpPr>
          <p:cNvPr id="10" name="グループ化 9">
            <a:extLst>
              <a:ext uri="{FF2B5EF4-FFF2-40B4-BE49-F238E27FC236}">
                <a16:creationId xmlns:a16="http://schemas.microsoft.com/office/drawing/2014/main" id="{9361C805-22E0-F332-CC5E-68A0544D5F2D}"/>
              </a:ext>
            </a:extLst>
          </p:cNvPr>
          <p:cNvGrpSpPr/>
          <p:nvPr/>
        </p:nvGrpSpPr>
        <p:grpSpPr>
          <a:xfrm>
            <a:off x="6919353" y="2291450"/>
            <a:ext cx="1621468" cy="4166840"/>
            <a:chOff x="8057882" y="1642525"/>
            <a:chExt cx="1961976" cy="4044294"/>
          </a:xfrm>
        </p:grpSpPr>
        <p:cxnSp>
          <p:nvCxnSpPr>
            <p:cNvPr id="11" name="直線コネクタ 10">
              <a:extLst>
                <a:ext uri="{FF2B5EF4-FFF2-40B4-BE49-F238E27FC236}">
                  <a16:creationId xmlns:a16="http://schemas.microsoft.com/office/drawing/2014/main" id="{5765F0EB-99CE-3C51-BB07-E758BE843DC2}"/>
                </a:ext>
              </a:extLst>
            </p:cNvPr>
            <p:cNvCxnSpPr>
              <a:cxnSpLocks/>
            </p:cNvCxnSpPr>
            <p:nvPr/>
          </p:nvCxnSpPr>
          <p:spPr>
            <a:xfrm>
              <a:off x="9036415" y="1806910"/>
              <a:ext cx="0" cy="3879909"/>
            </a:xfrm>
            <a:prstGeom prst="line">
              <a:avLst/>
            </a:prstGeom>
            <a:noFill/>
            <a:ln w="19050" cap="flat" cmpd="sng" algn="ctr">
              <a:solidFill>
                <a:srgbClr val="FF0000"/>
              </a:solidFill>
              <a:prstDash val="sysDash"/>
              <a:miter lim="800000"/>
            </a:ln>
            <a:effectLst/>
          </p:spPr>
        </p:cxnSp>
        <p:sp>
          <p:nvSpPr>
            <p:cNvPr id="12" name="テキスト プレースホルダー 10">
              <a:extLst>
                <a:ext uri="{FF2B5EF4-FFF2-40B4-BE49-F238E27FC236}">
                  <a16:creationId xmlns:a16="http://schemas.microsoft.com/office/drawing/2014/main" id="{93F4C2A0-F0C2-7607-5E54-C25DC5692AE9}"/>
                </a:ext>
              </a:extLst>
            </p:cNvPr>
            <p:cNvSpPr txBox="1">
              <a:spLocks/>
            </p:cNvSpPr>
            <p:nvPr/>
          </p:nvSpPr>
          <p:spPr>
            <a:xfrm>
              <a:off x="8057882" y="1642525"/>
              <a:ext cx="1961976"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en-US" altLang="ja-JP" sz="1400" b="0"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rPr>
                <a:t>2024/5</a:t>
              </a:r>
              <a:r>
                <a:rPr kumimoji="1" lang="ja-JP" altLang="en-US" sz="1400" b="0"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rPr>
                <a:t>～</a:t>
              </a:r>
            </a:p>
          </p:txBody>
        </p:sp>
      </p:grpSp>
      <p:grpSp>
        <p:nvGrpSpPr>
          <p:cNvPr id="13" name="グループ化 12">
            <a:extLst>
              <a:ext uri="{FF2B5EF4-FFF2-40B4-BE49-F238E27FC236}">
                <a16:creationId xmlns:a16="http://schemas.microsoft.com/office/drawing/2014/main" id="{E4DBC8BC-460C-50EB-3131-6D4BC4BB79D5}"/>
              </a:ext>
            </a:extLst>
          </p:cNvPr>
          <p:cNvGrpSpPr/>
          <p:nvPr/>
        </p:nvGrpSpPr>
        <p:grpSpPr>
          <a:xfrm>
            <a:off x="3421191" y="2536469"/>
            <a:ext cx="8577718" cy="3945398"/>
            <a:chOff x="3284356" y="2288185"/>
            <a:chExt cx="10379038" cy="3945398"/>
          </a:xfrm>
        </p:grpSpPr>
        <p:grpSp>
          <p:nvGrpSpPr>
            <p:cNvPr id="14" name="グループ化 13">
              <a:extLst>
                <a:ext uri="{FF2B5EF4-FFF2-40B4-BE49-F238E27FC236}">
                  <a16:creationId xmlns:a16="http://schemas.microsoft.com/office/drawing/2014/main" id="{F2A31B6E-A5D6-C636-4789-FDE932ABDC36}"/>
                </a:ext>
              </a:extLst>
            </p:cNvPr>
            <p:cNvGrpSpPr/>
            <p:nvPr/>
          </p:nvGrpSpPr>
          <p:grpSpPr>
            <a:xfrm>
              <a:off x="3284356" y="2288185"/>
              <a:ext cx="10378042" cy="176199"/>
              <a:chOff x="3887240" y="1741428"/>
              <a:chExt cx="7707551" cy="176199"/>
            </a:xfrm>
          </p:grpSpPr>
          <p:cxnSp>
            <p:nvCxnSpPr>
              <p:cNvPr id="41" name="直線矢印コネクタ 40">
                <a:extLst>
                  <a:ext uri="{FF2B5EF4-FFF2-40B4-BE49-F238E27FC236}">
                    <a16:creationId xmlns:a16="http://schemas.microsoft.com/office/drawing/2014/main" id="{AA5B48AA-055A-62B2-E355-83B99C16831F}"/>
                  </a:ext>
                </a:extLst>
              </p:cNvPr>
              <p:cNvCxnSpPr>
                <a:cxnSpLocks/>
              </p:cNvCxnSpPr>
              <p:nvPr/>
            </p:nvCxnSpPr>
            <p:spPr>
              <a:xfrm>
                <a:off x="3887240" y="1917627"/>
                <a:ext cx="7707551" cy="0"/>
              </a:xfrm>
              <a:prstGeom prst="straightConnector1">
                <a:avLst/>
              </a:prstGeom>
              <a:noFill/>
              <a:ln w="12700" cap="flat" cmpd="sng" algn="ctr">
                <a:solidFill>
                  <a:sysClr val="windowText" lastClr="000000"/>
                </a:solidFill>
                <a:prstDash val="solid"/>
                <a:miter lim="800000"/>
                <a:headEnd type="none" w="med" len="med"/>
                <a:tailEnd type="arrow" w="lg" len="sm"/>
              </a:ln>
              <a:effectLst/>
            </p:spPr>
          </p:cxnSp>
          <p:sp>
            <p:nvSpPr>
              <p:cNvPr id="42" name="テキスト プレースホルダー 10">
                <a:extLst>
                  <a:ext uri="{FF2B5EF4-FFF2-40B4-BE49-F238E27FC236}">
                    <a16:creationId xmlns:a16="http://schemas.microsoft.com/office/drawing/2014/main" id="{F8A83CB9-2CD3-404D-FEE8-BC5A34D7F991}"/>
                  </a:ext>
                </a:extLst>
              </p:cNvPr>
              <p:cNvSpPr txBox="1">
                <a:spLocks/>
              </p:cNvSpPr>
              <p:nvPr/>
            </p:nvSpPr>
            <p:spPr>
              <a:xfrm>
                <a:off x="10737016" y="1741428"/>
                <a:ext cx="832072"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時系列</a:t>
                </a:r>
              </a:p>
            </p:txBody>
          </p:sp>
        </p:grpSp>
        <p:grpSp>
          <p:nvGrpSpPr>
            <p:cNvPr id="15" name="グループ化 14">
              <a:extLst>
                <a:ext uri="{FF2B5EF4-FFF2-40B4-BE49-F238E27FC236}">
                  <a16:creationId xmlns:a16="http://schemas.microsoft.com/office/drawing/2014/main" id="{2441F20C-2D8E-E5B5-A8C2-54194DD3CB95}"/>
                </a:ext>
              </a:extLst>
            </p:cNvPr>
            <p:cNvGrpSpPr/>
            <p:nvPr/>
          </p:nvGrpSpPr>
          <p:grpSpPr>
            <a:xfrm>
              <a:off x="8500994" y="2552803"/>
              <a:ext cx="2581200" cy="3680780"/>
              <a:chOff x="8500994" y="2552803"/>
              <a:chExt cx="2581200" cy="3680780"/>
            </a:xfrm>
          </p:grpSpPr>
          <p:sp>
            <p:nvSpPr>
              <p:cNvPr id="34" name="円/楕円 50">
                <a:extLst>
                  <a:ext uri="{FF2B5EF4-FFF2-40B4-BE49-F238E27FC236}">
                    <a16:creationId xmlns:a16="http://schemas.microsoft.com/office/drawing/2014/main" id="{DFC80DF7-2EEE-4271-8C81-730373C22EC3}"/>
                  </a:ext>
                </a:extLst>
              </p:cNvPr>
              <p:cNvSpPr/>
              <p:nvPr/>
            </p:nvSpPr>
            <p:spPr>
              <a:xfrm>
                <a:off x="8500994" y="2552803"/>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Win11</a:t>
                </a: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対応</a:t>
                </a:r>
              </a:p>
            </p:txBody>
          </p:sp>
          <p:sp>
            <p:nvSpPr>
              <p:cNvPr id="35" name="円/楕円 50">
                <a:extLst>
                  <a:ext uri="{FF2B5EF4-FFF2-40B4-BE49-F238E27FC236}">
                    <a16:creationId xmlns:a16="http://schemas.microsoft.com/office/drawing/2014/main" id="{8D34AAA3-FBD1-0828-47B1-A501294CB832}"/>
                  </a:ext>
                </a:extLst>
              </p:cNvPr>
              <p:cNvSpPr/>
              <p:nvPr/>
            </p:nvSpPr>
            <p:spPr>
              <a:xfrm>
                <a:off x="8618322" y="3025863"/>
                <a:ext cx="2346545" cy="739547"/>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800" b="1" kern="0">
                    <a:solidFill>
                      <a:srgbClr val="E7E6E6">
                        <a:lumMod val="50000"/>
                      </a:srgbClr>
                    </a:solidFill>
                    <a:latin typeface="Meiryo UI" panose="020B0604030504040204" pitchFamily="50" charset="-128"/>
                    <a:ea typeface="Meiryo UI" panose="020B0604030504040204" pitchFamily="50" charset="-128"/>
                  </a:rPr>
                  <a:t>基シス</a:t>
                </a:r>
                <a:endParaRPr kumimoji="0" lang="en-US" altLang="ja-JP" sz="1800" b="1" kern="0">
                  <a:solidFill>
                    <a:srgbClr val="E7E6E6">
                      <a:lumMod val="50000"/>
                    </a:srgbClr>
                  </a:solidFill>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※Access</a:t>
                </a:r>
                <a:r>
                  <a:rPr kumimoji="0" lang="ja-JP" altLang="en-US" sz="1200" kern="0">
                    <a:solidFill>
                      <a:srgbClr val="E7E6E6">
                        <a:lumMod val="50000"/>
                      </a:srgbClr>
                    </a:solidFill>
                    <a:latin typeface="Meiryo UI" panose="020B0604030504040204" pitchFamily="50" charset="-128"/>
                    <a:ea typeface="Meiryo UI" panose="020B0604030504040204" pitchFamily="50" charset="-128"/>
                  </a:rPr>
                  <a:t>維持</a:t>
                </a:r>
                <a:endParaRPr kumimoji="0" lang="en-US" altLang="ja-JP" sz="1000" kern="0">
                  <a:solidFill>
                    <a:srgbClr val="E7E6E6">
                      <a:lumMod val="50000"/>
                    </a:srgbClr>
                  </a:solidFill>
                  <a:latin typeface="Meiryo UI" panose="020B0604030504040204" pitchFamily="50" charset="-128"/>
                  <a:ea typeface="Meiryo UI" panose="020B0604030504040204" pitchFamily="50" charset="-128"/>
                </a:endParaRPr>
              </a:p>
            </p:txBody>
          </p:sp>
          <p:sp>
            <p:nvSpPr>
              <p:cNvPr id="36" name="円/楕円 50">
                <a:extLst>
                  <a:ext uri="{FF2B5EF4-FFF2-40B4-BE49-F238E27FC236}">
                    <a16:creationId xmlns:a16="http://schemas.microsoft.com/office/drawing/2014/main" id="{4735A6B8-42D7-01A5-14F9-6A3A73B7B244}"/>
                  </a:ext>
                </a:extLst>
              </p:cNvPr>
              <p:cNvSpPr/>
              <p:nvPr/>
            </p:nvSpPr>
            <p:spPr>
              <a:xfrm>
                <a:off x="8618322" y="3848588"/>
                <a:ext cx="2346545" cy="73954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800" b="1" kern="0">
                    <a:solidFill>
                      <a:srgbClr val="E7E6E6">
                        <a:lumMod val="50000"/>
                      </a:srgbClr>
                    </a:solidFill>
                    <a:latin typeface="Meiryo UI" panose="020B0604030504040204" pitchFamily="50" charset="-128"/>
                    <a:ea typeface="Meiryo UI" panose="020B0604030504040204" pitchFamily="50" charset="-128"/>
                  </a:rPr>
                  <a:t>基シス</a:t>
                </a:r>
                <a:endParaRPr kumimoji="0" lang="en-US" altLang="ja-JP" sz="1800" b="1" kern="0">
                  <a:solidFill>
                    <a:srgbClr val="E7E6E6">
                      <a:lumMod val="50000"/>
                    </a:srgbClr>
                  </a:solidFill>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r>
                  <a:rPr kumimoji="0" lang="ja-JP" altLang="en-US" sz="12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スプシ化</a:t>
                </a:r>
                <a:endParaRPr kumimoji="0" lang="en-US" altLang="ja-JP" sz="1000" kern="0">
                  <a:solidFill>
                    <a:srgbClr val="E7E6E6">
                      <a:lumMod val="50000"/>
                    </a:srgbClr>
                  </a:solidFill>
                  <a:latin typeface="Meiryo UI" panose="020B0604030504040204" pitchFamily="50" charset="-128"/>
                  <a:ea typeface="Meiryo UI" panose="020B0604030504040204" pitchFamily="50" charset="-128"/>
                </a:endParaRPr>
              </a:p>
            </p:txBody>
          </p:sp>
          <p:sp>
            <p:nvSpPr>
              <p:cNvPr id="37" name="円/楕円 50">
                <a:extLst>
                  <a:ext uri="{FF2B5EF4-FFF2-40B4-BE49-F238E27FC236}">
                    <a16:creationId xmlns:a16="http://schemas.microsoft.com/office/drawing/2014/main" id="{69B25EB0-8F05-0527-D4A5-FB240B8BD0B6}"/>
                  </a:ext>
                </a:extLst>
              </p:cNvPr>
              <p:cNvSpPr/>
              <p:nvPr/>
            </p:nvSpPr>
            <p:spPr>
              <a:xfrm>
                <a:off x="8618322" y="4671312"/>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38" name="円/楕円 50">
                <a:extLst>
                  <a:ext uri="{FF2B5EF4-FFF2-40B4-BE49-F238E27FC236}">
                    <a16:creationId xmlns:a16="http://schemas.microsoft.com/office/drawing/2014/main" id="{54DD17F7-F699-7A6D-0A51-31C06C327BEB}"/>
                  </a:ext>
                </a:extLst>
              </p:cNvPr>
              <p:cNvSpPr/>
              <p:nvPr/>
            </p:nvSpPr>
            <p:spPr>
              <a:xfrm>
                <a:off x="8618322" y="508267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39" name="円/楕円 50">
                <a:extLst>
                  <a:ext uri="{FF2B5EF4-FFF2-40B4-BE49-F238E27FC236}">
                    <a16:creationId xmlns:a16="http://schemas.microsoft.com/office/drawing/2014/main" id="{649E9038-221D-1477-57EF-5A30C70A0B1F}"/>
                  </a:ext>
                </a:extLst>
              </p:cNvPr>
              <p:cNvSpPr/>
              <p:nvPr/>
            </p:nvSpPr>
            <p:spPr>
              <a:xfrm>
                <a:off x="8618322" y="549403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40" name="円/楕円 50">
                <a:extLst>
                  <a:ext uri="{FF2B5EF4-FFF2-40B4-BE49-F238E27FC236}">
                    <a16:creationId xmlns:a16="http://schemas.microsoft.com/office/drawing/2014/main" id="{DABAE4E8-84CA-F58E-9BD3-3A3FA964A87A}"/>
                  </a:ext>
                </a:extLst>
              </p:cNvPr>
              <p:cNvSpPr/>
              <p:nvPr/>
            </p:nvSpPr>
            <p:spPr>
              <a:xfrm>
                <a:off x="8618322" y="590539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grpSp>
        <p:grpSp>
          <p:nvGrpSpPr>
            <p:cNvPr id="16" name="グループ化 15">
              <a:extLst>
                <a:ext uri="{FF2B5EF4-FFF2-40B4-BE49-F238E27FC236}">
                  <a16:creationId xmlns:a16="http://schemas.microsoft.com/office/drawing/2014/main" id="{C1793853-2F48-3DEF-233D-0A78067D13EF}"/>
                </a:ext>
              </a:extLst>
            </p:cNvPr>
            <p:cNvGrpSpPr/>
            <p:nvPr/>
          </p:nvGrpSpPr>
          <p:grpSpPr>
            <a:xfrm>
              <a:off x="11082194" y="2552803"/>
              <a:ext cx="2581200" cy="3680780"/>
              <a:chOff x="11082194" y="2552803"/>
              <a:chExt cx="2581200" cy="3680780"/>
            </a:xfrm>
          </p:grpSpPr>
          <p:sp>
            <p:nvSpPr>
              <p:cNvPr id="26" name="円/楕円 50">
                <a:extLst>
                  <a:ext uri="{FF2B5EF4-FFF2-40B4-BE49-F238E27FC236}">
                    <a16:creationId xmlns:a16="http://schemas.microsoft.com/office/drawing/2014/main" id="{C2486AEA-55D3-9DA9-088C-8FA1C5A11BDE}"/>
                  </a:ext>
                </a:extLst>
              </p:cNvPr>
              <p:cNvSpPr/>
              <p:nvPr/>
            </p:nvSpPr>
            <p:spPr>
              <a:xfrm>
                <a:off x="11082194" y="2552803"/>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JKK</a:t>
                </a: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対応</a:t>
                </a:r>
              </a:p>
            </p:txBody>
          </p:sp>
          <p:sp>
            <p:nvSpPr>
              <p:cNvPr id="27" name="円/楕円 50">
                <a:extLst>
                  <a:ext uri="{FF2B5EF4-FFF2-40B4-BE49-F238E27FC236}">
                    <a16:creationId xmlns:a16="http://schemas.microsoft.com/office/drawing/2014/main" id="{75EFC27A-7E06-DF00-A7B7-6A47CBE03868}"/>
                  </a:ext>
                </a:extLst>
              </p:cNvPr>
              <p:cNvSpPr/>
              <p:nvPr/>
            </p:nvSpPr>
            <p:spPr>
              <a:xfrm>
                <a:off x="11199522" y="302586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JKK</a:t>
                </a:r>
                <a:r>
                  <a:rPr kumimoji="0" lang="ja-JP" altLang="en-US"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　</a:t>
                </a:r>
                <a:r>
                  <a:rPr kumimoji="0" lang="en-US" altLang="ja-JP" sz="105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r>
                  <a:rPr kumimoji="0" lang="ja-JP" altLang="en-US" sz="105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スプシ化</a:t>
                </a:r>
                <a:endParaRPr kumimoji="0" lang="en-US" altLang="ja-JP"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28" name="円/楕円 50">
                <a:extLst>
                  <a:ext uri="{FF2B5EF4-FFF2-40B4-BE49-F238E27FC236}">
                    <a16:creationId xmlns:a16="http://schemas.microsoft.com/office/drawing/2014/main" id="{E9AFF57E-34CE-572A-BAD3-2560E6B2D5E5}"/>
                  </a:ext>
                </a:extLst>
              </p:cNvPr>
              <p:cNvSpPr/>
              <p:nvPr/>
            </p:nvSpPr>
            <p:spPr>
              <a:xfrm>
                <a:off x="11199522" y="343722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b="1" kern="0">
                    <a:solidFill>
                      <a:srgbClr val="E7E6E6">
                        <a:lumMod val="50000"/>
                      </a:srgbClr>
                    </a:solidFill>
                    <a:latin typeface="Meiryo UI" panose="020B0604030504040204" pitchFamily="50" charset="-128"/>
                    <a:ea typeface="Meiryo UI" panose="020B0604030504040204" pitchFamily="50" charset="-128"/>
                  </a:rPr>
                  <a:t>基シス　</a:t>
                </a:r>
                <a:r>
                  <a:rPr kumimoji="0" lang="en-US" altLang="ja-JP" sz="800" kern="0">
                    <a:solidFill>
                      <a:srgbClr val="E7E6E6">
                        <a:lumMod val="50000"/>
                      </a:srgbClr>
                    </a:solidFill>
                    <a:latin typeface="Meiryo UI" panose="020B0604030504040204" pitchFamily="50" charset="-128"/>
                    <a:ea typeface="Meiryo UI" panose="020B0604030504040204" pitchFamily="50" charset="-128"/>
                  </a:rPr>
                  <a:t>※</a:t>
                </a:r>
                <a:r>
                  <a:rPr lang="en-US" altLang="ja-JP" sz="800" err="1">
                    <a:solidFill>
                      <a:schemeClr val="tx1">
                        <a:lumMod val="65000"/>
                        <a:lumOff val="35000"/>
                      </a:schemeClr>
                    </a:solidFill>
                    <a:latin typeface="Meiryo UI" panose="020B0604030504040204" pitchFamily="50" charset="-128"/>
                    <a:ea typeface="Meiryo UI" panose="020B0604030504040204" pitchFamily="50" charset="-128"/>
                    <a:cs typeface="Meiryo"/>
                    <a:sym typeface="Meiryo"/>
                  </a:rPr>
                  <a:t>RogueOne</a:t>
                </a:r>
                <a:r>
                  <a:rPr lang="ja-JP" altLang="en-US" sz="800">
                    <a:solidFill>
                      <a:schemeClr val="tx1">
                        <a:lumMod val="65000"/>
                        <a:lumOff val="35000"/>
                      </a:schemeClr>
                    </a:solidFill>
                    <a:latin typeface="Meiryo UI" panose="020B0604030504040204" pitchFamily="50" charset="-128"/>
                    <a:ea typeface="Meiryo UI" panose="020B0604030504040204" pitchFamily="50" charset="-128"/>
                    <a:cs typeface="Meiryo"/>
                    <a:sym typeface="Meiryo"/>
                  </a:rPr>
                  <a:t>で</a:t>
                </a:r>
                <a:r>
                  <a:rPr kumimoji="0" lang="ja-JP" altLang="en-US" sz="800" kern="0">
                    <a:solidFill>
                      <a:srgbClr val="E7E6E6">
                        <a:lumMod val="50000"/>
                      </a:srgbClr>
                    </a:solidFill>
                    <a:latin typeface="Meiryo UI" panose="020B0604030504040204" pitchFamily="50" charset="-128"/>
                    <a:ea typeface="Meiryo UI" panose="020B0604030504040204" pitchFamily="50" charset="-128"/>
                  </a:rPr>
                  <a:t>廃止</a:t>
                </a:r>
                <a:endParaRPr kumimoji="0" lang="en-US" altLang="ja-JP" sz="12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29" name="円/楕円 50">
                <a:extLst>
                  <a:ext uri="{FF2B5EF4-FFF2-40B4-BE49-F238E27FC236}">
                    <a16:creationId xmlns:a16="http://schemas.microsoft.com/office/drawing/2014/main" id="{B6745380-FC1E-5D81-9273-2DA24DC4A3B7}"/>
                  </a:ext>
                </a:extLst>
              </p:cNvPr>
              <p:cNvSpPr/>
              <p:nvPr/>
            </p:nvSpPr>
            <p:spPr>
              <a:xfrm>
                <a:off x="11199522" y="3848588"/>
                <a:ext cx="2346545" cy="73954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800" b="1" kern="0">
                    <a:solidFill>
                      <a:srgbClr val="E7E6E6">
                        <a:lumMod val="50000"/>
                      </a:srgbClr>
                    </a:solidFill>
                    <a:latin typeface="Meiryo UI" panose="020B0604030504040204" pitchFamily="50" charset="-128"/>
                    <a:ea typeface="Meiryo UI" panose="020B0604030504040204" pitchFamily="50" charset="-128"/>
                  </a:rPr>
                  <a:t>基シス</a:t>
                </a:r>
                <a:endParaRPr kumimoji="0" lang="en-US" altLang="ja-JP" sz="1800" b="1" kern="0">
                  <a:solidFill>
                    <a:srgbClr val="E7E6E6">
                      <a:lumMod val="50000"/>
                    </a:srgbClr>
                  </a:solidFill>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kern="0">
                    <a:solidFill>
                      <a:srgbClr val="E7E6E6">
                        <a:lumMod val="50000"/>
                      </a:srgbClr>
                    </a:solidFill>
                    <a:latin typeface="Meiryo UI" panose="020B0604030504040204" pitchFamily="50" charset="-128"/>
                    <a:ea typeface="Meiryo UI" panose="020B0604030504040204" pitchFamily="50" charset="-128"/>
                  </a:rPr>
                  <a:t>※</a:t>
                </a: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スプシ化</a:t>
                </a:r>
                <a:endParaRPr kumimoji="0" lang="en-US" altLang="ja-JP" sz="1200" kern="0">
                  <a:solidFill>
                    <a:srgbClr val="E7E6E6">
                      <a:lumMod val="50000"/>
                    </a:srgbClr>
                  </a:solidFill>
                  <a:latin typeface="Meiryo UI" panose="020B0604030504040204" pitchFamily="50" charset="-128"/>
                  <a:ea typeface="Meiryo UI" panose="020B0604030504040204" pitchFamily="50" charset="-128"/>
                </a:endParaRPr>
              </a:p>
            </p:txBody>
          </p:sp>
          <p:sp>
            <p:nvSpPr>
              <p:cNvPr id="30" name="円/楕円 50">
                <a:extLst>
                  <a:ext uri="{FF2B5EF4-FFF2-40B4-BE49-F238E27FC236}">
                    <a16:creationId xmlns:a16="http://schemas.microsoft.com/office/drawing/2014/main" id="{75AE3BDE-C68A-D98D-0657-D4531EF24581}"/>
                  </a:ext>
                </a:extLst>
              </p:cNvPr>
              <p:cNvSpPr/>
              <p:nvPr/>
            </p:nvSpPr>
            <p:spPr>
              <a:xfrm>
                <a:off x="11199522" y="4671312"/>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b="1" kern="0">
                    <a:solidFill>
                      <a:srgbClr val="E7E6E6">
                        <a:lumMod val="50000"/>
                      </a:srgbClr>
                    </a:solidFill>
                    <a:latin typeface="Meiryo UI" panose="020B0604030504040204" pitchFamily="50" charset="-128"/>
                    <a:ea typeface="Meiryo UI" panose="020B0604030504040204" pitchFamily="50" charset="-128"/>
                  </a:rPr>
                  <a:t>JKK</a:t>
                </a:r>
                <a:r>
                  <a:rPr kumimoji="0" lang="ja-JP" altLang="en-US" b="1" kern="0">
                    <a:solidFill>
                      <a:srgbClr val="E7E6E6">
                        <a:lumMod val="50000"/>
                      </a:srgbClr>
                    </a:solidFill>
                    <a:latin typeface="Meiryo UI" panose="020B0604030504040204" pitchFamily="50" charset="-128"/>
                    <a:ea typeface="Meiryo UI" panose="020B0604030504040204" pitchFamily="50" charset="-128"/>
                  </a:rPr>
                  <a:t>　</a:t>
                </a:r>
                <a:r>
                  <a:rPr kumimoji="0" lang="en-US" altLang="ja-JP" sz="1050" kern="0">
                    <a:solidFill>
                      <a:srgbClr val="E7E6E6">
                        <a:lumMod val="50000"/>
                      </a:srgbClr>
                    </a:solidFill>
                    <a:latin typeface="Meiryo UI" panose="020B0604030504040204" pitchFamily="50" charset="-128"/>
                    <a:ea typeface="Meiryo UI" panose="020B0604030504040204" pitchFamily="50" charset="-128"/>
                  </a:rPr>
                  <a:t>※</a:t>
                </a:r>
                <a:r>
                  <a:rPr kumimoji="0" lang="ja-JP" altLang="en-US" sz="1050" kern="0">
                    <a:solidFill>
                      <a:srgbClr val="E7E6E6">
                        <a:lumMod val="50000"/>
                      </a:srgbClr>
                    </a:solidFill>
                    <a:latin typeface="Meiryo UI" panose="020B0604030504040204" pitchFamily="50" charset="-128"/>
                    <a:ea typeface="Meiryo UI" panose="020B0604030504040204" pitchFamily="50" charset="-128"/>
                  </a:rPr>
                  <a:t>スプシ化</a:t>
                </a:r>
                <a:endParaRPr kumimoji="0" lang="en-US" altLang="ja-JP"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31" name="円/楕円 50">
                <a:extLst>
                  <a:ext uri="{FF2B5EF4-FFF2-40B4-BE49-F238E27FC236}">
                    <a16:creationId xmlns:a16="http://schemas.microsoft.com/office/drawing/2014/main" id="{1754D16F-C734-F106-A3FF-0B061000E44F}"/>
                  </a:ext>
                </a:extLst>
              </p:cNvPr>
              <p:cNvSpPr/>
              <p:nvPr/>
            </p:nvSpPr>
            <p:spPr>
              <a:xfrm>
                <a:off x="11199522" y="508267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32" name="円/楕円 50">
                <a:extLst>
                  <a:ext uri="{FF2B5EF4-FFF2-40B4-BE49-F238E27FC236}">
                    <a16:creationId xmlns:a16="http://schemas.microsoft.com/office/drawing/2014/main" id="{4299DEE1-0545-64CC-A477-852FDF19B212}"/>
                  </a:ext>
                </a:extLst>
              </p:cNvPr>
              <p:cNvSpPr/>
              <p:nvPr/>
            </p:nvSpPr>
            <p:spPr>
              <a:xfrm>
                <a:off x="11199522" y="549403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33" name="円/楕円 50">
                <a:extLst>
                  <a:ext uri="{FF2B5EF4-FFF2-40B4-BE49-F238E27FC236}">
                    <a16:creationId xmlns:a16="http://schemas.microsoft.com/office/drawing/2014/main" id="{FC2891E8-2978-95D6-1C59-2D167948FEF7}"/>
                  </a:ext>
                </a:extLst>
              </p:cNvPr>
              <p:cNvSpPr/>
              <p:nvPr/>
            </p:nvSpPr>
            <p:spPr>
              <a:xfrm>
                <a:off x="11199522" y="590539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grpSp>
        <p:grpSp>
          <p:nvGrpSpPr>
            <p:cNvPr id="17" name="グループ化 16">
              <a:extLst>
                <a:ext uri="{FF2B5EF4-FFF2-40B4-BE49-F238E27FC236}">
                  <a16:creationId xmlns:a16="http://schemas.microsoft.com/office/drawing/2014/main" id="{046768C0-145C-69FB-6F9D-62D4EB4E2483}"/>
                </a:ext>
              </a:extLst>
            </p:cNvPr>
            <p:cNvGrpSpPr/>
            <p:nvPr/>
          </p:nvGrpSpPr>
          <p:grpSpPr>
            <a:xfrm>
              <a:off x="5888098" y="2552775"/>
              <a:ext cx="2581200" cy="3680803"/>
              <a:chOff x="5403651" y="2552775"/>
              <a:chExt cx="2581200" cy="3680803"/>
            </a:xfrm>
          </p:grpSpPr>
          <p:sp>
            <p:nvSpPr>
              <p:cNvPr id="21" name="円/楕円 50">
                <a:extLst>
                  <a:ext uri="{FF2B5EF4-FFF2-40B4-BE49-F238E27FC236}">
                    <a16:creationId xmlns:a16="http://schemas.microsoft.com/office/drawing/2014/main" id="{C916655D-CBB2-B1F8-7ACF-BF577C442C3F}"/>
                  </a:ext>
                </a:extLst>
              </p:cNvPr>
              <p:cNvSpPr/>
              <p:nvPr/>
            </p:nvSpPr>
            <p:spPr>
              <a:xfrm>
                <a:off x="5520651" y="5082669"/>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2" name="円/楕円 50">
                <a:extLst>
                  <a:ext uri="{FF2B5EF4-FFF2-40B4-BE49-F238E27FC236}">
                    <a16:creationId xmlns:a16="http://schemas.microsoft.com/office/drawing/2014/main" id="{94D9BE09-8E12-2AD7-479D-971C66CA1394}"/>
                  </a:ext>
                </a:extLst>
              </p:cNvPr>
              <p:cNvSpPr/>
              <p:nvPr/>
            </p:nvSpPr>
            <p:spPr>
              <a:xfrm>
                <a:off x="5520651" y="5494031"/>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3" name="円/楕円 50">
                <a:extLst>
                  <a:ext uri="{FF2B5EF4-FFF2-40B4-BE49-F238E27FC236}">
                    <a16:creationId xmlns:a16="http://schemas.microsoft.com/office/drawing/2014/main" id="{036925E1-B96E-8F06-EAAA-A2AECFDAD197}"/>
                  </a:ext>
                </a:extLst>
              </p:cNvPr>
              <p:cNvSpPr/>
              <p:nvPr/>
            </p:nvSpPr>
            <p:spPr>
              <a:xfrm>
                <a:off x="5520651" y="5905393"/>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4" name="円/楕円 50">
                <a:extLst>
                  <a:ext uri="{FF2B5EF4-FFF2-40B4-BE49-F238E27FC236}">
                    <a16:creationId xmlns:a16="http://schemas.microsoft.com/office/drawing/2014/main" id="{EC3E325C-0DFF-A32B-2BC4-E9C6D0F0FD3B}"/>
                  </a:ext>
                </a:extLst>
              </p:cNvPr>
              <p:cNvSpPr/>
              <p:nvPr/>
            </p:nvSpPr>
            <p:spPr>
              <a:xfrm>
                <a:off x="5403651" y="2552775"/>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algn="ctr" fontAlgn="auto">
                  <a:spcBef>
                    <a:spcPts val="0"/>
                  </a:spcBef>
                  <a:spcAft>
                    <a:spcPts val="0"/>
                  </a:spcAft>
                </a:pPr>
                <a:r>
                  <a:rPr kumimoji="0" lang="ja-JP" altLang="en-US" sz="1400" b="1" kern="0" dirty="0">
                    <a:solidFill>
                      <a:srgbClr val="E7E6E6">
                        <a:lumMod val="50000"/>
                      </a:srgbClr>
                    </a:solidFill>
                    <a:latin typeface="Meiryo UI" panose="020B0604030504040204" pitchFamily="50" charset="-128"/>
                    <a:ea typeface="Meiryo UI" panose="020B0604030504040204" pitchFamily="50" charset="-128"/>
                  </a:rPr>
                  <a:t>要件定義</a:t>
                </a:r>
              </a:p>
            </p:txBody>
          </p:sp>
          <p:sp>
            <p:nvSpPr>
              <p:cNvPr id="25" name="円/楕円 50">
                <a:extLst>
                  <a:ext uri="{FF2B5EF4-FFF2-40B4-BE49-F238E27FC236}">
                    <a16:creationId xmlns:a16="http://schemas.microsoft.com/office/drawing/2014/main" id="{50697BE2-6AA9-61F4-79B8-9DE81CF62517}"/>
                  </a:ext>
                </a:extLst>
              </p:cNvPr>
              <p:cNvSpPr/>
              <p:nvPr/>
            </p:nvSpPr>
            <p:spPr>
              <a:xfrm>
                <a:off x="5520651" y="3025863"/>
                <a:ext cx="2347200" cy="1979774"/>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JKK</a:t>
                </a:r>
                <a:endParaRPr kumimoji="0" lang="en-US" altLang="ja-JP"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grpSp>
        <p:grpSp>
          <p:nvGrpSpPr>
            <p:cNvPr id="18" name="グループ化 17">
              <a:extLst>
                <a:ext uri="{FF2B5EF4-FFF2-40B4-BE49-F238E27FC236}">
                  <a16:creationId xmlns:a16="http://schemas.microsoft.com/office/drawing/2014/main" id="{4FFD4DA5-C685-9D85-A2A3-2355DCFC706D}"/>
                </a:ext>
              </a:extLst>
            </p:cNvPr>
            <p:cNvGrpSpPr/>
            <p:nvPr/>
          </p:nvGrpSpPr>
          <p:grpSpPr>
            <a:xfrm>
              <a:off x="3284356" y="2551094"/>
              <a:ext cx="2581200" cy="3680773"/>
              <a:chOff x="3409509" y="2551094"/>
              <a:chExt cx="2581200" cy="3680773"/>
            </a:xfrm>
          </p:grpSpPr>
          <p:sp>
            <p:nvSpPr>
              <p:cNvPr id="19" name="円/楕円 50">
                <a:extLst>
                  <a:ext uri="{FF2B5EF4-FFF2-40B4-BE49-F238E27FC236}">
                    <a16:creationId xmlns:a16="http://schemas.microsoft.com/office/drawing/2014/main" id="{EB788092-CEDF-DEC3-20F9-DAF679567914}"/>
                  </a:ext>
                </a:extLst>
              </p:cNvPr>
              <p:cNvSpPr/>
              <p:nvPr/>
            </p:nvSpPr>
            <p:spPr>
              <a:xfrm>
                <a:off x="3409509" y="2551094"/>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スプシ化の標準化設計</a:t>
                </a:r>
                <a:endPar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20" name="円/楕円 50">
                <a:extLst>
                  <a:ext uri="{FF2B5EF4-FFF2-40B4-BE49-F238E27FC236}">
                    <a16:creationId xmlns:a16="http://schemas.microsoft.com/office/drawing/2014/main" id="{C7BF8513-1A3C-DB3D-B529-6C3D0E93C966}"/>
                  </a:ext>
                </a:extLst>
              </p:cNvPr>
              <p:cNvSpPr/>
              <p:nvPr/>
            </p:nvSpPr>
            <p:spPr>
              <a:xfrm>
                <a:off x="3526837" y="3024154"/>
                <a:ext cx="2346545" cy="3207713"/>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en-US" altLang="ja-JP"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JKK</a:t>
                </a:r>
                <a:endParaRPr kumimoji="0" lang="en-US" altLang="ja-JP"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grpSp>
      </p:grpSp>
      <p:sp>
        <p:nvSpPr>
          <p:cNvPr id="43" name="円/楕円 50">
            <a:extLst>
              <a:ext uri="{FF2B5EF4-FFF2-40B4-BE49-F238E27FC236}">
                <a16:creationId xmlns:a16="http://schemas.microsoft.com/office/drawing/2014/main" id="{7ECA8E67-6DFA-C9DA-9268-636AF9558D6C}"/>
              </a:ext>
            </a:extLst>
          </p:cNvPr>
          <p:cNvSpPr/>
          <p:nvPr/>
        </p:nvSpPr>
        <p:spPr>
          <a:xfrm>
            <a:off x="193091" y="3274149"/>
            <a:ext cx="614869" cy="1562271"/>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ICT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保守</a:t>
            </a:r>
            <a:endPar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対象</a:t>
            </a:r>
            <a:endPar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※237</a:t>
            </a:r>
            <a:r>
              <a:rPr kumimoji="0" lang="ja-JP" altLang="en-US" sz="90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個</a:t>
            </a:r>
            <a:endParaRPr kumimoji="0" lang="en-US" altLang="ja-JP" sz="110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44" name="円/楕円 50">
            <a:extLst>
              <a:ext uri="{FF2B5EF4-FFF2-40B4-BE49-F238E27FC236}">
                <a16:creationId xmlns:a16="http://schemas.microsoft.com/office/drawing/2014/main" id="{205F1443-3616-79AF-6D50-1B071CAD4A35}"/>
              </a:ext>
            </a:extLst>
          </p:cNvPr>
          <p:cNvSpPr/>
          <p:nvPr/>
        </p:nvSpPr>
        <p:spPr>
          <a:xfrm>
            <a:off x="193091" y="4919597"/>
            <a:ext cx="615600" cy="1562271"/>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ICT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保守</a:t>
            </a:r>
            <a:endPar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対象外</a:t>
            </a:r>
            <a:endPar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nvGrpSpPr>
          <p:cNvPr id="45" name="グループ化 44">
            <a:extLst>
              <a:ext uri="{FF2B5EF4-FFF2-40B4-BE49-F238E27FC236}">
                <a16:creationId xmlns:a16="http://schemas.microsoft.com/office/drawing/2014/main" id="{AC1C3BA4-A34A-E347-60E9-7B8B0112F583}"/>
              </a:ext>
            </a:extLst>
          </p:cNvPr>
          <p:cNvGrpSpPr/>
          <p:nvPr/>
        </p:nvGrpSpPr>
        <p:grpSpPr>
          <a:xfrm>
            <a:off x="906939" y="2946859"/>
            <a:ext cx="894127" cy="231413"/>
            <a:chOff x="1854275" y="1602512"/>
            <a:chExt cx="4680200" cy="231413"/>
          </a:xfrm>
        </p:grpSpPr>
        <p:cxnSp>
          <p:nvCxnSpPr>
            <p:cNvPr id="46" name="直線コネクタ 45">
              <a:extLst>
                <a:ext uri="{FF2B5EF4-FFF2-40B4-BE49-F238E27FC236}">
                  <a16:creationId xmlns:a16="http://schemas.microsoft.com/office/drawing/2014/main" id="{967E3191-B753-E860-4C0C-BFA14830B7E7}"/>
                </a:ext>
              </a:extLst>
            </p:cNvPr>
            <p:cNvCxnSpPr/>
            <p:nvPr/>
          </p:nvCxnSpPr>
          <p:spPr>
            <a:xfrm>
              <a:off x="1854275" y="1833925"/>
              <a:ext cx="4680200" cy="0"/>
            </a:xfrm>
            <a:prstGeom prst="line">
              <a:avLst/>
            </a:prstGeom>
            <a:noFill/>
            <a:ln w="6350" cap="flat" cmpd="sng" algn="ctr">
              <a:solidFill>
                <a:sysClr val="windowText" lastClr="000000"/>
              </a:solidFill>
              <a:prstDash val="solid"/>
              <a:miter lim="800000"/>
            </a:ln>
            <a:effectLst/>
          </p:spPr>
        </p:cxnSp>
        <p:sp>
          <p:nvSpPr>
            <p:cNvPr id="47" name="テキスト ボックス 46">
              <a:extLst>
                <a:ext uri="{FF2B5EF4-FFF2-40B4-BE49-F238E27FC236}">
                  <a16:creationId xmlns:a16="http://schemas.microsoft.com/office/drawing/2014/main" id="{A5B1B373-13C1-E1EC-0AF9-E323ACB07A1E}"/>
                </a:ext>
              </a:extLst>
            </p:cNvPr>
            <p:cNvSpPr txBox="1"/>
            <p:nvPr/>
          </p:nvSpPr>
          <p:spPr>
            <a:xfrm>
              <a:off x="3254623" y="1602512"/>
              <a:ext cx="1879524" cy="215444"/>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領域</a:t>
              </a:r>
            </a:p>
          </p:txBody>
        </p:sp>
      </p:grpSp>
      <p:sp>
        <p:nvSpPr>
          <p:cNvPr id="48" name="円/楕円 50">
            <a:extLst>
              <a:ext uri="{FF2B5EF4-FFF2-40B4-BE49-F238E27FC236}">
                <a16:creationId xmlns:a16="http://schemas.microsoft.com/office/drawing/2014/main" id="{6D4679D8-D506-A02B-C9A3-4398CA050441}"/>
              </a:ext>
            </a:extLst>
          </p:cNvPr>
          <p:cNvSpPr/>
          <p:nvPr/>
        </p:nvSpPr>
        <p:spPr>
          <a:xfrm>
            <a:off x="905778" y="3274149"/>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経理</a:t>
            </a:r>
            <a:r>
              <a:rPr kumimoji="0" lang="en-US" altLang="ja-JP" sz="12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審査室</a:t>
            </a:r>
            <a:endParaRPr kumimoji="0" lang="en-US" altLang="ja-JP" sz="12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49" name="円/楕円 50">
            <a:extLst>
              <a:ext uri="{FF2B5EF4-FFF2-40B4-BE49-F238E27FC236}">
                <a16:creationId xmlns:a16="http://schemas.microsoft.com/office/drawing/2014/main" id="{6BD35C5A-5F04-5F09-9C2F-B3310659143B}"/>
              </a:ext>
            </a:extLst>
          </p:cNvPr>
          <p:cNvSpPr/>
          <p:nvPr/>
        </p:nvSpPr>
        <p:spPr>
          <a:xfrm>
            <a:off x="905778" y="3685510"/>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HR</a:t>
            </a:r>
          </a:p>
        </p:txBody>
      </p:sp>
      <p:sp>
        <p:nvSpPr>
          <p:cNvPr id="50" name="円/楕円 50">
            <a:extLst>
              <a:ext uri="{FF2B5EF4-FFF2-40B4-BE49-F238E27FC236}">
                <a16:creationId xmlns:a16="http://schemas.microsoft.com/office/drawing/2014/main" id="{E100A022-CA2E-7D42-A6BA-3063547C3C1E}"/>
              </a:ext>
            </a:extLst>
          </p:cNvPr>
          <p:cNvSpPr/>
          <p:nvPr/>
        </p:nvSpPr>
        <p:spPr>
          <a:xfrm>
            <a:off x="905778" y="4096871"/>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JJ</a:t>
            </a:r>
          </a:p>
        </p:txBody>
      </p:sp>
      <p:sp>
        <p:nvSpPr>
          <p:cNvPr id="51" name="円/楕円 50">
            <a:extLst>
              <a:ext uri="{FF2B5EF4-FFF2-40B4-BE49-F238E27FC236}">
                <a16:creationId xmlns:a16="http://schemas.microsoft.com/office/drawing/2014/main" id="{A8225609-A57F-B645-2274-0B57C3117333}"/>
              </a:ext>
            </a:extLst>
          </p:cNvPr>
          <p:cNvSpPr/>
          <p:nvPr/>
        </p:nvSpPr>
        <p:spPr>
          <a:xfrm>
            <a:off x="905778" y="4508232"/>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学び</a:t>
            </a:r>
            <a:endPar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52" name="円/楕円 50">
            <a:extLst>
              <a:ext uri="{FF2B5EF4-FFF2-40B4-BE49-F238E27FC236}">
                <a16:creationId xmlns:a16="http://schemas.microsoft.com/office/drawing/2014/main" id="{7F8BAACC-F92C-645C-CD6B-317A23496B69}"/>
              </a:ext>
            </a:extLst>
          </p:cNvPr>
          <p:cNvSpPr/>
          <p:nvPr/>
        </p:nvSpPr>
        <p:spPr>
          <a:xfrm>
            <a:off x="905778" y="4919593"/>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経理</a:t>
            </a:r>
            <a:endPar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53" name="円/楕円 50">
            <a:extLst>
              <a:ext uri="{FF2B5EF4-FFF2-40B4-BE49-F238E27FC236}">
                <a16:creationId xmlns:a16="http://schemas.microsoft.com/office/drawing/2014/main" id="{B5D58100-709F-C0FB-6368-581E8B3DA1D4}"/>
              </a:ext>
            </a:extLst>
          </p:cNvPr>
          <p:cNvSpPr/>
          <p:nvPr/>
        </p:nvSpPr>
        <p:spPr>
          <a:xfrm>
            <a:off x="905778" y="5330954"/>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HR</a:t>
            </a:r>
          </a:p>
        </p:txBody>
      </p:sp>
      <p:sp>
        <p:nvSpPr>
          <p:cNvPr id="54" name="円/楕円 50">
            <a:extLst>
              <a:ext uri="{FF2B5EF4-FFF2-40B4-BE49-F238E27FC236}">
                <a16:creationId xmlns:a16="http://schemas.microsoft.com/office/drawing/2014/main" id="{CD5C117F-F69C-9660-F50B-D7AFCEE9AAB5}"/>
              </a:ext>
            </a:extLst>
          </p:cNvPr>
          <p:cNvSpPr/>
          <p:nvPr/>
        </p:nvSpPr>
        <p:spPr>
          <a:xfrm>
            <a:off x="905778" y="5742315"/>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JJ</a:t>
            </a:r>
          </a:p>
        </p:txBody>
      </p:sp>
      <p:sp>
        <p:nvSpPr>
          <p:cNvPr id="55" name="円/楕円 50">
            <a:extLst>
              <a:ext uri="{FF2B5EF4-FFF2-40B4-BE49-F238E27FC236}">
                <a16:creationId xmlns:a16="http://schemas.microsoft.com/office/drawing/2014/main" id="{B1A05BFB-2395-83D3-D2FF-A43FD26DD017}"/>
              </a:ext>
            </a:extLst>
          </p:cNvPr>
          <p:cNvSpPr/>
          <p:nvPr/>
        </p:nvSpPr>
        <p:spPr>
          <a:xfrm>
            <a:off x="905778" y="6153676"/>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学び</a:t>
            </a:r>
            <a:endPar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nvGrpSpPr>
          <p:cNvPr id="56" name="グループ化 55">
            <a:extLst>
              <a:ext uri="{FF2B5EF4-FFF2-40B4-BE49-F238E27FC236}">
                <a16:creationId xmlns:a16="http://schemas.microsoft.com/office/drawing/2014/main" id="{EE19AFF9-6930-BABE-B79D-ED6F1DF93C8E}"/>
              </a:ext>
            </a:extLst>
          </p:cNvPr>
          <p:cNvGrpSpPr/>
          <p:nvPr/>
        </p:nvGrpSpPr>
        <p:grpSpPr>
          <a:xfrm>
            <a:off x="1857852" y="2946859"/>
            <a:ext cx="555182" cy="231413"/>
            <a:chOff x="1854275" y="1602512"/>
            <a:chExt cx="4680200" cy="231413"/>
          </a:xfrm>
        </p:grpSpPr>
        <p:cxnSp>
          <p:nvCxnSpPr>
            <p:cNvPr id="57" name="直線コネクタ 56">
              <a:extLst>
                <a:ext uri="{FF2B5EF4-FFF2-40B4-BE49-F238E27FC236}">
                  <a16:creationId xmlns:a16="http://schemas.microsoft.com/office/drawing/2014/main" id="{416E148D-E81C-55BE-E328-5CC0D04F8A1D}"/>
                </a:ext>
              </a:extLst>
            </p:cNvPr>
            <p:cNvCxnSpPr/>
            <p:nvPr/>
          </p:nvCxnSpPr>
          <p:spPr>
            <a:xfrm>
              <a:off x="1854275" y="1833925"/>
              <a:ext cx="4680200" cy="0"/>
            </a:xfrm>
            <a:prstGeom prst="line">
              <a:avLst/>
            </a:prstGeom>
            <a:noFill/>
            <a:ln w="6350" cap="flat" cmpd="sng" algn="ctr">
              <a:solidFill>
                <a:sysClr val="windowText" lastClr="000000"/>
              </a:solidFill>
              <a:prstDash val="solid"/>
              <a:miter lim="800000"/>
            </a:ln>
            <a:effectLst/>
          </p:spPr>
        </p:cxnSp>
        <p:sp>
          <p:nvSpPr>
            <p:cNvPr id="58" name="テキスト ボックス 57">
              <a:extLst>
                <a:ext uri="{FF2B5EF4-FFF2-40B4-BE49-F238E27FC236}">
                  <a16:creationId xmlns:a16="http://schemas.microsoft.com/office/drawing/2014/main" id="{7D21B430-C3EC-CFA8-A6C3-E54CDC4D1ECC}"/>
                </a:ext>
              </a:extLst>
            </p:cNvPr>
            <p:cNvSpPr txBox="1"/>
            <p:nvPr/>
          </p:nvSpPr>
          <p:spPr>
            <a:xfrm>
              <a:off x="2680890" y="1602512"/>
              <a:ext cx="3026996" cy="215444"/>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個数</a:t>
              </a: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	</a:t>
              </a:r>
              <a:endPar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sp>
        <p:nvSpPr>
          <p:cNvPr id="59" name="円/楕円 50">
            <a:extLst>
              <a:ext uri="{FF2B5EF4-FFF2-40B4-BE49-F238E27FC236}">
                <a16:creationId xmlns:a16="http://schemas.microsoft.com/office/drawing/2014/main" id="{781D16C9-667D-B98A-28AD-7D3BC3E61FAE}"/>
              </a:ext>
            </a:extLst>
          </p:cNvPr>
          <p:cNvSpPr/>
          <p:nvPr/>
        </p:nvSpPr>
        <p:spPr>
          <a:xfrm>
            <a:off x="1857131" y="3274149"/>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66</a:t>
            </a:r>
          </a:p>
        </p:txBody>
      </p:sp>
      <p:sp>
        <p:nvSpPr>
          <p:cNvPr id="60" name="円/楕円 50">
            <a:extLst>
              <a:ext uri="{FF2B5EF4-FFF2-40B4-BE49-F238E27FC236}">
                <a16:creationId xmlns:a16="http://schemas.microsoft.com/office/drawing/2014/main" id="{BA3BB8C3-90CE-49CD-6015-1CA554B006CD}"/>
              </a:ext>
            </a:extLst>
          </p:cNvPr>
          <p:cNvSpPr/>
          <p:nvPr/>
        </p:nvSpPr>
        <p:spPr>
          <a:xfrm>
            <a:off x="1857131" y="3685510"/>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66</a:t>
            </a:r>
            <a:endParaRPr kumimoji="0" lang="en-US" altLang="ja-JP" sz="90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1" name="円/楕円 50">
            <a:extLst>
              <a:ext uri="{FF2B5EF4-FFF2-40B4-BE49-F238E27FC236}">
                <a16:creationId xmlns:a16="http://schemas.microsoft.com/office/drawing/2014/main" id="{5105C07C-E972-EA54-2837-F30E61E179DA}"/>
              </a:ext>
            </a:extLst>
          </p:cNvPr>
          <p:cNvSpPr/>
          <p:nvPr/>
        </p:nvSpPr>
        <p:spPr>
          <a:xfrm>
            <a:off x="1857131" y="4096871"/>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65</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2" name="円/楕円 50">
            <a:extLst>
              <a:ext uri="{FF2B5EF4-FFF2-40B4-BE49-F238E27FC236}">
                <a16:creationId xmlns:a16="http://schemas.microsoft.com/office/drawing/2014/main" id="{CB2DF878-9585-67D1-0D55-A123CD310960}"/>
              </a:ext>
            </a:extLst>
          </p:cNvPr>
          <p:cNvSpPr/>
          <p:nvPr/>
        </p:nvSpPr>
        <p:spPr>
          <a:xfrm>
            <a:off x="1857131" y="4508232"/>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40</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3" name="円/楕円 50">
            <a:extLst>
              <a:ext uri="{FF2B5EF4-FFF2-40B4-BE49-F238E27FC236}">
                <a16:creationId xmlns:a16="http://schemas.microsoft.com/office/drawing/2014/main" id="{6C5D4402-FF7A-AF15-85ED-3EBF4D554E50}"/>
              </a:ext>
            </a:extLst>
          </p:cNvPr>
          <p:cNvSpPr/>
          <p:nvPr/>
        </p:nvSpPr>
        <p:spPr>
          <a:xfrm>
            <a:off x="1857131" y="4919593"/>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226</a:t>
            </a:r>
            <a:endParaRPr kumimoji="0" lang="en-US" altLang="ja-JP" sz="90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4" name="円/楕円 50">
            <a:extLst>
              <a:ext uri="{FF2B5EF4-FFF2-40B4-BE49-F238E27FC236}">
                <a16:creationId xmlns:a16="http://schemas.microsoft.com/office/drawing/2014/main" id="{BAD2B238-190B-017A-403A-1EF9C129AE9C}"/>
              </a:ext>
            </a:extLst>
          </p:cNvPr>
          <p:cNvSpPr/>
          <p:nvPr/>
        </p:nvSpPr>
        <p:spPr>
          <a:xfrm>
            <a:off x="1857131" y="5330954"/>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5" name="円/楕円 50">
            <a:extLst>
              <a:ext uri="{FF2B5EF4-FFF2-40B4-BE49-F238E27FC236}">
                <a16:creationId xmlns:a16="http://schemas.microsoft.com/office/drawing/2014/main" id="{6451F0AA-344C-62B6-C60D-404DFFBA686F}"/>
              </a:ext>
            </a:extLst>
          </p:cNvPr>
          <p:cNvSpPr/>
          <p:nvPr/>
        </p:nvSpPr>
        <p:spPr>
          <a:xfrm>
            <a:off x="1857131" y="5742315"/>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6" name="円/楕円 50">
            <a:extLst>
              <a:ext uri="{FF2B5EF4-FFF2-40B4-BE49-F238E27FC236}">
                <a16:creationId xmlns:a16="http://schemas.microsoft.com/office/drawing/2014/main" id="{76D1101E-72B8-DA83-01B6-AB9ED1E808ED}"/>
              </a:ext>
            </a:extLst>
          </p:cNvPr>
          <p:cNvSpPr/>
          <p:nvPr/>
        </p:nvSpPr>
        <p:spPr>
          <a:xfrm>
            <a:off x="1857131" y="6153676"/>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nvGrpSpPr>
          <p:cNvPr id="67" name="グループ化 66">
            <a:extLst>
              <a:ext uri="{FF2B5EF4-FFF2-40B4-BE49-F238E27FC236}">
                <a16:creationId xmlns:a16="http://schemas.microsoft.com/office/drawing/2014/main" id="{703234E3-8B48-FAE4-76EA-19AA307794FA}"/>
              </a:ext>
            </a:extLst>
          </p:cNvPr>
          <p:cNvGrpSpPr/>
          <p:nvPr/>
        </p:nvGrpSpPr>
        <p:grpSpPr>
          <a:xfrm>
            <a:off x="2431889" y="2731416"/>
            <a:ext cx="897683" cy="446856"/>
            <a:chOff x="1351602" y="1387069"/>
            <a:chExt cx="5685572" cy="446856"/>
          </a:xfrm>
        </p:grpSpPr>
        <p:cxnSp>
          <p:nvCxnSpPr>
            <p:cNvPr id="68" name="直線コネクタ 67">
              <a:extLst>
                <a:ext uri="{FF2B5EF4-FFF2-40B4-BE49-F238E27FC236}">
                  <a16:creationId xmlns:a16="http://schemas.microsoft.com/office/drawing/2014/main" id="{C71DF693-0410-84AA-04E7-0959E6DD5249}"/>
                </a:ext>
              </a:extLst>
            </p:cNvPr>
            <p:cNvCxnSpPr/>
            <p:nvPr/>
          </p:nvCxnSpPr>
          <p:spPr>
            <a:xfrm>
              <a:off x="1854275" y="1833925"/>
              <a:ext cx="4680200" cy="0"/>
            </a:xfrm>
            <a:prstGeom prst="line">
              <a:avLst/>
            </a:prstGeom>
            <a:noFill/>
            <a:ln w="6350" cap="flat" cmpd="sng" algn="ctr">
              <a:solidFill>
                <a:sysClr val="windowText" lastClr="000000"/>
              </a:solidFill>
              <a:prstDash val="solid"/>
              <a:miter lim="800000"/>
            </a:ln>
            <a:effectLst/>
          </p:spPr>
        </p:cxnSp>
        <p:sp>
          <p:nvSpPr>
            <p:cNvPr id="69" name="テキスト ボックス 68">
              <a:extLst>
                <a:ext uri="{FF2B5EF4-FFF2-40B4-BE49-F238E27FC236}">
                  <a16:creationId xmlns:a16="http://schemas.microsoft.com/office/drawing/2014/main" id="{32B1F943-318C-6461-05CA-DFE69144BE90}"/>
                </a:ext>
              </a:extLst>
            </p:cNvPr>
            <p:cNvSpPr txBox="1"/>
            <p:nvPr/>
          </p:nvSpPr>
          <p:spPr>
            <a:xfrm>
              <a:off x="1351602" y="1387069"/>
              <a:ext cx="5685572" cy="430887"/>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JKK</a:t>
              </a: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対応</a:t>
              </a:r>
              <a:endPar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改修</a:t>
              </a:r>
              <a:r>
                <a:rPr kumimoji="0" lang="ja-JP" altLang="en-US" sz="1400" b="1" kern="0">
                  <a:solidFill>
                    <a:srgbClr val="E7E6E6">
                      <a:lumMod val="50000"/>
                    </a:srgbClr>
                  </a:solidFill>
                  <a:latin typeface="Meiryo UI" panose="020B0604030504040204" pitchFamily="50" charset="-128"/>
                  <a:ea typeface="Meiryo UI" panose="020B0604030504040204" pitchFamily="50" charset="-128"/>
                </a:rPr>
                <a:t>影響度</a:t>
              </a:r>
              <a:endPar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sp>
        <p:nvSpPr>
          <p:cNvPr id="70" name="円/楕円 50">
            <a:extLst>
              <a:ext uri="{FF2B5EF4-FFF2-40B4-BE49-F238E27FC236}">
                <a16:creationId xmlns:a16="http://schemas.microsoft.com/office/drawing/2014/main" id="{65A61718-DC13-91B9-ACA3-591F57EBF290}"/>
              </a:ext>
            </a:extLst>
          </p:cNvPr>
          <p:cNvSpPr/>
          <p:nvPr/>
        </p:nvSpPr>
        <p:spPr>
          <a:xfrm>
            <a:off x="2510295" y="3274149"/>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大</a:t>
            </a:r>
            <a:endParaRPr kumimoji="0" lang="en-US" altLang="ja-JP" sz="11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1" name="円/楕円 50">
            <a:extLst>
              <a:ext uri="{FF2B5EF4-FFF2-40B4-BE49-F238E27FC236}">
                <a16:creationId xmlns:a16="http://schemas.microsoft.com/office/drawing/2014/main" id="{32A23C14-51A1-1F7B-70F2-745BAFD4824A}"/>
              </a:ext>
            </a:extLst>
          </p:cNvPr>
          <p:cNvSpPr/>
          <p:nvPr/>
        </p:nvSpPr>
        <p:spPr>
          <a:xfrm>
            <a:off x="2510295" y="3685510"/>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2" name="円/楕円 50">
            <a:extLst>
              <a:ext uri="{FF2B5EF4-FFF2-40B4-BE49-F238E27FC236}">
                <a16:creationId xmlns:a16="http://schemas.microsoft.com/office/drawing/2014/main" id="{F94BE003-7198-1F52-3B59-40D112421FC5}"/>
              </a:ext>
            </a:extLst>
          </p:cNvPr>
          <p:cNvSpPr/>
          <p:nvPr/>
        </p:nvSpPr>
        <p:spPr>
          <a:xfrm>
            <a:off x="2510295" y="4096871"/>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小</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3" name="円/楕円 50">
            <a:extLst>
              <a:ext uri="{FF2B5EF4-FFF2-40B4-BE49-F238E27FC236}">
                <a16:creationId xmlns:a16="http://schemas.microsoft.com/office/drawing/2014/main" id="{20D8FA6A-4F73-4545-426A-A9E23FAB9033}"/>
              </a:ext>
            </a:extLst>
          </p:cNvPr>
          <p:cNvSpPr/>
          <p:nvPr/>
        </p:nvSpPr>
        <p:spPr>
          <a:xfrm>
            <a:off x="2510295" y="4508232"/>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小</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4" name="円/楕円 50">
            <a:extLst>
              <a:ext uri="{FF2B5EF4-FFF2-40B4-BE49-F238E27FC236}">
                <a16:creationId xmlns:a16="http://schemas.microsoft.com/office/drawing/2014/main" id="{CB5A9227-269D-A201-6558-74C3DD153EBB}"/>
              </a:ext>
            </a:extLst>
          </p:cNvPr>
          <p:cNvSpPr/>
          <p:nvPr/>
        </p:nvSpPr>
        <p:spPr>
          <a:xfrm>
            <a:off x="2510295" y="4919593"/>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大</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5" name="円/楕円 50">
            <a:extLst>
              <a:ext uri="{FF2B5EF4-FFF2-40B4-BE49-F238E27FC236}">
                <a16:creationId xmlns:a16="http://schemas.microsoft.com/office/drawing/2014/main" id="{6D14C975-8276-995A-51C7-98B0635210DA}"/>
              </a:ext>
            </a:extLst>
          </p:cNvPr>
          <p:cNvSpPr/>
          <p:nvPr/>
        </p:nvSpPr>
        <p:spPr>
          <a:xfrm>
            <a:off x="2510295" y="5330954"/>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6" name="円/楕円 50">
            <a:extLst>
              <a:ext uri="{FF2B5EF4-FFF2-40B4-BE49-F238E27FC236}">
                <a16:creationId xmlns:a16="http://schemas.microsoft.com/office/drawing/2014/main" id="{9496F1E1-631C-C4D4-7756-F39A48EBEE9F}"/>
              </a:ext>
            </a:extLst>
          </p:cNvPr>
          <p:cNvSpPr/>
          <p:nvPr/>
        </p:nvSpPr>
        <p:spPr>
          <a:xfrm>
            <a:off x="2510295" y="5742315"/>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7" name="円/楕円 50">
            <a:extLst>
              <a:ext uri="{FF2B5EF4-FFF2-40B4-BE49-F238E27FC236}">
                <a16:creationId xmlns:a16="http://schemas.microsoft.com/office/drawing/2014/main" id="{6CD14F39-C936-0095-0BA1-21AD1A32C120}"/>
              </a:ext>
            </a:extLst>
          </p:cNvPr>
          <p:cNvSpPr/>
          <p:nvPr/>
        </p:nvSpPr>
        <p:spPr>
          <a:xfrm>
            <a:off x="2510295" y="6153676"/>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8" name="フリーフォーム: 図形 77">
            <a:extLst>
              <a:ext uri="{FF2B5EF4-FFF2-40B4-BE49-F238E27FC236}">
                <a16:creationId xmlns:a16="http://schemas.microsoft.com/office/drawing/2014/main" id="{E0AE8E4D-AAAD-E38D-7934-11B03071B5F8}"/>
              </a:ext>
            </a:extLst>
          </p:cNvPr>
          <p:cNvSpPr/>
          <p:nvPr/>
        </p:nvSpPr>
        <p:spPr>
          <a:xfrm>
            <a:off x="5574368" y="4860976"/>
            <a:ext cx="6399844" cy="1657585"/>
          </a:xfrm>
          <a:custGeom>
            <a:avLst/>
            <a:gdLst>
              <a:gd name="connsiteX0" fmla="*/ 2698971 w 7743811"/>
              <a:gd name="connsiteY0" fmla="*/ 0 h 1657585"/>
              <a:gd name="connsiteX1" fmla="*/ 5100091 w 7743811"/>
              <a:gd name="connsiteY1" fmla="*/ 0 h 1657585"/>
              <a:gd name="connsiteX2" fmla="*/ 5100091 w 7743811"/>
              <a:gd name="connsiteY2" fmla="*/ 404829 h 1657585"/>
              <a:gd name="connsiteX3" fmla="*/ 7743811 w 7743811"/>
              <a:gd name="connsiteY3" fmla="*/ 404829 h 1657585"/>
              <a:gd name="connsiteX4" fmla="*/ 7743811 w 7743811"/>
              <a:gd name="connsiteY4" fmla="*/ 1657585 h 1657585"/>
              <a:gd name="connsiteX5" fmla="*/ 0 w 7743811"/>
              <a:gd name="connsiteY5" fmla="*/ 1657585 h 1657585"/>
              <a:gd name="connsiteX6" fmla="*/ 0 w 7743811"/>
              <a:gd name="connsiteY6" fmla="*/ 404829 h 1657585"/>
              <a:gd name="connsiteX7" fmla="*/ 2698971 w 7743811"/>
              <a:gd name="connsiteY7" fmla="*/ 404829 h 165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43811" h="1657585">
                <a:moveTo>
                  <a:pt x="2698971" y="0"/>
                </a:moveTo>
                <a:lnTo>
                  <a:pt x="5100091" y="0"/>
                </a:lnTo>
                <a:lnTo>
                  <a:pt x="5100091" y="404829"/>
                </a:lnTo>
                <a:lnTo>
                  <a:pt x="7743811" y="404829"/>
                </a:lnTo>
                <a:lnTo>
                  <a:pt x="7743811" y="1657585"/>
                </a:lnTo>
                <a:lnTo>
                  <a:pt x="0" y="1657585"/>
                </a:lnTo>
                <a:lnTo>
                  <a:pt x="0" y="404829"/>
                </a:lnTo>
                <a:lnTo>
                  <a:pt x="2698971" y="404829"/>
                </a:lnTo>
                <a:close/>
              </a:path>
            </a:pathLst>
          </a:custGeom>
          <a:solidFill>
            <a:srgbClr val="A5A5A5">
              <a:lumMod val="50000"/>
              <a:alpha val="30000"/>
            </a:srgbClr>
          </a:solidFill>
          <a:ln w="28575" cap="flat" cmpd="sng" algn="ctr">
            <a:noFill/>
            <a:prstDash val="solid"/>
            <a:miter lim="800000"/>
          </a:ln>
          <a:effectLst/>
        </p:spPr>
        <p:txBody>
          <a:bodyPr wrap="square" lIns="36000" tIns="36000" rIns="36000" bIns="36000" rtlCol="0" anchor="ctr">
            <a:noAutofit/>
          </a:bodyPr>
          <a:lstStyle/>
          <a:p>
            <a:pPr algn="ctr">
              <a:defRPr/>
            </a:pPr>
            <a:r>
              <a:rPr kumimoji="0" lang="ja-JP" altLang="en-US" b="1" kern="0" dirty="0">
                <a:solidFill>
                  <a:srgbClr val="595959"/>
                </a:solidFill>
                <a:latin typeface="HG丸ｺﾞｼｯｸM-PRO" panose="020F0600000000000000" pitchFamily="50" charset="-128"/>
                <a:ea typeface="HG丸ｺﾞｼｯｸM-PRO" panose="020F0600000000000000" pitchFamily="50" charset="-128"/>
              </a:rPr>
              <a:t>対象外</a:t>
            </a:r>
          </a:p>
        </p:txBody>
      </p:sp>
      <p:grpSp>
        <p:nvGrpSpPr>
          <p:cNvPr id="7" name="グループ化 6">
            <a:extLst>
              <a:ext uri="{FF2B5EF4-FFF2-40B4-BE49-F238E27FC236}">
                <a16:creationId xmlns:a16="http://schemas.microsoft.com/office/drawing/2014/main" id="{6A62E16F-393F-3E91-E708-2AE2CD4E9BFF}"/>
              </a:ext>
            </a:extLst>
          </p:cNvPr>
          <p:cNvGrpSpPr/>
          <p:nvPr/>
        </p:nvGrpSpPr>
        <p:grpSpPr>
          <a:xfrm>
            <a:off x="9068845" y="2291450"/>
            <a:ext cx="1621468" cy="4166840"/>
            <a:chOff x="8057882" y="1642525"/>
            <a:chExt cx="1961976" cy="4044294"/>
          </a:xfrm>
        </p:grpSpPr>
        <p:cxnSp>
          <p:nvCxnSpPr>
            <p:cNvPr id="8" name="直線コネクタ 7">
              <a:extLst>
                <a:ext uri="{FF2B5EF4-FFF2-40B4-BE49-F238E27FC236}">
                  <a16:creationId xmlns:a16="http://schemas.microsoft.com/office/drawing/2014/main" id="{C6F55528-1798-0A26-2571-F1E992702652}"/>
                </a:ext>
              </a:extLst>
            </p:cNvPr>
            <p:cNvCxnSpPr>
              <a:cxnSpLocks/>
            </p:cNvCxnSpPr>
            <p:nvPr/>
          </p:nvCxnSpPr>
          <p:spPr>
            <a:xfrm>
              <a:off x="9036415" y="1806910"/>
              <a:ext cx="0" cy="3879909"/>
            </a:xfrm>
            <a:prstGeom prst="line">
              <a:avLst/>
            </a:prstGeom>
            <a:noFill/>
            <a:ln w="19050" cap="flat" cmpd="sng" algn="ctr">
              <a:solidFill>
                <a:srgbClr val="FF0000"/>
              </a:solidFill>
              <a:prstDash val="sysDash"/>
              <a:miter lim="800000"/>
            </a:ln>
            <a:effectLst/>
          </p:spPr>
        </p:cxnSp>
        <p:sp>
          <p:nvSpPr>
            <p:cNvPr id="9" name="テキスト プレースホルダー 10">
              <a:extLst>
                <a:ext uri="{FF2B5EF4-FFF2-40B4-BE49-F238E27FC236}">
                  <a16:creationId xmlns:a16="http://schemas.microsoft.com/office/drawing/2014/main" id="{B0EC0AE9-D973-2402-E67D-BEB63466FE75}"/>
                </a:ext>
              </a:extLst>
            </p:cNvPr>
            <p:cNvSpPr txBox="1">
              <a:spLocks/>
            </p:cNvSpPr>
            <p:nvPr/>
          </p:nvSpPr>
          <p:spPr>
            <a:xfrm>
              <a:off x="8057882" y="1642525"/>
              <a:ext cx="1961976"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en-US" altLang="ja-JP" sz="14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2025/3</a:t>
              </a:r>
              <a:r>
                <a:rPr kumimoji="1" lang="ja-JP" altLang="en-US" sz="14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a:t>
              </a:r>
            </a:p>
          </p:txBody>
        </p:sp>
      </p:grpSp>
    </p:spTree>
    <p:extLst>
      <p:ext uri="{BB962C8B-B14F-4D97-AF65-F5344CB8AC3E}">
        <p14:creationId xmlns:p14="http://schemas.microsoft.com/office/powerpoint/2010/main" val="972692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本施策のコストと工数</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9</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en-US" altLang="ja-JP" dirty="0">
                <a:solidFill>
                  <a:schemeClr val="tx1">
                    <a:lumMod val="65000"/>
                    <a:lumOff val="35000"/>
                  </a:schemeClr>
                </a:solidFill>
                <a:latin typeface="Meiryo"/>
                <a:ea typeface="Meiryo"/>
                <a:cs typeface="Meiryo"/>
                <a:sym typeface="Meiryo"/>
              </a:rPr>
              <a:t>XXX</a:t>
            </a:r>
          </a:p>
        </p:txBody>
      </p:sp>
      <p:sp>
        <p:nvSpPr>
          <p:cNvPr id="8" name="正方形/長方形 7">
            <a:extLst>
              <a:ext uri="{FF2B5EF4-FFF2-40B4-BE49-F238E27FC236}">
                <a16:creationId xmlns:a16="http://schemas.microsoft.com/office/drawing/2014/main" id="{FC4F8460-BC38-5EF4-F600-FA41F15A5B61}"/>
              </a:ext>
            </a:extLst>
          </p:cNvPr>
          <p:cNvSpPr/>
          <p:nvPr/>
        </p:nvSpPr>
        <p:spPr>
          <a:xfrm>
            <a:off x="8681339" y="907220"/>
            <a:ext cx="3004970" cy="1609403"/>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kumimoji="1" lang="ja-JP" altLang="en-US" sz="1400" dirty="0">
                <a:solidFill>
                  <a:schemeClr val="accent4">
                    <a:lumMod val="65000"/>
                    <a:lumOff val="35000"/>
                  </a:schemeClr>
                </a:solidFill>
                <a:latin typeface="+mn-ea"/>
                <a:cs typeface="Hiragino Kaku Gothic Pro W3" charset="-128"/>
              </a:rPr>
              <a:t>今回のコスト</a:t>
            </a:r>
          </a:p>
        </p:txBody>
      </p:sp>
    </p:spTree>
    <p:extLst>
      <p:ext uri="{BB962C8B-B14F-4D97-AF65-F5344CB8AC3E}">
        <p14:creationId xmlns:p14="http://schemas.microsoft.com/office/powerpoint/2010/main" val="3936109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本施策の効果</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10</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en-US" altLang="ja-JP" dirty="0">
                <a:solidFill>
                  <a:schemeClr val="tx1">
                    <a:lumMod val="65000"/>
                    <a:lumOff val="35000"/>
                  </a:schemeClr>
                </a:solidFill>
                <a:latin typeface="Meiryo"/>
                <a:ea typeface="Meiryo"/>
                <a:cs typeface="Meiryo"/>
                <a:sym typeface="Meiryo"/>
              </a:rPr>
              <a:t>XXX</a:t>
            </a:r>
          </a:p>
        </p:txBody>
      </p:sp>
      <p:sp>
        <p:nvSpPr>
          <p:cNvPr id="6" name="正方形/長方形 5">
            <a:extLst>
              <a:ext uri="{FF2B5EF4-FFF2-40B4-BE49-F238E27FC236}">
                <a16:creationId xmlns:a16="http://schemas.microsoft.com/office/drawing/2014/main" id="{688FECCE-E394-BE26-0690-53733B712DE6}"/>
              </a:ext>
            </a:extLst>
          </p:cNvPr>
          <p:cNvSpPr/>
          <p:nvPr/>
        </p:nvSpPr>
        <p:spPr>
          <a:xfrm>
            <a:off x="8681339" y="907220"/>
            <a:ext cx="3004970" cy="1609403"/>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400" dirty="0">
                <a:solidFill>
                  <a:schemeClr val="accent4">
                    <a:lumMod val="65000"/>
                    <a:lumOff val="35000"/>
                  </a:schemeClr>
                </a:solidFill>
                <a:latin typeface="+mn-ea"/>
                <a:cs typeface="Hiragino Kaku Gothic Pro W3" charset="-128"/>
              </a:rPr>
              <a:t>本施策実行後の</a:t>
            </a:r>
            <a:r>
              <a:rPr kumimoji="1" lang="ja-JP" altLang="en-US" sz="1400" dirty="0">
                <a:solidFill>
                  <a:schemeClr val="accent4">
                    <a:lumMod val="65000"/>
                    <a:lumOff val="35000"/>
                  </a:schemeClr>
                </a:solidFill>
                <a:latin typeface="+mn-ea"/>
                <a:cs typeface="Hiragino Kaku Gothic Pro W3" charset="-128"/>
              </a:rPr>
              <a:t>コストの削減効果</a:t>
            </a:r>
          </a:p>
        </p:txBody>
      </p:sp>
    </p:spTree>
    <p:extLst>
      <p:ext uri="{BB962C8B-B14F-4D97-AF65-F5344CB8AC3E}">
        <p14:creationId xmlns:p14="http://schemas.microsoft.com/office/powerpoint/2010/main" val="1569910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体制</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11</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en-US" altLang="ja-JP" dirty="0">
                <a:solidFill>
                  <a:schemeClr val="tx1">
                    <a:lumMod val="65000"/>
                    <a:lumOff val="35000"/>
                  </a:schemeClr>
                </a:solidFill>
                <a:latin typeface="Meiryo"/>
                <a:ea typeface="Meiryo"/>
                <a:cs typeface="Meiryo"/>
                <a:sym typeface="Meiryo"/>
              </a:rPr>
              <a:t>XXX</a:t>
            </a:r>
          </a:p>
        </p:txBody>
      </p:sp>
    </p:spTree>
    <p:extLst>
      <p:ext uri="{BB962C8B-B14F-4D97-AF65-F5344CB8AC3E}">
        <p14:creationId xmlns:p14="http://schemas.microsoft.com/office/powerpoint/2010/main" val="1497516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スケジュール</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12</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en-US" altLang="ja-JP" dirty="0">
                <a:solidFill>
                  <a:schemeClr val="tx1">
                    <a:lumMod val="65000"/>
                    <a:lumOff val="35000"/>
                  </a:schemeClr>
                </a:solidFill>
                <a:latin typeface="Meiryo"/>
                <a:ea typeface="Meiryo"/>
                <a:cs typeface="Meiryo"/>
                <a:sym typeface="Meiryo"/>
              </a:rPr>
              <a:t>XXX</a:t>
            </a:r>
          </a:p>
        </p:txBody>
      </p:sp>
    </p:spTree>
    <p:extLst>
      <p:ext uri="{BB962C8B-B14F-4D97-AF65-F5344CB8AC3E}">
        <p14:creationId xmlns:p14="http://schemas.microsoft.com/office/powerpoint/2010/main" val="3972522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リスクと対応方針</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13</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en-US" altLang="ja-JP" dirty="0">
                <a:solidFill>
                  <a:schemeClr val="tx1">
                    <a:lumMod val="65000"/>
                    <a:lumOff val="35000"/>
                  </a:schemeClr>
                </a:solidFill>
                <a:latin typeface="Meiryo"/>
                <a:ea typeface="Meiryo"/>
                <a:cs typeface="Meiryo"/>
                <a:sym typeface="Meiryo"/>
              </a:rPr>
              <a:t>XXX</a:t>
            </a:r>
          </a:p>
        </p:txBody>
      </p:sp>
    </p:spTree>
    <p:extLst>
      <p:ext uri="{BB962C8B-B14F-4D97-AF65-F5344CB8AC3E}">
        <p14:creationId xmlns:p14="http://schemas.microsoft.com/office/powerpoint/2010/main" val="426599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a:t>
            </a:r>
            <a:r>
              <a:rPr lang="en-US" altLang="ja-JP" kern="1200" dirty="0">
                <a:solidFill>
                  <a:schemeClr val="tx1">
                    <a:lumMod val="65000"/>
                    <a:lumOff val="35000"/>
                  </a:schemeClr>
                </a:solidFill>
                <a:cs typeface="Arial" panose="020B0604020202020204" pitchFamily="34" charset="0"/>
              </a:rPr>
              <a:t>Appendix</a:t>
            </a:r>
            <a:r>
              <a:rPr lang="ja-JP" altLang="en-US" kern="1200" dirty="0">
                <a:solidFill>
                  <a:schemeClr val="tx1">
                    <a:lumMod val="65000"/>
                    <a:lumOff val="35000"/>
                  </a:schemeClr>
                </a:solidFill>
                <a:cs typeface="Arial" panose="020B0604020202020204" pitchFamily="34" charset="0"/>
              </a:rPr>
              <a:t>）スプシ化の設計思想</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14</a:t>
            </a:fld>
            <a:endParaRPr lang="en-US" altLang="ja-JP"/>
          </a:p>
        </p:txBody>
      </p:sp>
      <p:grpSp>
        <p:nvGrpSpPr>
          <p:cNvPr id="6" name="グループ化 5">
            <a:extLst>
              <a:ext uri="{FF2B5EF4-FFF2-40B4-BE49-F238E27FC236}">
                <a16:creationId xmlns:a16="http://schemas.microsoft.com/office/drawing/2014/main" id="{202C8535-365A-3D40-847A-A3EF36EF44BA}"/>
              </a:ext>
            </a:extLst>
          </p:cNvPr>
          <p:cNvGrpSpPr/>
          <p:nvPr/>
        </p:nvGrpSpPr>
        <p:grpSpPr>
          <a:xfrm>
            <a:off x="769445" y="747178"/>
            <a:ext cx="10653110" cy="5706010"/>
            <a:chOff x="953654" y="747178"/>
            <a:chExt cx="10653110" cy="5706010"/>
          </a:xfrm>
        </p:grpSpPr>
        <p:sp>
          <p:nvSpPr>
            <p:cNvPr id="7" name="円/楕円 50">
              <a:extLst>
                <a:ext uri="{FF2B5EF4-FFF2-40B4-BE49-F238E27FC236}">
                  <a16:creationId xmlns:a16="http://schemas.microsoft.com/office/drawing/2014/main" id="{EC8BBABB-CE54-C426-C8F3-0CEBB0D2D8C2}"/>
                </a:ext>
              </a:extLst>
            </p:cNvPr>
            <p:cNvSpPr/>
            <p:nvPr/>
          </p:nvSpPr>
          <p:spPr>
            <a:xfrm>
              <a:off x="2724551" y="747180"/>
              <a:ext cx="2346545" cy="5706008"/>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スプシ</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8" name="円/楕円 50">
              <a:extLst>
                <a:ext uri="{FF2B5EF4-FFF2-40B4-BE49-F238E27FC236}">
                  <a16:creationId xmlns:a16="http://schemas.microsoft.com/office/drawing/2014/main" id="{D3698061-0AD6-324C-99E7-AC5BA0591023}"/>
                </a:ext>
              </a:extLst>
            </p:cNvPr>
            <p:cNvSpPr/>
            <p:nvPr/>
          </p:nvSpPr>
          <p:spPr>
            <a:xfrm>
              <a:off x="5992385" y="747179"/>
              <a:ext cx="2346545" cy="5706008"/>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kern="0" dirty="0">
                  <a:solidFill>
                    <a:srgbClr val="E7E6E6">
                      <a:lumMod val="50000"/>
                    </a:srgbClr>
                  </a:solidFill>
                  <a:latin typeface="Meiryo UI" panose="020B0604030504040204" pitchFamily="50" charset="-128"/>
                  <a:ea typeface="Meiryo UI" panose="020B0604030504040204" pitchFamily="50" charset="-128"/>
                </a:rPr>
                <a:t>GAS</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9" name="円/楕円 50">
              <a:extLst>
                <a:ext uri="{FF2B5EF4-FFF2-40B4-BE49-F238E27FC236}">
                  <a16:creationId xmlns:a16="http://schemas.microsoft.com/office/drawing/2014/main" id="{EB55482F-C26A-7004-12C9-80A11B61AA94}"/>
                </a:ext>
              </a:extLst>
            </p:cNvPr>
            <p:cNvSpPr/>
            <p:nvPr/>
          </p:nvSpPr>
          <p:spPr>
            <a:xfrm>
              <a:off x="9260219" y="747178"/>
              <a:ext cx="2346545" cy="5706008"/>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kern="0" dirty="0">
                  <a:solidFill>
                    <a:srgbClr val="E7E6E6">
                      <a:lumMod val="50000"/>
                    </a:srgbClr>
                  </a:solidFill>
                  <a:latin typeface="Meiryo UI" panose="020B0604030504040204" pitchFamily="50" charset="-128"/>
                  <a:ea typeface="Meiryo UI" panose="020B0604030504040204" pitchFamily="50" charset="-128"/>
                </a:rPr>
                <a:t>BQ</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0" name="円柱 9">
              <a:extLst>
                <a:ext uri="{FF2B5EF4-FFF2-40B4-BE49-F238E27FC236}">
                  <a16:creationId xmlns:a16="http://schemas.microsoft.com/office/drawing/2014/main" id="{8378096C-8D20-DBE8-032D-95FD334CA64A}"/>
                </a:ext>
              </a:extLst>
            </p:cNvPr>
            <p:cNvSpPr/>
            <p:nvPr/>
          </p:nvSpPr>
          <p:spPr>
            <a:xfrm>
              <a:off x="9967532" y="3303739"/>
              <a:ext cx="931917" cy="2844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RIND</a:t>
              </a:r>
            </a:p>
          </p:txBody>
        </p:sp>
        <p:sp>
          <p:nvSpPr>
            <p:cNvPr id="11" name="円柱 10">
              <a:extLst>
                <a:ext uri="{FF2B5EF4-FFF2-40B4-BE49-F238E27FC236}">
                  <a16:creationId xmlns:a16="http://schemas.microsoft.com/office/drawing/2014/main" id="{9B368213-E4CA-D5AB-AB88-8FF9DD0FD46C}"/>
                </a:ext>
              </a:extLst>
            </p:cNvPr>
            <p:cNvSpPr/>
            <p:nvPr/>
          </p:nvSpPr>
          <p:spPr>
            <a:xfrm>
              <a:off x="9967531" y="2746829"/>
              <a:ext cx="931917" cy="2844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2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ローカルマスタ</a:t>
              </a:r>
              <a:endParaRPr kumimoji="0"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sp>
          <p:nvSpPr>
            <p:cNvPr id="12" name="円/楕円 50">
              <a:extLst>
                <a:ext uri="{FF2B5EF4-FFF2-40B4-BE49-F238E27FC236}">
                  <a16:creationId xmlns:a16="http://schemas.microsoft.com/office/drawing/2014/main" id="{559FB914-C741-0B04-6D5E-0FF0457F3BA4}"/>
                </a:ext>
              </a:extLst>
            </p:cNvPr>
            <p:cNvSpPr/>
            <p:nvPr/>
          </p:nvSpPr>
          <p:spPr>
            <a:xfrm>
              <a:off x="2929090" y="2624246"/>
              <a:ext cx="5210794" cy="1552073"/>
            </a:xfrm>
            <a:prstGeom prst="homePlate">
              <a:avLst>
                <a:gd name="adj" fmla="val 0"/>
              </a:avLst>
            </a:prstGeom>
            <a:solidFill>
              <a:schemeClr val="bg1"/>
            </a:solid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検索コンポーネント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3" name="円/楕円 50">
              <a:extLst>
                <a:ext uri="{FF2B5EF4-FFF2-40B4-BE49-F238E27FC236}">
                  <a16:creationId xmlns:a16="http://schemas.microsoft.com/office/drawing/2014/main" id="{0B228BCE-67CD-3720-38FD-F314A73287FB}"/>
                </a:ext>
              </a:extLst>
            </p:cNvPr>
            <p:cNvSpPr/>
            <p:nvPr/>
          </p:nvSpPr>
          <p:spPr>
            <a:xfrm>
              <a:off x="2929090" y="1109285"/>
              <a:ext cx="5210794" cy="1231905"/>
            </a:xfrm>
            <a:prstGeom prst="homePlate">
              <a:avLst>
                <a:gd name="adj" fmla="val 0"/>
              </a:avLst>
            </a:prstGeom>
            <a:solidFill>
              <a:schemeClr val="bg1"/>
            </a:solid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更新</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コンポーネント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4" name="円/楕円 50">
              <a:extLst>
                <a:ext uri="{FF2B5EF4-FFF2-40B4-BE49-F238E27FC236}">
                  <a16:creationId xmlns:a16="http://schemas.microsoft.com/office/drawing/2014/main" id="{58EE550E-62E3-EF8F-EAB9-92EE58A14172}"/>
                </a:ext>
              </a:extLst>
            </p:cNvPr>
            <p:cNvSpPr/>
            <p:nvPr/>
          </p:nvSpPr>
          <p:spPr>
            <a:xfrm>
              <a:off x="3026436" y="1788777"/>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更新</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View</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5" name="円/楕円 50">
              <a:extLst>
                <a:ext uri="{FF2B5EF4-FFF2-40B4-BE49-F238E27FC236}">
                  <a16:creationId xmlns:a16="http://schemas.microsoft.com/office/drawing/2014/main" id="{0D89FCFD-F7E8-4213-7111-4C0554833D69}"/>
                </a:ext>
              </a:extLst>
            </p:cNvPr>
            <p:cNvSpPr/>
            <p:nvPr/>
          </p:nvSpPr>
          <p:spPr>
            <a:xfrm>
              <a:off x="3026436" y="1373617"/>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更新</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Parameter</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6" name="円/楕円 50">
              <a:extLst>
                <a:ext uri="{FF2B5EF4-FFF2-40B4-BE49-F238E27FC236}">
                  <a16:creationId xmlns:a16="http://schemas.microsoft.com/office/drawing/2014/main" id="{81D56366-25FE-A4DA-D8B3-D0FE4EBE7B62}"/>
                </a:ext>
              </a:extLst>
            </p:cNvPr>
            <p:cNvSpPr/>
            <p:nvPr/>
          </p:nvSpPr>
          <p:spPr>
            <a:xfrm>
              <a:off x="6212866" y="1788777"/>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更新</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Controller</a:t>
              </a:r>
            </a:p>
          </p:txBody>
        </p:sp>
        <p:cxnSp>
          <p:nvCxnSpPr>
            <p:cNvPr id="17" name="直線矢印コネクタ 16">
              <a:extLst>
                <a:ext uri="{FF2B5EF4-FFF2-40B4-BE49-F238E27FC236}">
                  <a16:creationId xmlns:a16="http://schemas.microsoft.com/office/drawing/2014/main" id="{3AF3F812-54CC-8C3E-5651-C858E5A54CBF}"/>
                </a:ext>
              </a:extLst>
            </p:cNvPr>
            <p:cNvCxnSpPr>
              <a:cxnSpLocks/>
              <a:stCxn id="14" idx="3"/>
              <a:endCxn id="16" idx="1"/>
            </p:cNvCxnSpPr>
            <p:nvPr/>
          </p:nvCxnSpPr>
          <p:spPr>
            <a:xfrm>
              <a:off x="4856108" y="1930614"/>
              <a:ext cx="13567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21">
              <a:extLst>
                <a:ext uri="{FF2B5EF4-FFF2-40B4-BE49-F238E27FC236}">
                  <a16:creationId xmlns:a16="http://schemas.microsoft.com/office/drawing/2014/main" id="{27FEF8DA-B2B2-34CB-E1E5-D22B3251A0A8}"/>
                </a:ext>
              </a:extLst>
            </p:cNvPr>
            <p:cNvCxnSpPr>
              <a:cxnSpLocks/>
              <a:stCxn id="15" idx="3"/>
              <a:endCxn id="16" idx="1"/>
            </p:cNvCxnSpPr>
            <p:nvPr/>
          </p:nvCxnSpPr>
          <p:spPr>
            <a:xfrm>
              <a:off x="4856108" y="1515454"/>
              <a:ext cx="1356758" cy="41516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50">
              <a:extLst>
                <a:ext uri="{FF2B5EF4-FFF2-40B4-BE49-F238E27FC236}">
                  <a16:creationId xmlns:a16="http://schemas.microsoft.com/office/drawing/2014/main" id="{FA27BF0B-D4F8-BC68-8BCC-AB2EAC5755D5}"/>
                </a:ext>
              </a:extLst>
            </p:cNvPr>
            <p:cNvSpPr/>
            <p:nvPr/>
          </p:nvSpPr>
          <p:spPr>
            <a:xfrm>
              <a:off x="2929090" y="4445060"/>
              <a:ext cx="5210794" cy="1910020"/>
            </a:xfrm>
            <a:prstGeom prst="homePlate">
              <a:avLst>
                <a:gd name="adj" fmla="val 0"/>
              </a:avLst>
            </a:prstGeom>
            <a:solidFill>
              <a:schemeClr val="bg1"/>
            </a:solid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出力コンポーネント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0" name="円/楕円 50">
              <a:extLst>
                <a:ext uri="{FF2B5EF4-FFF2-40B4-BE49-F238E27FC236}">
                  <a16:creationId xmlns:a16="http://schemas.microsoft.com/office/drawing/2014/main" id="{FA56AE70-D9E8-98A8-EBCF-03A680AA6E09}"/>
                </a:ext>
              </a:extLst>
            </p:cNvPr>
            <p:cNvSpPr/>
            <p:nvPr/>
          </p:nvSpPr>
          <p:spPr>
            <a:xfrm>
              <a:off x="3026436" y="3303739"/>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検索</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View</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1" name="円/楕円 50">
              <a:extLst>
                <a:ext uri="{FF2B5EF4-FFF2-40B4-BE49-F238E27FC236}">
                  <a16:creationId xmlns:a16="http://schemas.microsoft.com/office/drawing/2014/main" id="{12D40E0D-F776-4972-9203-864E678D1BB6}"/>
                </a:ext>
              </a:extLst>
            </p:cNvPr>
            <p:cNvSpPr/>
            <p:nvPr/>
          </p:nvSpPr>
          <p:spPr>
            <a:xfrm>
              <a:off x="3026436" y="2888579"/>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検索</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Parameter</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2" name="円/楕円 50">
              <a:extLst>
                <a:ext uri="{FF2B5EF4-FFF2-40B4-BE49-F238E27FC236}">
                  <a16:creationId xmlns:a16="http://schemas.microsoft.com/office/drawing/2014/main" id="{C92D9EAB-C9ED-DA73-3DCA-2EF1413F38D0}"/>
                </a:ext>
              </a:extLst>
            </p:cNvPr>
            <p:cNvSpPr/>
            <p:nvPr/>
          </p:nvSpPr>
          <p:spPr>
            <a:xfrm>
              <a:off x="6212866" y="3303739"/>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検索</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Controller</a:t>
              </a:r>
            </a:p>
          </p:txBody>
        </p:sp>
        <p:cxnSp>
          <p:nvCxnSpPr>
            <p:cNvPr id="23" name="直線矢印コネクタ 22">
              <a:extLst>
                <a:ext uri="{FF2B5EF4-FFF2-40B4-BE49-F238E27FC236}">
                  <a16:creationId xmlns:a16="http://schemas.microsoft.com/office/drawing/2014/main" id="{B486CA7F-DF90-90F3-342C-B6B31C39EB2C}"/>
                </a:ext>
              </a:extLst>
            </p:cNvPr>
            <p:cNvCxnSpPr>
              <a:cxnSpLocks/>
              <a:stCxn id="20" idx="3"/>
              <a:endCxn id="22" idx="1"/>
            </p:cNvCxnSpPr>
            <p:nvPr/>
          </p:nvCxnSpPr>
          <p:spPr>
            <a:xfrm>
              <a:off x="4856108" y="3445575"/>
              <a:ext cx="13567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1">
              <a:extLst>
                <a:ext uri="{FF2B5EF4-FFF2-40B4-BE49-F238E27FC236}">
                  <a16:creationId xmlns:a16="http://schemas.microsoft.com/office/drawing/2014/main" id="{43EB33AA-35D1-F87C-8652-48894E410B05}"/>
                </a:ext>
              </a:extLst>
            </p:cNvPr>
            <p:cNvCxnSpPr>
              <a:cxnSpLocks/>
              <a:stCxn id="21" idx="3"/>
              <a:endCxn id="22" idx="1"/>
            </p:cNvCxnSpPr>
            <p:nvPr/>
          </p:nvCxnSpPr>
          <p:spPr>
            <a:xfrm>
              <a:off x="4856108" y="3030415"/>
              <a:ext cx="1356758" cy="41516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50">
              <a:extLst>
                <a:ext uri="{FF2B5EF4-FFF2-40B4-BE49-F238E27FC236}">
                  <a16:creationId xmlns:a16="http://schemas.microsoft.com/office/drawing/2014/main" id="{DA59B428-18E5-4B14-0F33-76DA3BB5F9B3}"/>
                </a:ext>
              </a:extLst>
            </p:cNvPr>
            <p:cNvSpPr/>
            <p:nvPr/>
          </p:nvSpPr>
          <p:spPr>
            <a:xfrm>
              <a:off x="3026436" y="3718899"/>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検索結果</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View</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26" name="直線矢印コネクタ 21">
              <a:extLst>
                <a:ext uri="{FF2B5EF4-FFF2-40B4-BE49-F238E27FC236}">
                  <a16:creationId xmlns:a16="http://schemas.microsoft.com/office/drawing/2014/main" id="{9BE966F6-6DE8-FBA6-3081-BF5BFE2B57ED}"/>
                </a:ext>
              </a:extLst>
            </p:cNvPr>
            <p:cNvCxnSpPr>
              <a:cxnSpLocks/>
              <a:endCxn id="22" idx="2"/>
            </p:cNvCxnSpPr>
            <p:nvPr/>
          </p:nvCxnSpPr>
          <p:spPr>
            <a:xfrm flipV="1">
              <a:off x="4856108" y="3587411"/>
              <a:ext cx="2271594" cy="282425"/>
            </a:xfrm>
            <a:prstGeom prst="bentConnector2">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640210B0-3B91-168D-DCF5-E2B878E37B6F}"/>
                </a:ext>
              </a:extLst>
            </p:cNvPr>
            <p:cNvCxnSpPr>
              <a:cxnSpLocks/>
              <a:stCxn id="25" idx="2"/>
              <a:endCxn id="31" idx="0"/>
            </p:cNvCxnSpPr>
            <p:nvPr/>
          </p:nvCxnSpPr>
          <p:spPr>
            <a:xfrm>
              <a:off x="3941272" y="4002571"/>
              <a:ext cx="1846" cy="70682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1">
              <a:extLst>
                <a:ext uri="{FF2B5EF4-FFF2-40B4-BE49-F238E27FC236}">
                  <a16:creationId xmlns:a16="http://schemas.microsoft.com/office/drawing/2014/main" id="{EFF86EF1-3410-72B2-7C00-F99876F7EE9C}"/>
                </a:ext>
              </a:extLst>
            </p:cNvPr>
            <p:cNvCxnSpPr>
              <a:cxnSpLocks/>
              <a:stCxn id="10" idx="2"/>
              <a:endCxn id="22" idx="3"/>
            </p:cNvCxnSpPr>
            <p:nvPr/>
          </p:nvCxnSpPr>
          <p:spPr>
            <a:xfrm flipH="1" flipV="1">
              <a:off x="8042538" y="3445575"/>
              <a:ext cx="1924994" cy="3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1">
              <a:extLst>
                <a:ext uri="{FF2B5EF4-FFF2-40B4-BE49-F238E27FC236}">
                  <a16:creationId xmlns:a16="http://schemas.microsoft.com/office/drawing/2014/main" id="{824FB39D-93D3-F616-88D9-20C59BEE3AD4}"/>
                </a:ext>
              </a:extLst>
            </p:cNvPr>
            <p:cNvCxnSpPr>
              <a:cxnSpLocks/>
              <a:stCxn id="22" idx="3"/>
              <a:endCxn id="11" idx="2"/>
            </p:cNvCxnSpPr>
            <p:nvPr/>
          </p:nvCxnSpPr>
          <p:spPr>
            <a:xfrm flipV="1">
              <a:off x="8042538" y="2889029"/>
              <a:ext cx="1924993" cy="556546"/>
            </a:xfrm>
            <a:prstGeom prst="bentConnector3">
              <a:avLst>
                <a:gd name="adj1" fmla="val 50000"/>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円/楕円 50">
              <a:extLst>
                <a:ext uri="{FF2B5EF4-FFF2-40B4-BE49-F238E27FC236}">
                  <a16:creationId xmlns:a16="http://schemas.microsoft.com/office/drawing/2014/main" id="{1AEF3181-3C48-262E-46EE-4C6A6022B9D4}"/>
                </a:ext>
              </a:extLst>
            </p:cNvPr>
            <p:cNvSpPr/>
            <p:nvPr/>
          </p:nvSpPr>
          <p:spPr>
            <a:xfrm>
              <a:off x="3028282" y="5124552"/>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出力</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View</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31" name="円/楕円 50">
              <a:extLst>
                <a:ext uri="{FF2B5EF4-FFF2-40B4-BE49-F238E27FC236}">
                  <a16:creationId xmlns:a16="http://schemas.microsoft.com/office/drawing/2014/main" id="{66A6BF46-C9A7-A252-6C30-CA3D8E55EA94}"/>
                </a:ext>
              </a:extLst>
            </p:cNvPr>
            <p:cNvSpPr/>
            <p:nvPr/>
          </p:nvSpPr>
          <p:spPr>
            <a:xfrm>
              <a:off x="3028282" y="4709392"/>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algn="ctr" fontAlgn="auto">
                <a:spcBef>
                  <a:spcPts val="0"/>
                </a:spcBef>
                <a:spcAft>
                  <a:spcPts val="0"/>
                </a:spcAft>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出力</a:t>
              </a:r>
              <a:r>
                <a:rPr kumimoji="0" lang="en-US" altLang="ja-JP" sz="1200" kern="0">
                  <a:solidFill>
                    <a:srgbClr val="E7E6E6">
                      <a:lumMod val="50000"/>
                    </a:srgbClr>
                  </a:solidFill>
                  <a:latin typeface="Meiryo UI" panose="020B0604030504040204" pitchFamily="50" charset="-128"/>
                  <a:ea typeface="Meiryo UI" panose="020B0604030504040204" pitchFamily="50" charset="-128"/>
                </a:rPr>
                <a:t>Parameter</a:t>
              </a: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シート</a:t>
              </a:r>
              <a:endParaRPr kumimoji="0" lang="en-US" altLang="ja-JP" sz="1200" kern="0" dirty="0">
                <a:solidFill>
                  <a:srgbClr val="E7E6E6">
                    <a:lumMod val="50000"/>
                  </a:srgbClr>
                </a:solidFill>
                <a:latin typeface="Meiryo UI" panose="020B0604030504040204" pitchFamily="50" charset="-128"/>
                <a:ea typeface="Meiryo UI" panose="020B0604030504040204" pitchFamily="50" charset="-128"/>
              </a:endParaRPr>
            </a:p>
          </p:txBody>
        </p:sp>
        <p:sp>
          <p:nvSpPr>
            <p:cNvPr id="32" name="円/楕円 50">
              <a:extLst>
                <a:ext uri="{FF2B5EF4-FFF2-40B4-BE49-F238E27FC236}">
                  <a16:creationId xmlns:a16="http://schemas.microsoft.com/office/drawing/2014/main" id="{9AA6ABE4-AC36-8B43-5779-65E92142E954}"/>
                </a:ext>
              </a:extLst>
            </p:cNvPr>
            <p:cNvSpPr/>
            <p:nvPr/>
          </p:nvSpPr>
          <p:spPr>
            <a:xfrm>
              <a:off x="6214712" y="5124552"/>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出力</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Controller</a:t>
              </a:r>
            </a:p>
          </p:txBody>
        </p:sp>
        <p:cxnSp>
          <p:nvCxnSpPr>
            <p:cNvPr id="33" name="直線矢印コネクタ 32">
              <a:extLst>
                <a:ext uri="{FF2B5EF4-FFF2-40B4-BE49-F238E27FC236}">
                  <a16:creationId xmlns:a16="http://schemas.microsoft.com/office/drawing/2014/main" id="{0C52030C-12F0-684B-F4AC-8C922840B66D}"/>
                </a:ext>
              </a:extLst>
            </p:cNvPr>
            <p:cNvCxnSpPr>
              <a:cxnSpLocks/>
              <a:stCxn id="30" idx="3"/>
              <a:endCxn id="32" idx="1"/>
            </p:cNvCxnSpPr>
            <p:nvPr/>
          </p:nvCxnSpPr>
          <p:spPr>
            <a:xfrm>
              <a:off x="4857954" y="5266388"/>
              <a:ext cx="13567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21">
              <a:extLst>
                <a:ext uri="{FF2B5EF4-FFF2-40B4-BE49-F238E27FC236}">
                  <a16:creationId xmlns:a16="http://schemas.microsoft.com/office/drawing/2014/main" id="{2D50CF2B-33A8-918D-7651-0AE38309917F}"/>
                </a:ext>
              </a:extLst>
            </p:cNvPr>
            <p:cNvCxnSpPr>
              <a:cxnSpLocks/>
              <a:stCxn id="31" idx="3"/>
              <a:endCxn id="32" idx="1"/>
            </p:cNvCxnSpPr>
            <p:nvPr/>
          </p:nvCxnSpPr>
          <p:spPr>
            <a:xfrm>
              <a:off x="4857954" y="4851228"/>
              <a:ext cx="1356758" cy="41516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21">
              <a:extLst>
                <a:ext uri="{FF2B5EF4-FFF2-40B4-BE49-F238E27FC236}">
                  <a16:creationId xmlns:a16="http://schemas.microsoft.com/office/drawing/2014/main" id="{417F2427-6E7C-B9B7-BC5B-89F3378C2795}"/>
                </a:ext>
              </a:extLst>
            </p:cNvPr>
            <p:cNvCxnSpPr>
              <a:cxnSpLocks/>
              <a:stCxn id="32" idx="2"/>
              <a:endCxn id="38" idx="3"/>
            </p:cNvCxnSpPr>
            <p:nvPr/>
          </p:nvCxnSpPr>
          <p:spPr>
            <a:xfrm rot="5400000">
              <a:off x="5656555" y="4605931"/>
              <a:ext cx="670700" cy="227528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円/楕円 50">
              <a:extLst>
                <a:ext uri="{FF2B5EF4-FFF2-40B4-BE49-F238E27FC236}">
                  <a16:creationId xmlns:a16="http://schemas.microsoft.com/office/drawing/2014/main" id="{7950472A-7B1D-EA62-B043-E022A1EE5FDA}"/>
                </a:ext>
              </a:extLst>
            </p:cNvPr>
            <p:cNvSpPr/>
            <p:nvPr/>
          </p:nvSpPr>
          <p:spPr>
            <a:xfrm>
              <a:off x="3028282" y="5526511"/>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帳票テンプレートシート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37" name="直線矢印コネクタ 21">
              <a:extLst>
                <a:ext uri="{FF2B5EF4-FFF2-40B4-BE49-F238E27FC236}">
                  <a16:creationId xmlns:a16="http://schemas.microsoft.com/office/drawing/2014/main" id="{220D0C19-BCBC-86FC-45DE-666F951A9AC8}"/>
                </a:ext>
              </a:extLst>
            </p:cNvPr>
            <p:cNvCxnSpPr>
              <a:cxnSpLocks/>
              <a:stCxn id="36" idx="3"/>
            </p:cNvCxnSpPr>
            <p:nvPr/>
          </p:nvCxnSpPr>
          <p:spPr>
            <a:xfrm flipV="1">
              <a:off x="4857954" y="5277753"/>
              <a:ext cx="1356758" cy="390594"/>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円/楕円 50">
              <a:extLst>
                <a:ext uri="{FF2B5EF4-FFF2-40B4-BE49-F238E27FC236}">
                  <a16:creationId xmlns:a16="http://schemas.microsoft.com/office/drawing/2014/main" id="{184C8B4F-D271-6F6E-96FD-5E3FD9667CC3}"/>
                </a:ext>
              </a:extLst>
            </p:cNvPr>
            <p:cNvSpPr/>
            <p:nvPr/>
          </p:nvSpPr>
          <p:spPr>
            <a:xfrm>
              <a:off x="3024590" y="5937088"/>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出力帳票</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39" name="直線矢印コネクタ 21">
              <a:extLst>
                <a:ext uri="{FF2B5EF4-FFF2-40B4-BE49-F238E27FC236}">
                  <a16:creationId xmlns:a16="http://schemas.microsoft.com/office/drawing/2014/main" id="{0BEAD864-70C4-C3F4-B63C-66F6760DC052}"/>
                </a:ext>
              </a:extLst>
            </p:cNvPr>
            <p:cNvCxnSpPr>
              <a:cxnSpLocks/>
              <a:stCxn id="11" idx="1"/>
              <a:endCxn id="16" idx="3"/>
            </p:cNvCxnSpPr>
            <p:nvPr/>
          </p:nvCxnSpPr>
          <p:spPr>
            <a:xfrm rot="16200000" flipV="1">
              <a:off x="8829906" y="1143245"/>
              <a:ext cx="816216" cy="2390952"/>
            </a:xfrm>
            <a:prstGeom prst="bentConnector2">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0" name="グループ化 39">
              <a:extLst>
                <a:ext uri="{FF2B5EF4-FFF2-40B4-BE49-F238E27FC236}">
                  <a16:creationId xmlns:a16="http://schemas.microsoft.com/office/drawing/2014/main" id="{7A81F788-FAE5-4DD6-9850-B53D127F79EA}"/>
                </a:ext>
              </a:extLst>
            </p:cNvPr>
            <p:cNvGrpSpPr/>
            <p:nvPr/>
          </p:nvGrpSpPr>
          <p:grpSpPr>
            <a:xfrm>
              <a:off x="953654" y="2314363"/>
              <a:ext cx="707211" cy="795768"/>
              <a:chOff x="1597055" y="1416458"/>
              <a:chExt cx="582989" cy="655991"/>
            </a:xfrm>
          </p:grpSpPr>
          <p:pic>
            <p:nvPicPr>
              <p:cNvPr id="55" name="Picture 2">
                <a:extLst>
                  <a:ext uri="{FF2B5EF4-FFF2-40B4-BE49-F238E27FC236}">
                    <a16:creationId xmlns:a16="http://schemas.microsoft.com/office/drawing/2014/main" id="{731925D6-C120-851F-43FD-F7DE7BD68E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2391" y="1416458"/>
                <a:ext cx="372319" cy="372319"/>
              </a:xfrm>
              <a:prstGeom prst="rect">
                <a:avLst/>
              </a:prstGeom>
              <a:noFill/>
              <a:extLst>
                <a:ext uri="{909E8E84-426E-40DD-AFC4-6F175D3DCCD1}">
                  <a14:hiddenFill xmlns:a14="http://schemas.microsoft.com/office/drawing/2010/main">
                    <a:solidFill>
                      <a:srgbClr val="FFFFFF"/>
                    </a:solidFill>
                  </a14:hiddenFill>
                </a:ext>
              </a:extLst>
            </p:spPr>
          </p:pic>
          <p:sp>
            <p:nvSpPr>
              <p:cNvPr id="56" name="円/楕円 50">
                <a:extLst>
                  <a:ext uri="{FF2B5EF4-FFF2-40B4-BE49-F238E27FC236}">
                    <a16:creationId xmlns:a16="http://schemas.microsoft.com/office/drawing/2014/main" id="{D62621B8-1147-730B-9513-376F61B77FFE}"/>
                  </a:ext>
                </a:extLst>
              </p:cNvPr>
              <p:cNvSpPr/>
              <p:nvPr/>
            </p:nvSpPr>
            <p:spPr>
              <a:xfrm>
                <a:off x="1597055" y="1788777"/>
                <a:ext cx="582989" cy="283672"/>
              </a:xfrm>
              <a:prstGeom prst="homePlate">
                <a:avLst>
                  <a:gd name="adj" fmla="val 0"/>
                </a:avLst>
              </a:prstGeom>
              <a:no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ユーザー</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grpSp>
          <p:nvGrpSpPr>
            <p:cNvPr id="41" name="グループ化 40">
              <a:extLst>
                <a:ext uri="{FF2B5EF4-FFF2-40B4-BE49-F238E27FC236}">
                  <a16:creationId xmlns:a16="http://schemas.microsoft.com/office/drawing/2014/main" id="{93D6918C-1C40-5E13-F0DF-F214447A53BF}"/>
                </a:ext>
              </a:extLst>
            </p:cNvPr>
            <p:cNvGrpSpPr/>
            <p:nvPr/>
          </p:nvGrpSpPr>
          <p:grpSpPr>
            <a:xfrm>
              <a:off x="985800" y="4090238"/>
              <a:ext cx="642919" cy="795768"/>
              <a:chOff x="1527639" y="2438086"/>
              <a:chExt cx="529990" cy="655991"/>
            </a:xfrm>
          </p:grpSpPr>
          <p:pic>
            <p:nvPicPr>
              <p:cNvPr id="53" name="Picture 6">
                <a:extLst>
                  <a:ext uri="{FF2B5EF4-FFF2-40B4-BE49-F238E27FC236}">
                    <a16:creationId xmlns:a16="http://schemas.microsoft.com/office/drawing/2014/main" id="{15DFF256-090F-D28C-1B44-C0FF48F88F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6475" y="2438086"/>
                <a:ext cx="372319" cy="372319"/>
              </a:xfrm>
              <a:prstGeom prst="rect">
                <a:avLst/>
              </a:prstGeom>
              <a:noFill/>
              <a:extLst>
                <a:ext uri="{909E8E84-426E-40DD-AFC4-6F175D3DCCD1}">
                  <a14:hiddenFill xmlns:a14="http://schemas.microsoft.com/office/drawing/2010/main">
                    <a:solidFill>
                      <a:srgbClr val="FFFFFF"/>
                    </a:solidFill>
                  </a14:hiddenFill>
                </a:ext>
              </a:extLst>
            </p:spPr>
          </p:pic>
          <p:sp>
            <p:nvSpPr>
              <p:cNvPr id="54" name="円/楕円 50">
                <a:extLst>
                  <a:ext uri="{FF2B5EF4-FFF2-40B4-BE49-F238E27FC236}">
                    <a16:creationId xmlns:a16="http://schemas.microsoft.com/office/drawing/2014/main" id="{68386F3E-F507-78BC-1D16-A9239C8C9D43}"/>
                  </a:ext>
                </a:extLst>
              </p:cNvPr>
              <p:cNvSpPr/>
              <p:nvPr/>
            </p:nvSpPr>
            <p:spPr>
              <a:xfrm>
                <a:off x="1527639" y="2810405"/>
                <a:ext cx="529990" cy="283672"/>
              </a:xfrm>
              <a:prstGeom prst="homePlate">
                <a:avLst>
                  <a:gd name="adj" fmla="val 0"/>
                </a:avLst>
              </a:prstGeom>
              <a:no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開発者</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cxnSp>
          <p:nvCxnSpPr>
            <p:cNvPr id="42" name="直線矢印コネクタ 41">
              <a:extLst>
                <a:ext uri="{FF2B5EF4-FFF2-40B4-BE49-F238E27FC236}">
                  <a16:creationId xmlns:a16="http://schemas.microsoft.com/office/drawing/2014/main" id="{2C7C0FDF-17FC-9581-9FFC-CE02BE0D8944}"/>
                </a:ext>
              </a:extLst>
            </p:cNvPr>
            <p:cNvCxnSpPr>
              <a:cxnSpLocks/>
              <a:stCxn id="55" idx="3"/>
              <a:endCxn id="14" idx="1"/>
            </p:cNvCxnSpPr>
            <p:nvPr/>
          </p:nvCxnSpPr>
          <p:spPr>
            <a:xfrm flipV="1">
              <a:off x="1533087" y="1930613"/>
              <a:ext cx="1493349" cy="609576"/>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54E6AF0A-E2D7-3F57-C32B-6B7DD238CAE1}"/>
                </a:ext>
              </a:extLst>
            </p:cNvPr>
            <p:cNvCxnSpPr>
              <a:cxnSpLocks/>
              <a:stCxn id="55" idx="3"/>
              <a:endCxn id="20" idx="1"/>
            </p:cNvCxnSpPr>
            <p:nvPr/>
          </p:nvCxnSpPr>
          <p:spPr>
            <a:xfrm>
              <a:off x="1533087" y="2540189"/>
              <a:ext cx="1493349" cy="905386"/>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7096A274-2669-2D40-CDDF-57A11AEDAE92}"/>
                </a:ext>
              </a:extLst>
            </p:cNvPr>
            <p:cNvCxnSpPr>
              <a:cxnSpLocks/>
              <a:stCxn id="53" idx="3"/>
              <a:endCxn id="15" idx="1"/>
            </p:cNvCxnSpPr>
            <p:nvPr/>
          </p:nvCxnSpPr>
          <p:spPr>
            <a:xfrm flipV="1">
              <a:off x="1533086" y="1515453"/>
              <a:ext cx="1493350" cy="280061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A10A0F18-7F22-7DFB-F16E-B2E5E7BC2EB1}"/>
                </a:ext>
              </a:extLst>
            </p:cNvPr>
            <p:cNvCxnSpPr>
              <a:cxnSpLocks/>
              <a:stCxn id="53" idx="3"/>
              <a:endCxn id="21" idx="1"/>
            </p:cNvCxnSpPr>
            <p:nvPr/>
          </p:nvCxnSpPr>
          <p:spPr>
            <a:xfrm flipV="1">
              <a:off x="1533086" y="3030415"/>
              <a:ext cx="1493350" cy="128564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85A08CF0-32A6-74E6-BD1D-F91DA1C87A56}"/>
                </a:ext>
              </a:extLst>
            </p:cNvPr>
            <p:cNvCxnSpPr>
              <a:cxnSpLocks/>
              <a:stCxn id="55" idx="3"/>
              <a:endCxn id="25" idx="1"/>
            </p:cNvCxnSpPr>
            <p:nvPr/>
          </p:nvCxnSpPr>
          <p:spPr>
            <a:xfrm>
              <a:off x="1533087" y="2540189"/>
              <a:ext cx="1493349" cy="1320546"/>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E9ED7459-E39D-991D-4C3D-5E46624732BD}"/>
                </a:ext>
              </a:extLst>
            </p:cNvPr>
            <p:cNvCxnSpPr>
              <a:cxnSpLocks/>
              <a:stCxn id="53" idx="3"/>
              <a:endCxn id="36" idx="1"/>
            </p:cNvCxnSpPr>
            <p:nvPr/>
          </p:nvCxnSpPr>
          <p:spPr>
            <a:xfrm>
              <a:off x="1533086" y="4316064"/>
              <a:ext cx="1495196" cy="135228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1DF028F0-8C0F-1F0E-3818-FE4946713532}"/>
                </a:ext>
              </a:extLst>
            </p:cNvPr>
            <p:cNvCxnSpPr>
              <a:cxnSpLocks/>
              <a:stCxn id="55" idx="3"/>
              <a:endCxn id="30" idx="1"/>
            </p:cNvCxnSpPr>
            <p:nvPr/>
          </p:nvCxnSpPr>
          <p:spPr>
            <a:xfrm>
              <a:off x="1533087" y="2540189"/>
              <a:ext cx="1495195" cy="272619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0554948D-ECEA-5D4A-C713-08B5DD7B2593}"/>
                </a:ext>
              </a:extLst>
            </p:cNvPr>
            <p:cNvCxnSpPr>
              <a:cxnSpLocks/>
              <a:stCxn id="55" idx="3"/>
              <a:endCxn id="38" idx="1"/>
            </p:cNvCxnSpPr>
            <p:nvPr/>
          </p:nvCxnSpPr>
          <p:spPr>
            <a:xfrm>
              <a:off x="1533087" y="2540189"/>
              <a:ext cx="1491503" cy="3538735"/>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0" name="直線矢印コネクタ 49">
              <a:extLst>
                <a:ext uri="{FF2B5EF4-FFF2-40B4-BE49-F238E27FC236}">
                  <a16:creationId xmlns:a16="http://schemas.microsoft.com/office/drawing/2014/main" id="{49470EF5-47C8-62D9-269B-A402BB2D78CB}"/>
                </a:ext>
              </a:extLst>
            </p:cNvPr>
            <p:cNvCxnSpPr>
              <a:cxnSpLocks/>
              <a:stCxn id="53" idx="3"/>
              <a:endCxn id="31" idx="1"/>
            </p:cNvCxnSpPr>
            <p:nvPr/>
          </p:nvCxnSpPr>
          <p:spPr>
            <a:xfrm>
              <a:off x="1533086" y="4316064"/>
              <a:ext cx="1495196" cy="535164"/>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1" name="円/楕円 50">
              <a:extLst>
                <a:ext uri="{FF2B5EF4-FFF2-40B4-BE49-F238E27FC236}">
                  <a16:creationId xmlns:a16="http://schemas.microsoft.com/office/drawing/2014/main" id="{4E190663-D2D5-2879-DC20-42F71629E9C9}"/>
                </a:ext>
              </a:extLst>
            </p:cNvPr>
            <p:cNvSpPr/>
            <p:nvPr/>
          </p:nvSpPr>
          <p:spPr>
            <a:xfrm>
              <a:off x="6055066" y="1643183"/>
              <a:ext cx="2182163" cy="3883327"/>
            </a:xfrm>
            <a:prstGeom prst="homePlate">
              <a:avLst>
                <a:gd name="adj" fmla="val 0"/>
              </a:avLst>
            </a:prstGeom>
            <a:noFill/>
            <a:ln w="12700" cap="flat" cmpd="sng" algn="ctr">
              <a:solidFill>
                <a:srgbClr val="FF0000"/>
              </a:solidFill>
              <a:prstDash val="dash"/>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52" name="円/楕円 50">
              <a:extLst>
                <a:ext uri="{FF2B5EF4-FFF2-40B4-BE49-F238E27FC236}">
                  <a16:creationId xmlns:a16="http://schemas.microsoft.com/office/drawing/2014/main" id="{FCF99887-D723-0487-5154-F1B35FBFDEC4}"/>
                </a:ext>
              </a:extLst>
            </p:cNvPr>
            <p:cNvSpPr/>
            <p:nvPr/>
          </p:nvSpPr>
          <p:spPr>
            <a:xfrm>
              <a:off x="8299530" y="4892459"/>
              <a:ext cx="3251768" cy="637762"/>
            </a:xfrm>
            <a:prstGeom prst="homePlate">
              <a:avLst>
                <a:gd name="adj" fmla="val 0"/>
              </a:avLst>
            </a:prstGeom>
            <a:solidFill>
              <a:schemeClr val="bg1"/>
            </a:solidFill>
            <a:ln w="1270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全てのパラメータは外だしにして、</a:t>
              </a:r>
              <a:endParaRPr kumimoji="0" lang="en-US" altLang="ja-JP"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BQ</a:t>
              </a:r>
              <a:r>
                <a:rPr kumimoji="0" lang="ja-JP" altLang="en-US"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のデータ構造が変更されても</a:t>
              </a:r>
              <a:r>
                <a:rPr kumimoji="0" lang="en-US" altLang="ja-JP"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GAS</a:t>
              </a:r>
              <a:r>
                <a:rPr kumimoji="0" lang="ja-JP" altLang="en-US"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は修正しない。</a:t>
              </a:r>
              <a:endParaRPr kumimoji="0" lang="en-US" altLang="ja-JP"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FF0000"/>
                  </a:solidFill>
                  <a:latin typeface="Meiryo UI" panose="020B0604030504040204" pitchFamily="50" charset="-128"/>
                  <a:ea typeface="Meiryo UI" panose="020B0604030504040204" pitchFamily="50" charset="-128"/>
                </a:rPr>
                <a:t>パラメータ例：クエリ、カラム、帳票テンプレート</a:t>
              </a:r>
              <a:r>
                <a:rPr kumimoji="0" lang="en-US" altLang="ja-JP" sz="1200" kern="0" dirty="0">
                  <a:solidFill>
                    <a:srgbClr val="FF0000"/>
                  </a:solidFill>
                  <a:latin typeface="Meiryo UI" panose="020B0604030504040204" pitchFamily="50" charset="-128"/>
                  <a:ea typeface="Meiryo UI" panose="020B0604030504040204" pitchFamily="50" charset="-128"/>
                </a:rPr>
                <a:t>...</a:t>
              </a:r>
            </a:p>
          </p:txBody>
        </p:sp>
      </p:grpSp>
    </p:spTree>
    <p:extLst>
      <p:ext uri="{BB962C8B-B14F-4D97-AF65-F5344CB8AC3E}">
        <p14:creationId xmlns:p14="http://schemas.microsoft.com/office/powerpoint/2010/main" val="3641128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C2B3B9BC-06C6-4FE5-8F85-868B2ADD3FBF}"/>
              </a:ext>
            </a:extLst>
          </p:cNvPr>
          <p:cNvSpPr>
            <a:spLocks noGrp="1"/>
          </p:cNvSpPr>
          <p:nvPr>
            <p:ph type="sldNum" sz="quarter" idx="10"/>
          </p:nvPr>
        </p:nvSpPr>
        <p:spPr/>
        <p:txBody>
          <a:bodyPr/>
          <a:lstStyle/>
          <a:p>
            <a:pPr>
              <a:defRPr/>
            </a:pPr>
            <a:fld id="{EB72A429-DDC7-41CC-AC2C-79132BE59620}" type="slidenum">
              <a:rPr lang="en-US" altLang="ja-JP" smtClean="0"/>
              <a:pPr>
                <a:defRPr/>
              </a:pPr>
              <a:t>15</a:t>
            </a:fld>
            <a:endParaRPr lang="en-US" altLang="ja-JP"/>
          </a:p>
        </p:txBody>
      </p:sp>
      <p:sp>
        <p:nvSpPr>
          <p:cNvPr id="10" name="タイトル 2">
            <a:extLst>
              <a:ext uri="{FF2B5EF4-FFF2-40B4-BE49-F238E27FC236}">
                <a16:creationId xmlns:a16="http://schemas.microsoft.com/office/drawing/2014/main" id="{3AB95EA8-8F25-D6D0-7C97-A8827D5E2081}"/>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dirty="0"/>
              <a:t>1. </a:t>
            </a:r>
            <a:r>
              <a:rPr lang="ja-JP" altLang="en-US" kern="0" dirty="0"/>
              <a:t>背景・目的</a:t>
            </a:r>
          </a:p>
        </p:txBody>
      </p:sp>
      <p:sp>
        <p:nvSpPr>
          <p:cNvPr id="8" name="正方形/長方形 7">
            <a:extLst>
              <a:ext uri="{FF2B5EF4-FFF2-40B4-BE49-F238E27FC236}">
                <a16:creationId xmlns:a16="http://schemas.microsoft.com/office/drawing/2014/main" id="{B512D5DD-4369-7520-8CE9-CD1E57BC8144}"/>
              </a:ext>
            </a:extLst>
          </p:cNvPr>
          <p:cNvSpPr/>
          <p:nvPr/>
        </p:nvSpPr>
        <p:spPr bwMode="auto">
          <a:xfrm>
            <a:off x="432400" y="4137790"/>
            <a:ext cx="1424777" cy="2018042"/>
          </a:xfrm>
          <a:prstGeom prst="rect">
            <a:avLst/>
          </a:prstGeom>
          <a:solidFill>
            <a:srgbClr val="002060"/>
          </a:solidFill>
          <a:ln w="19050" cap="flat" cmpd="sng" algn="ctr">
            <a:noFill/>
            <a:prstDash val="solid"/>
            <a:miter lim="800000"/>
            <a:headEnd type="none" w="med" len="med"/>
            <a:tailEnd type="none" w="med" len="med"/>
          </a:ln>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ja-JP" altLang="en-US" b="1" i="0"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目的</a:t>
            </a:r>
            <a:endParaRPr kumimoji="0" lang="en-US" altLang="ja-JP" b="1" i="0"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7927439F-B655-D593-E666-BCE40156CC0B}"/>
              </a:ext>
            </a:extLst>
          </p:cNvPr>
          <p:cNvSpPr/>
          <p:nvPr/>
        </p:nvSpPr>
        <p:spPr bwMode="auto">
          <a:xfrm>
            <a:off x="1894156" y="4137790"/>
            <a:ext cx="9947086" cy="2018042"/>
          </a:xfrm>
          <a:prstGeom prst="rect">
            <a:avLst/>
          </a:prstGeom>
          <a:noFill/>
          <a:ln w="9525" cap="flat" cmpd="sng" algn="ctr">
            <a:solidFill>
              <a:schemeClr val="tx1"/>
            </a:solidFill>
            <a:prstDash val="solid"/>
            <a:miter lim="800000"/>
            <a:headEnd type="none" w="med" len="med"/>
            <a:tailEnd type="none" w="med" len="med"/>
          </a:ln>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対象となる基シス周辺システムにおいて、</a:t>
            </a:r>
            <a: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t>JKK</a:t>
            </a: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要求を満たすためシステム改修を行い、</a:t>
            </a:r>
            <a:b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br>
            <a: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t>JKK</a:t>
            </a: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本線</a:t>
            </a:r>
            <a: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t>C/O</a:t>
            </a: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後も継続してシステム・業務運用ができることを目的とする</a:t>
            </a:r>
            <a:endPar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a:p>
            <a:pPr marL="171450" indent="-171450">
              <a:buFont typeface="Arial" panose="020B0604020202020204" pitchFamily="34" charset="0"/>
              <a:buChar char="•"/>
            </a:pPr>
            <a:endPar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a:p>
            <a:pPr marL="171450" indent="-171450">
              <a:buFont typeface="Arial" panose="020B0604020202020204" pitchFamily="34" charset="0"/>
              <a:buChar char="•"/>
            </a:pP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また、基シス周辺システムについて、</a:t>
            </a:r>
            <a: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t>JKK</a:t>
            </a: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とのコミュニケーションコストの効率化や全体管理の観点から、</a:t>
            </a:r>
            <a:b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b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プロジェクト体制をとり、基シス周辺システム全体で横断的に対応を進める</a:t>
            </a:r>
            <a:endPar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sp>
        <p:nvSpPr>
          <p:cNvPr id="11" name="正方形/長方形 10">
            <a:extLst>
              <a:ext uri="{FF2B5EF4-FFF2-40B4-BE49-F238E27FC236}">
                <a16:creationId xmlns:a16="http://schemas.microsoft.com/office/drawing/2014/main" id="{ABD45A9B-6FD0-4879-19B8-5CE3066C486D}"/>
              </a:ext>
            </a:extLst>
          </p:cNvPr>
          <p:cNvSpPr/>
          <p:nvPr/>
        </p:nvSpPr>
        <p:spPr bwMode="auto">
          <a:xfrm>
            <a:off x="432400" y="1356337"/>
            <a:ext cx="1424777" cy="2018041"/>
          </a:xfrm>
          <a:prstGeom prst="rect">
            <a:avLst/>
          </a:prstGeom>
          <a:solidFill>
            <a:srgbClr val="002060"/>
          </a:solidFill>
          <a:ln w="19050" cap="flat" cmpd="sng" algn="ctr">
            <a:noFill/>
            <a:prstDash val="solid"/>
            <a:miter lim="800000"/>
            <a:headEnd type="none" w="med" len="med"/>
            <a:tailEnd type="none" w="med" len="med"/>
          </a:ln>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ja-JP" altLang="en-US" b="1" kern="0">
                <a:solidFill>
                  <a:prstClr val="white"/>
                </a:solidFill>
                <a:latin typeface="Meiryo UI" panose="020B0604030504040204" pitchFamily="50" charset="-128"/>
                <a:ea typeface="Meiryo UI" panose="020B0604030504040204" pitchFamily="50" charset="-128"/>
              </a:rPr>
              <a:t>背景</a:t>
            </a:r>
            <a:endParaRPr kumimoji="0" lang="en-US" altLang="ja-JP" b="1" i="0"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6226FEAE-EB1A-8702-E6ED-04036562C428}"/>
              </a:ext>
            </a:extLst>
          </p:cNvPr>
          <p:cNvSpPr/>
          <p:nvPr/>
        </p:nvSpPr>
        <p:spPr bwMode="auto">
          <a:xfrm>
            <a:off x="1894156" y="1356337"/>
            <a:ext cx="9947086" cy="2018041"/>
          </a:xfrm>
          <a:prstGeom prst="rect">
            <a:avLst/>
          </a:prstGeom>
          <a:noFill/>
          <a:ln w="9525" cap="flat" cmpd="sng" algn="ctr">
            <a:solidFill>
              <a:schemeClr val="tx1"/>
            </a:solidFill>
            <a:prstDash val="solid"/>
            <a:miter lim="800000"/>
            <a:headEnd type="none" w="med" len="med"/>
            <a:tailEnd type="none" w="med" len="med"/>
          </a:ln>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リクルートの経営管理は、約</a:t>
            </a:r>
            <a:r>
              <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30</a:t>
            </a: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年の利用を経て劣化した基盤の上で、経営体制や法制度の変更の都度、</a:t>
            </a:r>
            <a:br>
              <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rPr>
            </a:b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手作業での対応を積み重ねてきた結果、会計品質の課題が顕在化していた</a:t>
            </a:r>
            <a:endPar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a:p>
            <a:pPr marL="171450" indent="-171450">
              <a:buFont typeface="Arial" panose="020B0604020202020204" pitchFamily="34" charset="0"/>
              <a:buChar char="•"/>
            </a:pPr>
            <a:endPar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a:p>
            <a:pPr marL="171450" indent="-171450">
              <a:buFont typeface="Arial" panose="020B0604020202020204" pitchFamily="34" charset="0"/>
              <a:buChar char="•"/>
            </a:pPr>
            <a:r>
              <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RCL</a:t>
            </a: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での「財務会計のグローバル標準化」および「経営の自由度の確保」を達成するため、</a:t>
            </a:r>
            <a:br>
              <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rPr>
            </a:b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全社会計基盤刷新プロジェクト（</a:t>
            </a:r>
            <a:r>
              <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JKK</a:t>
            </a: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）が発足</a:t>
            </a:r>
            <a:endPar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sp>
        <p:nvSpPr>
          <p:cNvPr id="13" name="フローチャート: 抜出し 12">
            <a:extLst>
              <a:ext uri="{FF2B5EF4-FFF2-40B4-BE49-F238E27FC236}">
                <a16:creationId xmlns:a16="http://schemas.microsoft.com/office/drawing/2014/main" id="{6C6BFE6A-F932-6532-5FF6-92A1034D8E81}"/>
              </a:ext>
            </a:extLst>
          </p:cNvPr>
          <p:cNvSpPr/>
          <p:nvPr/>
        </p:nvSpPr>
        <p:spPr>
          <a:xfrm rot="10800000">
            <a:off x="3935010" y="3590925"/>
            <a:ext cx="4321981" cy="330317"/>
          </a:xfrm>
          <a:prstGeom prst="flowChartExtra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200">
              <a:solidFill>
                <a:schemeClr val="accent4">
                  <a:lumMod val="65000"/>
                  <a:lumOff val="35000"/>
                </a:schemeClr>
              </a:solidFill>
              <a:latin typeface="+mn-ea"/>
              <a:cs typeface="Hiragino Kaku Gothic Pro W3" charset="-128"/>
            </a:endParaRPr>
          </a:p>
        </p:txBody>
      </p:sp>
    </p:spTree>
    <p:extLst>
      <p:ext uri="{BB962C8B-B14F-4D97-AF65-F5344CB8AC3E}">
        <p14:creationId xmlns:p14="http://schemas.microsoft.com/office/powerpoint/2010/main" val="3955389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スライド番号プレースホルダー 3">
            <a:extLst>
              <a:ext uri="{FF2B5EF4-FFF2-40B4-BE49-F238E27FC236}">
                <a16:creationId xmlns:a16="http://schemas.microsoft.com/office/drawing/2014/main" id="{ACD7092E-9CE2-4F49-A5C0-CEA50C5BA5AE}"/>
              </a:ext>
            </a:extLst>
          </p:cNvPr>
          <p:cNvSpPr>
            <a:spLocks noGrp="1"/>
          </p:cNvSpPr>
          <p:nvPr>
            <p:ph type="sldNum" sz="quarter" idx="10"/>
          </p:nvPr>
        </p:nvSpPr>
        <p:spPr>
          <a:xfrm>
            <a:off x="4804833" y="6627168"/>
            <a:ext cx="2540000" cy="230832"/>
          </a:xfrm>
        </p:spPr>
        <p:txBody>
          <a:bodyPr/>
          <a:lstStyle/>
          <a:p>
            <a:pPr>
              <a:defRPr/>
            </a:pPr>
            <a:fld id="{EB72A429-DDC7-41CC-AC2C-79132BE59620}" type="slidenum">
              <a:rPr lang="en-US" altLang="ja-JP" smtClean="0"/>
              <a:pPr>
                <a:defRPr/>
              </a:pPr>
              <a:t>16</a:t>
            </a:fld>
            <a:endParaRPr lang="en-US" altLang="ja-JP"/>
          </a:p>
        </p:txBody>
      </p:sp>
      <p:sp>
        <p:nvSpPr>
          <p:cNvPr id="6" name="タイトル 2">
            <a:extLst>
              <a:ext uri="{FF2B5EF4-FFF2-40B4-BE49-F238E27FC236}">
                <a16:creationId xmlns:a16="http://schemas.microsoft.com/office/drawing/2014/main" id="{168DA8ED-D318-9FB3-6F5F-C0C2401B513C}"/>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kumimoji="1" lang="en-US" altLang="ja-JP"/>
              <a:t>2. JKK</a:t>
            </a:r>
            <a:r>
              <a:rPr kumimoji="1" lang="ja-JP" altLang="en-US"/>
              <a:t>要求概要</a:t>
            </a:r>
            <a:r>
              <a:rPr kumimoji="1" lang="en-US" altLang="ja-JP"/>
              <a:t>×</a:t>
            </a:r>
            <a:r>
              <a:rPr kumimoji="1" lang="ja-JP" altLang="en-US"/>
              <a:t>影響システム</a:t>
            </a:r>
            <a:endParaRPr lang="ja-JP" altLang="en-US" kern="0"/>
          </a:p>
        </p:txBody>
      </p:sp>
      <p:sp>
        <p:nvSpPr>
          <p:cNvPr id="2" name="コンテンツ プレースホルダー 5">
            <a:extLst>
              <a:ext uri="{FF2B5EF4-FFF2-40B4-BE49-F238E27FC236}">
                <a16:creationId xmlns:a16="http://schemas.microsoft.com/office/drawing/2014/main" id="{F4276C7C-CD49-7EF5-FFF1-CA2663B2D07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solidFill>
                  <a:srgbClr val="000000">
                    <a:lumMod val="65000"/>
                    <a:lumOff val="35000"/>
                  </a:srgbClr>
                </a:solidFill>
                <a:latin typeface="Meiryo UI"/>
                <a:cs typeface="Hiragino Kaku Gothic Pro W3" charset="-128"/>
              </a:rPr>
              <a:t>JKK</a:t>
            </a:r>
            <a:r>
              <a:rPr lang="ja-JP" altLang="en-US" sz="1600">
                <a:solidFill>
                  <a:srgbClr val="000000">
                    <a:lumMod val="65000"/>
                    <a:lumOff val="35000"/>
                  </a:srgbClr>
                </a:solidFill>
                <a:latin typeface="Meiryo UI"/>
                <a:cs typeface="Hiragino Kaku Gothic Pro W3" charset="-128"/>
              </a:rPr>
              <a:t>要求のうち、周辺システムで対応必要な要求分類と、分類ごとの各システムの対応要否は以下の通り</a:t>
            </a:r>
            <a:endParaRPr lang="en-US" altLang="ja-JP" sz="1600">
              <a:solidFill>
                <a:srgbClr val="000000">
                  <a:lumMod val="65000"/>
                  <a:lumOff val="35000"/>
                </a:srgbClr>
              </a:solidFill>
              <a:latin typeface="Meiryo UI"/>
              <a:cs typeface="Hiragino Kaku Gothic Pro W3" charset="-128"/>
            </a:endParaRPr>
          </a:p>
        </p:txBody>
      </p:sp>
      <p:sp>
        <p:nvSpPr>
          <p:cNvPr id="115" name="テキスト ボックス 114">
            <a:extLst>
              <a:ext uri="{FF2B5EF4-FFF2-40B4-BE49-F238E27FC236}">
                <a16:creationId xmlns:a16="http://schemas.microsoft.com/office/drawing/2014/main" id="{D71BCCA0-52DE-844F-60F9-E9E1B1011BD9}"/>
              </a:ext>
            </a:extLst>
          </p:cNvPr>
          <p:cNvSpPr txBox="1">
            <a:spLocks noChangeArrowheads="1"/>
          </p:cNvSpPr>
          <p:nvPr/>
        </p:nvSpPr>
        <p:spPr bwMode="auto">
          <a:xfrm>
            <a:off x="6347280" y="1745218"/>
            <a:ext cx="653433"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Concur</a:t>
            </a: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系</a:t>
            </a:r>
            <a:b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br>
            <a:r>
              <a:rPr kumimoji="1" lang="en-US" altLang="ja-JP" sz="7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(*1)</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16" name="直線コネクタ 115">
            <a:extLst>
              <a:ext uri="{FF2B5EF4-FFF2-40B4-BE49-F238E27FC236}">
                <a16:creationId xmlns:a16="http://schemas.microsoft.com/office/drawing/2014/main" id="{B4BFF432-FFBA-6BBA-4534-847DDA22FC90}"/>
              </a:ext>
            </a:extLst>
          </p:cNvPr>
          <p:cNvCxnSpPr/>
          <p:nvPr/>
        </p:nvCxnSpPr>
        <p:spPr bwMode="auto">
          <a:xfrm>
            <a:off x="6347280" y="2102057"/>
            <a:ext cx="653433"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13" name="テキスト ボックス 112">
            <a:extLst>
              <a:ext uri="{FF2B5EF4-FFF2-40B4-BE49-F238E27FC236}">
                <a16:creationId xmlns:a16="http://schemas.microsoft.com/office/drawing/2014/main" id="{9F253CC8-747E-B284-48FC-35119809A976}"/>
              </a:ext>
            </a:extLst>
          </p:cNvPr>
          <p:cNvSpPr txBox="1">
            <a:spLocks noChangeArrowheads="1"/>
          </p:cNvSpPr>
          <p:nvPr/>
        </p:nvSpPr>
        <p:spPr bwMode="auto">
          <a:xfrm>
            <a:off x="7173990" y="1745220"/>
            <a:ext cx="653434" cy="361881"/>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ロコン購買</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HUB(A</a:t>
            </a: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伝</a:t>
            </a: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a:t>
            </a:r>
          </a:p>
        </p:txBody>
      </p:sp>
      <p:cxnSp>
        <p:nvCxnSpPr>
          <p:cNvPr id="114" name="直線コネクタ 113">
            <a:extLst>
              <a:ext uri="{FF2B5EF4-FFF2-40B4-BE49-F238E27FC236}">
                <a16:creationId xmlns:a16="http://schemas.microsoft.com/office/drawing/2014/main" id="{21D9902B-BE7A-74CB-A1D0-68E000016302}"/>
              </a:ext>
            </a:extLst>
          </p:cNvPr>
          <p:cNvCxnSpPr/>
          <p:nvPr/>
        </p:nvCxnSpPr>
        <p:spPr bwMode="auto">
          <a:xfrm>
            <a:off x="7173990" y="2102042"/>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11" name="テキスト ボックス 110">
            <a:extLst>
              <a:ext uri="{FF2B5EF4-FFF2-40B4-BE49-F238E27FC236}">
                <a16:creationId xmlns:a16="http://schemas.microsoft.com/office/drawing/2014/main" id="{BADD8B2B-072F-35B6-C224-49EB615101E2}"/>
              </a:ext>
            </a:extLst>
          </p:cNvPr>
          <p:cNvSpPr txBox="1">
            <a:spLocks noChangeArrowheads="1"/>
          </p:cNvSpPr>
          <p:nvPr/>
        </p:nvSpPr>
        <p:spPr bwMode="auto">
          <a:xfrm>
            <a:off x="7999035" y="1745218"/>
            <a:ext cx="653434"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ロコン銀行</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HUB</a:t>
            </a:r>
          </a:p>
        </p:txBody>
      </p:sp>
      <p:cxnSp>
        <p:nvCxnSpPr>
          <p:cNvPr id="112" name="直線コネクタ 111">
            <a:extLst>
              <a:ext uri="{FF2B5EF4-FFF2-40B4-BE49-F238E27FC236}">
                <a16:creationId xmlns:a16="http://schemas.microsoft.com/office/drawing/2014/main" id="{FDBA65E9-5A41-1563-073F-6199A0E4DEE1}"/>
              </a:ext>
            </a:extLst>
          </p:cNvPr>
          <p:cNvCxnSpPr/>
          <p:nvPr/>
        </p:nvCxnSpPr>
        <p:spPr bwMode="auto">
          <a:xfrm>
            <a:off x="7999035" y="2102057"/>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09" name="テキスト ボックス 108">
            <a:extLst>
              <a:ext uri="{FF2B5EF4-FFF2-40B4-BE49-F238E27FC236}">
                <a16:creationId xmlns:a16="http://schemas.microsoft.com/office/drawing/2014/main" id="{D9C14C7E-BF4C-44FE-5C46-B2D35949860D}"/>
              </a:ext>
            </a:extLst>
          </p:cNvPr>
          <p:cNvSpPr txBox="1">
            <a:spLocks noChangeArrowheads="1"/>
          </p:cNvSpPr>
          <p:nvPr/>
        </p:nvSpPr>
        <p:spPr bwMode="auto">
          <a:xfrm>
            <a:off x="8824079" y="1745218"/>
            <a:ext cx="653434"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RETMAS</a:t>
            </a:r>
          </a:p>
        </p:txBody>
      </p:sp>
      <p:cxnSp>
        <p:nvCxnSpPr>
          <p:cNvPr id="110" name="直線コネクタ 109">
            <a:extLst>
              <a:ext uri="{FF2B5EF4-FFF2-40B4-BE49-F238E27FC236}">
                <a16:creationId xmlns:a16="http://schemas.microsoft.com/office/drawing/2014/main" id="{B00EB69F-F5A5-112C-3449-0F3DA471C8D8}"/>
              </a:ext>
            </a:extLst>
          </p:cNvPr>
          <p:cNvCxnSpPr/>
          <p:nvPr/>
        </p:nvCxnSpPr>
        <p:spPr bwMode="auto">
          <a:xfrm>
            <a:off x="8824079" y="2102057"/>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07" name="テキスト ボックス 106">
            <a:extLst>
              <a:ext uri="{FF2B5EF4-FFF2-40B4-BE49-F238E27FC236}">
                <a16:creationId xmlns:a16="http://schemas.microsoft.com/office/drawing/2014/main" id="{AF400DEB-38C2-93AF-91AE-7BD2063479D9}"/>
              </a:ext>
            </a:extLst>
          </p:cNvPr>
          <p:cNvSpPr txBox="1">
            <a:spLocks noChangeArrowheads="1"/>
          </p:cNvSpPr>
          <p:nvPr/>
        </p:nvSpPr>
        <p:spPr bwMode="auto">
          <a:xfrm>
            <a:off x="9649124" y="1745218"/>
            <a:ext cx="653434"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とんぺい</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08" name="直線コネクタ 107">
            <a:extLst>
              <a:ext uri="{FF2B5EF4-FFF2-40B4-BE49-F238E27FC236}">
                <a16:creationId xmlns:a16="http://schemas.microsoft.com/office/drawing/2014/main" id="{4E7A7428-B01B-209A-FA5C-F6FAC1E9694F}"/>
              </a:ext>
            </a:extLst>
          </p:cNvPr>
          <p:cNvCxnSpPr/>
          <p:nvPr/>
        </p:nvCxnSpPr>
        <p:spPr bwMode="auto">
          <a:xfrm>
            <a:off x="9649124" y="2101870"/>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05" name="テキスト ボックス 104">
            <a:extLst>
              <a:ext uri="{FF2B5EF4-FFF2-40B4-BE49-F238E27FC236}">
                <a16:creationId xmlns:a16="http://schemas.microsoft.com/office/drawing/2014/main" id="{525A5A82-C294-18FE-98F6-637FB8E2B1A3}"/>
              </a:ext>
            </a:extLst>
          </p:cNvPr>
          <p:cNvSpPr txBox="1">
            <a:spLocks noChangeArrowheads="1"/>
          </p:cNvSpPr>
          <p:nvPr/>
        </p:nvSpPr>
        <p:spPr bwMode="auto">
          <a:xfrm>
            <a:off x="10474167" y="1745220"/>
            <a:ext cx="653434" cy="361881"/>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MICO/</a:t>
            </a:r>
          </a:p>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CHACO</a:t>
            </a:r>
          </a:p>
        </p:txBody>
      </p:sp>
      <p:cxnSp>
        <p:nvCxnSpPr>
          <p:cNvPr id="106" name="直線コネクタ 105">
            <a:extLst>
              <a:ext uri="{FF2B5EF4-FFF2-40B4-BE49-F238E27FC236}">
                <a16:creationId xmlns:a16="http://schemas.microsoft.com/office/drawing/2014/main" id="{CB98EA00-D6B8-8069-E2FF-914AB6B8BACD}"/>
              </a:ext>
            </a:extLst>
          </p:cNvPr>
          <p:cNvCxnSpPr/>
          <p:nvPr/>
        </p:nvCxnSpPr>
        <p:spPr bwMode="auto">
          <a:xfrm>
            <a:off x="10474167" y="2108355"/>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03" name="テキスト ボックス 102">
            <a:extLst>
              <a:ext uri="{FF2B5EF4-FFF2-40B4-BE49-F238E27FC236}">
                <a16:creationId xmlns:a16="http://schemas.microsoft.com/office/drawing/2014/main" id="{24C2ED99-CB95-B66A-B464-E8F239FE3182}"/>
              </a:ext>
            </a:extLst>
          </p:cNvPr>
          <p:cNvSpPr txBox="1">
            <a:spLocks noChangeArrowheads="1"/>
          </p:cNvSpPr>
          <p:nvPr/>
        </p:nvSpPr>
        <p:spPr bwMode="auto">
          <a:xfrm>
            <a:off x="11299210" y="1745218"/>
            <a:ext cx="653434"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ミスギ</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04" name="直線コネクタ 103">
            <a:extLst>
              <a:ext uri="{FF2B5EF4-FFF2-40B4-BE49-F238E27FC236}">
                <a16:creationId xmlns:a16="http://schemas.microsoft.com/office/drawing/2014/main" id="{6B1C63F4-337C-D801-11C2-7847C03B5D3E}"/>
              </a:ext>
            </a:extLst>
          </p:cNvPr>
          <p:cNvCxnSpPr/>
          <p:nvPr/>
        </p:nvCxnSpPr>
        <p:spPr bwMode="auto">
          <a:xfrm>
            <a:off x="11299210" y="2101870"/>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30" name="正方形/長方形 29">
            <a:extLst>
              <a:ext uri="{FF2B5EF4-FFF2-40B4-BE49-F238E27FC236}">
                <a16:creationId xmlns:a16="http://schemas.microsoft.com/office/drawing/2014/main" id="{60462E1D-ECBA-C683-B4E7-CCF66A2E164F}"/>
              </a:ext>
            </a:extLst>
          </p:cNvPr>
          <p:cNvSpPr/>
          <p:nvPr/>
        </p:nvSpPr>
        <p:spPr>
          <a:xfrm>
            <a:off x="6309063" y="2178143"/>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40" name="正方形/長方形 39">
            <a:extLst>
              <a:ext uri="{FF2B5EF4-FFF2-40B4-BE49-F238E27FC236}">
                <a16:creationId xmlns:a16="http://schemas.microsoft.com/office/drawing/2014/main" id="{661C5EB7-1C09-2844-39AC-63B3099CB0C0}"/>
              </a:ext>
            </a:extLst>
          </p:cNvPr>
          <p:cNvSpPr/>
          <p:nvPr/>
        </p:nvSpPr>
        <p:spPr>
          <a:xfrm>
            <a:off x="7134107" y="2178143"/>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50" name="正方形/長方形 49">
            <a:extLst>
              <a:ext uri="{FF2B5EF4-FFF2-40B4-BE49-F238E27FC236}">
                <a16:creationId xmlns:a16="http://schemas.microsoft.com/office/drawing/2014/main" id="{4917F8CD-6002-1128-F6AC-FA9CA6AFC6D8}"/>
              </a:ext>
            </a:extLst>
          </p:cNvPr>
          <p:cNvSpPr/>
          <p:nvPr/>
        </p:nvSpPr>
        <p:spPr>
          <a:xfrm>
            <a:off x="7959152" y="2178143"/>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60" name="正方形/長方形 59">
            <a:extLst>
              <a:ext uri="{FF2B5EF4-FFF2-40B4-BE49-F238E27FC236}">
                <a16:creationId xmlns:a16="http://schemas.microsoft.com/office/drawing/2014/main" id="{1DD349EB-85F8-34A9-F821-287FEE42334D}"/>
              </a:ext>
            </a:extLst>
          </p:cNvPr>
          <p:cNvSpPr/>
          <p:nvPr/>
        </p:nvSpPr>
        <p:spPr>
          <a:xfrm>
            <a:off x="8784196" y="2178143"/>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70" name="正方形/長方形 69">
            <a:extLst>
              <a:ext uri="{FF2B5EF4-FFF2-40B4-BE49-F238E27FC236}">
                <a16:creationId xmlns:a16="http://schemas.microsoft.com/office/drawing/2014/main" id="{AA940C40-DF44-AE2A-A290-390438DE5A35}"/>
              </a:ext>
            </a:extLst>
          </p:cNvPr>
          <p:cNvSpPr/>
          <p:nvPr/>
        </p:nvSpPr>
        <p:spPr>
          <a:xfrm>
            <a:off x="9609241" y="2178143"/>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80" name="正方形/長方形 79">
            <a:extLst>
              <a:ext uri="{FF2B5EF4-FFF2-40B4-BE49-F238E27FC236}">
                <a16:creationId xmlns:a16="http://schemas.microsoft.com/office/drawing/2014/main" id="{9FC61EDA-FA80-577C-50F9-B517B4D4D542}"/>
              </a:ext>
            </a:extLst>
          </p:cNvPr>
          <p:cNvSpPr/>
          <p:nvPr/>
        </p:nvSpPr>
        <p:spPr>
          <a:xfrm>
            <a:off x="10434284" y="2178143"/>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89" name="正方形/長方形 88">
            <a:extLst>
              <a:ext uri="{FF2B5EF4-FFF2-40B4-BE49-F238E27FC236}">
                <a16:creationId xmlns:a16="http://schemas.microsoft.com/office/drawing/2014/main" id="{F9D10752-4937-0966-F31F-80287D135930}"/>
              </a:ext>
            </a:extLst>
          </p:cNvPr>
          <p:cNvSpPr/>
          <p:nvPr/>
        </p:nvSpPr>
        <p:spPr>
          <a:xfrm>
            <a:off x="11259327" y="2178143"/>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32" name="正方形/長方形 31">
            <a:extLst>
              <a:ext uri="{FF2B5EF4-FFF2-40B4-BE49-F238E27FC236}">
                <a16:creationId xmlns:a16="http://schemas.microsoft.com/office/drawing/2014/main" id="{6C8FD3BC-4BEC-E023-326E-988E44C6F0FC}"/>
              </a:ext>
            </a:extLst>
          </p:cNvPr>
          <p:cNvSpPr/>
          <p:nvPr/>
        </p:nvSpPr>
        <p:spPr>
          <a:xfrm>
            <a:off x="6309063" y="3757719"/>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42" name="正方形/長方形 41">
            <a:extLst>
              <a:ext uri="{FF2B5EF4-FFF2-40B4-BE49-F238E27FC236}">
                <a16:creationId xmlns:a16="http://schemas.microsoft.com/office/drawing/2014/main" id="{88D2F268-4B7A-4B11-1D2C-2579D5AE02FD}"/>
              </a:ext>
            </a:extLst>
          </p:cNvPr>
          <p:cNvSpPr/>
          <p:nvPr/>
        </p:nvSpPr>
        <p:spPr>
          <a:xfrm>
            <a:off x="7134107" y="3757719"/>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52" name="正方形/長方形 51">
            <a:extLst>
              <a:ext uri="{FF2B5EF4-FFF2-40B4-BE49-F238E27FC236}">
                <a16:creationId xmlns:a16="http://schemas.microsoft.com/office/drawing/2014/main" id="{414C6AB7-DB9E-A8B3-524C-1B8C556E2445}"/>
              </a:ext>
            </a:extLst>
          </p:cNvPr>
          <p:cNvSpPr/>
          <p:nvPr/>
        </p:nvSpPr>
        <p:spPr>
          <a:xfrm>
            <a:off x="7959152" y="3757719"/>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62" name="正方形/長方形 61">
            <a:extLst>
              <a:ext uri="{FF2B5EF4-FFF2-40B4-BE49-F238E27FC236}">
                <a16:creationId xmlns:a16="http://schemas.microsoft.com/office/drawing/2014/main" id="{BB76459D-1D19-D0D2-0FC3-EB19CFD651BF}"/>
              </a:ext>
            </a:extLst>
          </p:cNvPr>
          <p:cNvSpPr/>
          <p:nvPr/>
        </p:nvSpPr>
        <p:spPr>
          <a:xfrm>
            <a:off x="8784196" y="3757719"/>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72" name="正方形/長方形 71">
            <a:extLst>
              <a:ext uri="{FF2B5EF4-FFF2-40B4-BE49-F238E27FC236}">
                <a16:creationId xmlns:a16="http://schemas.microsoft.com/office/drawing/2014/main" id="{05A728F5-E0F4-275F-41A2-3276B076DB2B}"/>
              </a:ext>
            </a:extLst>
          </p:cNvPr>
          <p:cNvSpPr/>
          <p:nvPr/>
        </p:nvSpPr>
        <p:spPr>
          <a:xfrm>
            <a:off x="9609241" y="3757719"/>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indent="-449263" algn="ctr" fontAlgn="base">
              <a:spcBef>
                <a:spcPct val="0"/>
              </a:spcBef>
              <a:spcAft>
                <a:spcPct val="0"/>
              </a:spcAf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82" name="正方形/長方形 81">
            <a:extLst>
              <a:ext uri="{FF2B5EF4-FFF2-40B4-BE49-F238E27FC236}">
                <a16:creationId xmlns:a16="http://schemas.microsoft.com/office/drawing/2014/main" id="{9910F789-0FD7-B4BA-1DD5-A2BD0B793CDA}"/>
              </a:ext>
            </a:extLst>
          </p:cNvPr>
          <p:cNvSpPr/>
          <p:nvPr/>
        </p:nvSpPr>
        <p:spPr>
          <a:xfrm>
            <a:off x="10434284" y="3757719"/>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1" name="正方形/長方形 90">
            <a:extLst>
              <a:ext uri="{FF2B5EF4-FFF2-40B4-BE49-F238E27FC236}">
                <a16:creationId xmlns:a16="http://schemas.microsoft.com/office/drawing/2014/main" id="{C2A064BB-2C5C-9808-5679-DBBD230A5AF8}"/>
              </a:ext>
            </a:extLst>
          </p:cNvPr>
          <p:cNvSpPr/>
          <p:nvPr/>
        </p:nvSpPr>
        <p:spPr>
          <a:xfrm>
            <a:off x="11259327" y="3757719"/>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35" name="正方形/長方形 34">
            <a:extLst>
              <a:ext uri="{FF2B5EF4-FFF2-40B4-BE49-F238E27FC236}">
                <a16:creationId xmlns:a16="http://schemas.microsoft.com/office/drawing/2014/main" id="{B208EA19-DFBE-99D4-C879-C986D2E9F0E1}"/>
              </a:ext>
            </a:extLst>
          </p:cNvPr>
          <p:cNvSpPr/>
          <p:nvPr/>
        </p:nvSpPr>
        <p:spPr>
          <a:xfrm>
            <a:off x="6309063" y="4547507"/>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45" name="正方形/長方形 44">
            <a:extLst>
              <a:ext uri="{FF2B5EF4-FFF2-40B4-BE49-F238E27FC236}">
                <a16:creationId xmlns:a16="http://schemas.microsoft.com/office/drawing/2014/main" id="{75672203-005B-BAE4-FFAE-29DC7BDE2139}"/>
              </a:ext>
            </a:extLst>
          </p:cNvPr>
          <p:cNvSpPr/>
          <p:nvPr/>
        </p:nvSpPr>
        <p:spPr>
          <a:xfrm>
            <a:off x="7134107" y="4547507"/>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55" name="正方形/長方形 54">
            <a:extLst>
              <a:ext uri="{FF2B5EF4-FFF2-40B4-BE49-F238E27FC236}">
                <a16:creationId xmlns:a16="http://schemas.microsoft.com/office/drawing/2014/main" id="{DC193AF2-4ADF-D3FD-1D31-5D27B0514FAA}"/>
              </a:ext>
            </a:extLst>
          </p:cNvPr>
          <p:cNvSpPr/>
          <p:nvPr/>
        </p:nvSpPr>
        <p:spPr>
          <a:xfrm>
            <a:off x="7959152" y="4547507"/>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65" name="正方形/長方形 64">
            <a:extLst>
              <a:ext uri="{FF2B5EF4-FFF2-40B4-BE49-F238E27FC236}">
                <a16:creationId xmlns:a16="http://schemas.microsoft.com/office/drawing/2014/main" id="{2D461ECC-B994-76B7-6FF9-711717A89DA5}"/>
              </a:ext>
            </a:extLst>
          </p:cNvPr>
          <p:cNvSpPr/>
          <p:nvPr/>
        </p:nvSpPr>
        <p:spPr>
          <a:xfrm>
            <a:off x="8784196" y="4547507"/>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75" name="正方形/長方形 74">
            <a:extLst>
              <a:ext uri="{FF2B5EF4-FFF2-40B4-BE49-F238E27FC236}">
                <a16:creationId xmlns:a16="http://schemas.microsoft.com/office/drawing/2014/main" id="{A9E1C4F1-8155-FD85-A43F-65162EF85935}"/>
              </a:ext>
            </a:extLst>
          </p:cNvPr>
          <p:cNvSpPr/>
          <p:nvPr/>
        </p:nvSpPr>
        <p:spPr>
          <a:xfrm>
            <a:off x="9609241" y="4547507"/>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85" name="正方形/長方形 84">
            <a:extLst>
              <a:ext uri="{FF2B5EF4-FFF2-40B4-BE49-F238E27FC236}">
                <a16:creationId xmlns:a16="http://schemas.microsoft.com/office/drawing/2014/main" id="{F9EC8150-E04F-3E2B-8475-88D5E2E56767}"/>
              </a:ext>
            </a:extLst>
          </p:cNvPr>
          <p:cNvSpPr/>
          <p:nvPr/>
        </p:nvSpPr>
        <p:spPr>
          <a:xfrm>
            <a:off x="10434284" y="4547507"/>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94" name="正方形/長方形 93">
            <a:extLst>
              <a:ext uri="{FF2B5EF4-FFF2-40B4-BE49-F238E27FC236}">
                <a16:creationId xmlns:a16="http://schemas.microsoft.com/office/drawing/2014/main" id="{922E0018-CC39-1523-7B2C-7C94687CBC46}"/>
              </a:ext>
            </a:extLst>
          </p:cNvPr>
          <p:cNvSpPr/>
          <p:nvPr/>
        </p:nvSpPr>
        <p:spPr>
          <a:xfrm>
            <a:off x="11259327" y="4547507"/>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36" name="正方形/長方形 35">
            <a:extLst>
              <a:ext uri="{FF2B5EF4-FFF2-40B4-BE49-F238E27FC236}">
                <a16:creationId xmlns:a16="http://schemas.microsoft.com/office/drawing/2014/main" id="{38B6977E-7540-5070-D343-288A79E9E0F7}"/>
              </a:ext>
            </a:extLst>
          </p:cNvPr>
          <p:cNvSpPr/>
          <p:nvPr/>
        </p:nvSpPr>
        <p:spPr>
          <a:xfrm>
            <a:off x="6309063" y="2967931"/>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46" name="正方形/長方形 45">
            <a:extLst>
              <a:ext uri="{FF2B5EF4-FFF2-40B4-BE49-F238E27FC236}">
                <a16:creationId xmlns:a16="http://schemas.microsoft.com/office/drawing/2014/main" id="{C38DCE83-139F-3838-A39D-8BB11792EC3F}"/>
              </a:ext>
            </a:extLst>
          </p:cNvPr>
          <p:cNvSpPr/>
          <p:nvPr/>
        </p:nvSpPr>
        <p:spPr>
          <a:xfrm>
            <a:off x="7134107" y="2967931"/>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56" name="正方形/長方形 55">
            <a:extLst>
              <a:ext uri="{FF2B5EF4-FFF2-40B4-BE49-F238E27FC236}">
                <a16:creationId xmlns:a16="http://schemas.microsoft.com/office/drawing/2014/main" id="{0AF6E4EE-BB09-329C-1332-BB5C49A718EE}"/>
              </a:ext>
            </a:extLst>
          </p:cNvPr>
          <p:cNvSpPr/>
          <p:nvPr/>
        </p:nvSpPr>
        <p:spPr>
          <a:xfrm>
            <a:off x="7959152" y="2967931"/>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lang="en-US" altLang="zh-TW" sz="1200">
                <a:solidFill>
                  <a:srgbClr val="000000">
                    <a:lumMod val="65000"/>
                    <a:lumOff val="35000"/>
                  </a:srgbClr>
                </a:solidFill>
                <a:latin typeface="Meiryo UI" panose="020B0604030504040204" pitchFamily="50" charset="-128"/>
                <a:ea typeface="Meiryo UI" panose="020B0604030504040204" pitchFamily="50"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66" name="正方形/長方形 65">
            <a:extLst>
              <a:ext uri="{FF2B5EF4-FFF2-40B4-BE49-F238E27FC236}">
                <a16:creationId xmlns:a16="http://schemas.microsoft.com/office/drawing/2014/main" id="{4649D742-D421-DC65-DE3A-C482B59E7B77}"/>
              </a:ext>
            </a:extLst>
          </p:cNvPr>
          <p:cNvSpPr/>
          <p:nvPr/>
        </p:nvSpPr>
        <p:spPr>
          <a:xfrm>
            <a:off x="8784196" y="2967931"/>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76" name="正方形/長方形 75">
            <a:extLst>
              <a:ext uri="{FF2B5EF4-FFF2-40B4-BE49-F238E27FC236}">
                <a16:creationId xmlns:a16="http://schemas.microsoft.com/office/drawing/2014/main" id="{FA29196F-9F0A-9610-069A-BF37C1B24F6C}"/>
              </a:ext>
            </a:extLst>
          </p:cNvPr>
          <p:cNvSpPr/>
          <p:nvPr/>
        </p:nvSpPr>
        <p:spPr>
          <a:xfrm>
            <a:off x="9609241" y="2967931"/>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86" name="正方形/長方形 85">
            <a:extLst>
              <a:ext uri="{FF2B5EF4-FFF2-40B4-BE49-F238E27FC236}">
                <a16:creationId xmlns:a16="http://schemas.microsoft.com/office/drawing/2014/main" id="{20EAD471-D88F-7165-177D-089A45207DF9}"/>
              </a:ext>
            </a:extLst>
          </p:cNvPr>
          <p:cNvSpPr/>
          <p:nvPr/>
        </p:nvSpPr>
        <p:spPr>
          <a:xfrm>
            <a:off x="10434284" y="2967931"/>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95" name="正方形/長方形 94">
            <a:extLst>
              <a:ext uri="{FF2B5EF4-FFF2-40B4-BE49-F238E27FC236}">
                <a16:creationId xmlns:a16="http://schemas.microsoft.com/office/drawing/2014/main" id="{FBD67058-FC89-C86F-DE38-581CCBB135C5}"/>
              </a:ext>
            </a:extLst>
          </p:cNvPr>
          <p:cNvSpPr/>
          <p:nvPr/>
        </p:nvSpPr>
        <p:spPr>
          <a:xfrm>
            <a:off x="11259327" y="2967931"/>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99" name="テキスト ボックス 98">
            <a:extLst>
              <a:ext uri="{FF2B5EF4-FFF2-40B4-BE49-F238E27FC236}">
                <a16:creationId xmlns:a16="http://schemas.microsoft.com/office/drawing/2014/main" id="{C70ADDA6-C225-414F-9C53-6BC43CBBDC80}"/>
              </a:ext>
            </a:extLst>
          </p:cNvPr>
          <p:cNvSpPr txBox="1">
            <a:spLocks noChangeArrowheads="1"/>
          </p:cNvSpPr>
          <p:nvPr/>
        </p:nvSpPr>
        <p:spPr bwMode="auto">
          <a:xfrm>
            <a:off x="1979340" y="1745218"/>
            <a:ext cx="4230768"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要求事項</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00" name="直線コネクタ 99">
            <a:extLst>
              <a:ext uri="{FF2B5EF4-FFF2-40B4-BE49-F238E27FC236}">
                <a16:creationId xmlns:a16="http://schemas.microsoft.com/office/drawing/2014/main" id="{9CFFEF92-83E2-6D51-EABC-805F491D88DC}"/>
              </a:ext>
            </a:extLst>
          </p:cNvPr>
          <p:cNvCxnSpPr/>
          <p:nvPr/>
        </p:nvCxnSpPr>
        <p:spPr bwMode="auto">
          <a:xfrm>
            <a:off x="1979340" y="2102057"/>
            <a:ext cx="4230768"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3" name="正方形/長方形 12">
            <a:extLst>
              <a:ext uri="{FF2B5EF4-FFF2-40B4-BE49-F238E27FC236}">
                <a16:creationId xmlns:a16="http://schemas.microsoft.com/office/drawing/2014/main" id="{72F5D984-13E1-76F8-2C45-BEDE20BF0D02}"/>
              </a:ext>
            </a:extLst>
          </p:cNvPr>
          <p:cNvSpPr/>
          <p:nvPr/>
        </p:nvSpPr>
        <p:spPr>
          <a:xfrm>
            <a:off x="1948696" y="2178143"/>
            <a:ext cx="4278582" cy="720000"/>
          </a:xfrm>
          <a:prstGeom prst="rect">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l"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SAP</a:t>
            </a: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に支払処理機能を集約する</a:t>
            </a:r>
          </a:p>
        </p:txBody>
      </p:sp>
      <p:sp>
        <p:nvSpPr>
          <p:cNvPr id="17" name="正方形/長方形 16">
            <a:extLst>
              <a:ext uri="{FF2B5EF4-FFF2-40B4-BE49-F238E27FC236}">
                <a16:creationId xmlns:a16="http://schemas.microsoft.com/office/drawing/2014/main" id="{23378AAE-25A7-D503-2585-BFC237D412F9}"/>
              </a:ext>
            </a:extLst>
          </p:cNvPr>
          <p:cNvSpPr/>
          <p:nvPr/>
        </p:nvSpPr>
        <p:spPr>
          <a:xfrm>
            <a:off x="1948696" y="3757719"/>
            <a:ext cx="4278582" cy="720000"/>
          </a:xfrm>
          <a:prstGeom prst="rect">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l"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・マスタ管理システムで発番・管理されるパートナー情報を</a:t>
            </a:r>
            <a:endPar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a:p>
            <a:pPr marL="449263" marR="0" lvl="0" indent="-449263" algn="l" defTabSz="914400" rtl="0" eaLnBrk="1" fontAlgn="base" latinLnBrk="0" hangingPunct="1">
              <a:lnSpc>
                <a:spcPct val="100000"/>
              </a:lnSpc>
              <a:spcBef>
                <a:spcPct val="0"/>
              </a:spcBef>
              <a:spcAft>
                <a:spcPct val="0"/>
              </a:spcAft>
              <a:buClrTx/>
              <a:buSzTx/>
              <a:buFontTx/>
              <a:buNone/>
              <a:tabLst/>
              <a:defRPr/>
            </a:pPr>
            <a:r>
              <a:rPr lang="ja-JP" altLang="en-US" sz="1200">
                <a:solidFill>
                  <a:srgbClr val="000000">
                    <a:lumMod val="65000"/>
                    <a:lumOff val="35000"/>
                  </a:srgbClr>
                </a:solidFill>
                <a:latin typeface="Meiryo UI" panose="020B0604030504040204" pitchFamily="50" charset="-128"/>
                <a:ea typeface="Meiryo UI" panose="020B0604030504040204" pitchFamily="50" charset="-128"/>
              </a:rPr>
              <a:t>　</a:t>
            </a: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購買フロントシステムで利用できること</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23" name="正方形/長方形 22">
            <a:extLst>
              <a:ext uri="{FF2B5EF4-FFF2-40B4-BE49-F238E27FC236}">
                <a16:creationId xmlns:a16="http://schemas.microsoft.com/office/drawing/2014/main" id="{A3AC8373-AB5F-D6AC-037E-45B62357DA98}"/>
              </a:ext>
            </a:extLst>
          </p:cNvPr>
          <p:cNvSpPr/>
          <p:nvPr/>
        </p:nvSpPr>
        <p:spPr>
          <a:xfrm>
            <a:off x="1948696" y="4547507"/>
            <a:ext cx="4278582" cy="720000"/>
          </a:xfrm>
          <a:prstGeom prst="rect">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l"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・勘定科目マスタを廃止し、仕訳の元データを連携できるようにする</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25" name="正方形/長方形 24">
            <a:extLst>
              <a:ext uri="{FF2B5EF4-FFF2-40B4-BE49-F238E27FC236}">
                <a16:creationId xmlns:a16="http://schemas.microsoft.com/office/drawing/2014/main" id="{D22B3E8E-B9A5-E1E2-7780-66C29578B7C4}"/>
              </a:ext>
            </a:extLst>
          </p:cNvPr>
          <p:cNvSpPr/>
          <p:nvPr/>
        </p:nvSpPr>
        <p:spPr>
          <a:xfrm>
            <a:off x="1948696" y="2967931"/>
            <a:ext cx="4278582" cy="720000"/>
          </a:xfrm>
          <a:prstGeom prst="rect">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l"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・適切なフローで固定資産の新規取得の申請を行い、</a:t>
            </a:r>
            <a:endPar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a:p>
            <a:pPr marL="449263" marR="0" lvl="0" indent="-449263" algn="l" defTabSz="914400" rtl="0" eaLnBrk="1" fontAlgn="base" latinLnBrk="0" hangingPunct="1">
              <a:lnSpc>
                <a:spcPct val="100000"/>
              </a:lnSpc>
              <a:spcBef>
                <a:spcPct val="0"/>
              </a:spcBef>
              <a:spcAft>
                <a:spcPct val="0"/>
              </a:spcAft>
              <a:buClrTx/>
              <a:buSzTx/>
              <a:buFontTx/>
              <a:buNone/>
              <a:tabLst/>
              <a:defRPr/>
            </a:pPr>
            <a:r>
              <a:rPr lang="ja-JP" altLang="en-US" sz="1200">
                <a:solidFill>
                  <a:srgbClr val="000000">
                    <a:lumMod val="65000"/>
                    <a:lumOff val="35000"/>
                  </a:srgbClr>
                </a:solidFill>
                <a:latin typeface="Meiryo UI" panose="020B0604030504040204" pitchFamily="50" charset="-128"/>
                <a:ea typeface="Meiryo UI" panose="020B0604030504040204" pitchFamily="50" charset="-128"/>
              </a:rPr>
              <a:t>　</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SAP</a:t>
            </a: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へ連携する</a:t>
            </a:r>
            <a:endPar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117" name="正方形/長方形 116">
            <a:extLst>
              <a:ext uri="{FF2B5EF4-FFF2-40B4-BE49-F238E27FC236}">
                <a16:creationId xmlns:a16="http://schemas.microsoft.com/office/drawing/2014/main" id="{A80B2FF7-7427-4B40-DF05-8E26F877FB25}"/>
              </a:ext>
            </a:extLst>
          </p:cNvPr>
          <p:cNvSpPr/>
          <p:nvPr/>
        </p:nvSpPr>
        <p:spPr>
          <a:xfrm>
            <a:off x="1948696" y="5337295"/>
            <a:ext cx="4278582" cy="720000"/>
          </a:xfrm>
          <a:prstGeom prst="rect">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l"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・周辺システム要求定義書に記載の無い要求</a:t>
            </a:r>
            <a:endParaRPr lang="en-US" altLang="ja-JP" sz="1200">
              <a:solidFill>
                <a:srgbClr val="000000">
                  <a:lumMod val="65000"/>
                  <a:lumOff val="35000"/>
                </a:srgbClr>
              </a:solidFill>
              <a:latin typeface="Meiryo UI" panose="020B0604030504040204" pitchFamily="50" charset="-128"/>
              <a:ea typeface="Meiryo UI" panose="020B0604030504040204" pitchFamily="50" charset="-128"/>
            </a:endParaRPr>
          </a:p>
          <a:p>
            <a:pPr marL="449263" marR="0" lvl="0" indent="-449263" algn="l" defTabSz="914400" rtl="0" eaLnBrk="1" fontAlgn="base" latinLnBrk="0" hangingPunct="1">
              <a:lnSpc>
                <a:spcPct val="100000"/>
              </a:lnSpc>
              <a:spcBef>
                <a:spcPct val="0"/>
              </a:spcBef>
              <a:spcAft>
                <a:spcPct val="0"/>
              </a:spcAft>
              <a:buClrTx/>
              <a:buSzTx/>
              <a:buFontTx/>
              <a:buNone/>
              <a:tabLst/>
              <a:defRPr/>
            </a:pPr>
            <a:r>
              <a:rPr lang="ja-JP" altLang="en-US" sz="1200">
                <a:solidFill>
                  <a:srgbClr val="000000">
                    <a:lumMod val="65000"/>
                    <a:lumOff val="35000"/>
                  </a:srgbClr>
                </a:solidFill>
                <a:latin typeface="Meiryo UI" panose="020B0604030504040204" pitchFamily="50" charset="-128"/>
                <a:ea typeface="Meiryo UI" panose="020B0604030504040204" pitchFamily="50" charset="-128"/>
              </a:rPr>
              <a:t>（</a:t>
            </a:r>
            <a:r>
              <a:rPr lang="en-US" altLang="ja-JP" sz="1200">
                <a:solidFill>
                  <a:srgbClr val="000000">
                    <a:lumMod val="65000"/>
                    <a:lumOff val="35000"/>
                  </a:srgbClr>
                </a:solidFill>
                <a:latin typeface="Meiryo UI" panose="020B0604030504040204" pitchFamily="50" charset="-128"/>
                <a:ea typeface="Meiryo UI" panose="020B0604030504040204" pitchFamily="50" charset="-128"/>
              </a:rPr>
              <a:t>JKK</a:t>
            </a:r>
            <a:r>
              <a:rPr lang="ja-JP" altLang="en-US" sz="1200">
                <a:solidFill>
                  <a:srgbClr val="000000">
                    <a:lumMod val="65000"/>
                    <a:lumOff val="35000"/>
                  </a:srgbClr>
                </a:solidFill>
                <a:latin typeface="Meiryo UI" panose="020B0604030504040204" pitchFamily="50" charset="-128"/>
                <a:ea typeface="Meiryo UI" panose="020B0604030504040204" pitchFamily="50" charset="-128"/>
              </a:rPr>
              <a:t>本線から直接提示された要求）</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101" name="テキスト ボックス 100">
            <a:extLst>
              <a:ext uri="{FF2B5EF4-FFF2-40B4-BE49-F238E27FC236}">
                <a16:creationId xmlns:a16="http://schemas.microsoft.com/office/drawing/2014/main" id="{D9695048-BCB8-8E23-551F-4021B5CF3A38}"/>
              </a:ext>
            </a:extLst>
          </p:cNvPr>
          <p:cNvSpPr txBox="1">
            <a:spLocks noChangeArrowheads="1"/>
          </p:cNvSpPr>
          <p:nvPr/>
        </p:nvSpPr>
        <p:spPr bwMode="auto">
          <a:xfrm>
            <a:off x="464024" y="1745218"/>
            <a:ext cx="1400048"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JKK</a:t>
            </a: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要求分類</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02" name="直線コネクタ 101">
            <a:extLst>
              <a:ext uri="{FF2B5EF4-FFF2-40B4-BE49-F238E27FC236}">
                <a16:creationId xmlns:a16="http://schemas.microsoft.com/office/drawing/2014/main" id="{3FE136B8-6CFE-747F-5FB5-3D7394565018}"/>
              </a:ext>
            </a:extLst>
          </p:cNvPr>
          <p:cNvCxnSpPr/>
          <p:nvPr/>
        </p:nvCxnSpPr>
        <p:spPr bwMode="auto">
          <a:xfrm>
            <a:off x="464024" y="2102057"/>
            <a:ext cx="1400048"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4" name="正方形/長方形 13">
            <a:extLst>
              <a:ext uri="{FF2B5EF4-FFF2-40B4-BE49-F238E27FC236}">
                <a16:creationId xmlns:a16="http://schemas.microsoft.com/office/drawing/2014/main" id="{BD3CD041-E24F-53BB-F279-E4EE861D6ED3}"/>
              </a:ext>
            </a:extLst>
          </p:cNvPr>
          <p:cNvSpPr/>
          <p:nvPr/>
        </p:nvSpPr>
        <p:spPr>
          <a:xfrm>
            <a:off x="435007" y="2178143"/>
            <a:ext cx="1455937" cy="720000"/>
          </a:xfrm>
          <a:prstGeom prst="rect">
            <a:avLst/>
          </a:prstGeom>
          <a:solidFill>
            <a:schemeClr val="accent6">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SAP</a:t>
            </a:r>
            <a:r>
              <a:rPr kumimoji="1" lang="ja-JP" altLang="en-US"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連携</a:t>
            </a:r>
          </a:p>
        </p:txBody>
      </p:sp>
      <p:sp>
        <p:nvSpPr>
          <p:cNvPr id="18" name="正方形/長方形 17">
            <a:extLst>
              <a:ext uri="{FF2B5EF4-FFF2-40B4-BE49-F238E27FC236}">
                <a16:creationId xmlns:a16="http://schemas.microsoft.com/office/drawing/2014/main" id="{2D39709D-1708-1D8C-E8FB-9984648F187D}"/>
              </a:ext>
            </a:extLst>
          </p:cNvPr>
          <p:cNvSpPr/>
          <p:nvPr/>
        </p:nvSpPr>
        <p:spPr>
          <a:xfrm>
            <a:off x="435006" y="3757719"/>
            <a:ext cx="1455937" cy="720000"/>
          </a:xfrm>
          <a:prstGeom prst="rect">
            <a:avLst/>
          </a:prstGeom>
          <a:solidFill>
            <a:schemeClr val="accent6">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取引先マスタ関連</a:t>
            </a:r>
          </a:p>
        </p:txBody>
      </p:sp>
      <p:sp>
        <p:nvSpPr>
          <p:cNvPr id="24" name="正方形/長方形 23">
            <a:extLst>
              <a:ext uri="{FF2B5EF4-FFF2-40B4-BE49-F238E27FC236}">
                <a16:creationId xmlns:a16="http://schemas.microsoft.com/office/drawing/2014/main" id="{CDE4EBE3-F1B9-48F2-3FD1-83B88F7612AC}"/>
              </a:ext>
            </a:extLst>
          </p:cNvPr>
          <p:cNvSpPr/>
          <p:nvPr/>
        </p:nvSpPr>
        <p:spPr>
          <a:xfrm>
            <a:off x="435006" y="4547507"/>
            <a:ext cx="1455937" cy="720000"/>
          </a:xfrm>
          <a:prstGeom prst="rect">
            <a:avLst/>
          </a:prstGeom>
          <a:solidFill>
            <a:schemeClr val="accent6">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勘定科目マスタ関連</a:t>
            </a:r>
          </a:p>
        </p:txBody>
      </p:sp>
      <p:sp>
        <p:nvSpPr>
          <p:cNvPr id="26" name="正方形/長方形 25">
            <a:extLst>
              <a:ext uri="{FF2B5EF4-FFF2-40B4-BE49-F238E27FC236}">
                <a16:creationId xmlns:a16="http://schemas.microsoft.com/office/drawing/2014/main" id="{398F3173-3F3C-9919-699E-7CA114085FFD}"/>
              </a:ext>
            </a:extLst>
          </p:cNvPr>
          <p:cNvSpPr/>
          <p:nvPr/>
        </p:nvSpPr>
        <p:spPr>
          <a:xfrm>
            <a:off x="435007" y="2967931"/>
            <a:ext cx="1455937" cy="720000"/>
          </a:xfrm>
          <a:prstGeom prst="rect">
            <a:avLst/>
          </a:prstGeom>
          <a:solidFill>
            <a:schemeClr val="accent6">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固定資産関連</a:t>
            </a:r>
          </a:p>
        </p:txBody>
      </p:sp>
      <p:sp>
        <p:nvSpPr>
          <p:cNvPr id="118" name="正方形/長方形 117">
            <a:extLst>
              <a:ext uri="{FF2B5EF4-FFF2-40B4-BE49-F238E27FC236}">
                <a16:creationId xmlns:a16="http://schemas.microsoft.com/office/drawing/2014/main" id="{1EDDFBA1-933F-C1D2-BD55-0E46E6F44422}"/>
              </a:ext>
            </a:extLst>
          </p:cNvPr>
          <p:cNvSpPr/>
          <p:nvPr/>
        </p:nvSpPr>
        <p:spPr>
          <a:xfrm>
            <a:off x="435006" y="5337295"/>
            <a:ext cx="1455937" cy="720000"/>
          </a:xfrm>
          <a:prstGeom prst="rect">
            <a:avLst/>
          </a:prstGeom>
          <a:solidFill>
            <a:schemeClr val="accent6">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lang="ja-JP" altLang="en-US" sz="1200" b="1">
                <a:solidFill>
                  <a:srgbClr val="FFFFFF"/>
                </a:solidFill>
                <a:latin typeface="Meiryo UI" panose="020B0604030504040204" pitchFamily="50" charset="-128"/>
                <a:ea typeface="Meiryo UI" panose="020B0604030504040204" pitchFamily="50" charset="-128"/>
              </a:rPr>
              <a:t>その他</a:t>
            </a:r>
            <a:endParaRPr kumimoji="1" lang="ja-JP" altLang="en-US"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19" name="正方形/長方形 118">
            <a:extLst>
              <a:ext uri="{FF2B5EF4-FFF2-40B4-BE49-F238E27FC236}">
                <a16:creationId xmlns:a16="http://schemas.microsoft.com/office/drawing/2014/main" id="{3A4B823D-3DCA-FBA6-9DC0-43071BDDDEB4}"/>
              </a:ext>
            </a:extLst>
          </p:cNvPr>
          <p:cNvSpPr/>
          <p:nvPr/>
        </p:nvSpPr>
        <p:spPr>
          <a:xfrm>
            <a:off x="6309063" y="5337295"/>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0" name="正方形/長方形 119">
            <a:extLst>
              <a:ext uri="{FF2B5EF4-FFF2-40B4-BE49-F238E27FC236}">
                <a16:creationId xmlns:a16="http://schemas.microsoft.com/office/drawing/2014/main" id="{BDD68D32-3E48-469E-7212-8CBFE7295C84}"/>
              </a:ext>
            </a:extLst>
          </p:cNvPr>
          <p:cNvSpPr/>
          <p:nvPr/>
        </p:nvSpPr>
        <p:spPr>
          <a:xfrm>
            <a:off x="7134107" y="5337295"/>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1" name="正方形/長方形 120">
            <a:extLst>
              <a:ext uri="{FF2B5EF4-FFF2-40B4-BE49-F238E27FC236}">
                <a16:creationId xmlns:a16="http://schemas.microsoft.com/office/drawing/2014/main" id="{B53BA471-1D62-56E4-B2D1-FB18C09CA1CE}"/>
              </a:ext>
            </a:extLst>
          </p:cNvPr>
          <p:cNvSpPr/>
          <p:nvPr/>
        </p:nvSpPr>
        <p:spPr>
          <a:xfrm>
            <a:off x="7959152" y="5337295"/>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2" name="正方形/長方形 121">
            <a:extLst>
              <a:ext uri="{FF2B5EF4-FFF2-40B4-BE49-F238E27FC236}">
                <a16:creationId xmlns:a16="http://schemas.microsoft.com/office/drawing/2014/main" id="{3BB8088B-84F0-6C4C-A24A-7E37A329E07D}"/>
              </a:ext>
            </a:extLst>
          </p:cNvPr>
          <p:cNvSpPr/>
          <p:nvPr/>
        </p:nvSpPr>
        <p:spPr>
          <a:xfrm>
            <a:off x="8784196" y="5337295"/>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3" name="正方形/長方形 122">
            <a:extLst>
              <a:ext uri="{FF2B5EF4-FFF2-40B4-BE49-F238E27FC236}">
                <a16:creationId xmlns:a16="http://schemas.microsoft.com/office/drawing/2014/main" id="{29F23568-BC7A-109B-B6C7-3EAF2E6BFCD9}"/>
              </a:ext>
            </a:extLst>
          </p:cNvPr>
          <p:cNvSpPr/>
          <p:nvPr/>
        </p:nvSpPr>
        <p:spPr>
          <a:xfrm>
            <a:off x="9609241" y="5337295"/>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4" name="正方形/長方形 123">
            <a:extLst>
              <a:ext uri="{FF2B5EF4-FFF2-40B4-BE49-F238E27FC236}">
                <a16:creationId xmlns:a16="http://schemas.microsoft.com/office/drawing/2014/main" id="{5C35781B-78E0-C4E2-6874-E6B70F9C773D}"/>
              </a:ext>
            </a:extLst>
          </p:cNvPr>
          <p:cNvSpPr/>
          <p:nvPr/>
        </p:nvSpPr>
        <p:spPr>
          <a:xfrm>
            <a:off x="10434284" y="5337295"/>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5" name="正方形/長方形 124">
            <a:extLst>
              <a:ext uri="{FF2B5EF4-FFF2-40B4-BE49-F238E27FC236}">
                <a16:creationId xmlns:a16="http://schemas.microsoft.com/office/drawing/2014/main" id="{E7C4D3C4-F214-85F2-737A-13EC8906AB14}"/>
              </a:ext>
            </a:extLst>
          </p:cNvPr>
          <p:cNvSpPr/>
          <p:nvPr/>
        </p:nvSpPr>
        <p:spPr>
          <a:xfrm>
            <a:off x="11259327" y="5337295"/>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31" name="テキスト ボックス 130">
            <a:extLst>
              <a:ext uri="{FF2B5EF4-FFF2-40B4-BE49-F238E27FC236}">
                <a16:creationId xmlns:a16="http://schemas.microsoft.com/office/drawing/2014/main" id="{D2AD7BB5-F781-9057-DA07-9DE2DE0091B8}"/>
              </a:ext>
            </a:extLst>
          </p:cNvPr>
          <p:cNvSpPr txBox="1">
            <a:spLocks noChangeArrowheads="1"/>
          </p:cNvSpPr>
          <p:nvPr/>
        </p:nvSpPr>
        <p:spPr bwMode="auto">
          <a:xfrm>
            <a:off x="6320494" y="1447426"/>
            <a:ext cx="5646364" cy="23083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周辺システム</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32" name="直線コネクタ 131">
            <a:extLst>
              <a:ext uri="{FF2B5EF4-FFF2-40B4-BE49-F238E27FC236}">
                <a16:creationId xmlns:a16="http://schemas.microsoft.com/office/drawing/2014/main" id="{A106A17C-234E-7654-AD7B-53494D9B360E}"/>
              </a:ext>
            </a:extLst>
          </p:cNvPr>
          <p:cNvCxnSpPr/>
          <p:nvPr/>
        </p:nvCxnSpPr>
        <p:spPr bwMode="auto">
          <a:xfrm>
            <a:off x="6320494" y="1673199"/>
            <a:ext cx="564636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3" name="コンテンツ プレースホルダー 5">
            <a:extLst>
              <a:ext uri="{FF2B5EF4-FFF2-40B4-BE49-F238E27FC236}">
                <a16:creationId xmlns:a16="http://schemas.microsoft.com/office/drawing/2014/main" id="{6EFE4C78-84F2-224B-83C9-AA4C139DFD0D}"/>
              </a:ext>
            </a:extLst>
          </p:cNvPr>
          <p:cNvSpPr txBox="1">
            <a:spLocks/>
          </p:cNvSpPr>
          <p:nvPr/>
        </p:nvSpPr>
        <p:spPr bwMode="auto">
          <a:xfrm>
            <a:off x="395851" y="622333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3331856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2">
            <a:extLst>
              <a:ext uri="{FF2B5EF4-FFF2-40B4-BE49-F238E27FC236}">
                <a16:creationId xmlns:a16="http://schemas.microsoft.com/office/drawing/2014/main" id="{5B49E356-76F0-BBF2-8FB2-FEAE63B0A04F}"/>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a:t>3. </a:t>
            </a:r>
            <a:r>
              <a:rPr lang="ja-JP" altLang="en-US" kern="0"/>
              <a:t>プロジェクトスコープ</a:t>
            </a:r>
          </a:p>
        </p:txBody>
      </p:sp>
      <p:grpSp>
        <p:nvGrpSpPr>
          <p:cNvPr id="4" name="グループ化 3">
            <a:extLst>
              <a:ext uri="{FF2B5EF4-FFF2-40B4-BE49-F238E27FC236}">
                <a16:creationId xmlns:a16="http://schemas.microsoft.com/office/drawing/2014/main" id="{8422BAD1-C69F-78C1-000E-867BA626C293}"/>
              </a:ext>
            </a:extLst>
          </p:cNvPr>
          <p:cNvGrpSpPr/>
          <p:nvPr/>
        </p:nvGrpSpPr>
        <p:grpSpPr>
          <a:xfrm>
            <a:off x="10498406" y="752033"/>
            <a:ext cx="1605632" cy="281359"/>
            <a:chOff x="10449854" y="628185"/>
            <a:chExt cx="1605632" cy="281359"/>
          </a:xfrm>
        </p:grpSpPr>
        <p:sp>
          <p:nvSpPr>
            <p:cNvPr id="2699" name="正方形/長方形 2698">
              <a:extLst>
                <a:ext uri="{FF2B5EF4-FFF2-40B4-BE49-F238E27FC236}">
                  <a16:creationId xmlns:a16="http://schemas.microsoft.com/office/drawing/2014/main" id="{FA47052E-0DEB-101B-727F-D4AE96A26FCC}"/>
                </a:ext>
              </a:extLst>
            </p:cNvPr>
            <p:cNvSpPr/>
            <p:nvPr/>
          </p:nvSpPr>
          <p:spPr bwMode="auto">
            <a:xfrm>
              <a:off x="11016195" y="628185"/>
              <a:ext cx="481757" cy="281359"/>
            </a:xfrm>
            <a:prstGeom prst="rect">
              <a:avLst/>
            </a:prstGeom>
            <a:solidFill>
              <a:schemeClr val="bg1">
                <a:lumMod val="95000"/>
              </a:schemeClr>
            </a:solidFill>
            <a:ln w="28575"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kumimoji="0" lang="ja-JP" altLang="en-US" sz="700" b="1">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基シス周辺</a:t>
              </a:r>
              <a:endParaRPr kumimoji="0" lang="en-US" altLang="ja-JP" sz="700" b="1">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a:p>
              <a:pPr algn="ctr"/>
              <a:r>
                <a:rPr kumimoji="0" lang="ja-JP" altLang="en-US" sz="700" b="1">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システム</a:t>
              </a:r>
              <a:endParaRPr kumimoji="0" lang="en-US" altLang="ja-JP" sz="700" b="1">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700" name="正方形/長方形 2699">
              <a:extLst>
                <a:ext uri="{FF2B5EF4-FFF2-40B4-BE49-F238E27FC236}">
                  <a16:creationId xmlns:a16="http://schemas.microsoft.com/office/drawing/2014/main" id="{54D61671-476A-7E2E-1953-A823B8AF05CD}"/>
                </a:ext>
              </a:extLst>
            </p:cNvPr>
            <p:cNvSpPr/>
            <p:nvPr/>
          </p:nvSpPr>
          <p:spPr bwMode="auto">
            <a:xfrm>
              <a:off x="11573729" y="628185"/>
              <a:ext cx="481757" cy="281359"/>
            </a:xfrm>
            <a:prstGeom prst="rect">
              <a:avLst/>
            </a:prstGeom>
            <a:solidFill>
              <a:schemeClr val="bg1">
                <a:lumMod val="95000"/>
              </a:schemeClr>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r>
                <a:rPr lang="ja-JP" altLang="en-US" sz="700" b="1">
                  <a:solidFill>
                    <a:srgbClr val="000000">
                      <a:lumMod val="65000"/>
                      <a:lumOff val="35000"/>
                    </a:srgbClr>
                  </a:solidFill>
                  <a:latin typeface="Meiryo UI"/>
                  <a:ea typeface="Meiryo UI"/>
                </a:rPr>
                <a:t>新システム</a:t>
              </a:r>
              <a:endParaRPr lang="en-US" altLang="ja-JP" sz="700" b="1">
                <a:solidFill>
                  <a:srgbClr val="000000">
                    <a:lumMod val="65000"/>
                    <a:lumOff val="35000"/>
                  </a:srgbClr>
                </a:solidFill>
                <a:latin typeface="Meiryo UI"/>
                <a:ea typeface="Meiryo UI"/>
              </a:endParaRPr>
            </a:p>
          </p:txBody>
        </p:sp>
        <p:sp>
          <p:nvSpPr>
            <p:cNvPr id="2701" name="正方形/長方形 2700">
              <a:extLst>
                <a:ext uri="{FF2B5EF4-FFF2-40B4-BE49-F238E27FC236}">
                  <a16:creationId xmlns:a16="http://schemas.microsoft.com/office/drawing/2014/main" id="{D86E2FC6-D080-DD9B-A5DE-81FF667084C0}"/>
                </a:ext>
              </a:extLst>
            </p:cNvPr>
            <p:cNvSpPr/>
            <p:nvPr/>
          </p:nvSpPr>
          <p:spPr>
            <a:xfrm>
              <a:off x="10449854" y="679452"/>
              <a:ext cx="662050" cy="17882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ja-JP" sz="1100" b="1">
                  <a:solidFill>
                    <a:srgbClr val="000000">
                      <a:lumMod val="75000"/>
                      <a:lumOff val="25000"/>
                    </a:srgbClr>
                  </a:solidFill>
                  <a:latin typeface="Meiryo UI" panose="020B0604030504040204" pitchFamily="50" charset="-128"/>
                  <a:ea typeface="Meiryo UI" panose="020B0604030504040204" pitchFamily="50" charset="-128"/>
                  <a:cs typeface="Hiragino Kaku Gothic Pro W3" charset="-128"/>
                </a:rPr>
                <a:t>【</a:t>
              </a:r>
              <a:r>
                <a:rPr lang="ja-JP" altLang="en-US" sz="1100" b="1">
                  <a:solidFill>
                    <a:srgbClr val="000000">
                      <a:lumMod val="75000"/>
                      <a:lumOff val="25000"/>
                    </a:srgbClr>
                  </a:solidFill>
                  <a:latin typeface="Meiryo UI" panose="020B0604030504040204" pitchFamily="50" charset="-128"/>
                  <a:ea typeface="Meiryo UI" panose="020B0604030504040204" pitchFamily="50" charset="-128"/>
                  <a:cs typeface="Hiragino Kaku Gothic Pro W3" charset="-128"/>
                </a:rPr>
                <a:t>凡例</a:t>
              </a:r>
              <a:r>
                <a:rPr lang="en-US" altLang="ja-JP" sz="1100" b="1">
                  <a:solidFill>
                    <a:srgbClr val="000000">
                      <a:lumMod val="75000"/>
                      <a:lumOff val="25000"/>
                    </a:srgbClr>
                  </a:solidFill>
                  <a:latin typeface="Meiryo UI" panose="020B0604030504040204" pitchFamily="50" charset="-128"/>
                  <a:ea typeface="Meiryo UI" panose="020B0604030504040204" pitchFamily="50" charset="-128"/>
                  <a:cs typeface="Hiragino Kaku Gothic Pro W3" charset="-128"/>
                </a:rPr>
                <a:t>】</a:t>
              </a:r>
              <a:endParaRPr kumimoji="1" lang="en-US" altLang="ja-JP" sz="11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grpSp>
      <p:sp>
        <p:nvSpPr>
          <p:cNvPr id="5" name="コンテンツ プレースホルダー 5">
            <a:extLst>
              <a:ext uri="{FF2B5EF4-FFF2-40B4-BE49-F238E27FC236}">
                <a16:creationId xmlns:a16="http://schemas.microsoft.com/office/drawing/2014/main" id="{B7CDB865-B687-4C83-17F9-CC90DDA6BB76}"/>
              </a:ext>
            </a:extLst>
          </p:cNvPr>
          <p:cNvSpPr txBox="1">
            <a:spLocks/>
          </p:cNvSpPr>
          <p:nvPr/>
        </p:nvSpPr>
        <p:spPr>
          <a:xfrm>
            <a:off x="211394" y="614837"/>
            <a:ext cx="11525251" cy="716050"/>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基シス周辺システム対応の対象となるシステム</a:t>
            </a:r>
            <a:r>
              <a:rPr lang="en-US" altLang="ja-JP" sz="1100" kern="0"/>
              <a:t>(</a:t>
            </a:r>
            <a:r>
              <a:rPr lang="ja-JP" altLang="en-US" sz="1100" kern="0"/>
              <a:t>赤枠</a:t>
            </a:r>
            <a:r>
              <a:rPr lang="en-US" altLang="ja-JP" sz="1100" kern="0"/>
              <a:t>)</a:t>
            </a:r>
            <a:r>
              <a:rPr lang="ja-JP" altLang="en-US" sz="1600" kern="0"/>
              <a:t>は、以下の通り</a:t>
            </a:r>
            <a:endParaRPr lang="en-US" altLang="ja-JP" sz="1200" kern="0">
              <a:solidFill>
                <a:srgbClr val="FF0000"/>
              </a:solidFill>
            </a:endParaRPr>
          </a:p>
        </p:txBody>
      </p:sp>
      <p:sp>
        <p:nvSpPr>
          <p:cNvPr id="6" name="コンテンツ プレースホルダー 5">
            <a:extLst>
              <a:ext uri="{FF2B5EF4-FFF2-40B4-BE49-F238E27FC236}">
                <a16:creationId xmlns:a16="http://schemas.microsoft.com/office/drawing/2014/main" id="{6D4DED65-E6F4-60B6-1487-F485A3ACB73A}"/>
              </a:ext>
            </a:extLst>
          </p:cNvPr>
          <p:cNvSpPr txBox="1">
            <a:spLocks/>
          </p:cNvSpPr>
          <p:nvPr/>
        </p:nvSpPr>
        <p:spPr bwMode="auto">
          <a:xfrm>
            <a:off x="153091" y="6429535"/>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 JKK</a:t>
            </a:r>
            <a:r>
              <a:rPr lang="ja-JP" altLang="en-US" sz="900" kern="0"/>
              <a:t>本線の「システム全体図」より、抜粋。周辺システム対象の不足分システムを追記</a:t>
            </a:r>
            <a:endParaRPr kumimoji="1" lang="en-US" altLang="ja-JP" sz="90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grpSp>
        <p:nvGrpSpPr>
          <p:cNvPr id="7" name="グループ化 6">
            <a:extLst>
              <a:ext uri="{FF2B5EF4-FFF2-40B4-BE49-F238E27FC236}">
                <a16:creationId xmlns:a16="http://schemas.microsoft.com/office/drawing/2014/main" id="{392C8A4D-7232-5249-E61F-22FD5A8283E4}"/>
              </a:ext>
            </a:extLst>
          </p:cNvPr>
          <p:cNvGrpSpPr/>
          <p:nvPr/>
        </p:nvGrpSpPr>
        <p:grpSpPr>
          <a:xfrm>
            <a:off x="911075" y="1310118"/>
            <a:ext cx="10384319" cy="5103435"/>
            <a:chOff x="391859" y="1130449"/>
            <a:chExt cx="11422749" cy="5417395"/>
          </a:xfrm>
        </p:grpSpPr>
        <p:grpSp>
          <p:nvGrpSpPr>
            <p:cNvPr id="10" name="グループ化 9">
              <a:extLst>
                <a:ext uri="{FF2B5EF4-FFF2-40B4-BE49-F238E27FC236}">
                  <a16:creationId xmlns:a16="http://schemas.microsoft.com/office/drawing/2014/main" id="{EAF1823F-709A-6271-6A70-4888343ADC0A}"/>
                </a:ext>
              </a:extLst>
            </p:cNvPr>
            <p:cNvGrpSpPr/>
            <p:nvPr/>
          </p:nvGrpSpPr>
          <p:grpSpPr>
            <a:xfrm>
              <a:off x="9043676" y="1922101"/>
              <a:ext cx="1458953" cy="460708"/>
              <a:chOff x="9043676" y="2040755"/>
              <a:chExt cx="1458953" cy="460708"/>
            </a:xfrm>
          </p:grpSpPr>
          <p:sp>
            <p:nvSpPr>
              <p:cNvPr id="3370" name="正方形/長方形 3369">
                <a:extLst>
                  <a:ext uri="{FF2B5EF4-FFF2-40B4-BE49-F238E27FC236}">
                    <a16:creationId xmlns:a16="http://schemas.microsoft.com/office/drawing/2014/main" id="{74076D2F-ADD2-1F69-219E-89A0174201C4}"/>
                  </a:ext>
                </a:extLst>
              </p:cNvPr>
              <p:cNvSpPr/>
              <p:nvPr/>
            </p:nvSpPr>
            <p:spPr>
              <a:xfrm>
                <a:off x="9043676" y="2040755"/>
                <a:ext cx="1458953" cy="46070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RINDBERG</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grpSp>
            <p:nvGrpSpPr>
              <p:cNvPr id="3371" name="グループ化 3370">
                <a:extLst>
                  <a:ext uri="{FF2B5EF4-FFF2-40B4-BE49-F238E27FC236}">
                    <a16:creationId xmlns:a16="http://schemas.microsoft.com/office/drawing/2014/main" id="{F4D65A79-F4A9-AC8E-9B4A-9A779A4AAF12}"/>
                  </a:ext>
                </a:extLst>
              </p:cNvPr>
              <p:cNvGrpSpPr/>
              <p:nvPr/>
            </p:nvGrpSpPr>
            <p:grpSpPr>
              <a:xfrm>
                <a:off x="9877598" y="2074034"/>
                <a:ext cx="555850" cy="394151"/>
                <a:chOff x="9877598" y="2091474"/>
                <a:chExt cx="555850" cy="394151"/>
              </a:xfrm>
            </p:grpSpPr>
            <p:sp>
              <p:nvSpPr>
                <p:cNvPr id="3372" name="正方形/長方形 3371">
                  <a:extLst>
                    <a:ext uri="{FF2B5EF4-FFF2-40B4-BE49-F238E27FC236}">
                      <a16:creationId xmlns:a16="http://schemas.microsoft.com/office/drawing/2014/main" id="{95859C6A-0A1A-B320-8FC6-4B0EDE74E6DD}"/>
                    </a:ext>
                  </a:extLst>
                </p:cNvPr>
                <p:cNvSpPr/>
                <p:nvPr/>
              </p:nvSpPr>
              <p:spPr bwMode="auto">
                <a:xfrm>
                  <a:off x="9877598" y="2231339"/>
                  <a:ext cx="555850" cy="114422"/>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原価按分</a:t>
                  </a:r>
                </a:p>
              </p:txBody>
            </p:sp>
            <p:sp>
              <p:nvSpPr>
                <p:cNvPr id="3373" name="正方形/長方形 3372">
                  <a:extLst>
                    <a:ext uri="{FF2B5EF4-FFF2-40B4-BE49-F238E27FC236}">
                      <a16:creationId xmlns:a16="http://schemas.microsoft.com/office/drawing/2014/main" id="{5C00D51D-666D-18D6-7093-D59A543FA586}"/>
                    </a:ext>
                  </a:extLst>
                </p:cNvPr>
                <p:cNvSpPr/>
                <p:nvPr/>
              </p:nvSpPr>
              <p:spPr bwMode="auto">
                <a:xfrm>
                  <a:off x="9877598" y="2091474"/>
                  <a:ext cx="555850" cy="114423"/>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収益按分</a:t>
                  </a:r>
                </a:p>
              </p:txBody>
            </p:sp>
            <p:sp>
              <p:nvSpPr>
                <p:cNvPr id="3374" name="正方形/長方形 3373">
                  <a:extLst>
                    <a:ext uri="{FF2B5EF4-FFF2-40B4-BE49-F238E27FC236}">
                      <a16:creationId xmlns:a16="http://schemas.microsoft.com/office/drawing/2014/main" id="{56B18755-B54A-895D-384C-247EB98D5744}"/>
                    </a:ext>
                  </a:extLst>
                </p:cNvPr>
                <p:cNvSpPr/>
                <p:nvPr/>
              </p:nvSpPr>
              <p:spPr bwMode="auto">
                <a:xfrm>
                  <a:off x="9877598" y="2371203"/>
                  <a:ext cx="555850" cy="114422"/>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販売手数料按分</a:t>
                  </a:r>
                </a:p>
              </p:txBody>
            </p:sp>
          </p:grpSp>
        </p:grpSp>
        <p:sp>
          <p:nvSpPr>
            <p:cNvPr id="11" name="正方形/長方形 10">
              <a:extLst>
                <a:ext uri="{FF2B5EF4-FFF2-40B4-BE49-F238E27FC236}">
                  <a16:creationId xmlns:a16="http://schemas.microsoft.com/office/drawing/2014/main" id="{D9578ABE-7A54-975A-7C63-BC6E3F320570}"/>
                </a:ext>
              </a:extLst>
            </p:cNvPr>
            <p:cNvSpPr/>
            <p:nvPr/>
          </p:nvSpPr>
          <p:spPr>
            <a:xfrm>
              <a:off x="5762381" y="5971018"/>
              <a:ext cx="3383295" cy="206025"/>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外部連携基盤</a:t>
              </a:r>
            </a:p>
          </p:txBody>
        </p:sp>
        <p:sp>
          <p:nvSpPr>
            <p:cNvPr id="12" name="正方形/長方形 11">
              <a:extLst>
                <a:ext uri="{FF2B5EF4-FFF2-40B4-BE49-F238E27FC236}">
                  <a16:creationId xmlns:a16="http://schemas.microsoft.com/office/drawing/2014/main" id="{9A4546F1-6C32-92B1-DBCB-AB19774C5815}"/>
                </a:ext>
              </a:extLst>
            </p:cNvPr>
            <p:cNvSpPr/>
            <p:nvPr/>
          </p:nvSpPr>
          <p:spPr>
            <a:xfrm>
              <a:off x="394786" y="1631438"/>
              <a:ext cx="277925" cy="2405457"/>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周辺（事業</a:t>
              </a: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PV</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システム群）</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15" name="正方形/長方形 14">
              <a:extLst>
                <a:ext uri="{FF2B5EF4-FFF2-40B4-BE49-F238E27FC236}">
                  <a16:creationId xmlns:a16="http://schemas.microsoft.com/office/drawing/2014/main" id="{CC2002B4-1E1A-5178-E92E-4B7900E23758}"/>
                </a:ext>
              </a:extLst>
            </p:cNvPr>
            <p:cNvSpPr/>
            <p:nvPr/>
          </p:nvSpPr>
          <p:spPr>
            <a:xfrm>
              <a:off x="1431143" y="3620917"/>
              <a:ext cx="2580560" cy="416529"/>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0" tIns="0" r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SYOGO7</a:t>
              </a:r>
            </a:p>
          </p:txBody>
        </p:sp>
        <p:sp>
          <p:nvSpPr>
            <p:cNvPr id="16" name="正方形/長方形 15">
              <a:extLst>
                <a:ext uri="{FF2B5EF4-FFF2-40B4-BE49-F238E27FC236}">
                  <a16:creationId xmlns:a16="http://schemas.microsoft.com/office/drawing/2014/main" id="{064C0F55-97A5-43B6-65F8-1ED8A5F15963}"/>
                </a:ext>
              </a:extLst>
            </p:cNvPr>
            <p:cNvSpPr/>
            <p:nvPr/>
          </p:nvSpPr>
          <p:spPr bwMode="auto">
            <a:xfrm>
              <a:off x="2132206" y="3769472"/>
              <a:ext cx="555851" cy="238017"/>
            </a:xfrm>
            <a:prstGeom prst="rect">
              <a:avLst/>
            </a:prstGeom>
            <a:solidFill>
              <a:srgbClr val="FFFFFF"/>
            </a:solidFill>
            <a:ln w="9525" cap="flat" cmpd="sng" algn="ctr">
              <a:solidFill>
                <a:srgbClr val="595959"/>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a:t>
              </a:r>
            </a:p>
          </p:txBody>
        </p:sp>
        <p:sp>
          <p:nvSpPr>
            <p:cNvPr id="19" name="正方形/長方形 18">
              <a:extLst>
                <a:ext uri="{FF2B5EF4-FFF2-40B4-BE49-F238E27FC236}">
                  <a16:creationId xmlns:a16="http://schemas.microsoft.com/office/drawing/2014/main" id="{F3628925-1367-67BA-20F2-1500C8609795}"/>
                </a:ext>
              </a:extLst>
            </p:cNvPr>
            <p:cNvSpPr/>
            <p:nvPr/>
          </p:nvSpPr>
          <p:spPr bwMode="auto">
            <a:xfrm>
              <a:off x="2761659" y="3769472"/>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請求</a:t>
              </a:r>
              <a:endPar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20" name="正方形/長方形 19">
              <a:extLst>
                <a:ext uri="{FF2B5EF4-FFF2-40B4-BE49-F238E27FC236}">
                  <a16:creationId xmlns:a16="http://schemas.microsoft.com/office/drawing/2014/main" id="{3605FB5E-143D-28D4-318C-685859F90DFF}"/>
                </a:ext>
              </a:extLst>
            </p:cNvPr>
            <p:cNvSpPr/>
            <p:nvPr/>
          </p:nvSpPr>
          <p:spPr bwMode="auto">
            <a:xfrm>
              <a:off x="3391114" y="3769472"/>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入金</a:t>
              </a:r>
            </a:p>
          </p:txBody>
        </p:sp>
        <p:sp>
          <p:nvSpPr>
            <p:cNvPr id="21" name="正方形/長方形 20">
              <a:extLst>
                <a:ext uri="{FF2B5EF4-FFF2-40B4-BE49-F238E27FC236}">
                  <a16:creationId xmlns:a16="http://schemas.microsoft.com/office/drawing/2014/main" id="{6FC62C86-B26A-0624-73EA-C065A1366DE8}"/>
                </a:ext>
              </a:extLst>
            </p:cNvPr>
            <p:cNvSpPr/>
            <p:nvPr/>
          </p:nvSpPr>
          <p:spPr>
            <a:xfrm>
              <a:off x="886899" y="1631438"/>
              <a:ext cx="3126660" cy="196723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事業</a:t>
              </a: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Neo/</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共用</a:t>
              </a: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Neo</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22" name="正方形/長方形 21">
              <a:extLst>
                <a:ext uri="{FF2B5EF4-FFF2-40B4-BE49-F238E27FC236}">
                  <a16:creationId xmlns:a16="http://schemas.microsoft.com/office/drawing/2014/main" id="{E88DE0C7-EAFE-B331-A1DA-06501D3B690F}"/>
                </a:ext>
              </a:extLst>
            </p:cNvPr>
            <p:cNvSpPr/>
            <p:nvPr/>
          </p:nvSpPr>
          <p:spPr>
            <a:xfrm>
              <a:off x="1092822" y="1815701"/>
              <a:ext cx="1320145" cy="83305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n-cs"/>
                </a:rPr>
                <a:t>Neo-HR</a:t>
              </a:r>
              <a:endParaRPr kumimoji="0" lang="ja-JP" altLang="en-US" sz="700" b="0" i="0" u="none" strike="noStrike" kern="0" cap="none" spc="0" normalizeH="0" baseline="0" noProof="0">
                <a:ln>
                  <a:noFill/>
                </a:ln>
                <a:solidFill>
                  <a:srgbClr val="000000"/>
                </a:solidFill>
                <a:effectLst/>
                <a:uLnTx/>
                <a:uFillTx/>
                <a:latin typeface="Meiryo UI"/>
                <a:ea typeface="Meiryo UI"/>
                <a:cs typeface="+mn-cs"/>
              </a:endParaRPr>
            </a:p>
          </p:txBody>
        </p:sp>
        <p:sp>
          <p:nvSpPr>
            <p:cNvPr id="23" name="正方形/長方形 22">
              <a:extLst>
                <a:ext uri="{FF2B5EF4-FFF2-40B4-BE49-F238E27FC236}">
                  <a16:creationId xmlns:a16="http://schemas.microsoft.com/office/drawing/2014/main" id="{089C721F-24DC-026D-A48F-1C665FBE9186}"/>
                </a:ext>
              </a:extLst>
            </p:cNvPr>
            <p:cNvSpPr/>
            <p:nvPr/>
          </p:nvSpPr>
          <p:spPr bwMode="auto">
            <a:xfrm>
              <a:off x="1171255" y="2182681"/>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納品完了</a:t>
              </a:r>
            </a:p>
          </p:txBody>
        </p:sp>
        <p:sp>
          <p:nvSpPr>
            <p:cNvPr id="24" name="正方形/長方形 23">
              <a:extLst>
                <a:ext uri="{FF2B5EF4-FFF2-40B4-BE49-F238E27FC236}">
                  <a16:creationId xmlns:a16="http://schemas.microsoft.com/office/drawing/2014/main" id="{37FD97E6-ED9C-B872-4FBA-DEEC305555D7}"/>
                </a:ext>
              </a:extLst>
            </p:cNvPr>
            <p:cNvSpPr/>
            <p:nvPr/>
          </p:nvSpPr>
          <p:spPr bwMode="auto">
            <a:xfrm>
              <a:off x="1171255" y="1953854"/>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受注</a:t>
              </a:r>
            </a:p>
          </p:txBody>
        </p:sp>
        <p:sp>
          <p:nvSpPr>
            <p:cNvPr id="25" name="正方形/長方形 24">
              <a:extLst>
                <a:ext uri="{FF2B5EF4-FFF2-40B4-BE49-F238E27FC236}">
                  <a16:creationId xmlns:a16="http://schemas.microsoft.com/office/drawing/2014/main" id="{3EDC84E7-D13E-2A5C-BC92-DECA6C20DF85}"/>
                </a:ext>
              </a:extLst>
            </p:cNvPr>
            <p:cNvSpPr/>
            <p:nvPr/>
          </p:nvSpPr>
          <p:spPr bwMode="auto">
            <a:xfrm>
              <a:off x="1778684" y="2182681"/>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原価管理</a:t>
              </a:r>
            </a:p>
          </p:txBody>
        </p:sp>
        <p:sp>
          <p:nvSpPr>
            <p:cNvPr id="26" name="正方形/長方形 25">
              <a:extLst>
                <a:ext uri="{FF2B5EF4-FFF2-40B4-BE49-F238E27FC236}">
                  <a16:creationId xmlns:a16="http://schemas.microsoft.com/office/drawing/2014/main" id="{4C142D0F-240E-BA57-D85C-8C7B5B242E5C}"/>
                </a:ext>
              </a:extLst>
            </p:cNvPr>
            <p:cNvSpPr/>
            <p:nvPr/>
          </p:nvSpPr>
          <p:spPr bwMode="auto">
            <a:xfrm>
              <a:off x="1778684" y="2411507"/>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rPr>
                <a:t>販売委託</a:t>
              </a:r>
              <a:br>
                <a:rPr kumimoji="0" lang="en-US" altLang="ja-JP" sz="500" b="0" i="0" u="none" strike="noStrike" kern="0" cap="none" spc="0" normalizeH="0" baseline="0" noProof="0">
                  <a:ln>
                    <a:noFill/>
                  </a:ln>
                  <a:solidFill>
                    <a:srgbClr val="000000"/>
                  </a:solidFill>
                  <a:effectLst/>
                  <a:uLnTx/>
                  <a:uFillTx/>
                  <a:latin typeface="Meiryo UI"/>
                  <a:ea typeface="Meiryo UI"/>
                </a:rPr>
              </a:br>
              <a:r>
                <a:rPr kumimoji="0" lang="ja-JP" altLang="en-US" sz="500" b="0" i="0" u="none" strike="noStrike" kern="0" cap="none" spc="0" normalizeH="0" baseline="0" noProof="0">
                  <a:ln>
                    <a:noFill/>
                  </a:ln>
                  <a:solidFill>
                    <a:srgbClr val="000000"/>
                  </a:solidFill>
                  <a:effectLst/>
                  <a:uLnTx/>
                  <a:uFillTx/>
                  <a:latin typeface="Meiryo UI"/>
                  <a:ea typeface="Meiryo UI"/>
                </a:rPr>
                <a:t>手数料計算</a:t>
              </a:r>
            </a:p>
          </p:txBody>
        </p:sp>
        <p:sp>
          <p:nvSpPr>
            <p:cNvPr id="27" name="正方形/長方形 26">
              <a:extLst>
                <a:ext uri="{FF2B5EF4-FFF2-40B4-BE49-F238E27FC236}">
                  <a16:creationId xmlns:a16="http://schemas.microsoft.com/office/drawing/2014/main" id="{66DD08C6-9433-CC45-E250-C29E216C423C}"/>
                </a:ext>
              </a:extLst>
            </p:cNvPr>
            <p:cNvSpPr/>
            <p:nvPr/>
          </p:nvSpPr>
          <p:spPr bwMode="auto">
            <a:xfrm>
              <a:off x="1171255" y="2411507"/>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請求</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28" name="正方形/長方形 27">
              <a:extLst>
                <a:ext uri="{FF2B5EF4-FFF2-40B4-BE49-F238E27FC236}">
                  <a16:creationId xmlns:a16="http://schemas.microsoft.com/office/drawing/2014/main" id="{D21F9C18-B30E-BA6E-0BE5-B0F7E5C758DE}"/>
                </a:ext>
              </a:extLst>
            </p:cNvPr>
            <p:cNvSpPr/>
            <p:nvPr/>
          </p:nvSpPr>
          <p:spPr bwMode="auto">
            <a:xfrm>
              <a:off x="1778684" y="1953854"/>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a:t>
              </a:r>
            </a:p>
          </p:txBody>
        </p:sp>
        <p:sp>
          <p:nvSpPr>
            <p:cNvPr id="29" name="正方形/長方形 28">
              <a:extLst>
                <a:ext uri="{FF2B5EF4-FFF2-40B4-BE49-F238E27FC236}">
                  <a16:creationId xmlns:a16="http://schemas.microsoft.com/office/drawing/2014/main" id="{075F0F10-5E51-361F-A1A0-10E48782B38F}"/>
                </a:ext>
              </a:extLst>
            </p:cNvPr>
            <p:cNvSpPr/>
            <p:nvPr/>
          </p:nvSpPr>
          <p:spPr>
            <a:xfrm>
              <a:off x="391859" y="5971018"/>
              <a:ext cx="277925" cy="482014"/>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周辺</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grpSp>
          <p:nvGrpSpPr>
            <p:cNvPr id="30" name="グループ化 29">
              <a:extLst>
                <a:ext uri="{FF2B5EF4-FFF2-40B4-BE49-F238E27FC236}">
                  <a16:creationId xmlns:a16="http://schemas.microsoft.com/office/drawing/2014/main" id="{381CAF35-1B02-470A-FB3D-5310271E19C6}"/>
                </a:ext>
              </a:extLst>
            </p:cNvPr>
            <p:cNvGrpSpPr/>
            <p:nvPr/>
          </p:nvGrpSpPr>
          <p:grpSpPr>
            <a:xfrm>
              <a:off x="887082" y="4185658"/>
              <a:ext cx="3126660" cy="183170"/>
              <a:chOff x="1883400" y="4285924"/>
              <a:chExt cx="3240000" cy="252000"/>
            </a:xfrm>
          </p:grpSpPr>
          <p:sp>
            <p:nvSpPr>
              <p:cNvPr id="3368" name="正方形/長方形 3367">
                <a:extLst>
                  <a:ext uri="{FF2B5EF4-FFF2-40B4-BE49-F238E27FC236}">
                    <a16:creationId xmlns:a16="http://schemas.microsoft.com/office/drawing/2014/main" id="{52ADB39F-D8F2-9125-122F-78FD5397CA9B}"/>
                  </a:ext>
                </a:extLst>
              </p:cNvPr>
              <p:cNvSpPr/>
              <p:nvPr/>
            </p:nvSpPr>
            <p:spPr>
              <a:xfrm>
                <a:off x="1883400" y="4285924"/>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OZ</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69" name="正方形/長方形 3368">
                <a:extLst>
                  <a:ext uri="{FF2B5EF4-FFF2-40B4-BE49-F238E27FC236}">
                    <a16:creationId xmlns:a16="http://schemas.microsoft.com/office/drawing/2014/main" id="{E0045BEF-0B9F-6A27-1199-F0EAD0BB0F01}"/>
                  </a:ext>
                </a:extLst>
              </p:cNvPr>
              <p:cNvSpPr/>
              <p:nvPr/>
            </p:nvSpPr>
            <p:spPr bwMode="auto">
              <a:xfrm>
                <a:off x="4485761" y="4321948"/>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支払依頼</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（制作原価）</a:t>
                </a:r>
              </a:p>
            </p:txBody>
          </p:sp>
        </p:grpSp>
        <p:grpSp>
          <p:nvGrpSpPr>
            <p:cNvPr id="31" name="グループ化 30">
              <a:extLst>
                <a:ext uri="{FF2B5EF4-FFF2-40B4-BE49-F238E27FC236}">
                  <a16:creationId xmlns:a16="http://schemas.microsoft.com/office/drawing/2014/main" id="{583C5352-BF8F-965B-D8E4-E85F9A13B950}"/>
                </a:ext>
              </a:extLst>
            </p:cNvPr>
            <p:cNvGrpSpPr/>
            <p:nvPr/>
          </p:nvGrpSpPr>
          <p:grpSpPr>
            <a:xfrm>
              <a:off x="886108" y="4396150"/>
              <a:ext cx="3126660" cy="318350"/>
              <a:chOff x="1883400" y="4617161"/>
              <a:chExt cx="3240000" cy="252000"/>
            </a:xfrm>
          </p:grpSpPr>
          <p:sp>
            <p:nvSpPr>
              <p:cNvPr id="3366" name="正方形/長方形 3365">
                <a:extLst>
                  <a:ext uri="{FF2B5EF4-FFF2-40B4-BE49-F238E27FC236}">
                    <a16:creationId xmlns:a16="http://schemas.microsoft.com/office/drawing/2014/main" id="{41DB9E9B-7457-BD25-FD00-B8C591C5A92E}"/>
                  </a:ext>
                </a:extLst>
              </p:cNvPr>
              <p:cNvSpPr/>
              <p:nvPr/>
            </p:nvSpPr>
            <p:spPr>
              <a:xfrm>
                <a:off x="1883400" y="4617161"/>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err="1">
                    <a:ln>
                      <a:noFill/>
                    </a:ln>
                    <a:solidFill>
                      <a:srgbClr val="000000"/>
                    </a:solidFill>
                    <a:effectLst/>
                    <a:uLnTx/>
                    <a:uFillTx/>
                    <a:latin typeface="Meiryo UI"/>
                    <a:ea typeface="Meiryo UI"/>
                    <a:cs typeface="Hiragino Kaku Gothic Pro W3" charset="-128"/>
                  </a:rPr>
                  <a:t>BtoB</a:t>
                </a:r>
                <a:r>
                  <a:rPr kumimoji="0" lang="ja-JP" altLang="en-US" sz="700" b="0" i="0" u="none" strike="noStrike" kern="0" cap="none" spc="0" normalizeH="0" baseline="0" noProof="0">
                    <a:ln>
                      <a:noFill/>
                    </a:ln>
                    <a:solidFill>
                      <a:srgbClr val="000000"/>
                    </a:solidFill>
                    <a:effectLst/>
                    <a:uLnTx/>
                    <a:uFillTx/>
                    <a:latin typeface="Meiryo UI"/>
                    <a:ea typeface="Meiryo UI"/>
                    <a:cs typeface="Hiragino Kaku Gothic Pro W3" charset="-128"/>
                  </a:rPr>
                  <a:t>請求書・</a:t>
                </a:r>
                <a:r>
                  <a:rPr kumimoji="0" lang="en-US" altLang="ja-JP" sz="700" b="0" i="0" u="none" strike="noStrike" kern="0" cap="none" spc="0" normalizeH="0" baseline="0" noProof="0">
                    <a:ln>
                      <a:noFill/>
                    </a:ln>
                    <a:solidFill>
                      <a:srgbClr val="000000"/>
                    </a:solidFill>
                    <a:effectLst/>
                    <a:uLnTx/>
                    <a:uFillTx/>
                    <a:latin typeface="Meiryo UI"/>
                    <a:ea typeface="Meiryo UI"/>
                    <a:cs typeface="Hiragino Kaku Gothic Pro W3" charset="-128"/>
                  </a:rPr>
                  <a:t>Concur</a:t>
                </a:r>
                <a:r>
                  <a:rPr kumimoji="0" lang="ja-JP" altLang="en-US" sz="700" b="0" i="0" u="none" strike="noStrike" kern="0" cap="none" spc="0" normalizeH="0" baseline="0" noProof="0">
                    <a:ln>
                      <a:noFill/>
                    </a:ln>
                    <a:solidFill>
                      <a:srgbClr val="000000"/>
                    </a:solidFill>
                    <a:effectLst/>
                    <a:uLnTx/>
                    <a:uFillTx/>
                    <a:latin typeface="Meiryo UI"/>
                    <a:ea typeface="Meiryo UI"/>
                    <a:cs typeface="Hiragino Kaku Gothic Pro W3" charset="-128"/>
                  </a:rPr>
                  <a:t> </a:t>
                </a:r>
                <a:r>
                  <a:rPr kumimoji="0" lang="en-US" altLang="ja-JP" sz="700" b="0" i="0" u="none" strike="noStrike" kern="0" cap="none" spc="0" normalizeH="0" baseline="0" noProof="0">
                    <a:ln>
                      <a:noFill/>
                    </a:ln>
                    <a:solidFill>
                      <a:srgbClr val="000000"/>
                    </a:solidFill>
                    <a:effectLst/>
                    <a:uLnTx/>
                    <a:uFillTx/>
                    <a:latin typeface="Meiryo UI"/>
                    <a:ea typeface="Meiryo UI"/>
                    <a:cs typeface="Hiragino Kaku Gothic Pro W3" charset="-128"/>
                  </a:rPr>
                  <a:t>Invoice</a:t>
                </a:r>
                <a:br>
                  <a:rPr kumimoji="0" lang="en-US" altLang="ja-JP" sz="700" b="0" i="0" u="none" strike="noStrike" kern="0" cap="none" spc="0" normalizeH="0" baseline="0" noProof="0">
                    <a:ln>
                      <a:noFill/>
                    </a:ln>
                    <a:solidFill>
                      <a:srgbClr val="000000"/>
                    </a:solidFill>
                    <a:effectLst/>
                    <a:uLnTx/>
                    <a:uFillTx/>
                    <a:latin typeface="Meiryo UI"/>
                    <a:ea typeface="Meiryo UI"/>
                    <a:cs typeface="Hiragino Kaku Gothic Pro W3" charset="-128"/>
                  </a:rPr>
                </a:br>
                <a:r>
                  <a:rPr kumimoji="0" lang="en-US" altLang="ja-JP" sz="700" b="0" i="0" u="none" strike="noStrike" kern="0" cap="none" spc="0" normalizeH="0" baseline="0" noProof="0">
                    <a:ln>
                      <a:noFill/>
                    </a:ln>
                    <a:solidFill>
                      <a:srgbClr val="000000"/>
                    </a:solidFill>
                    <a:effectLst/>
                    <a:uLnTx/>
                    <a:uFillTx/>
                    <a:latin typeface="Meiryo UI"/>
                    <a:ea typeface="Meiryo UI"/>
                    <a:cs typeface="Hiragino Kaku Gothic Pro W3" charset="-128"/>
                  </a:rPr>
                  <a:t>Concur </a:t>
                </a:r>
                <a:r>
                  <a:rPr kumimoji="0" lang="en-US" altLang="ja-JP" sz="700" b="0" i="0" u="none" strike="noStrike" kern="0" cap="none" spc="0" normalizeH="0" baseline="0" noProof="0" err="1">
                    <a:ln>
                      <a:noFill/>
                    </a:ln>
                    <a:solidFill>
                      <a:srgbClr val="000000"/>
                    </a:solidFill>
                    <a:effectLst/>
                    <a:uLnTx/>
                    <a:uFillTx/>
                    <a:latin typeface="Meiryo UI"/>
                    <a:ea typeface="Meiryo UI"/>
                    <a:cs typeface="Hiragino Kaku Gothic Pro W3" charset="-128"/>
                  </a:rPr>
                  <a:t>Expen</a:t>
                </a:r>
                <a:r>
                  <a:rPr kumimoji="0" lang="en-US" altLang="ja-JP" sz="700" b="0" i="0" u="none" strike="noStrike" kern="0" cap="none" spc="0" normalizeH="0" baseline="0" noProof="0">
                    <a:ln>
                      <a:noFill/>
                    </a:ln>
                    <a:solidFill>
                      <a:srgbClr val="000000"/>
                    </a:solidFill>
                    <a:effectLst/>
                    <a:uLnTx/>
                    <a:uFillTx/>
                    <a:latin typeface="Meiryo UI"/>
                    <a:ea typeface="Meiryo UI"/>
                    <a:cs typeface="Hiragino Kaku Gothic Pro W3" charset="-128"/>
                  </a:rPr>
                  <a:t>se</a:t>
                </a:r>
                <a:endParaRPr kumimoji="0" lang="ja-JP" altLang="en-US" sz="7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67" name="正方形/長方形 3366">
                <a:extLst>
                  <a:ext uri="{FF2B5EF4-FFF2-40B4-BE49-F238E27FC236}">
                    <a16:creationId xmlns:a16="http://schemas.microsoft.com/office/drawing/2014/main" id="{2CE8ACE3-7257-0CAA-A663-9400320A74F9}"/>
                  </a:ext>
                </a:extLst>
              </p:cNvPr>
              <p:cNvSpPr/>
              <p:nvPr/>
            </p:nvSpPr>
            <p:spPr bwMode="auto">
              <a:xfrm>
                <a:off x="4485761" y="4654084"/>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支払依頼</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56" name="グループ化 1855">
              <a:extLst>
                <a:ext uri="{FF2B5EF4-FFF2-40B4-BE49-F238E27FC236}">
                  <a16:creationId xmlns:a16="http://schemas.microsoft.com/office/drawing/2014/main" id="{0574B490-3F11-766A-4F42-CF9D10BE226F}"/>
                </a:ext>
              </a:extLst>
            </p:cNvPr>
            <p:cNvGrpSpPr/>
            <p:nvPr/>
          </p:nvGrpSpPr>
          <p:grpSpPr>
            <a:xfrm>
              <a:off x="886899" y="4820806"/>
              <a:ext cx="3126660" cy="183170"/>
              <a:chOff x="1883400" y="4948398"/>
              <a:chExt cx="3240000" cy="252000"/>
            </a:xfrm>
          </p:grpSpPr>
          <p:sp>
            <p:nvSpPr>
              <p:cNvPr id="3364" name="正方形/長方形 3363">
                <a:extLst>
                  <a:ext uri="{FF2B5EF4-FFF2-40B4-BE49-F238E27FC236}">
                    <a16:creationId xmlns:a16="http://schemas.microsoft.com/office/drawing/2014/main" id="{0DDF47FC-9895-14D6-3423-A876A9F54171}"/>
                  </a:ext>
                </a:extLst>
              </p:cNvPr>
              <p:cNvSpPr/>
              <p:nvPr/>
            </p:nvSpPr>
            <p:spPr>
              <a:xfrm>
                <a:off x="1883400" y="4948398"/>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とんぺいくん</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65" name="正方形/長方形 3364">
                <a:extLst>
                  <a:ext uri="{FF2B5EF4-FFF2-40B4-BE49-F238E27FC236}">
                    <a16:creationId xmlns:a16="http://schemas.microsoft.com/office/drawing/2014/main" id="{A403579B-BECE-0011-B334-446BA4D64795}"/>
                  </a:ext>
                </a:extLst>
              </p:cNvPr>
              <p:cNvSpPr/>
              <p:nvPr/>
            </p:nvSpPr>
            <p:spPr bwMode="auto">
              <a:xfrm>
                <a:off x="4485761" y="4987112"/>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支払依頼</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57" name="グループ化 1856">
              <a:extLst>
                <a:ext uri="{FF2B5EF4-FFF2-40B4-BE49-F238E27FC236}">
                  <a16:creationId xmlns:a16="http://schemas.microsoft.com/office/drawing/2014/main" id="{A89E6E37-B2DC-2F8E-021A-FDBE3858C609}"/>
                </a:ext>
              </a:extLst>
            </p:cNvPr>
            <p:cNvGrpSpPr/>
            <p:nvPr/>
          </p:nvGrpSpPr>
          <p:grpSpPr>
            <a:xfrm>
              <a:off x="887114" y="5261072"/>
              <a:ext cx="3126660" cy="183170"/>
              <a:chOff x="1883400" y="5279635"/>
              <a:chExt cx="3240000" cy="252000"/>
            </a:xfrm>
          </p:grpSpPr>
          <p:sp>
            <p:nvSpPr>
              <p:cNvPr id="3362" name="正方形/長方形 3361">
                <a:extLst>
                  <a:ext uri="{FF2B5EF4-FFF2-40B4-BE49-F238E27FC236}">
                    <a16:creationId xmlns:a16="http://schemas.microsoft.com/office/drawing/2014/main" id="{6255A667-3449-C342-B53B-CED74F3A51A5}"/>
                  </a:ext>
                </a:extLst>
              </p:cNvPr>
              <p:cNvSpPr/>
              <p:nvPr/>
            </p:nvSpPr>
            <p:spPr>
              <a:xfrm>
                <a:off x="1883400" y="5279635"/>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RECO</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a:t>
                </a: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Integrity</a:t>
                </a:r>
                <a:endParaRPr kumimoji="0" lang="ja-JP" altLang="en-US" sz="900" b="0" i="0" u="none" strike="noStrike" kern="0" cap="none" spc="0" normalizeH="0" baseline="0" noProof="0">
                  <a:ln>
                    <a:noFill/>
                  </a:ln>
                  <a:solidFill>
                    <a:srgbClr val="FF0000"/>
                  </a:solidFill>
                  <a:effectLst/>
                  <a:uLnTx/>
                  <a:uFillTx/>
                  <a:latin typeface="Meiryo UI"/>
                  <a:ea typeface="Meiryo UI"/>
                  <a:cs typeface="Hiragino Kaku Gothic Pro W3" charset="-128"/>
                </a:endParaRPr>
              </a:p>
            </p:txBody>
          </p:sp>
          <p:sp>
            <p:nvSpPr>
              <p:cNvPr id="3363" name="正方形/長方形 3362">
                <a:extLst>
                  <a:ext uri="{FF2B5EF4-FFF2-40B4-BE49-F238E27FC236}">
                    <a16:creationId xmlns:a16="http://schemas.microsoft.com/office/drawing/2014/main" id="{742269CD-9351-90D3-A239-8D950A9E15F0}"/>
                  </a:ext>
                </a:extLst>
              </p:cNvPr>
              <p:cNvSpPr/>
              <p:nvPr/>
            </p:nvSpPr>
            <p:spPr bwMode="auto">
              <a:xfrm>
                <a:off x="4485761" y="5315635"/>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仕訳計上</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58" name="グループ化 1857">
              <a:extLst>
                <a:ext uri="{FF2B5EF4-FFF2-40B4-BE49-F238E27FC236}">
                  <a16:creationId xmlns:a16="http://schemas.microsoft.com/office/drawing/2014/main" id="{7EBF3803-7727-4429-44BA-7510F9F58134}"/>
                </a:ext>
              </a:extLst>
            </p:cNvPr>
            <p:cNvGrpSpPr/>
            <p:nvPr/>
          </p:nvGrpSpPr>
          <p:grpSpPr>
            <a:xfrm>
              <a:off x="886622" y="5479521"/>
              <a:ext cx="3126660" cy="183170"/>
              <a:chOff x="1883400" y="5654076"/>
              <a:chExt cx="3240000" cy="252000"/>
            </a:xfrm>
          </p:grpSpPr>
          <p:sp>
            <p:nvSpPr>
              <p:cNvPr id="3360" name="正方形/長方形 3359">
                <a:extLst>
                  <a:ext uri="{FF2B5EF4-FFF2-40B4-BE49-F238E27FC236}">
                    <a16:creationId xmlns:a16="http://schemas.microsoft.com/office/drawing/2014/main" id="{344220E1-0CB5-C511-3AF6-F5CC9C7FCA81}"/>
                  </a:ext>
                </a:extLst>
              </p:cNvPr>
              <p:cNvSpPr/>
              <p:nvPr/>
            </p:nvSpPr>
            <p:spPr>
              <a:xfrm>
                <a:off x="1883400" y="5654076"/>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OASYS</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61" name="正方形/長方形 3360">
                <a:extLst>
                  <a:ext uri="{FF2B5EF4-FFF2-40B4-BE49-F238E27FC236}">
                    <a16:creationId xmlns:a16="http://schemas.microsoft.com/office/drawing/2014/main" id="{6610371E-2DDD-FD7F-64DE-ED332B7CFB89}"/>
                  </a:ext>
                </a:extLst>
              </p:cNvPr>
              <p:cNvSpPr/>
              <p:nvPr/>
            </p:nvSpPr>
            <p:spPr bwMode="auto">
              <a:xfrm>
                <a:off x="4485761" y="5690076"/>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固定資産管理</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59" name="グループ化 1858">
              <a:extLst>
                <a:ext uri="{FF2B5EF4-FFF2-40B4-BE49-F238E27FC236}">
                  <a16:creationId xmlns:a16="http://schemas.microsoft.com/office/drawing/2014/main" id="{69E658F8-2803-46B7-8ACD-39ACDDB3B9D7}"/>
                </a:ext>
              </a:extLst>
            </p:cNvPr>
            <p:cNvGrpSpPr/>
            <p:nvPr/>
          </p:nvGrpSpPr>
          <p:grpSpPr>
            <a:xfrm>
              <a:off x="2068081" y="5719438"/>
              <a:ext cx="1945477" cy="208264"/>
              <a:chOff x="3107400" y="5985312"/>
              <a:chExt cx="2016000" cy="252000"/>
            </a:xfrm>
          </p:grpSpPr>
          <p:sp>
            <p:nvSpPr>
              <p:cNvPr id="3358" name="正方形/長方形 3357">
                <a:extLst>
                  <a:ext uri="{FF2B5EF4-FFF2-40B4-BE49-F238E27FC236}">
                    <a16:creationId xmlns:a16="http://schemas.microsoft.com/office/drawing/2014/main" id="{C2C90536-3DCC-0DFC-56BB-F39147F2409B}"/>
                  </a:ext>
                </a:extLst>
              </p:cNvPr>
              <p:cNvSpPr/>
              <p:nvPr/>
            </p:nvSpPr>
            <p:spPr>
              <a:xfrm>
                <a:off x="3107400" y="5985312"/>
                <a:ext cx="2016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WF</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a:t>
                </a:r>
                <a:r>
                  <a:rPr kumimoji="0" lang="en-US" altLang="ja-JP" sz="900" b="0" i="0" u="none" strike="noStrike" kern="0" cap="none" spc="0" normalizeH="0" baseline="0" noProof="0" err="1">
                    <a:ln>
                      <a:noFill/>
                    </a:ln>
                    <a:solidFill>
                      <a:srgbClr val="000000"/>
                    </a:solidFill>
                    <a:effectLst/>
                    <a:uLnTx/>
                    <a:uFillTx/>
                    <a:latin typeface="Meiryo UI"/>
                    <a:ea typeface="Meiryo UI"/>
                    <a:cs typeface="Hiragino Kaku Gothic Pro W3" charset="-128"/>
                  </a:rPr>
                  <a:t>SmartDB</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a:t>
                </a:r>
              </a:p>
            </p:txBody>
          </p:sp>
          <p:sp>
            <p:nvSpPr>
              <p:cNvPr id="3359" name="正方形/長方形 3358">
                <a:extLst>
                  <a:ext uri="{FF2B5EF4-FFF2-40B4-BE49-F238E27FC236}">
                    <a16:creationId xmlns:a16="http://schemas.microsoft.com/office/drawing/2014/main" id="{83AAEAD0-7ACA-9166-1052-4A186B6FF9F6}"/>
                  </a:ext>
                </a:extLst>
              </p:cNvPr>
              <p:cNvSpPr/>
              <p:nvPr/>
            </p:nvSpPr>
            <p:spPr bwMode="auto">
              <a:xfrm>
                <a:off x="4485761" y="6013623"/>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固定資産管理</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sp>
          <p:nvSpPr>
            <p:cNvPr id="1860" name="正方形/長方形 1859">
              <a:extLst>
                <a:ext uri="{FF2B5EF4-FFF2-40B4-BE49-F238E27FC236}">
                  <a16:creationId xmlns:a16="http://schemas.microsoft.com/office/drawing/2014/main" id="{25103B11-74D8-8BCE-E0BF-164ABA1F8368}"/>
                </a:ext>
              </a:extLst>
            </p:cNvPr>
            <p:cNvSpPr/>
            <p:nvPr/>
          </p:nvSpPr>
          <p:spPr>
            <a:xfrm>
              <a:off x="391859" y="4151271"/>
              <a:ext cx="277925" cy="1670947"/>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周辺（購買システム群）</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grpSp>
          <p:nvGrpSpPr>
            <p:cNvPr id="1861" name="グループ化 1860">
              <a:extLst>
                <a:ext uri="{FF2B5EF4-FFF2-40B4-BE49-F238E27FC236}">
                  <a16:creationId xmlns:a16="http://schemas.microsoft.com/office/drawing/2014/main" id="{D8F43361-E872-3689-2537-40B7DAB1CF5C}"/>
                </a:ext>
              </a:extLst>
            </p:cNvPr>
            <p:cNvGrpSpPr/>
            <p:nvPr/>
          </p:nvGrpSpPr>
          <p:grpSpPr>
            <a:xfrm>
              <a:off x="886899" y="5971018"/>
              <a:ext cx="3126660" cy="208264"/>
              <a:chOff x="1883400" y="5985312"/>
              <a:chExt cx="3240000" cy="252000"/>
            </a:xfrm>
          </p:grpSpPr>
          <p:sp>
            <p:nvSpPr>
              <p:cNvPr id="3356" name="正方形/長方形 3355">
                <a:extLst>
                  <a:ext uri="{FF2B5EF4-FFF2-40B4-BE49-F238E27FC236}">
                    <a16:creationId xmlns:a16="http://schemas.microsoft.com/office/drawing/2014/main" id="{CE45EE0E-3F00-47A7-D6B2-8B07DB1ABBDB}"/>
                  </a:ext>
                </a:extLst>
              </p:cNvPr>
              <p:cNvSpPr/>
              <p:nvPr/>
            </p:nvSpPr>
            <p:spPr>
              <a:xfrm>
                <a:off x="1883400" y="5985312"/>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err="1">
                    <a:ln>
                      <a:noFill/>
                    </a:ln>
                    <a:solidFill>
                      <a:srgbClr val="000000"/>
                    </a:solidFill>
                    <a:effectLst/>
                    <a:uLnTx/>
                    <a:uFillTx/>
                    <a:latin typeface="Meiryo UI"/>
                    <a:ea typeface="Meiryo UI"/>
                    <a:cs typeface="Hiragino Kaku Gothic Pro W3" charset="-128"/>
                  </a:rPr>
                  <a:t>WF</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a:t>
                </a:r>
                <a:r>
                  <a:rPr kumimoji="0" lang="en-US" altLang="ja-JP" sz="900" b="0" i="0" u="none" strike="noStrike" kern="0" cap="none" spc="0" normalizeH="0" baseline="0" noProof="0" err="1">
                    <a:ln>
                      <a:noFill/>
                    </a:ln>
                    <a:solidFill>
                      <a:srgbClr val="000000"/>
                    </a:solidFill>
                    <a:effectLst/>
                    <a:uLnTx/>
                    <a:uFillTx/>
                    <a:latin typeface="Meiryo UI"/>
                    <a:ea typeface="Meiryo UI"/>
                    <a:cs typeface="Hiragino Kaku Gothic Pro W3" charset="-128"/>
                  </a:rPr>
                  <a:t>SmartDB</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a:t>
                </a:r>
              </a:p>
            </p:txBody>
          </p:sp>
          <p:sp>
            <p:nvSpPr>
              <p:cNvPr id="3357" name="正方形/長方形 3356">
                <a:extLst>
                  <a:ext uri="{FF2B5EF4-FFF2-40B4-BE49-F238E27FC236}">
                    <a16:creationId xmlns:a16="http://schemas.microsoft.com/office/drawing/2014/main" id="{4DA1EB2B-8A8D-6386-0205-1B8097497B24}"/>
                  </a:ext>
                </a:extLst>
              </p:cNvPr>
              <p:cNvSpPr/>
              <p:nvPr/>
            </p:nvSpPr>
            <p:spPr bwMode="auto">
              <a:xfrm>
                <a:off x="3855107" y="6022332"/>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仕訳計上</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62" name="グループ化 1861">
              <a:extLst>
                <a:ext uri="{FF2B5EF4-FFF2-40B4-BE49-F238E27FC236}">
                  <a16:creationId xmlns:a16="http://schemas.microsoft.com/office/drawing/2014/main" id="{52FE259C-FDBF-D5BB-16B8-07F0B5CF3AD4}"/>
                </a:ext>
              </a:extLst>
            </p:cNvPr>
            <p:cNvGrpSpPr/>
            <p:nvPr/>
          </p:nvGrpSpPr>
          <p:grpSpPr>
            <a:xfrm>
              <a:off x="4703730" y="1239891"/>
              <a:ext cx="1910736" cy="208264"/>
              <a:chOff x="6096000" y="734420"/>
              <a:chExt cx="1980000" cy="252000"/>
            </a:xfrm>
          </p:grpSpPr>
          <p:sp>
            <p:nvSpPr>
              <p:cNvPr id="3353" name="正方形/長方形 3352">
                <a:extLst>
                  <a:ext uri="{FF2B5EF4-FFF2-40B4-BE49-F238E27FC236}">
                    <a16:creationId xmlns:a16="http://schemas.microsoft.com/office/drawing/2014/main" id="{080D8C10-97EB-60F8-B36C-9184F998FA35}"/>
                  </a:ext>
                </a:extLst>
              </p:cNvPr>
              <p:cNvSpPr/>
              <p:nvPr/>
            </p:nvSpPr>
            <p:spPr>
              <a:xfrm>
                <a:off x="6096000" y="734420"/>
                <a:ext cx="198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全社共通</a:t>
                </a:r>
              </a:p>
            </p:txBody>
          </p:sp>
          <p:sp>
            <p:nvSpPr>
              <p:cNvPr id="3354" name="正方形/長方形 3353">
                <a:extLst>
                  <a:ext uri="{FF2B5EF4-FFF2-40B4-BE49-F238E27FC236}">
                    <a16:creationId xmlns:a16="http://schemas.microsoft.com/office/drawing/2014/main" id="{6426EA31-B613-7267-9149-F70786FEF308}"/>
                  </a:ext>
                </a:extLst>
              </p:cNvPr>
              <p:cNvSpPr/>
              <p:nvPr/>
            </p:nvSpPr>
            <p:spPr bwMode="auto">
              <a:xfrm>
                <a:off x="7435753" y="770420"/>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商品マスタ他</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55" name="正方形/長方形 3354">
                <a:extLst>
                  <a:ext uri="{FF2B5EF4-FFF2-40B4-BE49-F238E27FC236}">
                    <a16:creationId xmlns:a16="http://schemas.microsoft.com/office/drawing/2014/main" id="{F0E1DBB7-146E-6CCC-4B09-EBE4B891C694}"/>
                  </a:ext>
                </a:extLst>
              </p:cNvPr>
              <p:cNvSpPr/>
              <p:nvPr/>
            </p:nvSpPr>
            <p:spPr bwMode="auto">
              <a:xfrm>
                <a:off x="6805035" y="770420"/>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顧客マスタ</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63" name="グループ化 1862">
              <a:extLst>
                <a:ext uri="{FF2B5EF4-FFF2-40B4-BE49-F238E27FC236}">
                  <a16:creationId xmlns:a16="http://schemas.microsoft.com/office/drawing/2014/main" id="{64E31964-CD6A-4BAE-5AD4-C78D1538C39E}"/>
                </a:ext>
              </a:extLst>
            </p:cNvPr>
            <p:cNvGrpSpPr/>
            <p:nvPr/>
          </p:nvGrpSpPr>
          <p:grpSpPr>
            <a:xfrm>
              <a:off x="4703730" y="1555206"/>
              <a:ext cx="1910736" cy="833058"/>
              <a:chOff x="5762382" y="1631438"/>
              <a:chExt cx="1910736" cy="833058"/>
            </a:xfrm>
          </p:grpSpPr>
          <p:sp>
            <p:nvSpPr>
              <p:cNvPr id="3344" name="正方形/長方形 3343">
                <a:extLst>
                  <a:ext uri="{FF2B5EF4-FFF2-40B4-BE49-F238E27FC236}">
                    <a16:creationId xmlns:a16="http://schemas.microsoft.com/office/drawing/2014/main" id="{3FB0AFA2-3331-E65C-7AA2-9C480D89E8D3}"/>
                  </a:ext>
                </a:extLst>
              </p:cNvPr>
              <p:cNvSpPr/>
              <p:nvPr/>
            </p:nvSpPr>
            <p:spPr>
              <a:xfrm>
                <a:off x="5762382" y="1631438"/>
                <a:ext cx="1910736" cy="83305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mn-cs"/>
                  </a:rPr>
                  <a:t>全社会計</a:t>
                </a:r>
                <a:endParaRPr kumimoji="0" lang="en-US" altLang="ja-JP" sz="900" b="0" i="0" u="none" strike="noStrike" kern="0" cap="none" spc="0" normalizeH="0" baseline="0" noProof="0">
                  <a:ln>
                    <a:noFill/>
                  </a:ln>
                  <a:solidFill>
                    <a:srgbClr val="000000"/>
                  </a:solidFill>
                  <a:effectLst/>
                  <a:uLnTx/>
                  <a:uFillTx/>
                  <a:latin typeface="Meiryo UI"/>
                  <a:ea typeface="Meiryo UI"/>
                  <a:cs typeface="+mn-cs"/>
                </a:endParaRPr>
              </a:p>
            </p:txBody>
          </p:sp>
          <p:grpSp>
            <p:nvGrpSpPr>
              <p:cNvPr id="3345" name="グループ化 3344">
                <a:extLst>
                  <a:ext uri="{FF2B5EF4-FFF2-40B4-BE49-F238E27FC236}">
                    <a16:creationId xmlns:a16="http://schemas.microsoft.com/office/drawing/2014/main" id="{04F872BB-8DF0-9C4F-A804-5060C4536297}"/>
                  </a:ext>
                </a:extLst>
              </p:cNvPr>
              <p:cNvGrpSpPr/>
              <p:nvPr/>
            </p:nvGrpSpPr>
            <p:grpSpPr>
              <a:xfrm>
                <a:off x="7055268" y="1661250"/>
                <a:ext cx="555851" cy="761421"/>
                <a:chOff x="6240016" y="1283514"/>
                <a:chExt cx="576000" cy="921318"/>
              </a:xfrm>
            </p:grpSpPr>
            <p:sp>
              <p:nvSpPr>
                <p:cNvPr id="3350" name="正方形/長方形 3349">
                  <a:extLst>
                    <a:ext uri="{FF2B5EF4-FFF2-40B4-BE49-F238E27FC236}">
                      <a16:creationId xmlns:a16="http://schemas.microsoft.com/office/drawing/2014/main" id="{E505C1C3-3C98-076B-AAFC-D0F85D411F80}"/>
                    </a:ext>
                  </a:extLst>
                </p:cNvPr>
                <p:cNvSpPr/>
                <p:nvPr/>
              </p:nvSpPr>
              <p:spPr bwMode="auto">
                <a:xfrm>
                  <a:off x="6240016" y="1283514"/>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支払</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51" name="正方形/長方形 3350">
                  <a:extLst>
                    <a:ext uri="{FF2B5EF4-FFF2-40B4-BE49-F238E27FC236}">
                      <a16:creationId xmlns:a16="http://schemas.microsoft.com/office/drawing/2014/main" id="{C57704A9-6717-1E96-0D3E-623E4903C550}"/>
                    </a:ext>
                  </a:extLst>
                </p:cNvPr>
                <p:cNvSpPr/>
                <p:nvPr/>
              </p:nvSpPr>
              <p:spPr bwMode="auto">
                <a:xfrm>
                  <a:off x="6240016" y="1600173"/>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債務管理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（補助簿）</a:t>
                  </a:r>
                </a:p>
              </p:txBody>
            </p:sp>
            <p:sp>
              <p:nvSpPr>
                <p:cNvPr id="3352" name="正方形/長方形 3351">
                  <a:extLst>
                    <a:ext uri="{FF2B5EF4-FFF2-40B4-BE49-F238E27FC236}">
                      <a16:creationId xmlns:a16="http://schemas.microsoft.com/office/drawing/2014/main" id="{8BBB2203-6FA4-CD91-A672-86A67E6F4A19}"/>
                    </a:ext>
                  </a:extLst>
                </p:cNvPr>
                <p:cNvSpPr/>
                <p:nvPr/>
              </p:nvSpPr>
              <p:spPr bwMode="auto">
                <a:xfrm>
                  <a:off x="6240016" y="1916832"/>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その他</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（貸倒、資料収書）</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3346" name="グループ化 3345">
                <a:extLst>
                  <a:ext uri="{FF2B5EF4-FFF2-40B4-BE49-F238E27FC236}">
                    <a16:creationId xmlns:a16="http://schemas.microsoft.com/office/drawing/2014/main" id="{69BCBC74-6955-9C01-CA70-7D9AD9A70395}"/>
                  </a:ext>
                </a:extLst>
              </p:cNvPr>
              <p:cNvGrpSpPr/>
              <p:nvPr/>
            </p:nvGrpSpPr>
            <p:grpSpPr>
              <a:xfrm>
                <a:off x="6446614" y="1661250"/>
                <a:ext cx="555851" cy="761421"/>
                <a:chOff x="6240016" y="1283514"/>
                <a:chExt cx="576000" cy="921318"/>
              </a:xfrm>
            </p:grpSpPr>
            <p:sp>
              <p:nvSpPr>
                <p:cNvPr id="3347" name="正方形/長方形 3346">
                  <a:extLst>
                    <a:ext uri="{FF2B5EF4-FFF2-40B4-BE49-F238E27FC236}">
                      <a16:creationId xmlns:a16="http://schemas.microsoft.com/office/drawing/2014/main" id="{75C0DA9B-A218-F124-BFC0-7DB0B55A0677}"/>
                    </a:ext>
                  </a:extLst>
                </p:cNvPr>
                <p:cNvSpPr/>
                <p:nvPr/>
              </p:nvSpPr>
              <p:spPr bwMode="auto">
                <a:xfrm>
                  <a:off x="6240016" y="1283514"/>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債権管理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（補助簿、滞留管理）</a:t>
                  </a:r>
                </a:p>
              </p:txBody>
            </p:sp>
            <p:sp>
              <p:nvSpPr>
                <p:cNvPr id="3348" name="正方形/長方形 3347">
                  <a:extLst>
                    <a:ext uri="{FF2B5EF4-FFF2-40B4-BE49-F238E27FC236}">
                      <a16:creationId xmlns:a16="http://schemas.microsoft.com/office/drawing/2014/main" id="{488560AE-401B-70AA-0ADB-F581A08F81EC}"/>
                    </a:ext>
                  </a:extLst>
                </p:cNvPr>
                <p:cNvSpPr/>
                <p:nvPr/>
              </p:nvSpPr>
              <p:spPr bwMode="auto">
                <a:xfrm>
                  <a:off x="6240016" y="1916832"/>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前受管理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49" name="正方形/長方形 3348">
                  <a:extLst>
                    <a:ext uri="{FF2B5EF4-FFF2-40B4-BE49-F238E27FC236}">
                      <a16:creationId xmlns:a16="http://schemas.microsoft.com/office/drawing/2014/main" id="{60353DA3-88F8-90DC-AE30-6BA6AA1E76FC}"/>
                    </a:ext>
                  </a:extLst>
                </p:cNvPr>
                <p:cNvSpPr/>
                <p:nvPr/>
              </p:nvSpPr>
              <p:spPr bwMode="auto">
                <a:xfrm>
                  <a:off x="6240016" y="1600173"/>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入金消込</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（銀振・手形・</a:t>
                  </a:r>
                  <a:r>
                    <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CVS</a:t>
                  </a: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・引落）</a:t>
                  </a:r>
                </a:p>
              </p:txBody>
            </p:sp>
          </p:grpSp>
        </p:grpSp>
        <p:grpSp>
          <p:nvGrpSpPr>
            <p:cNvPr id="1864" name="グループ化 1863">
              <a:extLst>
                <a:ext uri="{FF2B5EF4-FFF2-40B4-BE49-F238E27FC236}">
                  <a16:creationId xmlns:a16="http://schemas.microsoft.com/office/drawing/2014/main" id="{1291C1EA-0787-7278-8A56-F551E88628BE}"/>
                </a:ext>
              </a:extLst>
            </p:cNvPr>
            <p:cNvGrpSpPr/>
            <p:nvPr/>
          </p:nvGrpSpPr>
          <p:grpSpPr>
            <a:xfrm>
              <a:off x="6857891" y="1555206"/>
              <a:ext cx="1910736" cy="833058"/>
              <a:chOff x="8328248" y="1094750"/>
              <a:chExt cx="1980000" cy="1008000"/>
            </a:xfrm>
          </p:grpSpPr>
          <p:sp>
            <p:nvSpPr>
              <p:cNvPr id="3333" name="正方形/長方形 3332">
                <a:extLst>
                  <a:ext uri="{FF2B5EF4-FFF2-40B4-BE49-F238E27FC236}">
                    <a16:creationId xmlns:a16="http://schemas.microsoft.com/office/drawing/2014/main" id="{4E4B0A42-FF80-F306-74EF-1AEF4CE9FA00}"/>
                  </a:ext>
                </a:extLst>
              </p:cNvPr>
              <p:cNvSpPr/>
              <p:nvPr/>
            </p:nvSpPr>
            <p:spPr>
              <a:xfrm>
                <a:off x="8328248" y="1094750"/>
                <a:ext cx="1980000" cy="1008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mn-cs"/>
                  </a:rPr>
                  <a:t>ツバサくん</a:t>
                </a:r>
                <a:r>
                  <a:rPr kumimoji="0" lang="ja-JP" altLang="en-US" sz="400" b="0" i="0" u="none" strike="noStrike" kern="0" cap="none" spc="0" normalizeH="0" baseline="0" noProof="0">
                    <a:ln>
                      <a:noFill/>
                    </a:ln>
                    <a:solidFill>
                      <a:srgbClr val="000000"/>
                    </a:solidFill>
                    <a:effectLst/>
                    <a:uLnTx/>
                    <a:uFillTx/>
                    <a:latin typeface="Meiryo UI"/>
                    <a:ea typeface="Meiryo UI"/>
                    <a:cs typeface="+mn-cs"/>
                  </a:rPr>
                  <a:t>（子会社のみ）</a:t>
                </a:r>
                <a:endParaRPr kumimoji="0" lang="en-US" altLang="ja-JP" sz="900" b="0" i="0" u="none" strike="noStrike" kern="0" cap="none" spc="0" normalizeH="0" baseline="0" noProof="0">
                  <a:ln>
                    <a:noFill/>
                  </a:ln>
                  <a:solidFill>
                    <a:srgbClr val="000000"/>
                  </a:solidFill>
                  <a:effectLst/>
                  <a:uLnTx/>
                  <a:uFillTx/>
                  <a:latin typeface="Meiryo UI"/>
                  <a:ea typeface="Meiryo UI"/>
                  <a:cs typeface="+mn-cs"/>
                </a:endParaRPr>
              </a:p>
            </p:txBody>
          </p:sp>
          <p:grpSp>
            <p:nvGrpSpPr>
              <p:cNvPr id="3334" name="グループ化 3333">
                <a:extLst>
                  <a:ext uri="{FF2B5EF4-FFF2-40B4-BE49-F238E27FC236}">
                    <a16:creationId xmlns:a16="http://schemas.microsoft.com/office/drawing/2014/main" id="{908E79C7-B2B0-AF32-0404-FCA8F243C985}"/>
                  </a:ext>
                </a:extLst>
              </p:cNvPr>
              <p:cNvGrpSpPr/>
              <p:nvPr/>
            </p:nvGrpSpPr>
            <p:grpSpPr>
              <a:xfrm>
                <a:off x="9668001" y="1130821"/>
                <a:ext cx="576000" cy="921318"/>
                <a:chOff x="6240016" y="1283514"/>
                <a:chExt cx="576000" cy="921318"/>
              </a:xfrm>
            </p:grpSpPr>
            <p:sp>
              <p:nvSpPr>
                <p:cNvPr id="3341" name="正方形/長方形 3340">
                  <a:extLst>
                    <a:ext uri="{FF2B5EF4-FFF2-40B4-BE49-F238E27FC236}">
                      <a16:creationId xmlns:a16="http://schemas.microsoft.com/office/drawing/2014/main" id="{4E2DE5DA-B681-94EF-BFA8-4170FFF383BC}"/>
                    </a:ext>
                  </a:extLst>
                </p:cNvPr>
                <p:cNvSpPr/>
                <p:nvPr/>
              </p:nvSpPr>
              <p:spPr bwMode="auto">
                <a:xfrm>
                  <a:off x="6240016" y="1283514"/>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前払管理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42" name="正方形/長方形 3341">
                  <a:extLst>
                    <a:ext uri="{FF2B5EF4-FFF2-40B4-BE49-F238E27FC236}">
                      <a16:creationId xmlns:a16="http://schemas.microsoft.com/office/drawing/2014/main" id="{7A477F45-E5C5-2652-3C79-A30832DA6B00}"/>
                    </a:ext>
                  </a:extLst>
                </p:cNvPr>
                <p:cNvSpPr/>
                <p:nvPr/>
              </p:nvSpPr>
              <p:spPr bwMode="auto">
                <a:xfrm>
                  <a:off x="6240016" y="1600173"/>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支払</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43" name="正方形/長方形 3342">
                  <a:extLst>
                    <a:ext uri="{FF2B5EF4-FFF2-40B4-BE49-F238E27FC236}">
                      <a16:creationId xmlns:a16="http://schemas.microsoft.com/office/drawing/2014/main" id="{FE6F8516-D242-E2C1-09CF-52987F436295}"/>
                    </a:ext>
                  </a:extLst>
                </p:cNvPr>
                <p:cNvSpPr/>
                <p:nvPr/>
              </p:nvSpPr>
              <p:spPr bwMode="auto">
                <a:xfrm>
                  <a:off x="6240016" y="1916832"/>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債務管理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（補助簿）</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3335" name="グループ化 3334">
                <a:extLst>
                  <a:ext uri="{FF2B5EF4-FFF2-40B4-BE49-F238E27FC236}">
                    <a16:creationId xmlns:a16="http://schemas.microsoft.com/office/drawing/2014/main" id="{91B60FD4-FC1C-A898-D63D-B1D4B436E5A1}"/>
                  </a:ext>
                </a:extLst>
              </p:cNvPr>
              <p:cNvGrpSpPr/>
              <p:nvPr/>
            </p:nvGrpSpPr>
            <p:grpSpPr>
              <a:xfrm>
                <a:off x="9037283" y="1447480"/>
                <a:ext cx="576000" cy="604659"/>
                <a:chOff x="6240016" y="1600173"/>
                <a:chExt cx="576000" cy="604659"/>
              </a:xfrm>
            </p:grpSpPr>
            <p:sp>
              <p:nvSpPr>
                <p:cNvPr id="3339" name="正方形/長方形 3338">
                  <a:extLst>
                    <a:ext uri="{FF2B5EF4-FFF2-40B4-BE49-F238E27FC236}">
                      <a16:creationId xmlns:a16="http://schemas.microsoft.com/office/drawing/2014/main" id="{DD4DF9C4-1887-D1B8-8D51-DD59335893F8}"/>
                    </a:ext>
                  </a:extLst>
                </p:cNvPr>
                <p:cNvSpPr/>
                <p:nvPr/>
              </p:nvSpPr>
              <p:spPr bwMode="auto">
                <a:xfrm>
                  <a:off x="6240016" y="1916832"/>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債権管理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（補助簿）</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40" name="正方形/長方形 3339">
                  <a:extLst>
                    <a:ext uri="{FF2B5EF4-FFF2-40B4-BE49-F238E27FC236}">
                      <a16:creationId xmlns:a16="http://schemas.microsoft.com/office/drawing/2014/main" id="{8DA9823D-A10C-3988-F99E-A861629DE2C6}"/>
                    </a:ext>
                  </a:extLst>
                </p:cNvPr>
                <p:cNvSpPr/>
                <p:nvPr/>
              </p:nvSpPr>
              <p:spPr bwMode="auto">
                <a:xfrm>
                  <a:off x="6240016" y="1600173"/>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営業外請求</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3336" name="グループ化 3335">
                <a:extLst>
                  <a:ext uri="{FF2B5EF4-FFF2-40B4-BE49-F238E27FC236}">
                    <a16:creationId xmlns:a16="http://schemas.microsoft.com/office/drawing/2014/main" id="{E319F04A-9E1D-A0BB-1CD3-F8DCE5FAD3CE}"/>
                  </a:ext>
                </a:extLst>
              </p:cNvPr>
              <p:cNvGrpSpPr/>
              <p:nvPr/>
            </p:nvGrpSpPr>
            <p:grpSpPr>
              <a:xfrm>
                <a:off x="8408965" y="1447480"/>
                <a:ext cx="576000" cy="604659"/>
                <a:chOff x="6240016" y="1600173"/>
                <a:chExt cx="576000" cy="604659"/>
              </a:xfrm>
            </p:grpSpPr>
            <p:sp>
              <p:nvSpPr>
                <p:cNvPr id="3337" name="正方形/長方形 3336">
                  <a:extLst>
                    <a:ext uri="{FF2B5EF4-FFF2-40B4-BE49-F238E27FC236}">
                      <a16:creationId xmlns:a16="http://schemas.microsoft.com/office/drawing/2014/main" id="{977127EA-4AD4-D552-2BCF-173B8C322447}"/>
                    </a:ext>
                  </a:extLst>
                </p:cNvPr>
                <p:cNvSpPr/>
                <p:nvPr/>
              </p:nvSpPr>
              <p:spPr bwMode="auto">
                <a:xfrm>
                  <a:off x="6240016" y="1916832"/>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振替伝票</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入力</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38" name="正方形/長方形 3337">
                  <a:extLst>
                    <a:ext uri="{FF2B5EF4-FFF2-40B4-BE49-F238E27FC236}">
                      <a16:creationId xmlns:a16="http://schemas.microsoft.com/office/drawing/2014/main" id="{CDBBCD0E-6E8E-5094-8D4D-884A37E9531D}"/>
                    </a:ext>
                  </a:extLst>
                </p:cNvPr>
                <p:cNvSpPr/>
                <p:nvPr/>
              </p:nvSpPr>
              <p:spPr bwMode="auto">
                <a:xfrm>
                  <a:off x="6240016" y="1600173"/>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総勘定</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元帳</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sp>
          <p:nvSpPr>
            <p:cNvPr id="1865" name="正方形/長方形 1864">
              <a:extLst>
                <a:ext uri="{FF2B5EF4-FFF2-40B4-BE49-F238E27FC236}">
                  <a16:creationId xmlns:a16="http://schemas.microsoft.com/office/drawing/2014/main" id="{944B1357-DCAB-86BE-EB63-4969760813F4}"/>
                </a:ext>
              </a:extLst>
            </p:cNvPr>
            <p:cNvSpPr/>
            <p:nvPr/>
          </p:nvSpPr>
          <p:spPr>
            <a:xfrm>
              <a:off x="5762382" y="2783237"/>
              <a:ext cx="3022438" cy="3116007"/>
            </a:xfrm>
            <a:prstGeom prst="rect">
              <a:avLst/>
            </a:prstGeom>
            <a:solidFill>
              <a:srgbClr val="FFFFFF">
                <a:lumMod val="95000"/>
              </a:srgbClr>
            </a:solidFill>
            <a:ln w="9525" cap="flat" cmpd="sng" algn="ctr">
              <a:solidFill>
                <a:srgbClr val="595959"/>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NEXUS</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1866" name="正方形/長方形 1865">
              <a:extLst>
                <a:ext uri="{FF2B5EF4-FFF2-40B4-BE49-F238E27FC236}">
                  <a16:creationId xmlns:a16="http://schemas.microsoft.com/office/drawing/2014/main" id="{0FE698E5-51B8-B870-0758-4BDDAADA8A87}"/>
                </a:ext>
              </a:extLst>
            </p:cNvPr>
            <p:cNvSpPr/>
            <p:nvPr/>
          </p:nvSpPr>
          <p:spPr>
            <a:xfrm>
              <a:off x="5901360" y="2790812"/>
              <a:ext cx="277925" cy="2953711"/>
            </a:xfrm>
            <a:prstGeom prst="rect">
              <a:avLst/>
            </a:prstGeom>
            <a:solidFill>
              <a:srgbClr val="FFFFFF"/>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IF</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制御</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40" name="正方形/長方形 3039">
              <a:extLst>
                <a:ext uri="{FF2B5EF4-FFF2-40B4-BE49-F238E27FC236}">
                  <a16:creationId xmlns:a16="http://schemas.microsoft.com/office/drawing/2014/main" id="{4DB625C6-F245-FB50-0544-0E96C1EEF220}"/>
                </a:ext>
              </a:extLst>
            </p:cNvPr>
            <p:cNvSpPr/>
            <p:nvPr/>
          </p:nvSpPr>
          <p:spPr bwMode="auto">
            <a:xfrm>
              <a:off x="6621062" y="3219564"/>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売上変換</a:t>
              </a:r>
              <a:endParaRPr kumimoji="0" lang="en-US" altLang="ja-JP" sz="700" b="0" i="0" u="none" strike="noStrike" kern="0" cap="none" spc="0" normalizeH="0" baseline="0" noProof="0">
                <a:ln>
                  <a:noFill/>
                </a:ln>
                <a:solidFill>
                  <a:srgbClr val="000000"/>
                </a:solidFill>
                <a:effectLst/>
                <a:uLnTx/>
                <a:uFillTx/>
                <a:latin typeface="Meiryo UI"/>
                <a:ea typeface="Meiryo UI"/>
              </a:endParaRPr>
            </a:p>
          </p:txBody>
        </p:sp>
        <p:sp>
          <p:nvSpPr>
            <p:cNvPr id="3041" name="正方形/長方形 3040">
              <a:extLst>
                <a:ext uri="{FF2B5EF4-FFF2-40B4-BE49-F238E27FC236}">
                  <a16:creationId xmlns:a16="http://schemas.microsoft.com/office/drawing/2014/main" id="{3A90DE9D-9AB9-EB79-7E30-5B497CEFFA31}"/>
                </a:ext>
              </a:extLst>
            </p:cNvPr>
            <p:cNvSpPr/>
            <p:nvPr/>
          </p:nvSpPr>
          <p:spPr bwMode="auto">
            <a:xfrm>
              <a:off x="6621925" y="3863618"/>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債権変換</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42" name="正方形/長方形 3041">
              <a:extLst>
                <a:ext uri="{FF2B5EF4-FFF2-40B4-BE49-F238E27FC236}">
                  <a16:creationId xmlns:a16="http://schemas.microsoft.com/office/drawing/2014/main" id="{AB2D8C50-C98A-998C-C51B-6BD93DBA53A7}"/>
                </a:ext>
              </a:extLst>
            </p:cNvPr>
            <p:cNvSpPr/>
            <p:nvPr/>
          </p:nvSpPr>
          <p:spPr bwMode="auto">
            <a:xfrm>
              <a:off x="6629994" y="4160692"/>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入金結果</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変換</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43" name="正方形/長方形 3042">
              <a:extLst>
                <a:ext uri="{FF2B5EF4-FFF2-40B4-BE49-F238E27FC236}">
                  <a16:creationId xmlns:a16="http://schemas.microsoft.com/office/drawing/2014/main" id="{C9F62281-16BB-9EFE-6F08-40E6DF6D0951}"/>
                </a:ext>
              </a:extLst>
            </p:cNvPr>
            <p:cNvSpPr/>
            <p:nvPr/>
          </p:nvSpPr>
          <p:spPr bwMode="auto">
            <a:xfrm>
              <a:off x="6629146" y="4465373"/>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債務変換</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44" name="正方形/長方形 3043">
              <a:extLst>
                <a:ext uri="{FF2B5EF4-FFF2-40B4-BE49-F238E27FC236}">
                  <a16:creationId xmlns:a16="http://schemas.microsoft.com/office/drawing/2014/main" id="{80A018D7-2FC4-A280-C429-6C29B134A2EF}"/>
                </a:ext>
              </a:extLst>
            </p:cNvPr>
            <p:cNvSpPr/>
            <p:nvPr/>
          </p:nvSpPr>
          <p:spPr bwMode="auto">
            <a:xfrm>
              <a:off x="6629501" y="4897044"/>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原価管理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原価管理、原価按分</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45" name="正方形/長方形 3044">
              <a:extLst>
                <a:ext uri="{FF2B5EF4-FFF2-40B4-BE49-F238E27FC236}">
                  <a16:creationId xmlns:a16="http://schemas.microsoft.com/office/drawing/2014/main" id="{6F6E6828-227F-1F48-CFBD-DC41E6DDCAC0}"/>
                </a:ext>
              </a:extLst>
            </p:cNvPr>
            <p:cNvSpPr/>
            <p:nvPr/>
          </p:nvSpPr>
          <p:spPr bwMode="auto">
            <a:xfrm>
              <a:off x="6629146" y="5227111"/>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固定資産</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変換</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46" name="正方形/長方形 3045">
              <a:extLst>
                <a:ext uri="{FF2B5EF4-FFF2-40B4-BE49-F238E27FC236}">
                  <a16:creationId xmlns:a16="http://schemas.microsoft.com/office/drawing/2014/main" id="{CE16DE93-382E-7AE0-8436-7B8CEF74723C}"/>
                </a:ext>
              </a:extLst>
            </p:cNvPr>
            <p:cNvSpPr/>
            <p:nvPr/>
          </p:nvSpPr>
          <p:spPr>
            <a:xfrm>
              <a:off x="7634858" y="3185454"/>
              <a:ext cx="277925" cy="2279462"/>
            </a:xfrm>
            <a:prstGeom prst="rect">
              <a:avLst/>
            </a:prstGeom>
            <a:solidFill>
              <a:srgbClr val="FFFFFF"/>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仕訳生成</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47" name="正方形/長方形 3046">
              <a:extLst>
                <a:ext uri="{FF2B5EF4-FFF2-40B4-BE49-F238E27FC236}">
                  <a16:creationId xmlns:a16="http://schemas.microsoft.com/office/drawing/2014/main" id="{F14F9BD1-15EC-6ECD-57D9-30B8BF750563}"/>
                </a:ext>
              </a:extLst>
            </p:cNvPr>
            <p:cNvSpPr/>
            <p:nvPr/>
          </p:nvSpPr>
          <p:spPr>
            <a:xfrm>
              <a:off x="8362644" y="2943816"/>
              <a:ext cx="277925" cy="2521099"/>
            </a:xfrm>
            <a:prstGeom prst="rect">
              <a:avLst/>
            </a:prstGeom>
            <a:solidFill>
              <a:srgbClr val="FFFFFF"/>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IF</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制御</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48" name="正方形/長方形 3047">
              <a:extLst>
                <a:ext uri="{FF2B5EF4-FFF2-40B4-BE49-F238E27FC236}">
                  <a16:creationId xmlns:a16="http://schemas.microsoft.com/office/drawing/2014/main" id="{48F76B68-6E8F-B825-6A56-72A0B30E6A28}"/>
                </a:ext>
              </a:extLst>
            </p:cNvPr>
            <p:cNvSpPr/>
            <p:nvPr/>
          </p:nvSpPr>
          <p:spPr>
            <a:xfrm>
              <a:off x="8947628" y="2771669"/>
              <a:ext cx="2848734" cy="3064463"/>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SAP</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49" name="正方形/長方形 3048">
              <a:extLst>
                <a:ext uri="{FF2B5EF4-FFF2-40B4-BE49-F238E27FC236}">
                  <a16:creationId xmlns:a16="http://schemas.microsoft.com/office/drawing/2014/main" id="{660F72BC-D1EC-E4CF-F28C-2A5CF7C5F9EB}"/>
                </a:ext>
              </a:extLst>
            </p:cNvPr>
            <p:cNvSpPr/>
            <p:nvPr/>
          </p:nvSpPr>
          <p:spPr bwMode="auto">
            <a:xfrm>
              <a:off x="10096141" y="3318668"/>
              <a:ext cx="555851" cy="101157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FI-AR</a:t>
              </a:r>
            </a:p>
          </p:txBody>
        </p:sp>
        <p:sp>
          <p:nvSpPr>
            <p:cNvPr id="3050" name="正方形/長方形 3049">
              <a:extLst>
                <a:ext uri="{FF2B5EF4-FFF2-40B4-BE49-F238E27FC236}">
                  <a16:creationId xmlns:a16="http://schemas.microsoft.com/office/drawing/2014/main" id="{66884ED6-CC18-B6A0-11EE-917819F324F1}"/>
                </a:ext>
              </a:extLst>
            </p:cNvPr>
            <p:cNvSpPr/>
            <p:nvPr/>
          </p:nvSpPr>
          <p:spPr bwMode="auto">
            <a:xfrm>
              <a:off x="10102358" y="2943816"/>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RAR</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収益按分</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51" name="正方形/長方形 3050">
              <a:extLst>
                <a:ext uri="{FF2B5EF4-FFF2-40B4-BE49-F238E27FC236}">
                  <a16:creationId xmlns:a16="http://schemas.microsoft.com/office/drawing/2014/main" id="{BDE95C46-AF3C-4FC6-01F9-8CB18536CCD9}"/>
                </a:ext>
              </a:extLst>
            </p:cNvPr>
            <p:cNvSpPr/>
            <p:nvPr/>
          </p:nvSpPr>
          <p:spPr bwMode="auto">
            <a:xfrm>
              <a:off x="10094309" y="4386541"/>
              <a:ext cx="555851" cy="538206"/>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FI-AP</a:t>
              </a:r>
            </a:p>
          </p:txBody>
        </p:sp>
        <p:sp>
          <p:nvSpPr>
            <p:cNvPr id="3052" name="正方形/長方形 3051">
              <a:extLst>
                <a:ext uri="{FF2B5EF4-FFF2-40B4-BE49-F238E27FC236}">
                  <a16:creationId xmlns:a16="http://schemas.microsoft.com/office/drawing/2014/main" id="{A7C6A013-ED8E-94DB-CA8C-AE08D5E86CC6}"/>
                </a:ext>
              </a:extLst>
            </p:cNvPr>
            <p:cNvSpPr/>
            <p:nvPr/>
          </p:nvSpPr>
          <p:spPr bwMode="auto">
            <a:xfrm>
              <a:off x="10096141" y="5306282"/>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FI-AA</a:t>
              </a:r>
            </a:p>
          </p:txBody>
        </p:sp>
        <p:sp>
          <p:nvSpPr>
            <p:cNvPr id="3053" name="正方形/長方形 3052">
              <a:extLst>
                <a:ext uri="{FF2B5EF4-FFF2-40B4-BE49-F238E27FC236}">
                  <a16:creationId xmlns:a16="http://schemas.microsoft.com/office/drawing/2014/main" id="{A689EF17-DE88-2EBC-E07F-494CD8060829}"/>
                </a:ext>
              </a:extLst>
            </p:cNvPr>
            <p:cNvSpPr/>
            <p:nvPr/>
          </p:nvSpPr>
          <p:spPr bwMode="auto">
            <a:xfrm>
              <a:off x="11101850" y="2943816"/>
              <a:ext cx="555851" cy="211667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FI-GL</a:t>
              </a:r>
            </a:p>
          </p:txBody>
        </p:sp>
        <p:cxnSp>
          <p:nvCxnSpPr>
            <p:cNvPr id="3054" name="カギ線コネクタ 379">
              <a:extLst>
                <a:ext uri="{FF2B5EF4-FFF2-40B4-BE49-F238E27FC236}">
                  <a16:creationId xmlns:a16="http://schemas.microsoft.com/office/drawing/2014/main" id="{D2BAEA9A-A620-FF3F-4883-83C92E9EF95D}"/>
                </a:ext>
              </a:extLst>
            </p:cNvPr>
            <p:cNvCxnSpPr>
              <a:cxnSpLocks/>
              <a:stCxn id="2711" idx="4"/>
              <a:endCxn id="3368" idx="1"/>
            </p:cNvCxnSpPr>
            <p:nvPr/>
          </p:nvCxnSpPr>
          <p:spPr>
            <a:xfrm rot="16200000" flipH="1">
              <a:off x="763228" y="4153388"/>
              <a:ext cx="151615" cy="96094"/>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55" name="テキスト ボックス 3054">
              <a:extLst>
                <a:ext uri="{FF2B5EF4-FFF2-40B4-BE49-F238E27FC236}">
                  <a16:creationId xmlns:a16="http://schemas.microsoft.com/office/drawing/2014/main" id="{CCE7A965-C710-64F4-5924-1D54ECDA600D}"/>
                </a:ext>
              </a:extLst>
            </p:cNvPr>
            <p:cNvSpPr txBox="1"/>
            <p:nvPr/>
          </p:nvSpPr>
          <p:spPr bwMode="auto">
            <a:xfrm>
              <a:off x="4107543" y="3224843"/>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受注、受注企画</a:t>
              </a:r>
              <a:endParaRPr lang="en-US" altLang="ja-JP" sz="400">
                <a:solidFill>
                  <a:srgbClr val="000000"/>
                </a:solidFill>
                <a:latin typeface="Meiryo UI"/>
                <a:ea typeface="Meiryo UI"/>
              </a:endParaRPr>
            </a:p>
          </p:txBody>
        </p:sp>
        <p:grpSp>
          <p:nvGrpSpPr>
            <p:cNvPr id="3056" name="グループ化 3055">
              <a:extLst>
                <a:ext uri="{FF2B5EF4-FFF2-40B4-BE49-F238E27FC236}">
                  <a16:creationId xmlns:a16="http://schemas.microsoft.com/office/drawing/2014/main" id="{C899D04B-246A-011A-7904-F02E460C517D}"/>
                </a:ext>
              </a:extLst>
            </p:cNvPr>
            <p:cNvGrpSpPr/>
            <p:nvPr/>
          </p:nvGrpSpPr>
          <p:grpSpPr>
            <a:xfrm>
              <a:off x="7175944" y="3628555"/>
              <a:ext cx="457278" cy="250221"/>
              <a:chOff x="6822214" y="2708920"/>
              <a:chExt cx="867588" cy="250221"/>
            </a:xfrm>
          </p:grpSpPr>
          <p:cxnSp>
            <p:nvCxnSpPr>
              <p:cNvPr id="3331" name="直線矢印コネクタ 3330">
                <a:extLst>
                  <a:ext uri="{FF2B5EF4-FFF2-40B4-BE49-F238E27FC236}">
                    <a16:creationId xmlns:a16="http://schemas.microsoft.com/office/drawing/2014/main" id="{F15B3B3A-0D25-7534-05E3-A9BBC1715C4E}"/>
                  </a:ext>
                </a:extLst>
              </p:cNvPr>
              <p:cNvCxnSpPr>
                <a:cxnSpLocks/>
              </p:cNvCxnSpPr>
              <p:nvPr/>
            </p:nvCxnSpPr>
            <p:spPr>
              <a:xfrm>
                <a:off x="6822214" y="2916235"/>
                <a:ext cx="867588"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32" name="テキスト ボックス 3331">
                <a:extLst>
                  <a:ext uri="{FF2B5EF4-FFF2-40B4-BE49-F238E27FC236}">
                    <a16:creationId xmlns:a16="http://schemas.microsoft.com/office/drawing/2014/main" id="{8245402F-A96F-CE6A-5898-15DDA1B9033A}"/>
                  </a:ext>
                </a:extLst>
              </p:cNvPr>
              <p:cNvSpPr txBox="1"/>
              <p:nvPr/>
            </p:nvSpPr>
            <p:spPr bwMode="auto">
              <a:xfrm>
                <a:off x="7303992" y="2708920"/>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売上</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sp>
          <p:nvSpPr>
            <p:cNvPr id="3057" name="テキスト ボックス 3056">
              <a:extLst>
                <a:ext uri="{FF2B5EF4-FFF2-40B4-BE49-F238E27FC236}">
                  <a16:creationId xmlns:a16="http://schemas.microsoft.com/office/drawing/2014/main" id="{7811AFA3-5CB7-1513-B36B-4B2F63D75DD5}"/>
                </a:ext>
              </a:extLst>
            </p:cNvPr>
            <p:cNvSpPr txBox="1"/>
            <p:nvPr/>
          </p:nvSpPr>
          <p:spPr bwMode="auto">
            <a:xfrm>
              <a:off x="7974781" y="3263256"/>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契約・履行義務・売上実績</a:t>
              </a:r>
              <a:endParaRPr lang="en-US" altLang="ja-JP" sz="400">
                <a:solidFill>
                  <a:srgbClr val="000000"/>
                </a:solidFill>
                <a:latin typeface="Meiryo UI"/>
                <a:ea typeface="Meiryo UI"/>
              </a:endParaRPr>
            </a:p>
          </p:txBody>
        </p:sp>
        <p:grpSp>
          <p:nvGrpSpPr>
            <p:cNvPr id="3058" name="グループ化 3057">
              <a:extLst>
                <a:ext uri="{FF2B5EF4-FFF2-40B4-BE49-F238E27FC236}">
                  <a16:creationId xmlns:a16="http://schemas.microsoft.com/office/drawing/2014/main" id="{9EDDACCB-0193-943C-661D-7FD81CF27435}"/>
                </a:ext>
              </a:extLst>
            </p:cNvPr>
            <p:cNvGrpSpPr/>
            <p:nvPr/>
          </p:nvGrpSpPr>
          <p:grpSpPr>
            <a:xfrm>
              <a:off x="7913697" y="3969819"/>
              <a:ext cx="2188662" cy="250221"/>
              <a:chOff x="7976917" y="2945337"/>
              <a:chExt cx="2268000" cy="250221"/>
            </a:xfrm>
          </p:grpSpPr>
          <p:cxnSp>
            <p:nvCxnSpPr>
              <p:cNvPr id="3329" name="直線矢印コネクタ 3328">
                <a:extLst>
                  <a:ext uri="{FF2B5EF4-FFF2-40B4-BE49-F238E27FC236}">
                    <a16:creationId xmlns:a16="http://schemas.microsoft.com/office/drawing/2014/main" id="{6547327A-F082-E6EF-0EA6-AD1997ABA520}"/>
                  </a:ext>
                </a:extLst>
              </p:cNvPr>
              <p:cNvCxnSpPr>
                <a:cxnSpLocks/>
              </p:cNvCxnSpPr>
              <p:nvPr/>
            </p:nvCxnSpPr>
            <p:spPr>
              <a:xfrm>
                <a:off x="7976917" y="3140968"/>
                <a:ext cx="22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30" name="テキスト ボックス 3329">
                <a:extLst>
                  <a:ext uri="{FF2B5EF4-FFF2-40B4-BE49-F238E27FC236}">
                    <a16:creationId xmlns:a16="http://schemas.microsoft.com/office/drawing/2014/main" id="{F00EE467-EE96-5008-1B9F-00D852434897}"/>
                  </a:ext>
                </a:extLst>
              </p:cNvPr>
              <p:cNvSpPr txBox="1"/>
              <p:nvPr/>
            </p:nvSpPr>
            <p:spPr bwMode="auto">
              <a:xfrm>
                <a:off x="8048925" y="294533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売上</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059" name="直線矢印コネクタ 3058">
              <a:extLst>
                <a:ext uri="{FF2B5EF4-FFF2-40B4-BE49-F238E27FC236}">
                  <a16:creationId xmlns:a16="http://schemas.microsoft.com/office/drawing/2014/main" id="{3656D266-59B0-7FAA-6C42-02280A6F0928}"/>
                </a:ext>
              </a:extLst>
            </p:cNvPr>
            <p:cNvCxnSpPr>
              <a:cxnSpLocks/>
            </p:cNvCxnSpPr>
            <p:nvPr/>
          </p:nvCxnSpPr>
          <p:spPr>
            <a:xfrm>
              <a:off x="4021737" y="1826381"/>
              <a:ext cx="208444"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60" name="楕円 3059">
              <a:extLst>
                <a:ext uri="{FF2B5EF4-FFF2-40B4-BE49-F238E27FC236}">
                  <a16:creationId xmlns:a16="http://schemas.microsoft.com/office/drawing/2014/main" id="{6397EF24-18B5-5900-2C1A-BE781457AE10}"/>
                </a:ext>
              </a:extLst>
            </p:cNvPr>
            <p:cNvSpPr/>
            <p:nvPr/>
          </p:nvSpPr>
          <p:spPr>
            <a:xfrm>
              <a:off x="4237341" y="1754924"/>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A</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61" name="テキスト ボックス 3060">
              <a:extLst>
                <a:ext uri="{FF2B5EF4-FFF2-40B4-BE49-F238E27FC236}">
                  <a16:creationId xmlns:a16="http://schemas.microsoft.com/office/drawing/2014/main" id="{06B2786C-A7A7-94D4-352E-DCEA80320B5D}"/>
                </a:ext>
              </a:extLst>
            </p:cNvPr>
            <p:cNvSpPr txBox="1"/>
            <p:nvPr/>
          </p:nvSpPr>
          <p:spPr bwMode="auto">
            <a:xfrm>
              <a:off x="4068326" y="1607329"/>
              <a:ext cx="302310" cy="23035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請求・引落明細</a:t>
              </a:r>
              <a:endParaRPr lang="en-US" altLang="ja-JP" sz="400">
                <a:solidFill>
                  <a:srgbClr val="000000"/>
                </a:solidFill>
                <a:latin typeface="Meiryo UI"/>
                <a:ea typeface="Meiryo UI"/>
              </a:endParaRPr>
            </a:p>
          </p:txBody>
        </p:sp>
        <p:cxnSp>
          <p:nvCxnSpPr>
            <p:cNvPr id="3062" name="カギ線コネクタ 379">
              <a:extLst>
                <a:ext uri="{FF2B5EF4-FFF2-40B4-BE49-F238E27FC236}">
                  <a16:creationId xmlns:a16="http://schemas.microsoft.com/office/drawing/2014/main" id="{BD0F35E9-1C5E-1B98-2E11-B465A596F798}"/>
                </a:ext>
              </a:extLst>
            </p:cNvPr>
            <p:cNvCxnSpPr>
              <a:cxnSpLocks/>
            </p:cNvCxnSpPr>
            <p:nvPr/>
          </p:nvCxnSpPr>
          <p:spPr>
            <a:xfrm flipV="1">
              <a:off x="4918899" y="4079592"/>
              <a:ext cx="1690590" cy="236805"/>
            </a:xfrm>
            <a:prstGeom prst="bentConnector3">
              <a:avLst>
                <a:gd name="adj1" fmla="val 84117"/>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72" name="テキスト ボックス 3071">
              <a:extLst>
                <a:ext uri="{FF2B5EF4-FFF2-40B4-BE49-F238E27FC236}">
                  <a16:creationId xmlns:a16="http://schemas.microsoft.com/office/drawing/2014/main" id="{14706EC9-5C52-E23F-48C4-EE5336C8AD96}"/>
                </a:ext>
              </a:extLst>
            </p:cNvPr>
            <p:cNvSpPr txBox="1"/>
            <p:nvPr/>
          </p:nvSpPr>
          <p:spPr bwMode="auto">
            <a:xfrm>
              <a:off x="4998547" y="4214359"/>
              <a:ext cx="446945" cy="11978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請求書・引落明細書</a:t>
              </a:r>
              <a:endParaRPr lang="en-US" altLang="ja-JP" sz="400">
                <a:solidFill>
                  <a:srgbClr val="000000"/>
                </a:solidFill>
                <a:latin typeface="Meiryo UI"/>
                <a:ea typeface="Meiryo UI"/>
              </a:endParaRPr>
            </a:p>
          </p:txBody>
        </p:sp>
        <p:grpSp>
          <p:nvGrpSpPr>
            <p:cNvPr id="3074" name="グループ化 3073">
              <a:extLst>
                <a:ext uri="{FF2B5EF4-FFF2-40B4-BE49-F238E27FC236}">
                  <a16:creationId xmlns:a16="http://schemas.microsoft.com/office/drawing/2014/main" id="{0638FBCE-E3D0-82AF-AEFF-9A4CDB2134EB}"/>
                </a:ext>
              </a:extLst>
            </p:cNvPr>
            <p:cNvGrpSpPr/>
            <p:nvPr/>
          </p:nvGrpSpPr>
          <p:grpSpPr>
            <a:xfrm>
              <a:off x="7185145" y="4427222"/>
              <a:ext cx="451629" cy="250221"/>
              <a:chOff x="7221802" y="3327832"/>
              <a:chExt cx="468000" cy="250221"/>
            </a:xfrm>
          </p:grpSpPr>
          <p:cxnSp>
            <p:nvCxnSpPr>
              <p:cNvPr id="3327" name="直線矢印コネクタ 3326">
                <a:extLst>
                  <a:ext uri="{FF2B5EF4-FFF2-40B4-BE49-F238E27FC236}">
                    <a16:creationId xmlns:a16="http://schemas.microsoft.com/office/drawing/2014/main" id="{0F0D0FA3-5606-7665-A12E-BAB1796D4ADF}"/>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28" name="テキスト ボックス 3327">
                <a:extLst>
                  <a:ext uri="{FF2B5EF4-FFF2-40B4-BE49-F238E27FC236}">
                    <a16:creationId xmlns:a16="http://schemas.microsoft.com/office/drawing/2014/main" id="{F757B195-DA8B-ACD9-0B35-6DC0079AA3CE}"/>
                  </a:ext>
                </a:extLst>
              </p:cNvPr>
              <p:cNvSpPr txBox="1"/>
              <p:nvPr/>
            </p:nvSpPr>
            <p:spPr bwMode="auto">
              <a:xfrm>
                <a:off x="7245456" y="3327832"/>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債権</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75" name="グループ化 3074">
              <a:extLst>
                <a:ext uri="{FF2B5EF4-FFF2-40B4-BE49-F238E27FC236}">
                  <a16:creationId xmlns:a16="http://schemas.microsoft.com/office/drawing/2014/main" id="{322B9EF0-D660-FEEF-A9EA-8A74F3760591}"/>
                </a:ext>
              </a:extLst>
            </p:cNvPr>
            <p:cNvGrpSpPr/>
            <p:nvPr/>
          </p:nvGrpSpPr>
          <p:grpSpPr>
            <a:xfrm>
              <a:off x="7913697" y="4169944"/>
              <a:ext cx="2188662" cy="250221"/>
              <a:chOff x="7976917" y="2945337"/>
              <a:chExt cx="2268000" cy="250221"/>
            </a:xfrm>
          </p:grpSpPr>
          <p:cxnSp>
            <p:nvCxnSpPr>
              <p:cNvPr id="3325" name="直線矢印コネクタ 3324">
                <a:extLst>
                  <a:ext uri="{FF2B5EF4-FFF2-40B4-BE49-F238E27FC236}">
                    <a16:creationId xmlns:a16="http://schemas.microsoft.com/office/drawing/2014/main" id="{D23838D6-DB1E-51FF-33A4-49FCF3314C88}"/>
                  </a:ext>
                </a:extLst>
              </p:cNvPr>
              <p:cNvCxnSpPr>
                <a:cxnSpLocks/>
              </p:cNvCxnSpPr>
              <p:nvPr/>
            </p:nvCxnSpPr>
            <p:spPr>
              <a:xfrm>
                <a:off x="7976917" y="3140968"/>
                <a:ext cx="22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26" name="テキスト ボックス 3325">
                <a:extLst>
                  <a:ext uri="{FF2B5EF4-FFF2-40B4-BE49-F238E27FC236}">
                    <a16:creationId xmlns:a16="http://schemas.microsoft.com/office/drawing/2014/main" id="{F5DD93EA-B4C8-4819-FBD8-212535525D36}"/>
                  </a:ext>
                </a:extLst>
              </p:cNvPr>
              <p:cNvSpPr txBox="1"/>
              <p:nvPr/>
            </p:nvSpPr>
            <p:spPr bwMode="auto">
              <a:xfrm>
                <a:off x="8048925" y="2945337"/>
                <a:ext cx="313269" cy="250221"/>
              </a:xfrm>
              <a:prstGeom prst="rect">
                <a:avLst/>
              </a:prstGeom>
              <a:noFill/>
              <a:ln w="12700">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債権</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76" name="グループ化 3075">
              <a:extLst>
                <a:ext uri="{FF2B5EF4-FFF2-40B4-BE49-F238E27FC236}">
                  <a16:creationId xmlns:a16="http://schemas.microsoft.com/office/drawing/2014/main" id="{67A8135E-523C-F0B9-5851-7DEE89EB48A4}"/>
                </a:ext>
              </a:extLst>
            </p:cNvPr>
            <p:cNvGrpSpPr/>
            <p:nvPr/>
          </p:nvGrpSpPr>
          <p:grpSpPr>
            <a:xfrm>
              <a:off x="8642205" y="4460255"/>
              <a:ext cx="1459108" cy="250221"/>
              <a:chOff x="8731833" y="3435773"/>
              <a:chExt cx="1512000" cy="250221"/>
            </a:xfrm>
          </p:grpSpPr>
          <p:cxnSp>
            <p:nvCxnSpPr>
              <p:cNvPr id="3323" name="直線矢印コネクタ 3322">
                <a:extLst>
                  <a:ext uri="{FF2B5EF4-FFF2-40B4-BE49-F238E27FC236}">
                    <a16:creationId xmlns:a16="http://schemas.microsoft.com/office/drawing/2014/main" id="{CA0B32F1-8A1B-6F19-54DF-6D0E53E38C6D}"/>
                  </a:ext>
                </a:extLst>
              </p:cNvPr>
              <p:cNvCxnSpPr>
                <a:cxnSpLocks/>
              </p:cNvCxnSpPr>
              <p:nvPr/>
            </p:nvCxnSpPr>
            <p:spPr>
              <a:xfrm flipH="1">
                <a:off x="8731833" y="3618897"/>
                <a:ext cx="1512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24" name="テキスト ボックス 3323">
                <a:extLst>
                  <a:ext uri="{FF2B5EF4-FFF2-40B4-BE49-F238E27FC236}">
                    <a16:creationId xmlns:a16="http://schemas.microsoft.com/office/drawing/2014/main" id="{0BB9D47F-3DDC-3A4E-F543-E9D61EDCBE79}"/>
                  </a:ext>
                </a:extLst>
              </p:cNvPr>
              <p:cNvSpPr txBox="1"/>
              <p:nvPr/>
            </p:nvSpPr>
            <p:spPr bwMode="auto">
              <a:xfrm>
                <a:off x="9590353" y="3435773"/>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請求書・督促書</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sp>
          <p:nvSpPr>
            <p:cNvPr id="3077" name="テキスト ボックス 3076">
              <a:extLst>
                <a:ext uri="{FF2B5EF4-FFF2-40B4-BE49-F238E27FC236}">
                  <a16:creationId xmlns:a16="http://schemas.microsoft.com/office/drawing/2014/main" id="{985BB58F-223C-75E7-C3AD-E58932706BFB}"/>
                </a:ext>
              </a:extLst>
            </p:cNvPr>
            <p:cNvSpPr txBox="1"/>
            <p:nvPr/>
          </p:nvSpPr>
          <p:spPr bwMode="auto">
            <a:xfrm>
              <a:off x="6584635" y="6212025"/>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請求書</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・引落明細書</a:t>
              </a:r>
              <a:endParaRPr lang="en-US" altLang="ja-JP" sz="400">
                <a:solidFill>
                  <a:srgbClr val="000000"/>
                </a:solidFill>
                <a:latin typeface="Meiryo UI"/>
                <a:ea typeface="Meiryo UI"/>
              </a:endParaRPr>
            </a:p>
          </p:txBody>
        </p:sp>
        <p:sp>
          <p:nvSpPr>
            <p:cNvPr id="3078" name="テキスト ボックス 3077">
              <a:extLst>
                <a:ext uri="{FF2B5EF4-FFF2-40B4-BE49-F238E27FC236}">
                  <a16:creationId xmlns:a16="http://schemas.microsoft.com/office/drawing/2014/main" id="{4290643B-E350-36E9-1F31-3121E868A83E}"/>
                </a:ext>
              </a:extLst>
            </p:cNvPr>
            <p:cNvSpPr txBox="1"/>
            <p:nvPr/>
          </p:nvSpPr>
          <p:spPr bwMode="auto">
            <a:xfrm>
              <a:off x="743359" y="3683702"/>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決済・入金予定</a:t>
              </a:r>
              <a:endParaRPr lang="en-US" altLang="ja-JP" sz="400">
                <a:solidFill>
                  <a:srgbClr val="000000"/>
                </a:solidFill>
                <a:latin typeface="Meiryo UI"/>
                <a:ea typeface="Meiryo UI"/>
              </a:endParaRPr>
            </a:p>
          </p:txBody>
        </p:sp>
        <p:sp>
          <p:nvSpPr>
            <p:cNvPr id="3079" name="テキスト ボックス 3078">
              <a:extLst>
                <a:ext uri="{FF2B5EF4-FFF2-40B4-BE49-F238E27FC236}">
                  <a16:creationId xmlns:a16="http://schemas.microsoft.com/office/drawing/2014/main" id="{D0020B41-9BA5-CBD8-4DA9-6FC387D2C48F}"/>
                </a:ext>
              </a:extLst>
            </p:cNvPr>
            <p:cNvSpPr txBox="1"/>
            <p:nvPr/>
          </p:nvSpPr>
          <p:spPr bwMode="auto">
            <a:xfrm>
              <a:off x="4062304" y="6038375"/>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仕訳計上</a:t>
              </a:r>
              <a:endParaRPr lang="en-US" altLang="ja-JP" sz="400">
                <a:solidFill>
                  <a:srgbClr val="000000"/>
                </a:solidFill>
                <a:latin typeface="Meiryo UI"/>
                <a:ea typeface="Meiryo UI"/>
              </a:endParaRPr>
            </a:p>
          </p:txBody>
        </p:sp>
        <p:cxnSp>
          <p:nvCxnSpPr>
            <p:cNvPr id="3080" name="直線矢印コネクタ 3079">
              <a:extLst>
                <a:ext uri="{FF2B5EF4-FFF2-40B4-BE49-F238E27FC236}">
                  <a16:creationId xmlns:a16="http://schemas.microsoft.com/office/drawing/2014/main" id="{AC588EA0-D9EA-DF7C-B833-74585DD4A461}"/>
                </a:ext>
              </a:extLst>
            </p:cNvPr>
            <p:cNvCxnSpPr>
              <a:cxnSpLocks/>
            </p:cNvCxnSpPr>
            <p:nvPr/>
          </p:nvCxnSpPr>
          <p:spPr>
            <a:xfrm>
              <a:off x="4915766" y="4605564"/>
              <a:ext cx="1713333" cy="2517"/>
            </a:xfrm>
            <a:prstGeom prst="straightConnector1">
              <a:avLst/>
            </a:prstGeom>
            <a:solidFill>
              <a:srgbClr val="00CC99"/>
            </a:solidFill>
            <a:ln w="9525" cap="flat" cmpd="sng" algn="ctr">
              <a:solidFill>
                <a:srgbClr val="595959"/>
              </a:solidFill>
              <a:prstDash val="solid"/>
              <a:round/>
              <a:headEnd type="triangle" w="med" len="med"/>
              <a:tailEnd type="none" w="med" len="med"/>
            </a:ln>
            <a:effectLst/>
          </p:spPr>
        </p:cxnSp>
        <p:sp>
          <p:nvSpPr>
            <p:cNvPr id="3081" name="楕円 3080">
              <a:extLst>
                <a:ext uri="{FF2B5EF4-FFF2-40B4-BE49-F238E27FC236}">
                  <a16:creationId xmlns:a16="http://schemas.microsoft.com/office/drawing/2014/main" id="{CFFB5B18-F902-7E9D-8C1D-68772E878DC9}"/>
                </a:ext>
              </a:extLst>
            </p:cNvPr>
            <p:cNvSpPr/>
            <p:nvPr/>
          </p:nvSpPr>
          <p:spPr>
            <a:xfrm>
              <a:off x="7974781" y="4140173"/>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B</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82" name="テキスト ボックス 3081">
              <a:extLst>
                <a:ext uri="{FF2B5EF4-FFF2-40B4-BE49-F238E27FC236}">
                  <a16:creationId xmlns:a16="http://schemas.microsoft.com/office/drawing/2014/main" id="{CA1E4183-66C4-2A7A-55ED-6B95A7669FCD}"/>
                </a:ext>
              </a:extLst>
            </p:cNvPr>
            <p:cNvSpPr txBox="1"/>
            <p:nvPr/>
          </p:nvSpPr>
          <p:spPr bwMode="auto">
            <a:xfrm>
              <a:off x="8924885" y="4068383"/>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振込入金・</a:t>
              </a:r>
              <a:r>
                <a:rPr lang="en-US" altLang="ja-JP" sz="400">
                  <a:solidFill>
                    <a:srgbClr val="000000"/>
                  </a:solidFill>
                  <a:latin typeface="Meiryo UI"/>
                  <a:ea typeface="Meiryo UI"/>
                </a:rPr>
                <a:t>CVS</a:t>
              </a:r>
              <a:r>
                <a:rPr lang="ja-JP" altLang="en-US" sz="400">
                  <a:solidFill>
                    <a:srgbClr val="000000"/>
                  </a:solidFill>
                  <a:latin typeface="Meiryo UI"/>
                  <a:ea typeface="Meiryo UI"/>
                </a:rPr>
                <a:t>収納・引落返還</a:t>
              </a:r>
              <a:endParaRPr lang="en-US" altLang="ja-JP" sz="400">
                <a:solidFill>
                  <a:srgbClr val="000000"/>
                </a:solidFill>
                <a:latin typeface="Meiryo UI"/>
                <a:ea typeface="Meiryo UI"/>
              </a:endParaRPr>
            </a:p>
          </p:txBody>
        </p:sp>
        <p:grpSp>
          <p:nvGrpSpPr>
            <p:cNvPr id="3083" name="グループ化 3082">
              <a:extLst>
                <a:ext uri="{FF2B5EF4-FFF2-40B4-BE49-F238E27FC236}">
                  <a16:creationId xmlns:a16="http://schemas.microsoft.com/office/drawing/2014/main" id="{791F1BCF-FB7C-4A8F-CF8D-561B8A80DFAB}"/>
                </a:ext>
              </a:extLst>
            </p:cNvPr>
            <p:cNvGrpSpPr/>
            <p:nvPr/>
          </p:nvGrpSpPr>
          <p:grpSpPr>
            <a:xfrm>
              <a:off x="7183198" y="4578374"/>
              <a:ext cx="451629" cy="250221"/>
              <a:chOff x="7221802" y="3333988"/>
              <a:chExt cx="468000" cy="250221"/>
            </a:xfrm>
          </p:grpSpPr>
          <p:cxnSp>
            <p:nvCxnSpPr>
              <p:cNvPr id="3321" name="直線矢印コネクタ 3320">
                <a:extLst>
                  <a:ext uri="{FF2B5EF4-FFF2-40B4-BE49-F238E27FC236}">
                    <a16:creationId xmlns:a16="http://schemas.microsoft.com/office/drawing/2014/main" id="{794583FB-24F8-328B-94FC-30C3A0634479}"/>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22" name="テキスト ボックス 3321">
                <a:extLst>
                  <a:ext uri="{FF2B5EF4-FFF2-40B4-BE49-F238E27FC236}">
                    <a16:creationId xmlns:a16="http://schemas.microsoft.com/office/drawing/2014/main" id="{7DF13344-C0DD-DF4B-5715-1F5BAED56519}"/>
                  </a:ext>
                </a:extLst>
              </p:cNvPr>
              <p:cNvSpPr txBox="1"/>
              <p:nvPr/>
            </p:nvSpPr>
            <p:spPr bwMode="auto">
              <a:xfrm>
                <a:off x="7234587" y="3333988"/>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入金予定</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084" name="直線矢印コネクタ 3083">
              <a:extLst>
                <a:ext uri="{FF2B5EF4-FFF2-40B4-BE49-F238E27FC236}">
                  <a16:creationId xmlns:a16="http://schemas.microsoft.com/office/drawing/2014/main" id="{24719262-245E-686C-6C8E-D0ACE14B34A7}"/>
                </a:ext>
              </a:extLst>
            </p:cNvPr>
            <p:cNvCxnSpPr>
              <a:cxnSpLocks/>
            </p:cNvCxnSpPr>
            <p:nvPr/>
          </p:nvCxnSpPr>
          <p:spPr>
            <a:xfrm>
              <a:off x="8150743" y="4214554"/>
              <a:ext cx="1945477"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085" name="直線矢印コネクタ 3084">
              <a:extLst>
                <a:ext uri="{FF2B5EF4-FFF2-40B4-BE49-F238E27FC236}">
                  <a16:creationId xmlns:a16="http://schemas.microsoft.com/office/drawing/2014/main" id="{74425EA9-0431-23FD-97C3-5CBBF5B8903E}"/>
                </a:ext>
              </a:extLst>
            </p:cNvPr>
            <p:cNvCxnSpPr>
              <a:cxnSpLocks/>
            </p:cNvCxnSpPr>
            <p:nvPr/>
          </p:nvCxnSpPr>
          <p:spPr>
            <a:xfrm flipH="1">
              <a:off x="7185023" y="4292467"/>
              <a:ext cx="2918216"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86" name="テキスト ボックス 3085">
              <a:extLst>
                <a:ext uri="{FF2B5EF4-FFF2-40B4-BE49-F238E27FC236}">
                  <a16:creationId xmlns:a16="http://schemas.microsoft.com/office/drawing/2014/main" id="{996C41E6-93E6-3ECE-F82A-EB425EC77D71}"/>
                </a:ext>
              </a:extLst>
            </p:cNvPr>
            <p:cNvSpPr txBox="1"/>
            <p:nvPr/>
          </p:nvSpPr>
          <p:spPr bwMode="auto">
            <a:xfrm>
              <a:off x="9518872" y="4151271"/>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入金消込結果</a:t>
              </a:r>
              <a:endParaRPr lang="en-US" altLang="ja-JP" sz="400">
                <a:solidFill>
                  <a:srgbClr val="000000"/>
                </a:solidFill>
                <a:latin typeface="Meiryo UI"/>
                <a:ea typeface="Meiryo UI"/>
              </a:endParaRPr>
            </a:p>
          </p:txBody>
        </p:sp>
        <p:cxnSp>
          <p:nvCxnSpPr>
            <p:cNvPr id="3087" name="カギ線コネクタ 379">
              <a:extLst>
                <a:ext uri="{FF2B5EF4-FFF2-40B4-BE49-F238E27FC236}">
                  <a16:creationId xmlns:a16="http://schemas.microsoft.com/office/drawing/2014/main" id="{4E0765FA-A001-08D1-14D9-69DBE869CCC7}"/>
                </a:ext>
              </a:extLst>
            </p:cNvPr>
            <p:cNvCxnSpPr>
              <a:cxnSpLocks/>
            </p:cNvCxnSpPr>
            <p:nvPr/>
          </p:nvCxnSpPr>
          <p:spPr>
            <a:xfrm rot="10800000">
              <a:off x="4010821" y="3584896"/>
              <a:ext cx="2615199" cy="629901"/>
            </a:xfrm>
            <a:prstGeom prst="bentConnector3">
              <a:avLst>
                <a:gd name="adj1" fmla="val 45607"/>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88" name="テキスト ボックス 3087">
              <a:extLst>
                <a:ext uri="{FF2B5EF4-FFF2-40B4-BE49-F238E27FC236}">
                  <a16:creationId xmlns:a16="http://schemas.microsoft.com/office/drawing/2014/main" id="{DDAB6608-23D4-E9B3-7D1B-3D7404ACE2CD}"/>
                </a:ext>
              </a:extLst>
            </p:cNvPr>
            <p:cNvSpPr txBox="1"/>
            <p:nvPr/>
          </p:nvSpPr>
          <p:spPr bwMode="auto">
            <a:xfrm>
              <a:off x="4107878" y="343512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入金消込結果</a:t>
              </a:r>
              <a:endParaRPr lang="en-US" altLang="ja-JP" sz="400">
                <a:solidFill>
                  <a:srgbClr val="000000"/>
                </a:solidFill>
                <a:latin typeface="Meiryo UI"/>
                <a:ea typeface="Meiryo UI"/>
              </a:endParaRPr>
            </a:p>
          </p:txBody>
        </p:sp>
        <p:grpSp>
          <p:nvGrpSpPr>
            <p:cNvPr id="3089" name="グループ化 3088">
              <a:extLst>
                <a:ext uri="{FF2B5EF4-FFF2-40B4-BE49-F238E27FC236}">
                  <a16:creationId xmlns:a16="http://schemas.microsoft.com/office/drawing/2014/main" id="{C12A47D8-FDE8-A781-79FF-39EFDC813D94}"/>
                </a:ext>
              </a:extLst>
            </p:cNvPr>
            <p:cNvGrpSpPr/>
            <p:nvPr/>
          </p:nvGrpSpPr>
          <p:grpSpPr>
            <a:xfrm>
              <a:off x="4775038" y="3799025"/>
              <a:ext cx="418341" cy="259093"/>
              <a:chOff x="4606879" y="4246853"/>
              <a:chExt cx="433506" cy="313504"/>
            </a:xfrm>
          </p:grpSpPr>
          <p:sp>
            <p:nvSpPr>
              <p:cNvPr id="3318" name="楕円 3317">
                <a:extLst>
                  <a:ext uri="{FF2B5EF4-FFF2-40B4-BE49-F238E27FC236}">
                    <a16:creationId xmlns:a16="http://schemas.microsoft.com/office/drawing/2014/main" id="{B9D8940C-4CB6-68AC-D305-5BE7C0A06A4A}"/>
                  </a:ext>
                </a:extLst>
              </p:cNvPr>
              <p:cNvSpPr/>
              <p:nvPr/>
            </p:nvSpPr>
            <p:spPr>
              <a:xfrm>
                <a:off x="4606879" y="4250758"/>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A</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19" name="テキスト ボックス 3318">
                <a:extLst>
                  <a:ext uri="{FF2B5EF4-FFF2-40B4-BE49-F238E27FC236}">
                    <a16:creationId xmlns:a16="http://schemas.microsoft.com/office/drawing/2014/main" id="{4C6C83B4-04EA-6B85-405F-A6E7869578FD}"/>
                  </a:ext>
                </a:extLst>
              </p:cNvPr>
              <p:cNvSpPr txBox="1"/>
              <p:nvPr/>
            </p:nvSpPr>
            <p:spPr bwMode="auto">
              <a:xfrm>
                <a:off x="4796183" y="4246853"/>
                <a:ext cx="244202" cy="171466"/>
              </a:xfrm>
              <a:prstGeom prst="rect">
                <a:avLst/>
              </a:prstGeom>
              <a:noFill/>
              <a:ln w="9525">
                <a:noFill/>
                <a:miter lim="800000"/>
                <a:headEnd/>
                <a:tailEnd/>
              </a:ln>
            </p:spPr>
            <p:txBody>
              <a:bodyPr wrap="none" lIns="0" tIns="0" rIns="0" bIns="0" rtlCol="0" anchor="ctr">
                <a:noAutofit/>
              </a:bodyPr>
              <a:lstStyle>
                <a:defPPr>
                  <a:defRPr lang="ja-JP"/>
                </a:defPPr>
                <a:lvl1pPr marL="0" marR="0" lvl="0" indent="0" algn="ctr" defTabSz="914400" eaLnBrk="1" latinLnBrk="0" hangingPunct="1">
                  <a:lnSpc>
                    <a:spcPct val="100000"/>
                  </a:lnSpc>
                  <a:buClrTx/>
                  <a:buSzTx/>
                  <a:buFontTx/>
                  <a:buNone/>
                  <a:tabLst/>
                  <a:defRPr sz="700">
                    <a:solidFill>
                      <a:schemeClr val="tx1">
                        <a:lumMod val="65000"/>
                        <a:lumOff val="35000"/>
                      </a:schemeClr>
                    </a:solidFill>
                    <a:latin typeface="Meiryo UI"/>
                    <a:ea typeface="Meiryo UI"/>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請求</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・引落明細</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cxnSp>
            <p:nvCxnSpPr>
              <p:cNvPr id="3320" name="直線矢印コネクタ 3319">
                <a:extLst>
                  <a:ext uri="{FF2B5EF4-FFF2-40B4-BE49-F238E27FC236}">
                    <a16:creationId xmlns:a16="http://schemas.microsoft.com/office/drawing/2014/main" id="{AC6097C8-05BD-18A5-CE6E-DAD26F2C707C}"/>
                  </a:ext>
                </a:extLst>
              </p:cNvPr>
              <p:cNvCxnSpPr>
                <a:cxnSpLocks/>
              </p:cNvCxnSpPr>
              <p:nvPr/>
            </p:nvCxnSpPr>
            <p:spPr>
              <a:xfrm>
                <a:off x="4696879" y="4430757"/>
                <a:ext cx="0" cy="12960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grpSp>
          <p:nvGrpSpPr>
            <p:cNvPr id="3090" name="グループ化 3089">
              <a:extLst>
                <a:ext uri="{FF2B5EF4-FFF2-40B4-BE49-F238E27FC236}">
                  <a16:creationId xmlns:a16="http://schemas.microsoft.com/office/drawing/2014/main" id="{841DA25D-69B5-DFAD-38E9-57BD26015F63}"/>
                </a:ext>
              </a:extLst>
            </p:cNvPr>
            <p:cNvGrpSpPr/>
            <p:nvPr/>
          </p:nvGrpSpPr>
          <p:grpSpPr>
            <a:xfrm>
              <a:off x="10650160" y="3450686"/>
              <a:ext cx="451629" cy="250221"/>
              <a:chOff x="7221802" y="3178779"/>
              <a:chExt cx="468000" cy="250221"/>
            </a:xfrm>
          </p:grpSpPr>
          <p:cxnSp>
            <p:nvCxnSpPr>
              <p:cNvPr id="3316" name="直線矢印コネクタ 3315">
                <a:extLst>
                  <a:ext uri="{FF2B5EF4-FFF2-40B4-BE49-F238E27FC236}">
                    <a16:creationId xmlns:a16="http://schemas.microsoft.com/office/drawing/2014/main" id="{7F4953F0-280C-26C9-B130-027B94FBDFB8}"/>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17" name="テキスト ボックス 3316">
                <a:extLst>
                  <a:ext uri="{FF2B5EF4-FFF2-40B4-BE49-F238E27FC236}">
                    <a16:creationId xmlns:a16="http://schemas.microsoft.com/office/drawing/2014/main" id="{7C2064FD-4627-1A72-4458-8095336EB09D}"/>
                  </a:ext>
                </a:extLst>
              </p:cNvPr>
              <p:cNvSpPr txBox="1"/>
              <p:nvPr/>
            </p:nvSpPr>
            <p:spPr bwMode="auto">
              <a:xfrm>
                <a:off x="7303992" y="3178779"/>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収益按分</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91" name="グループ化 3090">
              <a:extLst>
                <a:ext uri="{FF2B5EF4-FFF2-40B4-BE49-F238E27FC236}">
                  <a16:creationId xmlns:a16="http://schemas.microsoft.com/office/drawing/2014/main" id="{D1F73E6D-6FB3-2332-6C79-7B04C41D5C39}"/>
                </a:ext>
              </a:extLst>
            </p:cNvPr>
            <p:cNvGrpSpPr/>
            <p:nvPr/>
          </p:nvGrpSpPr>
          <p:grpSpPr>
            <a:xfrm>
              <a:off x="4019718" y="4857353"/>
              <a:ext cx="555851" cy="250221"/>
              <a:chOff x="7221802" y="3197067"/>
              <a:chExt cx="576000" cy="250221"/>
            </a:xfrm>
          </p:grpSpPr>
          <p:cxnSp>
            <p:nvCxnSpPr>
              <p:cNvPr id="3314" name="直線矢印コネクタ 3313">
                <a:extLst>
                  <a:ext uri="{FF2B5EF4-FFF2-40B4-BE49-F238E27FC236}">
                    <a16:creationId xmlns:a16="http://schemas.microsoft.com/office/drawing/2014/main" id="{C5AC6812-3C95-733A-2B22-F89AE59DDF6F}"/>
                  </a:ext>
                </a:extLst>
              </p:cNvPr>
              <p:cNvCxnSpPr>
                <a:cxnSpLocks/>
              </p:cNvCxnSpPr>
              <p:nvPr/>
            </p:nvCxnSpPr>
            <p:spPr>
              <a:xfrm>
                <a:off x="7221802" y="3386094"/>
                <a:ext cx="57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15" name="テキスト ボックス 3314">
                <a:extLst>
                  <a:ext uri="{FF2B5EF4-FFF2-40B4-BE49-F238E27FC236}">
                    <a16:creationId xmlns:a16="http://schemas.microsoft.com/office/drawing/2014/main" id="{261B60FC-6F2C-00F8-DA54-C0F6795CE4AA}"/>
                  </a:ext>
                </a:extLst>
              </p:cNvPr>
              <p:cNvSpPr txBox="1"/>
              <p:nvPr/>
            </p:nvSpPr>
            <p:spPr bwMode="auto">
              <a:xfrm>
                <a:off x="7303992" y="319706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支払依頼</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sp>
          <p:nvSpPr>
            <p:cNvPr id="3092" name="テキスト ボックス 3091">
              <a:extLst>
                <a:ext uri="{FF2B5EF4-FFF2-40B4-BE49-F238E27FC236}">
                  <a16:creationId xmlns:a16="http://schemas.microsoft.com/office/drawing/2014/main" id="{3A7EE6A6-9EB5-D927-7944-63D2D7863067}"/>
                </a:ext>
              </a:extLst>
            </p:cNvPr>
            <p:cNvSpPr txBox="1"/>
            <p:nvPr/>
          </p:nvSpPr>
          <p:spPr bwMode="auto">
            <a:xfrm>
              <a:off x="5000254" y="4458635"/>
              <a:ext cx="365858" cy="73865"/>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支払依頼</a:t>
              </a:r>
              <a:endParaRPr lang="en-US" altLang="ja-JP" sz="400">
                <a:solidFill>
                  <a:srgbClr val="000000"/>
                </a:solidFill>
                <a:latin typeface="Meiryo UI"/>
                <a:ea typeface="Meiryo UI"/>
              </a:endParaRPr>
            </a:p>
          </p:txBody>
        </p:sp>
        <p:grpSp>
          <p:nvGrpSpPr>
            <p:cNvPr id="3093" name="グループ化 3092">
              <a:extLst>
                <a:ext uri="{FF2B5EF4-FFF2-40B4-BE49-F238E27FC236}">
                  <a16:creationId xmlns:a16="http://schemas.microsoft.com/office/drawing/2014/main" id="{B552CC26-7FBE-4168-8231-8E0CC41A2AE3}"/>
                </a:ext>
              </a:extLst>
            </p:cNvPr>
            <p:cNvGrpSpPr/>
            <p:nvPr/>
          </p:nvGrpSpPr>
          <p:grpSpPr>
            <a:xfrm>
              <a:off x="7186367" y="4913785"/>
              <a:ext cx="451629" cy="250221"/>
              <a:chOff x="7221802" y="3142658"/>
              <a:chExt cx="468000" cy="250221"/>
            </a:xfrm>
          </p:grpSpPr>
          <p:cxnSp>
            <p:nvCxnSpPr>
              <p:cNvPr id="3312" name="直線矢印コネクタ 3311">
                <a:extLst>
                  <a:ext uri="{FF2B5EF4-FFF2-40B4-BE49-F238E27FC236}">
                    <a16:creationId xmlns:a16="http://schemas.microsoft.com/office/drawing/2014/main" id="{1D2D1E12-E86E-E6B6-0EEA-015DB3D507BF}"/>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13" name="テキスト ボックス 3312">
                <a:extLst>
                  <a:ext uri="{FF2B5EF4-FFF2-40B4-BE49-F238E27FC236}">
                    <a16:creationId xmlns:a16="http://schemas.microsoft.com/office/drawing/2014/main" id="{377FC227-437C-79EE-379B-E1CB8225F94A}"/>
                  </a:ext>
                </a:extLst>
              </p:cNvPr>
              <p:cNvSpPr txBox="1"/>
              <p:nvPr/>
            </p:nvSpPr>
            <p:spPr bwMode="auto">
              <a:xfrm>
                <a:off x="7303992" y="3142658"/>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債務・</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支払依頼</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94" name="グループ化 3093">
              <a:extLst>
                <a:ext uri="{FF2B5EF4-FFF2-40B4-BE49-F238E27FC236}">
                  <a16:creationId xmlns:a16="http://schemas.microsoft.com/office/drawing/2014/main" id="{305AD125-D3AB-A691-92FB-8AD51B1CD53E}"/>
                </a:ext>
              </a:extLst>
            </p:cNvPr>
            <p:cNvGrpSpPr/>
            <p:nvPr/>
          </p:nvGrpSpPr>
          <p:grpSpPr>
            <a:xfrm>
              <a:off x="7915067" y="4794130"/>
              <a:ext cx="2188662" cy="250221"/>
              <a:chOff x="7976917" y="2810278"/>
              <a:chExt cx="2268000" cy="250221"/>
            </a:xfrm>
          </p:grpSpPr>
          <p:cxnSp>
            <p:nvCxnSpPr>
              <p:cNvPr id="3310" name="直線矢印コネクタ 3309">
                <a:extLst>
                  <a:ext uri="{FF2B5EF4-FFF2-40B4-BE49-F238E27FC236}">
                    <a16:creationId xmlns:a16="http://schemas.microsoft.com/office/drawing/2014/main" id="{F429BC85-D53E-B10C-FC80-855923753852}"/>
                  </a:ext>
                </a:extLst>
              </p:cNvPr>
              <p:cNvCxnSpPr>
                <a:cxnSpLocks/>
              </p:cNvCxnSpPr>
              <p:nvPr/>
            </p:nvCxnSpPr>
            <p:spPr>
              <a:xfrm>
                <a:off x="7976917" y="3032307"/>
                <a:ext cx="22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11" name="テキスト ボックス 3310">
                <a:extLst>
                  <a:ext uri="{FF2B5EF4-FFF2-40B4-BE49-F238E27FC236}">
                    <a16:creationId xmlns:a16="http://schemas.microsoft.com/office/drawing/2014/main" id="{C19C5F00-D00E-475C-8E80-7C22668D3185}"/>
                  </a:ext>
                </a:extLst>
              </p:cNvPr>
              <p:cNvSpPr txBox="1"/>
              <p:nvPr/>
            </p:nvSpPr>
            <p:spPr bwMode="auto">
              <a:xfrm>
                <a:off x="8048925" y="2810278"/>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債務・</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支払依頼</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095" name="直線矢印コネクタ 3094">
              <a:extLst>
                <a:ext uri="{FF2B5EF4-FFF2-40B4-BE49-F238E27FC236}">
                  <a16:creationId xmlns:a16="http://schemas.microsoft.com/office/drawing/2014/main" id="{574E8C52-84EA-AE83-B611-C2DCF7F2ACFB}"/>
                </a:ext>
              </a:extLst>
            </p:cNvPr>
            <p:cNvCxnSpPr>
              <a:cxnSpLocks/>
              <a:stCxn id="3043" idx="2"/>
              <a:endCxn id="3044" idx="0"/>
            </p:cNvCxnSpPr>
            <p:nvPr/>
          </p:nvCxnSpPr>
          <p:spPr>
            <a:xfrm>
              <a:off x="6907072" y="4703389"/>
              <a:ext cx="355" cy="193655"/>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96" name="テキスト ボックス 3095">
              <a:extLst>
                <a:ext uri="{FF2B5EF4-FFF2-40B4-BE49-F238E27FC236}">
                  <a16:creationId xmlns:a16="http://schemas.microsoft.com/office/drawing/2014/main" id="{D1191C26-29B4-DB33-A7A5-5E68B696B66C}"/>
                </a:ext>
              </a:extLst>
            </p:cNvPr>
            <p:cNvSpPr txBox="1"/>
            <p:nvPr/>
          </p:nvSpPr>
          <p:spPr bwMode="auto">
            <a:xfrm>
              <a:off x="6943591" y="4671418"/>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原価</a:t>
              </a:r>
              <a:endParaRPr lang="en-US" altLang="ja-JP" sz="400">
                <a:solidFill>
                  <a:srgbClr val="000000"/>
                </a:solidFill>
                <a:latin typeface="Meiryo UI"/>
                <a:ea typeface="Meiryo UI"/>
              </a:endParaRPr>
            </a:p>
          </p:txBody>
        </p:sp>
        <p:grpSp>
          <p:nvGrpSpPr>
            <p:cNvPr id="3097" name="グループ化 3096">
              <a:extLst>
                <a:ext uri="{FF2B5EF4-FFF2-40B4-BE49-F238E27FC236}">
                  <a16:creationId xmlns:a16="http://schemas.microsoft.com/office/drawing/2014/main" id="{AEC15F10-84C7-D94F-C8D8-7DCF9D048B4C}"/>
                </a:ext>
              </a:extLst>
            </p:cNvPr>
            <p:cNvGrpSpPr/>
            <p:nvPr/>
          </p:nvGrpSpPr>
          <p:grpSpPr>
            <a:xfrm>
              <a:off x="7186963" y="5377168"/>
              <a:ext cx="451629" cy="250221"/>
              <a:chOff x="7221802" y="3178779"/>
              <a:chExt cx="468000" cy="250221"/>
            </a:xfrm>
          </p:grpSpPr>
          <p:cxnSp>
            <p:nvCxnSpPr>
              <p:cNvPr id="3308" name="直線矢印コネクタ 3307">
                <a:extLst>
                  <a:ext uri="{FF2B5EF4-FFF2-40B4-BE49-F238E27FC236}">
                    <a16:creationId xmlns:a16="http://schemas.microsoft.com/office/drawing/2014/main" id="{F80BF114-4191-47D9-A732-6638F24F1665}"/>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09" name="テキスト ボックス 3308">
                <a:extLst>
                  <a:ext uri="{FF2B5EF4-FFF2-40B4-BE49-F238E27FC236}">
                    <a16:creationId xmlns:a16="http://schemas.microsoft.com/office/drawing/2014/main" id="{1739B808-49BE-5C79-FDAC-1B388B768F82}"/>
                  </a:ext>
                </a:extLst>
              </p:cNvPr>
              <p:cNvSpPr txBox="1"/>
              <p:nvPr/>
            </p:nvSpPr>
            <p:spPr bwMode="auto">
              <a:xfrm>
                <a:off x="7303992" y="3178779"/>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振替、原価按分</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98" name="グループ化 3097">
              <a:extLst>
                <a:ext uri="{FF2B5EF4-FFF2-40B4-BE49-F238E27FC236}">
                  <a16:creationId xmlns:a16="http://schemas.microsoft.com/office/drawing/2014/main" id="{3A319B8A-481B-63D5-C52D-DB7D9DB42FC3}"/>
                </a:ext>
              </a:extLst>
            </p:cNvPr>
            <p:cNvGrpSpPr/>
            <p:nvPr/>
          </p:nvGrpSpPr>
          <p:grpSpPr>
            <a:xfrm>
              <a:off x="7913697" y="5061587"/>
              <a:ext cx="2188662" cy="250221"/>
              <a:chOff x="7976917" y="2965037"/>
              <a:chExt cx="2268000" cy="250221"/>
            </a:xfrm>
          </p:grpSpPr>
          <p:cxnSp>
            <p:nvCxnSpPr>
              <p:cNvPr id="3306" name="直線矢印コネクタ 3305">
                <a:extLst>
                  <a:ext uri="{FF2B5EF4-FFF2-40B4-BE49-F238E27FC236}">
                    <a16:creationId xmlns:a16="http://schemas.microsoft.com/office/drawing/2014/main" id="{B1EFD2EA-E161-29A2-F530-7D0A76305B94}"/>
                  </a:ext>
                </a:extLst>
              </p:cNvPr>
              <p:cNvCxnSpPr>
                <a:cxnSpLocks/>
              </p:cNvCxnSpPr>
              <p:nvPr/>
            </p:nvCxnSpPr>
            <p:spPr>
              <a:xfrm>
                <a:off x="7976917" y="3140968"/>
                <a:ext cx="22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07" name="テキスト ボックス 3306">
                <a:extLst>
                  <a:ext uri="{FF2B5EF4-FFF2-40B4-BE49-F238E27FC236}">
                    <a16:creationId xmlns:a16="http://schemas.microsoft.com/office/drawing/2014/main" id="{4F4122AF-9D42-6D66-29C7-6020F3AA176E}"/>
                  </a:ext>
                </a:extLst>
              </p:cNvPr>
              <p:cNvSpPr txBox="1"/>
              <p:nvPr/>
            </p:nvSpPr>
            <p:spPr bwMode="auto">
              <a:xfrm>
                <a:off x="8207628" y="296503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支払実績</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99" name="グループ化 3098">
              <a:extLst>
                <a:ext uri="{FF2B5EF4-FFF2-40B4-BE49-F238E27FC236}">
                  <a16:creationId xmlns:a16="http://schemas.microsoft.com/office/drawing/2014/main" id="{9193F1D8-C03C-7BF4-BA4F-2F96E75D85D7}"/>
                </a:ext>
              </a:extLst>
            </p:cNvPr>
            <p:cNvGrpSpPr/>
            <p:nvPr/>
          </p:nvGrpSpPr>
          <p:grpSpPr>
            <a:xfrm>
              <a:off x="4020801" y="4656199"/>
              <a:ext cx="555851" cy="250221"/>
              <a:chOff x="7221802" y="3197067"/>
              <a:chExt cx="576000" cy="250221"/>
            </a:xfrm>
          </p:grpSpPr>
          <p:cxnSp>
            <p:nvCxnSpPr>
              <p:cNvPr id="3304" name="直線矢印コネクタ 3303">
                <a:extLst>
                  <a:ext uri="{FF2B5EF4-FFF2-40B4-BE49-F238E27FC236}">
                    <a16:creationId xmlns:a16="http://schemas.microsoft.com/office/drawing/2014/main" id="{24DBC74E-54D6-8B1A-A281-C72D9D480815}"/>
                  </a:ext>
                </a:extLst>
              </p:cNvPr>
              <p:cNvCxnSpPr>
                <a:cxnSpLocks/>
              </p:cNvCxnSpPr>
              <p:nvPr/>
            </p:nvCxnSpPr>
            <p:spPr>
              <a:xfrm>
                <a:off x="7221802" y="3386094"/>
                <a:ext cx="57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05" name="テキスト ボックス 3304">
                <a:extLst>
                  <a:ext uri="{FF2B5EF4-FFF2-40B4-BE49-F238E27FC236}">
                    <a16:creationId xmlns:a16="http://schemas.microsoft.com/office/drawing/2014/main" id="{436AF100-56BB-002C-7E2D-D4BE189CB6F0}"/>
                  </a:ext>
                </a:extLst>
              </p:cNvPr>
              <p:cNvSpPr txBox="1"/>
              <p:nvPr/>
            </p:nvSpPr>
            <p:spPr bwMode="auto">
              <a:xfrm>
                <a:off x="7303992" y="319706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支払依頼</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100" name="直線矢印コネクタ 3099">
              <a:extLst>
                <a:ext uri="{FF2B5EF4-FFF2-40B4-BE49-F238E27FC236}">
                  <a16:creationId xmlns:a16="http://schemas.microsoft.com/office/drawing/2014/main" id="{A644901C-1151-77C4-9B99-4AA53122CEA2}"/>
                </a:ext>
              </a:extLst>
            </p:cNvPr>
            <p:cNvCxnSpPr>
              <a:cxnSpLocks/>
              <a:endCxn id="3101" idx="2"/>
            </p:cNvCxnSpPr>
            <p:nvPr/>
          </p:nvCxnSpPr>
          <p:spPr>
            <a:xfrm>
              <a:off x="669784" y="6406261"/>
              <a:ext cx="677496"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01" name="楕円 3100">
              <a:extLst>
                <a:ext uri="{FF2B5EF4-FFF2-40B4-BE49-F238E27FC236}">
                  <a16:creationId xmlns:a16="http://schemas.microsoft.com/office/drawing/2014/main" id="{E5DAA579-626C-D70A-0368-DA8411F6C135}"/>
                </a:ext>
              </a:extLst>
            </p:cNvPr>
            <p:cNvSpPr/>
            <p:nvPr/>
          </p:nvSpPr>
          <p:spPr>
            <a:xfrm>
              <a:off x="1347280" y="6331880"/>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C</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102" name="テキスト ボックス 3101">
              <a:extLst>
                <a:ext uri="{FF2B5EF4-FFF2-40B4-BE49-F238E27FC236}">
                  <a16:creationId xmlns:a16="http://schemas.microsoft.com/office/drawing/2014/main" id="{C98A6904-3D0B-767E-592E-247D149CA3A8}"/>
                </a:ext>
              </a:extLst>
            </p:cNvPr>
            <p:cNvSpPr txBox="1"/>
            <p:nvPr/>
          </p:nvSpPr>
          <p:spPr bwMode="auto">
            <a:xfrm>
              <a:off x="688025" y="6243639"/>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支払依頼</a:t>
              </a:r>
              <a:r>
                <a:rPr lang="en-US" altLang="ja-JP" sz="400">
                  <a:solidFill>
                    <a:srgbClr val="000000"/>
                  </a:solidFill>
                  <a:latin typeface="Meiryo UI"/>
                  <a:ea typeface="Meiryo UI"/>
                </a:rPr>
                <a:t>(</a:t>
              </a:r>
              <a:r>
                <a:rPr lang="ja-JP" altLang="en-US" sz="400">
                  <a:solidFill>
                    <a:srgbClr val="000000"/>
                  </a:solidFill>
                  <a:latin typeface="Meiryo UI"/>
                  <a:ea typeface="Meiryo UI"/>
                </a:rPr>
                <a:t>じゃらん</a:t>
              </a:r>
              <a:r>
                <a:rPr lang="en-US" altLang="ja-JP" sz="400">
                  <a:solidFill>
                    <a:srgbClr val="000000"/>
                  </a:solidFill>
                  <a:latin typeface="Meiryo UI"/>
                  <a:ea typeface="Meiryo UI"/>
                </a:rPr>
                <a:t>net)</a:t>
              </a:r>
            </a:p>
          </p:txBody>
        </p:sp>
        <p:grpSp>
          <p:nvGrpSpPr>
            <p:cNvPr id="3103" name="グループ化 3102">
              <a:extLst>
                <a:ext uri="{FF2B5EF4-FFF2-40B4-BE49-F238E27FC236}">
                  <a16:creationId xmlns:a16="http://schemas.microsoft.com/office/drawing/2014/main" id="{0134107F-B6DD-E4BD-68FD-E2255BD55BED}"/>
                </a:ext>
              </a:extLst>
            </p:cNvPr>
            <p:cNvGrpSpPr/>
            <p:nvPr/>
          </p:nvGrpSpPr>
          <p:grpSpPr>
            <a:xfrm>
              <a:off x="6109290" y="4704989"/>
              <a:ext cx="403552" cy="244542"/>
              <a:chOff x="4368698" y="4250758"/>
              <a:chExt cx="418181" cy="295894"/>
            </a:xfrm>
          </p:grpSpPr>
          <p:sp>
            <p:nvSpPr>
              <p:cNvPr id="3302" name="楕円 3301">
                <a:extLst>
                  <a:ext uri="{FF2B5EF4-FFF2-40B4-BE49-F238E27FC236}">
                    <a16:creationId xmlns:a16="http://schemas.microsoft.com/office/drawing/2014/main" id="{0DAAD09E-9C6D-9DA0-80D9-35ABCEBDF619}"/>
                  </a:ext>
                </a:extLst>
              </p:cNvPr>
              <p:cNvSpPr/>
              <p:nvPr/>
            </p:nvSpPr>
            <p:spPr>
              <a:xfrm>
                <a:off x="4606879" y="4250758"/>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C</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03" name="テキスト ボックス 3302">
                <a:extLst>
                  <a:ext uri="{FF2B5EF4-FFF2-40B4-BE49-F238E27FC236}">
                    <a16:creationId xmlns:a16="http://schemas.microsoft.com/office/drawing/2014/main" id="{65F3E069-A81F-FF09-7ECC-F0E2882BE9DB}"/>
                  </a:ext>
                </a:extLst>
              </p:cNvPr>
              <p:cNvSpPr txBox="1"/>
              <p:nvPr/>
            </p:nvSpPr>
            <p:spPr bwMode="auto">
              <a:xfrm>
                <a:off x="4368698" y="4296431"/>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依頼</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2277" name="カギ線コネクタ 379">
              <a:extLst>
                <a:ext uri="{FF2B5EF4-FFF2-40B4-BE49-F238E27FC236}">
                  <a16:creationId xmlns:a16="http://schemas.microsoft.com/office/drawing/2014/main" id="{2B869A12-FA7E-A786-5C74-CE6CBDB2E8AB}"/>
                </a:ext>
              </a:extLst>
            </p:cNvPr>
            <p:cNvCxnSpPr>
              <a:cxnSpLocks/>
            </p:cNvCxnSpPr>
            <p:nvPr/>
          </p:nvCxnSpPr>
          <p:spPr>
            <a:xfrm flipV="1">
              <a:off x="4015006" y="4696155"/>
              <a:ext cx="2744512" cy="178512"/>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78" name="テキスト ボックス 2277">
              <a:extLst>
                <a:ext uri="{FF2B5EF4-FFF2-40B4-BE49-F238E27FC236}">
                  <a16:creationId xmlns:a16="http://schemas.microsoft.com/office/drawing/2014/main" id="{C1C2898C-3F6F-1993-311D-78D646AC6FC9}"/>
                </a:ext>
              </a:extLst>
            </p:cNvPr>
            <p:cNvSpPr txBox="1"/>
            <p:nvPr/>
          </p:nvSpPr>
          <p:spPr bwMode="auto">
            <a:xfrm>
              <a:off x="4094920" y="4746410"/>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支払依頼</a:t>
              </a:r>
              <a:endParaRPr lang="en-US" altLang="ja-JP" sz="400">
                <a:solidFill>
                  <a:srgbClr val="000000"/>
                </a:solidFill>
                <a:latin typeface="Meiryo UI"/>
                <a:ea typeface="Meiryo UI"/>
              </a:endParaRPr>
            </a:p>
          </p:txBody>
        </p:sp>
        <p:cxnSp>
          <p:nvCxnSpPr>
            <p:cNvPr id="2279" name="カギ線コネクタ 379">
              <a:extLst>
                <a:ext uri="{FF2B5EF4-FFF2-40B4-BE49-F238E27FC236}">
                  <a16:creationId xmlns:a16="http://schemas.microsoft.com/office/drawing/2014/main" id="{FDF92B6D-1109-F917-A30D-430D5487CF58}"/>
                </a:ext>
              </a:extLst>
            </p:cNvPr>
            <p:cNvCxnSpPr>
              <a:cxnSpLocks/>
            </p:cNvCxnSpPr>
            <p:nvPr/>
          </p:nvCxnSpPr>
          <p:spPr>
            <a:xfrm flipV="1">
              <a:off x="4013742" y="3798226"/>
              <a:ext cx="3615879" cy="2117"/>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80" name="テキスト ボックス 2279">
              <a:extLst>
                <a:ext uri="{FF2B5EF4-FFF2-40B4-BE49-F238E27FC236}">
                  <a16:creationId xmlns:a16="http://schemas.microsoft.com/office/drawing/2014/main" id="{F8EF4409-E27E-3D4C-C3FF-244F75FCC351}"/>
                </a:ext>
              </a:extLst>
            </p:cNvPr>
            <p:cNvSpPr txBox="1"/>
            <p:nvPr/>
          </p:nvSpPr>
          <p:spPr bwMode="auto">
            <a:xfrm>
              <a:off x="4101837" y="3666026"/>
              <a:ext cx="405134" cy="12935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会計仕訳</a:t>
              </a:r>
              <a:endParaRPr lang="en-US" altLang="ja-JP" sz="400">
                <a:solidFill>
                  <a:srgbClr val="000000"/>
                </a:solidFill>
                <a:latin typeface="Meiryo UI"/>
                <a:ea typeface="Meiryo UI"/>
              </a:endParaRPr>
            </a:p>
          </p:txBody>
        </p:sp>
        <p:sp>
          <p:nvSpPr>
            <p:cNvPr id="2281" name="テキスト ボックス 2280">
              <a:extLst>
                <a:ext uri="{FF2B5EF4-FFF2-40B4-BE49-F238E27FC236}">
                  <a16:creationId xmlns:a16="http://schemas.microsoft.com/office/drawing/2014/main" id="{42CE6DB8-CCF5-60F2-F26B-6DE0CE931EC4}"/>
                </a:ext>
              </a:extLst>
            </p:cNvPr>
            <p:cNvSpPr txBox="1"/>
            <p:nvPr/>
          </p:nvSpPr>
          <p:spPr bwMode="auto">
            <a:xfrm>
              <a:off x="7983186" y="481026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振替、原価按分</a:t>
              </a:r>
              <a:endParaRPr lang="en-US" altLang="ja-JP" sz="400">
                <a:solidFill>
                  <a:srgbClr val="000000"/>
                </a:solidFill>
                <a:latin typeface="Meiryo UI"/>
                <a:ea typeface="Meiryo UI"/>
              </a:endParaRPr>
            </a:p>
          </p:txBody>
        </p:sp>
        <p:cxnSp>
          <p:nvCxnSpPr>
            <p:cNvPr id="2282" name="カギ線コネクタ 379">
              <a:extLst>
                <a:ext uri="{FF2B5EF4-FFF2-40B4-BE49-F238E27FC236}">
                  <a16:creationId xmlns:a16="http://schemas.microsoft.com/office/drawing/2014/main" id="{C15BCCAC-71AC-4CDB-4195-3031D02AEEE0}"/>
                </a:ext>
              </a:extLst>
            </p:cNvPr>
            <p:cNvCxnSpPr>
              <a:cxnSpLocks/>
              <a:stCxn id="3360" idx="3"/>
            </p:cNvCxnSpPr>
            <p:nvPr/>
          </p:nvCxnSpPr>
          <p:spPr>
            <a:xfrm flipV="1">
              <a:off x="4013282" y="4652057"/>
              <a:ext cx="592302" cy="919049"/>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83" name="テキスト ボックス 2282">
              <a:extLst>
                <a:ext uri="{FF2B5EF4-FFF2-40B4-BE49-F238E27FC236}">
                  <a16:creationId xmlns:a16="http://schemas.microsoft.com/office/drawing/2014/main" id="{F0394743-4AC8-93E3-5C06-25246F88EBCC}"/>
                </a:ext>
              </a:extLst>
            </p:cNvPr>
            <p:cNvSpPr txBox="1"/>
            <p:nvPr/>
          </p:nvSpPr>
          <p:spPr bwMode="auto">
            <a:xfrm>
              <a:off x="4090943" y="5543632"/>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固定資産（取得）</a:t>
              </a:r>
              <a:endParaRPr lang="en-US" altLang="ja-JP" sz="400">
                <a:solidFill>
                  <a:srgbClr val="000000"/>
                </a:solidFill>
                <a:latin typeface="Meiryo UI"/>
                <a:ea typeface="Meiryo UI"/>
              </a:endParaRPr>
            </a:p>
          </p:txBody>
        </p:sp>
        <p:cxnSp>
          <p:nvCxnSpPr>
            <p:cNvPr id="2284" name="カギ線コネクタ 379">
              <a:extLst>
                <a:ext uri="{FF2B5EF4-FFF2-40B4-BE49-F238E27FC236}">
                  <a16:creationId xmlns:a16="http://schemas.microsoft.com/office/drawing/2014/main" id="{6AA91337-69B1-AF9E-7FCA-B55C0538A3BA}"/>
                </a:ext>
              </a:extLst>
            </p:cNvPr>
            <p:cNvCxnSpPr>
              <a:cxnSpLocks/>
              <a:stCxn id="3206" idx="2"/>
            </p:cNvCxnSpPr>
            <p:nvPr/>
          </p:nvCxnSpPr>
          <p:spPr>
            <a:xfrm rot="16200000" flipH="1">
              <a:off x="5360632" y="4042284"/>
              <a:ext cx="641845" cy="1875988"/>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85" name="テキスト ボックス 2284">
              <a:extLst>
                <a:ext uri="{FF2B5EF4-FFF2-40B4-BE49-F238E27FC236}">
                  <a16:creationId xmlns:a16="http://schemas.microsoft.com/office/drawing/2014/main" id="{49307C54-86A0-2844-F22D-976FD8C62E5B}"/>
                </a:ext>
              </a:extLst>
            </p:cNvPr>
            <p:cNvSpPr txBox="1"/>
            <p:nvPr/>
          </p:nvSpPr>
          <p:spPr bwMode="auto">
            <a:xfrm>
              <a:off x="4978478" y="5151880"/>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固定資産（取得）</a:t>
              </a:r>
              <a:endParaRPr lang="en-US" altLang="ja-JP" sz="400">
                <a:solidFill>
                  <a:srgbClr val="000000"/>
                </a:solidFill>
                <a:latin typeface="Meiryo UI"/>
                <a:ea typeface="Meiryo UI"/>
              </a:endParaRPr>
            </a:p>
          </p:txBody>
        </p:sp>
        <p:grpSp>
          <p:nvGrpSpPr>
            <p:cNvPr id="2286" name="グループ化 2285">
              <a:extLst>
                <a:ext uri="{FF2B5EF4-FFF2-40B4-BE49-F238E27FC236}">
                  <a16:creationId xmlns:a16="http://schemas.microsoft.com/office/drawing/2014/main" id="{EA76F6DC-F1D4-90D1-4829-5C8972E36E17}"/>
                </a:ext>
              </a:extLst>
            </p:cNvPr>
            <p:cNvGrpSpPr/>
            <p:nvPr/>
          </p:nvGrpSpPr>
          <p:grpSpPr>
            <a:xfrm>
              <a:off x="7192754" y="5728815"/>
              <a:ext cx="451629" cy="250221"/>
              <a:chOff x="7221802" y="3178779"/>
              <a:chExt cx="468000" cy="250221"/>
            </a:xfrm>
          </p:grpSpPr>
          <p:cxnSp>
            <p:nvCxnSpPr>
              <p:cNvPr id="3300" name="直線矢印コネクタ 3299">
                <a:extLst>
                  <a:ext uri="{FF2B5EF4-FFF2-40B4-BE49-F238E27FC236}">
                    <a16:creationId xmlns:a16="http://schemas.microsoft.com/office/drawing/2014/main" id="{0C24600B-5A76-A435-3C6A-2148E14A4B73}"/>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01" name="テキスト ボックス 3300">
                <a:extLst>
                  <a:ext uri="{FF2B5EF4-FFF2-40B4-BE49-F238E27FC236}">
                    <a16:creationId xmlns:a16="http://schemas.microsoft.com/office/drawing/2014/main" id="{8D3DA874-12F3-4BC9-BDF0-0778D4091F89}"/>
                  </a:ext>
                </a:extLst>
              </p:cNvPr>
              <p:cNvSpPr txBox="1"/>
              <p:nvPr/>
            </p:nvSpPr>
            <p:spPr bwMode="auto">
              <a:xfrm>
                <a:off x="7303992" y="3178779"/>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固定資産</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2287" name="カギ線コネクタ 379">
              <a:extLst>
                <a:ext uri="{FF2B5EF4-FFF2-40B4-BE49-F238E27FC236}">
                  <a16:creationId xmlns:a16="http://schemas.microsoft.com/office/drawing/2014/main" id="{3167B9E3-C90C-FBFD-85AF-4589F9BEF6A4}"/>
                </a:ext>
              </a:extLst>
            </p:cNvPr>
            <p:cNvCxnSpPr>
              <a:cxnSpLocks/>
              <a:stCxn id="3358" idx="3"/>
            </p:cNvCxnSpPr>
            <p:nvPr/>
          </p:nvCxnSpPr>
          <p:spPr>
            <a:xfrm flipV="1">
              <a:off x="4013559" y="5405816"/>
              <a:ext cx="2615588" cy="417755"/>
            </a:xfrm>
            <a:prstGeom prst="bentConnector3">
              <a:avLst>
                <a:gd name="adj1" fmla="val 88927"/>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88" name="テキスト ボックス 2287">
              <a:extLst>
                <a:ext uri="{FF2B5EF4-FFF2-40B4-BE49-F238E27FC236}">
                  <a16:creationId xmlns:a16="http://schemas.microsoft.com/office/drawing/2014/main" id="{FF140DB9-A144-1572-EB82-84A8DEECEBBE}"/>
                </a:ext>
              </a:extLst>
            </p:cNvPr>
            <p:cNvSpPr txBox="1"/>
            <p:nvPr/>
          </p:nvSpPr>
          <p:spPr bwMode="auto">
            <a:xfrm>
              <a:off x="4951456" y="5247583"/>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固定資産（変更）</a:t>
              </a:r>
              <a:endParaRPr lang="en-US" altLang="ja-JP" sz="400">
                <a:solidFill>
                  <a:srgbClr val="000000"/>
                </a:solidFill>
                <a:latin typeface="Meiryo UI"/>
                <a:ea typeface="Meiryo UI"/>
              </a:endParaRPr>
            </a:p>
          </p:txBody>
        </p:sp>
        <p:cxnSp>
          <p:nvCxnSpPr>
            <p:cNvPr id="2289" name="直線矢印コネクタ 2288">
              <a:extLst>
                <a:ext uri="{FF2B5EF4-FFF2-40B4-BE49-F238E27FC236}">
                  <a16:creationId xmlns:a16="http://schemas.microsoft.com/office/drawing/2014/main" id="{D10FB18E-DDF6-1B99-133A-F6F6C69616DD}"/>
                </a:ext>
              </a:extLst>
            </p:cNvPr>
            <p:cNvCxnSpPr>
              <a:cxnSpLocks/>
            </p:cNvCxnSpPr>
            <p:nvPr/>
          </p:nvCxnSpPr>
          <p:spPr>
            <a:xfrm flipH="1">
              <a:off x="7192754" y="4605008"/>
              <a:ext cx="2910658" cy="0"/>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cxnSp>
          <p:nvCxnSpPr>
            <p:cNvPr id="2290" name="直線矢印コネクタ 2289">
              <a:extLst>
                <a:ext uri="{FF2B5EF4-FFF2-40B4-BE49-F238E27FC236}">
                  <a16:creationId xmlns:a16="http://schemas.microsoft.com/office/drawing/2014/main" id="{F2867B0A-0445-3E4C-8FC7-5F4B355301EB}"/>
                </a:ext>
              </a:extLst>
            </p:cNvPr>
            <p:cNvCxnSpPr>
              <a:cxnSpLocks/>
            </p:cNvCxnSpPr>
            <p:nvPr/>
          </p:nvCxnSpPr>
          <p:spPr>
            <a:xfrm>
              <a:off x="8404005" y="5465154"/>
              <a:ext cx="0" cy="505785"/>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2291" name="直線矢印コネクタ 2290">
              <a:extLst>
                <a:ext uri="{FF2B5EF4-FFF2-40B4-BE49-F238E27FC236}">
                  <a16:creationId xmlns:a16="http://schemas.microsoft.com/office/drawing/2014/main" id="{4B5DBCC5-BC95-6989-2C85-00C5BF83F5E1}"/>
                </a:ext>
              </a:extLst>
            </p:cNvPr>
            <p:cNvCxnSpPr>
              <a:cxnSpLocks/>
            </p:cNvCxnSpPr>
            <p:nvPr/>
          </p:nvCxnSpPr>
          <p:spPr>
            <a:xfrm>
              <a:off x="8505325" y="5465154"/>
              <a:ext cx="0" cy="505785"/>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92" name="テキスト ボックス 2291">
              <a:extLst>
                <a:ext uri="{FF2B5EF4-FFF2-40B4-BE49-F238E27FC236}">
                  <a16:creationId xmlns:a16="http://schemas.microsoft.com/office/drawing/2014/main" id="{F7079B7F-EF50-D8F9-AF9A-D45206B3D0A7}"/>
                </a:ext>
              </a:extLst>
            </p:cNvPr>
            <p:cNvSpPr txBox="1"/>
            <p:nvPr/>
          </p:nvSpPr>
          <p:spPr bwMode="auto">
            <a:xfrm>
              <a:off x="8531708" y="5734446"/>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通知書他</a:t>
              </a:r>
              <a:endParaRPr lang="en-US" altLang="ja-JP" sz="400">
                <a:solidFill>
                  <a:srgbClr val="000000"/>
                </a:solidFill>
                <a:latin typeface="Meiryo UI"/>
                <a:ea typeface="Meiryo UI"/>
              </a:endParaRPr>
            </a:p>
          </p:txBody>
        </p:sp>
        <p:cxnSp>
          <p:nvCxnSpPr>
            <p:cNvPr id="2293" name="カギ線コネクタ 379">
              <a:extLst>
                <a:ext uri="{FF2B5EF4-FFF2-40B4-BE49-F238E27FC236}">
                  <a16:creationId xmlns:a16="http://schemas.microsoft.com/office/drawing/2014/main" id="{0F8CA5BB-14FC-BDD2-75DA-EFFD7666D8DA}"/>
                </a:ext>
              </a:extLst>
            </p:cNvPr>
            <p:cNvCxnSpPr>
              <a:cxnSpLocks/>
            </p:cNvCxnSpPr>
            <p:nvPr/>
          </p:nvCxnSpPr>
          <p:spPr>
            <a:xfrm rot="16200000" flipH="1">
              <a:off x="8794505" y="5272383"/>
              <a:ext cx="505785" cy="903257"/>
            </a:xfrm>
            <a:prstGeom prst="bentConnector3">
              <a:avLst>
                <a:gd name="adj1" fmla="val 44735"/>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94" name="テキスト ボックス 2293">
              <a:extLst>
                <a:ext uri="{FF2B5EF4-FFF2-40B4-BE49-F238E27FC236}">
                  <a16:creationId xmlns:a16="http://schemas.microsoft.com/office/drawing/2014/main" id="{2B6F5B7E-0D31-B3B9-077C-31CF62E92E5E}"/>
                </a:ext>
              </a:extLst>
            </p:cNvPr>
            <p:cNvSpPr txBox="1"/>
            <p:nvPr/>
          </p:nvSpPr>
          <p:spPr bwMode="auto">
            <a:xfrm>
              <a:off x="8626655" y="5502029"/>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支払実行</a:t>
              </a:r>
              <a:endParaRPr lang="en-US" altLang="ja-JP" sz="400">
                <a:solidFill>
                  <a:srgbClr val="000000"/>
                </a:solidFill>
                <a:latin typeface="Meiryo UI"/>
                <a:ea typeface="Meiryo UI"/>
              </a:endParaRPr>
            </a:p>
          </p:txBody>
        </p:sp>
        <p:cxnSp>
          <p:nvCxnSpPr>
            <p:cNvPr id="2295" name="直線矢印コネクタ 2294">
              <a:extLst>
                <a:ext uri="{FF2B5EF4-FFF2-40B4-BE49-F238E27FC236}">
                  <a16:creationId xmlns:a16="http://schemas.microsoft.com/office/drawing/2014/main" id="{BC4478B3-699C-055A-FA92-904C628B8CB0}"/>
                </a:ext>
              </a:extLst>
            </p:cNvPr>
            <p:cNvCxnSpPr>
              <a:cxnSpLocks/>
            </p:cNvCxnSpPr>
            <p:nvPr/>
          </p:nvCxnSpPr>
          <p:spPr>
            <a:xfrm>
              <a:off x="663648" y="6270098"/>
              <a:ext cx="799035"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96" name="楕円 2295">
              <a:extLst>
                <a:ext uri="{FF2B5EF4-FFF2-40B4-BE49-F238E27FC236}">
                  <a16:creationId xmlns:a16="http://schemas.microsoft.com/office/drawing/2014/main" id="{C969E25F-0704-4380-DCB6-28E007922C3A}"/>
                </a:ext>
              </a:extLst>
            </p:cNvPr>
            <p:cNvSpPr/>
            <p:nvPr/>
          </p:nvSpPr>
          <p:spPr>
            <a:xfrm>
              <a:off x="1472148" y="6198641"/>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D</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2297" name="テキスト ボックス 2296">
              <a:extLst>
                <a:ext uri="{FF2B5EF4-FFF2-40B4-BE49-F238E27FC236}">
                  <a16:creationId xmlns:a16="http://schemas.microsoft.com/office/drawing/2014/main" id="{8C4C7D3B-5177-8165-8CEE-4AC2B4FE697A}"/>
                </a:ext>
              </a:extLst>
            </p:cNvPr>
            <p:cNvSpPr txBox="1"/>
            <p:nvPr/>
          </p:nvSpPr>
          <p:spPr bwMode="auto">
            <a:xfrm>
              <a:off x="728596" y="6123671"/>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債権・債務</a:t>
              </a:r>
              <a:endParaRPr lang="en-US" altLang="ja-JP" sz="400">
                <a:solidFill>
                  <a:srgbClr val="000000"/>
                </a:solidFill>
                <a:latin typeface="Meiryo UI"/>
                <a:ea typeface="Meiryo UI"/>
              </a:endParaRPr>
            </a:p>
          </p:txBody>
        </p:sp>
        <p:sp>
          <p:nvSpPr>
            <p:cNvPr id="2298" name="楕円 2297">
              <a:extLst>
                <a:ext uri="{FF2B5EF4-FFF2-40B4-BE49-F238E27FC236}">
                  <a16:creationId xmlns:a16="http://schemas.microsoft.com/office/drawing/2014/main" id="{1995534F-F1A8-9ACD-EDB0-92C8A91D1931}"/>
                </a:ext>
              </a:extLst>
            </p:cNvPr>
            <p:cNvSpPr/>
            <p:nvPr/>
          </p:nvSpPr>
          <p:spPr>
            <a:xfrm>
              <a:off x="5548640" y="4004223"/>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D</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2299" name="カギ線コネクタ 379">
              <a:extLst>
                <a:ext uri="{FF2B5EF4-FFF2-40B4-BE49-F238E27FC236}">
                  <a16:creationId xmlns:a16="http://schemas.microsoft.com/office/drawing/2014/main" id="{4C4E7BE6-FBD3-9B5B-7E6D-1C2841ABA291}"/>
                </a:ext>
              </a:extLst>
            </p:cNvPr>
            <p:cNvCxnSpPr>
              <a:cxnSpLocks/>
              <a:stCxn id="2298" idx="6"/>
            </p:cNvCxnSpPr>
            <p:nvPr/>
          </p:nvCxnSpPr>
          <p:spPr>
            <a:xfrm flipV="1">
              <a:off x="5722344" y="4006388"/>
              <a:ext cx="891432" cy="72215"/>
            </a:xfrm>
            <a:prstGeom prst="bentConnector3">
              <a:avLst>
                <a:gd name="adj1" fmla="val 56187"/>
              </a:avLst>
            </a:prstGeom>
            <a:solidFill>
              <a:srgbClr val="00CC99"/>
            </a:solidFill>
            <a:ln w="9525" cap="flat" cmpd="sng" algn="ctr">
              <a:solidFill>
                <a:srgbClr val="595959"/>
              </a:solidFill>
              <a:prstDash val="solid"/>
              <a:round/>
              <a:headEnd type="none" w="med" len="med"/>
              <a:tailEnd type="triangle"/>
            </a:ln>
            <a:effectLst/>
          </p:spPr>
        </p:cxnSp>
        <p:sp>
          <p:nvSpPr>
            <p:cNvPr id="2300" name="テキスト ボックス 2299">
              <a:extLst>
                <a:ext uri="{FF2B5EF4-FFF2-40B4-BE49-F238E27FC236}">
                  <a16:creationId xmlns:a16="http://schemas.microsoft.com/office/drawing/2014/main" id="{A1DB3A1B-A857-B76D-4192-5B2AB5332333}"/>
                </a:ext>
              </a:extLst>
            </p:cNvPr>
            <p:cNvSpPr txBox="1"/>
            <p:nvPr/>
          </p:nvSpPr>
          <p:spPr bwMode="auto">
            <a:xfrm>
              <a:off x="5762213" y="3969492"/>
              <a:ext cx="537258" cy="12265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債権</a:t>
              </a:r>
              <a:endParaRPr lang="en-US" altLang="ja-JP" sz="400">
                <a:solidFill>
                  <a:srgbClr val="000000"/>
                </a:solidFill>
                <a:latin typeface="Meiryo UI"/>
                <a:ea typeface="Meiryo UI"/>
              </a:endParaRPr>
            </a:p>
          </p:txBody>
        </p:sp>
        <p:sp>
          <p:nvSpPr>
            <p:cNvPr id="2301" name="テキスト ボックス 2300">
              <a:extLst>
                <a:ext uri="{FF2B5EF4-FFF2-40B4-BE49-F238E27FC236}">
                  <a16:creationId xmlns:a16="http://schemas.microsoft.com/office/drawing/2014/main" id="{145272AD-3A74-768D-F039-3080645C3FFB}"/>
                </a:ext>
              </a:extLst>
            </p:cNvPr>
            <p:cNvSpPr txBox="1"/>
            <p:nvPr/>
          </p:nvSpPr>
          <p:spPr bwMode="auto">
            <a:xfrm>
              <a:off x="8101695" y="1283133"/>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子会社連結データ</a:t>
              </a:r>
              <a:endParaRPr lang="en-US" altLang="ja-JP" sz="400">
                <a:solidFill>
                  <a:srgbClr val="000000"/>
                </a:solidFill>
                <a:latin typeface="Meiryo UI"/>
                <a:ea typeface="Meiryo UI"/>
              </a:endParaRPr>
            </a:p>
          </p:txBody>
        </p:sp>
        <p:sp>
          <p:nvSpPr>
            <p:cNvPr id="2302" name="正方形/長方形 2301">
              <a:extLst>
                <a:ext uri="{FF2B5EF4-FFF2-40B4-BE49-F238E27FC236}">
                  <a16:creationId xmlns:a16="http://schemas.microsoft.com/office/drawing/2014/main" id="{A1874B9C-C170-1B8F-9AE4-1D3C55F7C76F}"/>
                </a:ext>
              </a:extLst>
            </p:cNvPr>
            <p:cNvSpPr/>
            <p:nvPr/>
          </p:nvSpPr>
          <p:spPr bwMode="auto">
            <a:xfrm>
              <a:off x="6628164" y="2905064"/>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マスタ管理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顧客・パートナー他</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2303" name="正方形/長方形 2302">
              <a:extLst>
                <a:ext uri="{FF2B5EF4-FFF2-40B4-BE49-F238E27FC236}">
                  <a16:creationId xmlns:a16="http://schemas.microsoft.com/office/drawing/2014/main" id="{CA3893D8-166C-9C02-2609-16875433B521}"/>
                </a:ext>
              </a:extLst>
            </p:cNvPr>
            <p:cNvSpPr/>
            <p:nvPr/>
          </p:nvSpPr>
          <p:spPr bwMode="auto">
            <a:xfrm>
              <a:off x="9090430" y="2924440"/>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各種マスタ</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2688" name="テキスト ボックス 2687">
              <a:extLst>
                <a:ext uri="{FF2B5EF4-FFF2-40B4-BE49-F238E27FC236}">
                  <a16:creationId xmlns:a16="http://schemas.microsoft.com/office/drawing/2014/main" id="{41BBD63C-1136-41DA-44E9-592C6EE89433}"/>
                </a:ext>
              </a:extLst>
            </p:cNvPr>
            <p:cNvSpPr txBox="1"/>
            <p:nvPr/>
          </p:nvSpPr>
          <p:spPr bwMode="auto">
            <a:xfrm>
              <a:off x="7983606" y="4981511"/>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各種会計仕訳</a:t>
              </a:r>
              <a:endParaRPr lang="en-US" altLang="ja-JP" sz="400">
                <a:solidFill>
                  <a:srgbClr val="000000"/>
                </a:solidFill>
                <a:latin typeface="Meiryo UI"/>
                <a:ea typeface="Meiryo UI"/>
              </a:endParaRPr>
            </a:p>
          </p:txBody>
        </p:sp>
        <p:cxnSp>
          <p:nvCxnSpPr>
            <p:cNvPr id="2689" name="直線矢印コネクタ 2688">
              <a:extLst>
                <a:ext uri="{FF2B5EF4-FFF2-40B4-BE49-F238E27FC236}">
                  <a16:creationId xmlns:a16="http://schemas.microsoft.com/office/drawing/2014/main" id="{279CD10E-AE72-A76A-2EDC-B712F70B9E37}"/>
                </a:ext>
              </a:extLst>
            </p:cNvPr>
            <p:cNvCxnSpPr>
              <a:cxnSpLocks/>
            </p:cNvCxnSpPr>
            <p:nvPr/>
          </p:nvCxnSpPr>
          <p:spPr>
            <a:xfrm>
              <a:off x="10651991" y="3835692"/>
              <a:ext cx="458266"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2690" name="直線矢印コネクタ 2689">
              <a:extLst>
                <a:ext uri="{FF2B5EF4-FFF2-40B4-BE49-F238E27FC236}">
                  <a16:creationId xmlns:a16="http://schemas.microsoft.com/office/drawing/2014/main" id="{19271DAE-F1C4-D1A3-7DCE-7A82D5D54891}"/>
                </a:ext>
              </a:extLst>
            </p:cNvPr>
            <p:cNvCxnSpPr>
              <a:cxnSpLocks/>
            </p:cNvCxnSpPr>
            <p:nvPr/>
          </p:nvCxnSpPr>
          <p:spPr>
            <a:xfrm>
              <a:off x="10651572" y="4601326"/>
              <a:ext cx="458266"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nvGrpSpPr>
            <p:cNvPr id="2691" name="グループ化 2690">
              <a:extLst>
                <a:ext uri="{FF2B5EF4-FFF2-40B4-BE49-F238E27FC236}">
                  <a16:creationId xmlns:a16="http://schemas.microsoft.com/office/drawing/2014/main" id="{D6448B7B-C8A2-1EA6-96CD-2FD8422D8E04}"/>
                </a:ext>
              </a:extLst>
            </p:cNvPr>
            <p:cNvGrpSpPr/>
            <p:nvPr/>
          </p:nvGrpSpPr>
          <p:grpSpPr>
            <a:xfrm>
              <a:off x="6615816" y="1316296"/>
              <a:ext cx="389308" cy="365643"/>
              <a:chOff x="5121667" y="1126028"/>
              <a:chExt cx="403420" cy="365643"/>
            </a:xfrm>
          </p:grpSpPr>
          <p:cxnSp>
            <p:nvCxnSpPr>
              <p:cNvPr id="3297" name="直線矢印コネクタ 3296">
                <a:extLst>
                  <a:ext uri="{FF2B5EF4-FFF2-40B4-BE49-F238E27FC236}">
                    <a16:creationId xmlns:a16="http://schemas.microsoft.com/office/drawing/2014/main" id="{9721244E-6902-BFC5-D32C-F3BC5185FDB4}"/>
                  </a:ext>
                </a:extLst>
              </p:cNvPr>
              <p:cNvCxnSpPr>
                <a:cxnSpLocks/>
              </p:cNvCxnSpPr>
              <p:nvPr/>
            </p:nvCxnSpPr>
            <p:spPr>
              <a:xfrm>
                <a:off x="5121667" y="1398134"/>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98" name="楕円 3297">
                <a:extLst>
                  <a:ext uri="{FF2B5EF4-FFF2-40B4-BE49-F238E27FC236}">
                    <a16:creationId xmlns:a16="http://schemas.microsoft.com/office/drawing/2014/main" id="{AAEBAB2A-0FE9-C802-BBCF-4D9BE9C58F6E}"/>
                  </a:ext>
                </a:extLst>
              </p:cNvPr>
              <p:cNvSpPr/>
              <p:nvPr/>
            </p:nvSpPr>
            <p:spPr>
              <a:xfrm>
                <a:off x="5345087" y="1311671"/>
                <a:ext cx="180000" cy="18000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M</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sp>
            <p:nvSpPr>
              <p:cNvPr id="3299" name="テキスト ボックス 3298">
                <a:extLst>
                  <a:ext uri="{FF2B5EF4-FFF2-40B4-BE49-F238E27FC236}">
                    <a16:creationId xmlns:a16="http://schemas.microsoft.com/office/drawing/2014/main" id="{B0105214-088F-E862-E770-08F5752A5D68}"/>
                  </a:ext>
                </a:extLst>
              </p:cNvPr>
              <p:cNvSpPr txBox="1"/>
              <p:nvPr/>
            </p:nvSpPr>
            <p:spPr bwMode="auto">
              <a:xfrm>
                <a:off x="5189249" y="1126028"/>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顧客・商品マスタ他</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2692" name="グループ化 2691">
              <a:extLst>
                <a:ext uri="{FF2B5EF4-FFF2-40B4-BE49-F238E27FC236}">
                  <a16:creationId xmlns:a16="http://schemas.microsoft.com/office/drawing/2014/main" id="{57C5F971-0822-B1D5-272F-B614EB14CAD6}"/>
                </a:ext>
              </a:extLst>
            </p:cNvPr>
            <p:cNvGrpSpPr/>
            <p:nvPr/>
          </p:nvGrpSpPr>
          <p:grpSpPr>
            <a:xfrm>
              <a:off x="5394447" y="2858686"/>
              <a:ext cx="1213409" cy="271710"/>
              <a:chOff x="4641019" y="4255995"/>
              <a:chExt cx="1257397" cy="328770"/>
            </a:xfrm>
          </p:grpSpPr>
          <p:sp>
            <p:nvSpPr>
              <p:cNvPr id="3294" name="楕円 3293">
                <a:extLst>
                  <a:ext uri="{FF2B5EF4-FFF2-40B4-BE49-F238E27FC236}">
                    <a16:creationId xmlns:a16="http://schemas.microsoft.com/office/drawing/2014/main" id="{59A7DE88-7F61-CC5D-A32A-4FD020ABC908}"/>
                  </a:ext>
                </a:extLst>
              </p:cNvPr>
              <p:cNvSpPr/>
              <p:nvPr/>
            </p:nvSpPr>
            <p:spPr>
              <a:xfrm>
                <a:off x="4641019" y="4404765"/>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E</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295" name="テキスト ボックス 3294">
                <a:extLst>
                  <a:ext uri="{FF2B5EF4-FFF2-40B4-BE49-F238E27FC236}">
                    <a16:creationId xmlns:a16="http://schemas.microsoft.com/office/drawing/2014/main" id="{25B77571-9C0D-2D54-08B2-62C5157ADBD5}"/>
                  </a:ext>
                </a:extLst>
              </p:cNvPr>
              <p:cNvSpPr txBox="1"/>
              <p:nvPr/>
            </p:nvSpPr>
            <p:spPr bwMode="auto">
              <a:xfrm>
                <a:off x="4791227" y="4255995"/>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顧客・商品マスタ</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・組織・権限ロール</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cxnSp>
            <p:nvCxnSpPr>
              <p:cNvPr id="3296" name="直線矢印コネクタ 3295">
                <a:extLst>
                  <a:ext uri="{FF2B5EF4-FFF2-40B4-BE49-F238E27FC236}">
                    <a16:creationId xmlns:a16="http://schemas.microsoft.com/office/drawing/2014/main" id="{14E7B41F-41DE-FDD3-0B10-FAD23274751E}"/>
                  </a:ext>
                </a:extLst>
              </p:cNvPr>
              <p:cNvCxnSpPr>
                <a:cxnSpLocks/>
                <a:stCxn id="3294" idx="6"/>
              </p:cNvCxnSpPr>
              <p:nvPr/>
            </p:nvCxnSpPr>
            <p:spPr>
              <a:xfrm flipV="1">
                <a:off x="4821019" y="4490840"/>
                <a:ext cx="1077397" cy="3925"/>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grpSp>
          <p:nvGrpSpPr>
            <p:cNvPr id="2693" name="グループ化 2692">
              <a:extLst>
                <a:ext uri="{FF2B5EF4-FFF2-40B4-BE49-F238E27FC236}">
                  <a16:creationId xmlns:a16="http://schemas.microsoft.com/office/drawing/2014/main" id="{9EBBEB92-2129-D522-18A7-3A5AC772C942}"/>
                </a:ext>
              </a:extLst>
            </p:cNvPr>
            <p:cNvGrpSpPr/>
            <p:nvPr/>
          </p:nvGrpSpPr>
          <p:grpSpPr>
            <a:xfrm>
              <a:off x="7184014" y="3283409"/>
              <a:ext cx="1910736" cy="250221"/>
              <a:chOff x="7976637" y="2949775"/>
              <a:chExt cx="1971400" cy="250221"/>
            </a:xfrm>
          </p:grpSpPr>
          <p:cxnSp>
            <p:nvCxnSpPr>
              <p:cNvPr id="3292" name="直線矢印コネクタ 3291">
                <a:extLst>
                  <a:ext uri="{FF2B5EF4-FFF2-40B4-BE49-F238E27FC236}">
                    <a16:creationId xmlns:a16="http://schemas.microsoft.com/office/drawing/2014/main" id="{DAC4399F-DCE7-9A04-5F2E-488DA6DD4C48}"/>
                  </a:ext>
                </a:extLst>
              </p:cNvPr>
              <p:cNvCxnSpPr>
                <a:cxnSpLocks/>
              </p:cNvCxnSpPr>
              <p:nvPr/>
            </p:nvCxnSpPr>
            <p:spPr>
              <a:xfrm>
                <a:off x="7976637" y="3159458"/>
                <a:ext cx="19714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93" name="テキスト ボックス 3292">
                <a:extLst>
                  <a:ext uri="{FF2B5EF4-FFF2-40B4-BE49-F238E27FC236}">
                    <a16:creationId xmlns:a16="http://schemas.microsoft.com/office/drawing/2014/main" id="{E498A323-BB40-4D95-7EA5-C0FB581457D8}"/>
                  </a:ext>
                </a:extLst>
              </p:cNvPr>
              <p:cNvSpPr txBox="1"/>
              <p:nvPr/>
            </p:nvSpPr>
            <p:spPr bwMode="auto">
              <a:xfrm>
                <a:off x="8462511" y="2949775"/>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顧客・パートナー・利益センタ・原価センタ・権限ロール</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2694" name="グループ化 2693">
              <a:extLst>
                <a:ext uri="{FF2B5EF4-FFF2-40B4-BE49-F238E27FC236}">
                  <a16:creationId xmlns:a16="http://schemas.microsoft.com/office/drawing/2014/main" id="{9010A51E-E4E9-D410-4CFD-F7EC97D807A0}"/>
                </a:ext>
              </a:extLst>
            </p:cNvPr>
            <p:cNvGrpSpPr/>
            <p:nvPr/>
          </p:nvGrpSpPr>
          <p:grpSpPr>
            <a:xfrm>
              <a:off x="7176209" y="3578220"/>
              <a:ext cx="1910736" cy="250221"/>
              <a:chOff x="7221829" y="3783418"/>
              <a:chExt cx="3024000" cy="250221"/>
            </a:xfrm>
          </p:grpSpPr>
          <p:cxnSp>
            <p:nvCxnSpPr>
              <p:cNvPr id="3290" name="直線矢印コネクタ 3289">
                <a:extLst>
                  <a:ext uri="{FF2B5EF4-FFF2-40B4-BE49-F238E27FC236}">
                    <a16:creationId xmlns:a16="http://schemas.microsoft.com/office/drawing/2014/main" id="{E2A7457E-59F9-A38B-E943-4B1E2A17BF28}"/>
                  </a:ext>
                </a:extLst>
              </p:cNvPr>
              <p:cNvCxnSpPr>
                <a:cxnSpLocks/>
              </p:cNvCxnSpPr>
              <p:nvPr/>
            </p:nvCxnSpPr>
            <p:spPr>
              <a:xfrm flipH="1">
                <a:off x="7221829" y="3954265"/>
                <a:ext cx="3024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91" name="テキスト ボックス 3290">
                <a:extLst>
                  <a:ext uri="{FF2B5EF4-FFF2-40B4-BE49-F238E27FC236}">
                    <a16:creationId xmlns:a16="http://schemas.microsoft.com/office/drawing/2014/main" id="{C146EC88-4298-13E6-8FB4-866167E32A3E}"/>
                  </a:ext>
                </a:extLst>
              </p:cNvPr>
              <p:cNvSpPr txBox="1"/>
              <p:nvPr/>
            </p:nvSpPr>
            <p:spPr bwMode="auto">
              <a:xfrm>
                <a:off x="8895088" y="3783418"/>
                <a:ext cx="313270"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勘定科目・各種マスタ</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2695" name="直線矢印コネクタ 2694">
              <a:extLst>
                <a:ext uri="{FF2B5EF4-FFF2-40B4-BE49-F238E27FC236}">
                  <a16:creationId xmlns:a16="http://schemas.microsoft.com/office/drawing/2014/main" id="{20BF940D-3BB2-16E7-1E18-33703674C817}"/>
                </a:ext>
              </a:extLst>
            </p:cNvPr>
            <p:cNvCxnSpPr>
              <a:cxnSpLocks/>
            </p:cNvCxnSpPr>
            <p:nvPr/>
          </p:nvCxnSpPr>
          <p:spPr>
            <a:xfrm flipH="1">
              <a:off x="6168066" y="3115476"/>
              <a:ext cx="451629"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696" name="テキスト ボックス 2695">
              <a:extLst>
                <a:ext uri="{FF2B5EF4-FFF2-40B4-BE49-F238E27FC236}">
                  <a16:creationId xmlns:a16="http://schemas.microsoft.com/office/drawing/2014/main" id="{DC33DA4B-94C9-5B6E-C13A-7D469CFD1BDE}"/>
                </a:ext>
              </a:extLst>
            </p:cNvPr>
            <p:cNvSpPr txBox="1"/>
            <p:nvPr/>
          </p:nvSpPr>
          <p:spPr bwMode="auto">
            <a:xfrm>
              <a:off x="6213201" y="3138344"/>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パートナー</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・勘定科目</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・各種マスタ</a:t>
              </a:r>
              <a:endParaRPr lang="en-US" altLang="ja-JP" sz="400">
                <a:solidFill>
                  <a:srgbClr val="000000"/>
                </a:solidFill>
                <a:latin typeface="Meiryo UI"/>
                <a:ea typeface="Meiryo UI"/>
              </a:endParaRPr>
            </a:p>
          </p:txBody>
        </p:sp>
        <p:sp>
          <p:nvSpPr>
            <p:cNvPr id="2697" name="正方形/長方形 2696">
              <a:extLst>
                <a:ext uri="{FF2B5EF4-FFF2-40B4-BE49-F238E27FC236}">
                  <a16:creationId xmlns:a16="http://schemas.microsoft.com/office/drawing/2014/main" id="{FC0CB917-4A44-DE06-0027-7D1E2A2A09C0}"/>
                </a:ext>
              </a:extLst>
            </p:cNvPr>
            <p:cNvSpPr/>
            <p:nvPr/>
          </p:nvSpPr>
          <p:spPr bwMode="auto">
            <a:xfrm>
              <a:off x="2131290" y="6008079"/>
              <a:ext cx="589811" cy="14876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ID</a:t>
              </a: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・権限ロール</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2698" name="楕円 2697">
              <a:extLst>
                <a:ext uri="{FF2B5EF4-FFF2-40B4-BE49-F238E27FC236}">
                  <a16:creationId xmlns:a16="http://schemas.microsoft.com/office/drawing/2014/main" id="{4AFAD237-20F1-F15E-CFEA-EDB1CCE9BB0D}"/>
                </a:ext>
              </a:extLst>
            </p:cNvPr>
            <p:cNvSpPr/>
            <p:nvPr/>
          </p:nvSpPr>
          <p:spPr>
            <a:xfrm>
              <a:off x="4036334" y="6304539"/>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E</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2702" name="直線矢印コネクタ 2701">
              <a:extLst>
                <a:ext uri="{FF2B5EF4-FFF2-40B4-BE49-F238E27FC236}">
                  <a16:creationId xmlns:a16="http://schemas.microsoft.com/office/drawing/2014/main" id="{7F56F4FE-97DE-28A7-E3D5-6037B1170C34}"/>
                </a:ext>
              </a:extLst>
            </p:cNvPr>
            <p:cNvCxnSpPr>
              <a:cxnSpLocks/>
              <a:endCxn id="3133" idx="2"/>
            </p:cNvCxnSpPr>
            <p:nvPr/>
          </p:nvCxnSpPr>
          <p:spPr>
            <a:xfrm>
              <a:off x="4011704" y="6099644"/>
              <a:ext cx="573538" cy="843"/>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grpSp>
          <p:nvGrpSpPr>
            <p:cNvPr id="2703" name="グループ化 2702">
              <a:extLst>
                <a:ext uri="{FF2B5EF4-FFF2-40B4-BE49-F238E27FC236}">
                  <a16:creationId xmlns:a16="http://schemas.microsoft.com/office/drawing/2014/main" id="{CFC52644-60A0-3711-BD02-ED0FE6B24038}"/>
                </a:ext>
              </a:extLst>
            </p:cNvPr>
            <p:cNvGrpSpPr/>
            <p:nvPr/>
          </p:nvGrpSpPr>
          <p:grpSpPr>
            <a:xfrm>
              <a:off x="4021435" y="5471198"/>
              <a:ext cx="1875996" cy="142541"/>
              <a:chOff x="7230946" y="2791415"/>
              <a:chExt cx="1944000" cy="142541"/>
            </a:xfrm>
          </p:grpSpPr>
          <p:cxnSp>
            <p:nvCxnSpPr>
              <p:cNvPr id="3288" name="直線矢印コネクタ 3287">
                <a:extLst>
                  <a:ext uri="{FF2B5EF4-FFF2-40B4-BE49-F238E27FC236}">
                    <a16:creationId xmlns:a16="http://schemas.microsoft.com/office/drawing/2014/main" id="{520DA7BA-23D4-C68A-876D-5E8FE2508E37}"/>
                  </a:ext>
                </a:extLst>
              </p:cNvPr>
              <p:cNvCxnSpPr>
                <a:cxnSpLocks/>
              </p:cNvCxnSpPr>
              <p:nvPr/>
            </p:nvCxnSpPr>
            <p:spPr>
              <a:xfrm>
                <a:off x="7230946" y="2916235"/>
                <a:ext cx="1944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89" name="テキスト ボックス 3288">
                <a:extLst>
                  <a:ext uri="{FF2B5EF4-FFF2-40B4-BE49-F238E27FC236}">
                    <a16:creationId xmlns:a16="http://schemas.microsoft.com/office/drawing/2014/main" id="{07CD2847-3E4D-3044-C62B-16A90B8BE9D7}"/>
                  </a:ext>
                </a:extLst>
              </p:cNvPr>
              <p:cNvSpPr txBox="1"/>
              <p:nvPr/>
            </p:nvSpPr>
            <p:spPr bwMode="auto">
              <a:xfrm>
                <a:off x="7301906" y="2791415"/>
                <a:ext cx="218483" cy="14254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2704" name="カギ線コネクタ 379">
              <a:extLst>
                <a:ext uri="{FF2B5EF4-FFF2-40B4-BE49-F238E27FC236}">
                  <a16:creationId xmlns:a16="http://schemas.microsoft.com/office/drawing/2014/main" id="{672B4907-AA40-64A1-F5D8-9782073F3E44}"/>
                </a:ext>
              </a:extLst>
            </p:cNvPr>
            <p:cNvCxnSpPr>
              <a:cxnSpLocks/>
              <a:stCxn id="3353" idx="1"/>
              <a:endCxn id="21" idx="0"/>
            </p:cNvCxnSpPr>
            <p:nvPr/>
          </p:nvCxnSpPr>
          <p:spPr>
            <a:xfrm rot="10800000" flipV="1">
              <a:off x="2450230" y="1344022"/>
              <a:ext cx="2253501" cy="287415"/>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705" name="テキスト ボックス 2704">
              <a:extLst>
                <a:ext uri="{FF2B5EF4-FFF2-40B4-BE49-F238E27FC236}">
                  <a16:creationId xmlns:a16="http://schemas.microsoft.com/office/drawing/2014/main" id="{D45A31A1-36F9-47B7-800C-455662FFEAAE}"/>
                </a:ext>
              </a:extLst>
            </p:cNvPr>
            <p:cNvSpPr txBox="1"/>
            <p:nvPr/>
          </p:nvSpPr>
          <p:spPr bwMode="auto">
            <a:xfrm>
              <a:off x="4245643" y="116251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顧客・商品マスタ他</a:t>
              </a:r>
              <a:endParaRPr lang="en-US" altLang="ja-JP" sz="400">
                <a:solidFill>
                  <a:srgbClr val="000000"/>
                </a:solidFill>
                <a:latin typeface="Meiryo UI"/>
                <a:ea typeface="Meiryo UI"/>
              </a:endParaRPr>
            </a:p>
          </p:txBody>
        </p:sp>
        <p:sp>
          <p:nvSpPr>
            <p:cNvPr id="2706" name="楕円 2705">
              <a:extLst>
                <a:ext uri="{FF2B5EF4-FFF2-40B4-BE49-F238E27FC236}">
                  <a16:creationId xmlns:a16="http://schemas.microsoft.com/office/drawing/2014/main" id="{0FF71066-8A71-7EF5-80C6-37B323E560B1}"/>
                </a:ext>
              </a:extLst>
            </p:cNvPr>
            <p:cNvSpPr/>
            <p:nvPr/>
          </p:nvSpPr>
          <p:spPr>
            <a:xfrm>
              <a:off x="8818197" y="1681544"/>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F</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2707" name="テキスト ボックス 2706">
              <a:extLst>
                <a:ext uri="{FF2B5EF4-FFF2-40B4-BE49-F238E27FC236}">
                  <a16:creationId xmlns:a16="http://schemas.microsoft.com/office/drawing/2014/main" id="{1200628B-20F0-708E-4314-F6AB83CB5611}"/>
                </a:ext>
              </a:extLst>
            </p:cNvPr>
            <p:cNvSpPr txBox="1"/>
            <p:nvPr/>
          </p:nvSpPr>
          <p:spPr bwMode="auto">
            <a:xfrm>
              <a:off x="8870405" y="1768734"/>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パートナー</a:t>
              </a:r>
              <a:endParaRPr lang="en-US" altLang="ja-JP" sz="400">
                <a:solidFill>
                  <a:srgbClr val="000000"/>
                </a:solidFill>
                <a:latin typeface="Meiryo UI"/>
                <a:ea typeface="Meiryo UI"/>
              </a:endParaRPr>
            </a:p>
          </p:txBody>
        </p:sp>
        <p:sp>
          <p:nvSpPr>
            <p:cNvPr id="2708" name="楕円 2707">
              <a:extLst>
                <a:ext uri="{FF2B5EF4-FFF2-40B4-BE49-F238E27FC236}">
                  <a16:creationId xmlns:a16="http://schemas.microsoft.com/office/drawing/2014/main" id="{C9A1C215-2077-7348-8367-EAF334AD2F25}"/>
                </a:ext>
              </a:extLst>
            </p:cNvPr>
            <p:cNvSpPr/>
            <p:nvPr/>
          </p:nvSpPr>
          <p:spPr>
            <a:xfrm>
              <a:off x="5379861" y="3208390"/>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H</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2709" name="直線矢印コネクタ 2708">
              <a:extLst>
                <a:ext uri="{FF2B5EF4-FFF2-40B4-BE49-F238E27FC236}">
                  <a16:creationId xmlns:a16="http://schemas.microsoft.com/office/drawing/2014/main" id="{C02AC181-C0F9-2523-0433-1CDE7C7221A4}"/>
                </a:ext>
              </a:extLst>
            </p:cNvPr>
            <p:cNvCxnSpPr>
              <a:cxnSpLocks/>
            </p:cNvCxnSpPr>
            <p:nvPr/>
          </p:nvCxnSpPr>
          <p:spPr>
            <a:xfrm flipH="1">
              <a:off x="5553564" y="3282770"/>
              <a:ext cx="347407"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710" name="テキスト ボックス 2709">
              <a:extLst>
                <a:ext uri="{FF2B5EF4-FFF2-40B4-BE49-F238E27FC236}">
                  <a16:creationId xmlns:a16="http://schemas.microsoft.com/office/drawing/2014/main" id="{719C7CC1-3B91-4E74-552A-7F99C13C54CF}"/>
                </a:ext>
              </a:extLst>
            </p:cNvPr>
            <p:cNvSpPr txBox="1"/>
            <p:nvPr/>
          </p:nvSpPr>
          <p:spPr bwMode="auto">
            <a:xfrm>
              <a:off x="5576097" y="3114195"/>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勘定科目</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・各種マスタ</a:t>
              </a:r>
              <a:endParaRPr lang="en-US" altLang="ja-JP" sz="400">
                <a:solidFill>
                  <a:srgbClr val="000000"/>
                </a:solidFill>
                <a:latin typeface="Meiryo UI"/>
                <a:ea typeface="Meiryo UI"/>
              </a:endParaRPr>
            </a:p>
            <a:p>
              <a:pPr algn="l">
                <a:defRPr/>
              </a:pPr>
              <a:endParaRPr lang="en-US" altLang="ja-JP" sz="400">
                <a:solidFill>
                  <a:srgbClr val="000000"/>
                </a:solidFill>
                <a:latin typeface="Meiryo UI"/>
                <a:ea typeface="Meiryo UI"/>
              </a:endParaRPr>
            </a:p>
          </p:txBody>
        </p:sp>
        <p:sp>
          <p:nvSpPr>
            <p:cNvPr id="2711" name="楕円 2710">
              <a:extLst>
                <a:ext uri="{FF2B5EF4-FFF2-40B4-BE49-F238E27FC236}">
                  <a16:creationId xmlns:a16="http://schemas.microsoft.com/office/drawing/2014/main" id="{298B5309-07D6-717B-CFB3-9E827178A439}"/>
                </a:ext>
              </a:extLst>
            </p:cNvPr>
            <p:cNvSpPr/>
            <p:nvPr/>
          </p:nvSpPr>
          <p:spPr>
            <a:xfrm>
              <a:off x="704137" y="3976868"/>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F</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2712" name="カギ線コネクタ 379">
              <a:extLst>
                <a:ext uri="{FF2B5EF4-FFF2-40B4-BE49-F238E27FC236}">
                  <a16:creationId xmlns:a16="http://schemas.microsoft.com/office/drawing/2014/main" id="{B92E34B2-C322-E30D-E60F-6FC7B409AE82}"/>
                </a:ext>
              </a:extLst>
            </p:cNvPr>
            <p:cNvCxnSpPr>
              <a:cxnSpLocks/>
              <a:stCxn id="2711" idx="4"/>
              <a:endCxn id="3360" idx="1"/>
            </p:cNvCxnSpPr>
            <p:nvPr/>
          </p:nvCxnSpPr>
          <p:spPr>
            <a:xfrm rot="16200000" flipH="1">
              <a:off x="116066" y="4800550"/>
              <a:ext cx="1445478" cy="95633"/>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2713" name="カギ線コネクタ 379">
              <a:extLst>
                <a:ext uri="{FF2B5EF4-FFF2-40B4-BE49-F238E27FC236}">
                  <a16:creationId xmlns:a16="http://schemas.microsoft.com/office/drawing/2014/main" id="{78947118-6A91-17A4-5579-BBE6A9917E9E}"/>
                </a:ext>
              </a:extLst>
            </p:cNvPr>
            <p:cNvCxnSpPr>
              <a:cxnSpLocks/>
              <a:stCxn id="2711" idx="4"/>
            </p:cNvCxnSpPr>
            <p:nvPr/>
          </p:nvCxnSpPr>
          <p:spPr>
            <a:xfrm rot="16200000" flipH="1">
              <a:off x="463025" y="4453591"/>
              <a:ext cx="770884" cy="114956"/>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714" name="テキスト ボックス 2713">
              <a:extLst>
                <a:ext uri="{FF2B5EF4-FFF2-40B4-BE49-F238E27FC236}">
                  <a16:creationId xmlns:a16="http://schemas.microsoft.com/office/drawing/2014/main" id="{54BFED87-EA4A-6923-B085-0EE165604A94}"/>
                </a:ext>
              </a:extLst>
            </p:cNvPr>
            <p:cNvSpPr txBox="1"/>
            <p:nvPr/>
          </p:nvSpPr>
          <p:spPr bwMode="auto">
            <a:xfrm>
              <a:off x="879752" y="3954068"/>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パートナー</a:t>
              </a:r>
              <a:endParaRPr lang="en-US" altLang="ja-JP" sz="400">
                <a:solidFill>
                  <a:srgbClr val="000000"/>
                </a:solidFill>
                <a:latin typeface="Meiryo UI"/>
                <a:ea typeface="Meiryo UI"/>
              </a:endParaRPr>
            </a:p>
          </p:txBody>
        </p:sp>
        <p:sp>
          <p:nvSpPr>
            <p:cNvPr id="2715" name="楕円 2714">
              <a:extLst>
                <a:ext uri="{FF2B5EF4-FFF2-40B4-BE49-F238E27FC236}">
                  <a16:creationId xmlns:a16="http://schemas.microsoft.com/office/drawing/2014/main" id="{9A95C3F9-EBFF-2164-FE9B-75DA1FF064F5}"/>
                </a:ext>
              </a:extLst>
            </p:cNvPr>
            <p:cNvSpPr/>
            <p:nvPr/>
          </p:nvSpPr>
          <p:spPr>
            <a:xfrm>
              <a:off x="695547" y="5703197"/>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H</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2716" name="テキスト ボックス 2715">
              <a:extLst>
                <a:ext uri="{FF2B5EF4-FFF2-40B4-BE49-F238E27FC236}">
                  <a16:creationId xmlns:a16="http://schemas.microsoft.com/office/drawing/2014/main" id="{A35EEEA6-B889-4344-8590-65140CA20577}"/>
                </a:ext>
              </a:extLst>
            </p:cNvPr>
            <p:cNvSpPr txBox="1"/>
            <p:nvPr/>
          </p:nvSpPr>
          <p:spPr bwMode="auto">
            <a:xfrm>
              <a:off x="817410" y="5793956"/>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勘定科目・各種マスタ</a:t>
              </a:r>
              <a:endParaRPr lang="en-US" altLang="ja-JP" sz="400">
                <a:solidFill>
                  <a:srgbClr val="000000"/>
                </a:solidFill>
                <a:latin typeface="Meiryo UI"/>
                <a:ea typeface="Meiryo UI"/>
              </a:endParaRPr>
            </a:p>
          </p:txBody>
        </p:sp>
        <p:cxnSp>
          <p:nvCxnSpPr>
            <p:cNvPr id="2717" name="カギ線コネクタ 379">
              <a:extLst>
                <a:ext uri="{FF2B5EF4-FFF2-40B4-BE49-F238E27FC236}">
                  <a16:creationId xmlns:a16="http://schemas.microsoft.com/office/drawing/2014/main" id="{D8EBF918-DE33-2C47-B0B9-D6959768C315}"/>
                </a:ext>
              </a:extLst>
            </p:cNvPr>
            <p:cNvCxnSpPr>
              <a:cxnSpLocks/>
              <a:stCxn id="2715" idx="4"/>
              <a:endCxn id="29" idx="3"/>
            </p:cNvCxnSpPr>
            <p:nvPr/>
          </p:nvCxnSpPr>
          <p:spPr>
            <a:xfrm rot="5400000">
              <a:off x="614522" y="5907220"/>
              <a:ext cx="223141" cy="112615"/>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nvGrpSpPr>
            <p:cNvPr id="2718" name="グループ化 2717">
              <a:extLst>
                <a:ext uri="{FF2B5EF4-FFF2-40B4-BE49-F238E27FC236}">
                  <a16:creationId xmlns:a16="http://schemas.microsoft.com/office/drawing/2014/main" id="{4EC23D56-1379-CEBC-86FA-2E5EF40E7FA9}"/>
                </a:ext>
              </a:extLst>
            </p:cNvPr>
            <p:cNvGrpSpPr/>
            <p:nvPr/>
          </p:nvGrpSpPr>
          <p:grpSpPr>
            <a:xfrm>
              <a:off x="4022002" y="4947432"/>
              <a:ext cx="555851" cy="250221"/>
              <a:chOff x="7221802" y="3189918"/>
              <a:chExt cx="576000" cy="250221"/>
            </a:xfrm>
          </p:grpSpPr>
          <p:cxnSp>
            <p:nvCxnSpPr>
              <p:cNvPr id="3286" name="直線矢印コネクタ 3285">
                <a:extLst>
                  <a:ext uri="{FF2B5EF4-FFF2-40B4-BE49-F238E27FC236}">
                    <a16:creationId xmlns:a16="http://schemas.microsoft.com/office/drawing/2014/main" id="{8C29713A-CD72-23C7-A864-4E17425D8E18}"/>
                  </a:ext>
                </a:extLst>
              </p:cNvPr>
              <p:cNvCxnSpPr>
                <a:cxnSpLocks/>
              </p:cNvCxnSpPr>
              <p:nvPr/>
            </p:nvCxnSpPr>
            <p:spPr>
              <a:xfrm>
                <a:off x="7221802" y="3386094"/>
                <a:ext cx="576000" cy="0"/>
              </a:xfrm>
              <a:prstGeom prst="straightConnector1">
                <a:avLst/>
              </a:prstGeom>
              <a:solidFill>
                <a:srgbClr val="00CC99"/>
              </a:solidFill>
              <a:ln w="9525" cap="flat" cmpd="sng" algn="ctr">
                <a:solidFill>
                  <a:srgbClr val="000000">
                    <a:lumMod val="65000"/>
                    <a:lumOff val="35000"/>
                  </a:srgbClr>
                </a:solidFill>
                <a:prstDash val="solid"/>
                <a:round/>
                <a:headEnd type="triangle" w="med" len="med"/>
                <a:tailEnd type="none" w="med" len="med"/>
              </a:ln>
              <a:effectLst/>
            </p:spPr>
          </p:cxnSp>
          <p:sp>
            <p:nvSpPr>
              <p:cNvPr id="3287" name="テキスト ボックス 3286">
                <a:extLst>
                  <a:ext uri="{FF2B5EF4-FFF2-40B4-BE49-F238E27FC236}">
                    <a16:creationId xmlns:a16="http://schemas.microsoft.com/office/drawing/2014/main" id="{62AD6D2C-DADE-07CD-0641-C8F3BAADE2B1}"/>
                  </a:ext>
                </a:extLst>
              </p:cNvPr>
              <p:cNvSpPr txBox="1"/>
              <p:nvPr/>
            </p:nvSpPr>
            <p:spPr bwMode="auto">
              <a:xfrm>
                <a:off x="7303992" y="3189918"/>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支払取込結果</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2719" name="直線矢印コネクタ 2718">
              <a:extLst>
                <a:ext uri="{FF2B5EF4-FFF2-40B4-BE49-F238E27FC236}">
                  <a16:creationId xmlns:a16="http://schemas.microsoft.com/office/drawing/2014/main" id="{BF89D73A-F2B5-258E-B515-AE6FA51B8196}"/>
                </a:ext>
              </a:extLst>
            </p:cNvPr>
            <p:cNvCxnSpPr>
              <a:cxnSpLocks/>
            </p:cNvCxnSpPr>
            <p:nvPr/>
          </p:nvCxnSpPr>
          <p:spPr>
            <a:xfrm flipV="1">
              <a:off x="9676136" y="5815021"/>
              <a:ext cx="0" cy="148760"/>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04" name="楕円 3103">
              <a:extLst>
                <a:ext uri="{FF2B5EF4-FFF2-40B4-BE49-F238E27FC236}">
                  <a16:creationId xmlns:a16="http://schemas.microsoft.com/office/drawing/2014/main" id="{47240791-4BC9-BC1C-E4B4-35CD9D244B16}"/>
                </a:ext>
              </a:extLst>
            </p:cNvPr>
            <p:cNvSpPr/>
            <p:nvPr/>
          </p:nvSpPr>
          <p:spPr>
            <a:xfrm>
              <a:off x="9596263" y="5679693"/>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B</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105" name="テキスト ボックス 3104">
              <a:extLst>
                <a:ext uri="{FF2B5EF4-FFF2-40B4-BE49-F238E27FC236}">
                  <a16:creationId xmlns:a16="http://schemas.microsoft.com/office/drawing/2014/main" id="{77FEDEB1-CBC2-B43D-3F6E-9E456B7BBB2D}"/>
                </a:ext>
              </a:extLst>
            </p:cNvPr>
            <p:cNvSpPr txBox="1"/>
            <p:nvPr/>
          </p:nvSpPr>
          <p:spPr bwMode="auto">
            <a:xfrm>
              <a:off x="9722820" y="5850071"/>
              <a:ext cx="300323" cy="111122"/>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振込入金</a:t>
              </a:r>
              <a:endParaRPr lang="en-US" altLang="ja-JP" sz="400">
                <a:solidFill>
                  <a:srgbClr val="000000"/>
                </a:solidFill>
                <a:latin typeface="Meiryo UI"/>
                <a:ea typeface="Meiryo UI"/>
              </a:endParaRPr>
            </a:p>
          </p:txBody>
        </p:sp>
        <p:sp>
          <p:nvSpPr>
            <p:cNvPr id="3106" name="テキスト ボックス 3105">
              <a:extLst>
                <a:ext uri="{FF2B5EF4-FFF2-40B4-BE49-F238E27FC236}">
                  <a16:creationId xmlns:a16="http://schemas.microsoft.com/office/drawing/2014/main" id="{0BB25BB8-7E97-1D54-02EF-B9F3449A6C6A}"/>
                </a:ext>
              </a:extLst>
            </p:cNvPr>
            <p:cNvSpPr txBox="1"/>
            <p:nvPr/>
          </p:nvSpPr>
          <p:spPr bwMode="auto">
            <a:xfrm>
              <a:off x="5003107" y="4511733"/>
              <a:ext cx="518478" cy="14107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支払取込結果</a:t>
              </a:r>
              <a:endParaRPr lang="en-US" altLang="ja-JP" sz="400">
                <a:solidFill>
                  <a:srgbClr val="000000"/>
                </a:solidFill>
                <a:latin typeface="Meiryo UI"/>
                <a:ea typeface="Meiryo UI"/>
              </a:endParaRPr>
            </a:p>
          </p:txBody>
        </p:sp>
        <p:sp>
          <p:nvSpPr>
            <p:cNvPr id="3107" name="四角形: 角を丸くする 3106">
              <a:extLst>
                <a:ext uri="{FF2B5EF4-FFF2-40B4-BE49-F238E27FC236}">
                  <a16:creationId xmlns:a16="http://schemas.microsoft.com/office/drawing/2014/main" id="{2E37999E-32F4-712E-CD20-58E473A0AB10}"/>
                </a:ext>
              </a:extLst>
            </p:cNvPr>
            <p:cNvSpPr/>
            <p:nvPr/>
          </p:nvSpPr>
          <p:spPr>
            <a:xfrm>
              <a:off x="9350512" y="6328083"/>
              <a:ext cx="486369" cy="208264"/>
            </a:xfrm>
            <a:prstGeom prst="round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mn-cs"/>
                </a:rPr>
                <a:t>銀行</a:t>
              </a:r>
            </a:p>
          </p:txBody>
        </p:sp>
        <p:cxnSp>
          <p:nvCxnSpPr>
            <p:cNvPr id="3108" name="直線矢印コネクタ 3107">
              <a:extLst>
                <a:ext uri="{FF2B5EF4-FFF2-40B4-BE49-F238E27FC236}">
                  <a16:creationId xmlns:a16="http://schemas.microsoft.com/office/drawing/2014/main" id="{BFCCBADC-11D3-8EA6-7A99-2478F8F75EF0}"/>
                </a:ext>
              </a:extLst>
            </p:cNvPr>
            <p:cNvCxnSpPr>
              <a:cxnSpLocks/>
            </p:cNvCxnSpPr>
            <p:nvPr/>
          </p:nvCxnSpPr>
          <p:spPr>
            <a:xfrm flipH="1">
              <a:off x="9504119" y="6179283"/>
              <a:ext cx="0" cy="14876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09" name="テキスト ボックス 3108">
              <a:extLst>
                <a:ext uri="{FF2B5EF4-FFF2-40B4-BE49-F238E27FC236}">
                  <a16:creationId xmlns:a16="http://schemas.microsoft.com/office/drawing/2014/main" id="{783E22CB-C268-8298-C3CD-D01F6DE81308}"/>
                </a:ext>
              </a:extLst>
            </p:cNvPr>
            <p:cNvSpPr txBox="1"/>
            <p:nvPr/>
          </p:nvSpPr>
          <p:spPr bwMode="auto">
            <a:xfrm>
              <a:off x="9173743" y="6140138"/>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r>
                <a:rPr lang="ja-JP" altLang="en-US" sz="400">
                  <a:solidFill>
                    <a:srgbClr val="000000"/>
                  </a:solidFill>
                  <a:latin typeface="Meiryo UI"/>
                  <a:ea typeface="Meiryo UI"/>
                </a:rPr>
                <a:t>支払</a:t>
              </a:r>
              <a:endParaRPr lang="en-US" altLang="ja-JP" sz="400">
                <a:solidFill>
                  <a:srgbClr val="000000"/>
                </a:solidFill>
                <a:latin typeface="Meiryo UI"/>
                <a:ea typeface="Meiryo UI"/>
              </a:endParaRPr>
            </a:p>
          </p:txBody>
        </p:sp>
        <p:grpSp>
          <p:nvGrpSpPr>
            <p:cNvPr id="3110" name="グループ化 3109">
              <a:extLst>
                <a:ext uri="{FF2B5EF4-FFF2-40B4-BE49-F238E27FC236}">
                  <a16:creationId xmlns:a16="http://schemas.microsoft.com/office/drawing/2014/main" id="{29B9C2EC-BB8A-B2D3-6149-E2812690EC29}"/>
                </a:ext>
              </a:extLst>
            </p:cNvPr>
            <p:cNvGrpSpPr/>
            <p:nvPr/>
          </p:nvGrpSpPr>
          <p:grpSpPr>
            <a:xfrm>
              <a:off x="10022832" y="6173692"/>
              <a:ext cx="340701" cy="206794"/>
              <a:chOff x="9390080" y="6230547"/>
              <a:chExt cx="340701" cy="250221"/>
            </a:xfrm>
          </p:grpSpPr>
          <p:cxnSp>
            <p:nvCxnSpPr>
              <p:cNvPr id="3284" name="直線矢印コネクタ 3283">
                <a:extLst>
                  <a:ext uri="{FF2B5EF4-FFF2-40B4-BE49-F238E27FC236}">
                    <a16:creationId xmlns:a16="http://schemas.microsoft.com/office/drawing/2014/main" id="{14467C27-E099-9435-3320-20B955352735}"/>
                  </a:ext>
                </a:extLst>
              </p:cNvPr>
              <p:cNvCxnSpPr>
                <a:cxnSpLocks/>
              </p:cNvCxnSpPr>
              <p:nvPr/>
            </p:nvCxnSpPr>
            <p:spPr>
              <a:xfrm flipH="1">
                <a:off x="9390080" y="6237312"/>
                <a:ext cx="0" cy="180000"/>
              </a:xfrm>
              <a:prstGeom prst="straightConnector1">
                <a:avLst/>
              </a:prstGeom>
              <a:solidFill>
                <a:srgbClr val="00CC99"/>
              </a:solidFill>
              <a:ln w="9525" cap="flat" cmpd="sng" algn="ctr">
                <a:solidFill>
                  <a:srgbClr val="000000">
                    <a:lumMod val="65000"/>
                    <a:lumOff val="35000"/>
                  </a:srgbClr>
                </a:solidFill>
                <a:prstDash val="solid"/>
                <a:round/>
                <a:headEnd type="triangle" w="med" len="med"/>
                <a:tailEnd type="none" w="med" len="med"/>
              </a:ln>
              <a:effectLst/>
            </p:spPr>
          </p:cxnSp>
          <p:sp>
            <p:nvSpPr>
              <p:cNvPr id="3285" name="テキスト ボックス 3284">
                <a:extLst>
                  <a:ext uri="{FF2B5EF4-FFF2-40B4-BE49-F238E27FC236}">
                    <a16:creationId xmlns:a16="http://schemas.microsoft.com/office/drawing/2014/main" id="{B7AD6545-0C4A-997C-E549-F97C95FC8AB8}"/>
                  </a:ext>
                </a:extLst>
              </p:cNvPr>
              <p:cNvSpPr txBox="1"/>
              <p:nvPr/>
            </p:nvSpPr>
            <p:spPr bwMode="auto">
              <a:xfrm>
                <a:off x="9417512" y="623054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入金</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sp>
          <p:nvSpPr>
            <p:cNvPr id="3111" name="四角形: 角を丸くする 3110">
              <a:extLst>
                <a:ext uri="{FF2B5EF4-FFF2-40B4-BE49-F238E27FC236}">
                  <a16:creationId xmlns:a16="http://schemas.microsoft.com/office/drawing/2014/main" id="{474B39B5-0D46-BDF6-B02B-B6E4729275F2}"/>
                </a:ext>
              </a:extLst>
            </p:cNvPr>
            <p:cNvSpPr/>
            <p:nvPr/>
          </p:nvSpPr>
          <p:spPr>
            <a:xfrm>
              <a:off x="7082526" y="6328083"/>
              <a:ext cx="2084440" cy="208264"/>
            </a:xfrm>
            <a:prstGeom prst="round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DSK</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grpSp>
          <p:nvGrpSpPr>
            <p:cNvPr id="3112" name="グループ化 3111">
              <a:extLst>
                <a:ext uri="{FF2B5EF4-FFF2-40B4-BE49-F238E27FC236}">
                  <a16:creationId xmlns:a16="http://schemas.microsoft.com/office/drawing/2014/main" id="{EE6F813B-BE66-085A-7E54-B6D60C6278A6}"/>
                </a:ext>
              </a:extLst>
            </p:cNvPr>
            <p:cNvGrpSpPr/>
            <p:nvPr/>
          </p:nvGrpSpPr>
          <p:grpSpPr>
            <a:xfrm>
              <a:off x="8974535" y="6135907"/>
              <a:ext cx="351496" cy="206794"/>
              <a:chOff x="8184232" y="6212259"/>
              <a:chExt cx="351496" cy="250221"/>
            </a:xfrm>
          </p:grpSpPr>
          <p:cxnSp>
            <p:nvCxnSpPr>
              <p:cNvPr id="3282" name="直線矢印コネクタ 3281">
                <a:extLst>
                  <a:ext uri="{FF2B5EF4-FFF2-40B4-BE49-F238E27FC236}">
                    <a16:creationId xmlns:a16="http://schemas.microsoft.com/office/drawing/2014/main" id="{5947D5FC-7A5D-E0F6-7F00-32F11C792443}"/>
                  </a:ext>
                </a:extLst>
              </p:cNvPr>
              <p:cNvCxnSpPr>
                <a:cxnSpLocks/>
              </p:cNvCxnSpPr>
              <p:nvPr/>
            </p:nvCxnSpPr>
            <p:spPr>
              <a:xfrm flipH="1">
                <a:off x="8535728" y="6259624"/>
                <a:ext cx="0" cy="18000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83" name="テキスト ボックス 3282">
                <a:extLst>
                  <a:ext uri="{FF2B5EF4-FFF2-40B4-BE49-F238E27FC236}">
                    <a16:creationId xmlns:a16="http://schemas.microsoft.com/office/drawing/2014/main" id="{105DCCA3-538E-ED13-FBE2-72C2EEE01721}"/>
                  </a:ext>
                </a:extLst>
              </p:cNvPr>
              <p:cNvSpPr txBox="1"/>
              <p:nvPr/>
            </p:nvSpPr>
            <p:spPr bwMode="auto">
              <a:xfrm>
                <a:off x="8184232" y="6212259"/>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支払通知書他</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113" name="直線矢印コネクタ 3112">
              <a:extLst>
                <a:ext uri="{FF2B5EF4-FFF2-40B4-BE49-F238E27FC236}">
                  <a16:creationId xmlns:a16="http://schemas.microsoft.com/office/drawing/2014/main" id="{56A0CD26-75CA-6DAC-FC1F-4161B98352B2}"/>
                </a:ext>
              </a:extLst>
            </p:cNvPr>
            <p:cNvCxnSpPr>
              <a:cxnSpLocks/>
            </p:cNvCxnSpPr>
            <p:nvPr/>
          </p:nvCxnSpPr>
          <p:spPr>
            <a:xfrm flipH="1">
              <a:off x="8348936" y="6175051"/>
              <a:ext cx="0" cy="14876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14" name="テキスト ボックス 3113">
              <a:extLst>
                <a:ext uri="{FF2B5EF4-FFF2-40B4-BE49-F238E27FC236}">
                  <a16:creationId xmlns:a16="http://schemas.microsoft.com/office/drawing/2014/main" id="{4B53B227-2136-5296-8D32-CDFA067551E4}"/>
                </a:ext>
              </a:extLst>
            </p:cNvPr>
            <p:cNvSpPr txBox="1"/>
            <p:nvPr/>
          </p:nvSpPr>
          <p:spPr bwMode="auto">
            <a:xfrm>
              <a:off x="8009736" y="613590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r>
                <a:rPr lang="ja-JP" altLang="en-US" sz="400">
                  <a:solidFill>
                    <a:srgbClr val="000000"/>
                  </a:solidFill>
                  <a:latin typeface="Meiryo UI"/>
                  <a:ea typeface="Meiryo UI"/>
                </a:rPr>
                <a:t>請求書・督促書</a:t>
              </a:r>
              <a:endParaRPr lang="en-US" altLang="ja-JP" sz="400">
                <a:solidFill>
                  <a:srgbClr val="000000"/>
                </a:solidFill>
                <a:latin typeface="Meiryo UI"/>
                <a:ea typeface="Meiryo UI"/>
              </a:endParaRPr>
            </a:p>
          </p:txBody>
        </p:sp>
        <p:sp>
          <p:nvSpPr>
            <p:cNvPr id="3115" name="四角形: 角を丸くする 3114">
              <a:extLst>
                <a:ext uri="{FF2B5EF4-FFF2-40B4-BE49-F238E27FC236}">
                  <a16:creationId xmlns:a16="http://schemas.microsoft.com/office/drawing/2014/main" id="{6D6E47C1-DAE9-BB1A-626B-679BE2E68EB1}"/>
                </a:ext>
              </a:extLst>
            </p:cNvPr>
            <p:cNvSpPr/>
            <p:nvPr/>
          </p:nvSpPr>
          <p:spPr>
            <a:xfrm>
              <a:off x="5795112" y="6339580"/>
              <a:ext cx="486369" cy="208264"/>
            </a:xfrm>
            <a:prstGeom prst="round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n-cs"/>
                </a:rPr>
                <a:t>信販会社</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grpSp>
          <p:nvGrpSpPr>
            <p:cNvPr id="3116" name="グループ化 3115">
              <a:extLst>
                <a:ext uri="{FF2B5EF4-FFF2-40B4-BE49-F238E27FC236}">
                  <a16:creationId xmlns:a16="http://schemas.microsoft.com/office/drawing/2014/main" id="{BF3621F7-5AA9-9C44-0747-5927F8236A76}"/>
                </a:ext>
              </a:extLst>
            </p:cNvPr>
            <p:cNvGrpSpPr/>
            <p:nvPr/>
          </p:nvGrpSpPr>
          <p:grpSpPr>
            <a:xfrm>
              <a:off x="6348288" y="6185189"/>
              <a:ext cx="340701" cy="206794"/>
              <a:chOff x="9390080" y="6230547"/>
              <a:chExt cx="340701" cy="250221"/>
            </a:xfrm>
          </p:grpSpPr>
          <p:cxnSp>
            <p:nvCxnSpPr>
              <p:cNvPr id="3280" name="直線矢印コネクタ 3279">
                <a:extLst>
                  <a:ext uri="{FF2B5EF4-FFF2-40B4-BE49-F238E27FC236}">
                    <a16:creationId xmlns:a16="http://schemas.microsoft.com/office/drawing/2014/main" id="{CD14ED0A-F9F4-04A3-E537-B6CB0221BA7A}"/>
                  </a:ext>
                </a:extLst>
              </p:cNvPr>
              <p:cNvCxnSpPr>
                <a:cxnSpLocks/>
              </p:cNvCxnSpPr>
              <p:nvPr/>
            </p:nvCxnSpPr>
            <p:spPr>
              <a:xfrm flipH="1">
                <a:off x="9390080" y="6237312"/>
                <a:ext cx="0" cy="180000"/>
              </a:xfrm>
              <a:prstGeom prst="straightConnector1">
                <a:avLst/>
              </a:prstGeom>
              <a:solidFill>
                <a:srgbClr val="00CC99"/>
              </a:solidFill>
              <a:ln w="9525" cap="flat" cmpd="sng" algn="ctr">
                <a:solidFill>
                  <a:srgbClr val="000000">
                    <a:lumMod val="65000"/>
                    <a:lumOff val="35000"/>
                  </a:srgbClr>
                </a:solidFill>
                <a:prstDash val="solid"/>
                <a:round/>
                <a:headEnd type="triangle" w="med" len="med"/>
                <a:tailEnd type="none" w="med" len="med"/>
              </a:ln>
              <a:effectLst/>
            </p:spPr>
          </p:cxnSp>
          <p:sp>
            <p:nvSpPr>
              <p:cNvPr id="3281" name="テキスト ボックス 3280">
                <a:extLst>
                  <a:ext uri="{FF2B5EF4-FFF2-40B4-BE49-F238E27FC236}">
                    <a16:creationId xmlns:a16="http://schemas.microsoft.com/office/drawing/2014/main" id="{D4686570-4871-16F6-8C71-DA74CD4D8814}"/>
                  </a:ext>
                </a:extLst>
              </p:cNvPr>
              <p:cNvSpPr txBox="1"/>
              <p:nvPr/>
            </p:nvSpPr>
            <p:spPr bwMode="auto">
              <a:xfrm>
                <a:off x="9417512" y="623054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引落返還</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117" name="グループ化 3116">
              <a:extLst>
                <a:ext uri="{FF2B5EF4-FFF2-40B4-BE49-F238E27FC236}">
                  <a16:creationId xmlns:a16="http://schemas.microsoft.com/office/drawing/2014/main" id="{BE43A8CE-6F98-0CBC-09A4-25FFF1859F17}"/>
                </a:ext>
              </a:extLst>
            </p:cNvPr>
            <p:cNvGrpSpPr/>
            <p:nvPr/>
          </p:nvGrpSpPr>
          <p:grpSpPr>
            <a:xfrm>
              <a:off x="7608364" y="6179283"/>
              <a:ext cx="340701" cy="206794"/>
              <a:chOff x="9390080" y="6230547"/>
              <a:chExt cx="340701" cy="250221"/>
            </a:xfrm>
          </p:grpSpPr>
          <p:cxnSp>
            <p:nvCxnSpPr>
              <p:cNvPr id="3278" name="直線矢印コネクタ 3277">
                <a:extLst>
                  <a:ext uri="{FF2B5EF4-FFF2-40B4-BE49-F238E27FC236}">
                    <a16:creationId xmlns:a16="http://schemas.microsoft.com/office/drawing/2014/main" id="{EE7DEBF8-A7E0-E8B9-8AA9-68B4717CABE1}"/>
                  </a:ext>
                </a:extLst>
              </p:cNvPr>
              <p:cNvCxnSpPr>
                <a:cxnSpLocks/>
              </p:cNvCxnSpPr>
              <p:nvPr/>
            </p:nvCxnSpPr>
            <p:spPr>
              <a:xfrm flipH="1">
                <a:off x="9390080" y="6237312"/>
                <a:ext cx="0" cy="180000"/>
              </a:xfrm>
              <a:prstGeom prst="straightConnector1">
                <a:avLst/>
              </a:prstGeom>
              <a:solidFill>
                <a:srgbClr val="00CC99"/>
              </a:solidFill>
              <a:ln w="9525" cap="flat" cmpd="sng" algn="ctr">
                <a:solidFill>
                  <a:srgbClr val="000000">
                    <a:lumMod val="65000"/>
                    <a:lumOff val="35000"/>
                  </a:srgbClr>
                </a:solidFill>
                <a:prstDash val="solid"/>
                <a:round/>
                <a:headEnd type="triangle" w="med" len="med"/>
                <a:tailEnd type="none" w="med" len="med"/>
              </a:ln>
              <a:effectLst/>
            </p:spPr>
          </p:cxnSp>
          <p:sp>
            <p:nvSpPr>
              <p:cNvPr id="3279" name="テキスト ボックス 3278">
                <a:extLst>
                  <a:ext uri="{FF2B5EF4-FFF2-40B4-BE49-F238E27FC236}">
                    <a16:creationId xmlns:a16="http://schemas.microsoft.com/office/drawing/2014/main" id="{1C5DE68A-C7CA-0088-F478-EDD4590E2D3D}"/>
                  </a:ext>
                </a:extLst>
              </p:cNvPr>
              <p:cNvSpPr txBox="1"/>
              <p:nvPr/>
            </p:nvSpPr>
            <p:spPr bwMode="auto">
              <a:xfrm>
                <a:off x="9417512" y="623054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srgbClr val="000000"/>
                    </a:solidFill>
                    <a:effectLst/>
                    <a:uLnTx/>
                    <a:uFillTx/>
                    <a:latin typeface="Meiryo UI"/>
                    <a:ea typeface="Meiryo UI"/>
                  </a:rPr>
                  <a:t>CVS</a:t>
                </a:r>
                <a:r>
                  <a:rPr kumimoji="0" lang="ja-JP" altLang="en-US" sz="400" b="0" i="0" u="none" strike="noStrike" kern="0" cap="none" spc="0" normalizeH="0" baseline="0" noProof="0">
                    <a:ln>
                      <a:noFill/>
                    </a:ln>
                    <a:solidFill>
                      <a:srgbClr val="000000"/>
                    </a:solidFill>
                    <a:effectLst/>
                    <a:uLnTx/>
                    <a:uFillTx/>
                    <a:latin typeface="Meiryo UI"/>
                    <a:ea typeface="Meiryo UI"/>
                  </a:rPr>
                  <a:t>収納</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118" name="直線矢印コネクタ 3117">
              <a:extLst>
                <a:ext uri="{FF2B5EF4-FFF2-40B4-BE49-F238E27FC236}">
                  <a16:creationId xmlns:a16="http://schemas.microsoft.com/office/drawing/2014/main" id="{B72A6CCE-5BC7-A8FC-2D3B-C72CE3F47D5F}"/>
                </a:ext>
              </a:extLst>
            </p:cNvPr>
            <p:cNvCxnSpPr>
              <a:cxnSpLocks/>
            </p:cNvCxnSpPr>
            <p:nvPr/>
          </p:nvCxnSpPr>
          <p:spPr>
            <a:xfrm flipH="1" flipV="1">
              <a:off x="9646281" y="2374622"/>
              <a:ext cx="0" cy="401469"/>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19" name="テキスト ボックス 3118">
              <a:extLst>
                <a:ext uri="{FF2B5EF4-FFF2-40B4-BE49-F238E27FC236}">
                  <a16:creationId xmlns:a16="http://schemas.microsoft.com/office/drawing/2014/main" id="{8BA6913D-30EB-91FF-B5F5-89E7E0F6260C}"/>
                </a:ext>
              </a:extLst>
            </p:cNvPr>
            <p:cNvSpPr txBox="1"/>
            <p:nvPr/>
          </p:nvSpPr>
          <p:spPr bwMode="auto">
            <a:xfrm>
              <a:off x="9703220" y="2373476"/>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各種データ（</a:t>
              </a:r>
              <a:r>
                <a:rPr lang="en-US" altLang="ja-JP" sz="400">
                  <a:solidFill>
                    <a:srgbClr val="000000"/>
                  </a:solidFill>
                  <a:latin typeface="Meiryo UI"/>
                  <a:ea typeface="Meiryo UI"/>
                </a:rPr>
                <a:t>IF</a:t>
              </a:r>
              <a:r>
                <a:rPr lang="ja-JP" altLang="en-US" sz="400">
                  <a:solidFill>
                    <a:srgbClr val="000000"/>
                  </a:solidFill>
                  <a:latin typeface="Meiryo UI"/>
                  <a:ea typeface="Meiryo UI"/>
                </a:rPr>
                <a:t>制御経由）</a:t>
              </a:r>
              <a:endParaRPr lang="en-US" altLang="ja-JP" sz="400">
                <a:solidFill>
                  <a:srgbClr val="000000"/>
                </a:solidFill>
                <a:latin typeface="Meiryo UI"/>
                <a:ea typeface="Meiryo UI"/>
              </a:endParaRPr>
            </a:p>
          </p:txBody>
        </p:sp>
        <p:grpSp>
          <p:nvGrpSpPr>
            <p:cNvPr id="3120" name="グループ化 3119">
              <a:extLst>
                <a:ext uri="{FF2B5EF4-FFF2-40B4-BE49-F238E27FC236}">
                  <a16:creationId xmlns:a16="http://schemas.microsoft.com/office/drawing/2014/main" id="{0CE030B3-005D-DA9C-D312-E90E89B1D0CD}"/>
                </a:ext>
              </a:extLst>
            </p:cNvPr>
            <p:cNvGrpSpPr/>
            <p:nvPr/>
          </p:nvGrpSpPr>
          <p:grpSpPr>
            <a:xfrm>
              <a:off x="9651488" y="1670039"/>
              <a:ext cx="441147" cy="280460"/>
              <a:chOff x="4606879" y="4250758"/>
              <a:chExt cx="457139" cy="339357"/>
            </a:xfrm>
          </p:grpSpPr>
          <p:sp>
            <p:nvSpPr>
              <p:cNvPr id="3275" name="楕円 3274">
                <a:extLst>
                  <a:ext uri="{FF2B5EF4-FFF2-40B4-BE49-F238E27FC236}">
                    <a16:creationId xmlns:a16="http://schemas.microsoft.com/office/drawing/2014/main" id="{70EB728A-233C-90EC-70A2-662360272F12}"/>
                  </a:ext>
                </a:extLst>
              </p:cNvPr>
              <p:cNvSpPr/>
              <p:nvPr/>
            </p:nvSpPr>
            <p:spPr>
              <a:xfrm>
                <a:off x="4606879" y="4250758"/>
                <a:ext cx="180000" cy="18000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M</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sp>
            <p:nvSpPr>
              <p:cNvPr id="3276" name="テキスト ボックス 3275">
                <a:extLst>
                  <a:ext uri="{FF2B5EF4-FFF2-40B4-BE49-F238E27FC236}">
                    <a16:creationId xmlns:a16="http://schemas.microsoft.com/office/drawing/2014/main" id="{C0140C42-CC1C-70DD-EC25-80BC61709FDB}"/>
                  </a:ext>
                </a:extLst>
              </p:cNvPr>
              <p:cNvSpPr txBox="1"/>
              <p:nvPr/>
            </p:nvSpPr>
            <p:spPr bwMode="auto">
              <a:xfrm>
                <a:off x="4750749" y="4339894"/>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顧客・商品マスタ他</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cxnSp>
            <p:nvCxnSpPr>
              <p:cNvPr id="3277" name="直線矢印コネクタ 3276">
                <a:extLst>
                  <a:ext uri="{FF2B5EF4-FFF2-40B4-BE49-F238E27FC236}">
                    <a16:creationId xmlns:a16="http://schemas.microsoft.com/office/drawing/2014/main" id="{4E4B6AA3-4FFC-ED3B-646F-3FFA17AC2042}"/>
                  </a:ext>
                </a:extLst>
              </p:cNvPr>
              <p:cNvCxnSpPr>
                <a:cxnSpLocks/>
              </p:cNvCxnSpPr>
              <p:nvPr/>
            </p:nvCxnSpPr>
            <p:spPr>
              <a:xfrm>
                <a:off x="4696879" y="4430757"/>
                <a:ext cx="0" cy="12960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cxnSp>
          <p:nvCxnSpPr>
            <p:cNvPr id="3121" name="カギ線コネクタ 379">
              <a:extLst>
                <a:ext uri="{FF2B5EF4-FFF2-40B4-BE49-F238E27FC236}">
                  <a16:creationId xmlns:a16="http://schemas.microsoft.com/office/drawing/2014/main" id="{E75F4F99-B41B-2017-02AD-BAAC85DF89D2}"/>
                </a:ext>
              </a:extLst>
            </p:cNvPr>
            <p:cNvCxnSpPr>
              <a:cxnSpLocks/>
            </p:cNvCxnSpPr>
            <p:nvPr/>
          </p:nvCxnSpPr>
          <p:spPr>
            <a:xfrm flipV="1">
              <a:off x="4013559" y="2375443"/>
              <a:ext cx="5156399" cy="91664"/>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22" name="テキスト ボックス 3121">
              <a:extLst>
                <a:ext uri="{FF2B5EF4-FFF2-40B4-BE49-F238E27FC236}">
                  <a16:creationId xmlns:a16="http://schemas.microsoft.com/office/drawing/2014/main" id="{6FDAED57-BA36-C2B2-F017-C113ED388EA0}"/>
                </a:ext>
              </a:extLst>
            </p:cNvPr>
            <p:cNvSpPr txBox="1"/>
            <p:nvPr/>
          </p:nvSpPr>
          <p:spPr bwMode="auto">
            <a:xfrm>
              <a:off x="4068326" y="2304132"/>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各種データ</a:t>
              </a:r>
              <a:endParaRPr lang="en-US" altLang="ja-JP" sz="400">
                <a:solidFill>
                  <a:srgbClr val="000000"/>
                </a:solidFill>
                <a:latin typeface="Meiryo UI"/>
                <a:ea typeface="Meiryo UI"/>
              </a:endParaRPr>
            </a:p>
          </p:txBody>
        </p:sp>
        <p:cxnSp>
          <p:nvCxnSpPr>
            <p:cNvPr id="3123" name="カギ線コネクタ 379">
              <a:extLst>
                <a:ext uri="{FF2B5EF4-FFF2-40B4-BE49-F238E27FC236}">
                  <a16:creationId xmlns:a16="http://schemas.microsoft.com/office/drawing/2014/main" id="{03932F76-01B0-5B7E-4115-B3BBF7DCBBCC}"/>
                </a:ext>
              </a:extLst>
            </p:cNvPr>
            <p:cNvCxnSpPr>
              <a:cxnSpLocks/>
              <a:stCxn id="3234" idx="0"/>
              <a:endCxn id="3233" idx="2"/>
            </p:cNvCxnSpPr>
            <p:nvPr/>
          </p:nvCxnSpPr>
          <p:spPr>
            <a:xfrm rot="5400000" flipH="1" flipV="1">
              <a:off x="8767472" y="2094883"/>
              <a:ext cx="405935" cy="970775"/>
            </a:xfrm>
            <a:prstGeom prst="bentConnector3">
              <a:avLst>
                <a:gd name="adj1" fmla="val 57508"/>
              </a:avLst>
            </a:prstGeom>
            <a:solidFill>
              <a:srgbClr val="00CC99"/>
            </a:solidFill>
            <a:ln w="9525" cap="flat" cmpd="sng" algn="ctr">
              <a:solidFill>
                <a:srgbClr val="595959"/>
              </a:solidFill>
              <a:prstDash val="solid"/>
              <a:round/>
              <a:headEnd type="none" w="med" len="med"/>
              <a:tailEnd type="triangle"/>
            </a:ln>
            <a:effectLst/>
          </p:spPr>
        </p:cxnSp>
        <p:sp>
          <p:nvSpPr>
            <p:cNvPr id="3124" name="テキスト ボックス 3123">
              <a:extLst>
                <a:ext uri="{FF2B5EF4-FFF2-40B4-BE49-F238E27FC236}">
                  <a16:creationId xmlns:a16="http://schemas.microsoft.com/office/drawing/2014/main" id="{0BF2645B-284B-52CD-AEB5-F6A5C14993AF}"/>
                </a:ext>
              </a:extLst>
            </p:cNvPr>
            <p:cNvSpPr txBox="1"/>
            <p:nvPr/>
          </p:nvSpPr>
          <p:spPr bwMode="auto">
            <a:xfrm>
              <a:off x="8197781" y="2481589"/>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r>
                <a:rPr lang="ja-JP" altLang="en-US" sz="400">
                  <a:solidFill>
                    <a:srgbClr val="000000"/>
                  </a:solidFill>
                  <a:latin typeface="Meiryo UI"/>
                  <a:ea typeface="Meiryo UI"/>
                </a:rPr>
                <a:t>各種データ（</a:t>
              </a:r>
              <a:r>
                <a:rPr lang="en-US" altLang="ja-JP" sz="400">
                  <a:solidFill>
                    <a:srgbClr val="000000"/>
                  </a:solidFill>
                  <a:latin typeface="Meiryo UI"/>
                  <a:ea typeface="Meiryo UI"/>
                </a:rPr>
                <a:t>IF</a:t>
              </a:r>
              <a:r>
                <a:rPr lang="ja-JP" altLang="en-US" sz="400">
                  <a:solidFill>
                    <a:srgbClr val="000000"/>
                  </a:solidFill>
                  <a:latin typeface="Meiryo UI"/>
                  <a:ea typeface="Meiryo UI"/>
                </a:rPr>
                <a:t>制御経由）</a:t>
              </a:r>
              <a:endParaRPr lang="en-US" altLang="ja-JP" sz="400">
                <a:solidFill>
                  <a:srgbClr val="000000"/>
                </a:solidFill>
                <a:latin typeface="Meiryo UI"/>
                <a:ea typeface="Meiryo UI"/>
              </a:endParaRPr>
            </a:p>
          </p:txBody>
        </p:sp>
        <p:sp>
          <p:nvSpPr>
            <p:cNvPr id="3125" name="正方形/長方形 3124">
              <a:extLst>
                <a:ext uri="{FF2B5EF4-FFF2-40B4-BE49-F238E27FC236}">
                  <a16:creationId xmlns:a16="http://schemas.microsoft.com/office/drawing/2014/main" id="{775F01DC-4D4E-303A-727A-39CCAB635ECF}"/>
                </a:ext>
              </a:extLst>
            </p:cNvPr>
            <p:cNvSpPr/>
            <p:nvPr/>
          </p:nvSpPr>
          <p:spPr bwMode="auto">
            <a:xfrm>
              <a:off x="11101850" y="5222316"/>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CO</a:t>
              </a:r>
            </a:p>
          </p:txBody>
        </p:sp>
        <p:cxnSp>
          <p:nvCxnSpPr>
            <p:cNvPr id="3126" name="カギ線コネクタ 379">
              <a:extLst>
                <a:ext uri="{FF2B5EF4-FFF2-40B4-BE49-F238E27FC236}">
                  <a16:creationId xmlns:a16="http://schemas.microsoft.com/office/drawing/2014/main" id="{714E75E0-73E9-12E6-7214-D1AAF9D56B28}"/>
                </a:ext>
              </a:extLst>
            </p:cNvPr>
            <p:cNvCxnSpPr>
              <a:cxnSpLocks/>
            </p:cNvCxnSpPr>
            <p:nvPr/>
          </p:nvCxnSpPr>
          <p:spPr>
            <a:xfrm flipV="1">
              <a:off x="7913852" y="4870093"/>
              <a:ext cx="3196141" cy="267769"/>
            </a:xfrm>
            <a:prstGeom prst="bentConnector3">
              <a:avLst>
                <a:gd name="adj1" fmla="val 90016"/>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127" name="カギ線コネクタ 379">
              <a:extLst>
                <a:ext uri="{FF2B5EF4-FFF2-40B4-BE49-F238E27FC236}">
                  <a16:creationId xmlns:a16="http://schemas.microsoft.com/office/drawing/2014/main" id="{C11C6881-B87A-E99A-3C12-D57B83E1FF1E}"/>
                </a:ext>
              </a:extLst>
            </p:cNvPr>
            <p:cNvCxnSpPr>
              <a:cxnSpLocks/>
            </p:cNvCxnSpPr>
            <p:nvPr/>
          </p:nvCxnSpPr>
          <p:spPr>
            <a:xfrm flipV="1">
              <a:off x="10651991" y="5028336"/>
              <a:ext cx="457846" cy="345969"/>
            </a:xfrm>
            <a:prstGeom prst="bentConnector3">
              <a:avLst>
                <a:gd name="adj1" fmla="val 5734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128" name="直線矢印コネクタ 3127">
              <a:extLst>
                <a:ext uri="{FF2B5EF4-FFF2-40B4-BE49-F238E27FC236}">
                  <a16:creationId xmlns:a16="http://schemas.microsoft.com/office/drawing/2014/main" id="{E1754C28-8019-ADE6-598D-C4EB7173090C}"/>
                </a:ext>
              </a:extLst>
            </p:cNvPr>
            <p:cNvCxnSpPr>
              <a:cxnSpLocks/>
              <a:stCxn id="3053" idx="2"/>
              <a:endCxn id="3125" idx="0"/>
            </p:cNvCxnSpPr>
            <p:nvPr/>
          </p:nvCxnSpPr>
          <p:spPr>
            <a:xfrm>
              <a:off x="11379775" y="5060493"/>
              <a:ext cx="0" cy="161822"/>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129" name="カギ線コネクタ 379">
              <a:extLst>
                <a:ext uri="{FF2B5EF4-FFF2-40B4-BE49-F238E27FC236}">
                  <a16:creationId xmlns:a16="http://schemas.microsoft.com/office/drawing/2014/main" id="{583A0967-F66E-F14F-99E9-82275024896E}"/>
                </a:ext>
              </a:extLst>
            </p:cNvPr>
            <p:cNvCxnSpPr>
              <a:cxnSpLocks/>
            </p:cNvCxnSpPr>
            <p:nvPr/>
          </p:nvCxnSpPr>
          <p:spPr>
            <a:xfrm flipV="1">
              <a:off x="7916712" y="3052800"/>
              <a:ext cx="2188662" cy="386777"/>
            </a:xfrm>
            <a:prstGeom prst="bentConnector3">
              <a:avLst>
                <a:gd name="adj1" fmla="val 89550"/>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nvGrpSpPr>
            <p:cNvPr id="3130" name="グループ化 3129">
              <a:extLst>
                <a:ext uri="{FF2B5EF4-FFF2-40B4-BE49-F238E27FC236}">
                  <a16:creationId xmlns:a16="http://schemas.microsoft.com/office/drawing/2014/main" id="{9D3B4190-74F6-C9E1-CC49-40A003D9623E}"/>
                </a:ext>
              </a:extLst>
            </p:cNvPr>
            <p:cNvGrpSpPr/>
            <p:nvPr/>
          </p:nvGrpSpPr>
          <p:grpSpPr>
            <a:xfrm>
              <a:off x="4868497" y="4222879"/>
              <a:ext cx="688888" cy="250221"/>
              <a:chOff x="5121667" y="1289067"/>
              <a:chExt cx="713859" cy="250221"/>
            </a:xfrm>
          </p:grpSpPr>
          <p:cxnSp>
            <p:nvCxnSpPr>
              <p:cNvPr id="3272" name="直線矢印コネクタ 3271">
                <a:extLst>
                  <a:ext uri="{FF2B5EF4-FFF2-40B4-BE49-F238E27FC236}">
                    <a16:creationId xmlns:a16="http://schemas.microsoft.com/office/drawing/2014/main" id="{E45DA422-5779-A76D-AC8C-62E3E9F9CCE3}"/>
                  </a:ext>
                </a:extLst>
              </p:cNvPr>
              <p:cNvCxnSpPr>
                <a:cxnSpLocks/>
              </p:cNvCxnSpPr>
              <p:nvPr/>
            </p:nvCxnSpPr>
            <p:spPr>
              <a:xfrm>
                <a:off x="5121667" y="1398134"/>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73" name="楕円 3272">
                <a:extLst>
                  <a:ext uri="{FF2B5EF4-FFF2-40B4-BE49-F238E27FC236}">
                    <a16:creationId xmlns:a16="http://schemas.microsoft.com/office/drawing/2014/main" id="{DB71DEBC-34BB-8868-AD23-A6F8C8A75789}"/>
                  </a:ext>
                </a:extLst>
              </p:cNvPr>
              <p:cNvSpPr/>
              <p:nvPr/>
            </p:nvSpPr>
            <p:spPr>
              <a:xfrm>
                <a:off x="5345087" y="1311671"/>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I</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274" name="テキスト ボックス 3273">
                <a:extLst>
                  <a:ext uri="{FF2B5EF4-FFF2-40B4-BE49-F238E27FC236}">
                    <a16:creationId xmlns:a16="http://schemas.microsoft.com/office/drawing/2014/main" id="{F59CC4D1-F736-14A9-6705-2960AD7B6168}"/>
                  </a:ext>
                </a:extLst>
              </p:cNvPr>
              <p:cNvSpPr txBox="1"/>
              <p:nvPr/>
            </p:nvSpPr>
            <p:spPr bwMode="auto">
              <a:xfrm>
                <a:off x="5522257" y="128906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請求書</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・引落明細書</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131" name="直線矢印コネクタ 3130">
              <a:extLst>
                <a:ext uri="{FF2B5EF4-FFF2-40B4-BE49-F238E27FC236}">
                  <a16:creationId xmlns:a16="http://schemas.microsoft.com/office/drawing/2014/main" id="{2BAFFFC7-D5FC-FE06-AE06-E460F2D1916E}"/>
                </a:ext>
              </a:extLst>
            </p:cNvPr>
            <p:cNvCxnSpPr>
              <a:cxnSpLocks/>
              <a:stCxn id="3132" idx="6"/>
              <a:endCxn id="3111" idx="1"/>
            </p:cNvCxnSpPr>
            <p:nvPr/>
          </p:nvCxnSpPr>
          <p:spPr>
            <a:xfrm>
              <a:off x="6594083" y="6430250"/>
              <a:ext cx="488443" cy="1965"/>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32" name="楕円 3131">
              <a:extLst>
                <a:ext uri="{FF2B5EF4-FFF2-40B4-BE49-F238E27FC236}">
                  <a16:creationId xmlns:a16="http://schemas.microsoft.com/office/drawing/2014/main" id="{D6AF4CC4-AB32-C70B-13DA-7A38807CC0C6}"/>
                </a:ext>
              </a:extLst>
            </p:cNvPr>
            <p:cNvSpPr/>
            <p:nvPr/>
          </p:nvSpPr>
          <p:spPr>
            <a:xfrm>
              <a:off x="6420380" y="6355870"/>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I</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133" name="楕円 3132">
              <a:extLst>
                <a:ext uri="{FF2B5EF4-FFF2-40B4-BE49-F238E27FC236}">
                  <a16:creationId xmlns:a16="http://schemas.microsoft.com/office/drawing/2014/main" id="{E0C907C2-48AE-4C25-A5F2-26148BD787C5}"/>
                </a:ext>
              </a:extLst>
            </p:cNvPr>
            <p:cNvSpPr/>
            <p:nvPr/>
          </p:nvSpPr>
          <p:spPr>
            <a:xfrm>
              <a:off x="4585242" y="6026107"/>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G</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sp>
          <p:nvSpPr>
            <p:cNvPr id="3134" name="テキスト ボックス 3133">
              <a:extLst>
                <a:ext uri="{FF2B5EF4-FFF2-40B4-BE49-F238E27FC236}">
                  <a16:creationId xmlns:a16="http://schemas.microsoft.com/office/drawing/2014/main" id="{B81C4213-6EF0-4C6C-3C4D-6C0374628D56}"/>
                </a:ext>
              </a:extLst>
            </p:cNvPr>
            <p:cNvSpPr txBox="1"/>
            <p:nvPr/>
          </p:nvSpPr>
          <p:spPr bwMode="auto">
            <a:xfrm>
              <a:off x="9531819" y="4487462"/>
              <a:ext cx="558377" cy="14119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支払取込結果</a:t>
              </a:r>
              <a:endParaRPr lang="en-US" altLang="ja-JP" sz="400">
                <a:solidFill>
                  <a:srgbClr val="000000"/>
                </a:solidFill>
                <a:latin typeface="Meiryo UI"/>
                <a:ea typeface="Meiryo UI"/>
              </a:endParaRPr>
            </a:p>
          </p:txBody>
        </p:sp>
        <p:sp>
          <p:nvSpPr>
            <p:cNvPr id="3135" name="楕円 3134">
              <a:extLst>
                <a:ext uri="{FF2B5EF4-FFF2-40B4-BE49-F238E27FC236}">
                  <a16:creationId xmlns:a16="http://schemas.microsoft.com/office/drawing/2014/main" id="{A63948B4-91F1-CB52-C6E2-953AB4332C2D}"/>
                </a:ext>
              </a:extLst>
            </p:cNvPr>
            <p:cNvSpPr/>
            <p:nvPr/>
          </p:nvSpPr>
          <p:spPr>
            <a:xfrm>
              <a:off x="5356844" y="4353478"/>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H</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136" name="直線矢印コネクタ 3135">
              <a:extLst>
                <a:ext uri="{FF2B5EF4-FFF2-40B4-BE49-F238E27FC236}">
                  <a16:creationId xmlns:a16="http://schemas.microsoft.com/office/drawing/2014/main" id="{995DB79B-CBD0-F9D2-5E30-9F0EDAA8750D}"/>
                </a:ext>
              </a:extLst>
            </p:cNvPr>
            <p:cNvCxnSpPr>
              <a:cxnSpLocks/>
              <a:stCxn id="3135" idx="2"/>
            </p:cNvCxnSpPr>
            <p:nvPr/>
          </p:nvCxnSpPr>
          <p:spPr>
            <a:xfrm flipH="1" flipV="1">
              <a:off x="4917238" y="4422989"/>
              <a:ext cx="439605" cy="4869"/>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37" name="テキスト ボックス 3136">
              <a:extLst>
                <a:ext uri="{FF2B5EF4-FFF2-40B4-BE49-F238E27FC236}">
                  <a16:creationId xmlns:a16="http://schemas.microsoft.com/office/drawing/2014/main" id="{19642C1D-2438-495B-6423-9F80F30EC071}"/>
                </a:ext>
              </a:extLst>
            </p:cNvPr>
            <p:cNvSpPr txBox="1"/>
            <p:nvPr/>
          </p:nvSpPr>
          <p:spPr bwMode="auto">
            <a:xfrm>
              <a:off x="5006219" y="4280550"/>
              <a:ext cx="309998" cy="212355"/>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勘定科目</a:t>
              </a:r>
              <a:endParaRPr lang="en-US" altLang="ja-JP" sz="400">
                <a:solidFill>
                  <a:srgbClr val="000000"/>
                </a:solidFill>
                <a:latin typeface="Meiryo UI"/>
                <a:ea typeface="Meiryo UI"/>
              </a:endParaRPr>
            </a:p>
          </p:txBody>
        </p:sp>
        <p:sp>
          <p:nvSpPr>
            <p:cNvPr id="3138" name="楕円 3137">
              <a:extLst>
                <a:ext uri="{FF2B5EF4-FFF2-40B4-BE49-F238E27FC236}">
                  <a16:creationId xmlns:a16="http://schemas.microsoft.com/office/drawing/2014/main" id="{28CEE709-7693-58CB-A111-7EA3B84EE262}"/>
                </a:ext>
              </a:extLst>
            </p:cNvPr>
            <p:cNvSpPr/>
            <p:nvPr/>
          </p:nvSpPr>
          <p:spPr>
            <a:xfrm>
              <a:off x="7966615" y="3834195"/>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K</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139" name="直線矢印コネクタ 3138">
              <a:extLst>
                <a:ext uri="{FF2B5EF4-FFF2-40B4-BE49-F238E27FC236}">
                  <a16:creationId xmlns:a16="http://schemas.microsoft.com/office/drawing/2014/main" id="{5A37C7B7-D093-D280-8915-72CDABC5910B}"/>
                </a:ext>
              </a:extLst>
            </p:cNvPr>
            <p:cNvCxnSpPr>
              <a:cxnSpLocks/>
            </p:cNvCxnSpPr>
            <p:nvPr/>
          </p:nvCxnSpPr>
          <p:spPr>
            <a:xfrm>
              <a:off x="8150743" y="3903652"/>
              <a:ext cx="1945477"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40" name="テキスト ボックス 3139">
              <a:extLst>
                <a:ext uri="{FF2B5EF4-FFF2-40B4-BE49-F238E27FC236}">
                  <a16:creationId xmlns:a16="http://schemas.microsoft.com/office/drawing/2014/main" id="{D11AA05F-53DD-DDD7-29E0-4E97C248DEAF}"/>
                </a:ext>
              </a:extLst>
            </p:cNvPr>
            <p:cNvSpPr txBox="1"/>
            <p:nvPr/>
          </p:nvSpPr>
          <p:spPr bwMode="auto">
            <a:xfrm>
              <a:off x="8158720" y="3714130"/>
              <a:ext cx="330912" cy="285507"/>
            </a:xfrm>
            <a:prstGeom prst="rect">
              <a:avLst/>
            </a:prstGeom>
            <a:noFill/>
            <a:ln w="12700">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引落</a:t>
              </a:r>
              <a:endParaRPr lang="en-US" altLang="ja-JP" sz="400">
                <a:solidFill>
                  <a:srgbClr val="000000"/>
                </a:solidFill>
                <a:latin typeface="Meiryo UI"/>
                <a:ea typeface="Meiryo UI"/>
              </a:endParaRPr>
            </a:p>
          </p:txBody>
        </p:sp>
        <p:grpSp>
          <p:nvGrpSpPr>
            <p:cNvPr id="3141" name="グループ化 3140">
              <a:extLst>
                <a:ext uri="{FF2B5EF4-FFF2-40B4-BE49-F238E27FC236}">
                  <a16:creationId xmlns:a16="http://schemas.microsoft.com/office/drawing/2014/main" id="{9D48C464-E4E9-D8C0-A42C-210FA77741D5}"/>
                </a:ext>
              </a:extLst>
            </p:cNvPr>
            <p:cNvGrpSpPr/>
            <p:nvPr/>
          </p:nvGrpSpPr>
          <p:grpSpPr>
            <a:xfrm>
              <a:off x="673723" y="3652082"/>
              <a:ext cx="389308" cy="365643"/>
              <a:chOff x="5121667" y="1076592"/>
              <a:chExt cx="403420" cy="365643"/>
            </a:xfrm>
          </p:grpSpPr>
          <p:cxnSp>
            <p:nvCxnSpPr>
              <p:cNvPr id="3269" name="直線矢印コネクタ 3268">
                <a:extLst>
                  <a:ext uri="{FF2B5EF4-FFF2-40B4-BE49-F238E27FC236}">
                    <a16:creationId xmlns:a16="http://schemas.microsoft.com/office/drawing/2014/main" id="{DD223B9C-CD43-CB62-87E9-642D7939849E}"/>
                  </a:ext>
                </a:extLst>
              </p:cNvPr>
              <p:cNvCxnSpPr>
                <a:cxnSpLocks/>
              </p:cNvCxnSpPr>
              <p:nvPr/>
            </p:nvCxnSpPr>
            <p:spPr>
              <a:xfrm>
                <a:off x="5121667" y="1348698"/>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70" name="楕円 3269">
                <a:extLst>
                  <a:ext uri="{FF2B5EF4-FFF2-40B4-BE49-F238E27FC236}">
                    <a16:creationId xmlns:a16="http://schemas.microsoft.com/office/drawing/2014/main" id="{A37BA776-7C48-3E69-CBCC-2BE74569D888}"/>
                  </a:ext>
                </a:extLst>
              </p:cNvPr>
              <p:cNvSpPr/>
              <p:nvPr/>
            </p:nvSpPr>
            <p:spPr>
              <a:xfrm>
                <a:off x="5345087" y="1262235"/>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E</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271" name="テキスト ボックス 3270">
                <a:extLst>
                  <a:ext uri="{FF2B5EF4-FFF2-40B4-BE49-F238E27FC236}">
                    <a16:creationId xmlns:a16="http://schemas.microsoft.com/office/drawing/2014/main" id="{5F380342-88BD-F6AA-FC97-61FE46732567}"/>
                  </a:ext>
                </a:extLst>
              </p:cNvPr>
              <p:cNvSpPr txBox="1"/>
              <p:nvPr/>
            </p:nvSpPr>
            <p:spPr bwMode="auto">
              <a:xfrm>
                <a:off x="5189249" y="1076592"/>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顧客マスタ</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142" name="グループ化 3141">
              <a:extLst>
                <a:ext uri="{FF2B5EF4-FFF2-40B4-BE49-F238E27FC236}">
                  <a16:creationId xmlns:a16="http://schemas.microsoft.com/office/drawing/2014/main" id="{1319EC24-05EC-17E4-2319-9CA4EC822B4E}"/>
                </a:ext>
              </a:extLst>
            </p:cNvPr>
            <p:cNvGrpSpPr/>
            <p:nvPr/>
          </p:nvGrpSpPr>
          <p:grpSpPr>
            <a:xfrm>
              <a:off x="674332" y="4057470"/>
              <a:ext cx="389308" cy="180000"/>
              <a:chOff x="5121667" y="1311671"/>
              <a:chExt cx="403420" cy="180000"/>
            </a:xfrm>
          </p:grpSpPr>
          <p:cxnSp>
            <p:nvCxnSpPr>
              <p:cNvPr id="3267" name="直線矢印コネクタ 3266">
                <a:extLst>
                  <a:ext uri="{FF2B5EF4-FFF2-40B4-BE49-F238E27FC236}">
                    <a16:creationId xmlns:a16="http://schemas.microsoft.com/office/drawing/2014/main" id="{6BFCA037-0164-0A69-68AB-42215F22571A}"/>
                  </a:ext>
                </a:extLst>
              </p:cNvPr>
              <p:cNvCxnSpPr>
                <a:cxnSpLocks/>
              </p:cNvCxnSpPr>
              <p:nvPr/>
            </p:nvCxnSpPr>
            <p:spPr>
              <a:xfrm>
                <a:off x="5121667" y="1398134"/>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68" name="楕円 3267">
                <a:extLst>
                  <a:ext uri="{FF2B5EF4-FFF2-40B4-BE49-F238E27FC236}">
                    <a16:creationId xmlns:a16="http://schemas.microsoft.com/office/drawing/2014/main" id="{9B457FE9-C873-212E-765E-0FC3C6C713CF}"/>
                  </a:ext>
                </a:extLst>
              </p:cNvPr>
              <p:cNvSpPr/>
              <p:nvPr/>
            </p:nvSpPr>
            <p:spPr>
              <a:xfrm>
                <a:off x="5345087" y="1311671"/>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J</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grpSp>
        <p:sp>
          <p:nvSpPr>
            <p:cNvPr id="3143" name="楕円 3142">
              <a:extLst>
                <a:ext uri="{FF2B5EF4-FFF2-40B4-BE49-F238E27FC236}">
                  <a16:creationId xmlns:a16="http://schemas.microsoft.com/office/drawing/2014/main" id="{D8A9A5AB-FD68-66B3-EA22-F89BF570877F}"/>
                </a:ext>
              </a:extLst>
            </p:cNvPr>
            <p:cNvSpPr/>
            <p:nvPr/>
          </p:nvSpPr>
          <p:spPr>
            <a:xfrm>
              <a:off x="5550227" y="3864174"/>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J</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144" name="直線矢印コネクタ 3143">
              <a:extLst>
                <a:ext uri="{FF2B5EF4-FFF2-40B4-BE49-F238E27FC236}">
                  <a16:creationId xmlns:a16="http://schemas.microsoft.com/office/drawing/2014/main" id="{CED03E20-44E6-539B-FC1C-529C5206F988}"/>
                </a:ext>
              </a:extLst>
            </p:cNvPr>
            <p:cNvCxnSpPr>
              <a:cxnSpLocks/>
              <a:stCxn id="3143" idx="6"/>
            </p:cNvCxnSpPr>
            <p:nvPr/>
          </p:nvCxnSpPr>
          <p:spPr>
            <a:xfrm flipV="1">
              <a:off x="5723930" y="3932822"/>
              <a:ext cx="889845" cy="5732"/>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45" name="テキスト ボックス 3144">
              <a:extLst>
                <a:ext uri="{FF2B5EF4-FFF2-40B4-BE49-F238E27FC236}">
                  <a16:creationId xmlns:a16="http://schemas.microsoft.com/office/drawing/2014/main" id="{C3FD1BBD-6D35-8CE0-719C-2398E8F1F3FB}"/>
                </a:ext>
              </a:extLst>
            </p:cNvPr>
            <p:cNvSpPr txBox="1"/>
            <p:nvPr/>
          </p:nvSpPr>
          <p:spPr bwMode="auto">
            <a:xfrm>
              <a:off x="5765940" y="3807546"/>
              <a:ext cx="641578" cy="182195"/>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決済・入金予定</a:t>
              </a:r>
              <a:endParaRPr lang="en-US" altLang="ja-JP" sz="400">
                <a:solidFill>
                  <a:srgbClr val="000000"/>
                </a:solidFill>
                <a:latin typeface="Meiryo UI"/>
                <a:ea typeface="Meiryo UI"/>
              </a:endParaRPr>
            </a:p>
          </p:txBody>
        </p:sp>
        <p:grpSp>
          <p:nvGrpSpPr>
            <p:cNvPr id="3146" name="グループ化 3145">
              <a:extLst>
                <a:ext uri="{FF2B5EF4-FFF2-40B4-BE49-F238E27FC236}">
                  <a16:creationId xmlns:a16="http://schemas.microsoft.com/office/drawing/2014/main" id="{29AC8B89-923A-DD3A-E626-A947866705E0}"/>
                </a:ext>
              </a:extLst>
            </p:cNvPr>
            <p:cNvGrpSpPr/>
            <p:nvPr/>
          </p:nvGrpSpPr>
          <p:grpSpPr>
            <a:xfrm>
              <a:off x="4016613" y="2160446"/>
              <a:ext cx="389308" cy="180000"/>
              <a:chOff x="3938565" y="1135965"/>
              <a:chExt cx="403420" cy="180000"/>
            </a:xfrm>
          </p:grpSpPr>
          <p:cxnSp>
            <p:nvCxnSpPr>
              <p:cNvPr id="3265" name="直線矢印コネクタ 3264">
                <a:extLst>
                  <a:ext uri="{FF2B5EF4-FFF2-40B4-BE49-F238E27FC236}">
                    <a16:creationId xmlns:a16="http://schemas.microsoft.com/office/drawing/2014/main" id="{F0DF3BD9-2DC4-864B-FE1D-A6C9466C84B6}"/>
                  </a:ext>
                </a:extLst>
              </p:cNvPr>
              <p:cNvCxnSpPr>
                <a:cxnSpLocks/>
              </p:cNvCxnSpPr>
              <p:nvPr/>
            </p:nvCxnSpPr>
            <p:spPr>
              <a:xfrm>
                <a:off x="3938565" y="1222428"/>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66" name="楕円 3265">
                <a:extLst>
                  <a:ext uri="{FF2B5EF4-FFF2-40B4-BE49-F238E27FC236}">
                    <a16:creationId xmlns:a16="http://schemas.microsoft.com/office/drawing/2014/main" id="{7FB917F6-17A9-0635-F54F-C1E13E30C92D}"/>
                  </a:ext>
                </a:extLst>
              </p:cNvPr>
              <p:cNvSpPr/>
              <p:nvPr/>
            </p:nvSpPr>
            <p:spPr>
              <a:xfrm>
                <a:off x="4161985" y="1135965"/>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K</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grpSp>
        <p:sp>
          <p:nvSpPr>
            <p:cNvPr id="3147" name="テキスト ボックス 3146">
              <a:extLst>
                <a:ext uri="{FF2B5EF4-FFF2-40B4-BE49-F238E27FC236}">
                  <a16:creationId xmlns:a16="http://schemas.microsoft.com/office/drawing/2014/main" id="{D0A38ABC-DF61-9A09-E3EA-ED085E08AE8C}"/>
                </a:ext>
              </a:extLst>
            </p:cNvPr>
            <p:cNvSpPr txBox="1"/>
            <p:nvPr/>
          </p:nvSpPr>
          <p:spPr bwMode="auto">
            <a:xfrm>
              <a:off x="4068326" y="1855029"/>
              <a:ext cx="302310" cy="23035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引落</a:t>
              </a:r>
              <a:endParaRPr lang="en-US" altLang="ja-JP" sz="400">
                <a:solidFill>
                  <a:srgbClr val="000000"/>
                </a:solidFill>
                <a:latin typeface="Meiryo UI"/>
                <a:ea typeface="Meiryo UI"/>
              </a:endParaRPr>
            </a:p>
          </p:txBody>
        </p:sp>
        <p:cxnSp>
          <p:nvCxnSpPr>
            <p:cNvPr id="3148" name="カギ線コネクタ 379">
              <a:extLst>
                <a:ext uri="{FF2B5EF4-FFF2-40B4-BE49-F238E27FC236}">
                  <a16:creationId xmlns:a16="http://schemas.microsoft.com/office/drawing/2014/main" id="{D77B1BA0-8F63-58B8-7A3E-D8A8A5AB1915}"/>
                </a:ext>
              </a:extLst>
            </p:cNvPr>
            <p:cNvCxnSpPr>
              <a:cxnSpLocks/>
            </p:cNvCxnSpPr>
            <p:nvPr/>
          </p:nvCxnSpPr>
          <p:spPr>
            <a:xfrm>
              <a:off x="4005154" y="3480480"/>
              <a:ext cx="2605748" cy="396265"/>
            </a:xfrm>
            <a:prstGeom prst="bentConnector3">
              <a:avLst>
                <a:gd name="adj1" fmla="val 89684"/>
              </a:avLst>
            </a:prstGeom>
            <a:solidFill>
              <a:srgbClr val="00CC99"/>
            </a:solidFill>
            <a:ln w="9525" cap="flat" cmpd="sng" algn="ctr">
              <a:solidFill>
                <a:srgbClr val="595959"/>
              </a:solidFill>
              <a:prstDash val="solid"/>
              <a:round/>
              <a:headEnd type="none" w="med" len="med"/>
              <a:tailEnd type="triangle"/>
            </a:ln>
            <a:effectLst/>
          </p:spPr>
        </p:cxnSp>
        <p:sp>
          <p:nvSpPr>
            <p:cNvPr id="3149" name="正方形/長方形 3148">
              <a:extLst>
                <a:ext uri="{FF2B5EF4-FFF2-40B4-BE49-F238E27FC236}">
                  <a16:creationId xmlns:a16="http://schemas.microsoft.com/office/drawing/2014/main" id="{B7EE48F1-6475-16DD-338E-542FBB7DF08A}"/>
                </a:ext>
              </a:extLst>
            </p:cNvPr>
            <p:cNvSpPr/>
            <p:nvPr/>
          </p:nvSpPr>
          <p:spPr bwMode="auto">
            <a:xfrm>
              <a:off x="6621703" y="3534123"/>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収益認識</a:t>
              </a:r>
              <a:endParaRPr kumimoji="0" lang="en-US" altLang="ja-JP" sz="700" b="0" i="0" u="none" strike="noStrike" kern="0" cap="none" spc="0" normalizeH="0" baseline="0" noProof="0">
                <a:ln>
                  <a:noFill/>
                </a:ln>
                <a:solidFill>
                  <a:srgbClr val="000000"/>
                </a:solidFill>
                <a:effectLst/>
                <a:uLnTx/>
                <a:uFillTx/>
                <a:latin typeface="Meiryo UI"/>
                <a:ea typeface="Meiryo UI"/>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変換</a:t>
              </a:r>
              <a:endParaRPr kumimoji="0" lang="en-US" altLang="ja-JP" sz="700" b="0" i="0" u="none" strike="noStrike" kern="0" cap="none" spc="0" normalizeH="0" baseline="0" noProof="0">
                <a:ln>
                  <a:noFill/>
                </a:ln>
                <a:solidFill>
                  <a:srgbClr val="000000"/>
                </a:solidFill>
                <a:effectLst/>
                <a:uLnTx/>
                <a:uFillTx/>
                <a:latin typeface="Meiryo UI"/>
                <a:ea typeface="Meiryo UI"/>
              </a:endParaRPr>
            </a:p>
          </p:txBody>
        </p:sp>
        <p:cxnSp>
          <p:nvCxnSpPr>
            <p:cNvPr id="3150" name="直線矢印コネクタ 3149">
              <a:extLst>
                <a:ext uri="{FF2B5EF4-FFF2-40B4-BE49-F238E27FC236}">
                  <a16:creationId xmlns:a16="http://schemas.microsoft.com/office/drawing/2014/main" id="{9B5FEFE7-75D2-79C1-DB8C-D08D0468D32C}"/>
                </a:ext>
              </a:extLst>
            </p:cNvPr>
            <p:cNvCxnSpPr>
              <a:cxnSpLocks/>
              <a:stCxn id="3040" idx="2"/>
              <a:endCxn id="3149" idx="0"/>
            </p:cNvCxnSpPr>
            <p:nvPr/>
          </p:nvCxnSpPr>
          <p:spPr>
            <a:xfrm>
              <a:off x="6898988" y="3457581"/>
              <a:ext cx="641" cy="76542"/>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cxnSp>
          <p:nvCxnSpPr>
            <p:cNvPr id="3151" name="直線矢印コネクタ 3150">
              <a:extLst>
                <a:ext uri="{FF2B5EF4-FFF2-40B4-BE49-F238E27FC236}">
                  <a16:creationId xmlns:a16="http://schemas.microsoft.com/office/drawing/2014/main" id="{551CDE4F-FB51-FA10-6117-D45655F09B1A}"/>
                </a:ext>
              </a:extLst>
            </p:cNvPr>
            <p:cNvCxnSpPr>
              <a:cxnSpLocks/>
              <a:stCxn id="3149" idx="3"/>
            </p:cNvCxnSpPr>
            <p:nvPr/>
          </p:nvCxnSpPr>
          <p:spPr>
            <a:xfrm>
              <a:off x="7177554" y="3653131"/>
              <a:ext cx="456688" cy="0"/>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52" name="正方形/長方形 3151">
              <a:extLst>
                <a:ext uri="{FF2B5EF4-FFF2-40B4-BE49-F238E27FC236}">
                  <a16:creationId xmlns:a16="http://schemas.microsoft.com/office/drawing/2014/main" id="{F0BF5D6F-0377-F2F5-74CD-BC619E5C86B8}"/>
                </a:ext>
              </a:extLst>
            </p:cNvPr>
            <p:cNvSpPr/>
            <p:nvPr/>
          </p:nvSpPr>
          <p:spPr bwMode="auto">
            <a:xfrm>
              <a:off x="6619548" y="5509861"/>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仕訳</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変換</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cxnSp>
          <p:nvCxnSpPr>
            <p:cNvPr id="3153" name="カギ線コネクタ 379">
              <a:extLst>
                <a:ext uri="{FF2B5EF4-FFF2-40B4-BE49-F238E27FC236}">
                  <a16:creationId xmlns:a16="http://schemas.microsoft.com/office/drawing/2014/main" id="{03CFD39A-363B-D367-A0F0-5138CA026D79}"/>
                </a:ext>
              </a:extLst>
            </p:cNvPr>
            <p:cNvCxnSpPr>
              <a:cxnSpLocks/>
            </p:cNvCxnSpPr>
            <p:nvPr/>
          </p:nvCxnSpPr>
          <p:spPr>
            <a:xfrm>
              <a:off x="5709135" y="4103357"/>
              <a:ext cx="916638" cy="383390"/>
            </a:xfrm>
            <a:prstGeom prst="bentConnector3">
              <a:avLst>
                <a:gd name="adj1" fmla="val 56017"/>
              </a:avLst>
            </a:prstGeom>
            <a:solidFill>
              <a:srgbClr val="00CC99"/>
            </a:solidFill>
            <a:ln w="9525" cap="flat" cmpd="sng" algn="ctr">
              <a:solidFill>
                <a:srgbClr val="595959"/>
              </a:solidFill>
              <a:prstDash val="solid"/>
              <a:round/>
              <a:headEnd type="none" w="med" len="med"/>
              <a:tailEnd type="triangle"/>
            </a:ln>
            <a:effectLst/>
          </p:spPr>
        </p:cxnSp>
        <p:cxnSp>
          <p:nvCxnSpPr>
            <p:cNvPr id="3154" name="カギ線コネクタ 379">
              <a:extLst>
                <a:ext uri="{FF2B5EF4-FFF2-40B4-BE49-F238E27FC236}">
                  <a16:creationId xmlns:a16="http://schemas.microsoft.com/office/drawing/2014/main" id="{161D7C2E-7466-16D3-F729-09DC8992C3E8}"/>
                </a:ext>
              </a:extLst>
            </p:cNvPr>
            <p:cNvCxnSpPr>
              <a:cxnSpLocks/>
            </p:cNvCxnSpPr>
            <p:nvPr/>
          </p:nvCxnSpPr>
          <p:spPr>
            <a:xfrm flipV="1">
              <a:off x="7906928" y="4753215"/>
              <a:ext cx="3194860" cy="204599"/>
            </a:xfrm>
            <a:prstGeom prst="bentConnector3">
              <a:avLst>
                <a:gd name="adj1" fmla="val 88553"/>
              </a:avLst>
            </a:prstGeom>
            <a:solidFill>
              <a:srgbClr val="00CC99"/>
            </a:solidFill>
            <a:ln w="9525" cap="flat" cmpd="sng" algn="ctr">
              <a:solidFill>
                <a:srgbClr val="595959"/>
              </a:solidFill>
              <a:prstDash val="solid"/>
              <a:round/>
              <a:headEnd type="none" w="med" len="med"/>
              <a:tailEnd type="triangle"/>
            </a:ln>
            <a:effectLst/>
          </p:spPr>
        </p:cxnSp>
        <p:cxnSp>
          <p:nvCxnSpPr>
            <p:cNvPr id="3155" name="直線矢印コネクタ 3154">
              <a:extLst>
                <a:ext uri="{FF2B5EF4-FFF2-40B4-BE49-F238E27FC236}">
                  <a16:creationId xmlns:a16="http://schemas.microsoft.com/office/drawing/2014/main" id="{92E49152-3FFA-87DC-7A41-2248A76D5E19}"/>
                </a:ext>
              </a:extLst>
            </p:cNvPr>
            <p:cNvCxnSpPr>
              <a:cxnSpLocks/>
            </p:cNvCxnSpPr>
            <p:nvPr/>
          </p:nvCxnSpPr>
          <p:spPr>
            <a:xfrm>
              <a:off x="4916386" y="4536839"/>
              <a:ext cx="1708584"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56" name="楕円 3155">
              <a:extLst>
                <a:ext uri="{FF2B5EF4-FFF2-40B4-BE49-F238E27FC236}">
                  <a16:creationId xmlns:a16="http://schemas.microsoft.com/office/drawing/2014/main" id="{4C4AFDC9-A237-6171-EF3C-A6FF73B765D0}"/>
                </a:ext>
              </a:extLst>
            </p:cNvPr>
            <p:cNvSpPr/>
            <p:nvPr/>
          </p:nvSpPr>
          <p:spPr>
            <a:xfrm>
              <a:off x="7475693" y="5466129"/>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G</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cxnSp>
          <p:nvCxnSpPr>
            <p:cNvPr id="3157" name="カギ線コネクタ 379">
              <a:extLst>
                <a:ext uri="{FF2B5EF4-FFF2-40B4-BE49-F238E27FC236}">
                  <a16:creationId xmlns:a16="http://schemas.microsoft.com/office/drawing/2014/main" id="{AA0AD5EA-3F52-61C2-EB7C-3CACEB50C0B6}"/>
                </a:ext>
              </a:extLst>
            </p:cNvPr>
            <p:cNvCxnSpPr>
              <a:cxnSpLocks/>
              <a:stCxn id="3156" idx="6"/>
              <a:endCxn id="3046" idx="2"/>
            </p:cNvCxnSpPr>
            <p:nvPr/>
          </p:nvCxnSpPr>
          <p:spPr>
            <a:xfrm flipV="1">
              <a:off x="7649397" y="5464916"/>
              <a:ext cx="124424" cy="75593"/>
            </a:xfrm>
            <a:prstGeom prst="bentConnector2">
              <a:avLst/>
            </a:prstGeom>
            <a:solidFill>
              <a:srgbClr val="00CC99"/>
            </a:solidFill>
            <a:ln w="9525" cap="flat" cmpd="sng" algn="ctr">
              <a:solidFill>
                <a:srgbClr val="595959"/>
              </a:solidFill>
              <a:prstDash val="solid"/>
              <a:round/>
              <a:headEnd type="none" w="med" len="med"/>
              <a:tailEnd type="triangle"/>
            </a:ln>
            <a:effectLst/>
          </p:spPr>
        </p:cxnSp>
        <p:sp>
          <p:nvSpPr>
            <p:cNvPr id="3158" name="テキスト ボックス 3157">
              <a:extLst>
                <a:ext uri="{FF2B5EF4-FFF2-40B4-BE49-F238E27FC236}">
                  <a16:creationId xmlns:a16="http://schemas.microsoft.com/office/drawing/2014/main" id="{F4A2030F-52B6-DB42-9971-08573DB804A5}"/>
                </a:ext>
              </a:extLst>
            </p:cNvPr>
            <p:cNvSpPr txBox="1"/>
            <p:nvPr/>
          </p:nvSpPr>
          <p:spPr bwMode="auto">
            <a:xfrm>
              <a:off x="4025311" y="5229569"/>
              <a:ext cx="698629" cy="14180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仕訳計上</a:t>
              </a:r>
              <a:endParaRPr lang="en-US" altLang="ja-JP" sz="400">
                <a:solidFill>
                  <a:srgbClr val="000000"/>
                </a:solidFill>
                <a:latin typeface="Meiryo UI"/>
                <a:ea typeface="Meiryo UI"/>
              </a:endParaRPr>
            </a:p>
          </p:txBody>
        </p:sp>
        <p:cxnSp>
          <p:nvCxnSpPr>
            <p:cNvPr id="3159" name="カギ線コネクタ 379">
              <a:extLst>
                <a:ext uri="{FF2B5EF4-FFF2-40B4-BE49-F238E27FC236}">
                  <a16:creationId xmlns:a16="http://schemas.microsoft.com/office/drawing/2014/main" id="{71019399-D54A-13BA-6DCB-79EFFED2CE62}"/>
                </a:ext>
              </a:extLst>
            </p:cNvPr>
            <p:cNvCxnSpPr>
              <a:cxnSpLocks/>
              <a:stCxn id="3152" idx="3"/>
            </p:cNvCxnSpPr>
            <p:nvPr/>
          </p:nvCxnSpPr>
          <p:spPr>
            <a:xfrm flipV="1">
              <a:off x="7175399" y="5411022"/>
              <a:ext cx="440263" cy="217847"/>
            </a:xfrm>
            <a:prstGeom prst="bentConnector3">
              <a:avLst>
                <a:gd name="adj1" fmla="val 17987"/>
              </a:avLst>
            </a:prstGeom>
            <a:solidFill>
              <a:srgbClr val="00CC99"/>
            </a:solidFill>
            <a:ln w="9525" cap="flat" cmpd="sng" algn="ctr">
              <a:solidFill>
                <a:srgbClr val="595959"/>
              </a:solidFill>
              <a:prstDash val="solid"/>
              <a:round/>
              <a:headEnd type="none" w="med" len="med"/>
              <a:tailEnd type="triangle"/>
            </a:ln>
            <a:effectLst/>
          </p:spPr>
        </p:cxnSp>
        <p:sp>
          <p:nvSpPr>
            <p:cNvPr id="3160" name="正方形/長方形 3159">
              <a:extLst>
                <a:ext uri="{FF2B5EF4-FFF2-40B4-BE49-F238E27FC236}">
                  <a16:creationId xmlns:a16="http://schemas.microsoft.com/office/drawing/2014/main" id="{6EFBA2A1-9DFF-C61B-2EDC-90793EC2B4BF}"/>
                </a:ext>
              </a:extLst>
            </p:cNvPr>
            <p:cNvSpPr/>
            <p:nvPr/>
          </p:nvSpPr>
          <p:spPr>
            <a:xfrm>
              <a:off x="9203867" y="5962686"/>
              <a:ext cx="1166761" cy="216517"/>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ロコン（銀行</a:t>
              </a: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HUB)</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161" name="楕円 3160">
              <a:extLst>
                <a:ext uri="{FF2B5EF4-FFF2-40B4-BE49-F238E27FC236}">
                  <a16:creationId xmlns:a16="http://schemas.microsoft.com/office/drawing/2014/main" id="{D726844F-1526-BFD3-87AC-1E8916730614}"/>
                </a:ext>
              </a:extLst>
            </p:cNvPr>
            <p:cNvSpPr/>
            <p:nvPr/>
          </p:nvSpPr>
          <p:spPr>
            <a:xfrm>
              <a:off x="4361026" y="5329891"/>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L</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162" name="直線矢印コネクタ 3161">
              <a:extLst>
                <a:ext uri="{FF2B5EF4-FFF2-40B4-BE49-F238E27FC236}">
                  <a16:creationId xmlns:a16="http://schemas.microsoft.com/office/drawing/2014/main" id="{1F3454B1-32E4-E272-7A6F-40BE8802D7D7}"/>
                </a:ext>
              </a:extLst>
            </p:cNvPr>
            <p:cNvCxnSpPr>
              <a:cxnSpLocks/>
              <a:stCxn id="3041" idx="0"/>
              <a:endCxn id="3149" idx="2"/>
            </p:cNvCxnSpPr>
            <p:nvPr/>
          </p:nvCxnSpPr>
          <p:spPr>
            <a:xfrm flipH="1" flipV="1">
              <a:off x="6899628" y="3772140"/>
              <a:ext cx="222" cy="91479"/>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63" name="テキスト ボックス 3162">
              <a:extLst>
                <a:ext uri="{FF2B5EF4-FFF2-40B4-BE49-F238E27FC236}">
                  <a16:creationId xmlns:a16="http://schemas.microsoft.com/office/drawing/2014/main" id="{3A9B5CF2-49BB-9B84-A7FB-91D30A84045F}"/>
                </a:ext>
              </a:extLst>
            </p:cNvPr>
            <p:cNvSpPr txBox="1"/>
            <p:nvPr/>
          </p:nvSpPr>
          <p:spPr bwMode="auto">
            <a:xfrm>
              <a:off x="7197968" y="3453392"/>
              <a:ext cx="54388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契約・履行義務</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・売上実績</a:t>
              </a:r>
              <a:endParaRPr lang="en-US" altLang="ja-JP" sz="400">
                <a:solidFill>
                  <a:srgbClr val="000000"/>
                </a:solidFill>
                <a:latin typeface="Meiryo UI"/>
                <a:ea typeface="Meiryo UI"/>
              </a:endParaRPr>
            </a:p>
          </p:txBody>
        </p:sp>
        <p:cxnSp>
          <p:nvCxnSpPr>
            <p:cNvPr id="3164" name="直線矢印コネクタ 3163">
              <a:extLst>
                <a:ext uri="{FF2B5EF4-FFF2-40B4-BE49-F238E27FC236}">
                  <a16:creationId xmlns:a16="http://schemas.microsoft.com/office/drawing/2014/main" id="{7111CF87-FA4D-64AC-D3BB-3A2C6769CA27}"/>
                </a:ext>
              </a:extLst>
            </p:cNvPr>
            <p:cNvCxnSpPr>
              <a:cxnSpLocks/>
              <a:endCxn id="3161" idx="2"/>
            </p:cNvCxnSpPr>
            <p:nvPr/>
          </p:nvCxnSpPr>
          <p:spPr>
            <a:xfrm>
              <a:off x="4019036" y="5400106"/>
              <a:ext cx="341990" cy="4165"/>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65" name="テキスト ボックス 3164">
              <a:extLst>
                <a:ext uri="{FF2B5EF4-FFF2-40B4-BE49-F238E27FC236}">
                  <a16:creationId xmlns:a16="http://schemas.microsoft.com/office/drawing/2014/main" id="{7D03FB1E-6792-D5BA-0326-7C2592C2A703}"/>
                </a:ext>
              </a:extLst>
            </p:cNvPr>
            <p:cNvSpPr txBox="1"/>
            <p:nvPr/>
          </p:nvSpPr>
          <p:spPr bwMode="auto">
            <a:xfrm>
              <a:off x="7191088" y="1349922"/>
              <a:ext cx="698629" cy="14180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子会社仕訳</a:t>
              </a:r>
              <a:endParaRPr lang="en-US" altLang="ja-JP" sz="400">
                <a:solidFill>
                  <a:srgbClr val="000000"/>
                </a:solidFill>
                <a:latin typeface="Meiryo UI"/>
                <a:ea typeface="Meiryo UI"/>
              </a:endParaRPr>
            </a:p>
          </p:txBody>
        </p:sp>
        <p:sp>
          <p:nvSpPr>
            <p:cNvPr id="3166" name="テキスト ボックス 3165">
              <a:extLst>
                <a:ext uri="{FF2B5EF4-FFF2-40B4-BE49-F238E27FC236}">
                  <a16:creationId xmlns:a16="http://schemas.microsoft.com/office/drawing/2014/main" id="{48A1B6CF-561C-24D1-BEDF-5E55337B080C}"/>
                </a:ext>
              </a:extLst>
            </p:cNvPr>
            <p:cNvSpPr txBox="1"/>
            <p:nvPr/>
          </p:nvSpPr>
          <p:spPr bwMode="auto">
            <a:xfrm>
              <a:off x="7152657" y="5431693"/>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仕訳計上</a:t>
              </a:r>
              <a:endParaRPr lang="en-US" altLang="ja-JP" sz="400">
                <a:solidFill>
                  <a:srgbClr val="000000"/>
                </a:solidFill>
                <a:latin typeface="Meiryo UI"/>
                <a:ea typeface="Meiryo UI"/>
              </a:endParaRPr>
            </a:p>
          </p:txBody>
        </p:sp>
        <p:sp>
          <p:nvSpPr>
            <p:cNvPr id="3167" name="テキスト ボックス 3166">
              <a:extLst>
                <a:ext uri="{FF2B5EF4-FFF2-40B4-BE49-F238E27FC236}">
                  <a16:creationId xmlns:a16="http://schemas.microsoft.com/office/drawing/2014/main" id="{818D06A2-96EC-37E9-AEA9-AE33882A8F58}"/>
                </a:ext>
              </a:extLst>
            </p:cNvPr>
            <p:cNvSpPr txBox="1"/>
            <p:nvPr/>
          </p:nvSpPr>
          <p:spPr bwMode="auto">
            <a:xfrm>
              <a:off x="7685568" y="5536655"/>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仕訳計上</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按分結果</a:t>
              </a:r>
              <a:endParaRPr lang="en-US" altLang="ja-JP" sz="400">
                <a:solidFill>
                  <a:srgbClr val="000000"/>
                </a:solidFill>
                <a:latin typeface="Meiryo UI"/>
                <a:ea typeface="Meiryo UI"/>
              </a:endParaRPr>
            </a:p>
          </p:txBody>
        </p:sp>
        <p:sp>
          <p:nvSpPr>
            <p:cNvPr id="3168" name="テキスト ボックス 3167">
              <a:extLst>
                <a:ext uri="{FF2B5EF4-FFF2-40B4-BE49-F238E27FC236}">
                  <a16:creationId xmlns:a16="http://schemas.microsoft.com/office/drawing/2014/main" id="{29F79DAB-1D84-37E9-CA6F-C9214748166B}"/>
                </a:ext>
              </a:extLst>
            </p:cNvPr>
            <p:cNvSpPr txBox="1"/>
            <p:nvPr/>
          </p:nvSpPr>
          <p:spPr bwMode="auto">
            <a:xfrm>
              <a:off x="4107564" y="3372597"/>
              <a:ext cx="240173" cy="12265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請求</a:t>
              </a:r>
              <a:endParaRPr lang="en-US" altLang="ja-JP" sz="400">
                <a:solidFill>
                  <a:srgbClr val="000000"/>
                </a:solidFill>
                <a:latin typeface="Meiryo UI"/>
                <a:ea typeface="Meiryo UI"/>
              </a:endParaRPr>
            </a:p>
          </p:txBody>
        </p:sp>
        <p:cxnSp>
          <p:nvCxnSpPr>
            <p:cNvPr id="3169" name="カギ線コネクタ 379">
              <a:extLst>
                <a:ext uri="{FF2B5EF4-FFF2-40B4-BE49-F238E27FC236}">
                  <a16:creationId xmlns:a16="http://schemas.microsoft.com/office/drawing/2014/main" id="{8026190D-EFED-49EC-C6D4-C21F0238A13B}"/>
                </a:ext>
              </a:extLst>
            </p:cNvPr>
            <p:cNvCxnSpPr>
              <a:cxnSpLocks/>
            </p:cNvCxnSpPr>
            <p:nvPr/>
          </p:nvCxnSpPr>
          <p:spPr>
            <a:xfrm rot="5400000" flipH="1" flipV="1">
              <a:off x="9155153" y="5515485"/>
              <a:ext cx="208264" cy="694813"/>
            </a:xfrm>
            <a:prstGeom prst="bentConnector2">
              <a:avLst/>
            </a:prstGeom>
            <a:solidFill>
              <a:srgbClr val="00CC99"/>
            </a:solidFill>
            <a:ln w="9525" cap="flat" cmpd="sng" algn="ctr">
              <a:solidFill>
                <a:srgbClr val="595959"/>
              </a:solidFill>
              <a:prstDash val="solid"/>
              <a:round/>
              <a:headEnd type="none" w="med" len="med"/>
              <a:tailEnd type="triangle"/>
            </a:ln>
            <a:effectLst/>
          </p:spPr>
        </p:cxnSp>
        <p:sp>
          <p:nvSpPr>
            <p:cNvPr id="3170" name="テキスト ボックス 3169">
              <a:extLst>
                <a:ext uri="{FF2B5EF4-FFF2-40B4-BE49-F238E27FC236}">
                  <a16:creationId xmlns:a16="http://schemas.microsoft.com/office/drawing/2014/main" id="{562CAD53-4CF3-6E7B-6044-C7479C5B6F34}"/>
                </a:ext>
              </a:extLst>
            </p:cNvPr>
            <p:cNvSpPr txBox="1"/>
            <p:nvPr/>
          </p:nvSpPr>
          <p:spPr bwMode="auto">
            <a:xfrm>
              <a:off x="9051077" y="5772699"/>
              <a:ext cx="497132" cy="14180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en-US" altLang="ja-JP" sz="400">
                  <a:solidFill>
                    <a:srgbClr val="000000"/>
                  </a:solidFill>
                  <a:latin typeface="Meiryo UI"/>
                  <a:ea typeface="Meiryo UI"/>
                </a:rPr>
                <a:t>CVS</a:t>
              </a:r>
              <a:r>
                <a:rPr lang="ja-JP" altLang="en-US" sz="400">
                  <a:solidFill>
                    <a:srgbClr val="000000"/>
                  </a:solidFill>
                  <a:latin typeface="Meiryo UI"/>
                  <a:ea typeface="Meiryo UI"/>
                </a:rPr>
                <a:t>収納・</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引落返還</a:t>
              </a:r>
              <a:endParaRPr lang="en-US" altLang="ja-JP" sz="400">
                <a:solidFill>
                  <a:srgbClr val="000000"/>
                </a:solidFill>
                <a:latin typeface="Meiryo UI"/>
                <a:ea typeface="Meiryo UI"/>
              </a:endParaRPr>
            </a:p>
          </p:txBody>
        </p:sp>
        <p:cxnSp>
          <p:nvCxnSpPr>
            <p:cNvPr id="3171" name="カギ線コネクタ 379">
              <a:extLst>
                <a:ext uri="{FF2B5EF4-FFF2-40B4-BE49-F238E27FC236}">
                  <a16:creationId xmlns:a16="http://schemas.microsoft.com/office/drawing/2014/main" id="{A9077900-1130-ADD5-A529-A297D8EE15D5}"/>
                </a:ext>
              </a:extLst>
            </p:cNvPr>
            <p:cNvCxnSpPr>
              <a:cxnSpLocks/>
              <a:endCxn id="2706" idx="6"/>
            </p:cNvCxnSpPr>
            <p:nvPr/>
          </p:nvCxnSpPr>
          <p:spPr>
            <a:xfrm rot="16200000" flipV="1">
              <a:off x="8990623" y="1757201"/>
              <a:ext cx="176260" cy="173704"/>
            </a:xfrm>
            <a:prstGeom prst="bentConnector2">
              <a:avLst/>
            </a:prstGeom>
            <a:solidFill>
              <a:srgbClr val="00CC99"/>
            </a:solidFill>
            <a:ln w="9525" cap="flat" cmpd="sng" algn="ctr">
              <a:solidFill>
                <a:srgbClr val="595959"/>
              </a:solidFill>
              <a:prstDash val="solid"/>
              <a:round/>
              <a:headEnd type="none" w="med" len="med"/>
              <a:tailEnd type="triangle"/>
            </a:ln>
            <a:effectLst/>
          </p:spPr>
        </p:cxnSp>
        <p:cxnSp>
          <p:nvCxnSpPr>
            <p:cNvPr id="3172" name="カギ線コネクタ 379">
              <a:extLst>
                <a:ext uri="{FF2B5EF4-FFF2-40B4-BE49-F238E27FC236}">
                  <a16:creationId xmlns:a16="http://schemas.microsoft.com/office/drawing/2014/main" id="{E648150D-33D1-C086-F954-E605C0B556E7}"/>
                </a:ext>
              </a:extLst>
            </p:cNvPr>
            <p:cNvCxnSpPr>
              <a:cxnSpLocks/>
              <a:endCxn id="3044" idx="1"/>
            </p:cNvCxnSpPr>
            <p:nvPr/>
          </p:nvCxnSpPr>
          <p:spPr>
            <a:xfrm flipV="1">
              <a:off x="4020409" y="5016052"/>
              <a:ext cx="2609092" cy="1011570"/>
            </a:xfrm>
            <a:prstGeom prst="bentConnector3">
              <a:avLst>
                <a:gd name="adj1" fmla="val 61036"/>
              </a:avLst>
            </a:prstGeom>
            <a:solidFill>
              <a:srgbClr val="00CC99"/>
            </a:solidFill>
            <a:ln w="9525" cap="flat" cmpd="sng" algn="ctr">
              <a:solidFill>
                <a:srgbClr val="595959"/>
              </a:solidFill>
              <a:prstDash val="solid"/>
              <a:round/>
              <a:headEnd type="none" w="med" len="med"/>
              <a:tailEnd type="triangle"/>
            </a:ln>
            <a:effectLst/>
          </p:spPr>
        </p:cxnSp>
        <p:sp>
          <p:nvSpPr>
            <p:cNvPr id="3173" name="テキスト ボックス 3172">
              <a:extLst>
                <a:ext uri="{FF2B5EF4-FFF2-40B4-BE49-F238E27FC236}">
                  <a16:creationId xmlns:a16="http://schemas.microsoft.com/office/drawing/2014/main" id="{D136E24E-914B-9B9D-8854-CE689FBB46C6}"/>
                </a:ext>
              </a:extLst>
            </p:cNvPr>
            <p:cNvSpPr txBox="1"/>
            <p:nvPr/>
          </p:nvSpPr>
          <p:spPr bwMode="auto">
            <a:xfrm>
              <a:off x="4042690" y="5856271"/>
              <a:ext cx="588614"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経費原価振替</a:t>
              </a:r>
              <a:endParaRPr lang="en-US" altLang="ja-JP" sz="400">
                <a:solidFill>
                  <a:srgbClr val="000000"/>
                </a:solidFill>
                <a:latin typeface="Meiryo UI"/>
                <a:ea typeface="Meiryo UI"/>
              </a:endParaRPr>
            </a:p>
          </p:txBody>
        </p:sp>
        <p:grpSp>
          <p:nvGrpSpPr>
            <p:cNvPr id="3174" name="グループ化 3173">
              <a:extLst>
                <a:ext uri="{FF2B5EF4-FFF2-40B4-BE49-F238E27FC236}">
                  <a16:creationId xmlns:a16="http://schemas.microsoft.com/office/drawing/2014/main" id="{45DC90A1-92B7-D92A-C958-E0EAAC6C03F0}"/>
                </a:ext>
              </a:extLst>
            </p:cNvPr>
            <p:cNvGrpSpPr/>
            <p:nvPr/>
          </p:nvGrpSpPr>
          <p:grpSpPr>
            <a:xfrm>
              <a:off x="886108" y="5038222"/>
              <a:ext cx="3126660" cy="183170"/>
              <a:chOff x="1883400" y="4948398"/>
              <a:chExt cx="3240000" cy="252000"/>
            </a:xfrm>
          </p:grpSpPr>
          <p:sp>
            <p:nvSpPr>
              <p:cNvPr id="3263" name="正方形/長方形 3262">
                <a:extLst>
                  <a:ext uri="{FF2B5EF4-FFF2-40B4-BE49-F238E27FC236}">
                    <a16:creationId xmlns:a16="http://schemas.microsoft.com/office/drawing/2014/main" id="{282280A8-BDBE-0202-24C9-994EA37AEEFF}"/>
                  </a:ext>
                </a:extLst>
              </p:cNvPr>
              <p:cNvSpPr/>
              <p:nvPr/>
            </p:nvSpPr>
            <p:spPr>
              <a:xfrm>
                <a:off x="1883400" y="4948398"/>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MAGI</a:t>
                </a:r>
              </a:p>
            </p:txBody>
          </p:sp>
          <p:sp>
            <p:nvSpPr>
              <p:cNvPr id="3264" name="正方形/長方形 3263">
                <a:extLst>
                  <a:ext uri="{FF2B5EF4-FFF2-40B4-BE49-F238E27FC236}">
                    <a16:creationId xmlns:a16="http://schemas.microsoft.com/office/drawing/2014/main" id="{BC2023C7-D929-576E-72B7-B3E742772F5D}"/>
                  </a:ext>
                </a:extLst>
              </p:cNvPr>
              <p:cNvSpPr/>
              <p:nvPr/>
            </p:nvSpPr>
            <p:spPr bwMode="auto">
              <a:xfrm>
                <a:off x="4485761" y="4987112"/>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仕訳計上</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cxnSp>
          <p:nvCxnSpPr>
            <p:cNvPr id="3175" name="カギ線コネクタ 379">
              <a:extLst>
                <a:ext uri="{FF2B5EF4-FFF2-40B4-BE49-F238E27FC236}">
                  <a16:creationId xmlns:a16="http://schemas.microsoft.com/office/drawing/2014/main" id="{14D2E86B-BEA4-0677-43BC-72B81224F23A}"/>
                </a:ext>
              </a:extLst>
            </p:cNvPr>
            <p:cNvCxnSpPr>
              <a:cxnSpLocks/>
            </p:cNvCxnSpPr>
            <p:nvPr/>
          </p:nvCxnSpPr>
          <p:spPr>
            <a:xfrm>
              <a:off x="4012767" y="5129807"/>
              <a:ext cx="3618161" cy="62093"/>
            </a:xfrm>
            <a:prstGeom prst="bentConnector3">
              <a:avLst>
                <a:gd name="adj1" fmla="val 50000"/>
              </a:avLst>
            </a:prstGeom>
            <a:solidFill>
              <a:srgbClr val="00CC99"/>
            </a:solidFill>
            <a:ln w="9525" cap="flat" cmpd="sng" algn="ctr">
              <a:solidFill>
                <a:srgbClr val="595959"/>
              </a:solidFill>
              <a:prstDash val="solid"/>
              <a:round/>
              <a:headEnd type="none" w="med" len="med"/>
              <a:tailEnd type="triangle"/>
            </a:ln>
            <a:effectLst/>
          </p:spPr>
        </p:cxnSp>
        <p:sp>
          <p:nvSpPr>
            <p:cNvPr id="3176" name="テキスト ボックス 3175">
              <a:extLst>
                <a:ext uri="{FF2B5EF4-FFF2-40B4-BE49-F238E27FC236}">
                  <a16:creationId xmlns:a16="http://schemas.microsoft.com/office/drawing/2014/main" id="{9ED2775D-8AFA-DDE5-ADDC-EBF2D785DC40}"/>
                </a:ext>
              </a:extLst>
            </p:cNvPr>
            <p:cNvSpPr txBox="1"/>
            <p:nvPr/>
          </p:nvSpPr>
          <p:spPr bwMode="auto">
            <a:xfrm>
              <a:off x="4050027" y="5069170"/>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仕訳計上</a:t>
              </a:r>
              <a:endParaRPr lang="en-US" altLang="ja-JP" sz="400">
                <a:solidFill>
                  <a:srgbClr val="000000"/>
                </a:solidFill>
                <a:latin typeface="Meiryo UI"/>
                <a:ea typeface="Meiryo UI"/>
              </a:endParaRPr>
            </a:p>
          </p:txBody>
        </p:sp>
        <p:cxnSp>
          <p:nvCxnSpPr>
            <p:cNvPr id="3177" name="直線矢印コネクタ 3176">
              <a:extLst>
                <a:ext uri="{FF2B5EF4-FFF2-40B4-BE49-F238E27FC236}">
                  <a16:creationId xmlns:a16="http://schemas.microsoft.com/office/drawing/2014/main" id="{CFC3EC86-8C73-96C3-8B34-3828D0E1BEDE}"/>
                </a:ext>
              </a:extLst>
            </p:cNvPr>
            <p:cNvCxnSpPr>
              <a:cxnSpLocks/>
            </p:cNvCxnSpPr>
            <p:nvPr/>
          </p:nvCxnSpPr>
          <p:spPr>
            <a:xfrm flipV="1">
              <a:off x="7928153" y="4748871"/>
              <a:ext cx="2161978" cy="4621"/>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78" name="テキスト ボックス 3177">
              <a:extLst>
                <a:ext uri="{FF2B5EF4-FFF2-40B4-BE49-F238E27FC236}">
                  <a16:creationId xmlns:a16="http://schemas.microsoft.com/office/drawing/2014/main" id="{45B5959B-0CDD-7833-8915-E03EF3D153F2}"/>
                </a:ext>
              </a:extLst>
            </p:cNvPr>
            <p:cNvSpPr txBox="1"/>
            <p:nvPr/>
          </p:nvSpPr>
          <p:spPr bwMode="auto">
            <a:xfrm>
              <a:off x="7969711" y="4724779"/>
              <a:ext cx="399682" cy="14119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支払結果</a:t>
              </a:r>
              <a:endParaRPr lang="en-US" altLang="ja-JP" sz="400">
                <a:solidFill>
                  <a:srgbClr val="000000"/>
                </a:solidFill>
                <a:latin typeface="Meiryo UI"/>
                <a:ea typeface="Meiryo UI"/>
              </a:endParaRPr>
            </a:p>
          </p:txBody>
        </p:sp>
        <p:cxnSp>
          <p:nvCxnSpPr>
            <p:cNvPr id="3179" name="直線矢印コネクタ 3178">
              <a:extLst>
                <a:ext uri="{FF2B5EF4-FFF2-40B4-BE49-F238E27FC236}">
                  <a16:creationId xmlns:a16="http://schemas.microsoft.com/office/drawing/2014/main" id="{49DADC13-159F-4F7E-3F0A-0B5A43C1F950}"/>
                </a:ext>
              </a:extLst>
            </p:cNvPr>
            <p:cNvCxnSpPr>
              <a:cxnSpLocks/>
            </p:cNvCxnSpPr>
            <p:nvPr/>
          </p:nvCxnSpPr>
          <p:spPr>
            <a:xfrm flipH="1">
              <a:off x="8637751" y="4892717"/>
              <a:ext cx="1452380" cy="0"/>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80" name="テキスト ボックス 3179">
              <a:extLst>
                <a:ext uri="{FF2B5EF4-FFF2-40B4-BE49-F238E27FC236}">
                  <a16:creationId xmlns:a16="http://schemas.microsoft.com/office/drawing/2014/main" id="{DBAF116D-1B34-5BD6-CD53-50CBDECD1F05}"/>
                </a:ext>
              </a:extLst>
            </p:cNvPr>
            <p:cNvSpPr txBox="1"/>
            <p:nvPr/>
          </p:nvSpPr>
          <p:spPr bwMode="auto">
            <a:xfrm>
              <a:off x="9619067" y="4772828"/>
              <a:ext cx="399682" cy="14119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支払通知書他</a:t>
              </a:r>
              <a:endParaRPr lang="en-US" altLang="ja-JP" sz="400">
                <a:solidFill>
                  <a:srgbClr val="000000"/>
                </a:solidFill>
                <a:latin typeface="Meiryo UI"/>
                <a:ea typeface="Meiryo UI"/>
              </a:endParaRPr>
            </a:p>
          </p:txBody>
        </p:sp>
        <p:sp>
          <p:nvSpPr>
            <p:cNvPr id="3181" name="正方形/長方形 3180">
              <a:extLst>
                <a:ext uri="{FF2B5EF4-FFF2-40B4-BE49-F238E27FC236}">
                  <a16:creationId xmlns:a16="http://schemas.microsoft.com/office/drawing/2014/main" id="{B8383568-4DAC-428E-4DEA-ADE98005250B}"/>
                </a:ext>
              </a:extLst>
            </p:cNvPr>
            <p:cNvSpPr/>
            <p:nvPr/>
          </p:nvSpPr>
          <p:spPr bwMode="auto">
            <a:xfrm>
              <a:off x="1489504" y="3769354"/>
              <a:ext cx="555851" cy="238017"/>
            </a:xfrm>
            <a:prstGeom prst="rect">
              <a:avLst/>
            </a:prstGeom>
            <a:solidFill>
              <a:srgbClr val="FFFFFF"/>
            </a:solidFill>
            <a:ln w="9525" cap="flat" cmpd="sng" algn="ctr">
              <a:solidFill>
                <a:srgbClr val="595959"/>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契約</a:t>
              </a:r>
            </a:p>
          </p:txBody>
        </p:sp>
        <p:sp>
          <p:nvSpPr>
            <p:cNvPr id="3182" name="正方形/長方形 3181">
              <a:extLst>
                <a:ext uri="{FF2B5EF4-FFF2-40B4-BE49-F238E27FC236}">
                  <a16:creationId xmlns:a16="http://schemas.microsoft.com/office/drawing/2014/main" id="{FD2E25C2-942D-D41B-B679-F5FDFC0792CC}"/>
                </a:ext>
              </a:extLst>
            </p:cNvPr>
            <p:cNvSpPr/>
            <p:nvPr/>
          </p:nvSpPr>
          <p:spPr>
            <a:xfrm>
              <a:off x="2476478" y="1815701"/>
              <a:ext cx="1320145" cy="83305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n-cs"/>
                </a:rPr>
                <a:t>Neo-JJ</a:t>
              </a:r>
              <a:endParaRPr kumimoji="0" lang="ja-JP" altLang="en-US" sz="700" b="0" i="0" u="none" strike="noStrike" kern="0" cap="none" spc="0" normalizeH="0" baseline="0" noProof="0">
                <a:ln>
                  <a:noFill/>
                </a:ln>
                <a:solidFill>
                  <a:srgbClr val="000000"/>
                </a:solidFill>
                <a:effectLst/>
                <a:uLnTx/>
                <a:uFillTx/>
                <a:latin typeface="Meiryo UI"/>
                <a:ea typeface="Meiryo UI"/>
                <a:cs typeface="+mn-cs"/>
              </a:endParaRPr>
            </a:p>
          </p:txBody>
        </p:sp>
        <p:sp>
          <p:nvSpPr>
            <p:cNvPr id="3183" name="正方形/長方形 3182">
              <a:extLst>
                <a:ext uri="{FF2B5EF4-FFF2-40B4-BE49-F238E27FC236}">
                  <a16:creationId xmlns:a16="http://schemas.microsoft.com/office/drawing/2014/main" id="{79582CC6-A9F6-D82B-E288-74BA01891CA8}"/>
                </a:ext>
              </a:extLst>
            </p:cNvPr>
            <p:cNvSpPr/>
            <p:nvPr/>
          </p:nvSpPr>
          <p:spPr bwMode="auto">
            <a:xfrm>
              <a:off x="2557950" y="2182681"/>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納品完了</a:t>
              </a:r>
            </a:p>
          </p:txBody>
        </p:sp>
        <p:sp>
          <p:nvSpPr>
            <p:cNvPr id="3184" name="正方形/長方形 3183">
              <a:extLst>
                <a:ext uri="{FF2B5EF4-FFF2-40B4-BE49-F238E27FC236}">
                  <a16:creationId xmlns:a16="http://schemas.microsoft.com/office/drawing/2014/main" id="{16258D8D-378E-1884-52CA-6C58B7ADADB6}"/>
                </a:ext>
              </a:extLst>
            </p:cNvPr>
            <p:cNvSpPr/>
            <p:nvPr/>
          </p:nvSpPr>
          <p:spPr bwMode="auto">
            <a:xfrm>
              <a:off x="2557950" y="1953854"/>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受注</a:t>
              </a:r>
            </a:p>
          </p:txBody>
        </p:sp>
        <p:sp>
          <p:nvSpPr>
            <p:cNvPr id="3185" name="正方形/長方形 3184">
              <a:extLst>
                <a:ext uri="{FF2B5EF4-FFF2-40B4-BE49-F238E27FC236}">
                  <a16:creationId xmlns:a16="http://schemas.microsoft.com/office/drawing/2014/main" id="{D9ACE339-8EC2-C631-8CB4-BB325CD4D89B}"/>
                </a:ext>
              </a:extLst>
            </p:cNvPr>
            <p:cNvSpPr/>
            <p:nvPr/>
          </p:nvSpPr>
          <p:spPr bwMode="auto">
            <a:xfrm>
              <a:off x="3164288" y="2182681"/>
              <a:ext cx="555851" cy="208264"/>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原価管理</a:t>
              </a:r>
            </a:p>
          </p:txBody>
        </p:sp>
        <p:sp>
          <p:nvSpPr>
            <p:cNvPr id="3186" name="正方形/長方形 3185">
              <a:extLst>
                <a:ext uri="{FF2B5EF4-FFF2-40B4-BE49-F238E27FC236}">
                  <a16:creationId xmlns:a16="http://schemas.microsoft.com/office/drawing/2014/main" id="{DB8D07F4-959B-2246-89D2-D38F27036C7C}"/>
                </a:ext>
              </a:extLst>
            </p:cNvPr>
            <p:cNvSpPr/>
            <p:nvPr/>
          </p:nvSpPr>
          <p:spPr bwMode="auto">
            <a:xfrm>
              <a:off x="2557950" y="2411507"/>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請求</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187" name="正方形/長方形 3186">
              <a:extLst>
                <a:ext uri="{FF2B5EF4-FFF2-40B4-BE49-F238E27FC236}">
                  <a16:creationId xmlns:a16="http://schemas.microsoft.com/office/drawing/2014/main" id="{4DFA5952-FEED-2E67-A6D7-12CAA608000B}"/>
                </a:ext>
              </a:extLst>
            </p:cNvPr>
            <p:cNvSpPr/>
            <p:nvPr/>
          </p:nvSpPr>
          <p:spPr bwMode="auto">
            <a:xfrm>
              <a:off x="3164288" y="1953854"/>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a:t>
              </a:r>
            </a:p>
          </p:txBody>
        </p:sp>
        <p:sp>
          <p:nvSpPr>
            <p:cNvPr id="3188" name="正方形/長方形 3187">
              <a:extLst>
                <a:ext uri="{FF2B5EF4-FFF2-40B4-BE49-F238E27FC236}">
                  <a16:creationId xmlns:a16="http://schemas.microsoft.com/office/drawing/2014/main" id="{44C0AC62-DE15-1019-3829-77D7CF6EFC94}"/>
                </a:ext>
              </a:extLst>
            </p:cNvPr>
            <p:cNvSpPr/>
            <p:nvPr/>
          </p:nvSpPr>
          <p:spPr>
            <a:xfrm>
              <a:off x="1092822" y="2707556"/>
              <a:ext cx="1320145" cy="83305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n-cs"/>
                </a:rPr>
                <a:t>Neo-</a:t>
              </a:r>
              <a:r>
                <a:rPr kumimoji="0" lang="ja-JP" altLang="en-US" sz="700" b="0" i="0" u="none" strike="noStrike" kern="0" cap="none" spc="0" normalizeH="0" baseline="0" noProof="0">
                  <a:ln>
                    <a:noFill/>
                  </a:ln>
                  <a:solidFill>
                    <a:srgbClr val="000000"/>
                  </a:solidFill>
                  <a:effectLst/>
                  <a:uLnTx/>
                  <a:uFillTx/>
                  <a:latin typeface="Meiryo UI"/>
                  <a:ea typeface="Meiryo UI"/>
                  <a:cs typeface="+mn-cs"/>
                </a:rPr>
                <a:t>学び</a:t>
              </a:r>
            </a:p>
          </p:txBody>
        </p:sp>
        <p:sp>
          <p:nvSpPr>
            <p:cNvPr id="3189" name="正方形/長方形 3188">
              <a:extLst>
                <a:ext uri="{FF2B5EF4-FFF2-40B4-BE49-F238E27FC236}">
                  <a16:creationId xmlns:a16="http://schemas.microsoft.com/office/drawing/2014/main" id="{EBD02A69-9BD3-C751-55B8-208882EBDB4D}"/>
                </a:ext>
              </a:extLst>
            </p:cNvPr>
            <p:cNvSpPr/>
            <p:nvPr/>
          </p:nvSpPr>
          <p:spPr bwMode="auto">
            <a:xfrm>
              <a:off x="1171255" y="3071470"/>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納品完了</a:t>
              </a:r>
            </a:p>
          </p:txBody>
        </p:sp>
        <p:sp>
          <p:nvSpPr>
            <p:cNvPr id="3190" name="正方形/長方形 3189">
              <a:extLst>
                <a:ext uri="{FF2B5EF4-FFF2-40B4-BE49-F238E27FC236}">
                  <a16:creationId xmlns:a16="http://schemas.microsoft.com/office/drawing/2014/main" id="{F78AF14E-8FCB-E900-B878-F854DD9B77D0}"/>
                </a:ext>
              </a:extLst>
            </p:cNvPr>
            <p:cNvSpPr/>
            <p:nvPr/>
          </p:nvSpPr>
          <p:spPr bwMode="auto">
            <a:xfrm>
              <a:off x="1171255" y="2842644"/>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受注</a:t>
              </a:r>
            </a:p>
          </p:txBody>
        </p:sp>
        <p:sp>
          <p:nvSpPr>
            <p:cNvPr id="3191" name="正方形/長方形 3190">
              <a:extLst>
                <a:ext uri="{FF2B5EF4-FFF2-40B4-BE49-F238E27FC236}">
                  <a16:creationId xmlns:a16="http://schemas.microsoft.com/office/drawing/2014/main" id="{5F34A52F-F4F2-E2C1-36C1-9B81DF6FDCB7}"/>
                </a:ext>
              </a:extLst>
            </p:cNvPr>
            <p:cNvSpPr/>
            <p:nvPr/>
          </p:nvSpPr>
          <p:spPr bwMode="auto">
            <a:xfrm>
              <a:off x="1778684" y="3071470"/>
              <a:ext cx="555851" cy="208264"/>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原価管理</a:t>
              </a:r>
            </a:p>
          </p:txBody>
        </p:sp>
        <p:sp>
          <p:nvSpPr>
            <p:cNvPr id="3192" name="正方形/長方形 3191">
              <a:extLst>
                <a:ext uri="{FF2B5EF4-FFF2-40B4-BE49-F238E27FC236}">
                  <a16:creationId xmlns:a16="http://schemas.microsoft.com/office/drawing/2014/main" id="{3597CDE4-8EFA-B6F3-215B-E4D0908C866A}"/>
                </a:ext>
              </a:extLst>
            </p:cNvPr>
            <p:cNvSpPr/>
            <p:nvPr/>
          </p:nvSpPr>
          <p:spPr bwMode="auto">
            <a:xfrm>
              <a:off x="1171255" y="3300297"/>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請求</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193" name="正方形/長方形 3192">
              <a:extLst>
                <a:ext uri="{FF2B5EF4-FFF2-40B4-BE49-F238E27FC236}">
                  <a16:creationId xmlns:a16="http://schemas.microsoft.com/office/drawing/2014/main" id="{3EC83DFE-7280-6040-F2EE-F985D730CF31}"/>
                </a:ext>
              </a:extLst>
            </p:cNvPr>
            <p:cNvSpPr/>
            <p:nvPr/>
          </p:nvSpPr>
          <p:spPr bwMode="auto">
            <a:xfrm>
              <a:off x="1778684" y="2842644"/>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a:t>
              </a:r>
            </a:p>
          </p:txBody>
        </p:sp>
        <p:sp>
          <p:nvSpPr>
            <p:cNvPr id="3194" name="正方形/長方形 3193">
              <a:extLst>
                <a:ext uri="{FF2B5EF4-FFF2-40B4-BE49-F238E27FC236}">
                  <a16:creationId xmlns:a16="http://schemas.microsoft.com/office/drawing/2014/main" id="{39CB61EE-2FF2-80D1-25B7-22E4EE1D00A1}"/>
                </a:ext>
              </a:extLst>
            </p:cNvPr>
            <p:cNvSpPr/>
            <p:nvPr/>
          </p:nvSpPr>
          <p:spPr>
            <a:xfrm>
              <a:off x="2476478" y="2707556"/>
              <a:ext cx="1320145" cy="83305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共用</a:t>
              </a:r>
              <a:r>
                <a:rPr kumimoji="0" lang="en-US" altLang="ja-JP" sz="700" b="0" i="0" u="none" strike="noStrike" kern="0" cap="none" spc="0" normalizeH="0" baseline="0" noProof="0">
                  <a:ln>
                    <a:noFill/>
                  </a:ln>
                  <a:solidFill>
                    <a:srgbClr val="000000"/>
                  </a:solidFill>
                  <a:effectLst/>
                  <a:uLnTx/>
                  <a:uFillTx/>
                  <a:latin typeface="Meiryo UI"/>
                  <a:ea typeface="Meiryo UI"/>
                  <a:cs typeface="+mn-cs"/>
                </a:rPr>
                <a:t>Neo</a:t>
              </a:r>
              <a:endParaRPr kumimoji="0" lang="ja-JP" altLang="en-US" sz="700" b="0" i="0" u="none" strike="noStrike" kern="0" cap="none" spc="0" normalizeH="0" baseline="0" noProof="0">
                <a:ln>
                  <a:noFill/>
                </a:ln>
                <a:solidFill>
                  <a:srgbClr val="000000"/>
                </a:solidFill>
                <a:effectLst/>
                <a:uLnTx/>
                <a:uFillTx/>
                <a:latin typeface="Meiryo UI"/>
                <a:ea typeface="Meiryo UI"/>
                <a:cs typeface="+mn-cs"/>
              </a:endParaRPr>
            </a:p>
          </p:txBody>
        </p:sp>
        <p:sp>
          <p:nvSpPr>
            <p:cNvPr id="3195" name="正方形/長方形 3194">
              <a:extLst>
                <a:ext uri="{FF2B5EF4-FFF2-40B4-BE49-F238E27FC236}">
                  <a16:creationId xmlns:a16="http://schemas.microsoft.com/office/drawing/2014/main" id="{EF4FE82E-3E2B-CE55-695F-EB06495A9EAB}"/>
                </a:ext>
              </a:extLst>
            </p:cNvPr>
            <p:cNvSpPr/>
            <p:nvPr/>
          </p:nvSpPr>
          <p:spPr bwMode="auto">
            <a:xfrm>
              <a:off x="2557950" y="3079697"/>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納品完了</a:t>
              </a:r>
            </a:p>
          </p:txBody>
        </p:sp>
        <p:sp>
          <p:nvSpPr>
            <p:cNvPr id="3196" name="正方形/長方形 3195">
              <a:extLst>
                <a:ext uri="{FF2B5EF4-FFF2-40B4-BE49-F238E27FC236}">
                  <a16:creationId xmlns:a16="http://schemas.microsoft.com/office/drawing/2014/main" id="{BE95511A-5CFE-9961-34FD-71253CFBCE08}"/>
                </a:ext>
              </a:extLst>
            </p:cNvPr>
            <p:cNvSpPr/>
            <p:nvPr/>
          </p:nvSpPr>
          <p:spPr bwMode="auto">
            <a:xfrm>
              <a:off x="2557950" y="2850871"/>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受注</a:t>
              </a:r>
            </a:p>
          </p:txBody>
        </p:sp>
        <p:sp>
          <p:nvSpPr>
            <p:cNvPr id="3197" name="正方形/長方形 3196">
              <a:extLst>
                <a:ext uri="{FF2B5EF4-FFF2-40B4-BE49-F238E27FC236}">
                  <a16:creationId xmlns:a16="http://schemas.microsoft.com/office/drawing/2014/main" id="{96F1FDE0-F7D1-9100-D185-E1069240132A}"/>
                </a:ext>
              </a:extLst>
            </p:cNvPr>
            <p:cNvSpPr/>
            <p:nvPr/>
          </p:nvSpPr>
          <p:spPr bwMode="auto">
            <a:xfrm>
              <a:off x="2557950" y="3308524"/>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請求</a:t>
              </a:r>
              <a:endPar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198" name="正方形/長方形 3197">
              <a:extLst>
                <a:ext uri="{FF2B5EF4-FFF2-40B4-BE49-F238E27FC236}">
                  <a16:creationId xmlns:a16="http://schemas.microsoft.com/office/drawing/2014/main" id="{16780563-5E6F-C460-616C-25A9DBB37EC9}"/>
                </a:ext>
              </a:extLst>
            </p:cNvPr>
            <p:cNvSpPr/>
            <p:nvPr/>
          </p:nvSpPr>
          <p:spPr bwMode="auto">
            <a:xfrm>
              <a:off x="3164288" y="3079697"/>
              <a:ext cx="555851" cy="208264"/>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原価管理</a:t>
              </a:r>
            </a:p>
          </p:txBody>
        </p:sp>
        <p:sp>
          <p:nvSpPr>
            <p:cNvPr id="3199" name="正方形/長方形 3198">
              <a:extLst>
                <a:ext uri="{FF2B5EF4-FFF2-40B4-BE49-F238E27FC236}">
                  <a16:creationId xmlns:a16="http://schemas.microsoft.com/office/drawing/2014/main" id="{620749A2-864D-BAAB-8E93-A72AC26DD346}"/>
                </a:ext>
              </a:extLst>
            </p:cNvPr>
            <p:cNvSpPr/>
            <p:nvPr/>
          </p:nvSpPr>
          <p:spPr bwMode="auto">
            <a:xfrm>
              <a:off x="3164288" y="2850871"/>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a:t>
              </a:r>
            </a:p>
          </p:txBody>
        </p:sp>
        <p:cxnSp>
          <p:nvCxnSpPr>
            <p:cNvPr id="3200" name="直線矢印コネクタ 3199">
              <a:extLst>
                <a:ext uri="{FF2B5EF4-FFF2-40B4-BE49-F238E27FC236}">
                  <a16:creationId xmlns:a16="http://schemas.microsoft.com/office/drawing/2014/main" id="{7B5B2EE4-B14C-8C41-E2B4-4D7125487B9B}"/>
                </a:ext>
              </a:extLst>
            </p:cNvPr>
            <p:cNvCxnSpPr>
              <a:cxnSpLocks/>
            </p:cNvCxnSpPr>
            <p:nvPr/>
          </p:nvCxnSpPr>
          <p:spPr>
            <a:xfrm>
              <a:off x="4020005" y="3377790"/>
              <a:ext cx="2606255"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201" name="カギ線コネクタ 379">
              <a:extLst>
                <a:ext uri="{FF2B5EF4-FFF2-40B4-BE49-F238E27FC236}">
                  <a16:creationId xmlns:a16="http://schemas.microsoft.com/office/drawing/2014/main" id="{4C501224-49C1-D756-3D8A-A5B07352966C}"/>
                </a:ext>
              </a:extLst>
            </p:cNvPr>
            <p:cNvCxnSpPr>
              <a:cxnSpLocks/>
            </p:cNvCxnSpPr>
            <p:nvPr/>
          </p:nvCxnSpPr>
          <p:spPr>
            <a:xfrm>
              <a:off x="4011282" y="2805868"/>
              <a:ext cx="2608266" cy="195080"/>
            </a:xfrm>
            <a:prstGeom prst="bentConnector3">
              <a:avLst>
                <a:gd name="adj1" fmla="val 89846"/>
              </a:avLst>
            </a:prstGeom>
            <a:solidFill>
              <a:srgbClr val="00CC99"/>
            </a:solidFill>
            <a:ln w="9525" cap="flat" cmpd="sng" algn="ctr">
              <a:solidFill>
                <a:srgbClr val="595959"/>
              </a:solidFill>
              <a:prstDash val="solid"/>
              <a:round/>
              <a:headEnd type="none" w="med" len="med"/>
              <a:tailEnd type="triangle"/>
            </a:ln>
            <a:effectLst/>
          </p:spPr>
        </p:cxnSp>
        <p:sp>
          <p:nvSpPr>
            <p:cNvPr id="3202" name="テキスト ボックス 3201">
              <a:extLst>
                <a:ext uri="{FF2B5EF4-FFF2-40B4-BE49-F238E27FC236}">
                  <a16:creationId xmlns:a16="http://schemas.microsoft.com/office/drawing/2014/main" id="{6490046A-7916-CEC7-C0BD-BAED2BDCC6D7}"/>
                </a:ext>
              </a:extLst>
            </p:cNvPr>
            <p:cNvSpPr txBox="1"/>
            <p:nvPr/>
          </p:nvSpPr>
          <p:spPr bwMode="auto">
            <a:xfrm>
              <a:off x="4068326" y="2694068"/>
              <a:ext cx="537258" cy="12265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明細マスタ</a:t>
              </a:r>
              <a:endParaRPr lang="en-US" altLang="ja-JP" sz="400">
                <a:solidFill>
                  <a:srgbClr val="000000"/>
                </a:solidFill>
                <a:latin typeface="Meiryo UI"/>
                <a:ea typeface="Meiryo UI"/>
              </a:endParaRPr>
            </a:p>
          </p:txBody>
        </p:sp>
        <p:cxnSp>
          <p:nvCxnSpPr>
            <p:cNvPr id="3203" name="カギ線コネクタ 379">
              <a:extLst>
                <a:ext uri="{FF2B5EF4-FFF2-40B4-BE49-F238E27FC236}">
                  <a16:creationId xmlns:a16="http://schemas.microsoft.com/office/drawing/2014/main" id="{A2CCA9D6-C111-76F2-9DF5-0FBB4BA1EE5C}"/>
                </a:ext>
              </a:extLst>
            </p:cNvPr>
            <p:cNvCxnSpPr>
              <a:cxnSpLocks/>
              <a:endCxn id="2698" idx="2"/>
            </p:cNvCxnSpPr>
            <p:nvPr/>
          </p:nvCxnSpPr>
          <p:spPr>
            <a:xfrm rot="16200000" flipH="1">
              <a:off x="3828261" y="6170845"/>
              <a:ext cx="200546" cy="215601"/>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04" name="正方形/長方形 3203">
              <a:extLst>
                <a:ext uri="{FF2B5EF4-FFF2-40B4-BE49-F238E27FC236}">
                  <a16:creationId xmlns:a16="http://schemas.microsoft.com/office/drawing/2014/main" id="{90B31213-A3B0-B2BE-A8AC-7502A83A11D2}"/>
                </a:ext>
              </a:extLst>
            </p:cNvPr>
            <p:cNvSpPr/>
            <p:nvPr/>
          </p:nvSpPr>
          <p:spPr bwMode="auto">
            <a:xfrm>
              <a:off x="3367147" y="6000315"/>
              <a:ext cx="555851" cy="14876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取引先マスタ</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205" name="楕円 3204">
              <a:extLst>
                <a:ext uri="{FF2B5EF4-FFF2-40B4-BE49-F238E27FC236}">
                  <a16:creationId xmlns:a16="http://schemas.microsoft.com/office/drawing/2014/main" id="{E08CD6F5-E939-87FE-5EF3-8C44BED6BF46}"/>
                </a:ext>
              </a:extLst>
            </p:cNvPr>
            <p:cNvSpPr/>
            <p:nvPr/>
          </p:nvSpPr>
          <p:spPr>
            <a:xfrm>
              <a:off x="5365509" y="2850737"/>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M</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sp>
          <p:nvSpPr>
            <p:cNvPr id="3206" name="正方形/長方形 3205">
              <a:extLst>
                <a:ext uri="{FF2B5EF4-FFF2-40B4-BE49-F238E27FC236}">
                  <a16:creationId xmlns:a16="http://schemas.microsoft.com/office/drawing/2014/main" id="{41BDF4D0-010B-93D0-542F-8791DE9EA6C0}"/>
                </a:ext>
              </a:extLst>
            </p:cNvPr>
            <p:cNvSpPr/>
            <p:nvPr/>
          </p:nvSpPr>
          <p:spPr>
            <a:xfrm>
              <a:off x="4569857" y="4058281"/>
              <a:ext cx="347407" cy="601074"/>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ロコン</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207" name="カギ線コネクタ 379">
              <a:extLst>
                <a:ext uri="{FF2B5EF4-FFF2-40B4-BE49-F238E27FC236}">
                  <a16:creationId xmlns:a16="http://schemas.microsoft.com/office/drawing/2014/main" id="{93B369A4-C483-B197-0552-C316DBB202B3}"/>
                </a:ext>
              </a:extLst>
            </p:cNvPr>
            <p:cNvCxnSpPr>
              <a:cxnSpLocks/>
              <a:stCxn id="2711" idx="4"/>
              <a:endCxn id="3366" idx="1"/>
            </p:cNvCxnSpPr>
            <p:nvPr/>
          </p:nvCxnSpPr>
          <p:spPr>
            <a:xfrm rot="16200000" flipH="1">
              <a:off x="623699" y="4292917"/>
              <a:ext cx="429698" cy="95119"/>
            </a:xfrm>
            <a:prstGeom prst="bentConnector2">
              <a:avLst/>
            </a:prstGeom>
            <a:solidFill>
              <a:srgbClr val="00CC99"/>
            </a:solidFill>
            <a:ln w="9525" cap="flat" cmpd="sng" algn="ctr">
              <a:solidFill>
                <a:srgbClr val="595959"/>
              </a:solidFill>
              <a:prstDash val="solid"/>
              <a:round/>
              <a:headEnd type="none" w="med" len="med"/>
              <a:tailEnd type="triangle"/>
            </a:ln>
            <a:effectLst/>
          </p:spPr>
        </p:cxnSp>
        <p:sp>
          <p:nvSpPr>
            <p:cNvPr id="3208" name="テキスト ボックス 3207">
              <a:extLst>
                <a:ext uri="{FF2B5EF4-FFF2-40B4-BE49-F238E27FC236}">
                  <a16:creationId xmlns:a16="http://schemas.microsoft.com/office/drawing/2014/main" id="{0350FEAF-EF50-7AA9-403D-9A38FE97CE70}"/>
                </a:ext>
              </a:extLst>
            </p:cNvPr>
            <p:cNvSpPr txBox="1"/>
            <p:nvPr/>
          </p:nvSpPr>
          <p:spPr bwMode="auto">
            <a:xfrm>
              <a:off x="5761820" y="4091416"/>
              <a:ext cx="537258" cy="12265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債務</a:t>
              </a:r>
              <a:endParaRPr lang="en-US" altLang="ja-JP" sz="400">
                <a:solidFill>
                  <a:srgbClr val="000000"/>
                </a:solidFill>
                <a:latin typeface="Meiryo UI"/>
                <a:ea typeface="Meiryo UI"/>
              </a:endParaRPr>
            </a:p>
          </p:txBody>
        </p:sp>
        <p:sp>
          <p:nvSpPr>
            <p:cNvPr id="3209" name="テキスト ボックス 3208">
              <a:extLst>
                <a:ext uri="{FF2B5EF4-FFF2-40B4-BE49-F238E27FC236}">
                  <a16:creationId xmlns:a16="http://schemas.microsoft.com/office/drawing/2014/main" id="{34B288CC-A69F-1840-1A89-B963CDFD638C}"/>
                </a:ext>
              </a:extLst>
            </p:cNvPr>
            <p:cNvSpPr txBox="1"/>
            <p:nvPr/>
          </p:nvSpPr>
          <p:spPr bwMode="auto">
            <a:xfrm>
              <a:off x="11115979" y="5846141"/>
              <a:ext cx="698629" cy="14180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各種マスタ・コード</a:t>
              </a:r>
              <a:endParaRPr lang="en-US" altLang="ja-JP" sz="400">
                <a:solidFill>
                  <a:srgbClr val="000000"/>
                </a:solidFill>
                <a:latin typeface="Meiryo UI"/>
                <a:ea typeface="Meiryo UI"/>
              </a:endParaRPr>
            </a:p>
          </p:txBody>
        </p:sp>
        <p:sp>
          <p:nvSpPr>
            <p:cNvPr id="3210" name="楕円 3209">
              <a:extLst>
                <a:ext uri="{FF2B5EF4-FFF2-40B4-BE49-F238E27FC236}">
                  <a16:creationId xmlns:a16="http://schemas.microsoft.com/office/drawing/2014/main" id="{CD6F2171-063D-7142-F091-4C7471E4053D}"/>
                </a:ext>
              </a:extLst>
            </p:cNvPr>
            <p:cNvSpPr/>
            <p:nvPr/>
          </p:nvSpPr>
          <p:spPr>
            <a:xfrm>
              <a:off x="11303987" y="5941240"/>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N</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211" name="テキスト ボックス 3210">
              <a:extLst>
                <a:ext uri="{FF2B5EF4-FFF2-40B4-BE49-F238E27FC236}">
                  <a16:creationId xmlns:a16="http://schemas.microsoft.com/office/drawing/2014/main" id="{0A251FB0-FD5D-F311-7575-5702233E14C8}"/>
                </a:ext>
              </a:extLst>
            </p:cNvPr>
            <p:cNvSpPr txBox="1"/>
            <p:nvPr/>
          </p:nvSpPr>
          <p:spPr bwMode="auto">
            <a:xfrm>
              <a:off x="2115648" y="6196381"/>
              <a:ext cx="698629" cy="14180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各種マスタ・コード</a:t>
              </a:r>
              <a:endParaRPr lang="en-US" altLang="ja-JP" sz="400">
                <a:solidFill>
                  <a:srgbClr val="000000"/>
                </a:solidFill>
                <a:latin typeface="Meiryo UI"/>
                <a:ea typeface="Meiryo UI"/>
              </a:endParaRPr>
            </a:p>
          </p:txBody>
        </p:sp>
        <p:sp>
          <p:nvSpPr>
            <p:cNvPr id="3212" name="楕円 3211">
              <a:extLst>
                <a:ext uri="{FF2B5EF4-FFF2-40B4-BE49-F238E27FC236}">
                  <a16:creationId xmlns:a16="http://schemas.microsoft.com/office/drawing/2014/main" id="{C01CD8CE-6BFF-DC41-40AD-C0CFC3C8BA80}"/>
                </a:ext>
              </a:extLst>
            </p:cNvPr>
            <p:cNvSpPr/>
            <p:nvPr/>
          </p:nvSpPr>
          <p:spPr>
            <a:xfrm>
              <a:off x="2302775" y="6281489"/>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N</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213" name="カギ線コネクタ 379">
              <a:extLst>
                <a:ext uri="{FF2B5EF4-FFF2-40B4-BE49-F238E27FC236}">
                  <a16:creationId xmlns:a16="http://schemas.microsoft.com/office/drawing/2014/main" id="{46CCB67F-6F72-8FD1-8943-0B324F0549EF}"/>
                </a:ext>
              </a:extLst>
            </p:cNvPr>
            <p:cNvCxnSpPr>
              <a:cxnSpLocks/>
              <a:endCxn id="3210" idx="2"/>
            </p:cNvCxnSpPr>
            <p:nvPr/>
          </p:nvCxnSpPr>
          <p:spPr>
            <a:xfrm rot="16200000" flipH="1">
              <a:off x="11112543" y="5824176"/>
              <a:ext cx="181569" cy="201317"/>
            </a:xfrm>
            <a:prstGeom prst="bentConnector2">
              <a:avLst/>
            </a:prstGeom>
            <a:solidFill>
              <a:srgbClr val="00CC99"/>
            </a:solidFill>
            <a:ln w="9525" cap="flat" cmpd="sng" algn="ctr">
              <a:solidFill>
                <a:srgbClr val="595959"/>
              </a:solidFill>
              <a:prstDash val="solid"/>
              <a:round/>
              <a:headEnd type="none" w="med" len="med"/>
              <a:tailEnd type="triangle"/>
            </a:ln>
            <a:effectLst/>
          </p:spPr>
        </p:cxnSp>
        <p:cxnSp>
          <p:nvCxnSpPr>
            <p:cNvPr id="3214" name="カギ線コネクタ 379">
              <a:extLst>
                <a:ext uri="{FF2B5EF4-FFF2-40B4-BE49-F238E27FC236}">
                  <a16:creationId xmlns:a16="http://schemas.microsoft.com/office/drawing/2014/main" id="{423F6BEC-0CC9-06C8-22A6-8EE0CBA1E77B}"/>
                </a:ext>
              </a:extLst>
            </p:cNvPr>
            <p:cNvCxnSpPr>
              <a:cxnSpLocks/>
              <a:stCxn id="3302" idx="6"/>
              <a:endCxn id="3043" idx="2"/>
            </p:cNvCxnSpPr>
            <p:nvPr/>
          </p:nvCxnSpPr>
          <p:spPr>
            <a:xfrm flipV="1">
              <a:off x="6512842" y="4703389"/>
              <a:ext cx="173703" cy="75965"/>
            </a:xfrm>
            <a:prstGeom prst="bentConnector2">
              <a:avLst/>
            </a:prstGeom>
            <a:solidFill>
              <a:srgbClr val="00CC99"/>
            </a:solidFill>
            <a:ln w="9525" cap="flat" cmpd="sng" algn="ctr">
              <a:solidFill>
                <a:srgbClr val="595959"/>
              </a:solidFill>
              <a:prstDash val="solid"/>
              <a:round/>
              <a:headEnd type="none" w="med" len="med"/>
              <a:tailEnd type="triangle"/>
            </a:ln>
            <a:effectLst/>
          </p:spPr>
        </p:cxnSp>
        <p:cxnSp>
          <p:nvCxnSpPr>
            <p:cNvPr id="3215" name="カギ線コネクタ 379">
              <a:extLst>
                <a:ext uri="{FF2B5EF4-FFF2-40B4-BE49-F238E27FC236}">
                  <a16:creationId xmlns:a16="http://schemas.microsoft.com/office/drawing/2014/main" id="{E833167B-96DB-2627-6923-A12AE884B555}"/>
                </a:ext>
              </a:extLst>
            </p:cNvPr>
            <p:cNvCxnSpPr>
              <a:cxnSpLocks/>
              <a:endCxn id="3152" idx="1"/>
            </p:cNvCxnSpPr>
            <p:nvPr/>
          </p:nvCxnSpPr>
          <p:spPr>
            <a:xfrm>
              <a:off x="4013559" y="5351092"/>
              <a:ext cx="2605990" cy="277778"/>
            </a:xfrm>
            <a:prstGeom prst="bentConnector3">
              <a:avLst>
                <a:gd name="adj1" fmla="val 30195"/>
              </a:avLst>
            </a:prstGeom>
            <a:solidFill>
              <a:srgbClr val="00CC99"/>
            </a:solidFill>
            <a:ln w="9525" cap="flat" cmpd="sng" algn="ctr">
              <a:solidFill>
                <a:srgbClr val="595959"/>
              </a:solidFill>
              <a:prstDash val="solid"/>
              <a:round/>
              <a:headEnd type="none" w="med" len="med"/>
              <a:tailEnd type="triangle"/>
            </a:ln>
            <a:effectLst/>
          </p:spPr>
        </p:cxnSp>
        <p:sp>
          <p:nvSpPr>
            <p:cNvPr id="3216" name="テキスト ボックス 3215">
              <a:extLst>
                <a:ext uri="{FF2B5EF4-FFF2-40B4-BE49-F238E27FC236}">
                  <a16:creationId xmlns:a16="http://schemas.microsoft.com/office/drawing/2014/main" id="{A1F36E48-0AEC-CC7A-C110-33F5E8452D10}"/>
                </a:ext>
              </a:extLst>
            </p:cNvPr>
            <p:cNvSpPr txBox="1"/>
            <p:nvPr/>
          </p:nvSpPr>
          <p:spPr bwMode="auto">
            <a:xfrm>
              <a:off x="3998969" y="5417135"/>
              <a:ext cx="477504" cy="102597"/>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子会社仕訳</a:t>
              </a:r>
              <a:endParaRPr lang="en-US" altLang="ja-JP" sz="400">
                <a:solidFill>
                  <a:srgbClr val="000000"/>
                </a:solidFill>
                <a:latin typeface="Meiryo UI"/>
                <a:ea typeface="Meiryo UI"/>
              </a:endParaRPr>
            </a:p>
          </p:txBody>
        </p:sp>
        <p:cxnSp>
          <p:nvCxnSpPr>
            <p:cNvPr id="3217" name="カギ線コネクタ 379">
              <a:extLst>
                <a:ext uri="{FF2B5EF4-FFF2-40B4-BE49-F238E27FC236}">
                  <a16:creationId xmlns:a16="http://schemas.microsoft.com/office/drawing/2014/main" id="{A4441F6C-A0AF-4EF5-3627-96E593CD7545}"/>
                </a:ext>
              </a:extLst>
            </p:cNvPr>
            <p:cNvCxnSpPr>
              <a:cxnSpLocks/>
              <a:stCxn id="2715" idx="4"/>
              <a:endCxn id="3356" idx="1"/>
            </p:cNvCxnSpPr>
            <p:nvPr/>
          </p:nvCxnSpPr>
          <p:spPr>
            <a:xfrm rot="16200000" flipH="1">
              <a:off x="723052" y="5911304"/>
              <a:ext cx="223193" cy="104500"/>
            </a:xfrm>
            <a:prstGeom prst="bentConnector2">
              <a:avLst/>
            </a:prstGeom>
            <a:solidFill>
              <a:srgbClr val="00CC99"/>
            </a:solidFill>
            <a:ln w="9525" cap="flat" cmpd="sng" algn="ctr">
              <a:solidFill>
                <a:srgbClr val="595959"/>
              </a:solidFill>
              <a:prstDash val="solid"/>
              <a:round/>
              <a:headEnd type="none" w="med" len="med"/>
              <a:tailEnd type="triangle"/>
            </a:ln>
            <a:effectLst/>
          </p:spPr>
        </p:cxnSp>
        <p:cxnSp>
          <p:nvCxnSpPr>
            <p:cNvPr id="3218" name="カギ線コネクタ 379">
              <a:extLst>
                <a:ext uri="{FF2B5EF4-FFF2-40B4-BE49-F238E27FC236}">
                  <a16:creationId xmlns:a16="http://schemas.microsoft.com/office/drawing/2014/main" id="{7C20A0D1-4CA6-08CD-8FE3-687AB0431E01}"/>
                </a:ext>
              </a:extLst>
            </p:cNvPr>
            <p:cNvCxnSpPr>
              <a:cxnSpLocks/>
              <a:stCxn id="3212" idx="2"/>
            </p:cNvCxnSpPr>
            <p:nvPr/>
          </p:nvCxnSpPr>
          <p:spPr>
            <a:xfrm rot="10800000">
              <a:off x="2024776" y="6177357"/>
              <a:ext cx="277999" cy="178512"/>
            </a:xfrm>
            <a:prstGeom prst="bentConnector2">
              <a:avLst/>
            </a:prstGeom>
            <a:solidFill>
              <a:srgbClr val="00CC99"/>
            </a:solidFill>
            <a:ln w="9525" cap="flat" cmpd="sng" algn="ctr">
              <a:solidFill>
                <a:srgbClr val="595959"/>
              </a:solidFill>
              <a:prstDash val="solid"/>
              <a:round/>
              <a:headEnd type="none" w="med" len="med"/>
              <a:tailEnd type="triangle"/>
            </a:ln>
            <a:effectLst/>
          </p:spPr>
        </p:cxnSp>
        <p:sp>
          <p:nvSpPr>
            <p:cNvPr id="3219" name="テキスト ボックス 3218">
              <a:extLst>
                <a:ext uri="{FF2B5EF4-FFF2-40B4-BE49-F238E27FC236}">
                  <a16:creationId xmlns:a16="http://schemas.microsoft.com/office/drawing/2014/main" id="{F64D7848-E4A5-78FF-1BAC-98F85B8749BC}"/>
                </a:ext>
              </a:extLst>
            </p:cNvPr>
            <p:cNvSpPr txBox="1"/>
            <p:nvPr/>
          </p:nvSpPr>
          <p:spPr bwMode="auto">
            <a:xfrm>
              <a:off x="8067716" y="5734445"/>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r>
                <a:rPr lang="ja-JP" altLang="en-US" sz="400">
                  <a:solidFill>
                    <a:srgbClr val="000000"/>
                  </a:solidFill>
                  <a:latin typeface="Meiryo UI"/>
                  <a:ea typeface="Meiryo UI"/>
                </a:rPr>
                <a:t>請求書・</a:t>
              </a:r>
              <a:endParaRPr lang="en-US" altLang="ja-JP" sz="400">
                <a:solidFill>
                  <a:srgbClr val="000000"/>
                </a:solidFill>
                <a:latin typeface="Meiryo UI"/>
                <a:ea typeface="Meiryo UI"/>
              </a:endParaRPr>
            </a:p>
            <a:p>
              <a:pPr algn="r">
                <a:defRPr/>
              </a:pPr>
              <a:r>
                <a:rPr lang="ja-JP" altLang="en-US" sz="400">
                  <a:solidFill>
                    <a:srgbClr val="000000"/>
                  </a:solidFill>
                  <a:latin typeface="Meiryo UI"/>
                  <a:ea typeface="Meiryo UI"/>
                </a:rPr>
                <a:t>督促書</a:t>
              </a:r>
              <a:endParaRPr lang="en-US" altLang="ja-JP" sz="400">
                <a:solidFill>
                  <a:srgbClr val="000000"/>
                </a:solidFill>
                <a:latin typeface="Meiryo UI"/>
                <a:ea typeface="Meiryo UI"/>
              </a:endParaRPr>
            </a:p>
          </p:txBody>
        </p:sp>
        <p:grpSp>
          <p:nvGrpSpPr>
            <p:cNvPr id="3220" name="グループ化 3219">
              <a:extLst>
                <a:ext uri="{FF2B5EF4-FFF2-40B4-BE49-F238E27FC236}">
                  <a16:creationId xmlns:a16="http://schemas.microsoft.com/office/drawing/2014/main" id="{F173DC58-609E-3AAE-1D03-7E85DBE9CF4E}"/>
                </a:ext>
              </a:extLst>
            </p:cNvPr>
            <p:cNvGrpSpPr/>
            <p:nvPr/>
          </p:nvGrpSpPr>
          <p:grpSpPr>
            <a:xfrm>
              <a:off x="673723" y="2690803"/>
              <a:ext cx="351566" cy="250221"/>
              <a:chOff x="5121667" y="1124941"/>
              <a:chExt cx="364310" cy="250221"/>
            </a:xfrm>
          </p:grpSpPr>
          <p:cxnSp>
            <p:nvCxnSpPr>
              <p:cNvPr id="3261" name="直線矢印コネクタ 3260">
                <a:extLst>
                  <a:ext uri="{FF2B5EF4-FFF2-40B4-BE49-F238E27FC236}">
                    <a16:creationId xmlns:a16="http://schemas.microsoft.com/office/drawing/2014/main" id="{D3D65C3E-0938-2CD3-8AD5-32F04F2D714F}"/>
                  </a:ext>
                </a:extLst>
              </p:cNvPr>
              <p:cNvCxnSpPr>
                <a:cxnSpLocks/>
              </p:cNvCxnSpPr>
              <p:nvPr/>
            </p:nvCxnSpPr>
            <p:spPr>
              <a:xfrm>
                <a:off x="5121667" y="1348698"/>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62" name="テキスト ボックス 3261">
                <a:extLst>
                  <a:ext uri="{FF2B5EF4-FFF2-40B4-BE49-F238E27FC236}">
                    <a16:creationId xmlns:a16="http://schemas.microsoft.com/office/drawing/2014/main" id="{8ACB7066-4FAB-6CDF-17DD-C6CA5E26E1C3}"/>
                  </a:ext>
                </a:extLst>
              </p:cNvPr>
              <p:cNvSpPr txBox="1"/>
              <p:nvPr/>
            </p:nvSpPr>
            <p:spPr bwMode="auto">
              <a:xfrm>
                <a:off x="5172708" y="1124941"/>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受注・請求</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221" name="グループ化 3220">
              <a:extLst>
                <a:ext uri="{FF2B5EF4-FFF2-40B4-BE49-F238E27FC236}">
                  <a16:creationId xmlns:a16="http://schemas.microsoft.com/office/drawing/2014/main" id="{D1DDE694-F101-1980-BCBA-DB0F5BE44BA2}"/>
                </a:ext>
              </a:extLst>
            </p:cNvPr>
            <p:cNvGrpSpPr/>
            <p:nvPr/>
          </p:nvGrpSpPr>
          <p:grpSpPr>
            <a:xfrm>
              <a:off x="9226315" y="1670039"/>
              <a:ext cx="441147" cy="280460"/>
              <a:chOff x="4606879" y="4250758"/>
              <a:chExt cx="457139" cy="339357"/>
            </a:xfrm>
          </p:grpSpPr>
          <p:sp>
            <p:nvSpPr>
              <p:cNvPr id="3258" name="楕円 3257">
                <a:extLst>
                  <a:ext uri="{FF2B5EF4-FFF2-40B4-BE49-F238E27FC236}">
                    <a16:creationId xmlns:a16="http://schemas.microsoft.com/office/drawing/2014/main" id="{3D45D5B4-04FC-5C77-1E26-350D72319554}"/>
                  </a:ext>
                </a:extLst>
              </p:cNvPr>
              <p:cNvSpPr/>
              <p:nvPr/>
            </p:nvSpPr>
            <p:spPr>
              <a:xfrm>
                <a:off x="4606879" y="4250758"/>
                <a:ext cx="180000" cy="18000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G</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sp>
            <p:nvSpPr>
              <p:cNvPr id="3259" name="テキスト ボックス 3258">
                <a:extLst>
                  <a:ext uri="{FF2B5EF4-FFF2-40B4-BE49-F238E27FC236}">
                    <a16:creationId xmlns:a16="http://schemas.microsoft.com/office/drawing/2014/main" id="{51795CAD-CEFD-7127-5962-7A86752B7D6B}"/>
                  </a:ext>
                </a:extLst>
              </p:cNvPr>
              <p:cNvSpPr txBox="1"/>
              <p:nvPr/>
            </p:nvSpPr>
            <p:spPr bwMode="auto">
              <a:xfrm>
                <a:off x="4750749" y="4339894"/>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按分結果</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cxnSp>
            <p:nvCxnSpPr>
              <p:cNvPr id="3260" name="直線矢印コネクタ 3259">
                <a:extLst>
                  <a:ext uri="{FF2B5EF4-FFF2-40B4-BE49-F238E27FC236}">
                    <a16:creationId xmlns:a16="http://schemas.microsoft.com/office/drawing/2014/main" id="{7A29165B-0E47-E136-ECE4-B1197FC6D146}"/>
                  </a:ext>
                </a:extLst>
              </p:cNvPr>
              <p:cNvCxnSpPr>
                <a:cxnSpLocks/>
              </p:cNvCxnSpPr>
              <p:nvPr/>
            </p:nvCxnSpPr>
            <p:spPr>
              <a:xfrm flipV="1">
                <a:off x="4696879" y="4413217"/>
                <a:ext cx="0" cy="150019"/>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cxnSp>
          <p:nvCxnSpPr>
            <p:cNvPr id="3222" name="カギ線コネクタ 2">
              <a:extLst>
                <a:ext uri="{FF2B5EF4-FFF2-40B4-BE49-F238E27FC236}">
                  <a16:creationId xmlns:a16="http://schemas.microsoft.com/office/drawing/2014/main" id="{0DEB9B50-E435-E5F1-8B19-CAEA7556B248}"/>
                </a:ext>
              </a:extLst>
            </p:cNvPr>
            <p:cNvCxnSpPr>
              <a:endCxn id="2302" idx="3"/>
            </p:cNvCxnSpPr>
            <p:nvPr/>
          </p:nvCxnSpPr>
          <p:spPr>
            <a:xfrm rot="10800000">
              <a:off x="7184014" y="3024073"/>
              <a:ext cx="431647" cy="183560"/>
            </a:xfrm>
            <a:prstGeom prst="bentConnector3">
              <a:avLst>
                <a:gd name="adj1" fmla="val 50000"/>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23" name="テキスト ボックス 3222">
              <a:extLst>
                <a:ext uri="{FF2B5EF4-FFF2-40B4-BE49-F238E27FC236}">
                  <a16:creationId xmlns:a16="http://schemas.microsoft.com/office/drawing/2014/main" id="{859085B8-B9BA-2036-B799-AFB40B125139}"/>
                </a:ext>
              </a:extLst>
            </p:cNvPr>
            <p:cNvSpPr txBox="1"/>
            <p:nvPr/>
          </p:nvSpPr>
          <p:spPr bwMode="auto">
            <a:xfrm>
              <a:off x="7444809" y="3034803"/>
              <a:ext cx="303630" cy="196660"/>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en-US" altLang="ja-JP" sz="400">
                  <a:solidFill>
                    <a:srgbClr val="000000"/>
                  </a:solidFill>
                  <a:latin typeface="Meiryo UI"/>
                  <a:ea typeface="Meiryo UI"/>
                </a:rPr>
                <a:t>BP</a:t>
              </a:r>
              <a:r>
                <a:rPr lang="ja-JP" altLang="en-US" sz="400">
                  <a:solidFill>
                    <a:srgbClr val="000000"/>
                  </a:solidFill>
                  <a:latin typeface="Meiryo UI"/>
                  <a:ea typeface="Meiryo UI"/>
                </a:rPr>
                <a:t>発番依頼</a:t>
              </a:r>
              <a:endParaRPr lang="en-US" altLang="ja-JP" sz="400">
                <a:solidFill>
                  <a:srgbClr val="000000"/>
                </a:solidFill>
                <a:latin typeface="Meiryo UI"/>
                <a:ea typeface="Meiryo UI"/>
              </a:endParaRPr>
            </a:p>
          </p:txBody>
        </p:sp>
        <p:cxnSp>
          <p:nvCxnSpPr>
            <p:cNvPr id="3224" name="直線矢印コネクタ 3223">
              <a:extLst>
                <a:ext uri="{FF2B5EF4-FFF2-40B4-BE49-F238E27FC236}">
                  <a16:creationId xmlns:a16="http://schemas.microsoft.com/office/drawing/2014/main" id="{4702F921-994D-23D7-9A03-827949019F47}"/>
                </a:ext>
              </a:extLst>
            </p:cNvPr>
            <p:cNvCxnSpPr>
              <a:cxnSpLocks/>
            </p:cNvCxnSpPr>
            <p:nvPr/>
          </p:nvCxnSpPr>
          <p:spPr>
            <a:xfrm>
              <a:off x="7914117" y="5409636"/>
              <a:ext cx="2188662"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25" name="テキスト ボックス 3224">
              <a:extLst>
                <a:ext uri="{FF2B5EF4-FFF2-40B4-BE49-F238E27FC236}">
                  <a16:creationId xmlns:a16="http://schemas.microsoft.com/office/drawing/2014/main" id="{B174461F-1645-92A4-862A-BA9292E048CC}"/>
                </a:ext>
              </a:extLst>
            </p:cNvPr>
            <p:cNvSpPr txBox="1"/>
            <p:nvPr/>
          </p:nvSpPr>
          <p:spPr bwMode="auto">
            <a:xfrm>
              <a:off x="7983606" y="5247583"/>
              <a:ext cx="302310" cy="19001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固定資産</a:t>
              </a:r>
              <a:endParaRPr lang="en-US" altLang="ja-JP" sz="400">
                <a:solidFill>
                  <a:srgbClr val="000000"/>
                </a:solidFill>
                <a:latin typeface="Meiryo UI"/>
                <a:ea typeface="Meiryo UI"/>
              </a:endParaRPr>
            </a:p>
          </p:txBody>
        </p:sp>
        <p:cxnSp>
          <p:nvCxnSpPr>
            <p:cNvPr id="3226" name="カギ線コネクタ 34">
              <a:extLst>
                <a:ext uri="{FF2B5EF4-FFF2-40B4-BE49-F238E27FC236}">
                  <a16:creationId xmlns:a16="http://schemas.microsoft.com/office/drawing/2014/main" id="{7595FE5B-205B-7478-4104-9EA1BE05B1D5}"/>
                </a:ext>
              </a:extLst>
            </p:cNvPr>
            <p:cNvCxnSpPr/>
            <p:nvPr/>
          </p:nvCxnSpPr>
          <p:spPr>
            <a:xfrm flipV="1">
              <a:off x="7935525" y="4949515"/>
              <a:ext cx="3166263" cy="326348"/>
            </a:xfrm>
            <a:prstGeom prst="bentConnector3">
              <a:avLst>
                <a:gd name="adj1" fmla="val 9216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27" name="テキスト ボックス 3226">
              <a:extLst>
                <a:ext uri="{FF2B5EF4-FFF2-40B4-BE49-F238E27FC236}">
                  <a16:creationId xmlns:a16="http://schemas.microsoft.com/office/drawing/2014/main" id="{DE637E43-8418-C8C4-CF28-C72A05DB4A70}"/>
                </a:ext>
              </a:extLst>
            </p:cNvPr>
            <p:cNvSpPr txBox="1"/>
            <p:nvPr/>
          </p:nvSpPr>
          <p:spPr bwMode="auto">
            <a:xfrm>
              <a:off x="7992225" y="5111915"/>
              <a:ext cx="302310" cy="19001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固定資産</a:t>
              </a:r>
              <a:endParaRPr lang="en-US" altLang="ja-JP" sz="400">
                <a:solidFill>
                  <a:srgbClr val="000000"/>
                </a:solidFill>
                <a:latin typeface="Meiryo UI"/>
                <a:ea typeface="Meiryo UI"/>
              </a:endParaRPr>
            </a:p>
          </p:txBody>
        </p:sp>
        <p:cxnSp>
          <p:nvCxnSpPr>
            <p:cNvPr id="3228" name="カギ線コネクタ 379">
              <a:extLst>
                <a:ext uri="{FF2B5EF4-FFF2-40B4-BE49-F238E27FC236}">
                  <a16:creationId xmlns:a16="http://schemas.microsoft.com/office/drawing/2014/main" id="{CE76A91B-D1CC-0850-DEDB-3C6B09CB04C7}"/>
                </a:ext>
              </a:extLst>
            </p:cNvPr>
            <p:cNvCxnSpPr>
              <a:cxnSpLocks/>
              <a:stCxn id="3053" idx="3"/>
              <a:endCxn id="3256" idx="0"/>
            </p:cNvCxnSpPr>
            <p:nvPr/>
          </p:nvCxnSpPr>
          <p:spPr>
            <a:xfrm flipH="1" flipV="1">
              <a:off x="9276394" y="1137834"/>
              <a:ext cx="2381307" cy="2864321"/>
            </a:xfrm>
            <a:prstGeom prst="bentConnector4">
              <a:avLst>
                <a:gd name="adj1" fmla="val -9600"/>
                <a:gd name="adj2" fmla="val 103539"/>
              </a:avLst>
            </a:prstGeom>
            <a:solidFill>
              <a:srgbClr val="00CC99"/>
            </a:solidFill>
            <a:ln w="9525" cap="flat" cmpd="sng" algn="ctr">
              <a:solidFill>
                <a:srgbClr val="595959"/>
              </a:solidFill>
              <a:prstDash val="solid"/>
              <a:round/>
              <a:headEnd type="none" w="med" len="med"/>
              <a:tailEnd type="triangle"/>
            </a:ln>
            <a:effectLst/>
          </p:spPr>
        </p:cxnSp>
        <p:grpSp>
          <p:nvGrpSpPr>
            <p:cNvPr id="3229" name="グループ化 3228">
              <a:extLst>
                <a:ext uri="{FF2B5EF4-FFF2-40B4-BE49-F238E27FC236}">
                  <a16:creationId xmlns:a16="http://schemas.microsoft.com/office/drawing/2014/main" id="{7AC7F769-D733-E76E-E88A-643C5E65FA32}"/>
                </a:ext>
              </a:extLst>
            </p:cNvPr>
            <p:cNvGrpSpPr/>
            <p:nvPr/>
          </p:nvGrpSpPr>
          <p:grpSpPr>
            <a:xfrm>
              <a:off x="8725508" y="1137834"/>
              <a:ext cx="1101771" cy="208264"/>
              <a:chOff x="6934289" y="734420"/>
              <a:chExt cx="1141710" cy="252000"/>
            </a:xfrm>
          </p:grpSpPr>
          <p:sp>
            <p:nvSpPr>
              <p:cNvPr id="3256" name="正方形/長方形 3255">
                <a:extLst>
                  <a:ext uri="{FF2B5EF4-FFF2-40B4-BE49-F238E27FC236}">
                    <a16:creationId xmlns:a16="http://schemas.microsoft.com/office/drawing/2014/main" id="{5DC9B14E-2079-0098-B7CD-CAC395524651}"/>
                  </a:ext>
                </a:extLst>
              </p:cNvPr>
              <p:cNvSpPr/>
              <p:nvPr/>
            </p:nvSpPr>
            <p:spPr>
              <a:xfrm>
                <a:off x="6934289" y="734420"/>
                <a:ext cx="114171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DIVA</a:t>
                </a:r>
              </a:p>
            </p:txBody>
          </p:sp>
          <p:sp>
            <p:nvSpPr>
              <p:cNvPr id="3257" name="正方形/長方形 3256">
                <a:extLst>
                  <a:ext uri="{FF2B5EF4-FFF2-40B4-BE49-F238E27FC236}">
                    <a16:creationId xmlns:a16="http://schemas.microsoft.com/office/drawing/2014/main" id="{545DF65A-79FD-4ED5-115F-96722CA5746C}"/>
                  </a:ext>
                </a:extLst>
              </p:cNvPr>
              <p:cNvSpPr/>
              <p:nvPr/>
            </p:nvSpPr>
            <p:spPr bwMode="auto">
              <a:xfrm>
                <a:off x="7435753" y="770420"/>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連結決算</a:t>
                </a:r>
              </a:p>
            </p:txBody>
          </p:sp>
        </p:grpSp>
        <p:grpSp>
          <p:nvGrpSpPr>
            <p:cNvPr id="3230" name="グループ化 3229">
              <a:extLst>
                <a:ext uri="{FF2B5EF4-FFF2-40B4-BE49-F238E27FC236}">
                  <a16:creationId xmlns:a16="http://schemas.microsoft.com/office/drawing/2014/main" id="{DDCCEE43-BAD5-F2B7-6772-6D2518B6D30B}"/>
                </a:ext>
              </a:extLst>
            </p:cNvPr>
            <p:cNvGrpSpPr/>
            <p:nvPr/>
          </p:nvGrpSpPr>
          <p:grpSpPr>
            <a:xfrm>
              <a:off x="10766248" y="1137834"/>
              <a:ext cx="1011222" cy="296769"/>
              <a:chOff x="10766248" y="1137834"/>
              <a:chExt cx="1011222" cy="296769"/>
            </a:xfrm>
          </p:grpSpPr>
          <p:sp>
            <p:nvSpPr>
              <p:cNvPr id="3254" name="正方形/長方形 3253">
                <a:extLst>
                  <a:ext uri="{FF2B5EF4-FFF2-40B4-BE49-F238E27FC236}">
                    <a16:creationId xmlns:a16="http://schemas.microsoft.com/office/drawing/2014/main" id="{284036C5-CB7E-C1F5-D090-35BE49FDD578}"/>
                  </a:ext>
                </a:extLst>
              </p:cNvPr>
              <p:cNvSpPr/>
              <p:nvPr/>
            </p:nvSpPr>
            <p:spPr bwMode="auto">
              <a:xfrm>
                <a:off x="10766248" y="1137834"/>
                <a:ext cx="1011222" cy="296769"/>
              </a:xfrm>
              <a:prstGeom prst="rect">
                <a:avLst/>
              </a:prstGeom>
              <a:solidFill>
                <a:schemeClr val="bg1">
                  <a:lumMod val="95000"/>
                </a:schemeClr>
              </a:solidFill>
              <a:ln w="9525">
                <a:solidFill>
                  <a:schemeClr val="accent4">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25200" rIns="0" bIns="45720" rtlCol="0" anchor="t">
                <a:noAutofit/>
              </a:bodyPr>
              <a:lstStyle/>
              <a:p>
                <a:pPr algn="ctr"/>
                <a:r>
                  <a:rPr lang="en-US" altLang="ja-JP" sz="700">
                    <a:solidFill>
                      <a:srgbClr val="000000">
                        <a:lumMod val="65000"/>
                        <a:lumOff val="35000"/>
                      </a:srgbClr>
                    </a:solidFill>
                    <a:latin typeface="Meiryo UI"/>
                    <a:ea typeface="Meiryo UI"/>
                  </a:rPr>
                  <a:t>MICO/Chaco</a:t>
                </a:r>
              </a:p>
            </p:txBody>
          </p:sp>
          <p:sp>
            <p:nvSpPr>
              <p:cNvPr id="3255" name="正方形/長方形 3254">
                <a:extLst>
                  <a:ext uri="{FF2B5EF4-FFF2-40B4-BE49-F238E27FC236}">
                    <a16:creationId xmlns:a16="http://schemas.microsoft.com/office/drawing/2014/main" id="{0C7200DD-CF38-EE8B-E8D9-2288556E5082}"/>
                  </a:ext>
                </a:extLst>
              </p:cNvPr>
              <p:cNvSpPr/>
              <p:nvPr/>
            </p:nvSpPr>
            <p:spPr bwMode="auto">
              <a:xfrm>
                <a:off x="10848384" y="1284883"/>
                <a:ext cx="846951" cy="121986"/>
              </a:xfrm>
              <a:prstGeom prst="rect">
                <a:avLst/>
              </a:prstGeom>
              <a:solidFill>
                <a:srgbClr val="FFFFFF"/>
              </a:solidFill>
              <a:ln w="9525" cap="flat" cmpd="sng" algn="ctr">
                <a:solidFill>
                  <a:schemeClr val="tx1"/>
                </a:solidFill>
                <a:prstDash val="solid"/>
                <a:round/>
                <a:headEnd type="none" w="med" len="med"/>
                <a:tailEnd type="none" w="med" len="med"/>
              </a:ln>
              <a:effectLst/>
            </p:spPr>
            <p:txBody>
              <a:bodyPr vert="horz" wrap="none" lIns="36000" tIns="36000" rIns="0" bIns="36000" numCol="1" rtlCol="0" anchor="ctr" anchorCtr="0" compatLnSpc="1">
                <a:prstTxWarp prst="textNoShape">
                  <a:avLst/>
                </a:prstTxWarp>
              </a:bodyPr>
              <a:lstStyle/>
              <a:p>
                <a:pPr algn="ctr"/>
                <a:r>
                  <a:rPr kumimoji="0" lang="ja-JP" altLang="en-US" sz="6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滞留債権管理</a:t>
                </a:r>
              </a:p>
            </p:txBody>
          </p:sp>
        </p:grpSp>
        <p:grpSp>
          <p:nvGrpSpPr>
            <p:cNvPr id="3231" name="グループ化 3230">
              <a:extLst>
                <a:ext uri="{FF2B5EF4-FFF2-40B4-BE49-F238E27FC236}">
                  <a16:creationId xmlns:a16="http://schemas.microsoft.com/office/drawing/2014/main" id="{126860F6-CDF7-B7F1-AAEA-F152B43F8780}"/>
                </a:ext>
              </a:extLst>
            </p:cNvPr>
            <p:cNvGrpSpPr/>
            <p:nvPr/>
          </p:nvGrpSpPr>
          <p:grpSpPr>
            <a:xfrm>
              <a:off x="10766248" y="1696978"/>
              <a:ext cx="1011222" cy="296769"/>
              <a:chOff x="10766248" y="1599741"/>
              <a:chExt cx="1011222" cy="296769"/>
            </a:xfrm>
          </p:grpSpPr>
          <p:sp>
            <p:nvSpPr>
              <p:cNvPr id="3252" name="正方形/長方形 3251">
                <a:extLst>
                  <a:ext uri="{FF2B5EF4-FFF2-40B4-BE49-F238E27FC236}">
                    <a16:creationId xmlns:a16="http://schemas.microsoft.com/office/drawing/2014/main" id="{6328E665-7C55-2554-6B23-1323B722402B}"/>
                  </a:ext>
                </a:extLst>
              </p:cNvPr>
              <p:cNvSpPr/>
              <p:nvPr/>
            </p:nvSpPr>
            <p:spPr bwMode="auto">
              <a:xfrm>
                <a:off x="10766248" y="1599741"/>
                <a:ext cx="1011222" cy="296769"/>
              </a:xfrm>
              <a:prstGeom prst="rect">
                <a:avLst/>
              </a:prstGeom>
              <a:solidFill>
                <a:schemeClr val="bg1">
                  <a:lumMod val="95000"/>
                </a:schemeClr>
              </a:solidFill>
              <a:ln w="9525">
                <a:solidFill>
                  <a:schemeClr val="accent4">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25200" rIns="0" bIns="45720" rtlCol="0" anchor="t">
                <a:noAutofit/>
              </a:bodyPr>
              <a:lstStyle/>
              <a:p>
                <a:pPr algn="ctr"/>
                <a:r>
                  <a:rPr lang="en-US" altLang="ja-JP" sz="700">
                    <a:solidFill>
                      <a:srgbClr val="000000">
                        <a:lumMod val="65000"/>
                        <a:lumOff val="35000"/>
                      </a:srgbClr>
                    </a:solidFill>
                    <a:latin typeface="Meiryo UI"/>
                    <a:ea typeface="Meiryo UI"/>
                  </a:rPr>
                  <a:t>RETMAS</a:t>
                </a:r>
              </a:p>
            </p:txBody>
          </p:sp>
          <p:sp>
            <p:nvSpPr>
              <p:cNvPr id="3253" name="正方形/長方形 3252">
                <a:extLst>
                  <a:ext uri="{FF2B5EF4-FFF2-40B4-BE49-F238E27FC236}">
                    <a16:creationId xmlns:a16="http://schemas.microsoft.com/office/drawing/2014/main" id="{931DDC62-0680-7D46-EE8B-E0AC02304884}"/>
                  </a:ext>
                </a:extLst>
              </p:cNvPr>
              <p:cNvSpPr/>
              <p:nvPr/>
            </p:nvSpPr>
            <p:spPr bwMode="auto">
              <a:xfrm>
                <a:off x="10848384" y="1746790"/>
                <a:ext cx="846951" cy="121986"/>
              </a:xfrm>
              <a:prstGeom prst="rect">
                <a:avLst/>
              </a:prstGeom>
              <a:solidFill>
                <a:srgbClr val="FFFFFF"/>
              </a:solidFill>
              <a:ln w="9525" cap="flat" cmpd="sng" algn="ctr">
                <a:solidFill>
                  <a:schemeClr val="tx1"/>
                </a:solidFill>
                <a:prstDash val="solid"/>
                <a:round/>
                <a:headEnd type="none" w="med" len="med"/>
                <a:tailEnd type="none" w="med" len="med"/>
              </a:ln>
              <a:effectLst/>
            </p:spPr>
            <p:txBody>
              <a:bodyPr vert="horz" wrap="none" lIns="36000" tIns="36000" rIns="0" bIns="36000" numCol="1" rtlCol="0" anchor="ctr" anchorCtr="0" compatLnSpc="1">
                <a:prstTxWarp prst="textNoShape">
                  <a:avLst/>
                </a:prstTxWarp>
              </a:bodyPr>
              <a:lstStyle/>
              <a:p>
                <a:pPr algn="ctr"/>
                <a:r>
                  <a:rPr kumimoji="0" lang="ja-JP" altLang="en-US" sz="6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予実集計</a:t>
                </a:r>
              </a:p>
            </p:txBody>
          </p:sp>
        </p:grpSp>
        <p:sp>
          <p:nvSpPr>
            <p:cNvPr id="3232" name="テキスト ボックス 3231">
              <a:extLst>
                <a:ext uri="{FF2B5EF4-FFF2-40B4-BE49-F238E27FC236}">
                  <a16:creationId xmlns:a16="http://schemas.microsoft.com/office/drawing/2014/main" id="{A28930F1-556D-8E1C-DA65-E6DEFB46C287}"/>
                </a:ext>
              </a:extLst>
            </p:cNvPr>
            <p:cNvSpPr txBox="1"/>
            <p:nvPr/>
          </p:nvSpPr>
          <p:spPr bwMode="auto">
            <a:xfrm>
              <a:off x="9018803" y="2271223"/>
              <a:ext cx="302310" cy="10607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endParaRPr lang="en-US" altLang="ja-JP" sz="400">
                <a:solidFill>
                  <a:srgbClr val="000000"/>
                </a:solidFill>
                <a:latin typeface="Meiryo UI"/>
                <a:ea typeface="Meiryo UI"/>
              </a:endParaRPr>
            </a:p>
          </p:txBody>
        </p:sp>
        <p:sp>
          <p:nvSpPr>
            <p:cNvPr id="3233" name="テキスト ボックス 3232">
              <a:extLst>
                <a:ext uri="{FF2B5EF4-FFF2-40B4-BE49-F238E27FC236}">
                  <a16:creationId xmlns:a16="http://schemas.microsoft.com/office/drawing/2014/main" id="{D1ABCAE0-DA5D-D087-E53B-AF79795EF6E4}"/>
                </a:ext>
              </a:extLst>
            </p:cNvPr>
            <p:cNvSpPr txBox="1"/>
            <p:nvPr/>
          </p:nvSpPr>
          <p:spPr bwMode="auto">
            <a:xfrm>
              <a:off x="9304672" y="2271223"/>
              <a:ext cx="302310" cy="10607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endParaRPr lang="en-US" altLang="ja-JP" sz="400">
                <a:solidFill>
                  <a:srgbClr val="000000"/>
                </a:solidFill>
                <a:latin typeface="Meiryo UI"/>
                <a:ea typeface="Meiryo UI"/>
              </a:endParaRPr>
            </a:p>
          </p:txBody>
        </p:sp>
        <p:sp>
          <p:nvSpPr>
            <p:cNvPr id="3234" name="テキスト ボックス 3233">
              <a:extLst>
                <a:ext uri="{FF2B5EF4-FFF2-40B4-BE49-F238E27FC236}">
                  <a16:creationId xmlns:a16="http://schemas.microsoft.com/office/drawing/2014/main" id="{6BF96E2C-8226-F7C3-DE07-B760F49EEBD3}"/>
                </a:ext>
              </a:extLst>
            </p:cNvPr>
            <p:cNvSpPr txBox="1"/>
            <p:nvPr/>
          </p:nvSpPr>
          <p:spPr bwMode="auto">
            <a:xfrm>
              <a:off x="8333897" y="2783237"/>
              <a:ext cx="302310" cy="10607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endParaRPr lang="en-US" altLang="ja-JP" sz="400">
                <a:solidFill>
                  <a:srgbClr val="000000"/>
                </a:solidFill>
                <a:latin typeface="Meiryo UI"/>
                <a:ea typeface="Meiryo UI"/>
              </a:endParaRPr>
            </a:p>
          </p:txBody>
        </p:sp>
        <p:grpSp>
          <p:nvGrpSpPr>
            <p:cNvPr id="3235" name="グループ化 3234">
              <a:extLst>
                <a:ext uri="{FF2B5EF4-FFF2-40B4-BE49-F238E27FC236}">
                  <a16:creationId xmlns:a16="http://schemas.microsoft.com/office/drawing/2014/main" id="{AAC58545-DE79-70CE-A301-8FF01E22427A}"/>
                </a:ext>
              </a:extLst>
            </p:cNvPr>
            <p:cNvGrpSpPr/>
            <p:nvPr/>
          </p:nvGrpSpPr>
          <p:grpSpPr>
            <a:xfrm>
              <a:off x="10766248" y="2256121"/>
              <a:ext cx="1011222" cy="296769"/>
              <a:chOff x="10766248" y="2146817"/>
              <a:chExt cx="1011222" cy="296769"/>
            </a:xfrm>
          </p:grpSpPr>
          <p:sp>
            <p:nvSpPr>
              <p:cNvPr id="3250" name="正方形/長方形 3249">
                <a:extLst>
                  <a:ext uri="{FF2B5EF4-FFF2-40B4-BE49-F238E27FC236}">
                    <a16:creationId xmlns:a16="http://schemas.microsoft.com/office/drawing/2014/main" id="{C8F8D721-4DA1-CB7D-4215-033781579D8F}"/>
                  </a:ext>
                </a:extLst>
              </p:cNvPr>
              <p:cNvSpPr/>
              <p:nvPr/>
            </p:nvSpPr>
            <p:spPr bwMode="auto">
              <a:xfrm>
                <a:off x="10766248" y="2146817"/>
                <a:ext cx="1011222" cy="296769"/>
              </a:xfrm>
              <a:prstGeom prst="rect">
                <a:avLst/>
              </a:prstGeom>
              <a:solidFill>
                <a:schemeClr val="bg1">
                  <a:lumMod val="95000"/>
                </a:schemeClr>
              </a:solidFill>
              <a:ln w="9525">
                <a:solidFill>
                  <a:schemeClr val="accent4">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25200" rIns="0" bIns="45720" rtlCol="0" anchor="t">
                <a:noAutofit/>
              </a:bodyPr>
              <a:lstStyle/>
              <a:p>
                <a:pPr algn="ctr"/>
                <a:r>
                  <a:rPr lang="ja-JP" altLang="en-US" sz="700">
                    <a:solidFill>
                      <a:srgbClr val="000000">
                        <a:lumMod val="65000"/>
                        <a:lumOff val="35000"/>
                      </a:srgbClr>
                    </a:solidFill>
                    <a:latin typeface="Meiryo UI"/>
                    <a:ea typeface="Meiryo UI"/>
                  </a:rPr>
                  <a:t>ミスギくん</a:t>
                </a:r>
                <a:endParaRPr lang="en-US" altLang="ja-JP" sz="700">
                  <a:solidFill>
                    <a:srgbClr val="000000">
                      <a:lumMod val="65000"/>
                      <a:lumOff val="35000"/>
                    </a:srgbClr>
                  </a:solidFill>
                  <a:latin typeface="Meiryo UI"/>
                  <a:ea typeface="Meiryo UI"/>
                </a:endParaRPr>
              </a:p>
            </p:txBody>
          </p:sp>
          <p:sp>
            <p:nvSpPr>
              <p:cNvPr id="3251" name="正方形/長方形 3250">
                <a:extLst>
                  <a:ext uri="{FF2B5EF4-FFF2-40B4-BE49-F238E27FC236}">
                    <a16:creationId xmlns:a16="http://schemas.microsoft.com/office/drawing/2014/main" id="{A7798416-7695-FE9E-300D-CD43CE457929}"/>
                  </a:ext>
                </a:extLst>
              </p:cNvPr>
              <p:cNvSpPr/>
              <p:nvPr/>
            </p:nvSpPr>
            <p:spPr bwMode="auto">
              <a:xfrm>
                <a:off x="10848384" y="2293866"/>
                <a:ext cx="846951" cy="121986"/>
              </a:xfrm>
              <a:prstGeom prst="rect">
                <a:avLst/>
              </a:prstGeom>
              <a:solidFill>
                <a:srgbClr val="FFFFFF"/>
              </a:solidFill>
              <a:ln w="9525" cap="flat" cmpd="sng" algn="ctr">
                <a:solidFill>
                  <a:schemeClr val="tx1"/>
                </a:solidFill>
                <a:prstDash val="solid"/>
                <a:round/>
                <a:headEnd type="none" w="med" len="med"/>
                <a:tailEnd type="none" w="med" len="med"/>
              </a:ln>
              <a:effectLst/>
            </p:spPr>
            <p:txBody>
              <a:bodyPr vert="horz" wrap="none" lIns="36000" tIns="36000" rIns="0" bIns="36000" numCol="1" rtlCol="0" anchor="ctr" anchorCtr="0" compatLnSpc="1">
                <a:prstTxWarp prst="textNoShape">
                  <a:avLst/>
                </a:prstTxWarp>
              </a:bodyPr>
              <a:lstStyle/>
              <a:p>
                <a:pPr algn="ctr"/>
                <a:r>
                  <a:rPr kumimoji="0" lang="ja-JP" altLang="en-US" sz="6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名寄せデータ管理</a:t>
                </a:r>
              </a:p>
            </p:txBody>
          </p:sp>
        </p:grpSp>
        <p:cxnSp>
          <p:nvCxnSpPr>
            <p:cNvPr id="3236" name="カギ線コネクタ 379">
              <a:extLst>
                <a:ext uri="{FF2B5EF4-FFF2-40B4-BE49-F238E27FC236}">
                  <a16:creationId xmlns:a16="http://schemas.microsoft.com/office/drawing/2014/main" id="{920758FE-8BD8-90EC-76D7-6DD08D929311}"/>
                </a:ext>
              </a:extLst>
            </p:cNvPr>
            <p:cNvCxnSpPr>
              <a:cxnSpLocks/>
              <a:stCxn id="3333" idx="0"/>
              <a:endCxn id="3256" idx="2"/>
            </p:cNvCxnSpPr>
            <p:nvPr/>
          </p:nvCxnSpPr>
          <p:spPr>
            <a:xfrm rot="5400000" flipH="1" flipV="1">
              <a:off x="8440272" y="719085"/>
              <a:ext cx="209108" cy="1463135"/>
            </a:xfrm>
            <a:prstGeom prst="bentConnector3">
              <a:avLst>
                <a:gd name="adj1" fmla="val 50000"/>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237" name="カギ線コネクタ 379">
              <a:extLst>
                <a:ext uri="{FF2B5EF4-FFF2-40B4-BE49-F238E27FC236}">
                  <a16:creationId xmlns:a16="http://schemas.microsoft.com/office/drawing/2014/main" id="{9A63D02B-185F-2901-98F5-925302F07D10}"/>
                </a:ext>
              </a:extLst>
            </p:cNvPr>
            <p:cNvCxnSpPr>
              <a:cxnSpLocks/>
              <a:stCxn id="3239" idx="0"/>
              <a:endCxn id="3254" idx="1"/>
            </p:cNvCxnSpPr>
            <p:nvPr/>
          </p:nvCxnSpPr>
          <p:spPr>
            <a:xfrm rot="5400000" flipH="1" flipV="1">
              <a:off x="10240920" y="1396773"/>
              <a:ext cx="635882" cy="414774"/>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238" name="カギ線コネクタ 379">
              <a:extLst>
                <a:ext uri="{FF2B5EF4-FFF2-40B4-BE49-F238E27FC236}">
                  <a16:creationId xmlns:a16="http://schemas.microsoft.com/office/drawing/2014/main" id="{33602E20-0F9B-593A-3248-FC2214008D59}"/>
                </a:ext>
              </a:extLst>
            </p:cNvPr>
            <p:cNvCxnSpPr>
              <a:cxnSpLocks/>
              <a:stCxn id="3239" idx="3"/>
              <a:endCxn id="3252" idx="1"/>
            </p:cNvCxnSpPr>
            <p:nvPr/>
          </p:nvCxnSpPr>
          <p:spPr>
            <a:xfrm flipV="1">
              <a:off x="10502629" y="1845363"/>
              <a:ext cx="263619" cy="150926"/>
            </a:xfrm>
            <a:prstGeom prst="bentConnector3">
              <a:avLst>
                <a:gd name="adj1" fmla="val 50000"/>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39" name="テキスト ボックス 3238">
              <a:extLst>
                <a:ext uri="{FF2B5EF4-FFF2-40B4-BE49-F238E27FC236}">
                  <a16:creationId xmlns:a16="http://schemas.microsoft.com/office/drawing/2014/main" id="{33585D53-F0A0-6B1C-834A-0361D57BD416}"/>
                </a:ext>
              </a:extLst>
            </p:cNvPr>
            <p:cNvSpPr txBox="1"/>
            <p:nvPr/>
          </p:nvSpPr>
          <p:spPr bwMode="auto">
            <a:xfrm>
              <a:off x="10200319" y="1922101"/>
              <a:ext cx="302310" cy="14837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endParaRPr lang="en-US" altLang="ja-JP" sz="400">
                <a:solidFill>
                  <a:srgbClr val="000000"/>
                </a:solidFill>
                <a:latin typeface="Meiryo UI"/>
                <a:ea typeface="Meiryo UI"/>
              </a:endParaRPr>
            </a:p>
          </p:txBody>
        </p:sp>
        <p:sp>
          <p:nvSpPr>
            <p:cNvPr id="3240" name="テキスト ボックス 3239">
              <a:extLst>
                <a:ext uri="{FF2B5EF4-FFF2-40B4-BE49-F238E27FC236}">
                  <a16:creationId xmlns:a16="http://schemas.microsoft.com/office/drawing/2014/main" id="{801C0B0D-6A63-88A1-1360-097B5C6B21A7}"/>
                </a:ext>
              </a:extLst>
            </p:cNvPr>
            <p:cNvSpPr txBox="1"/>
            <p:nvPr/>
          </p:nvSpPr>
          <p:spPr bwMode="auto">
            <a:xfrm>
              <a:off x="10200319" y="2247220"/>
              <a:ext cx="302310" cy="10607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endParaRPr lang="en-US" altLang="ja-JP" sz="400">
                <a:solidFill>
                  <a:srgbClr val="000000"/>
                </a:solidFill>
                <a:latin typeface="Meiryo UI"/>
                <a:ea typeface="Meiryo UI"/>
              </a:endParaRPr>
            </a:p>
          </p:txBody>
        </p:sp>
        <p:cxnSp>
          <p:nvCxnSpPr>
            <p:cNvPr id="3241" name="カギ線コネクタ 379">
              <a:extLst>
                <a:ext uri="{FF2B5EF4-FFF2-40B4-BE49-F238E27FC236}">
                  <a16:creationId xmlns:a16="http://schemas.microsoft.com/office/drawing/2014/main" id="{91193482-987E-A36C-739A-CC6639C3521D}"/>
                </a:ext>
              </a:extLst>
            </p:cNvPr>
            <p:cNvCxnSpPr>
              <a:cxnSpLocks/>
              <a:stCxn id="3240" idx="3"/>
              <a:endCxn id="3250" idx="1"/>
            </p:cNvCxnSpPr>
            <p:nvPr/>
          </p:nvCxnSpPr>
          <p:spPr>
            <a:xfrm>
              <a:off x="10502629" y="2300260"/>
              <a:ext cx="263619" cy="104246"/>
            </a:xfrm>
            <a:prstGeom prst="bentConnector3">
              <a:avLst>
                <a:gd name="adj1" fmla="val 50000"/>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42" name="テキスト ボックス 3241">
              <a:extLst>
                <a:ext uri="{FF2B5EF4-FFF2-40B4-BE49-F238E27FC236}">
                  <a16:creationId xmlns:a16="http://schemas.microsoft.com/office/drawing/2014/main" id="{532718A7-2712-9227-492E-4A740E0B7121}"/>
                </a:ext>
              </a:extLst>
            </p:cNvPr>
            <p:cNvSpPr txBox="1"/>
            <p:nvPr/>
          </p:nvSpPr>
          <p:spPr bwMode="auto">
            <a:xfrm>
              <a:off x="10299103" y="1130449"/>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r>
                <a:rPr lang="ja-JP" altLang="en-US" sz="400">
                  <a:solidFill>
                    <a:srgbClr val="000000"/>
                  </a:solidFill>
                  <a:latin typeface="Meiryo UI"/>
                  <a:ea typeface="Meiryo UI"/>
                </a:rPr>
                <a:t>初期督促データ</a:t>
              </a:r>
              <a:endParaRPr lang="en-US" altLang="ja-JP" sz="400">
                <a:solidFill>
                  <a:srgbClr val="000000"/>
                </a:solidFill>
                <a:latin typeface="Meiryo UI"/>
                <a:ea typeface="Meiryo UI"/>
              </a:endParaRPr>
            </a:p>
          </p:txBody>
        </p:sp>
        <p:sp>
          <p:nvSpPr>
            <p:cNvPr id="3243" name="テキスト ボックス 3242">
              <a:extLst>
                <a:ext uri="{FF2B5EF4-FFF2-40B4-BE49-F238E27FC236}">
                  <a16:creationId xmlns:a16="http://schemas.microsoft.com/office/drawing/2014/main" id="{C23C7A71-24D1-791C-E08D-371D7457E76B}"/>
                </a:ext>
              </a:extLst>
            </p:cNvPr>
            <p:cNvSpPr txBox="1"/>
            <p:nvPr/>
          </p:nvSpPr>
          <p:spPr bwMode="auto">
            <a:xfrm>
              <a:off x="10497819" y="210416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defRPr/>
              </a:pPr>
              <a:r>
                <a:rPr lang="ja-JP" altLang="en-US" sz="400">
                  <a:solidFill>
                    <a:srgbClr val="000000"/>
                  </a:solidFill>
                  <a:latin typeface="Meiryo UI"/>
                  <a:ea typeface="Meiryo UI"/>
                </a:rPr>
                <a:t>パートナー</a:t>
              </a:r>
              <a:endParaRPr lang="en-US" altLang="ja-JP" sz="400">
                <a:solidFill>
                  <a:srgbClr val="000000"/>
                </a:solidFill>
                <a:latin typeface="Meiryo UI"/>
                <a:ea typeface="Meiryo UI"/>
              </a:endParaRPr>
            </a:p>
            <a:p>
              <a:pPr>
                <a:defRPr/>
              </a:pPr>
              <a:r>
                <a:rPr lang="ja-JP" altLang="en-US" sz="400">
                  <a:solidFill>
                    <a:srgbClr val="000000"/>
                  </a:solidFill>
                  <a:latin typeface="Meiryo UI"/>
                  <a:ea typeface="Meiryo UI"/>
                </a:rPr>
                <a:t>マスタ等</a:t>
              </a:r>
              <a:endParaRPr lang="en-US" altLang="ja-JP" sz="400">
                <a:solidFill>
                  <a:srgbClr val="000000"/>
                </a:solidFill>
                <a:latin typeface="Meiryo UI"/>
                <a:ea typeface="Meiryo UI"/>
              </a:endParaRPr>
            </a:p>
          </p:txBody>
        </p:sp>
        <p:sp>
          <p:nvSpPr>
            <p:cNvPr id="3244" name="テキスト ボックス 3243">
              <a:extLst>
                <a:ext uri="{FF2B5EF4-FFF2-40B4-BE49-F238E27FC236}">
                  <a16:creationId xmlns:a16="http://schemas.microsoft.com/office/drawing/2014/main" id="{2CF68E2A-07E7-C4A6-EA27-AD45F10DF9A3}"/>
                </a:ext>
              </a:extLst>
            </p:cNvPr>
            <p:cNvSpPr txBox="1"/>
            <p:nvPr/>
          </p:nvSpPr>
          <p:spPr bwMode="auto">
            <a:xfrm>
              <a:off x="10434202" y="165700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defRPr/>
              </a:pPr>
              <a:r>
                <a:rPr lang="ja-JP" altLang="en-US" sz="400">
                  <a:solidFill>
                    <a:srgbClr val="000000"/>
                  </a:solidFill>
                  <a:latin typeface="Meiryo UI"/>
                  <a:ea typeface="Meiryo UI"/>
                </a:rPr>
                <a:t>支払予実</a:t>
              </a:r>
              <a:br>
                <a:rPr lang="en-US" altLang="ja-JP" sz="400">
                  <a:solidFill>
                    <a:srgbClr val="000000"/>
                  </a:solidFill>
                  <a:latin typeface="Meiryo UI"/>
                  <a:ea typeface="Meiryo UI"/>
                </a:rPr>
              </a:br>
              <a:r>
                <a:rPr lang="ja-JP" altLang="en-US" sz="400">
                  <a:solidFill>
                    <a:srgbClr val="000000"/>
                  </a:solidFill>
                  <a:latin typeface="Meiryo UI"/>
                  <a:ea typeface="Meiryo UI"/>
                </a:rPr>
                <a:t>データ等</a:t>
              </a:r>
              <a:endParaRPr lang="en-US" altLang="ja-JP" sz="400">
                <a:solidFill>
                  <a:srgbClr val="000000"/>
                </a:solidFill>
                <a:latin typeface="Meiryo UI"/>
                <a:ea typeface="Meiryo UI"/>
              </a:endParaRPr>
            </a:p>
          </p:txBody>
        </p:sp>
        <p:grpSp>
          <p:nvGrpSpPr>
            <p:cNvPr id="3245" name="グループ化 3244">
              <a:extLst>
                <a:ext uri="{FF2B5EF4-FFF2-40B4-BE49-F238E27FC236}">
                  <a16:creationId xmlns:a16="http://schemas.microsoft.com/office/drawing/2014/main" id="{F3C4FD01-24A3-AACE-E79C-50C58E2B2134}"/>
                </a:ext>
              </a:extLst>
            </p:cNvPr>
            <p:cNvGrpSpPr/>
            <p:nvPr/>
          </p:nvGrpSpPr>
          <p:grpSpPr>
            <a:xfrm>
              <a:off x="7378374" y="1179582"/>
              <a:ext cx="173703" cy="381173"/>
              <a:chOff x="7378374" y="1194822"/>
              <a:chExt cx="173703" cy="381173"/>
            </a:xfrm>
          </p:grpSpPr>
          <p:sp>
            <p:nvSpPr>
              <p:cNvPr id="3248" name="楕円 3247">
                <a:extLst>
                  <a:ext uri="{FF2B5EF4-FFF2-40B4-BE49-F238E27FC236}">
                    <a16:creationId xmlns:a16="http://schemas.microsoft.com/office/drawing/2014/main" id="{A24537F7-B315-4C2A-E1B9-260EB05606EC}"/>
                  </a:ext>
                </a:extLst>
              </p:cNvPr>
              <p:cNvSpPr/>
              <p:nvPr/>
            </p:nvSpPr>
            <p:spPr>
              <a:xfrm>
                <a:off x="7378374" y="1194822"/>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L</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cxnSp>
            <p:nvCxnSpPr>
              <p:cNvPr id="3249" name="直線矢印コネクタ 3248">
                <a:extLst>
                  <a:ext uri="{FF2B5EF4-FFF2-40B4-BE49-F238E27FC236}">
                    <a16:creationId xmlns:a16="http://schemas.microsoft.com/office/drawing/2014/main" id="{9A3FC6D8-239A-9A42-1D04-EC81B4202F0A}"/>
                  </a:ext>
                </a:extLst>
              </p:cNvPr>
              <p:cNvCxnSpPr>
                <a:cxnSpLocks/>
              </p:cNvCxnSpPr>
              <p:nvPr/>
            </p:nvCxnSpPr>
            <p:spPr>
              <a:xfrm>
                <a:off x="7465225" y="1343582"/>
                <a:ext cx="0" cy="232413"/>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grpSp>
        <p:cxnSp>
          <p:nvCxnSpPr>
            <p:cNvPr id="3246" name="カギ線コネクタ 379">
              <a:extLst>
                <a:ext uri="{FF2B5EF4-FFF2-40B4-BE49-F238E27FC236}">
                  <a16:creationId xmlns:a16="http://schemas.microsoft.com/office/drawing/2014/main" id="{B793DA4E-1C40-B023-654A-4BCED3F4A0C3}"/>
                </a:ext>
              </a:extLst>
            </p:cNvPr>
            <p:cNvCxnSpPr>
              <a:cxnSpLocks/>
              <a:stCxn id="3250" idx="2"/>
              <a:endCxn id="2302" idx="0"/>
            </p:cNvCxnSpPr>
            <p:nvPr/>
          </p:nvCxnSpPr>
          <p:spPr>
            <a:xfrm rot="5400000">
              <a:off x="8912888" y="546093"/>
              <a:ext cx="352174" cy="4365769"/>
            </a:xfrm>
            <a:prstGeom prst="bentConnector3">
              <a:avLst>
                <a:gd name="adj1" fmla="val 43508"/>
              </a:avLst>
            </a:prstGeom>
            <a:solidFill>
              <a:srgbClr val="00CC99"/>
            </a:solidFill>
            <a:ln w="9525" cap="flat" cmpd="sng" algn="ctr">
              <a:solidFill>
                <a:srgbClr val="595959"/>
              </a:solidFill>
              <a:prstDash val="solid"/>
              <a:round/>
              <a:headEnd type="none" w="med" len="med"/>
              <a:tailEnd type="triangle"/>
            </a:ln>
            <a:effectLst/>
          </p:spPr>
        </p:cxnSp>
        <p:sp>
          <p:nvSpPr>
            <p:cNvPr id="3247" name="テキスト ボックス 3246">
              <a:extLst>
                <a:ext uri="{FF2B5EF4-FFF2-40B4-BE49-F238E27FC236}">
                  <a16:creationId xmlns:a16="http://schemas.microsoft.com/office/drawing/2014/main" id="{990811AB-C939-5C4B-4F1E-13EBAF2BFB4E}"/>
                </a:ext>
              </a:extLst>
            </p:cNvPr>
            <p:cNvSpPr txBox="1"/>
            <p:nvPr/>
          </p:nvSpPr>
          <p:spPr bwMode="auto">
            <a:xfrm>
              <a:off x="10412099" y="2557581"/>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パートナーマスタ更新データ</a:t>
              </a:r>
              <a:endParaRPr lang="en-US" altLang="ja-JP" sz="400">
                <a:solidFill>
                  <a:srgbClr val="000000"/>
                </a:solidFill>
                <a:latin typeface="Meiryo UI"/>
                <a:ea typeface="Meiryo UI"/>
              </a:endParaRPr>
            </a:p>
          </p:txBody>
        </p:sp>
      </p:grpSp>
      <p:sp>
        <p:nvSpPr>
          <p:cNvPr id="3375" name="正方形/長方形 3374">
            <a:extLst>
              <a:ext uri="{FF2B5EF4-FFF2-40B4-BE49-F238E27FC236}">
                <a16:creationId xmlns:a16="http://schemas.microsoft.com/office/drawing/2014/main" id="{973EF112-753D-176D-8A2D-98D29A0903B0}"/>
              </a:ext>
            </a:extLst>
          </p:cNvPr>
          <p:cNvSpPr/>
          <p:nvPr/>
        </p:nvSpPr>
        <p:spPr bwMode="auto">
          <a:xfrm flipH="1" flipV="1">
            <a:off x="5803709" y="2879888"/>
            <a:ext cx="2751303" cy="2945180"/>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76" name="正方形/長方形 3375">
            <a:extLst>
              <a:ext uri="{FF2B5EF4-FFF2-40B4-BE49-F238E27FC236}">
                <a16:creationId xmlns:a16="http://schemas.microsoft.com/office/drawing/2014/main" id="{43B1AC7D-D735-3625-1E43-CFB2CCBF1339}"/>
              </a:ext>
            </a:extLst>
          </p:cNvPr>
          <p:cNvSpPr/>
          <p:nvPr/>
        </p:nvSpPr>
        <p:spPr bwMode="auto">
          <a:xfrm flipH="1" flipV="1">
            <a:off x="8714779" y="2879888"/>
            <a:ext cx="2546849" cy="289124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77" name="正方形/長方形 3376">
            <a:extLst>
              <a:ext uri="{FF2B5EF4-FFF2-40B4-BE49-F238E27FC236}">
                <a16:creationId xmlns:a16="http://schemas.microsoft.com/office/drawing/2014/main" id="{9DC664AB-C2E8-B5B1-93A5-49943601B984}"/>
              </a:ext>
            </a:extLst>
          </p:cNvPr>
          <p:cNvSpPr/>
          <p:nvPr/>
        </p:nvSpPr>
        <p:spPr bwMode="auto">
          <a:xfrm flipH="1" flipV="1">
            <a:off x="1841329" y="3645353"/>
            <a:ext cx="2357438" cy="4047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78" name="正方形/長方形 3377">
            <a:extLst>
              <a:ext uri="{FF2B5EF4-FFF2-40B4-BE49-F238E27FC236}">
                <a16:creationId xmlns:a16="http://schemas.microsoft.com/office/drawing/2014/main" id="{7D238E80-E576-98C5-720B-2195376B2637}"/>
              </a:ext>
            </a:extLst>
          </p:cNvPr>
          <p:cNvSpPr/>
          <p:nvPr/>
        </p:nvSpPr>
        <p:spPr bwMode="auto">
          <a:xfrm flipH="1" flipV="1">
            <a:off x="1353822" y="4388807"/>
            <a:ext cx="2848484" cy="29689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79" name="正方形/長方形 3378">
            <a:extLst>
              <a:ext uri="{FF2B5EF4-FFF2-40B4-BE49-F238E27FC236}">
                <a16:creationId xmlns:a16="http://schemas.microsoft.com/office/drawing/2014/main" id="{F63172B9-91BB-19AA-0714-A64A7798DCC3}"/>
              </a:ext>
            </a:extLst>
          </p:cNvPr>
          <p:cNvSpPr/>
          <p:nvPr/>
        </p:nvSpPr>
        <p:spPr bwMode="auto">
          <a:xfrm flipH="1" flipV="1">
            <a:off x="1353822" y="4801262"/>
            <a:ext cx="2848484" cy="1756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80" name="正方形/長方形 3379">
            <a:extLst>
              <a:ext uri="{FF2B5EF4-FFF2-40B4-BE49-F238E27FC236}">
                <a16:creationId xmlns:a16="http://schemas.microsoft.com/office/drawing/2014/main" id="{895C7330-9FD4-308B-A4E3-9926F285DC4A}"/>
              </a:ext>
            </a:extLst>
          </p:cNvPr>
          <p:cNvSpPr/>
          <p:nvPr/>
        </p:nvSpPr>
        <p:spPr bwMode="auto">
          <a:xfrm flipH="1" flipV="1">
            <a:off x="4714448" y="4080805"/>
            <a:ext cx="305679" cy="5465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81" name="正方形/長方形 3380">
            <a:extLst>
              <a:ext uri="{FF2B5EF4-FFF2-40B4-BE49-F238E27FC236}">
                <a16:creationId xmlns:a16="http://schemas.microsoft.com/office/drawing/2014/main" id="{F53636A2-E13D-E696-7237-EEDA75FF5716}"/>
              </a:ext>
            </a:extLst>
          </p:cNvPr>
          <p:cNvSpPr/>
          <p:nvPr/>
        </p:nvSpPr>
        <p:spPr bwMode="auto">
          <a:xfrm flipH="1" flipV="1">
            <a:off x="10351909" y="1317904"/>
            <a:ext cx="938252" cy="2761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82" name="正方形/長方形 3381">
            <a:extLst>
              <a:ext uri="{FF2B5EF4-FFF2-40B4-BE49-F238E27FC236}">
                <a16:creationId xmlns:a16="http://schemas.microsoft.com/office/drawing/2014/main" id="{B714AD76-D0BA-98BE-E630-7A94CF1DA1CF}"/>
              </a:ext>
            </a:extLst>
          </p:cNvPr>
          <p:cNvSpPr/>
          <p:nvPr/>
        </p:nvSpPr>
        <p:spPr bwMode="auto">
          <a:xfrm flipH="1" flipV="1">
            <a:off x="10351909" y="1852349"/>
            <a:ext cx="938252" cy="2761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83" name="正方形/長方形 3382">
            <a:extLst>
              <a:ext uri="{FF2B5EF4-FFF2-40B4-BE49-F238E27FC236}">
                <a16:creationId xmlns:a16="http://schemas.microsoft.com/office/drawing/2014/main" id="{BE87D257-2DA3-F753-5E85-FC7507F1DA8F}"/>
              </a:ext>
            </a:extLst>
          </p:cNvPr>
          <p:cNvSpPr/>
          <p:nvPr/>
        </p:nvSpPr>
        <p:spPr bwMode="auto">
          <a:xfrm flipH="1" flipV="1">
            <a:off x="10351909" y="2393712"/>
            <a:ext cx="938252" cy="2761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84" name="正方形/長方形 3383">
            <a:extLst>
              <a:ext uri="{FF2B5EF4-FFF2-40B4-BE49-F238E27FC236}">
                <a16:creationId xmlns:a16="http://schemas.microsoft.com/office/drawing/2014/main" id="{7D521E35-AABF-EFBA-0BF3-67D601E639EE}"/>
              </a:ext>
            </a:extLst>
          </p:cNvPr>
          <p:cNvSpPr/>
          <p:nvPr/>
        </p:nvSpPr>
        <p:spPr bwMode="auto">
          <a:xfrm flipH="1" flipV="1">
            <a:off x="8918966" y="5866115"/>
            <a:ext cx="1060691" cy="2083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8" name="スライド番号プレースホルダー 3">
            <a:extLst>
              <a:ext uri="{FF2B5EF4-FFF2-40B4-BE49-F238E27FC236}">
                <a16:creationId xmlns:a16="http://schemas.microsoft.com/office/drawing/2014/main" id="{B5F240B3-F4A2-6270-C0B9-BD1755E4B0D9}"/>
              </a:ext>
            </a:extLst>
          </p:cNvPr>
          <p:cNvSpPr txBox="1">
            <a:spLocks/>
          </p:cNvSpPr>
          <p:nvPr/>
        </p:nvSpPr>
        <p:spPr bwMode="gray">
          <a:xfrm>
            <a:off x="4804833" y="6627168"/>
            <a:ext cx="2540000" cy="230832"/>
          </a:xfrm>
          <a:prstGeom prst="rect">
            <a:avLst/>
          </a:prstGeom>
          <a:noFill/>
          <a:ln w="9525">
            <a:noFill/>
            <a:miter lim="800000"/>
            <a:headEnd/>
            <a:tailEnd/>
          </a:ln>
        </p:spPr>
        <p:txBody>
          <a:bodyPr vert="horz" wrap="none" lIns="72000" tIns="45720" rIns="73152" bIns="45720" numCol="1" anchor="ctr" anchorCtr="0" compatLnSpc="1">
            <a:prstTxWarp prst="textNoShape">
              <a:avLst/>
            </a:prstTxWarp>
            <a:noAutofit/>
          </a:bodyPr>
          <a:lstStyle>
            <a:lvl1pPr marL="0" indent="0" algn="l" defTabSz="879475" rtl="0" eaLnBrk="1" fontAlgn="base" hangingPunct="1">
              <a:lnSpc>
                <a:spcPct val="100000"/>
              </a:lnSpc>
              <a:spcBef>
                <a:spcPts val="0"/>
              </a:spcBef>
              <a:spcAft>
                <a:spcPct val="0"/>
              </a:spcAft>
              <a:buClr>
                <a:schemeClr val="accent2"/>
              </a:buClr>
              <a:buFont typeface="Wingdings" pitchFamily="2" charset="2"/>
              <a:buNone/>
              <a:defRPr kumimoji="1" sz="2800" b="1" i="0" baseline="0">
                <a:solidFill>
                  <a:schemeClr val="tx1"/>
                </a:solidFill>
                <a:latin typeface="+mj-lt"/>
                <a:ea typeface="+mj-ea"/>
                <a:cs typeface="Arial"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algn="ctr" defTabSz="914400">
              <a:spcBef>
                <a:spcPct val="0"/>
              </a:spcBef>
              <a:buClrTx/>
              <a:buFontTx/>
              <a:buNone/>
              <a:defRPr/>
            </a:pPr>
            <a:fld id="{EB72A429-DDC7-41CC-AC2C-79132BE59620}" type="slidenum">
              <a:rPr kumimoji="0" lang="en-US" altLang="ja-JP" sz="1100" b="0" kern="1200" smtClean="0">
                <a:solidFill>
                  <a:srgbClr val="808080">
                    <a:lumMod val="75000"/>
                  </a:srgbClr>
                </a:solidFill>
                <a:latin typeface="Meiryo UI" panose="020B0604030504040204" pitchFamily="50" charset="-128"/>
                <a:ea typeface="Meiryo UI" panose="020B0604030504040204" pitchFamily="50" charset="-128"/>
              </a:rPr>
              <a:pPr algn="ctr" defTabSz="914400">
                <a:spcBef>
                  <a:spcPct val="0"/>
                </a:spcBef>
                <a:buClrTx/>
                <a:buFontTx/>
                <a:buNone/>
                <a:defRPr/>
              </a:pPr>
              <a:t>17</a:t>
            </a:fld>
            <a:endParaRPr kumimoji="0" lang="en-US" altLang="ja-JP" sz="1100" b="0" kern="1200">
              <a:solidFill>
                <a:srgbClr val="808080">
                  <a:lumMod val="75000"/>
                </a:srgb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931183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スライド番号プレースホルダー 3">
            <a:extLst>
              <a:ext uri="{FF2B5EF4-FFF2-40B4-BE49-F238E27FC236}">
                <a16:creationId xmlns:a16="http://schemas.microsoft.com/office/drawing/2014/main" id="{ACD7092E-9CE2-4F49-A5C0-CEA50C5BA5AE}"/>
              </a:ext>
            </a:extLst>
          </p:cNvPr>
          <p:cNvSpPr>
            <a:spLocks noGrp="1"/>
          </p:cNvSpPr>
          <p:nvPr>
            <p:ph type="sldNum" sz="quarter" idx="10"/>
          </p:nvPr>
        </p:nvSpPr>
        <p:spPr>
          <a:xfrm>
            <a:off x="4804833" y="6627168"/>
            <a:ext cx="2540000" cy="230832"/>
          </a:xfrm>
        </p:spPr>
        <p:txBody>
          <a:bodyPr/>
          <a:lstStyle/>
          <a:p>
            <a:pPr>
              <a:defRPr/>
            </a:pPr>
            <a:fld id="{EB72A429-DDC7-41CC-AC2C-79132BE59620}" type="slidenum">
              <a:rPr lang="en-US" altLang="ja-JP" smtClean="0"/>
              <a:pPr>
                <a:defRPr/>
              </a:pPr>
              <a:t>18</a:t>
            </a:fld>
            <a:endParaRPr lang="en-US" altLang="ja-JP"/>
          </a:p>
        </p:txBody>
      </p:sp>
      <p:sp>
        <p:nvSpPr>
          <p:cNvPr id="6" name="タイトル 2">
            <a:extLst>
              <a:ext uri="{FF2B5EF4-FFF2-40B4-BE49-F238E27FC236}">
                <a16:creationId xmlns:a16="http://schemas.microsoft.com/office/drawing/2014/main" id="{168DA8ED-D318-9FB3-6F5F-C0C2401B513C}"/>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a:t>4</a:t>
            </a:r>
            <a:r>
              <a:rPr kumimoji="1" lang="en-US" altLang="ja-JP"/>
              <a:t>. QCDS</a:t>
            </a:r>
            <a:r>
              <a:rPr kumimoji="1" lang="ja-JP" altLang="en-US"/>
              <a:t>目標</a:t>
            </a:r>
          </a:p>
        </p:txBody>
      </p:sp>
      <p:sp>
        <p:nvSpPr>
          <p:cNvPr id="2" name="コンテンツ プレースホルダー 5">
            <a:extLst>
              <a:ext uri="{FF2B5EF4-FFF2-40B4-BE49-F238E27FC236}">
                <a16:creationId xmlns:a16="http://schemas.microsoft.com/office/drawing/2014/main" id="{F4276C7C-CD49-7EF5-FFF1-CA2663B2D07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a:t>本プロジェクトの</a:t>
            </a:r>
            <a:r>
              <a:rPr lang="en-US" altLang="ja-JP" sz="1600"/>
              <a:t>QCDS</a:t>
            </a:r>
            <a:r>
              <a:rPr lang="ja-JP" altLang="en-US" sz="1600"/>
              <a:t>の優先順位は、</a:t>
            </a:r>
            <a:r>
              <a:rPr lang="en-US" altLang="ja-JP" sz="1600"/>
              <a:t>Q &gt;D &gt;S</a:t>
            </a:r>
            <a:r>
              <a:rPr lang="ja-JP" altLang="en-US" sz="1600"/>
              <a:t> </a:t>
            </a:r>
            <a:r>
              <a:rPr lang="en-US" altLang="ja-JP" sz="1600"/>
              <a:t>=C </a:t>
            </a:r>
            <a:r>
              <a:rPr lang="ja-JP" altLang="en-US" sz="1600"/>
              <a:t>とする。</a:t>
            </a:r>
            <a:r>
              <a:rPr lang="en-US" altLang="ja-JP" sz="1600"/>
              <a:t>JKK</a:t>
            </a:r>
            <a:r>
              <a:rPr lang="ja-JP" altLang="en-US" sz="1600"/>
              <a:t>は全社対応となるため、品質</a:t>
            </a:r>
            <a:r>
              <a:rPr lang="en-US" altLang="ja-JP" sz="1600"/>
              <a:t>(Q)</a:t>
            </a:r>
            <a:r>
              <a:rPr lang="ja-JP" altLang="en-US" sz="1600"/>
              <a:t>、納期</a:t>
            </a:r>
            <a:r>
              <a:rPr lang="en-US" altLang="ja-JP" sz="1600"/>
              <a:t>(D)</a:t>
            </a:r>
            <a:r>
              <a:rPr lang="ja-JP" altLang="en-US" sz="1600"/>
              <a:t>を最優先で考慮し、</a:t>
            </a:r>
            <a:br>
              <a:rPr lang="en-US" altLang="ja-JP" sz="1600"/>
            </a:br>
            <a:r>
              <a:rPr lang="ja-JP" altLang="en-US" sz="1600"/>
              <a:t>スコープ調整やコスト変動の可能性を許容のうえ、プロジェクトを推進する</a:t>
            </a:r>
            <a:endParaRPr lang="en-US" altLang="ja-JP" sz="1600">
              <a:solidFill>
                <a:srgbClr val="000000">
                  <a:lumMod val="65000"/>
                  <a:lumOff val="35000"/>
                </a:srgbClr>
              </a:solidFill>
              <a:latin typeface="Meiryo UI"/>
              <a:cs typeface="Hiragino Kaku Gothic Pro W3" charset="-128"/>
            </a:endParaRPr>
          </a:p>
        </p:txBody>
      </p:sp>
      <p:grpSp>
        <p:nvGrpSpPr>
          <p:cNvPr id="47" name="グループ化 46">
            <a:extLst>
              <a:ext uri="{FF2B5EF4-FFF2-40B4-BE49-F238E27FC236}">
                <a16:creationId xmlns:a16="http://schemas.microsoft.com/office/drawing/2014/main" id="{34709C7D-35D0-6889-F821-245F45174A91}"/>
              </a:ext>
            </a:extLst>
          </p:cNvPr>
          <p:cNvGrpSpPr/>
          <p:nvPr/>
        </p:nvGrpSpPr>
        <p:grpSpPr>
          <a:xfrm>
            <a:off x="2633375" y="1565469"/>
            <a:ext cx="4140001" cy="4281752"/>
            <a:chOff x="2170834" y="1523524"/>
            <a:chExt cx="4140001" cy="4281752"/>
          </a:xfrm>
        </p:grpSpPr>
        <p:grpSp>
          <p:nvGrpSpPr>
            <p:cNvPr id="15" name="グループ化 14">
              <a:extLst>
                <a:ext uri="{FF2B5EF4-FFF2-40B4-BE49-F238E27FC236}">
                  <a16:creationId xmlns:a16="http://schemas.microsoft.com/office/drawing/2014/main" id="{F29E96CF-5FF4-023D-2D0F-E6611C95860F}"/>
                </a:ext>
              </a:extLst>
            </p:cNvPr>
            <p:cNvGrpSpPr/>
            <p:nvPr/>
          </p:nvGrpSpPr>
          <p:grpSpPr>
            <a:xfrm>
              <a:off x="2170834" y="1523524"/>
              <a:ext cx="4140000" cy="361887"/>
              <a:chOff x="6526999" y="1907059"/>
              <a:chExt cx="3600000" cy="361887"/>
            </a:xfrm>
          </p:grpSpPr>
          <p:sp>
            <p:nvSpPr>
              <p:cNvPr id="9" name="テキスト ボックス 8">
                <a:extLst>
                  <a:ext uri="{FF2B5EF4-FFF2-40B4-BE49-F238E27FC236}">
                    <a16:creationId xmlns:a16="http://schemas.microsoft.com/office/drawing/2014/main" id="{EECBA2DE-E8D4-DCE0-A13E-C7F86BA39824}"/>
                  </a:ext>
                </a:extLst>
              </p:cNvPr>
              <p:cNvSpPr txBox="1">
                <a:spLocks noChangeArrowheads="1"/>
              </p:cNvSpPr>
              <p:nvPr/>
            </p:nvSpPr>
            <p:spPr bwMode="auto">
              <a:xfrm>
                <a:off x="6526999" y="1907059"/>
                <a:ext cx="3600000"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4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目標説明</a:t>
                </a:r>
                <a:endParaRPr kumimoji="1" lang="en-US" altLang="ja-JP" sz="14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0" name="直線コネクタ 9">
                <a:extLst>
                  <a:ext uri="{FF2B5EF4-FFF2-40B4-BE49-F238E27FC236}">
                    <a16:creationId xmlns:a16="http://schemas.microsoft.com/office/drawing/2014/main" id="{2D5F3B21-6F39-EED0-B131-AB3343CB038E}"/>
                  </a:ext>
                </a:extLst>
              </p:cNvPr>
              <p:cNvCxnSpPr/>
              <p:nvPr/>
            </p:nvCxnSpPr>
            <p:spPr bwMode="auto">
              <a:xfrm>
                <a:off x="6526999" y="2263898"/>
                <a:ext cx="3600000"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38" name="テキスト ボックス 37">
              <a:extLst>
                <a:ext uri="{FF2B5EF4-FFF2-40B4-BE49-F238E27FC236}">
                  <a16:creationId xmlns:a16="http://schemas.microsoft.com/office/drawing/2014/main" id="{1638499B-E3FC-6735-7A53-EEDBBEFF0EFA}"/>
                </a:ext>
              </a:extLst>
            </p:cNvPr>
            <p:cNvSpPr txBox="1">
              <a:spLocks noChangeArrowheads="1"/>
            </p:cNvSpPr>
            <p:nvPr/>
          </p:nvSpPr>
          <p:spPr bwMode="auto">
            <a:xfrm>
              <a:off x="2170835" y="2022353"/>
              <a:ext cx="4140000" cy="743699"/>
            </a:xfrm>
            <a:prstGeom prst="rect">
              <a:avLst/>
            </a:prstGeom>
            <a:solidFill>
              <a:schemeClr val="accent6">
                <a:lumMod val="20000"/>
                <a:lumOff val="80000"/>
              </a:schemeClr>
            </a:solid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kumimoji="1" lang="ja-JP" altLang="en-US"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t>業務を止めないレベルの品質を確実に担保する</a:t>
              </a:r>
              <a:endParaRPr kumimoji="1" lang="en-US" altLang="ja-JP"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endParaRPr>
            </a:p>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kumimoji="1" lang="ja-JP" altLang="en-US"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t>毎月の経理業務・決算業務に影響を与える重大な</a:t>
              </a:r>
              <a:br>
                <a:rPr kumimoji="1" lang="en-US" altLang="ja-JP"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br>
              <a:r>
                <a:rPr kumimoji="1" lang="ja-JP" altLang="en-US"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t>障害を発生させない</a:t>
              </a:r>
              <a:endParaRPr kumimoji="1" lang="en-US" altLang="ja-JP"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endParaRPr>
            </a:p>
          </p:txBody>
        </p:sp>
        <p:sp>
          <p:nvSpPr>
            <p:cNvPr id="39" name="テキスト ボックス 38">
              <a:extLst>
                <a:ext uri="{FF2B5EF4-FFF2-40B4-BE49-F238E27FC236}">
                  <a16:creationId xmlns:a16="http://schemas.microsoft.com/office/drawing/2014/main" id="{E3EE5090-AC3E-5345-9757-338A5FED7662}"/>
                </a:ext>
              </a:extLst>
            </p:cNvPr>
            <p:cNvSpPr txBox="1">
              <a:spLocks noChangeArrowheads="1"/>
            </p:cNvSpPr>
            <p:nvPr/>
          </p:nvSpPr>
          <p:spPr bwMode="auto">
            <a:xfrm>
              <a:off x="2170835" y="3035427"/>
              <a:ext cx="4140000" cy="743699"/>
            </a:xfrm>
            <a:prstGeom prst="rect">
              <a:avLst/>
            </a:prstGeom>
            <a:solidFill>
              <a:schemeClr val="accent6">
                <a:lumMod val="20000"/>
                <a:lumOff val="80000"/>
              </a:schemeClr>
            </a:solidFill>
            <a:ln w="9525" cap="flat" cmpd="sng" algn="ctr">
              <a:solidFill>
                <a:schemeClr val="bg1">
                  <a:lumMod val="75000"/>
                </a:schemeClr>
              </a:solidFill>
              <a:prstDash val="solid"/>
              <a:round/>
              <a:headEnd type="none" w="med" len="med"/>
              <a:tailEnd type="none" w="med" len="med"/>
            </a:ln>
            <a:effectLst/>
          </p:spPr>
          <p:txBody>
            <a:bodyPr wrap="none" lIns="91440" tIns="45720" rIns="91440" bIns="45720"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lang="en-US" altLang="ja-JP" sz="1200" b="0">
                  <a:solidFill>
                    <a:srgbClr val="404040"/>
                  </a:solidFill>
                  <a:latin typeface="Meiryo UI"/>
                  <a:ea typeface="Meiryo UI"/>
                </a:rPr>
                <a:t>C/O</a:t>
              </a:r>
              <a:r>
                <a:rPr lang="ja-JP" altLang="en-US" sz="1200" b="0">
                  <a:solidFill>
                    <a:srgbClr val="404040"/>
                  </a:solidFill>
                  <a:latin typeface="Meiryo UI"/>
                  <a:ea typeface="Meiryo UI"/>
                </a:rPr>
                <a:t>スケジュールはJKK全体方針のため、</a:t>
              </a:r>
              <a:br>
                <a:rPr lang="en-US" altLang="ja-JP" sz="1200" b="0">
                  <a:solidFill>
                    <a:srgbClr val="404040"/>
                  </a:solidFill>
                </a:rPr>
              </a:br>
              <a:r>
                <a:rPr lang="ja-JP" altLang="en-US" sz="1200" b="0">
                  <a:solidFill>
                    <a:srgbClr val="404040"/>
                  </a:solidFill>
                  <a:latin typeface="Meiryo UI"/>
                  <a:ea typeface="Meiryo UI"/>
                </a:rPr>
                <a:t>全体スケジュールから遅れることのないように調整する</a:t>
              </a:r>
            </a:p>
          </p:txBody>
        </p:sp>
        <p:sp>
          <p:nvSpPr>
            <p:cNvPr id="41" name="テキスト ボックス 40">
              <a:extLst>
                <a:ext uri="{FF2B5EF4-FFF2-40B4-BE49-F238E27FC236}">
                  <a16:creationId xmlns:a16="http://schemas.microsoft.com/office/drawing/2014/main" id="{61EA7FD0-462B-4F71-8B88-E78525776A53}"/>
                </a:ext>
              </a:extLst>
            </p:cNvPr>
            <p:cNvSpPr txBox="1">
              <a:spLocks noChangeArrowheads="1"/>
            </p:cNvSpPr>
            <p:nvPr/>
          </p:nvSpPr>
          <p:spPr bwMode="auto">
            <a:xfrm>
              <a:off x="2170835" y="4048501"/>
              <a:ext cx="4140000" cy="743699"/>
            </a:xfrm>
            <a:prstGeom prst="rect">
              <a:avLst/>
            </a:prstGeom>
            <a:solidFill>
              <a:schemeClr val="accent6">
                <a:lumMod val="20000"/>
                <a:lumOff val="80000"/>
              </a:schemeClr>
            </a:solid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lang="en-US" altLang="ja-JP" sz="1200" b="0">
                  <a:solidFill>
                    <a:srgbClr val="404040"/>
                  </a:solidFill>
                </a:rPr>
                <a:t>Q</a:t>
              </a:r>
              <a:r>
                <a:rPr lang="ja-JP" altLang="en-US" sz="1200" b="0">
                  <a:solidFill>
                    <a:srgbClr val="404040"/>
                  </a:solidFill>
                </a:rPr>
                <a:t>と</a:t>
              </a:r>
              <a:r>
                <a:rPr lang="en-US" altLang="ja-JP" sz="1200" b="0">
                  <a:solidFill>
                    <a:srgbClr val="404040"/>
                  </a:solidFill>
                </a:rPr>
                <a:t>D</a:t>
              </a:r>
              <a:r>
                <a:rPr lang="ja-JP" altLang="en-US" sz="1200" b="0">
                  <a:solidFill>
                    <a:srgbClr val="404040"/>
                  </a:solidFill>
                </a:rPr>
                <a:t>を厳守するためにシステム開発が足枷になるようであれば、</a:t>
              </a:r>
              <a:br>
                <a:rPr lang="en-US" altLang="ja-JP" sz="1200" b="0">
                  <a:solidFill>
                    <a:srgbClr val="404040"/>
                  </a:solidFill>
                </a:rPr>
              </a:br>
              <a:r>
                <a:rPr lang="ja-JP" altLang="en-US" sz="1200" b="0">
                  <a:solidFill>
                    <a:srgbClr val="404040"/>
                  </a:solidFill>
                </a:rPr>
                <a:t>スコープ調整や一時的な手運用を実施を許容する</a:t>
              </a:r>
            </a:p>
          </p:txBody>
        </p:sp>
        <p:sp>
          <p:nvSpPr>
            <p:cNvPr id="43" name="テキスト ボックス 42">
              <a:extLst>
                <a:ext uri="{FF2B5EF4-FFF2-40B4-BE49-F238E27FC236}">
                  <a16:creationId xmlns:a16="http://schemas.microsoft.com/office/drawing/2014/main" id="{707D4655-1802-987E-2BD8-02E07207E8B5}"/>
                </a:ext>
              </a:extLst>
            </p:cNvPr>
            <p:cNvSpPr txBox="1">
              <a:spLocks noChangeArrowheads="1"/>
            </p:cNvSpPr>
            <p:nvPr/>
          </p:nvSpPr>
          <p:spPr bwMode="auto">
            <a:xfrm>
              <a:off x="2170835" y="5061577"/>
              <a:ext cx="4140000" cy="743699"/>
            </a:xfrm>
            <a:prstGeom prst="rect">
              <a:avLst/>
            </a:prstGeom>
            <a:solidFill>
              <a:schemeClr val="accent6">
                <a:lumMod val="20000"/>
                <a:lumOff val="80000"/>
              </a:schemeClr>
            </a:solid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lang="ja-JP" altLang="en-US" sz="1200" b="0">
                  <a:solidFill>
                    <a:srgbClr val="404040"/>
                  </a:solidFill>
                </a:rPr>
                <a:t>問題、リスク発生時は、品質・納期を優先し、</a:t>
              </a:r>
              <a:br>
                <a:rPr lang="en-US" altLang="ja-JP" sz="1200" b="0">
                  <a:solidFill>
                    <a:srgbClr val="404040"/>
                  </a:solidFill>
                </a:rPr>
              </a:br>
              <a:r>
                <a:rPr lang="ja-JP" altLang="en-US" sz="1200" b="0">
                  <a:solidFill>
                    <a:srgbClr val="404040"/>
                  </a:solidFill>
                </a:rPr>
                <a:t>コスト変動を許容する</a:t>
              </a:r>
            </a:p>
          </p:txBody>
        </p:sp>
      </p:grpSp>
      <p:grpSp>
        <p:nvGrpSpPr>
          <p:cNvPr id="46" name="グループ化 45">
            <a:extLst>
              <a:ext uri="{FF2B5EF4-FFF2-40B4-BE49-F238E27FC236}">
                <a16:creationId xmlns:a16="http://schemas.microsoft.com/office/drawing/2014/main" id="{2EF8FC4E-5DE1-E4F7-B321-ED98C181FBA2}"/>
              </a:ext>
            </a:extLst>
          </p:cNvPr>
          <p:cNvGrpSpPr/>
          <p:nvPr/>
        </p:nvGrpSpPr>
        <p:grpSpPr>
          <a:xfrm>
            <a:off x="7013196" y="1565469"/>
            <a:ext cx="4140001" cy="4281752"/>
            <a:chOff x="6904139" y="1523524"/>
            <a:chExt cx="4140001" cy="4281752"/>
          </a:xfrm>
        </p:grpSpPr>
        <p:grpSp>
          <p:nvGrpSpPr>
            <p:cNvPr id="17" name="グループ化 16">
              <a:extLst>
                <a:ext uri="{FF2B5EF4-FFF2-40B4-BE49-F238E27FC236}">
                  <a16:creationId xmlns:a16="http://schemas.microsoft.com/office/drawing/2014/main" id="{0E89FE6D-14AF-DCE2-8E93-F6B273F32739}"/>
                </a:ext>
              </a:extLst>
            </p:cNvPr>
            <p:cNvGrpSpPr/>
            <p:nvPr/>
          </p:nvGrpSpPr>
          <p:grpSpPr>
            <a:xfrm>
              <a:off x="6904139" y="1523524"/>
              <a:ext cx="4140000" cy="361887"/>
              <a:chOff x="6526999" y="1907059"/>
              <a:chExt cx="3600000" cy="361887"/>
            </a:xfrm>
          </p:grpSpPr>
          <p:sp>
            <p:nvSpPr>
              <p:cNvPr id="18" name="テキスト ボックス 17">
                <a:extLst>
                  <a:ext uri="{FF2B5EF4-FFF2-40B4-BE49-F238E27FC236}">
                    <a16:creationId xmlns:a16="http://schemas.microsoft.com/office/drawing/2014/main" id="{E90DEED6-661E-D998-38CB-27CC96D35F14}"/>
                  </a:ext>
                </a:extLst>
              </p:cNvPr>
              <p:cNvSpPr txBox="1">
                <a:spLocks noChangeArrowheads="1"/>
              </p:cNvSpPr>
              <p:nvPr/>
            </p:nvSpPr>
            <p:spPr bwMode="auto">
              <a:xfrm>
                <a:off x="6526999" y="1907059"/>
                <a:ext cx="3600000"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4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補足</a:t>
                </a:r>
                <a:endParaRPr kumimoji="1" lang="en-US" altLang="ja-JP" sz="14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20" name="直線コネクタ 19">
                <a:extLst>
                  <a:ext uri="{FF2B5EF4-FFF2-40B4-BE49-F238E27FC236}">
                    <a16:creationId xmlns:a16="http://schemas.microsoft.com/office/drawing/2014/main" id="{322668D7-95E5-819B-F922-D25DA7871243}"/>
                  </a:ext>
                </a:extLst>
              </p:cNvPr>
              <p:cNvCxnSpPr/>
              <p:nvPr/>
            </p:nvCxnSpPr>
            <p:spPr bwMode="auto">
              <a:xfrm>
                <a:off x="6526999" y="2263898"/>
                <a:ext cx="3600000"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22" name="テキスト ボックス 21">
              <a:extLst>
                <a:ext uri="{FF2B5EF4-FFF2-40B4-BE49-F238E27FC236}">
                  <a16:creationId xmlns:a16="http://schemas.microsoft.com/office/drawing/2014/main" id="{66176EDD-9CA0-DA7A-B8C9-66A5BAD14DC8}"/>
                </a:ext>
              </a:extLst>
            </p:cNvPr>
            <p:cNvSpPr txBox="1">
              <a:spLocks noChangeArrowheads="1"/>
            </p:cNvSpPr>
            <p:nvPr/>
          </p:nvSpPr>
          <p:spPr bwMode="auto">
            <a:xfrm>
              <a:off x="6904140" y="2022353"/>
              <a:ext cx="4140000" cy="743699"/>
            </a:xfrm>
            <a:prstGeom prst="rect">
              <a:avLst/>
            </a:prstGeom>
            <a:no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kumimoji="1" lang="ja-JP" altLang="en-US"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t>影響が限定的でリリース後でも対応可能と判断できる障害は</a:t>
              </a:r>
              <a:br>
                <a:rPr kumimoji="1" lang="en-US" altLang="ja-JP"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br>
              <a:r>
                <a:rPr kumimoji="1" lang="ja-JP" altLang="en-US"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t>リリース後対応として納期を優先する</a:t>
              </a:r>
              <a:endParaRPr kumimoji="1" lang="en-US" altLang="ja-JP"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endParaRPr>
            </a:p>
          </p:txBody>
        </p:sp>
        <p:sp>
          <p:nvSpPr>
            <p:cNvPr id="23" name="テキスト ボックス 22">
              <a:extLst>
                <a:ext uri="{FF2B5EF4-FFF2-40B4-BE49-F238E27FC236}">
                  <a16:creationId xmlns:a16="http://schemas.microsoft.com/office/drawing/2014/main" id="{B526F048-3492-9611-7DA7-F833C6AC38EF}"/>
                </a:ext>
              </a:extLst>
            </p:cNvPr>
            <p:cNvSpPr txBox="1">
              <a:spLocks noChangeArrowheads="1"/>
            </p:cNvSpPr>
            <p:nvPr/>
          </p:nvSpPr>
          <p:spPr bwMode="auto">
            <a:xfrm>
              <a:off x="6904140" y="3035427"/>
              <a:ext cx="4140000" cy="743699"/>
            </a:xfrm>
            <a:prstGeom prst="rect">
              <a:avLst/>
            </a:prstGeom>
            <a:no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lang="ja-JP" altLang="en-US" sz="1200" b="0">
                  <a:solidFill>
                    <a:srgbClr val="404040"/>
                  </a:solidFill>
                </a:rPr>
                <a:t>システム対応がスケジュール上困難、かつ運用で回避できる</a:t>
              </a:r>
              <a:br>
                <a:rPr lang="en-US" altLang="ja-JP" sz="1200" b="0">
                  <a:solidFill>
                    <a:srgbClr val="404040"/>
                  </a:solidFill>
                </a:rPr>
              </a:br>
              <a:r>
                <a:rPr lang="ja-JP" altLang="en-US" sz="1200" b="0">
                  <a:solidFill>
                    <a:srgbClr val="404040"/>
                  </a:solidFill>
                </a:rPr>
                <a:t>ものはコストを追加してでも運用回避し、納期必達とする</a:t>
              </a:r>
            </a:p>
          </p:txBody>
        </p:sp>
        <p:sp>
          <p:nvSpPr>
            <p:cNvPr id="24" name="テキスト ボックス 23">
              <a:extLst>
                <a:ext uri="{FF2B5EF4-FFF2-40B4-BE49-F238E27FC236}">
                  <a16:creationId xmlns:a16="http://schemas.microsoft.com/office/drawing/2014/main" id="{11647065-A018-1B45-E593-E3C14FA20217}"/>
                </a:ext>
              </a:extLst>
            </p:cNvPr>
            <p:cNvSpPr txBox="1">
              <a:spLocks noChangeArrowheads="1"/>
            </p:cNvSpPr>
            <p:nvPr/>
          </p:nvSpPr>
          <p:spPr bwMode="auto">
            <a:xfrm>
              <a:off x="6904140" y="4048501"/>
              <a:ext cx="4140000" cy="743699"/>
            </a:xfrm>
            <a:prstGeom prst="rect">
              <a:avLst/>
            </a:prstGeom>
            <a:no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lang="ja-JP" altLang="en-US" sz="1200" b="0">
                  <a:solidFill>
                    <a:srgbClr val="404040"/>
                  </a:solidFill>
                </a:rPr>
                <a:t>システム改修を無理に間に合わせず、運用で回避することも</a:t>
              </a:r>
              <a:br>
                <a:rPr lang="en-US" altLang="ja-JP" sz="1200" b="0">
                  <a:solidFill>
                    <a:srgbClr val="404040"/>
                  </a:solidFill>
                </a:rPr>
              </a:br>
              <a:r>
                <a:rPr lang="ja-JP" altLang="en-US" sz="1200" b="0">
                  <a:solidFill>
                    <a:srgbClr val="404040"/>
                  </a:solidFill>
                </a:rPr>
                <a:t>検討しながら、都度スコープ調整する</a:t>
              </a:r>
              <a:br>
                <a:rPr lang="en-US" altLang="ja-JP" sz="1200" b="0">
                  <a:solidFill>
                    <a:srgbClr val="404040"/>
                  </a:solidFill>
                </a:rPr>
              </a:br>
              <a:r>
                <a:rPr lang="en-US" altLang="ja-JP" sz="1200" b="0">
                  <a:solidFill>
                    <a:srgbClr val="404040"/>
                  </a:solidFill>
                </a:rPr>
                <a:t>※</a:t>
              </a:r>
              <a:r>
                <a:rPr lang="ja-JP" altLang="en-US" sz="1200" b="0">
                  <a:solidFill>
                    <a:srgbClr val="404040"/>
                  </a:solidFill>
                </a:rPr>
                <a:t>スコープ調整かコスト変動で対応するかは都度検討する</a:t>
              </a:r>
            </a:p>
          </p:txBody>
        </p:sp>
        <p:sp>
          <p:nvSpPr>
            <p:cNvPr id="25" name="テキスト ボックス 24">
              <a:extLst>
                <a:ext uri="{FF2B5EF4-FFF2-40B4-BE49-F238E27FC236}">
                  <a16:creationId xmlns:a16="http://schemas.microsoft.com/office/drawing/2014/main" id="{B8BD50F8-2157-9CA3-A0C9-BA7591C75952}"/>
                </a:ext>
              </a:extLst>
            </p:cNvPr>
            <p:cNvSpPr txBox="1">
              <a:spLocks noChangeArrowheads="1"/>
            </p:cNvSpPr>
            <p:nvPr/>
          </p:nvSpPr>
          <p:spPr bwMode="auto">
            <a:xfrm>
              <a:off x="6904140" y="5061577"/>
              <a:ext cx="4140000" cy="743699"/>
            </a:xfrm>
            <a:prstGeom prst="rect">
              <a:avLst/>
            </a:prstGeom>
            <a:noFill/>
            <a:ln w="9525" cap="flat" cmpd="sng" algn="ctr">
              <a:solidFill>
                <a:schemeClr val="bg1">
                  <a:lumMod val="75000"/>
                </a:schemeClr>
              </a:solidFill>
              <a:prstDash val="solid"/>
              <a:round/>
              <a:headEnd type="none" w="med" len="med"/>
              <a:tailEnd type="none" w="med" len="med"/>
            </a:ln>
            <a:effectLst/>
          </p:spPr>
          <p:txBody>
            <a:bodyPr wrap="none" lIns="91440" tIns="45720" rIns="91440" bIns="45720"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indent="-171450" algn="l">
                <a:spcBef>
                  <a:spcPct val="0"/>
                </a:spcBef>
                <a:spcAft>
                  <a:spcPct val="0"/>
                </a:spcAft>
                <a:buFont typeface="Wingdings" panose="05000000000000000000" pitchFamily="2" charset="2"/>
                <a:buChar char="ü"/>
                <a:defRPr/>
              </a:pPr>
              <a:r>
                <a:rPr lang="ja-JP" altLang="en-US" sz="1200" b="0">
                  <a:solidFill>
                    <a:srgbClr val="404040"/>
                  </a:solidFill>
                  <a:latin typeface="Meiryo UI"/>
                  <a:ea typeface="Meiryo UI"/>
                </a:rPr>
                <a:t>現時点で未確定要素があるため、リスクヘッジしつつ</a:t>
              </a:r>
              <a:br>
                <a:rPr lang="en-US" altLang="ja-JP" sz="1200" b="0">
                  <a:solidFill>
                    <a:srgbClr val="404040"/>
                  </a:solidFill>
                </a:rPr>
              </a:br>
              <a:r>
                <a:rPr lang="ja-JP" altLang="en-US" sz="1200" b="0">
                  <a:solidFill>
                    <a:srgbClr val="404040"/>
                  </a:solidFill>
                  <a:latin typeface="Meiryo UI"/>
                  <a:ea typeface="Meiryo UI"/>
                </a:rPr>
                <a:t>後からの変更を許容する</a:t>
              </a:r>
              <a:br>
                <a:rPr lang="en-US" altLang="ja-JP" sz="1200" b="0">
                  <a:solidFill>
                    <a:srgbClr val="404040"/>
                  </a:solidFill>
                </a:rPr>
              </a:br>
              <a:r>
                <a:rPr lang="en-US" altLang="ja-JP" sz="1200" b="0">
                  <a:solidFill>
                    <a:srgbClr val="404040"/>
                  </a:solidFill>
                  <a:latin typeface="Meiryo UI"/>
                  <a:ea typeface="Meiryo UI"/>
                </a:rPr>
                <a:t>(</a:t>
              </a:r>
              <a:r>
                <a:rPr lang="ja-JP" altLang="en-US" sz="1200" b="0">
                  <a:solidFill>
                    <a:srgbClr val="404040"/>
                  </a:solidFill>
                  <a:latin typeface="Meiryo UI"/>
                  <a:ea typeface="Meiryo UI"/>
                </a:rPr>
                <a:t>その際発生するコスト変動も許容する</a:t>
              </a:r>
              <a:r>
                <a:rPr lang="en-US" altLang="ja-JP" sz="1200" b="0">
                  <a:solidFill>
                    <a:srgbClr val="404040"/>
                  </a:solidFill>
                  <a:latin typeface="Meiryo UI"/>
                  <a:ea typeface="Meiryo UI"/>
                </a:rPr>
                <a:t>)</a:t>
              </a:r>
              <a:r>
                <a:rPr lang="ja-JP" altLang="en-US" sz="1200" b="0">
                  <a:solidFill>
                    <a:srgbClr val="404040"/>
                  </a:solidFill>
                  <a:latin typeface="Meiryo UI"/>
                  <a:ea typeface="Meiryo UI"/>
                </a:rPr>
                <a:t> </a:t>
              </a:r>
              <a:endParaRPr lang="ja-JP" altLang="en-US" sz="1200" b="0">
                <a:solidFill>
                  <a:srgbClr val="404040"/>
                </a:solidFill>
              </a:endParaRPr>
            </a:p>
          </p:txBody>
        </p:sp>
      </p:grpSp>
      <p:grpSp>
        <p:nvGrpSpPr>
          <p:cNvPr id="16" name="グループ化 15">
            <a:extLst>
              <a:ext uri="{FF2B5EF4-FFF2-40B4-BE49-F238E27FC236}">
                <a16:creationId xmlns:a16="http://schemas.microsoft.com/office/drawing/2014/main" id="{10290AEE-4D7F-5225-F39B-42712527834F}"/>
              </a:ext>
            </a:extLst>
          </p:cNvPr>
          <p:cNvGrpSpPr/>
          <p:nvPr/>
        </p:nvGrpSpPr>
        <p:grpSpPr>
          <a:xfrm>
            <a:off x="1133555" y="1565469"/>
            <a:ext cx="1260000" cy="361887"/>
            <a:chOff x="2469649" y="1907059"/>
            <a:chExt cx="2160000" cy="361887"/>
          </a:xfrm>
        </p:grpSpPr>
        <p:sp>
          <p:nvSpPr>
            <p:cNvPr id="5" name="テキスト ボックス 4">
              <a:extLst>
                <a:ext uri="{FF2B5EF4-FFF2-40B4-BE49-F238E27FC236}">
                  <a16:creationId xmlns:a16="http://schemas.microsoft.com/office/drawing/2014/main" id="{7DEB62E5-4413-BAE8-E308-EF02544C000E}"/>
                </a:ext>
              </a:extLst>
            </p:cNvPr>
            <p:cNvSpPr txBox="1">
              <a:spLocks noChangeArrowheads="1"/>
            </p:cNvSpPr>
            <p:nvPr/>
          </p:nvSpPr>
          <p:spPr bwMode="auto">
            <a:xfrm>
              <a:off x="2469649" y="1907059"/>
              <a:ext cx="2160000"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4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QCDS</a:t>
              </a:r>
            </a:p>
          </p:txBody>
        </p:sp>
        <p:cxnSp>
          <p:nvCxnSpPr>
            <p:cNvPr id="7" name="直線コネクタ 6">
              <a:extLst>
                <a:ext uri="{FF2B5EF4-FFF2-40B4-BE49-F238E27FC236}">
                  <a16:creationId xmlns:a16="http://schemas.microsoft.com/office/drawing/2014/main" id="{9C65B1DD-3D63-5BF8-8837-A3D7D832152D}"/>
                </a:ext>
              </a:extLst>
            </p:cNvPr>
            <p:cNvCxnSpPr/>
            <p:nvPr/>
          </p:nvCxnSpPr>
          <p:spPr bwMode="auto">
            <a:xfrm>
              <a:off x="2469649" y="2263898"/>
              <a:ext cx="2160000"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31" name="テキスト ボックス 30">
            <a:extLst>
              <a:ext uri="{FF2B5EF4-FFF2-40B4-BE49-F238E27FC236}">
                <a16:creationId xmlns:a16="http://schemas.microsoft.com/office/drawing/2014/main" id="{F2657FDF-9902-EC35-4F7D-1FF9B6916048}"/>
              </a:ext>
            </a:extLst>
          </p:cNvPr>
          <p:cNvSpPr txBox="1">
            <a:spLocks noChangeArrowheads="1"/>
          </p:cNvSpPr>
          <p:nvPr/>
        </p:nvSpPr>
        <p:spPr bwMode="auto">
          <a:xfrm>
            <a:off x="1133556" y="2064298"/>
            <a:ext cx="1260000" cy="743699"/>
          </a:xfrm>
          <a:prstGeom prst="rect">
            <a:avLst/>
          </a:prstGeom>
          <a:solidFill>
            <a:schemeClr val="accent6">
              <a:lumMod val="50000"/>
            </a:schemeClr>
          </a:solidFill>
          <a:ln w="9525" cap="flat" cmpd="sng" algn="ctr">
            <a:solidFill>
              <a:schemeClr val="accent6">
                <a:lumMod val="50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lang="ja-JP" altLang="en-US" sz="1600"/>
              <a:t>品質</a:t>
            </a:r>
            <a:endParaRPr lang="en-US" altLang="ja-JP" sz="1600"/>
          </a:p>
          <a:p>
            <a:pPr marL="0" marR="0" lvl="0" indent="0" algn="ctr" defTabSz="914400" rtl="0" eaLnBrk="1" fontAlgn="ctr" latinLnBrk="0" hangingPunct="1">
              <a:lnSpc>
                <a:spcPct val="100000"/>
              </a:lnSpc>
              <a:spcBef>
                <a:spcPct val="0"/>
              </a:spcBef>
              <a:spcAft>
                <a:spcPct val="0"/>
              </a:spcAft>
              <a:buClrTx/>
              <a:buSzTx/>
              <a:buFontTx/>
              <a:buNone/>
              <a:tabLst/>
              <a:defRPr/>
            </a:pPr>
            <a:r>
              <a:rPr lang="en-US" altLang="ja-JP" sz="1600"/>
              <a:t>(Q)</a:t>
            </a:r>
            <a:endPar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endParaRPr>
          </a:p>
        </p:txBody>
      </p:sp>
      <p:sp>
        <p:nvSpPr>
          <p:cNvPr id="33" name="テキスト ボックス 32">
            <a:extLst>
              <a:ext uri="{FF2B5EF4-FFF2-40B4-BE49-F238E27FC236}">
                <a16:creationId xmlns:a16="http://schemas.microsoft.com/office/drawing/2014/main" id="{6DE58C29-9214-EBD3-CE3F-B95861F5ECA6}"/>
              </a:ext>
            </a:extLst>
          </p:cNvPr>
          <p:cNvSpPr txBox="1">
            <a:spLocks noChangeArrowheads="1"/>
          </p:cNvSpPr>
          <p:nvPr/>
        </p:nvSpPr>
        <p:spPr bwMode="auto">
          <a:xfrm>
            <a:off x="1133556" y="3077372"/>
            <a:ext cx="1260000" cy="743699"/>
          </a:xfrm>
          <a:prstGeom prst="rect">
            <a:avLst/>
          </a:prstGeom>
          <a:solidFill>
            <a:schemeClr val="accent6">
              <a:lumMod val="50000"/>
            </a:schemeClr>
          </a:solidFill>
          <a:ln w="9525" cap="flat" cmpd="sng" algn="ctr">
            <a:solidFill>
              <a:schemeClr val="accent6">
                <a:lumMod val="50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納期</a:t>
            </a:r>
            <a:br>
              <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br>
            <a:r>
              <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(D)</a:t>
            </a:r>
          </a:p>
        </p:txBody>
      </p:sp>
      <p:sp>
        <p:nvSpPr>
          <p:cNvPr id="34" name="テキスト ボックス 33">
            <a:extLst>
              <a:ext uri="{FF2B5EF4-FFF2-40B4-BE49-F238E27FC236}">
                <a16:creationId xmlns:a16="http://schemas.microsoft.com/office/drawing/2014/main" id="{02364673-E8DB-D51C-74B0-E7B1549F744D}"/>
              </a:ext>
            </a:extLst>
          </p:cNvPr>
          <p:cNvSpPr txBox="1">
            <a:spLocks noChangeArrowheads="1"/>
          </p:cNvSpPr>
          <p:nvPr/>
        </p:nvSpPr>
        <p:spPr bwMode="auto">
          <a:xfrm>
            <a:off x="1133556" y="4090446"/>
            <a:ext cx="1260000" cy="743699"/>
          </a:xfrm>
          <a:prstGeom prst="rect">
            <a:avLst/>
          </a:prstGeom>
          <a:solidFill>
            <a:schemeClr val="accent6">
              <a:lumMod val="50000"/>
            </a:schemeClr>
          </a:solidFill>
          <a:ln w="9525" cap="flat" cmpd="sng" algn="ctr">
            <a:solidFill>
              <a:schemeClr val="accent6">
                <a:lumMod val="50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lang="ja-JP" altLang="en-US" sz="1600"/>
              <a:t>スコープ</a:t>
            </a:r>
            <a:br>
              <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br>
            <a:r>
              <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(S)</a:t>
            </a:r>
          </a:p>
        </p:txBody>
      </p:sp>
      <p:sp>
        <p:nvSpPr>
          <p:cNvPr id="37" name="テキスト ボックス 36">
            <a:extLst>
              <a:ext uri="{FF2B5EF4-FFF2-40B4-BE49-F238E27FC236}">
                <a16:creationId xmlns:a16="http://schemas.microsoft.com/office/drawing/2014/main" id="{B58718BE-9B0E-64DE-8936-C56C35644161}"/>
              </a:ext>
            </a:extLst>
          </p:cNvPr>
          <p:cNvSpPr txBox="1">
            <a:spLocks noChangeArrowheads="1"/>
          </p:cNvSpPr>
          <p:nvPr/>
        </p:nvSpPr>
        <p:spPr bwMode="auto">
          <a:xfrm>
            <a:off x="1133556" y="5103522"/>
            <a:ext cx="1260000" cy="743699"/>
          </a:xfrm>
          <a:prstGeom prst="rect">
            <a:avLst/>
          </a:prstGeom>
          <a:solidFill>
            <a:schemeClr val="accent6">
              <a:lumMod val="50000"/>
            </a:schemeClr>
          </a:solidFill>
          <a:ln w="9525" cap="flat" cmpd="sng" algn="ctr">
            <a:solidFill>
              <a:schemeClr val="accent6">
                <a:lumMod val="50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コスト</a:t>
            </a:r>
            <a:endPar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endParaRPr>
          </a:p>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(C)</a:t>
            </a:r>
          </a:p>
        </p:txBody>
      </p:sp>
      <p:sp>
        <p:nvSpPr>
          <p:cNvPr id="26" name="矢印: 山形 25">
            <a:extLst>
              <a:ext uri="{FF2B5EF4-FFF2-40B4-BE49-F238E27FC236}">
                <a16:creationId xmlns:a16="http://schemas.microsoft.com/office/drawing/2014/main" id="{B1902C29-448C-1F42-2673-894AD8E62058}"/>
              </a:ext>
            </a:extLst>
          </p:cNvPr>
          <p:cNvSpPr/>
          <p:nvPr/>
        </p:nvSpPr>
        <p:spPr>
          <a:xfrm rot="5400000">
            <a:off x="1661057" y="2774307"/>
            <a:ext cx="204993" cy="336755"/>
          </a:xfrm>
          <a:prstGeom prst="chevron">
            <a:avLst>
              <a:gd name="adj" fmla="val 72771"/>
            </a:avLst>
          </a:prstGeom>
          <a:solidFill>
            <a:schemeClr val="bg1">
              <a:lumMod val="50000"/>
            </a:schemeClr>
          </a:solidFill>
          <a:ln w="9525" cap="flat" cmpd="sng" algn="ctr">
            <a:noFill/>
            <a:prstDash val="solid"/>
            <a:miter lim="800000"/>
          </a:ln>
          <a:effectLst/>
        </p:spPr>
        <p:txBody>
          <a:bodyPr lIns="108000" tIns="108000" rIns="108000" bIns="108000" rtlCol="0" anchor="ctr">
            <a:noAutofit/>
          </a:bodyPr>
          <a:lstStyle/>
          <a:p>
            <a:pPr marL="0" marR="0" lvl="0" indent="0" algn="ctr" defTabSz="914400" eaLnBrk="1" fontAlgn="auto" latinLnBrk="0" hangingPunct="1">
              <a:lnSpc>
                <a:spcPts val="2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prstClr val="black">
                  <a:lumMod val="75000"/>
                  <a:lumOff val="25000"/>
                </a:prstClr>
              </a:solidFill>
              <a:effectLst/>
              <a:uLnTx/>
              <a:uFillTx/>
              <a:latin typeface="Meiryo UI" panose="020B0604030504040204" pitchFamily="50" charset="-128"/>
              <a:ea typeface="Meiryo UI" panose="020B0604030504040204" pitchFamily="50" charset="-128"/>
            </a:endParaRPr>
          </a:p>
        </p:txBody>
      </p:sp>
      <p:sp>
        <p:nvSpPr>
          <p:cNvPr id="42" name="矢印: 山形 41">
            <a:extLst>
              <a:ext uri="{FF2B5EF4-FFF2-40B4-BE49-F238E27FC236}">
                <a16:creationId xmlns:a16="http://schemas.microsoft.com/office/drawing/2014/main" id="{9E9E1B9E-32A7-F5BB-3812-65E2170C402C}"/>
              </a:ext>
            </a:extLst>
          </p:cNvPr>
          <p:cNvSpPr/>
          <p:nvPr/>
        </p:nvSpPr>
        <p:spPr>
          <a:xfrm rot="5400000">
            <a:off x="1661057" y="3787381"/>
            <a:ext cx="204993" cy="336755"/>
          </a:xfrm>
          <a:prstGeom prst="chevron">
            <a:avLst>
              <a:gd name="adj" fmla="val 72771"/>
            </a:avLst>
          </a:prstGeom>
          <a:solidFill>
            <a:schemeClr val="bg1">
              <a:lumMod val="50000"/>
            </a:schemeClr>
          </a:solidFill>
          <a:ln w="9525" cap="flat" cmpd="sng" algn="ctr">
            <a:noFill/>
            <a:prstDash val="solid"/>
            <a:miter lim="800000"/>
          </a:ln>
          <a:effectLst/>
        </p:spPr>
        <p:txBody>
          <a:bodyPr lIns="108000" tIns="108000" rIns="108000" bIns="108000" rtlCol="0" anchor="ctr">
            <a:noAutofit/>
          </a:bodyPr>
          <a:lstStyle/>
          <a:p>
            <a:pPr marL="0" marR="0" lvl="0" indent="0" algn="ctr" defTabSz="914400" eaLnBrk="1" fontAlgn="auto" latinLnBrk="0" hangingPunct="1">
              <a:lnSpc>
                <a:spcPts val="2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prstClr val="black">
                  <a:lumMod val="75000"/>
                  <a:lumOff val="25000"/>
                </a:prstClr>
              </a:solidFill>
              <a:effectLst/>
              <a:uLnTx/>
              <a:uFillTx/>
              <a:latin typeface="Meiryo UI" panose="020B0604030504040204" pitchFamily="50" charset="-128"/>
              <a:ea typeface="Meiryo UI" panose="020B0604030504040204" pitchFamily="50" charset="-128"/>
            </a:endParaRPr>
          </a:p>
        </p:txBody>
      </p:sp>
      <p:sp>
        <p:nvSpPr>
          <p:cNvPr id="3" name="次の値と等しい 2">
            <a:extLst>
              <a:ext uri="{FF2B5EF4-FFF2-40B4-BE49-F238E27FC236}">
                <a16:creationId xmlns:a16="http://schemas.microsoft.com/office/drawing/2014/main" id="{C2DEE0AE-BF24-D7E4-BDC7-881514B24DDC}"/>
              </a:ext>
            </a:extLst>
          </p:cNvPr>
          <p:cNvSpPr/>
          <p:nvPr/>
        </p:nvSpPr>
        <p:spPr>
          <a:xfrm rot="5400000">
            <a:off x="1617004" y="4820006"/>
            <a:ext cx="271755" cy="315411"/>
          </a:xfrm>
          <a:prstGeom prst="mathEqual">
            <a:avLst>
              <a:gd name="adj1" fmla="val 9447"/>
              <a:gd name="adj2" fmla="val 11760"/>
            </a:avLst>
          </a:prstGeom>
          <a:solidFill>
            <a:schemeClr val="bg1">
              <a:lumMod val="50000"/>
            </a:schemeClr>
          </a:solidFill>
          <a:ln w="9525" cap="flat" cmpd="sng" algn="ctr">
            <a:noFill/>
            <a:prstDash val="solid"/>
            <a:miter lim="800000"/>
          </a:ln>
          <a:effectLst/>
        </p:spPr>
        <p:txBody>
          <a:bodyPr lIns="108000" tIns="108000" rIns="108000" bIns="108000" rtlCol="0" anchor="ctr">
            <a:noAutofit/>
          </a:bodyPr>
          <a:lstStyle/>
          <a:p>
            <a:pPr algn="ctr">
              <a:lnSpc>
                <a:spcPts val="2000"/>
              </a:lnSpc>
            </a:pPr>
            <a:endParaRPr kumimoji="0" lang="ja-JP" altLang="en-US" sz="1400" kern="0">
              <a:solidFill>
                <a:prstClr val="black">
                  <a:lumMod val="75000"/>
                  <a:lumOff val="25000"/>
                </a:prst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074793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65C848C2-3D64-A5F6-0A00-6A42E4825311}"/>
              </a:ext>
            </a:extLst>
          </p:cNvPr>
          <p:cNvSpPr>
            <a:spLocks noGrp="1"/>
          </p:cNvSpPr>
          <p:nvPr>
            <p:ph type="sldNum" sz="quarter" idx="10"/>
          </p:nvPr>
        </p:nvSpPr>
        <p:spPr/>
        <p:txBody>
          <a:bodyPr/>
          <a:lstStyle/>
          <a:p>
            <a:pPr>
              <a:defRPr/>
            </a:pPr>
            <a:fld id="{EB72A429-DDC7-41CC-AC2C-79132BE59620}" type="slidenum">
              <a:rPr lang="en-US" altLang="ja-JP" smtClean="0"/>
              <a:pPr>
                <a:defRPr/>
              </a:pPr>
              <a:t>19</a:t>
            </a:fld>
            <a:endParaRPr lang="en-US" altLang="ja-JP"/>
          </a:p>
        </p:txBody>
      </p:sp>
      <p:sp>
        <p:nvSpPr>
          <p:cNvPr id="8" name="コンテンツ プレースホルダー 5">
            <a:extLst>
              <a:ext uri="{FF2B5EF4-FFF2-40B4-BE49-F238E27FC236}">
                <a16:creationId xmlns:a16="http://schemas.microsoft.com/office/drawing/2014/main" id="{2321B59F-4C8F-25BD-5BC7-42DF8774042D}"/>
              </a:ext>
            </a:extLst>
          </p:cNvPr>
          <p:cNvSpPr>
            <a:spLocks noGrp="1"/>
          </p:cNvSpPr>
          <p:nvPr>
            <p:ph idx="1"/>
          </p:nvPr>
        </p:nvSpPr>
        <p:spPr>
          <a:xfrm>
            <a:off x="211394" y="614837"/>
            <a:ext cx="11525251" cy="936204"/>
          </a:xfrm>
        </p:spPr>
        <p:txBody>
          <a:bodyPr/>
          <a:lstStyle/>
          <a:p>
            <a:pPr marL="285750" indent="-285750">
              <a:buFont typeface="Arial" panose="020B0604020202020204" pitchFamily="34" charset="0"/>
              <a:buChar char="•"/>
            </a:pPr>
            <a:r>
              <a:rPr lang="ja-JP" altLang="en-US" sz="1600"/>
              <a:t>要件定義～</a:t>
            </a:r>
            <a:r>
              <a:rPr lang="en-US" altLang="ja-JP" sz="1600"/>
              <a:t>C/O</a:t>
            </a:r>
            <a:r>
              <a:rPr lang="ja-JP" altLang="en-US" sz="1600"/>
              <a:t>までの工数・コストは、</a:t>
            </a:r>
            <a:r>
              <a:rPr lang="en-US" altLang="ja-JP" sz="1600"/>
              <a:t>308.1</a:t>
            </a:r>
            <a:r>
              <a:rPr lang="ja-JP" altLang="en-US" sz="1600"/>
              <a:t>人月、</a:t>
            </a:r>
            <a:r>
              <a:rPr lang="en-US" altLang="ja-JP" sz="1600" b="1" u="sng">
                <a:solidFill>
                  <a:srgbClr val="C00000"/>
                </a:solidFill>
              </a:rPr>
              <a:t>34,708</a:t>
            </a:r>
            <a:r>
              <a:rPr lang="ja-JP" altLang="en-US" sz="1600" b="1" u="sng">
                <a:solidFill>
                  <a:srgbClr val="C00000"/>
                </a:solidFill>
              </a:rPr>
              <a:t>万円</a:t>
            </a:r>
            <a:r>
              <a:rPr lang="en-US" altLang="ja-JP" sz="1200"/>
              <a:t>(</a:t>
            </a:r>
            <a:r>
              <a:rPr lang="ja-JP" altLang="en-US" sz="1200"/>
              <a:t>全</a:t>
            </a:r>
            <a:r>
              <a:rPr lang="en-US" altLang="ja-JP" sz="1200"/>
              <a:t>19</a:t>
            </a:r>
            <a:r>
              <a:rPr lang="ja-JP" altLang="en-US" sz="1200"/>
              <a:t>システム</a:t>
            </a:r>
            <a:r>
              <a:rPr lang="en-US" altLang="ja-JP" sz="1200"/>
              <a:t>)</a:t>
            </a:r>
            <a:r>
              <a:rPr lang="ja-JP" altLang="en-US" sz="1600"/>
              <a:t>となる　</a:t>
            </a:r>
            <a:r>
              <a:rPr lang="en-US" altLang="ja-JP" sz="1600"/>
              <a:t>※</a:t>
            </a:r>
            <a:r>
              <a:rPr lang="ja-JP" altLang="en-US" sz="1600"/>
              <a:t>要件定義工程分コスト</a:t>
            </a:r>
            <a:r>
              <a:rPr lang="en-US" altLang="ja-JP" sz="1200"/>
              <a:t>(5,926</a:t>
            </a:r>
            <a:r>
              <a:rPr lang="ja-JP" altLang="en-US" sz="1200"/>
              <a:t>万円</a:t>
            </a:r>
            <a:r>
              <a:rPr lang="en-US" altLang="ja-JP" sz="1200"/>
              <a:t>)</a:t>
            </a:r>
            <a:r>
              <a:rPr lang="ja-JP" altLang="en-US" sz="1600"/>
              <a:t>は起案済</a:t>
            </a:r>
            <a:br>
              <a:rPr lang="en-US" altLang="ja-JP" sz="1600"/>
            </a:br>
            <a:r>
              <a:rPr lang="ja-JP" altLang="en-US" sz="1600"/>
              <a:t>また、基本設計工程～</a:t>
            </a:r>
            <a:r>
              <a:rPr lang="en-US" altLang="ja-JP" sz="1600"/>
              <a:t>C/O</a:t>
            </a:r>
            <a:r>
              <a:rPr lang="ja-JP" altLang="en-US" sz="1600"/>
              <a:t>までに必要なコストは、全</a:t>
            </a:r>
            <a:r>
              <a:rPr lang="en-US" altLang="ja-JP" sz="1600"/>
              <a:t>12</a:t>
            </a:r>
            <a:r>
              <a:rPr lang="ja-JP" altLang="en-US" sz="1600"/>
              <a:t>システムで</a:t>
            </a:r>
            <a:r>
              <a:rPr lang="en-US" altLang="ja-JP" sz="1600" u="sng"/>
              <a:t>28,782</a:t>
            </a:r>
            <a:r>
              <a:rPr lang="ja-JP" altLang="en-US" sz="1600" u="sng"/>
              <a:t>万円</a:t>
            </a:r>
            <a:r>
              <a:rPr lang="ja-JP" altLang="en-US" sz="1600"/>
              <a:t>となる</a:t>
            </a:r>
            <a:endParaRPr lang="en-US" altLang="ja-JP" sz="1600"/>
          </a:p>
          <a:p>
            <a:pPr marL="285750" indent="-285750">
              <a:buFont typeface="Arial" panose="020B0604020202020204" pitchFamily="34" charset="0"/>
              <a:buChar char="•"/>
            </a:pPr>
            <a:r>
              <a:rPr lang="en-US" altLang="ja-JP" sz="1600" u="none">
                <a:latin typeface="メイリオ" panose="020B0604030504040204" pitchFamily="50" charset="-128"/>
                <a:ea typeface="メイリオ" panose="020B0604030504040204" pitchFamily="50" charset="-128"/>
                <a:cs typeface="メイリオ" panose="020B0604030504040204" pitchFamily="50" charset="-128"/>
              </a:rPr>
              <a:t>RETMAS</a:t>
            </a:r>
            <a:r>
              <a:rPr lang="ja-JP" altLang="en-US" sz="1600" u="none">
                <a:latin typeface="メイリオ" panose="020B0604030504040204" pitchFamily="50" charset="-128"/>
                <a:ea typeface="メイリオ" panose="020B0604030504040204" pitchFamily="50" charset="-128"/>
                <a:cs typeface="メイリオ" panose="020B0604030504040204" pitchFamily="50" charset="-128"/>
              </a:rPr>
              <a:t>の占めるコストが大きいため更なるコスト削減余地を検討</a:t>
            </a:r>
            <a:r>
              <a:rPr lang="en-US" altLang="ja-JP" sz="1600" u="none">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u="none">
                <a:latin typeface="メイリオ" panose="020B0604030504040204" pitchFamily="50" charset="-128"/>
                <a:ea typeface="メイリオ" panose="020B0604030504040204" pitchFamily="50" charset="-128"/>
                <a:cs typeface="メイリオ" panose="020B0604030504040204" pitchFamily="50" charset="-128"/>
              </a:rPr>
              <a:t>検討結果は次ページ参照</a:t>
            </a:r>
            <a:r>
              <a:rPr lang="en-US" altLang="ja-JP" sz="1600" u="none">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600"/>
          </a:p>
        </p:txBody>
      </p:sp>
      <p:sp>
        <p:nvSpPr>
          <p:cNvPr id="9" name="ValueChainHeader">
            <a:extLst>
              <a:ext uri="{FF2B5EF4-FFF2-40B4-BE49-F238E27FC236}">
                <a16:creationId xmlns:a16="http://schemas.microsoft.com/office/drawing/2014/main" id="{ABF21224-F71B-7562-C951-E956F7278A96}"/>
              </a:ext>
            </a:extLst>
          </p:cNvPr>
          <p:cNvSpPr>
            <a:spLocks noChangeArrowheads="1"/>
          </p:cNvSpPr>
          <p:nvPr/>
        </p:nvSpPr>
        <p:spPr bwMode="gray">
          <a:xfrm>
            <a:off x="2741381"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3</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10" name="ValueChainHeader">
            <a:extLst>
              <a:ext uri="{FF2B5EF4-FFF2-40B4-BE49-F238E27FC236}">
                <a16:creationId xmlns:a16="http://schemas.microsoft.com/office/drawing/2014/main" id="{A7C7F595-EF7E-6753-5486-9283B32E2FDC}"/>
              </a:ext>
            </a:extLst>
          </p:cNvPr>
          <p:cNvSpPr>
            <a:spLocks noChangeArrowheads="1"/>
          </p:cNvSpPr>
          <p:nvPr/>
        </p:nvSpPr>
        <p:spPr bwMode="gray">
          <a:xfrm>
            <a:off x="3455405"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4</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11" name="ValueChainHeader">
            <a:extLst>
              <a:ext uri="{FF2B5EF4-FFF2-40B4-BE49-F238E27FC236}">
                <a16:creationId xmlns:a16="http://schemas.microsoft.com/office/drawing/2014/main" id="{FD4713AB-618F-F790-2508-3F1AD15813A7}"/>
              </a:ext>
            </a:extLst>
          </p:cNvPr>
          <p:cNvSpPr>
            <a:spLocks noChangeArrowheads="1"/>
          </p:cNvSpPr>
          <p:nvPr/>
        </p:nvSpPr>
        <p:spPr bwMode="gray">
          <a:xfrm>
            <a:off x="4171035"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1Q</a:t>
            </a:r>
          </a:p>
        </p:txBody>
      </p:sp>
      <p:sp>
        <p:nvSpPr>
          <p:cNvPr id="12" name="ValueChainHeader">
            <a:extLst>
              <a:ext uri="{FF2B5EF4-FFF2-40B4-BE49-F238E27FC236}">
                <a16:creationId xmlns:a16="http://schemas.microsoft.com/office/drawing/2014/main" id="{80AE5891-1D3D-833B-6F44-508B4474EF01}"/>
              </a:ext>
            </a:extLst>
          </p:cNvPr>
          <p:cNvSpPr>
            <a:spLocks noChangeArrowheads="1"/>
          </p:cNvSpPr>
          <p:nvPr/>
        </p:nvSpPr>
        <p:spPr bwMode="gray">
          <a:xfrm>
            <a:off x="4885059"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2Q</a:t>
            </a:r>
          </a:p>
        </p:txBody>
      </p:sp>
      <p:sp>
        <p:nvSpPr>
          <p:cNvPr id="13" name="ValueChainHeader">
            <a:extLst>
              <a:ext uri="{FF2B5EF4-FFF2-40B4-BE49-F238E27FC236}">
                <a16:creationId xmlns:a16="http://schemas.microsoft.com/office/drawing/2014/main" id="{69D60CCD-7FEB-E1F3-648B-F43DCE497EA6}"/>
              </a:ext>
            </a:extLst>
          </p:cNvPr>
          <p:cNvSpPr>
            <a:spLocks noChangeArrowheads="1"/>
          </p:cNvSpPr>
          <p:nvPr/>
        </p:nvSpPr>
        <p:spPr bwMode="gray">
          <a:xfrm>
            <a:off x="5600689"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3</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14" name="ValueChainHeader">
            <a:extLst>
              <a:ext uri="{FF2B5EF4-FFF2-40B4-BE49-F238E27FC236}">
                <a16:creationId xmlns:a16="http://schemas.microsoft.com/office/drawing/2014/main" id="{8217CD38-DC7E-D3BB-8685-FC5FAB8AF284}"/>
              </a:ext>
            </a:extLst>
          </p:cNvPr>
          <p:cNvSpPr>
            <a:spLocks noChangeArrowheads="1"/>
          </p:cNvSpPr>
          <p:nvPr/>
        </p:nvSpPr>
        <p:spPr bwMode="gray">
          <a:xfrm>
            <a:off x="6314714"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4</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15" name="ValueChainHeader">
            <a:extLst>
              <a:ext uri="{FF2B5EF4-FFF2-40B4-BE49-F238E27FC236}">
                <a16:creationId xmlns:a16="http://schemas.microsoft.com/office/drawing/2014/main" id="{F51E697B-7732-6369-4DAF-53DD25D5C1C4}"/>
              </a:ext>
            </a:extLst>
          </p:cNvPr>
          <p:cNvSpPr>
            <a:spLocks noChangeArrowheads="1"/>
          </p:cNvSpPr>
          <p:nvPr/>
        </p:nvSpPr>
        <p:spPr bwMode="gray">
          <a:xfrm>
            <a:off x="2741380" y="1569856"/>
            <a:ext cx="142965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FYE03/24</a:t>
            </a:r>
            <a:endPar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16" name="ValueChainHeader">
            <a:extLst>
              <a:ext uri="{FF2B5EF4-FFF2-40B4-BE49-F238E27FC236}">
                <a16:creationId xmlns:a16="http://schemas.microsoft.com/office/drawing/2014/main" id="{5ADE7368-FE8F-1137-1C95-FD3E998A857F}"/>
              </a:ext>
            </a:extLst>
          </p:cNvPr>
          <p:cNvSpPr>
            <a:spLocks noChangeArrowheads="1"/>
          </p:cNvSpPr>
          <p:nvPr/>
        </p:nvSpPr>
        <p:spPr bwMode="gray">
          <a:xfrm>
            <a:off x="4171035" y="1569856"/>
            <a:ext cx="2869313"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FYE03/25</a:t>
            </a:r>
            <a:endPar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17" name="ValueChainHeader">
            <a:extLst>
              <a:ext uri="{FF2B5EF4-FFF2-40B4-BE49-F238E27FC236}">
                <a16:creationId xmlns:a16="http://schemas.microsoft.com/office/drawing/2014/main" id="{AE40C35D-C957-736F-6FB0-70E206C7093B}"/>
              </a:ext>
            </a:extLst>
          </p:cNvPr>
          <p:cNvSpPr>
            <a:spLocks noChangeArrowheads="1"/>
          </p:cNvSpPr>
          <p:nvPr/>
        </p:nvSpPr>
        <p:spPr bwMode="gray">
          <a:xfrm>
            <a:off x="7030342"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1Q</a:t>
            </a:r>
          </a:p>
        </p:txBody>
      </p:sp>
      <p:sp>
        <p:nvSpPr>
          <p:cNvPr id="18" name="ValueChainHeader">
            <a:extLst>
              <a:ext uri="{FF2B5EF4-FFF2-40B4-BE49-F238E27FC236}">
                <a16:creationId xmlns:a16="http://schemas.microsoft.com/office/drawing/2014/main" id="{4FCCA07A-3DBE-DF42-7994-B5982E452F3D}"/>
              </a:ext>
            </a:extLst>
          </p:cNvPr>
          <p:cNvSpPr>
            <a:spLocks noChangeArrowheads="1"/>
          </p:cNvSpPr>
          <p:nvPr/>
        </p:nvSpPr>
        <p:spPr bwMode="gray">
          <a:xfrm>
            <a:off x="7744367"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2Q</a:t>
            </a:r>
          </a:p>
        </p:txBody>
      </p:sp>
      <p:sp>
        <p:nvSpPr>
          <p:cNvPr id="19" name="ValueChainHeader">
            <a:extLst>
              <a:ext uri="{FF2B5EF4-FFF2-40B4-BE49-F238E27FC236}">
                <a16:creationId xmlns:a16="http://schemas.microsoft.com/office/drawing/2014/main" id="{958D1D27-CFEA-3D84-ADE6-42858DF33B15}"/>
              </a:ext>
            </a:extLst>
          </p:cNvPr>
          <p:cNvSpPr>
            <a:spLocks noChangeArrowheads="1"/>
          </p:cNvSpPr>
          <p:nvPr/>
        </p:nvSpPr>
        <p:spPr bwMode="gray">
          <a:xfrm>
            <a:off x="8459997"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3</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20" name="ValueChainHeader">
            <a:extLst>
              <a:ext uri="{FF2B5EF4-FFF2-40B4-BE49-F238E27FC236}">
                <a16:creationId xmlns:a16="http://schemas.microsoft.com/office/drawing/2014/main" id="{FFE91F51-96D7-AC2A-0882-0383974BAF0E}"/>
              </a:ext>
            </a:extLst>
          </p:cNvPr>
          <p:cNvSpPr>
            <a:spLocks noChangeArrowheads="1"/>
          </p:cNvSpPr>
          <p:nvPr/>
        </p:nvSpPr>
        <p:spPr bwMode="gray">
          <a:xfrm>
            <a:off x="9174022"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4</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21" name="ValueChainHeader">
            <a:extLst>
              <a:ext uri="{FF2B5EF4-FFF2-40B4-BE49-F238E27FC236}">
                <a16:creationId xmlns:a16="http://schemas.microsoft.com/office/drawing/2014/main" id="{351979E3-7516-A935-C527-59F5DD5B99B1}"/>
              </a:ext>
            </a:extLst>
          </p:cNvPr>
          <p:cNvSpPr>
            <a:spLocks noChangeArrowheads="1"/>
          </p:cNvSpPr>
          <p:nvPr/>
        </p:nvSpPr>
        <p:spPr bwMode="gray">
          <a:xfrm>
            <a:off x="7030342" y="1569856"/>
            <a:ext cx="2869313"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FYE03/26</a:t>
            </a:r>
            <a:endPar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22" name="ValueChainHeader">
            <a:extLst>
              <a:ext uri="{FF2B5EF4-FFF2-40B4-BE49-F238E27FC236}">
                <a16:creationId xmlns:a16="http://schemas.microsoft.com/office/drawing/2014/main" id="{502F4D89-7BF3-EE16-D1FF-F326B941B7B7}"/>
              </a:ext>
            </a:extLst>
          </p:cNvPr>
          <p:cNvSpPr>
            <a:spLocks noChangeArrowheads="1"/>
          </p:cNvSpPr>
          <p:nvPr/>
        </p:nvSpPr>
        <p:spPr bwMode="gray">
          <a:xfrm>
            <a:off x="9888849"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1Q</a:t>
            </a:r>
          </a:p>
        </p:txBody>
      </p:sp>
      <p:sp>
        <p:nvSpPr>
          <p:cNvPr id="23" name="ValueChainHeader">
            <a:extLst>
              <a:ext uri="{FF2B5EF4-FFF2-40B4-BE49-F238E27FC236}">
                <a16:creationId xmlns:a16="http://schemas.microsoft.com/office/drawing/2014/main" id="{F65C2666-1A41-ECCB-6CCA-73C3920B8EC8}"/>
              </a:ext>
            </a:extLst>
          </p:cNvPr>
          <p:cNvSpPr>
            <a:spLocks noChangeArrowheads="1"/>
          </p:cNvSpPr>
          <p:nvPr/>
        </p:nvSpPr>
        <p:spPr bwMode="gray">
          <a:xfrm>
            <a:off x="9888849" y="1569856"/>
            <a:ext cx="824060" cy="117091"/>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FYE03/27</a:t>
            </a:r>
            <a:endPar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24" name="ValueChainHeader">
            <a:extLst>
              <a:ext uri="{FF2B5EF4-FFF2-40B4-BE49-F238E27FC236}">
                <a16:creationId xmlns:a16="http://schemas.microsoft.com/office/drawing/2014/main" id="{3D9B131B-DBD7-DC35-C1AE-E4FBCDE65237}"/>
              </a:ext>
            </a:extLst>
          </p:cNvPr>
          <p:cNvSpPr>
            <a:spLocks noChangeArrowheads="1"/>
          </p:cNvSpPr>
          <p:nvPr/>
        </p:nvSpPr>
        <p:spPr bwMode="gray">
          <a:xfrm>
            <a:off x="3724669" y="1876397"/>
            <a:ext cx="1912579"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algn="ctr" eaLnBrk="0" fontAlgn="auto" hangingPunct="0">
              <a:lnSpc>
                <a:spcPts val="1000"/>
              </a:lnSpc>
              <a:spcBef>
                <a:spcPts val="0"/>
              </a:spcBef>
              <a:spcAft>
                <a:spcPts val="0"/>
              </a:spcAft>
              <a:defRPr/>
            </a:pPr>
            <a:r>
              <a:rPr kumimoji="0" lang="ja-JP" altLang="en-US" sz="9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基本設計</a:t>
            </a: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～内結、</a:t>
            </a:r>
            <a:b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b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外結・移行検討、課題対応</a:t>
            </a:r>
            <a:endParaRPr kumimoji="0" lang="en-US" altLang="ja-JP" sz="90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25" name="ValueChainHeader">
            <a:extLst>
              <a:ext uri="{FF2B5EF4-FFF2-40B4-BE49-F238E27FC236}">
                <a16:creationId xmlns:a16="http://schemas.microsoft.com/office/drawing/2014/main" id="{B3F44F16-FEC7-CDA8-80B4-513F874BC475}"/>
              </a:ext>
            </a:extLst>
          </p:cNvPr>
          <p:cNvSpPr>
            <a:spLocks noChangeArrowheads="1"/>
          </p:cNvSpPr>
          <p:nvPr/>
        </p:nvSpPr>
        <p:spPr bwMode="gray">
          <a:xfrm>
            <a:off x="5576536" y="1876397"/>
            <a:ext cx="2052000"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ts val="900"/>
              </a:lnSpc>
              <a:spcBef>
                <a:spcPts val="0"/>
              </a:spcBef>
              <a:spcAft>
                <a:spcPts val="0"/>
              </a:spcAft>
              <a:buClrTx/>
              <a:buSzTx/>
              <a:buFontTx/>
              <a:buNone/>
              <a:tabLst/>
              <a:defRPr/>
            </a:pP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外結・</a:t>
            </a:r>
            <a: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t>ST</a:t>
            </a: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a:t>
            </a:r>
            <a: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t>UAT</a:t>
            </a: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①、移行準備</a:t>
            </a:r>
            <a:b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br>
            <a: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t>(</a:t>
            </a: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リハ含む</a:t>
            </a:r>
            <a: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t>)</a:t>
            </a:r>
            <a:endParaRPr kumimoji="0" lang="en-US" altLang="ja-JP" sz="900" b="0" i="0" u="none" strike="noStrike" kern="0" cap="none" spc="0" normalizeH="0" baseline="3000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26" name="ValueChainHeader">
            <a:extLst>
              <a:ext uri="{FF2B5EF4-FFF2-40B4-BE49-F238E27FC236}">
                <a16:creationId xmlns:a16="http://schemas.microsoft.com/office/drawing/2014/main" id="{C2A58ACE-C8DF-BD70-6AB6-D2332B98811B}"/>
              </a:ext>
            </a:extLst>
          </p:cNvPr>
          <p:cNvSpPr>
            <a:spLocks noChangeArrowheads="1"/>
          </p:cNvSpPr>
          <p:nvPr/>
        </p:nvSpPr>
        <p:spPr bwMode="gray">
          <a:xfrm>
            <a:off x="9426401" y="1876397"/>
            <a:ext cx="792000"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ja-JP" altLang="en-US" sz="1000" kern="0">
                <a:solidFill>
                  <a:srgbClr val="FFFFFF"/>
                </a:solidFill>
                <a:latin typeface="Meiryo UI" panose="020B0604030504040204" pitchFamily="50" charset="-128"/>
                <a:ea typeface="Meiryo UI" panose="020B0604030504040204" pitchFamily="50" charset="-128"/>
                <a:cs typeface="Arial" pitchFamily="34" charset="0"/>
              </a:rPr>
              <a:t>移行</a:t>
            </a:r>
            <a:endParaRPr kumimoji="0" lang="en-US" altLang="ja-JP" sz="1000" b="0" i="0" u="none" strike="noStrike" kern="0" cap="none" spc="0" normalizeH="0" baseline="3000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27" name="ValueChainHeader">
            <a:extLst>
              <a:ext uri="{FF2B5EF4-FFF2-40B4-BE49-F238E27FC236}">
                <a16:creationId xmlns:a16="http://schemas.microsoft.com/office/drawing/2014/main" id="{4282CDC1-0ED2-BE3B-B0D3-79798312F761}"/>
              </a:ext>
            </a:extLst>
          </p:cNvPr>
          <p:cNvSpPr>
            <a:spLocks noChangeArrowheads="1"/>
          </p:cNvSpPr>
          <p:nvPr/>
        </p:nvSpPr>
        <p:spPr bwMode="gray">
          <a:xfrm>
            <a:off x="7567824" y="1876397"/>
            <a:ext cx="1440000"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algn="ctr" eaLnBrk="0" fontAlgn="auto" hangingPunct="0">
              <a:spcBef>
                <a:spcPts val="0"/>
              </a:spcBef>
              <a:spcAft>
                <a:spcPts val="0"/>
              </a:spcAft>
            </a:pPr>
            <a:r>
              <a:rPr kumimoji="0" lang="ja-JP" altLang="en-US" sz="1000" kern="0">
                <a:solidFill>
                  <a:srgbClr val="FFFFFF"/>
                </a:solidFill>
                <a:latin typeface="Meiryo UI" panose="020B0604030504040204" pitchFamily="50" charset="-128"/>
                <a:ea typeface="Meiryo UI" panose="020B0604030504040204" pitchFamily="50" charset="-128"/>
                <a:cs typeface="Arial" pitchFamily="34" charset="0"/>
              </a:rPr>
              <a:t>外結・</a:t>
            </a: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ST</a:t>
            </a:r>
            <a:r>
              <a:rPr kumimoji="0" lang="ja-JP" altLang="en-US" sz="1000" kern="0">
                <a:solidFill>
                  <a:srgbClr val="FFFFFF"/>
                </a:solidFill>
                <a:latin typeface="Meiryo UI" panose="020B0604030504040204" pitchFamily="50" charset="-128"/>
                <a:ea typeface="Meiryo UI" panose="020B0604030504040204" pitchFamily="50" charset="-128"/>
                <a:cs typeface="Arial" pitchFamily="34" charset="0"/>
              </a:rPr>
              <a:t>・</a:t>
            </a: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UAT②</a:t>
            </a:r>
            <a:endParaRPr kumimoji="0" lang="en-US" altLang="ja-JP" sz="800" kern="0">
              <a:solidFill>
                <a:srgbClr val="FFFFFF"/>
              </a:solidFill>
              <a:latin typeface="Meiryo UI" panose="020B0604030504040204" pitchFamily="50" charset="-128"/>
              <a:ea typeface="Meiryo UI" panose="020B0604030504040204" pitchFamily="50" charset="-128"/>
              <a:cs typeface="Arial" pitchFamily="34" charset="0"/>
            </a:endParaRPr>
          </a:p>
        </p:txBody>
      </p:sp>
      <p:sp>
        <p:nvSpPr>
          <p:cNvPr id="28" name="正方形/長方形 27">
            <a:extLst>
              <a:ext uri="{FF2B5EF4-FFF2-40B4-BE49-F238E27FC236}">
                <a16:creationId xmlns:a16="http://schemas.microsoft.com/office/drawing/2014/main" id="{09C38820-B570-AAD9-7554-0158A47DE2AC}"/>
              </a:ext>
            </a:extLst>
          </p:cNvPr>
          <p:cNvSpPr/>
          <p:nvPr/>
        </p:nvSpPr>
        <p:spPr bwMode="auto">
          <a:xfrm>
            <a:off x="10459969" y="1903147"/>
            <a:ext cx="824060" cy="297851"/>
          </a:xfrm>
          <a:prstGeom prst="rect">
            <a:avLst/>
          </a:prstGeom>
          <a:solidFill>
            <a:schemeClr val="tx1">
              <a:lumMod val="85000"/>
              <a:lumOff val="1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400" b="1">
                <a:solidFill>
                  <a:schemeClr val="bg1"/>
                </a:solidFill>
                <a:latin typeface="Meiryo UI" panose="020B0604030504040204" pitchFamily="50" charset="-128"/>
                <a:ea typeface="Meiryo UI" panose="020B0604030504040204" pitchFamily="50" charset="-128"/>
              </a:rPr>
              <a:t>合計</a:t>
            </a:r>
            <a:endParaRPr lang="en-US" altLang="ja-JP" sz="1400" b="1">
              <a:solidFill>
                <a:schemeClr val="bg1"/>
              </a:solidFill>
              <a:latin typeface="Meiryo UI" panose="020B0604030504040204" pitchFamily="50" charset="-128"/>
              <a:ea typeface="Meiryo UI" panose="020B0604030504040204" pitchFamily="50" charset="-128"/>
            </a:endParaRPr>
          </a:p>
        </p:txBody>
      </p:sp>
      <p:sp>
        <p:nvSpPr>
          <p:cNvPr id="107" name="ValueChainHeader">
            <a:extLst>
              <a:ext uri="{FF2B5EF4-FFF2-40B4-BE49-F238E27FC236}">
                <a16:creationId xmlns:a16="http://schemas.microsoft.com/office/drawing/2014/main" id="{0359FE22-C37B-C1E3-E729-7E5F0DCDB9B1}"/>
              </a:ext>
            </a:extLst>
          </p:cNvPr>
          <p:cNvSpPr>
            <a:spLocks noChangeArrowheads="1"/>
          </p:cNvSpPr>
          <p:nvPr/>
        </p:nvSpPr>
        <p:spPr bwMode="gray">
          <a:xfrm>
            <a:off x="2741381" y="1876397"/>
            <a:ext cx="1044000"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ja-JP" altLang="en-US" sz="1000" kern="0">
                <a:solidFill>
                  <a:srgbClr val="FFFFFF"/>
                </a:solidFill>
                <a:latin typeface="Meiryo UI" panose="020B0604030504040204" pitchFamily="50" charset="-128"/>
                <a:ea typeface="Meiryo UI" panose="020B0604030504040204" pitchFamily="50" charset="-128"/>
                <a:cs typeface="Arial" pitchFamily="34" charset="0"/>
              </a:rPr>
              <a:t>要件定義</a:t>
            </a:r>
            <a:endPar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5" name="四角形: 角を丸くする 4">
            <a:extLst>
              <a:ext uri="{FF2B5EF4-FFF2-40B4-BE49-F238E27FC236}">
                <a16:creationId xmlns:a16="http://schemas.microsoft.com/office/drawing/2014/main" id="{2DDD02C6-5120-CFE9-14B0-A7B3A4ADFF71}"/>
              </a:ext>
            </a:extLst>
          </p:cNvPr>
          <p:cNvSpPr/>
          <p:nvPr/>
        </p:nvSpPr>
        <p:spPr>
          <a:xfrm>
            <a:off x="3022418"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kumimoji="1"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4</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6" name="四角形: 角を丸くする 5">
            <a:extLst>
              <a:ext uri="{FF2B5EF4-FFF2-40B4-BE49-F238E27FC236}">
                <a16:creationId xmlns:a16="http://schemas.microsoft.com/office/drawing/2014/main" id="{10381F78-9237-387E-0193-404406EDAEB0}"/>
              </a:ext>
            </a:extLst>
          </p:cNvPr>
          <p:cNvSpPr/>
          <p:nvPr/>
        </p:nvSpPr>
        <p:spPr>
          <a:xfrm>
            <a:off x="4434603"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kumimoji="1"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8</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7" name="四角形: 角を丸くする 6">
            <a:extLst>
              <a:ext uri="{FF2B5EF4-FFF2-40B4-BE49-F238E27FC236}">
                <a16:creationId xmlns:a16="http://schemas.microsoft.com/office/drawing/2014/main" id="{26FC77C3-F022-692A-CAD5-21D3395616DD}"/>
              </a:ext>
            </a:extLst>
          </p:cNvPr>
          <p:cNvSpPr/>
          <p:nvPr/>
        </p:nvSpPr>
        <p:spPr>
          <a:xfrm>
            <a:off x="6402239"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kumimoji="1"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8</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29" name="四角形: 角を丸くする 28">
            <a:extLst>
              <a:ext uri="{FF2B5EF4-FFF2-40B4-BE49-F238E27FC236}">
                <a16:creationId xmlns:a16="http://schemas.microsoft.com/office/drawing/2014/main" id="{60F43A41-D5A6-194E-B2E4-6F40618B8DE8}"/>
              </a:ext>
            </a:extLst>
          </p:cNvPr>
          <p:cNvSpPr/>
          <p:nvPr/>
        </p:nvSpPr>
        <p:spPr>
          <a:xfrm>
            <a:off x="8087527"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6</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30" name="四角形: 角を丸くする 29">
            <a:extLst>
              <a:ext uri="{FF2B5EF4-FFF2-40B4-BE49-F238E27FC236}">
                <a16:creationId xmlns:a16="http://schemas.microsoft.com/office/drawing/2014/main" id="{C5897653-4D70-7373-F7CF-747672D47FC0}"/>
              </a:ext>
            </a:extLst>
          </p:cNvPr>
          <p:cNvSpPr/>
          <p:nvPr/>
        </p:nvSpPr>
        <p:spPr>
          <a:xfrm>
            <a:off x="9622104"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kumimoji="1"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3</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32" name="ValueChainHeader">
            <a:extLst>
              <a:ext uri="{FF2B5EF4-FFF2-40B4-BE49-F238E27FC236}">
                <a16:creationId xmlns:a16="http://schemas.microsoft.com/office/drawing/2014/main" id="{231936D0-EE8A-24E1-2D46-72656B1F2FBC}"/>
              </a:ext>
            </a:extLst>
          </p:cNvPr>
          <p:cNvSpPr>
            <a:spLocks noChangeArrowheads="1"/>
          </p:cNvSpPr>
          <p:nvPr/>
        </p:nvSpPr>
        <p:spPr bwMode="gray">
          <a:xfrm>
            <a:off x="8947112" y="1876397"/>
            <a:ext cx="540000"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algn="ctr" eaLnBrk="0" fontAlgn="auto" hangingPunct="0">
              <a:spcBef>
                <a:spcPts val="0"/>
              </a:spcBef>
              <a:spcAft>
                <a:spcPts val="0"/>
              </a:spcAft>
            </a:pPr>
            <a:r>
              <a:rPr kumimoji="0" lang="ja-JP" altLang="en-US" sz="1000" kern="0">
                <a:solidFill>
                  <a:srgbClr val="FFFFFF"/>
                </a:solidFill>
                <a:latin typeface="Meiryo UI" panose="020B0604030504040204" pitchFamily="50" charset="-128"/>
                <a:ea typeface="Meiryo UI" panose="020B0604030504040204" pitchFamily="50" charset="-128"/>
                <a:cs typeface="Arial" pitchFamily="34" charset="0"/>
              </a:rPr>
              <a:t>バッファ</a:t>
            </a:r>
            <a:endPar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endParaRPr>
          </a:p>
        </p:txBody>
      </p:sp>
      <p:sp>
        <p:nvSpPr>
          <p:cNvPr id="41" name="四角形: 角を丸くする 40">
            <a:extLst>
              <a:ext uri="{FF2B5EF4-FFF2-40B4-BE49-F238E27FC236}">
                <a16:creationId xmlns:a16="http://schemas.microsoft.com/office/drawing/2014/main" id="{C7BA8836-1617-2308-83B1-A7D9E9505D70}"/>
              </a:ext>
            </a:extLst>
          </p:cNvPr>
          <p:cNvSpPr/>
          <p:nvPr/>
        </p:nvSpPr>
        <p:spPr>
          <a:xfrm>
            <a:off x="9016815"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kumimoji="1"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2</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102" name="フローチャート: 抜出し 101">
            <a:extLst>
              <a:ext uri="{FF2B5EF4-FFF2-40B4-BE49-F238E27FC236}">
                <a16:creationId xmlns:a16="http://schemas.microsoft.com/office/drawing/2014/main" id="{5013D095-3215-E1F6-12D4-5C46476B01D8}"/>
              </a:ext>
            </a:extLst>
          </p:cNvPr>
          <p:cNvSpPr/>
          <p:nvPr/>
        </p:nvSpPr>
        <p:spPr>
          <a:xfrm rot="5400000">
            <a:off x="9084611" y="4054994"/>
            <a:ext cx="2439644" cy="157279"/>
          </a:xfrm>
          <a:prstGeom prst="flowChartExtra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200">
              <a:solidFill>
                <a:schemeClr val="accent4">
                  <a:lumMod val="65000"/>
                  <a:lumOff val="35000"/>
                </a:schemeClr>
              </a:solidFill>
              <a:latin typeface="+mn-ea"/>
              <a:cs typeface="Hiragino Kaku Gothic Pro W3" charset="-128"/>
            </a:endParaRPr>
          </a:p>
        </p:txBody>
      </p:sp>
      <p:grpSp>
        <p:nvGrpSpPr>
          <p:cNvPr id="40" name="グループ化 39">
            <a:extLst>
              <a:ext uri="{FF2B5EF4-FFF2-40B4-BE49-F238E27FC236}">
                <a16:creationId xmlns:a16="http://schemas.microsoft.com/office/drawing/2014/main" id="{3F8527BF-150D-D8B9-FA25-73D61134DA14}"/>
              </a:ext>
            </a:extLst>
          </p:cNvPr>
          <p:cNvGrpSpPr/>
          <p:nvPr/>
        </p:nvGrpSpPr>
        <p:grpSpPr>
          <a:xfrm>
            <a:off x="318724" y="4397542"/>
            <a:ext cx="10933146" cy="1968979"/>
            <a:chOff x="318724" y="2237927"/>
            <a:chExt cx="10933146" cy="1968979"/>
          </a:xfrm>
        </p:grpSpPr>
        <p:sp>
          <p:nvSpPr>
            <p:cNvPr id="52" name="正方形/長方形 51">
              <a:extLst>
                <a:ext uri="{FF2B5EF4-FFF2-40B4-BE49-F238E27FC236}">
                  <a16:creationId xmlns:a16="http://schemas.microsoft.com/office/drawing/2014/main" id="{C2B9618A-3D7E-5285-6DB8-C166EF3851D2}"/>
                </a:ext>
              </a:extLst>
            </p:cNvPr>
            <p:cNvSpPr/>
            <p:nvPr/>
          </p:nvSpPr>
          <p:spPr bwMode="auto">
            <a:xfrm>
              <a:off x="318724" y="2247989"/>
              <a:ext cx="958225" cy="1958203"/>
            </a:xfrm>
            <a:prstGeom prst="rect">
              <a:avLst/>
            </a:prstGeom>
            <a:solidFill>
              <a:schemeClr val="accent5">
                <a:lumMod val="5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ja-JP" altLang="en-US" sz="1400" b="1">
                  <a:solidFill>
                    <a:schemeClr val="bg1"/>
                  </a:solidFill>
                  <a:latin typeface="Meiryo UI" panose="020B0604030504040204" pitchFamily="50" charset="-128"/>
                  <a:ea typeface="Meiryo UI" panose="020B0604030504040204" pitchFamily="50" charset="-128"/>
                </a:rPr>
                <a:t>工数</a:t>
              </a:r>
              <a:br>
                <a:rPr lang="en-US" altLang="ja-JP" sz="1400" b="1">
                  <a:solidFill>
                    <a:schemeClr val="bg1"/>
                  </a:solidFill>
                  <a:latin typeface="Meiryo UI" panose="020B0604030504040204" pitchFamily="50" charset="-128"/>
                  <a:ea typeface="Meiryo UI" panose="020B0604030504040204" pitchFamily="50" charset="-128"/>
                </a:rPr>
              </a:br>
              <a:r>
                <a:rPr lang="en-US" altLang="ja-JP" sz="1200" b="1">
                  <a:solidFill>
                    <a:schemeClr val="bg1"/>
                  </a:solidFill>
                  <a:latin typeface="Meiryo UI" panose="020B0604030504040204" pitchFamily="50" charset="-128"/>
                  <a:ea typeface="Meiryo UI" panose="020B0604030504040204" pitchFamily="50" charset="-128"/>
                </a:rPr>
                <a:t>(</a:t>
              </a:r>
              <a:r>
                <a:rPr lang="ja-JP" altLang="en-US" sz="1050" b="1">
                  <a:solidFill>
                    <a:schemeClr val="bg1"/>
                  </a:solidFill>
                  <a:latin typeface="Meiryo UI" panose="020B0604030504040204" pitchFamily="50" charset="-128"/>
                  <a:ea typeface="Meiryo UI" panose="020B0604030504040204" pitchFamily="50" charset="-128"/>
                </a:rPr>
                <a:t>単位</a:t>
              </a:r>
              <a:r>
                <a:rPr lang="en-US" altLang="ja-JP" sz="1050" b="1">
                  <a:solidFill>
                    <a:schemeClr val="bg1"/>
                  </a:solidFill>
                  <a:latin typeface="Meiryo UI" panose="020B0604030504040204" pitchFamily="50" charset="-128"/>
                  <a:ea typeface="Meiryo UI" panose="020B0604030504040204" pitchFamily="50" charset="-128"/>
                </a:rPr>
                <a:t>:</a:t>
              </a:r>
              <a:r>
                <a:rPr lang="ja-JP" altLang="en-US" sz="1050" b="1">
                  <a:solidFill>
                    <a:schemeClr val="bg1"/>
                  </a:solidFill>
                  <a:latin typeface="Meiryo UI" panose="020B0604030504040204" pitchFamily="50" charset="-128"/>
                  <a:ea typeface="Meiryo UI" panose="020B0604030504040204" pitchFamily="50" charset="-128"/>
                </a:rPr>
                <a:t>人月</a:t>
              </a:r>
              <a:r>
                <a:rPr lang="en-US" altLang="ja-JP" sz="1050" b="1">
                  <a:solidFill>
                    <a:schemeClr val="bg1"/>
                  </a:solidFill>
                  <a:latin typeface="Meiryo UI" panose="020B0604030504040204" pitchFamily="50" charset="-128"/>
                  <a:ea typeface="Meiryo UI" panose="020B0604030504040204" pitchFamily="50" charset="-128"/>
                </a:rPr>
                <a:t>)</a:t>
              </a:r>
            </a:p>
            <a:p>
              <a:pPr algn="ctr" fontAlgn="ctr"/>
              <a:endParaRPr lang="en-US" altLang="ja-JP" sz="1050" b="1">
                <a:solidFill>
                  <a:schemeClr val="bg1"/>
                </a:solidFill>
                <a:latin typeface="Meiryo UI" panose="020B0604030504040204" pitchFamily="50" charset="-128"/>
                <a:ea typeface="Meiryo UI" panose="020B0604030504040204" pitchFamily="50" charset="-128"/>
              </a:endParaRPr>
            </a:p>
            <a:p>
              <a:pPr algn="ctr" fontAlgn="ctr"/>
              <a:r>
                <a:rPr lang="en-US" altLang="ja-JP" sz="1050" b="1">
                  <a:solidFill>
                    <a:schemeClr val="bg1"/>
                  </a:solidFill>
                  <a:latin typeface="Meiryo UI" panose="020B0604030504040204" pitchFamily="50" charset="-128"/>
                  <a:ea typeface="Meiryo UI" panose="020B0604030504040204" pitchFamily="50" charset="-128"/>
                </a:rPr>
                <a:t>*</a:t>
              </a:r>
              <a:r>
                <a:rPr lang="ja-JP" altLang="en-US" sz="1050" b="1">
                  <a:solidFill>
                    <a:schemeClr val="bg1"/>
                  </a:solidFill>
                  <a:latin typeface="Meiryo UI" panose="020B0604030504040204" pitchFamily="50" charset="-128"/>
                  <a:ea typeface="Meiryo UI" panose="020B0604030504040204" pitchFamily="50" charset="-128"/>
                </a:rPr>
                <a:t>社員含む</a:t>
              </a:r>
              <a:endParaRPr lang="en-US" altLang="ja-JP" sz="1400" b="1">
                <a:solidFill>
                  <a:schemeClr val="bg1"/>
                </a:solidFill>
                <a:latin typeface="Meiryo UI" panose="020B0604030504040204" pitchFamily="50" charset="-128"/>
                <a:ea typeface="Meiryo UI" panose="020B0604030504040204" pitchFamily="50" charset="-128"/>
              </a:endParaRPr>
            </a:p>
          </p:txBody>
        </p:sp>
        <p:sp>
          <p:nvSpPr>
            <p:cNvPr id="86" name="正方形/長方形 85">
              <a:extLst>
                <a:ext uri="{FF2B5EF4-FFF2-40B4-BE49-F238E27FC236}">
                  <a16:creationId xmlns:a16="http://schemas.microsoft.com/office/drawing/2014/main" id="{40166056-9483-130A-7A32-0428FA71B4AA}"/>
                </a:ext>
              </a:extLst>
            </p:cNvPr>
            <p:cNvSpPr/>
            <p:nvPr/>
          </p:nvSpPr>
          <p:spPr bwMode="auto">
            <a:xfrm>
              <a:off x="10459870" y="4037876"/>
              <a:ext cx="792000" cy="169030"/>
            </a:xfrm>
            <a:prstGeom prst="rect">
              <a:avLst/>
            </a:prstGeom>
            <a:solidFill>
              <a:schemeClr val="accent5">
                <a:lumMod val="5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b="1">
                  <a:solidFill>
                    <a:schemeClr val="bg1"/>
                  </a:solidFill>
                  <a:latin typeface="Meiryo UI" panose="020B0604030504040204" pitchFamily="50" charset="-128"/>
                  <a:ea typeface="Meiryo UI" panose="020B0604030504040204" pitchFamily="50" charset="-128"/>
                </a:rPr>
                <a:t>308.1</a:t>
              </a:r>
              <a:r>
                <a:rPr lang="ja-JP" altLang="en-US" sz="800">
                  <a:solidFill>
                    <a:schemeClr val="bg1"/>
                  </a:solidFill>
                  <a:latin typeface="Meiryo UI" panose="020B0604030504040204" pitchFamily="50" charset="-128"/>
                  <a:ea typeface="Meiryo UI" panose="020B0604030504040204" pitchFamily="50" charset="-128"/>
                </a:rPr>
                <a:t>人月</a:t>
              </a:r>
              <a:endParaRPr lang="en-US" altLang="ja-JP" sz="900">
                <a:solidFill>
                  <a:schemeClr val="bg1"/>
                </a:solidFill>
                <a:latin typeface="Meiryo UI" panose="020B0604030504040204" pitchFamily="50" charset="-128"/>
                <a:ea typeface="Meiryo UI" panose="020B0604030504040204" pitchFamily="50" charset="-128"/>
              </a:endParaRPr>
            </a:p>
          </p:txBody>
        </p:sp>
        <p:sp>
          <p:nvSpPr>
            <p:cNvPr id="101" name="正方形/長方形 100">
              <a:extLst>
                <a:ext uri="{FF2B5EF4-FFF2-40B4-BE49-F238E27FC236}">
                  <a16:creationId xmlns:a16="http://schemas.microsoft.com/office/drawing/2014/main" id="{D5575840-E6CF-E948-0739-8BA8F357E60A}"/>
                </a:ext>
              </a:extLst>
            </p:cNvPr>
            <p:cNvSpPr/>
            <p:nvPr/>
          </p:nvSpPr>
          <p:spPr bwMode="auto">
            <a:xfrm>
              <a:off x="10459870" y="2237927"/>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83.2</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7" name="正方形/長方形 86">
              <a:extLst>
                <a:ext uri="{FF2B5EF4-FFF2-40B4-BE49-F238E27FC236}">
                  <a16:creationId xmlns:a16="http://schemas.microsoft.com/office/drawing/2014/main" id="{A6728DB6-404D-9081-B461-2DCD8B919F14}"/>
                </a:ext>
              </a:extLst>
            </p:cNvPr>
            <p:cNvSpPr/>
            <p:nvPr/>
          </p:nvSpPr>
          <p:spPr bwMode="auto">
            <a:xfrm>
              <a:off x="1316352" y="4037876"/>
              <a:ext cx="1402699" cy="168321"/>
            </a:xfrm>
            <a:prstGeom prst="rect">
              <a:avLst/>
            </a:prstGeom>
            <a:solidFill>
              <a:schemeClr val="accent5">
                <a:lumMod val="5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50" b="1">
                  <a:solidFill>
                    <a:schemeClr val="bg1"/>
                  </a:solidFill>
                  <a:latin typeface="Meiryo UI" panose="020B0604030504040204" pitchFamily="50" charset="-128"/>
                  <a:ea typeface="Meiryo UI" panose="020B0604030504040204" pitchFamily="50" charset="-128"/>
                </a:rPr>
                <a:t>合計</a:t>
              </a:r>
              <a:endParaRPr lang="en-US" altLang="ja-JP" sz="1050" b="1">
                <a:solidFill>
                  <a:schemeClr val="bg1"/>
                </a:solidFill>
                <a:latin typeface="Meiryo UI" panose="020B0604030504040204" pitchFamily="50" charset="-128"/>
                <a:ea typeface="Meiryo UI" panose="020B0604030504040204" pitchFamily="50" charset="-128"/>
              </a:endParaRPr>
            </a:p>
          </p:txBody>
        </p:sp>
        <p:sp>
          <p:nvSpPr>
            <p:cNvPr id="95" name="正方形/長方形 94">
              <a:extLst>
                <a:ext uri="{FF2B5EF4-FFF2-40B4-BE49-F238E27FC236}">
                  <a16:creationId xmlns:a16="http://schemas.microsoft.com/office/drawing/2014/main" id="{FB870BCC-FC3C-4A6F-30D2-89F4B9EB54AE}"/>
                </a:ext>
              </a:extLst>
            </p:cNvPr>
            <p:cNvSpPr/>
            <p:nvPr/>
          </p:nvSpPr>
          <p:spPr bwMode="auto">
            <a:xfrm>
              <a:off x="1332007" y="2237927"/>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系</a:t>
              </a:r>
              <a:r>
                <a:rPr lang="en-US" altLang="ja-JP" sz="600" b="1">
                  <a:solidFill>
                    <a:schemeClr val="tx1">
                      <a:lumMod val="75000"/>
                      <a:lumOff val="25000"/>
                    </a:schemeClr>
                  </a:solidFill>
                  <a:latin typeface="Meiryo UI" panose="020B0604030504040204" pitchFamily="50" charset="-128"/>
                  <a:ea typeface="Meiryo UI" panose="020B0604030504040204" pitchFamily="50" charset="-128"/>
                </a:rPr>
                <a:t>(6</a:t>
              </a:r>
              <a:r>
                <a:rPr lang="ja-JP" altLang="en-US" sz="600" b="1">
                  <a:solidFill>
                    <a:schemeClr val="tx1">
                      <a:lumMod val="75000"/>
                      <a:lumOff val="25000"/>
                    </a:schemeClr>
                  </a:solidFill>
                  <a:latin typeface="Meiryo UI" panose="020B0604030504040204" pitchFamily="50" charset="-128"/>
                  <a:ea typeface="Meiryo UI" panose="020B0604030504040204" pitchFamily="50" charset="-128"/>
                </a:rPr>
                <a:t>システム</a:t>
              </a:r>
              <a:r>
                <a:rPr lang="en-US" altLang="ja-JP" sz="600" b="1">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050" b="1" baseline="30000">
                  <a:solidFill>
                    <a:schemeClr val="tx1">
                      <a:lumMod val="75000"/>
                      <a:lumOff val="25000"/>
                    </a:schemeClr>
                  </a:solidFill>
                  <a:latin typeface="Meiryo UI" panose="020B0604030504040204" pitchFamily="50" charset="-128"/>
                  <a:ea typeface="Meiryo UI" panose="020B0604030504040204" pitchFamily="50" charset="-128"/>
                </a:rPr>
                <a:t>*1</a:t>
              </a:r>
            </a:p>
          </p:txBody>
        </p:sp>
        <p:sp>
          <p:nvSpPr>
            <p:cNvPr id="123" name="正方形/長方形 122">
              <a:extLst>
                <a:ext uri="{FF2B5EF4-FFF2-40B4-BE49-F238E27FC236}">
                  <a16:creationId xmlns:a16="http://schemas.microsoft.com/office/drawing/2014/main" id="{1E292E78-887C-2230-6DEE-D940A350D8C6}"/>
                </a:ext>
              </a:extLst>
            </p:cNvPr>
            <p:cNvSpPr/>
            <p:nvPr/>
          </p:nvSpPr>
          <p:spPr bwMode="auto">
            <a:xfrm>
              <a:off x="1332007" y="2417921"/>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ロコン購買</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HUB(A</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伝</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24" name="正方形/長方形 123">
              <a:extLst>
                <a:ext uri="{FF2B5EF4-FFF2-40B4-BE49-F238E27FC236}">
                  <a16:creationId xmlns:a16="http://schemas.microsoft.com/office/drawing/2014/main" id="{9256BEF3-2875-AE68-9956-D4279ED82FAF}"/>
                </a:ext>
              </a:extLst>
            </p:cNvPr>
            <p:cNvSpPr/>
            <p:nvPr/>
          </p:nvSpPr>
          <p:spPr bwMode="auto">
            <a:xfrm>
              <a:off x="1332007" y="2597916"/>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ロコン銀行</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HUB</a:t>
              </a:r>
            </a:p>
          </p:txBody>
        </p:sp>
        <p:sp>
          <p:nvSpPr>
            <p:cNvPr id="125" name="正方形/長方形 124">
              <a:extLst>
                <a:ext uri="{FF2B5EF4-FFF2-40B4-BE49-F238E27FC236}">
                  <a16:creationId xmlns:a16="http://schemas.microsoft.com/office/drawing/2014/main" id="{D53BF699-E82F-348D-F4E7-FD635E304D9A}"/>
                </a:ext>
              </a:extLst>
            </p:cNvPr>
            <p:cNvSpPr/>
            <p:nvPr/>
          </p:nvSpPr>
          <p:spPr bwMode="auto">
            <a:xfrm>
              <a:off x="1332007" y="2777910"/>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RETMAS</a:t>
              </a:r>
            </a:p>
          </p:txBody>
        </p:sp>
        <p:sp>
          <p:nvSpPr>
            <p:cNvPr id="126" name="正方形/長方形 125">
              <a:extLst>
                <a:ext uri="{FF2B5EF4-FFF2-40B4-BE49-F238E27FC236}">
                  <a16:creationId xmlns:a16="http://schemas.microsoft.com/office/drawing/2014/main" id="{D34CE5ED-EE64-D775-2D88-1EFD7EC47AE1}"/>
                </a:ext>
              </a:extLst>
            </p:cNvPr>
            <p:cNvSpPr/>
            <p:nvPr/>
          </p:nvSpPr>
          <p:spPr bwMode="auto">
            <a:xfrm>
              <a:off x="1332007" y="2957905"/>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とんぺい</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7" name="正方形/長方形 126">
              <a:extLst>
                <a:ext uri="{FF2B5EF4-FFF2-40B4-BE49-F238E27FC236}">
                  <a16:creationId xmlns:a16="http://schemas.microsoft.com/office/drawing/2014/main" id="{6B6F96F3-4E0D-061F-231F-A9BC9B1E5976}"/>
                </a:ext>
              </a:extLst>
            </p:cNvPr>
            <p:cNvSpPr/>
            <p:nvPr/>
          </p:nvSpPr>
          <p:spPr bwMode="auto">
            <a:xfrm>
              <a:off x="1332007" y="3137899"/>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MICO/CHACO</a:t>
              </a:r>
            </a:p>
          </p:txBody>
        </p:sp>
        <p:sp>
          <p:nvSpPr>
            <p:cNvPr id="128" name="正方形/長方形 127">
              <a:extLst>
                <a:ext uri="{FF2B5EF4-FFF2-40B4-BE49-F238E27FC236}">
                  <a16:creationId xmlns:a16="http://schemas.microsoft.com/office/drawing/2014/main" id="{AE096BB9-3169-BE93-6370-60ACE45E5390}"/>
                </a:ext>
              </a:extLst>
            </p:cNvPr>
            <p:cNvSpPr/>
            <p:nvPr/>
          </p:nvSpPr>
          <p:spPr bwMode="auto">
            <a:xfrm>
              <a:off x="1332007" y="3317895"/>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ミスギ</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9" name="正方形/長方形 128">
              <a:extLst>
                <a:ext uri="{FF2B5EF4-FFF2-40B4-BE49-F238E27FC236}">
                  <a16:creationId xmlns:a16="http://schemas.microsoft.com/office/drawing/2014/main" id="{704488B6-DB13-B47E-8657-EA50AE688371}"/>
                </a:ext>
              </a:extLst>
            </p:cNvPr>
            <p:cNvSpPr/>
            <p:nvPr/>
          </p:nvSpPr>
          <p:spPr bwMode="auto">
            <a:xfrm>
              <a:off x="1332007" y="3497889"/>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SYOGO7</a:t>
              </a:r>
            </a:p>
          </p:txBody>
        </p:sp>
        <p:sp>
          <p:nvSpPr>
            <p:cNvPr id="130" name="正方形/長方形 129">
              <a:extLst>
                <a:ext uri="{FF2B5EF4-FFF2-40B4-BE49-F238E27FC236}">
                  <a16:creationId xmlns:a16="http://schemas.microsoft.com/office/drawing/2014/main" id="{AE242264-0B49-1B82-5F2F-88AAD44007EA}"/>
                </a:ext>
              </a:extLst>
            </p:cNvPr>
            <p:cNvSpPr/>
            <p:nvPr/>
          </p:nvSpPr>
          <p:spPr bwMode="auto">
            <a:xfrm>
              <a:off x="1332007" y="3677884"/>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ツバサ</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050" err="1">
                  <a:solidFill>
                    <a:schemeClr val="tx1">
                      <a:lumMod val="75000"/>
                      <a:lumOff val="25000"/>
                    </a:schemeClr>
                  </a:solidFill>
                  <a:latin typeface="Meiryo UI" panose="020B0604030504040204" pitchFamily="50" charset="-128"/>
                  <a:ea typeface="Meiryo UI" panose="020B0604030504040204" pitchFamily="50" charset="-128"/>
                </a:rPr>
                <a:t>Neko</a:t>
              </a: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(2</a:t>
              </a:r>
              <a:r>
                <a:rPr lang="ja-JP" altLang="en-US" sz="600">
                  <a:solidFill>
                    <a:schemeClr val="tx1">
                      <a:lumMod val="75000"/>
                      <a:lumOff val="25000"/>
                    </a:schemeClr>
                  </a:solidFill>
                  <a:latin typeface="Meiryo UI" panose="020B0604030504040204" pitchFamily="50" charset="-128"/>
                  <a:ea typeface="Meiryo UI" panose="020B0604030504040204" pitchFamily="50" charset="-128"/>
                </a:rPr>
                <a:t>システム</a:t>
              </a: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1" name="正方形/長方形 130">
              <a:extLst>
                <a:ext uri="{FF2B5EF4-FFF2-40B4-BE49-F238E27FC236}">
                  <a16:creationId xmlns:a16="http://schemas.microsoft.com/office/drawing/2014/main" id="{5689E9CB-857D-636C-1509-A82FB8D3B336}"/>
                </a:ext>
              </a:extLst>
            </p:cNvPr>
            <p:cNvSpPr/>
            <p:nvPr/>
          </p:nvSpPr>
          <p:spPr bwMode="auto">
            <a:xfrm>
              <a:off x="1332007" y="3857878"/>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Access</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ツール</a:t>
              </a: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(4</a:t>
              </a:r>
              <a:r>
                <a:rPr lang="ja-JP" altLang="en-US" sz="600">
                  <a:solidFill>
                    <a:schemeClr val="tx1">
                      <a:lumMod val="75000"/>
                      <a:lumOff val="25000"/>
                    </a:schemeClr>
                  </a:solidFill>
                  <a:latin typeface="Meiryo UI" panose="020B0604030504040204" pitchFamily="50" charset="-128"/>
                  <a:ea typeface="Meiryo UI" panose="020B0604030504040204" pitchFamily="50" charset="-128"/>
                </a:rPr>
                <a:t>ツール</a:t>
              </a: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96" name="正方形/長方形 95">
              <a:extLst>
                <a:ext uri="{FF2B5EF4-FFF2-40B4-BE49-F238E27FC236}">
                  <a16:creationId xmlns:a16="http://schemas.microsoft.com/office/drawing/2014/main" id="{6CA506CC-F681-1314-E20E-2BD4876E1B69}"/>
                </a:ext>
              </a:extLst>
            </p:cNvPr>
            <p:cNvSpPr/>
            <p:nvPr/>
          </p:nvSpPr>
          <p:spPr bwMode="auto">
            <a:xfrm>
              <a:off x="7590750" y="3137898"/>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1.2</a:t>
              </a:r>
            </a:p>
          </p:txBody>
        </p:sp>
        <p:sp>
          <p:nvSpPr>
            <p:cNvPr id="135" name="正方形/長方形 134">
              <a:extLst>
                <a:ext uri="{FF2B5EF4-FFF2-40B4-BE49-F238E27FC236}">
                  <a16:creationId xmlns:a16="http://schemas.microsoft.com/office/drawing/2014/main" id="{96E299C0-4001-E628-0281-FF4D0E42AD2D}"/>
                </a:ext>
              </a:extLst>
            </p:cNvPr>
            <p:cNvSpPr/>
            <p:nvPr/>
          </p:nvSpPr>
          <p:spPr bwMode="auto">
            <a:xfrm>
              <a:off x="7590750" y="2237927"/>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9.9</a:t>
              </a:r>
            </a:p>
          </p:txBody>
        </p:sp>
        <p:sp>
          <p:nvSpPr>
            <p:cNvPr id="141" name="正方形/長方形 140">
              <a:extLst>
                <a:ext uri="{FF2B5EF4-FFF2-40B4-BE49-F238E27FC236}">
                  <a16:creationId xmlns:a16="http://schemas.microsoft.com/office/drawing/2014/main" id="{B756352D-A78C-B7E2-12F8-1FC3A417615E}"/>
                </a:ext>
              </a:extLst>
            </p:cNvPr>
            <p:cNvSpPr/>
            <p:nvPr/>
          </p:nvSpPr>
          <p:spPr bwMode="auto">
            <a:xfrm>
              <a:off x="7590750" y="2417921"/>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3.9</a:t>
              </a:r>
            </a:p>
          </p:txBody>
        </p:sp>
        <p:sp>
          <p:nvSpPr>
            <p:cNvPr id="147" name="正方形/長方形 146">
              <a:extLst>
                <a:ext uri="{FF2B5EF4-FFF2-40B4-BE49-F238E27FC236}">
                  <a16:creationId xmlns:a16="http://schemas.microsoft.com/office/drawing/2014/main" id="{8C2C5F2F-9C28-6D3D-E630-A9A43892DAF8}"/>
                </a:ext>
              </a:extLst>
            </p:cNvPr>
            <p:cNvSpPr/>
            <p:nvPr/>
          </p:nvSpPr>
          <p:spPr bwMode="auto">
            <a:xfrm>
              <a:off x="7590750" y="2597916"/>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3.0</a:t>
              </a:r>
            </a:p>
          </p:txBody>
        </p:sp>
        <p:sp>
          <p:nvSpPr>
            <p:cNvPr id="153" name="正方形/長方形 152">
              <a:extLst>
                <a:ext uri="{FF2B5EF4-FFF2-40B4-BE49-F238E27FC236}">
                  <a16:creationId xmlns:a16="http://schemas.microsoft.com/office/drawing/2014/main" id="{F1359556-D95F-9D1F-3BF5-95DDE48345E1}"/>
                </a:ext>
              </a:extLst>
            </p:cNvPr>
            <p:cNvSpPr/>
            <p:nvPr/>
          </p:nvSpPr>
          <p:spPr bwMode="auto">
            <a:xfrm>
              <a:off x="7590750" y="2777910"/>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7.9</a:t>
              </a:r>
            </a:p>
          </p:txBody>
        </p:sp>
        <p:sp>
          <p:nvSpPr>
            <p:cNvPr id="159" name="正方形/長方形 158">
              <a:extLst>
                <a:ext uri="{FF2B5EF4-FFF2-40B4-BE49-F238E27FC236}">
                  <a16:creationId xmlns:a16="http://schemas.microsoft.com/office/drawing/2014/main" id="{EC62FA2C-95F1-9D38-F8AE-2749947FBF0B}"/>
                </a:ext>
              </a:extLst>
            </p:cNvPr>
            <p:cNvSpPr/>
            <p:nvPr/>
          </p:nvSpPr>
          <p:spPr bwMode="auto">
            <a:xfrm>
              <a:off x="7590750" y="2957904"/>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3.6</a:t>
              </a:r>
            </a:p>
          </p:txBody>
        </p:sp>
        <p:sp>
          <p:nvSpPr>
            <p:cNvPr id="165" name="正方形/長方形 164">
              <a:extLst>
                <a:ext uri="{FF2B5EF4-FFF2-40B4-BE49-F238E27FC236}">
                  <a16:creationId xmlns:a16="http://schemas.microsoft.com/office/drawing/2014/main" id="{488BAB42-DB0A-C51F-E93F-7379B5D094C3}"/>
                </a:ext>
              </a:extLst>
            </p:cNvPr>
            <p:cNvSpPr/>
            <p:nvPr/>
          </p:nvSpPr>
          <p:spPr bwMode="auto">
            <a:xfrm>
              <a:off x="7590750" y="3317893"/>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0.6</a:t>
              </a:r>
            </a:p>
          </p:txBody>
        </p:sp>
        <p:sp>
          <p:nvSpPr>
            <p:cNvPr id="177" name="正方形/長方形 176">
              <a:extLst>
                <a:ext uri="{FF2B5EF4-FFF2-40B4-BE49-F238E27FC236}">
                  <a16:creationId xmlns:a16="http://schemas.microsoft.com/office/drawing/2014/main" id="{01827F2B-8FA9-A3DA-E49E-74998EEFDCFD}"/>
                </a:ext>
              </a:extLst>
            </p:cNvPr>
            <p:cNvSpPr/>
            <p:nvPr/>
          </p:nvSpPr>
          <p:spPr bwMode="auto">
            <a:xfrm>
              <a:off x="7590750" y="3497888"/>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83" name="正方形/長方形 182">
              <a:extLst>
                <a:ext uri="{FF2B5EF4-FFF2-40B4-BE49-F238E27FC236}">
                  <a16:creationId xmlns:a16="http://schemas.microsoft.com/office/drawing/2014/main" id="{DE058C27-5BAD-5389-A4A2-82C541C6EDA1}"/>
                </a:ext>
              </a:extLst>
            </p:cNvPr>
            <p:cNvSpPr/>
            <p:nvPr/>
          </p:nvSpPr>
          <p:spPr bwMode="auto">
            <a:xfrm>
              <a:off x="7590750" y="3677883"/>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89" name="正方形/長方形 188">
              <a:extLst>
                <a:ext uri="{FF2B5EF4-FFF2-40B4-BE49-F238E27FC236}">
                  <a16:creationId xmlns:a16="http://schemas.microsoft.com/office/drawing/2014/main" id="{510B05F3-A418-5B8B-643D-F835D0D647C4}"/>
                </a:ext>
              </a:extLst>
            </p:cNvPr>
            <p:cNvSpPr/>
            <p:nvPr/>
          </p:nvSpPr>
          <p:spPr bwMode="auto">
            <a:xfrm>
              <a:off x="7590750" y="3857878"/>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5" name="正方形/長方形 194">
              <a:extLst>
                <a:ext uri="{FF2B5EF4-FFF2-40B4-BE49-F238E27FC236}">
                  <a16:creationId xmlns:a16="http://schemas.microsoft.com/office/drawing/2014/main" id="{71CAC14A-8E42-ED4E-C5B8-69B84ED66070}"/>
                </a:ext>
              </a:extLst>
            </p:cNvPr>
            <p:cNvSpPr/>
            <p:nvPr/>
          </p:nvSpPr>
          <p:spPr bwMode="auto">
            <a:xfrm>
              <a:off x="7590750" y="4037876"/>
              <a:ext cx="1332000"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30.1</a:t>
              </a:r>
            </a:p>
          </p:txBody>
        </p:sp>
        <p:sp>
          <p:nvSpPr>
            <p:cNvPr id="97" name="正方形/長方形 96">
              <a:extLst>
                <a:ext uri="{FF2B5EF4-FFF2-40B4-BE49-F238E27FC236}">
                  <a16:creationId xmlns:a16="http://schemas.microsoft.com/office/drawing/2014/main" id="{D986F95F-C3A6-385F-6CAF-72E09D6401B0}"/>
                </a:ext>
              </a:extLst>
            </p:cNvPr>
            <p:cNvSpPr/>
            <p:nvPr/>
          </p:nvSpPr>
          <p:spPr bwMode="auto">
            <a:xfrm>
              <a:off x="2780198" y="3137898"/>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1.7</a:t>
              </a:r>
            </a:p>
          </p:txBody>
        </p:sp>
        <p:sp>
          <p:nvSpPr>
            <p:cNvPr id="136" name="正方形/長方形 135">
              <a:extLst>
                <a:ext uri="{FF2B5EF4-FFF2-40B4-BE49-F238E27FC236}">
                  <a16:creationId xmlns:a16="http://schemas.microsoft.com/office/drawing/2014/main" id="{5B67A910-4DFC-9F64-A149-6D5FCAE0C6F5}"/>
                </a:ext>
              </a:extLst>
            </p:cNvPr>
            <p:cNvSpPr/>
            <p:nvPr/>
          </p:nvSpPr>
          <p:spPr bwMode="auto">
            <a:xfrm>
              <a:off x="2780198" y="2237927"/>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9.4</a:t>
              </a:r>
            </a:p>
          </p:txBody>
        </p:sp>
        <p:sp>
          <p:nvSpPr>
            <p:cNvPr id="142" name="正方形/長方形 141">
              <a:extLst>
                <a:ext uri="{FF2B5EF4-FFF2-40B4-BE49-F238E27FC236}">
                  <a16:creationId xmlns:a16="http://schemas.microsoft.com/office/drawing/2014/main" id="{15029979-9CD4-BDCE-1D08-41AEF6B1F048}"/>
                </a:ext>
              </a:extLst>
            </p:cNvPr>
            <p:cNvSpPr/>
            <p:nvPr/>
          </p:nvSpPr>
          <p:spPr bwMode="auto">
            <a:xfrm>
              <a:off x="2780198" y="2417921"/>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4.8</a:t>
              </a:r>
            </a:p>
          </p:txBody>
        </p:sp>
        <p:sp>
          <p:nvSpPr>
            <p:cNvPr id="148" name="正方形/長方形 147">
              <a:extLst>
                <a:ext uri="{FF2B5EF4-FFF2-40B4-BE49-F238E27FC236}">
                  <a16:creationId xmlns:a16="http://schemas.microsoft.com/office/drawing/2014/main" id="{DC240603-5C7C-812E-15C5-B28BA617FE93}"/>
                </a:ext>
              </a:extLst>
            </p:cNvPr>
            <p:cNvSpPr/>
            <p:nvPr/>
          </p:nvSpPr>
          <p:spPr bwMode="auto">
            <a:xfrm>
              <a:off x="2780198" y="2597916"/>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8.7</a:t>
              </a:r>
            </a:p>
          </p:txBody>
        </p:sp>
        <p:sp>
          <p:nvSpPr>
            <p:cNvPr id="154" name="正方形/長方形 153">
              <a:extLst>
                <a:ext uri="{FF2B5EF4-FFF2-40B4-BE49-F238E27FC236}">
                  <a16:creationId xmlns:a16="http://schemas.microsoft.com/office/drawing/2014/main" id="{34094EF5-55A6-91B8-7C93-E506F71F8770}"/>
                </a:ext>
              </a:extLst>
            </p:cNvPr>
            <p:cNvSpPr/>
            <p:nvPr/>
          </p:nvSpPr>
          <p:spPr bwMode="auto">
            <a:xfrm>
              <a:off x="2780198" y="2777910"/>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7.7</a:t>
              </a:r>
            </a:p>
          </p:txBody>
        </p:sp>
        <p:sp>
          <p:nvSpPr>
            <p:cNvPr id="160" name="正方形/長方形 159">
              <a:extLst>
                <a:ext uri="{FF2B5EF4-FFF2-40B4-BE49-F238E27FC236}">
                  <a16:creationId xmlns:a16="http://schemas.microsoft.com/office/drawing/2014/main" id="{467B28B2-C7C5-3C78-51AA-48E035C00A20}"/>
                </a:ext>
              </a:extLst>
            </p:cNvPr>
            <p:cNvSpPr/>
            <p:nvPr/>
          </p:nvSpPr>
          <p:spPr bwMode="auto">
            <a:xfrm>
              <a:off x="2780198" y="2957904"/>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5.7</a:t>
              </a:r>
            </a:p>
          </p:txBody>
        </p:sp>
        <p:sp>
          <p:nvSpPr>
            <p:cNvPr id="166" name="正方形/長方形 165">
              <a:extLst>
                <a:ext uri="{FF2B5EF4-FFF2-40B4-BE49-F238E27FC236}">
                  <a16:creationId xmlns:a16="http://schemas.microsoft.com/office/drawing/2014/main" id="{3C9D8BD3-C818-9A29-BD73-526FB590F70C}"/>
                </a:ext>
              </a:extLst>
            </p:cNvPr>
            <p:cNvSpPr/>
            <p:nvPr/>
          </p:nvSpPr>
          <p:spPr bwMode="auto">
            <a:xfrm>
              <a:off x="2780198" y="3317893"/>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1.4</a:t>
              </a:r>
            </a:p>
          </p:txBody>
        </p:sp>
        <p:sp>
          <p:nvSpPr>
            <p:cNvPr id="178" name="正方形/長方形 177">
              <a:extLst>
                <a:ext uri="{FF2B5EF4-FFF2-40B4-BE49-F238E27FC236}">
                  <a16:creationId xmlns:a16="http://schemas.microsoft.com/office/drawing/2014/main" id="{0B179AE1-F2C9-5E33-5678-52966EA7337C}"/>
                </a:ext>
              </a:extLst>
            </p:cNvPr>
            <p:cNvSpPr/>
            <p:nvPr/>
          </p:nvSpPr>
          <p:spPr bwMode="auto">
            <a:xfrm>
              <a:off x="2780198" y="3497888"/>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1.0</a:t>
              </a:r>
            </a:p>
          </p:txBody>
        </p:sp>
        <p:sp>
          <p:nvSpPr>
            <p:cNvPr id="184" name="正方形/長方形 183">
              <a:extLst>
                <a:ext uri="{FF2B5EF4-FFF2-40B4-BE49-F238E27FC236}">
                  <a16:creationId xmlns:a16="http://schemas.microsoft.com/office/drawing/2014/main" id="{FA4F90BE-E9F1-A4FE-D16B-BBFF5C03AA1B}"/>
                </a:ext>
              </a:extLst>
            </p:cNvPr>
            <p:cNvSpPr/>
            <p:nvPr/>
          </p:nvSpPr>
          <p:spPr bwMode="auto">
            <a:xfrm>
              <a:off x="2780198" y="3677883"/>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a:t>
              </a:r>
            </a:p>
          </p:txBody>
        </p:sp>
        <p:sp>
          <p:nvSpPr>
            <p:cNvPr id="190" name="正方形/長方形 189">
              <a:extLst>
                <a:ext uri="{FF2B5EF4-FFF2-40B4-BE49-F238E27FC236}">
                  <a16:creationId xmlns:a16="http://schemas.microsoft.com/office/drawing/2014/main" id="{CAE57853-9E8D-AA5C-6D8E-4DA047E26821}"/>
                </a:ext>
              </a:extLst>
            </p:cNvPr>
            <p:cNvSpPr/>
            <p:nvPr/>
          </p:nvSpPr>
          <p:spPr bwMode="auto">
            <a:xfrm>
              <a:off x="2780198" y="3857878"/>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2.1</a:t>
              </a:r>
            </a:p>
          </p:txBody>
        </p:sp>
        <p:sp>
          <p:nvSpPr>
            <p:cNvPr id="196" name="正方形/長方形 195">
              <a:extLst>
                <a:ext uri="{FF2B5EF4-FFF2-40B4-BE49-F238E27FC236}">
                  <a16:creationId xmlns:a16="http://schemas.microsoft.com/office/drawing/2014/main" id="{FB163477-5866-27F4-5100-FDFCD28FBBE6}"/>
                </a:ext>
              </a:extLst>
            </p:cNvPr>
            <p:cNvSpPr/>
            <p:nvPr/>
          </p:nvSpPr>
          <p:spPr bwMode="auto">
            <a:xfrm>
              <a:off x="2780198" y="4037876"/>
              <a:ext cx="893213"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43.8</a:t>
              </a:r>
            </a:p>
          </p:txBody>
        </p:sp>
        <p:sp>
          <p:nvSpPr>
            <p:cNvPr id="98" name="正方形/長方形 97">
              <a:extLst>
                <a:ext uri="{FF2B5EF4-FFF2-40B4-BE49-F238E27FC236}">
                  <a16:creationId xmlns:a16="http://schemas.microsoft.com/office/drawing/2014/main" id="{94546B11-F0BD-AFD9-B288-66E1ED0870E0}"/>
                </a:ext>
              </a:extLst>
            </p:cNvPr>
            <p:cNvSpPr/>
            <p:nvPr/>
          </p:nvSpPr>
          <p:spPr bwMode="auto">
            <a:xfrm>
              <a:off x="3717876" y="3137898"/>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3.2</a:t>
              </a:r>
            </a:p>
          </p:txBody>
        </p:sp>
        <p:sp>
          <p:nvSpPr>
            <p:cNvPr id="137" name="正方形/長方形 136">
              <a:extLst>
                <a:ext uri="{FF2B5EF4-FFF2-40B4-BE49-F238E27FC236}">
                  <a16:creationId xmlns:a16="http://schemas.microsoft.com/office/drawing/2014/main" id="{1F59D0F0-6D9D-C45D-278D-4DAABE68098E}"/>
                </a:ext>
              </a:extLst>
            </p:cNvPr>
            <p:cNvSpPr/>
            <p:nvPr/>
          </p:nvSpPr>
          <p:spPr bwMode="auto">
            <a:xfrm>
              <a:off x="3717876" y="2237927"/>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35.6</a:t>
              </a:r>
            </a:p>
          </p:txBody>
        </p:sp>
        <p:sp>
          <p:nvSpPr>
            <p:cNvPr id="143" name="正方形/長方形 142">
              <a:extLst>
                <a:ext uri="{FF2B5EF4-FFF2-40B4-BE49-F238E27FC236}">
                  <a16:creationId xmlns:a16="http://schemas.microsoft.com/office/drawing/2014/main" id="{92EB6A98-BF46-3F3F-E02D-146FE7A0188F}"/>
                </a:ext>
              </a:extLst>
            </p:cNvPr>
            <p:cNvSpPr/>
            <p:nvPr/>
          </p:nvSpPr>
          <p:spPr bwMode="auto">
            <a:xfrm>
              <a:off x="3717876" y="2417921"/>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13.9</a:t>
              </a:r>
            </a:p>
          </p:txBody>
        </p:sp>
        <p:sp>
          <p:nvSpPr>
            <p:cNvPr id="149" name="正方形/長方形 148">
              <a:extLst>
                <a:ext uri="{FF2B5EF4-FFF2-40B4-BE49-F238E27FC236}">
                  <a16:creationId xmlns:a16="http://schemas.microsoft.com/office/drawing/2014/main" id="{E96FE7CA-B5D4-5FC7-45F9-490F51A73CEF}"/>
                </a:ext>
              </a:extLst>
            </p:cNvPr>
            <p:cNvSpPr/>
            <p:nvPr/>
          </p:nvSpPr>
          <p:spPr bwMode="auto">
            <a:xfrm>
              <a:off x="3717876" y="2597916"/>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22.0</a:t>
              </a:r>
            </a:p>
          </p:txBody>
        </p:sp>
        <p:sp>
          <p:nvSpPr>
            <p:cNvPr id="155" name="正方形/長方形 154">
              <a:extLst>
                <a:ext uri="{FF2B5EF4-FFF2-40B4-BE49-F238E27FC236}">
                  <a16:creationId xmlns:a16="http://schemas.microsoft.com/office/drawing/2014/main" id="{AE062596-90F0-BA21-BD9A-ECCC7BE22CFF}"/>
                </a:ext>
              </a:extLst>
            </p:cNvPr>
            <p:cNvSpPr/>
            <p:nvPr/>
          </p:nvSpPr>
          <p:spPr bwMode="auto">
            <a:xfrm>
              <a:off x="3717876" y="2777910"/>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34.8</a:t>
              </a:r>
            </a:p>
          </p:txBody>
        </p:sp>
        <p:sp>
          <p:nvSpPr>
            <p:cNvPr id="161" name="正方形/長方形 160">
              <a:extLst>
                <a:ext uri="{FF2B5EF4-FFF2-40B4-BE49-F238E27FC236}">
                  <a16:creationId xmlns:a16="http://schemas.microsoft.com/office/drawing/2014/main" id="{D6A3B5AB-6A62-A73A-11AF-08E6953523E7}"/>
                </a:ext>
              </a:extLst>
            </p:cNvPr>
            <p:cNvSpPr/>
            <p:nvPr/>
          </p:nvSpPr>
          <p:spPr bwMode="auto">
            <a:xfrm>
              <a:off x="3717876" y="2957904"/>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20.6</a:t>
              </a:r>
            </a:p>
          </p:txBody>
        </p:sp>
        <p:sp>
          <p:nvSpPr>
            <p:cNvPr id="167" name="正方形/長方形 166">
              <a:extLst>
                <a:ext uri="{FF2B5EF4-FFF2-40B4-BE49-F238E27FC236}">
                  <a16:creationId xmlns:a16="http://schemas.microsoft.com/office/drawing/2014/main" id="{947C8B2D-8A0D-2536-28A9-80E90CAC7FFD}"/>
                </a:ext>
              </a:extLst>
            </p:cNvPr>
            <p:cNvSpPr/>
            <p:nvPr/>
          </p:nvSpPr>
          <p:spPr bwMode="auto">
            <a:xfrm>
              <a:off x="3717876" y="3317893"/>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9.6</a:t>
              </a:r>
            </a:p>
          </p:txBody>
        </p:sp>
        <p:sp>
          <p:nvSpPr>
            <p:cNvPr id="179" name="正方形/長方形 178">
              <a:extLst>
                <a:ext uri="{FF2B5EF4-FFF2-40B4-BE49-F238E27FC236}">
                  <a16:creationId xmlns:a16="http://schemas.microsoft.com/office/drawing/2014/main" id="{23567C66-B3F5-734B-40D3-58C8B66DF90E}"/>
                </a:ext>
              </a:extLst>
            </p:cNvPr>
            <p:cNvSpPr/>
            <p:nvPr/>
          </p:nvSpPr>
          <p:spPr bwMode="auto">
            <a:xfrm>
              <a:off x="3717876" y="3497888"/>
              <a:ext cx="1839943"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85" name="正方形/長方形 184">
              <a:extLst>
                <a:ext uri="{FF2B5EF4-FFF2-40B4-BE49-F238E27FC236}">
                  <a16:creationId xmlns:a16="http://schemas.microsoft.com/office/drawing/2014/main" id="{4309D8DF-DB40-CC47-D0BE-6032C131913A}"/>
                </a:ext>
              </a:extLst>
            </p:cNvPr>
            <p:cNvSpPr/>
            <p:nvPr/>
          </p:nvSpPr>
          <p:spPr bwMode="auto">
            <a:xfrm>
              <a:off x="3717876" y="3677883"/>
              <a:ext cx="1839943"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1" name="正方形/長方形 190">
              <a:extLst>
                <a:ext uri="{FF2B5EF4-FFF2-40B4-BE49-F238E27FC236}">
                  <a16:creationId xmlns:a16="http://schemas.microsoft.com/office/drawing/2014/main" id="{1AC1E6D7-DEF8-6B94-F1EC-6B3752BF308A}"/>
                </a:ext>
              </a:extLst>
            </p:cNvPr>
            <p:cNvSpPr/>
            <p:nvPr/>
          </p:nvSpPr>
          <p:spPr bwMode="auto">
            <a:xfrm>
              <a:off x="3717876" y="3857878"/>
              <a:ext cx="1839943"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7" name="正方形/長方形 196">
              <a:extLst>
                <a:ext uri="{FF2B5EF4-FFF2-40B4-BE49-F238E27FC236}">
                  <a16:creationId xmlns:a16="http://schemas.microsoft.com/office/drawing/2014/main" id="{BD85CA7D-A408-DD14-38DB-7F38D61EF390}"/>
                </a:ext>
              </a:extLst>
            </p:cNvPr>
            <p:cNvSpPr/>
            <p:nvPr/>
          </p:nvSpPr>
          <p:spPr bwMode="auto">
            <a:xfrm>
              <a:off x="3717876" y="4037876"/>
              <a:ext cx="1839943"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139.7</a:t>
              </a:r>
            </a:p>
          </p:txBody>
        </p:sp>
        <p:sp>
          <p:nvSpPr>
            <p:cNvPr id="99" name="正方形/長方形 98">
              <a:extLst>
                <a:ext uri="{FF2B5EF4-FFF2-40B4-BE49-F238E27FC236}">
                  <a16:creationId xmlns:a16="http://schemas.microsoft.com/office/drawing/2014/main" id="{E83A2589-FB42-4384-166A-21EEE33865E1}"/>
                </a:ext>
              </a:extLst>
            </p:cNvPr>
            <p:cNvSpPr/>
            <p:nvPr/>
          </p:nvSpPr>
          <p:spPr bwMode="auto">
            <a:xfrm>
              <a:off x="5602285" y="3137898"/>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1.9</a:t>
              </a:r>
            </a:p>
          </p:txBody>
        </p:sp>
        <p:sp>
          <p:nvSpPr>
            <p:cNvPr id="138" name="正方形/長方形 137">
              <a:extLst>
                <a:ext uri="{FF2B5EF4-FFF2-40B4-BE49-F238E27FC236}">
                  <a16:creationId xmlns:a16="http://schemas.microsoft.com/office/drawing/2014/main" id="{8EEE8135-06B2-D85D-1FF0-3117B920AD47}"/>
                </a:ext>
              </a:extLst>
            </p:cNvPr>
            <p:cNvSpPr/>
            <p:nvPr/>
          </p:nvSpPr>
          <p:spPr bwMode="auto">
            <a:xfrm>
              <a:off x="5602285" y="2237927"/>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19.6</a:t>
              </a:r>
            </a:p>
          </p:txBody>
        </p:sp>
        <p:sp>
          <p:nvSpPr>
            <p:cNvPr id="144" name="正方形/長方形 143">
              <a:extLst>
                <a:ext uri="{FF2B5EF4-FFF2-40B4-BE49-F238E27FC236}">
                  <a16:creationId xmlns:a16="http://schemas.microsoft.com/office/drawing/2014/main" id="{3FB6E65C-FA01-4631-651A-AF4BFD6FA530}"/>
                </a:ext>
              </a:extLst>
            </p:cNvPr>
            <p:cNvSpPr/>
            <p:nvPr/>
          </p:nvSpPr>
          <p:spPr bwMode="auto">
            <a:xfrm>
              <a:off x="5602285" y="2417921"/>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9.6</a:t>
              </a:r>
            </a:p>
          </p:txBody>
        </p:sp>
        <p:sp>
          <p:nvSpPr>
            <p:cNvPr id="150" name="正方形/長方形 149">
              <a:extLst>
                <a:ext uri="{FF2B5EF4-FFF2-40B4-BE49-F238E27FC236}">
                  <a16:creationId xmlns:a16="http://schemas.microsoft.com/office/drawing/2014/main" id="{534FF511-C803-E2E8-C995-A59005BDE593}"/>
                </a:ext>
              </a:extLst>
            </p:cNvPr>
            <p:cNvSpPr/>
            <p:nvPr/>
          </p:nvSpPr>
          <p:spPr bwMode="auto">
            <a:xfrm>
              <a:off x="5602285" y="2597916"/>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4.0</a:t>
              </a:r>
            </a:p>
          </p:txBody>
        </p:sp>
        <p:sp>
          <p:nvSpPr>
            <p:cNvPr id="156" name="正方形/長方形 155">
              <a:extLst>
                <a:ext uri="{FF2B5EF4-FFF2-40B4-BE49-F238E27FC236}">
                  <a16:creationId xmlns:a16="http://schemas.microsoft.com/office/drawing/2014/main" id="{2B10B9D5-B0AE-8D53-2BF1-F02A37C87168}"/>
                </a:ext>
              </a:extLst>
            </p:cNvPr>
            <p:cNvSpPr/>
            <p:nvPr/>
          </p:nvSpPr>
          <p:spPr bwMode="auto">
            <a:xfrm>
              <a:off x="5602285" y="2777910"/>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26.8</a:t>
              </a:r>
            </a:p>
          </p:txBody>
        </p:sp>
        <p:sp>
          <p:nvSpPr>
            <p:cNvPr id="162" name="正方形/長方形 161">
              <a:extLst>
                <a:ext uri="{FF2B5EF4-FFF2-40B4-BE49-F238E27FC236}">
                  <a16:creationId xmlns:a16="http://schemas.microsoft.com/office/drawing/2014/main" id="{4675A3E2-BB59-74C8-1590-E8D3E22AD7AF}"/>
                </a:ext>
              </a:extLst>
            </p:cNvPr>
            <p:cNvSpPr/>
            <p:nvPr/>
          </p:nvSpPr>
          <p:spPr bwMode="auto">
            <a:xfrm>
              <a:off x="5602285" y="2957904"/>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5.6</a:t>
              </a:r>
            </a:p>
          </p:txBody>
        </p:sp>
        <p:sp>
          <p:nvSpPr>
            <p:cNvPr id="168" name="正方形/長方形 167">
              <a:extLst>
                <a:ext uri="{FF2B5EF4-FFF2-40B4-BE49-F238E27FC236}">
                  <a16:creationId xmlns:a16="http://schemas.microsoft.com/office/drawing/2014/main" id="{9CC72BAF-D1DD-A44E-C5BF-F14ABA8D74AC}"/>
                </a:ext>
              </a:extLst>
            </p:cNvPr>
            <p:cNvSpPr/>
            <p:nvPr/>
          </p:nvSpPr>
          <p:spPr bwMode="auto">
            <a:xfrm>
              <a:off x="5602285" y="3317893"/>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2.6</a:t>
              </a:r>
            </a:p>
          </p:txBody>
        </p:sp>
        <p:sp>
          <p:nvSpPr>
            <p:cNvPr id="180" name="正方形/長方形 179">
              <a:extLst>
                <a:ext uri="{FF2B5EF4-FFF2-40B4-BE49-F238E27FC236}">
                  <a16:creationId xmlns:a16="http://schemas.microsoft.com/office/drawing/2014/main" id="{FAF4E36D-5841-57BB-B640-004F8B4DB470}"/>
                </a:ext>
              </a:extLst>
            </p:cNvPr>
            <p:cNvSpPr/>
            <p:nvPr/>
          </p:nvSpPr>
          <p:spPr bwMode="auto">
            <a:xfrm>
              <a:off x="5602285" y="3497888"/>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　</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0.8</a:t>
              </a:r>
            </a:p>
          </p:txBody>
        </p:sp>
        <p:sp>
          <p:nvSpPr>
            <p:cNvPr id="186" name="正方形/長方形 185">
              <a:extLst>
                <a:ext uri="{FF2B5EF4-FFF2-40B4-BE49-F238E27FC236}">
                  <a16:creationId xmlns:a16="http://schemas.microsoft.com/office/drawing/2014/main" id="{A705956A-4058-7C41-0483-AC7947381DFD}"/>
                </a:ext>
              </a:extLst>
            </p:cNvPr>
            <p:cNvSpPr/>
            <p:nvPr/>
          </p:nvSpPr>
          <p:spPr bwMode="auto">
            <a:xfrm>
              <a:off x="5602285" y="3677883"/>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2" name="正方形/長方形 191">
              <a:extLst>
                <a:ext uri="{FF2B5EF4-FFF2-40B4-BE49-F238E27FC236}">
                  <a16:creationId xmlns:a16="http://schemas.microsoft.com/office/drawing/2014/main" id="{FE89C308-70F1-334F-08C8-9FEBF6D717DB}"/>
                </a:ext>
              </a:extLst>
            </p:cNvPr>
            <p:cNvSpPr/>
            <p:nvPr/>
          </p:nvSpPr>
          <p:spPr bwMode="auto">
            <a:xfrm>
              <a:off x="5602285" y="3857878"/>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8" name="正方形/長方形 197">
              <a:extLst>
                <a:ext uri="{FF2B5EF4-FFF2-40B4-BE49-F238E27FC236}">
                  <a16:creationId xmlns:a16="http://schemas.microsoft.com/office/drawing/2014/main" id="{FD71B248-2BCF-0C92-15A9-BF17AD5482E8}"/>
                </a:ext>
              </a:extLst>
            </p:cNvPr>
            <p:cNvSpPr/>
            <p:nvPr/>
          </p:nvSpPr>
          <p:spPr bwMode="auto">
            <a:xfrm>
              <a:off x="5602285" y="4037876"/>
              <a:ext cx="1944000"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70.9</a:t>
              </a:r>
            </a:p>
          </p:txBody>
        </p:sp>
        <p:sp>
          <p:nvSpPr>
            <p:cNvPr id="100" name="正方形/長方形 99">
              <a:extLst>
                <a:ext uri="{FF2B5EF4-FFF2-40B4-BE49-F238E27FC236}">
                  <a16:creationId xmlns:a16="http://schemas.microsoft.com/office/drawing/2014/main" id="{F11A5602-7A0F-7646-83C1-0A4A084D2C28}"/>
                </a:ext>
              </a:extLst>
            </p:cNvPr>
            <p:cNvSpPr/>
            <p:nvPr/>
          </p:nvSpPr>
          <p:spPr bwMode="auto">
            <a:xfrm>
              <a:off x="9551681" y="3137898"/>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1.0</a:t>
              </a:r>
            </a:p>
          </p:txBody>
        </p:sp>
        <p:sp>
          <p:nvSpPr>
            <p:cNvPr id="139" name="正方形/長方形 138">
              <a:extLst>
                <a:ext uri="{FF2B5EF4-FFF2-40B4-BE49-F238E27FC236}">
                  <a16:creationId xmlns:a16="http://schemas.microsoft.com/office/drawing/2014/main" id="{69401D3B-87B4-4A58-FD03-7874D598CE90}"/>
                </a:ext>
              </a:extLst>
            </p:cNvPr>
            <p:cNvSpPr/>
            <p:nvPr/>
          </p:nvSpPr>
          <p:spPr bwMode="auto">
            <a:xfrm>
              <a:off x="9551681" y="2237927"/>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5.4</a:t>
              </a:r>
            </a:p>
          </p:txBody>
        </p:sp>
        <p:sp>
          <p:nvSpPr>
            <p:cNvPr id="145" name="正方形/長方形 144">
              <a:extLst>
                <a:ext uri="{FF2B5EF4-FFF2-40B4-BE49-F238E27FC236}">
                  <a16:creationId xmlns:a16="http://schemas.microsoft.com/office/drawing/2014/main" id="{E96B10CC-E167-4F65-9447-B9F3A5E25FCB}"/>
                </a:ext>
              </a:extLst>
            </p:cNvPr>
            <p:cNvSpPr/>
            <p:nvPr/>
          </p:nvSpPr>
          <p:spPr bwMode="auto">
            <a:xfrm>
              <a:off x="9551681" y="2417921"/>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2.0</a:t>
              </a:r>
            </a:p>
          </p:txBody>
        </p:sp>
        <p:sp>
          <p:nvSpPr>
            <p:cNvPr id="151" name="正方形/長方形 150">
              <a:extLst>
                <a:ext uri="{FF2B5EF4-FFF2-40B4-BE49-F238E27FC236}">
                  <a16:creationId xmlns:a16="http://schemas.microsoft.com/office/drawing/2014/main" id="{BD768509-4FD6-3BA6-C901-2484BE82D87E}"/>
                </a:ext>
              </a:extLst>
            </p:cNvPr>
            <p:cNvSpPr/>
            <p:nvPr/>
          </p:nvSpPr>
          <p:spPr bwMode="auto">
            <a:xfrm>
              <a:off x="9551681" y="2597916"/>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1.5</a:t>
              </a:r>
            </a:p>
          </p:txBody>
        </p:sp>
        <p:sp>
          <p:nvSpPr>
            <p:cNvPr id="157" name="正方形/長方形 156">
              <a:extLst>
                <a:ext uri="{FF2B5EF4-FFF2-40B4-BE49-F238E27FC236}">
                  <a16:creationId xmlns:a16="http://schemas.microsoft.com/office/drawing/2014/main" id="{F900F58F-2725-F953-468F-921A21865072}"/>
                </a:ext>
              </a:extLst>
            </p:cNvPr>
            <p:cNvSpPr/>
            <p:nvPr/>
          </p:nvSpPr>
          <p:spPr bwMode="auto">
            <a:xfrm>
              <a:off x="9551681" y="2777910"/>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4.1</a:t>
              </a:r>
            </a:p>
          </p:txBody>
        </p:sp>
        <p:sp>
          <p:nvSpPr>
            <p:cNvPr id="163" name="正方形/長方形 162">
              <a:extLst>
                <a:ext uri="{FF2B5EF4-FFF2-40B4-BE49-F238E27FC236}">
                  <a16:creationId xmlns:a16="http://schemas.microsoft.com/office/drawing/2014/main" id="{6CB6FAC2-F5FF-907C-8679-03F34BA402B0}"/>
                </a:ext>
              </a:extLst>
            </p:cNvPr>
            <p:cNvSpPr/>
            <p:nvPr/>
          </p:nvSpPr>
          <p:spPr bwMode="auto">
            <a:xfrm>
              <a:off x="9551681" y="2957904"/>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0.6</a:t>
              </a:r>
            </a:p>
          </p:txBody>
        </p:sp>
        <p:sp>
          <p:nvSpPr>
            <p:cNvPr id="169" name="正方形/長方形 168">
              <a:extLst>
                <a:ext uri="{FF2B5EF4-FFF2-40B4-BE49-F238E27FC236}">
                  <a16:creationId xmlns:a16="http://schemas.microsoft.com/office/drawing/2014/main" id="{B36CF59C-321C-0195-BC8B-F23BD065A751}"/>
                </a:ext>
              </a:extLst>
            </p:cNvPr>
            <p:cNvSpPr/>
            <p:nvPr/>
          </p:nvSpPr>
          <p:spPr bwMode="auto">
            <a:xfrm>
              <a:off x="9551681" y="3317893"/>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0.7</a:t>
              </a:r>
            </a:p>
          </p:txBody>
        </p:sp>
        <p:sp>
          <p:nvSpPr>
            <p:cNvPr id="181" name="正方形/長方形 180">
              <a:extLst>
                <a:ext uri="{FF2B5EF4-FFF2-40B4-BE49-F238E27FC236}">
                  <a16:creationId xmlns:a16="http://schemas.microsoft.com/office/drawing/2014/main" id="{1751EDE4-D5F4-E36D-C112-ACC57B4A64D5}"/>
                </a:ext>
              </a:extLst>
            </p:cNvPr>
            <p:cNvSpPr/>
            <p:nvPr/>
          </p:nvSpPr>
          <p:spPr bwMode="auto">
            <a:xfrm>
              <a:off x="9551681" y="3497888"/>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87" name="正方形/長方形 186">
              <a:extLst>
                <a:ext uri="{FF2B5EF4-FFF2-40B4-BE49-F238E27FC236}">
                  <a16:creationId xmlns:a16="http://schemas.microsoft.com/office/drawing/2014/main" id="{D4EBE568-08FD-73E0-4233-E82BBFD1272F}"/>
                </a:ext>
              </a:extLst>
            </p:cNvPr>
            <p:cNvSpPr/>
            <p:nvPr/>
          </p:nvSpPr>
          <p:spPr bwMode="auto">
            <a:xfrm>
              <a:off x="9551681" y="3677883"/>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3" name="正方形/長方形 192">
              <a:extLst>
                <a:ext uri="{FF2B5EF4-FFF2-40B4-BE49-F238E27FC236}">
                  <a16:creationId xmlns:a16="http://schemas.microsoft.com/office/drawing/2014/main" id="{5CE6BAAA-081B-A3BA-008D-C905531C9758}"/>
                </a:ext>
              </a:extLst>
            </p:cNvPr>
            <p:cNvSpPr/>
            <p:nvPr/>
          </p:nvSpPr>
          <p:spPr bwMode="auto">
            <a:xfrm>
              <a:off x="9551681" y="3857878"/>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9" name="正方形/長方形 198">
              <a:extLst>
                <a:ext uri="{FF2B5EF4-FFF2-40B4-BE49-F238E27FC236}">
                  <a16:creationId xmlns:a16="http://schemas.microsoft.com/office/drawing/2014/main" id="{DB08253C-D004-D9E3-A8A2-AEB1C106D18E}"/>
                </a:ext>
              </a:extLst>
            </p:cNvPr>
            <p:cNvSpPr/>
            <p:nvPr/>
          </p:nvSpPr>
          <p:spPr bwMode="auto">
            <a:xfrm>
              <a:off x="9551681" y="4037876"/>
              <a:ext cx="612000"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15.3</a:t>
              </a:r>
            </a:p>
          </p:txBody>
        </p:sp>
        <p:sp>
          <p:nvSpPr>
            <p:cNvPr id="269" name="正方形/長方形 268">
              <a:extLst>
                <a:ext uri="{FF2B5EF4-FFF2-40B4-BE49-F238E27FC236}">
                  <a16:creationId xmlns:a16="http://schemas.microsoft.com/office/drawing/2014/main" id="{57A04601-7EC2-CCCE-D538-B7387A3323CF}"/>
                </a:ext>
              </a:extLst>
            </p:cNvPr>
            <p:cNvSpPr/>
            <p:nvPr/>
          </p:nvSpPr>
          <p:spPr bwMode="auto">
            <a:xfrm>
              <a:off x="10459870" y="2417921"/>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35.5</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0" name="正方形/長方形 269">
              <a:extLst>
                <a:ext uri="{FF2B5EF4-FFF2-40B4-BE49-F238E27FC236}">
                  <a16:creationId xmlns:a16="http://schemas.microsoft.com/office/drawing/2014/main" id="{F7A47688-6BED-C5DC-C8F2-C91A71D4B4F9}"/>
                </a:ext>
              </a:extLst>
            </p:cNvPr>
            <p:cNvSpPr/>
            <p:nvPr/>
          </p:nvSpPr>
          <p:spPr bwMode="auto">
            <a:xfrm>
              <a:off x="10459870" y="2597916"/>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40.2</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1" name="正方形/長方形 270">
              <a:extLst>
                <a:ext uri="{FF2B5EF4-FFF2-40B4-BE49-F238E27FC236}">
                  <a16:creationId xmlns:a16="http://schemas.microsoft.com/office/drawing/2014/main" id="{B1D59860-BBAE-D8C5-56D5-75B381603ADB}"/>
                </a:ext>
              </a:extLst>
            </p:cNvPr>
            <p:cNvSpPr/>
            <p:nvPr/>
          </p:nvSpPr>
          <p:spPr bwMode="auto">
            <a:xfrm>
              <a:off x="10459870" y="2777910"/>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83.2</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2" name="正方形/長方形 271">
              <a:extLst>
                <a:ext uri="{FF2B5EF4-FFF2-40B4-BE49-F238E27FC236}">
                  <a16:creationId xmlns:a16="http://schemas.microsoft.com/office/drawing/2014/main" id="{3ED758AA-422B-EC80-192E-673253A853F2}"/>
                </a:ext>
              </a:extLst>
            </p:cNvPr>
            <p:cNvSpPr/>
            <p:nvPr/>
          </p:nvSpPr>
          <p:spPr bwMode="auto">
            <a:xfrm>
              <a:off x="10459870" y="2957904"/>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36.3</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3" name="正方形/長方形 272">
              <a:extLst>
                <a:ext uri="{FF2B5EF4-FFF2-40B4-BE49-F238E27FC236}">
                  <a16:creationId xmlns:a16="http://schemas.microsoft.com/office/drawing/2014/main" id="{ACB97180-BDA8-DF16-BAD3-3373A91DC09A}"/>
                </a:ext>
              </a:extLst>
            </p:cNvPr>
            <p:cNvSpPr/>
            <p:nvPr/>
          </p:nvSpPr>
          <p:spPr bwMode="auto">
            <a:xfrm>
              <a:off x="10459870" y="3137898"/>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9.4</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4" name="正方形/長方形 273">
              <a:extLst>
                <a:ext uri="{FF2B5EF4-FFF2-40B4-BE49-F238E27FC236}">
                  <a16:creationId xmlns:a16="http://schemas.microsoft.com/office/drawing/2014/main" id="{878B8A2D-F753-328C-4C69-E0D104969125}"/>
                </a:ext>
              </a:extLst>
            </p:cNvPr>
            <p:cNvSpPr/>
            <p:nvPr/>
          </p:nvSpPr>
          <p:spPr bwMode="auto">
            <a:xfrm>
              <a:off x="10459870" y="3317893"/>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15.1</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5" name="正方形/長方形 274">
              <a:extLst>
                <a:ext uri="{FF2B5EF4-FFF2-40B4-BE49-F238E27FC236}">
                  <a16:creationId xmlns:a16="http://schemas.microsoft.com/office/drawing/2014/main" id="{505E2B41-C33D-256F-47E8-29117E845106}"/>
                </a:ext>
              </a:extLst>
            </p:cNvPr>
            <p:cNvSpPr/>
            <p:nvPr/>
          </p:nvSpPr>
          <p:spPr bwMode="auto">
            <a:xfrm>
              <a:off x="10459870" y="3497888"/>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1.8</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6" name="正方形/長方形 275">
              <a:extLst>
                <a:ext uri="{FF2B5EF4-FFF2-40B4-BE49-F238E27FC236}">
                  <a16:creationId xmlns:a16="http://schemas.microsoft.com/office/drawing/2014/main" id="{4EC39187-56B8-5722-B898-13317CB2B39A}"/>
                </a:ext>
              </a:extLst>
            </p:cNvPr>
            <p:cNvSpPr/>
            <p:nvPr/>
          </p:nvSpPr>
          <p:spPr bwMode="auto">
            <a:xfrm>
              <a:off x="10459870" y="3677883"/>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7" name="正方形/長方形 276">
              <a:extLst>
                <a:ext uri="{FF2B5EF4-FFF2-40B4-BE49-F238E27FC236}">
                  <a16:creationId xmlns:a16="http://schemas.microsoft.com/office/drawing/2014/main" id="{F9ED1622-3161-E983-E744-A130E598EBFA}"/>
                </a:ext>
              </a:extLst>
            </p:cNvPr>
            <p:cNvSpPr/>
            <p:nvPr/>
          </p:nvSpPr>
          <p:spPr bwMode="auto">
            <a:xfrm>
              <a:off x="10459870" y="3857878"/>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2.1</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9B99F9E7-4F39-0E52-A6A1-D2E0BB3FA2CA}"/>
                </a:ext>
              </a:extLst>
            </p:cNvPr>
            <p:cNvSpPr/>
            <p:nvPr/>
          </p:nvSpPr>
          <p:spPr bwMode="auto">
            <a:xfrm>
              <a:off x="8967215" y="3137898"/>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0.4</a:t>
              </a:r>
            </a:p>
          </p:txBody>
        </p:sp>
        <p:sp>
          <p:nvSpPr>
            <p:cNvPr id="43" name="正方形/長方形 42">
              <a:extLst>
                <a:ext uri="{FF2B5EF4-FFF2-40B4-BE49-F238E27FC236}">
                  <a16:creationId xmlns:a16="http://schemas.microsoft.com/office/drawing/2014/main" id="{CD2D9BD1-DA78-8F68-20ED-255F0D16BF2A}"/>
                </a:ext>
              </a:extLst>
            </p:cNvPr>
            <p:cNvSpPr/>
            <p:nvPr/>
          </p:nvSpPr>
          <p:spPr bwMode="auto">
            <a:xfrm>
              <a:off x="8967215" y="2237927"/>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3.3</a:t>
              </a:r>
            </a:p>
          </p:txBody>
        </p:sp>
        <p:sp>
          <p:nvSpPr>
            <p:cNvPr id="44" name="正方形/長方形 43">
              <a:extLst>
                <a:ext uri="{FF2B5EF4-FFF2-40B4-BE49-F238E27FC236}">
                  <a16:creationId xmlns:a16="http://schemas.microsoft.com/office/drawing/2014/main" id="{6E5F37EC-FAEC-BE14-8E07-6DD6C586B66F}"/>
                </a:ext>
              </a:extLst>
            </p:cNvPr>
            <p:cNvSpPr/>
            <p:nvPr/>
          </p:nvSpPr>
          <p:spPr bwMode="auto">
            <a:xfrm>
              <a:off x="8967215" y="2417921"/>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a:t>
              </a:r>
            </a:p>
          </p:txBody>
        </p:sp>
        <p:sp>
          <p:nvSpPr>
            <p:cNvPr id="45" name="正方形/長方形 44">
              <a:extLst>
                <a:ext uri="{FF2B5EF4-FFF2-40B4-BE49-F238E27FC236}">
                  <a16:creationId xmlns:a16="http://schemas.microsoft.com/office/drawing/2014/main" id="{A03B5FC4-5C5C-D3B9-916F-CF23255D2DEF}"/>
                </a:ext>
              </a:extLst>
            </p:cNvPr>
            <p:cNvSpPr/>
            <p:nvPr/>
          </p:nvSpPr>
          <p:spPr bwMode="auto">
            <a:xfrm>
              <a:off x="8967215" y="2597916"/>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1.0</a:t>
              </a:r>
            </a:p>
          </p:txBody>
        </p:sp>
        <p:sp>
          <p:nvSpPr>
            <p:cNvPr id="46" name="正方形/長方形 45">
              <a:extLst>
                <a:ext uri="{FF2B5EF4-FFF2-40B4-BE49-F238E27FC236}">
                  <a16:creationId xmlns:a16="http://schemas.microsoft.com/office/drawing/2014/main" id="{63E3BD81-FB41-C671-1C47-A91E8EB391E6}"/>
                </a:ext>
              </a:extLst>
            </p:cNvPr>
            <p:cNvSpPr/>
            <p:nvPr/>
          </p:nvSpPr>
          <p:spPr bwMode="auto">
            <a:xfrm>
              <a:off x="8967215" y="2777910"/>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1.9</a:t>
              </a:r>
            </a:p>
          </p:txBody>
        </p:sp>
        <p:sp>
          <p:nvSpPr>
            <p:cNvPr id="47" name="正方形/長方形 46">
              <a:extLst>
                <a:ext uri="{FF2B5EF4-FFF2-40B4-BE49-F238E27FC236}">
                  <a16:creationId xmlns:a16="http://schemas.microsoft.com/office/drawing/2014/main" id="{692806B6-A643-B62F-6912-4508289AB4C8}"/>
                </a:ext>
              </a:extLst>
            </p:cNvPr>
            <p:cNvSpPr/>
            <p:nvPr/>
          </p:nvSpPr>
          <p:spPr bwMode="auto">
            <a:xfrm>
              <a:off x="8967215" y="2957904"/>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0.2</a:t>
              </a:r>
            </a:p>
          </p:txBody>
        </p:sp>
        <p:sp>
          <p:nvSpPr>
            <p:cNvPr id="48" name="正方形/長方形 47">
              <a:extLst>
                <a:ext uri="{FF2B5EF4-FFF2-40B4-BE49-F238E27FC236}">
                  <a16:creationId xmlns:a16="http://schemas.microsoft.com/office/drawing/2014/main" id="{70269343-2396-E094-1F69-14386CC1DFC7}"/>
                </a:ext>
              </a:extLst>
            </p:cNvPr>
            <p:cNvSpPr/>
            <p:nvPr/>
          </p:nvSpPr>
          <p:spPr bwMode="auto">
            <a:xfrm>
              <a:off x="8967215" y="3317893"/>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0.2</a:t>
              </a:r>
            </a:p>
          </p:txBody>
        </p:sp>
        <p:sp>
          <p:nvSpPr>
            <p:cNvPr id="49" name="正方形/長方形 48">
              <a:extLst>
                <a:ext uri="{FF2B5EF4-FFF2-40B4-BE49-F238E27FC236}">
                  <a16:creationId xmlns:a16="http://schemas.microsoft.com/office/drawing/2014/main" id="{F429755F-E99F-A499-F2F7-9CC08FF91BC6}"/>
                </a:ext>
              </a:extLst>
            </p:cNvPr>
            <p:cNvSpPr/>
            <p:nvPr/>
          </p:nvSpPr>
          <p:spPr bwMode="auto">
            <a:xfrm>
              <a:off x="8967215" y="3497888"/>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0" name="正方形/長方形 49">
              <a:extLst>
                <a:ext uri="{FF2B5EF4-FFF2-40B4-BE49-F238E27FC236}">
                  <a16:creationId xmlns:a16="http://schemas.microsoft.com/office/drawing/2014/main" id="{984D9A2E-6B8F-F169-68DA-8EED68D447E7}"/>
                </a:ext>
              </a:extLst>
            </p:cNvPr>
            <p:cNvSpPr/>
            <p:nvPr/>
          </p:nvSpPr>
          <p:spPr bwMode="auto">
            <a:xfrm>
              <a:off x="8967215" y="3677883"/>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1" name="正方形/長方形 50">
              <a:extLst>
                <a:ext uri="{FF2B5EF4-FFF2-40B4-BE49-F238E27FC236}">
                  <a16:creationId xmlns:a16="http://schemas.microsoft.com/office/drawing/2014/main" id="{F6CBE8BC-305A-4FCF-ED58-0F0EAB926CD5}"/>
                </a:ext>
              </a:extLst>
            </p:cNvPr>
            <p:cNvSpPr/>
            <p:nvPr/>
          </p:nvSpPr>
          <p:spPr bwMode="auto">
            <a:xfrm>
              <a:off x="8967215" y="3857878"/>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3" name="正方形/長方形 52">
              <a:extLst>
                <a:ext uri="{FF2B5EF4-FFF2-40B4-BE49-F238E27FC236}">
                  <a16:creationId xmlns:a16="http://schemas.microsoft.com/office/drawing/2014/main" id="{0390ABC4-FF6C-31C1-0A14-5EDECA55D513}"/>
                </a:ext>
              </a:extLst>
            </p:cNvPr>
            <p:cNvSpPr/>
            <p:nvPr/>
          </p:nvSpPr>
          <p:spPr bwMode="auto">
            <a:xfrm>
              <a:off x="8967215" y="4037876"/>
              <a:ext cx="540000"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8.3</a:t>
              </a:r>
            </a:p>
          </p:txBody>
        </p:sp>
      </p:grpSp>
      <p:sp>
        <p:nvSpPr>
          <p:cNvPr id="31" name="タイトル 2">
            <a:extLst>
              <a:ext uri="{FF2B5EF4-FFF2-40B4-BE49-F238E27FC236}">
                <a16:creationId xmlns:a16="http://schemas.microsoft.com/office/drawing/2014/main" id="{63BACF23-5BB2-5B46-B6EB-92E670B5F6F2}"/>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sz="1400" kern="0">
                <a:latin typeface="Meiryo UI"/>
                <a:ea typeface="Meiryo UI"/>
                <a:cs typeface="Arial"/>
              </a:rPr>
              <a:t>5.</a:t>
            </a:r>
            <a:r>
              <a:rPr lang="ja-JP" altLang="en-US" sz="1400" kern="0">
                <a:latin typeface="Meiryo UI"/>
                <a:ea typeface="Meiryo UI"/>
                <a:cs typeface="Arial"/>
              </a:rPr>
              <a:t> 実行</a:t>
            </a:r>
            <a:r>
              <a:rPr lang="zh-TW" altLang="en-US" sz="1400" kern="0">
                <a:latin typeface="Meiryo UI"/>
                <a:ea typeface="Meiryo UI"/>
                <a:cs typeface="Arial"/>
              </a:rPr>
              <a:t>決裁内容</a:t>
            </a:r>
            <a:endParaRPr lang="en-US" altLang="zh-TW" sz="1400" kern="0">
              <a:latin typeface="Meiryo UI"/>
              <a:ea typeface="Meiryo UI"/>
              <a:cs typeface="Arial"/>
            </a:endParaRPr>
          </a:p>
          <a:p>
            <a:r>
              <a:rPr lang="ja-JP" altLang="en-US" kern="0">
                <a:latin typeface="Meiryo UI"/>
                <a:ea typeface="Meiryo UI"/>
                <a:cs typeface="Arial"/>
              </a:rPr>
              <a:t>　　</a:t>
            </a:r>
            <a:r>
              <a:rPr lang="en-US" altLang="ja-JP" kern="0">
                <a:latin typeface="Meiryo UI"/>
                <a:ea typeface="Meiryo UI"/>
                <a:cs typeface="Arial"/>
              </a:rPr>
              <a:t>5-1. </a:t>
            </a:r>
            <a:r>
              <a:rPr lang="ja-JP" altLang="en-US" kern="0">
                <a:latin typeface="Meiryo UI"/>
                <a:ea typeface="Meiryo UI"/>
                <a:cs typeface="Arial"/>
              </a:rPr>
              <a:t>コストと工数</a:t>
            </a:r>
          </a:p>
        </p:txBody>
      </p:sp>
      <p:sp>
        <p:nvSpPr>
          <p:cNvPr id="3" name="コンテンツ プレースホルダー 5">
            <a:extLst>
              <a:ext uri="{FF2B5EF4-FFF2-40B4-BE49-F238E27FC236}">
                <a16:creationId xmlns:a16="http://schemas.microsoft.com/office/drawing/2014/main" id="{1B1F6404-1797-0119-DFA1-69D42045D721}"/>
              </a:ext>
            </a:extLst>
          </p:cNvPr>
          <p:cNvSpPr txBox="1">
            <a:spLocks/>
          </p:cNvSpPr>
          <p:nvPr/>
        </p:nvSpPr>
        <p:spPr bwMode="auto">
          <a:xfrm>
            <a:off x="395851" y="638098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
        <p:nvSpPr>
          <p:cNvPr id="79" name="正方形/長方形 78">
            <a:extLst>
              <a:ext uri="{FF2B5EF4-FFF2-40B4-BE49-F238E27FC236}">
                <a16:creationId xmlns:a16="http://schemas.microsoft.com/office/drawing/2014/main" id="{EDB1523C-F854-64AD-8D59-B3D63BF1E331}"/>
              </a:ext>
            </a:extLst>
          </p:cNvPr>
          <p:cNvSpPr/>
          <p:nvPr/>
        </p:nvSpPr>
        <p:spPr bwMode="auto">
          <a:xfrm>
            <a:off x="318723" y="2314494"/>
            <a:ext cx="958225" cy="1977580"/>
          </a:xfrm>
          <a:prstGeom prst="rect">
            <a:avLst/>
          </a:prstGeom>
          <a:solidFill>
            <a:schemeClr val="accent6">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fontAlgn="ctr"/>
            <a:r>
              <a:rPr lang="ja-JP" altLang="en-US" sz="1400" b="1">
                <a:solidFill>
                  <a:schemeClr val="bg1"/>
                </a:solidFill>
                <a:latin typeface="Meiryo UI" panose="020B0604030504040204" pitchFamily="50" charset="-128"/>
                <a:ea typeface="Meiryo UI" panose="020B0604030504040204" pitchFamily="50" charset="-128"/>
              </a:rPr>
              <a:t>コスト</a:t>
            </a:r>
            <a:br>
              <a:rPr lang="en-US" altLang="ja-JP" sz="1400" b="1">
                <a:solidFill>
                  <a:schemeClr val="bg1"/>
                </a:solidFill>
                <a:latin typeface="Meiryo UI" panose="020B0604030504040204" pitchFamily="50" charset="-128"/>
                <a:ea typeface="Meiryo UI" panose="020B0604030504040204" pitchFamily="50" charset="-128"/>
              </a:rPr>
            </a:br>
            <a:r>
              <a:rPr lang="en-US" altLang="ja-JP" sz="1400" b="1">
                <a:solidFill>
                  <a:schemeClr val="bg1"/>
                </a:solidFill>
                <a:latin typeface="Meiryo UI" panose="020B0604030504040204" pitchFamily="50" charset="-128"/>
                <a:ea typeface="Meiryo UI" panose="020B0604030504040204" pitchFamily="50" charset="-128"/>
              </a:rPr>
              <a:t>(</a:t>
            </a:r>
            <a:r>
              <a:rPr lang="ja-JP" altLang="en-US" sz="1050" b="1">
                <a:solidFill>
                  <a:schemeClr val="bg1"/>
                </a:solidFill>
                <a:latin typeface="Meiryo UI" panose="020B0604030504040204" pitchFamily="50" charset="-128"/>
                <a:ea typeface="Meiryo UI" panose="020B0604030504040204" pitchFamily="50" charset="-128"/>
              </a:rPr>
              <a:t>単位</a:t>
            </a:r>
            <a:r>
              <a:rPr lang="en-US" altLang="ja-JP" sz="1050" b="1">
                <a:solidFill>
                  <a:schemeClr val="bg1"/>
                </a:solidFill>
                <a:latin typeface="Meiryo UI" panose="020B0604030504040204" pitchFamily="50" charset="-128"/>
                <a:ea typeface="Meiryo UI" panose="020B0604030504040204" pitchFamily="50" charset="-128"/>
              </a:rPr>
              <a:t>:</a:t>
            </a:r>
            <a:r>
              <a:rPr lang="ja-JP" altLang="en-US" sz="1050" b="1">
                <a:solidFill>
                  <a:schemeClr val="bg1"/>
                </a:solidFill>
                <a:latin typeface="Meiryo UI" panose="020B0604030504040204" pitchFamily="50" charset="-128"/>
                <a:ea typeface="Meiryo UI" panose="020B0604030504040204" pitchFamily="50" charset="-128"/>
              </a:rPr>
              <a:t>万円</a:t>
            </a:r>
            <a:r>
              <a:rPr lang="en-US" altLang="ja-JP" sz="1050" b="1">
                <a:solidFill>
                  <a:schemeClr val="bg1"/>
                </a:solidFill>
                <a:latin typeface="Meiryo UI" panose="020B0604030504040204" pitchFamily="50" charset="-128"/>
                <a:ea typeface="Meiryo UI" panose="020B0604030504040204" pitchFamily="50" charset="-128"/>
              </a:rPr>
              <a:t>)</a:t>
            </a:r>
            <a:endParaRPr lang="en-US" altLang="ja-JP" sz="1400" b="1">
              <a:solidFill>
                <a:schemeClr val="bg1"/>
              </a:solidFill>
              <a:latin typeface="Meiryo UI" panose="020B0604030504040204" pitchFamily="50" charset="-128"/>
              <a:ea typeface="Meiryo UI" panose="020B0604030504040204" pitchFamily="50" charset="-128"/>
            </a:endParaRPr>
          </a:p>
        </p:txBody>
      </p:sp>
      <p:sp>
        <p:nvSpPr>
          <p:cNvPr id="201" name="正方形/長方形 200">
            <a:extLst>
              <a:ext uri="{FF2B5EF4-FFF2-40B4-BE49-F238E27FC236}">
                <a16:creationId xmlns:a16="http://schemas.microsoft.com/office/drawing/2014/main" id="{FAC66555-A2A8-5CE3-8186-E96459EB3B25}"/>
              </a:ext>
            </a:extLst>
          </p:cNvPr>
          <p:cNvSpPr/>
          <p:nvPr/>
        </p:nvSpPr>
        <p:spPr bwMode="auto">
          <a:xfrm>
            <a:off x="1316352" y="4123044"/>
            <a:ext cx="1402699" cy="169030"/>
          </a:xfrm>
          <a:prstGeom prst="rect">
            <a:avLst/>
          </a:prstGeom>
          <a:solidFill>
            <a:schemeClr val="accent6">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50" b="1">
                <a:solidFill>
                  <a:schemeClr val="bg1"/>
                </a:solidFill>
                <a:latin typeface="Meiryo UI" panose="020B0604030504040204" pitchFamily="50" charset="-128"/>
                <a:ea typeface="Meiryo UI" panose="020B0604030504040204" pitchFamily="50" charset="-128"/>
              </a:rPr>
              <a:t>合計</a:t>
            </a:r>
            <a:endParaRPr lang="en-US" altLang="ja-JP" sz="1050" b="1">
              <a:solidFill>
                <a:schemeClr val="bg1"/>
              </a:solidFill>
              <a:latin typeface="Meiryo UI" panose="020B0604030504040204" pitchFamily="50" charset="-128"/>
              <a:ea typeface="Meiryo UI" panose="020B0604030504040204" pitchFamily="50" charset="-128"/>
            </a:endParaRPr>
          </a:p>
        </p:txBody>
      </p:sp>
      <p:sp>
        <p:nvSpPr>
          <p:cNvPr id="202" name="正方形/長方形 201">
            <a:extLst>
              <a:ext uri="{FF2B5EF4-FFF2-40B4-BE49-F238E27FC236}">
                <a16:creationId xmlns:a16="http://schemas.microsoft.com/office/drawing/2014/main" id="{981D3294-9285-D5AE-096F-9B65F4710B60}"/>
              </a:ext>
            </a:extLst>
          </p:cNvPr>
          <p:cNvSpPr/>
          <p:nvPr/>
        </p:nvSpPr>
        <p:spPr bwMode="auto">
          <a:xfrm>
            <a:off x="1332007" y="2323803"/>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dirty="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050" b="1" dirty="0">
                <a:solidFill>
                  <a:schemeClr val="tx1">
                    <a:lumMod val="75000"/>
                    <a:lumOff val="25000"/>
                  </a:schemeClr>
                </a:solidFill>
                <a:latin typeface="Meiryo UI" panose="020B0604030504040204" pitchFamily="50" charset="-128"/>
                <a:ea typeface="Meiryo UI" panose="020B0604030504040204" pitchFamily="50" charset="-128"/>
              </a:rPr>
              <a:t>系</a:t>
            </a:r>
            <a:r>
              <a:rPr kumimoji="1" lang="en-US" altLang="ja-JP" sz="600" b="1"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(6</a:t>
            </a:r>
            <a:r>
              <a:rPr kumimoji="1" lang="ja-JP" altLang="en-US" sz="600" b="1"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システム</a:t>
            </a:r>
            <a:r>
              <a:rPr kumimoji="1" lang="en-US" altLang="ja-JP" sz="600" b="1"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a:t>
            </a:r>
            <a:r>
              <a:rPr kumimoji="1" lang="en-US" altLang="ja-JP" sz="1050" b="1" i="0" u="none" strike="noStrike" kern="1200" cap="none" spc="0" normalizeH="0" baseline="3000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*1</a:t>
            </a:r>
            <a:endParaRPr lang="en-US" altLang="ja-JP" sz="1050" b="1"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3" name="正方形/長方形 202">
            <a:extLst>
              <a:ext uri="{FF2B5EF4-FFF2-40B4-BE49-F238E27FC236}">
                <a16:creationId xmlns:a16="http://schemas.microsoft.com/office/drawing/2014/main" id="{C5672B79-8CC0-69C2-87E4-CD01EFCAC53E}"/>
              </a:ext>
            </a:extLst>
          </p:cNvPr>
          <p:cNvSpPr/>
          <p:nvPr/>
        </p:nvSpPr>
        <p:spPr bwMode="auto">
          <a:xfrm>
            <a:off x="1332007" y="2503798"/>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ロコン購買</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HUB(A</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伝</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04" name="正方形/長方形 203">
            <a:extLst>
              <a:ext uri="{FF2B5EF4-FFF2-40B4-BE49-F238E27FC236}">
                <a16:creationId xmlns:a16="http://schemas.microsoft.com/office/drawing/2014/main" id="{C6DF6E0A-BB8C-ACD2-B4BE-7921FF587FB4}"/>
              </a:ext>
            </a:extLst>
          </p:cNvPr>
          <p:cNvSpPr/>
          <p:nvPr/>
        </p:nvSpPr>
        <p:spPr bwMode="auto">
          <a:xfrm>
            <a:off x="1332007" y="2683793"/>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ロコン銀行</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HUB</a:t>
            </a:r>
          </a:p>
        </p:txBody>
      </p:sp>
      <p:sp>
        <p:nvSpPr>
          <p:cNvPr id="205" name="正方形/長方形 204">
            <a:extLst>
              <a:ext uri="{FF2B5EF4-FFF2-40B4-BE49-F238E27FC236}">
                <a16:creationId xmlns:a16="http://schemas.microsoft.com/office/drawing/2014/main" id="{AD514646-0C4E-94E1-1A2F-0C21AF39F9D8}"/>
              </a:ext>
            </a:extLst>
          </p:cNvPr>
          <p:cNvSpPr/>
          <p:nvPr/>
        </p:nvSpPr>
        <p:spPr bwMode="auto">
          <a:xfrm>
            <a:off x="1332007" y="2863788"/>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RETMAS</a:t>
            </a:r>
          </a:p>
        </p:txBody>
      </p:sp>
      <p:sp>
        <p:nvSpPr>
          <p:cNvPr id="206" name="正方形/長方形 205">
            <a:extLst>
              <a:ext uri="{FF2B5EF4-FFF2-40B4-BE49-F238E27FC236}">
                <a16:creationId xmlns:a16="http://schemas.microsoft.com/office/drawing/2014/main" id="{49E63B9E-747E-CCF6-8E55-5A97CD686D91}"/>
              </a:ext>
            </a:extLst>
          </p:cNvPr>
          <p:cNvSpPr/>
          <p:nvPr/>
        </p:nvSpPr>
        <p:spPr bwMode="auto">
          <a:xfrm>
            <a:off x="1332007" y="3043782"/>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とんぺい</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7" name="正方形/長方形 206">
            <a:extLst>
              <a:ext uri="{FF2B5EF4-FFF2-40B4-BE49-F238E27FC236}">
                <a16:creationId xmlns:a16="http://schemas.microsoft.com/office/drawing/2014/main" id="{6CBA945F-ED21-9476-A540-7CF4FD463473}"/>
              </a:ext>
            </a:extLst>
          </p:cNvPr>
          <p:cNvSpPr/>
          <p:nvPr/>
        </p:nvSpPr>
        <p:spPr bwMode="auto">
          <a:xfrm>
            <a:off x="1332007" y="3223777"/>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MICO/CHACO</a:t>
            </a:r>
          </a:p>
        </p:txBody>
      </p:sp>
      <p:sp>
        <p:nvSpPr>
          <p:cNvPr id="208" name="正方形/長方形 207">
            <a:extLst>
              <a:ext uri="{FF2B5EF4-FFF2-40B4-BE49-F238E27FC236}">
                <a16:creationId xmlns:a16="http://schemas.microsoft.com/office/drawing/2014/main" id="{EFDFBA19-6819-4E17-A6A3-CB1FD9365770}"/>
              </a:ext>
            </a:extLst>
          </p:cNvPr>
          <p:cNvSpPr/>
          <p:nvPr/>
        </p:nvSpPr>
        <p:spPr bwMode="auto">
          <a:xfrm>
            <a:off x="1332007" y="3403771"/>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ミスギ</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9" name="正方形/長方形 208">
            <a:extLst>
              <a:ext uri="{FF2B5EF4-FFF2-40B4-BE49-F238E27FC236}">
                <a16:creationId xmlns:a16="http://schemas.microsoft.com/office/drawing/2014/main" id="{24E40B56-46BB-CDFA-1157-6BE26EDF8ED1}"/>
              </a:ext>
            </a:extLst>
          </p:cNvPr>
          <p:cNvSpPr/>
          <p:nvPr/>
        </p:nvSpPr>
        <p:spPr bwMode="auto">
          <a:xfrm>
            <a:off x="1332007" y="3583766"/>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SYOGO7</a:t>
            </a:r>
          </a:p>
        </p:txBody>
      </p:sp>
      <p:sp>
        <p:nvSpPr>
          <p:cNvPr id="210" name="正方形/長方形 209">
            <a:extLst>
              <a:ext uri="{FF2B5EF4-FFF2-40B4-BE49-F238E27FC236}">
                <a16:creationId xmlns:a16="http://schemas.microsoft.com/office/drawing/2014/main" id="{DE31262B-21A7-18DB-4E5C-2D2511E1E829}"/>
              </a:ext>
            </a:extLst>
          </p:cNvPr>
          <p:cNvSpPr/>
          <p:nvPr/>
        </p:nvSpPr>
        <p:spPr bwMode="auto">
          <a:xfrm>
            <a:off x="1332007" y="3763759"/>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ツバサ</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/Neko</a:t>
            </a:r>
            <a:r>
              <a:rPr kumimoji="1" lang="en-US" altLang="ja-JP"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 (2</a:t>
            </a:r>
            <a:r>
              <a:rPr kumimoji="1" lang="ja-JP" altLang="en-US"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システム</a:t>
            </a:r>
            <a:r>
              <a:rPr kumimoji="1" lang="en-US" altLang="ja-JP"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1" name="正方形/長方形 210">
            <a:extLst>
              <a:ext uri="{FF2B5EF4-FFF2-40B4-BE49-F238E27FC236}">
                <a16:creationId xmlns:a16="http://schemas.microsoft.com/office/drawing/2014/main" id="{1D514A32-3F00-051B-8538-16568C47D0EA}"/>
              </a:ext>
            </a:extLst>
          </p:cNvPr>
          <p:cNvSpPr/>
          <p:nvPr/>
        </p:nvSpPr>
        <p:spPr bwMode="auto">
          <a:xfrm>
            <a:off x="1332007" y="3943756"/>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ctr" latinLnBrk="0" hangingPunct="1">
              <a:lnSpc>
                <a:spcPct val="100000"/>
              </a:lnSpc>
              <a:spcBef>
                <a:spcPct val="0"/>
              </a:spcBef>
              <a:spcAft>
                <a:spcPct val="0"/>
              </a:spcAft>
              <a:buClrTx/>
              <a:buSzTx/>
              <a:buFontTx/>
              <a:buNone/>
              <a:tabLst/>
              <a:defRPr/>
            </a:pP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Access</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ツール</a:t>
            </a:r>
            <a:r>
              <a:rPr kumimoji="1" lang="en-US" altLang="ja-JP"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(4</a:t>
            </a:r>
            <a:r>
              <a:rPr kumimoji="1" lang="ja-JP" altLang="en-US"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ツール</a:t>
            </a:r>
            <a:r>
              <a:rPr kumimoji="1" lang="en-US" altLang="ja-JP"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a:t>
            </a:r>
          </a:p>
        </p:txBody>
      </p:sp>
      <p:sp>
        <p:nvSpPr>
          <p:cNvPr id="214" name="正方形/長方形 213">
            <a:extLst>
              <a:ext uri="{FF2B5EF4-FFF2-40B4-BE49-F238E27FC236}">
                <a16:creationId xmlns:a16="http://schemas.microsoft.com/office/drawing/2014/main" id="{BC6BE93C-23DF-6D7E-CDB5-B661BE0F67FB}"/>
              </a:ext>
            </a:extLst>
          </p:cNvPr>
          <p:cNvSpPr/>
          <p:nvPr/>
        </p:nvSpPr>
        <p:spPr bwMode="auto">
          <a:xfrm>
            <a:off x="7590750" y="3223777"/>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72</a:t>
            </a:r>
          </a:p>
        </p:txBody>
      </p:sp>
      <p:sp>
        <p:nvSpPr>
          <p:cNvPr id="219" name="正方形/長方形 218">
            <a:extLst>
              <a:ext uri="{FF2B5EF4-FFF2-40B4-BE49-F238E27FC236}">
                <a16:creationId xmlns:a16="http://schemas.microsoft.com/office/drawing/2014/main" id="{CB47A614-2BA9-FF3B-84F6-6D980B288441}"/>
              </a:ext>
            </a:extLst>
          </p:cNvPr>
          <p:cNvSpPr/>
          <p:nvPr/>
        </p:nvSpPr>
        <p:spPr bwMode="auto">
          <a:xfrm>
            <a:off x="7590750" y="2323803"/>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72</a:t>
            </a:r>
          </a:p>
        </p:txBody>
      </p:sp>
      <p:sp>
        <p:nvSpPr>
          <p:cNvPr id="224" name="正方形/長方形 223">
            <a:extLst>
              <a:ext uri="{FF2B5EF4-FFF2-40B4-BE49-F238E27FC236}">
                <a16:creationId xmlns:a16="http://schemas.microsoft.com/office/drawing/2014/main" id="{D2CF23A4-C634-A58B-CDB1-A0BBF571A84F}"/>
              </a:ext>
            </a:extLst>
          </p:cNvPr>
          <p:cNvSpPr/>
          <p:nvPr/>
        </p:nvSpPr>
        <p:spPr bwMode="auto">
          <a:xfrm>
            <a:off x="7590750" y="2503798"/>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396</a:t>
            </a:r>
          </a:p>
        </p:txBody>
      </p:sp>
      <p:sp>
        <p:nvSpPr>
          <p:cNvPr id="229" name="正方形/長方形 228">
            <a:extLst>
              <a:ext uri="{FF2B5EF4-FFF2-40B4-BE49-F238E27FC236}">
                <a16:creationId xmlns:a16="http://schemas.microsoft.com/office/drawing/2014/main" id="{C33B22DB-A5BC-1F24-30FF-6A6A7B80FE62}"/>
              </a:ext>
            </a:extLst>
          </p:cNvPr>
          <p:cNvSpPr/>
          <p:nvPr/>
        </p:nvSpPr>
        <p:spPr bwMode="auto">
          <a:xfrm>
            <a:off x="7590750" y="2683793"/>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34" name="正方形/長方形 233">
            <a:extLst>
              <a:ext uri="{FF2B5EF4-FFF2-40B4-BE49-F238E27FC236}">
                <a16:creationId xmlns:a16="http://schemas.microsoft.com/office/drawing/2014/main" id="{452197AD-B785-57F0-5651-735946DD2324}"/>
              </a:ext>
            </a:extLst>
          </p:cNvPr>
          <p:cNvSpPr/>
          <p:nvPr/>
        </p:nvSpPr>
        <p:spPr bwMode="auto">
          <a:xfrm>
            <a:off x="7590750" y="2863788"/>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660</a:t>
            </a:r>
          </a:p>
        </p:txBody>
      </p:sp>
      <p:sp>
        <p:nvSpPr>
          <p:cNvPr id="239" name="正方形/長方形 238">
            <a:extLst>
              <a:ext uri="{FF2B5EF4-FFF2-40B4-BE49-F238E27FC236}">
                <a16:creationId xmlns:a16="http://schemas.microsoft.com/office/drawing/2014/main" id="{D0963F35-AB65-73EA-F9FE-0B55DB486EDD}"/>
              </a:ext>
            </a:extLst>
          </p:cNvPr>
          <p:cNvSpPr/>
          <p:nvPr/>
        </p:nvSpPr>
        <p:spPr bwMode="auto">
          <a:xfrm>
            <a:off x="7590750" y="3043782"/>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504</a:t>
            </a:r>
          </a:p>
        </p:txBody>
      </p:sp>
      <p:sp>
        <p:nvSpPr>
          <p:cNvPr id="244" name="正方形/長方形 243">
            <a:extLst>
              <a:ext uri="{FF2B5EF4-FFF2-40B4-BE49-F238E27FC236}">
                <a16:creationId xmlns:a16="http://schemas.microsoft.com/office/drawing/2014/main" id="{E3626BA8-F6E7-BBF2-5056-FACCA1766B0D}"/>
              </a:ext>
            </a:extLst>
          </p:cNvPr>
          <p:cNvSpPr/>
          <p:nvPr/>
        </p:nvSpPr>
        <p:spPr bwMode="auto">
          <a:xfrm>
            <a:off x="7590750" y="3403771"/>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49" name="正方形/長方形 248">
            <a:extLst>
              <a:ext uri="{FF2B5EF4-FFF2-40B4-BE49-F238E27FC236}">
                <a16:creationId xmlns:a16="http://schemas.microsoft.com/office/drawing/2014/main" id="{4FC04697-A328-C4D0-8C8D-39D69A37289E}"/>
              </a:ext>
            </a:extLst>
          </p:cNvPr>
          <p:cNvSpPr/>
          <p:nvPr/>
        </p:nvSpPr>
        <p:spPr bwMode="auto">
          <a:xfrm>
            <a:off x="7590750" y="3583766"/>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4" name="正方形/長方形 253">
            <a:extLst>
              <a:ext uri="{FF2B5EF4-FFF2-40B4-BE49-F238E27FC236}">
                <a16:creationId xmlns:a16="http://schemas.microsoft.com/office/drawing/2014/main" id="{CABE3AA5-5EAC-2630-2FA0-5C25FC3F0097}"/>
              </a:ext>
            </a:extLst>
          </p:cNvPr>
          <p:cNvSpPr/>
          <p:nvPr/>
        </p:nvSpPr>
        <p:spPr bwMode="auto">
          <a:xfrm>
            <a:off x="7590750" y="3763759"/>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9" name="正方形/長方形 258">
            <a:extLst>
              <a:ext uri="{FF2B5EF4-FFF2-40B4-BE49-F238E27FC236}">
                <a16:creationId xmlns:a16="http://schemas.microsoft.com/office/drawing/2014/main" id="{0F76628E-9C22-5667-B1A7-3D31B6E4E80E}"/>
              </a:ext>
            </a:extLst>
          </p:cNvPr>
          <p:cNvSpPr/>
          <p:nvPr/>
        </p:nvSpPr>
        <p:spPr bwMode="auto">
          <a:xfrm>
            <a:off x="7590750" y="3943756"/>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4" name="正方形/長方形 263">
            <a:extLst>
              <a:ext uri="{FF2B5EF4-FFF2-40B4-BE49-F238E27FC236}">
                <a16:creationId xmlns:a16="http://schemas.microsoft.com/office/drawing/2014/main" id="{29160AD1-AA06-C358-2E38-F9012C2FEE83}"/>
              </a:ext>
            </a:extLst>
          </p:cNvPr>
          <p:cNvSpPr/>
          <p:nvPr/>
        </p:nvSpPr>
        <p:spPr bwMode="auto">
          <a:xfrm>
            <a:off x="7590750" y="4123044"/>
            <a:ext cx="1332000"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1,704</a:t>
            </a:r>
          </a:p>
        </p:txBody>
      </p:sp>
      <p:sp>
        <p:nvSpPr>
          <p:cNvPr id="215" name="正方形/長方形 214">
            <a:extLst>
              <a:ext uri="{FF2B5EF4-FFF2-40B4-BE49-F238E27FC236}">
                <a16:creationId xmlns:a16="http://schemas.microsoft.com/office/drawing/2014/main" id="{B14B448A-CDA4-E6A7-7FF2-E2167CF89B5B}"/>
              </a:ext>
            </a:extLst>
          </p:cNvPr>
          <p:cNvSpPr/>
          <p:nvPr/>
        </p:nvSpPr>
        <p:spPr bwMode="auto">
          <a:xfrm>
            <a:off x="2780198" y="3223777"/>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20" name="正方形/長方形 219">
            <a:extLst>
              <a:ext uri="{FF2B5EF4-FFF2-40B4-BE49-F238E27FC236}">
                <a16:creationId xmlns:a16="http://schemas.microsoft.com/office/drawing/2014/main" id="{91EC1832-6C65-8454-1598-DA85387ABFCF}"/>
              </a:ext>
            </a:extLst>
          </p:cNvPr>
          <p:cNvSpPr/>
          <p:nvPr/>
        </p:nvSpPr>
        <p:spPr bwMode="auto">
          <a:xfrm>
            <a:off x="2780198" y="2323803"/>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1,362</a:t>
            </a:r>
          </a:p>
        </p:txBody>
      </p:sp>
      <p:sp>
        <p:nvSpPr>
          <p:cNvPr id="225" name="正方形/長方形 224">
            <a:extLst>
              <a:ext uri="{FF2B5EF4-FFF2-40B4-BE49-F238E27FC236}">
                <a16:creationId xmlns:a16="http://schemas.microsoft.com/office/drawing/2014/main" id="{57476CAD-26EE-48B7-0859-C604E67D4722}"/>
              </a:ext>
            </a:extLst>
          </p:cNvPr>
          <p:cNvSpPr/>
          <p:nvPr/>
        </p:nvSpPr>
        <p:spPr bwMode="auto">
          <a:xfrm>
            <a:off x="2780198" y="2503798"/>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636</a:t>
            </a:r>
          </a:p>
        </p:txBody>
      </p:sp>
      <p:sp>
        <p:nvSpPr>
          <p:cNvPr id="230" name="正方形/長方形 229">
            <a:extLst>
              <a:ext uri="{FF2B5EF4-FFF2-40B4-BE49-F238E27FC236}">
                <a16:creationId xmlns:a16="http://schemas.microsoft.com/office/drawing/2014/main" id="{395A74B7-7F4C-064D-1A66-358B5EDA3D8F}"/>
              </a:ext>
            </a:extLst>
          </p:cNvPr>
          <p:cNvSpPr/>
          <p:nvPr/>
        </p:nvSpPr>
        <p:spPr bwMode="auto">
          <a:xfrm>
            <a:off x="2780198" y="2683793"/>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827</a:t>
            </a:r>
          </a:p>
        </p:txBody>
      </p:sp>
      <p:sp>
        <p:nvSpPr>
          <p:cNvPr id="235" name="正方形/長方形 234">
            <a:extLst>
              <a:ext uri="{FF2B5EF4-FFF2-40B4-BE49-F238E27FC236}">
                <a16:creationId xmlns:a16="http://schemas.microsoft.com/office/drawing/2014/main" id="{7FCA19E7-00CF-2962-B8B6-FE7EEF2BCBFA}"/>
              </a:ext>
            </a:extLst>
          </p:cNvPr>
          <p:cNvSpPr/>
          <p:nvPr/>
        </p:nvSpPr>
        <p:spPr bwMode="auto">
          <a:xfrm>
            <a:off x="2780198" y="2863788"/>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1,110</a:t>
            </a:r>
          </a:p>
        </p:txBody>
      </p:sp>
      <p:sp>
        <p:nvSpPr>
          <p:cNvPr id="240" name="正方形/長方形 239">
            <a:extLst>
              <a:ext uri="{FF2B5EF4-FFF2-40B4-BE49-F238E27FC236}">
                <a16:creationId xmlns:a16="http://schemas.microsoft.com/office/drawing/2014/main" id="{41A9E2D9-79F7-9511-E77E-4797D5386180}"/>
              </a:ext>
            </a:extLst>
          </p:cNvPr>
          <p:cNvSpPr/>
          <p:nvPr/>
        </p:nvSpPr>
        <p:spPr bwMode="auto">
          <a:xfrm>
            <a:off x="2780198" y="3043782"/>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961</a:t>
            </a:r>
          </a:p>
        </p:txBody>
      </p:sp>
      <p:sp>
        <p:nvSpPr>
          <p:cNvPr id="245" name="正方形/長方形 244">
            <a:extLst>
              <a:ext uri="{FF2B5EF4-FFF2-40B4-BE49-F238E27FC236}">
                <a16:creationId xmlns:a16="http://schemas.microsoft.com/office/drawing/2014/main" id="{374F98AB-AC60-6EF4-71CA-54EF269CC4A9}"/>
              </a:ext>
            </a:extLst>
          </p:cNvPr>
          <p:cNvSpPr/>
          <p:nvPr/>
        </p:nvSpPr>
        <p:spPr bwMode="auto">
          <a:xfrm>
            <a:off x="2780198" y="3403771"/>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212</a:t>
            </a:r>
          </a:p>
        </p:txBody>
      </p:sp>
      <p:sp>
        <p:nvSpPr>
          <p:cNvPr id="250" name="正方形/長方形 249">
            <a:extLst>
              <a:ext uri="{FF2B5EF4-FFF2-40B4-BE49-F238E27FC236}">
                <a16:creationId xmlns:a16="http://schemas.microsoft.com/office/drawing/2014/main" id="{760AEECA-AF30-E855-4FC4-4048B2A544B3}"/>
              </a:ext>
            </a:extLst>
          </p:cNvPr>
          <p:cNvSpPr/>
          <p:nvPr/>
        </p:nvSpPr>
        <p:spPr bwMode="auto">
          <a:xfrm>
            <a:off x="2780198" y="3583766"/>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189</a:t>
            </a:r>
          </a:p>
        </p:txBody>
      </p:sp>
      <p:sp>
        <p:nvSpPr>
          <p:cNvPr id="255" name="正方形/長方形 254">
            <a:extLst>
              <a:ext uri="{FF2B5EF4-FFF2-40B4-BE49-F238E27FC236}">
                <a16:creationId xmlns:a16="http://schemas.microsoft.com/office/drawing/2014/main" id="{B891ACCD-6BC0-6D71-EF13-33ADD01169D2}"/>
              </a:ext>
            </a:extLst>
          </p:cNvPr>
          <p:cNvSpPr/>
          <p:nvPr/>
        </p:nvSpPr>
        <p:spPr bwMode="auto">
          <a:xfrm>
            <a:off x="2780198" y="3763759"/>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149</a:t>
            </a:r>
          </a:p>
        </p:txBody>
      </p:sp>
      <p:sp>
        <p:nvSpPr>
          <p:cNvPr id="260" name="正方形/長方形 259">
            <a:extLst>
              <a:ext uri="{FF2B5EF4-FFF2-40B4-BE49-F238E27FC236}">
                <a16:creationId xmlns:a16="http://schemas.microsoft.com/office/drawing/2014/main" id="{8B81C459-5B8F-CF2E-8206-A5084F8AC041}"/>
              </a:ext>
            </a:extLst>
          </p:cNvPr>
          <p:cNvSpPr/>
          <p:nvPr/>
        </p:nvSpPr>
        <p:spPr bwMode="auto">
          <a:xfrm>
            <a:off x="2780198" y="3943756"/>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480</a:t>
            </a:r>
          </a:p>
        </p:txBody>
      </p:sp>
      <p:sp>
        <p:nvSpPr>
          <p:cNvPr id="265" name="正方形/長方形 264">
            <a:extLst>
              <a:ext uri="{FF2B5EF4-FFF2-40B4-BE49-F238E27FC236}">
                <a16:creationId xmlns:a16="http://schemas.microsoft.com/office/drawing/2014/main" id="{4903C933-34D3-F934-3666-1FAB0034CF9D}"/>
              </a:ext>
            </a:extLst>
          </p:cNvPr>
          <p:cNvSpPr/>
          <p:nvPr/>
        </p:nvSpPr>
        <p:spPr bwMode="auto">
          <a:xfrm>
            <a:off x="2780198" y="4123044"/>
            <a:ext cx="893212"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5,926</a:t>
            </a:r>
          </a:p>
        </p:txBody>
      </p:sp>
      <p:sp>
        <p:nvSpPr>
          <p:cNvPr id="216" name="正方形/長方形 215">
            <a:extLst>
              <a:ext uri="{FF2B5EF4-FFF2-40B4-BE49-F238E27FC236}">
                <a16:creationId xmlns:a16="http://schemas.microsoft.com/office/drawing/2014/main" id="{48AE8A27-7F72-4752-0F15-F5046D345D4C}"/>
              </a:ext>
            </a:extLst>
          </p:cNvPr>
          <p:cNvSpPr/>
          <p:nvPr/>
        </p:nvSpPr>
        <p:spPr bwMode="auto">
          <a:xfrm>
            <a:off x="3717876" y="3223777"/>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288</a:t>
            </a:r>
          </a:p>
        </p:txBody>
      </p:sp>
      <p:sp>
        <p:nvSpPr>
          <p:cNvPr id="221" name="正方形/長方形 220">
            <a:extLst>
              <a:ext uri="{FF2B5EF4-FFF2-40B4-BE49-F238E27FC236}">
                <a16:creationId xmlns:a16="http://schemas.microsoft.com/office/drawing/2014/main" id="{96B6E023-D9ED-E90D-F161-FA1AEC3E6298}"/>
              </a:ext>
            </a:extLst>
          </p:cNvPr>
          <p:cNvSpPr/>
          <p:nvPr/>
        </p:nvSpPr>
        <p:spPr bwMode="auto">
          <a:xfrm>
            <a:off x="3717876" y="2323803"/>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7,501</a:t>
            </a:r>
          </a:p>
        </p:txBody>
      </p:sp>
      <p:sp>
        <p:nvSpPr>
          <p:cNvPr id="226" name="正方形/長方形 225">
            <a:extLst>
              <a:ext uri="{FF2B5EF4-FFF2-40B4-BE49-F238E27FC236}">
                <a16:creationId xmlns:a16="http://schemas.microsoft.com/office/drawing/2014/main" id="{8C401A77-65FC-DEC0-7060-51E78A889AD2}"/>
              </a:ext>
            </a:extLst>
          </p:cNvPr>
          <p:cNvSpPr/>
          <p:nvPr/>
        </p:nvSpPr>
        <p:spPr bwMode="auto">
          <a:xfrm>
            <a:off x="3717876" y="2503798"/>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1,732</a:t>
            </a:r>
          </a:p>
        </p:txBody>
      </p:sp>
      <p:sp>
        <p:nvSpPr>
          <p:cNvPr id="231" name="正方形/長方形 230">
            <a:extLst>
              <a:ext uri="{FF2B5EF4-FFF2-40B4-BE49-F238E27FC236}">
                <a16:creationId xmlns:a16="http://schemas.microsoft.com/office/drawing/2014/main" id="{D7F57635-7DA4-B788-CAC1-C787E7F80BB5}"/>
              </a:ext>
            </a:extLst>
          </p:cNvPr>
          <p:cNvSpPr/>
          <p:nvPr/>
        </p:nvSpPr>
        <p:spPr bwMode="auto">
          <a:xfrm>
            <a:off x="3717876" y="2683793"/>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2,165</a:t>
            </a:r>
          </a:p>
        </p:txBody>
      </p:sp>
      <p:sp>
        <p:nvSpPr>
          <p:cNvPr id="236" name="正方形/長方形 235">
            <a:extLst>
              <a:ext uri="{FF2B5EF4-FFF2-40B4-BE49-F238E27FC236}">
                <a16:creationId xmlns:a16="http://schemas.microsoft.com/office/drawing/2014/main" id="{0E67268E-1B0F-ADB1-DA01-9B591E882E2B}"/>
              </a:ext>
            </a:extLst>
          </p:cNvPr>
          <p:cNvSpPr/>
          <p:nvPr/>
        </p:nvSpPr>
        <p:spPr bwMode="auto">
          <a:xfrm>
            <a:off x="3717876" y="2863788"/>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3,850</a:t>
            </a:r>
          </a:p>
        </p:txBody>
      </p:sp>
      <p:sp>
        <p:nvSpPr>
          <p:cNvPr id="241" name="正方形/長方形 240">
            <a:extLst>
              <a:ext uri="{FF2B5EF4-FFF2-40B4-BE49-F238E27FC236}">
                <a16:creationId xmlns:a16="http://schemas.microsoft.com/office/drawing/2014/main" id="{B73E9BC0-9DC4-990C-BCB8-76E7D1628F2A}"/>
              </a:ext>
            </a:extLst>
          </p:cNvPr>
          <p:cNvSpPr/>
          <p:nvPr/>
        </p:nvSpPr>
        <p:spPr bwMode="auto">
          <a:xfrm>
            <a:off x="3717876" y="3043782"/>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2,624</a:t>
            </a:r>
          </a:p>
        </p:txBody>
      </p:sp>
      <p:sp>
        <p:nvSpPr>
          <p:cNvPr id="246" name="正方形/長方形 245">
            <a:extLst>
              <a:ext uri="{FF2B5EF4-FFF2-40B4-BE49-F238E27FC236}">
                <a16:creationId xmlns:a16="http://schemas.microsoft.com/office/drawing/2014/main" id="{5D156278-31DE-7614-5A5A-7A8F5A0948D9}"/>
              </a:ext>
            </a:extLst>
          </p:cNvPr>
          <p:cNvSpPr/>
          <p:nvPr/>
        </p:nvSpPr>
        <p:spPr bwMode="auto">
          <a:xfrm>
            <a:off x="3717876" y="3403771"/>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1,256</a:t>
            </a:r>
          </a:p>
        </p:txBody>
      </p:sp>
      <p:sp>
        <p:nvSpPr>
          <p:cNvPr id="251" name="正方形/長方形 250">
            <a:extLst>
              <a:ext uri="{FF2B5EF4-FFF2-40B4-BE49-F238E27FC236}">
                <a16:creationId xmlns:a16="http://schemas.microsoft.com/office/drawing/2014/main" id="{7DCD092D-DF5C-C503-0DD6-3AFCEC8D2311}"/>
              </a:ext>
            </a:extLst>
          </p:cNvPr>
          <p:cNvSpPr/>
          <p:nvPr/>
        </p:nvSpPr>
        <p:spPr bwMode="auto">
          <a:xfrm>
            <a:off x="3717876" y="3583766"/>
            <a:ext cx="1839944"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6" name="正方形/長方形 255">
            <a:extLst>
              <a:ext uri="{FF2B5EF4-FFF2-40B4-BE49-F238E27FC236}">
                <a16:creationId xmlns:a16="http://schemas.microsoft.com/office/drawing/2014/main" id="{94B2263F-F4DD-79BC-65BB-3A9FEC773B54}"/>
              </a:ext>
            </a:extLst>
          </p:cNvPr>
          <p:cNvSpPr/>
          <p:nvPr/>
        </p:nvSpPr>
        <p:spPr bwMode="auto">
          <a:xfrm>
            <a:off x="3717876" y="3763759"/>
            <a:ext cx="1839944"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1" name="正方形/長方形 260">
            <a:extLst>
              <a:ext uri="{FF2B5EF4-FFF2-40B4-BE49-F238E27FC236}">
                <a16:creationId xmlns:a16="http://schemas.microsoft.com/office/drawing/2014/main" id="{7D957983-681C-2839-40C5-9C4B80619F94}"/>
              </a:ext>
            </a:extLst>
          </p:cNvPr>
          <p:cNvSpPr/>
          <p:nvPr/>
        </p:nvSpPr>
        <p:spPr bwMode="auto">
          <a:xfrm>
            <a:off x="3717876" y="3943756"/>
            <a:ext cx="1839944"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6" name="正方形/長方形 265">
            <a:extLst>
              <a:ext uri="{FF2B5EF4-FFF2-40B4-BE49-F238E27FC236}">
                <a16:creationId xmlns:a16="http://schemas.microsoft.com/office/drawing/2014/main" id="{40EB7857-09EF-A213-9CA0-614EDA1503B5}"/>
              </a:ext>
            </a:extLst>
          </p:cNvPr>
          <p:cNvSpPr/>
          <p:nvPr/>
        </p:nvSpPr>
        <p:spPr bwMode="auto">
          <a:xfrm>
            <a:off x="3717876" y="4123044"/>
            <a:ext cx="1839944"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19,416</a:t>
            </a:r>
          </a:p>
        </p:txBody>
      </p:sp>
      <p:sp>
        <p:nvSpPr>
          <p:cNvPr id="217" name="正方形/長方形 216">
            <a:extLst>
              <a:ext uri="{FF2B5EF4-FFF2-40B4-BE49-F238E27FC236}">
                <a16:creationId xmlns:a16="http://schemas.microsoft.com/office/drawing/2014/main" id="{E0B04637-A667-F861-249B-60CC4D61820F}"/>
              </a:ext>
            </a:extLst>
          </p:cNvPr>
          <p:cNvSpPr/>
          <p:nvPr/>
        </p:nvSpPr>
        <p:spPr bwMode="auto">
          <a:xfrm>
            <a:off x="5602285" y="3223777"/>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132</a:t>
            </a:r>
          </a:p>
        </p:txBody>
      </p:sp>
      <p:sp>
        <p:nvSpPr>
          <p:cNvPr id="222" name="正方形/長方形 221">
            <a:extLst>
              <a:ext uri="{FF2B5EF4-FFF2-40B4-BE49-F238E27FC236}">
                <a16:creationId xmlns:a16="http://schemas.microsoft.com/office/drawing/2014/main" id="{CA090E73-300A-6D2F-27C3-63883D97F6CF}"/>
              </a:ext>
            </a:extLst>
          </p:cNvPr>
          <p:cNvSpPr/>
          <p:nvPr/>
        </p:nvSpPr>
        <p:spPr bwMode="auto">
          <a:xfrm>
            <a:off x="5602285" y="2323803"/>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1,104</a:t>
            </a:r>
          </a:p>
        </p:txBody>
      </p:sp>
      <p:sp>
        <p:nvSpPr>
          <p:cNvPr id="227" name="正方形/長方形 226">
            <a:extLst>
              <a:ext uri="{FF2B5EF4-FFF2-40B4-BE49-F238E27FC236}">
                <a16:creationId xmlns:a16="http://schemas.microsoft.com/office/drawing/2014/main" id="{41417924-B9FD-BFFF-5A8A-984476676360}"/>
              </a:ext>
            </a:extLst>
          </p:cNvPr>
          <p:cNvSpPr/>
          <p:nvPr/>
        </p:nvSpPr>
        <p:spPr bwMode="auto">
          <a:xfrm>
            <a:off x="5602285" y="2503798"/>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1,056</a:t>
            </a:r>
          </a:p>
        </p:txBody>
      </p:sp>
      <p:sp>
        <p:nvSpPr>
          <p:cNvPr id="232" name="正方形/長方形 231">
            <a:extLst>
              <a:ext uri="{FF2B5EF4-FFF2-40B4-BE49-F238E27FC236}">
                <a16:creationId xmlns:a16="http://schemas.microsoft.com/office/drawing/2014/main" id="{96373DF5-DFFF-F124-A443-1DAD6AC375EA}"/>
              </a:ext>
            </a:extLst>
          </p:cNvPr>
          <p:cNvSpPr/>
          <p:nvPr/>
        </p:nvSpPr>
        <p:spPr bwMode="auto">
          <a:xfrm>
            <a:off x="5602285" y="2683793"/>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37" name="正方形/長方形 236">
            <a:extLst>
              <a:ext uri="{FF2B5EF4-FFF2-40B4-BE49-F238E27FC236}">
                <a16:creationId xmlns:a16="http://schemas.microsoft.com/office/drawing/2014/main" id="{6895FEC9-F7A3-1D95-F9D4-FEB3C795A4DF}"/>
              </a:ext>
            </a:extLst>
          </p:cNvPr>
          <p:cNvSpPr/>
          <p:nvPr/>
        </p:nvSpPr>
        <p:spPr bwMode="auto">
          <a:xfrm>
            <a:off x="5602285" y="2863788"/>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2,820</a:t>
            </a:r>
          </a:p>
        </p:txBody>
      </p:sp>
      <p:sp>
        <p:nvSpPr>
          <p:cNvPr id="242" name="正方形/長方形 241">
            <a:extLst>
              <a:ext uri="{FF2B5EF4-FFF2-40B4-BE49-F238E27FC236}">
                <a16:creationId xmlns:a16="http://schemas.microsoft.com/office/drawing/2014/main" id="{D16AAB6B-F312-111E-0701-88A5BC2EED7F}"/>
              </a:ext>
            </a:extLst>
          </p:cNvPr>
          <p:cNvSpPr/>
          <p:nvPr/>
        </p:nvSpPr>
        <p:spPr bwMode="auto">
          <a:xfrm>
            <a:off x="5602285" y="3043782"/>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666</a:t>
            </a:r>
          </a:p>
        </p:txBody>
      </p:sp>
      <p:sp>
        <p:nvSpPr>
          <p:cNvPr id="247" name="正方形/長方形 246">
            <a:extLst>
              <a:ext uri="{FF2B5EF4-FFF2-40B4-BE49-F238E27FC236}">
                <a16:creationId xmlns:a16="http://schemas.microsoft.com/office/drawing/2014/main" id="{C3A923F0-D025-0A76-5791-F69640BA3450}"/>
              </a:ext>
            </a:extLst>
          </p:cNvPr>
          <p:cNvSpPr/>
          <p:nvPr/>
        </p:nvSpPr>
        <p:spPr bwMode="auto">
          <a:xfrm>
            <a:off x="5602285" y="3403771"/>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211</a:t>
            </a:r>
          </a:p>
        </p:txBody>
      </p:sp>
      <p:sp>
        <p:nvSpPr>
          <p:cNvPr id="252" name="正方形/長方形 251">
            <a:extLst>
              <a:ext uri="{FF2B5EF4-FFF2-40B4-BE49-F238E27FC236}">
                <a16:creationId xmlns:a16="http://schemas.microsoft.com/office/drawing/2014/main" id="{ED7D07D5-56E3-140C-2429-565950E4A3B9}"/>
              </a:ext>
            </a:extLst>
          </p:cNvPr>
          <p:cNvSpPr/>
          <p:nvPr/>
        </p:nvSpPr>
        <p:spPr bwMode="auto">
          <a:xfrm>
            <a:off x="5602285" y="3583766"/>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7" name="正方形/長方形 256">
            <a:extLst>
              <a:ext uri="{FF2B5EF4-FFF2-40B4-BE49-F238E27FC236}">
                <a16:creationId xmlns:a16="http://schemas.microsoft.com/office/drawing/2014/main" id="{2BD3193F-716F-E9F1-8A2C-39A84FBBADAC}"/>
              </a:ext>
            </a:extLst>
          </p:cNvPr>
          <p:cNvSpPr/>
          <p:nvPr/>
        </p:nvSpPr>
        <p:spPr bwMode="auto">
          <a:xfrm>
            <a:off x="5602285" y="3763759"/>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2" name="正方形/長方形 261">
            <a:extLst>
              <a:ext uri="{FF2B5EF4-FFF2-40B4-BE49-F238E27FC236}">
                <a16:creationId xmlns:a16="http://schemas.microsoft.com/office/drawing/2014/main" id="{D3A20FFB-2CA8-A32F-B592-EAC2C6148663}"/>
              </a:ext>
            </a:extLst>
          </p:cNvPr>
          <p:cNvSpPr/>
          <p:nvPr/>
        </p:nvSpPr>
        <p:spPr bwMode="auto">
          <a:xfrm>
            <a:off x="5602285" y="3943756"/>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7" name="正方形/長方形 266">
            <a:extLst>
              <a:ext uri="{FF2B5EF4-FFF2-40B4-BE49-F238E27FC236}">
                <a16:creationId xmlns:a16="http://schemas.microsoft.com/office/drawing/2014/main" id="{59EDC366-5606-5A3B-257E-611341D39F0D}"/>
              </a:ext>
            </a:extLst>
          </p:cNvPr>
          <p:cNvSpPr/>
          <p:nvPr/>
        </p:nvSpPr>
        <p:spPr bwMode="auto">
          <a:xfrm>
            <a:off x="5602285" y="4123044"/>
            <a:ext cx="1944000"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5,989</a:t>
            </a:r>
          </a:p>
        </p:txBody>
      </p:sp>
      <p:sp>
        <p:nvSpPr>
          <p:cNvPr id="218" name="正方形/長方形 217">
            <a:extLst>
              <a:ext uri="{FF2B5EF4-FFF2-40B4-BE49-F238E27FC236}">
                <a16:creationId xmlns:a16="http://schemas.microsoft.com/office/drawing/2014/main" id="{C034416B-D53A-C7AE-852C-71290E59620A}"/>
              </a:ext>
            </a:extLst>
          </p:cNvPr>
          <p:cNvSpPr/>
          <p:nvPr/>
        </p:nvSpPr>
        <p:spPr bwMode="auto">
          <a:xfrm>
            <a:off x="9551681" y="3223777"/>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84</a:t>
            </a:r>
          </a:p>
        </p:txBody>
      </p:sp>
      <p:sp>
        <p:nvSpPr>
          <p:cNvPr id="223" name="正方形/長方形 222">
            <a:extLst>
              <a:ext uri="{FF2B5EF4-FFF2-40B4-BE49-F238E27FC236}">
                <a16:creationId xmlns:a16="http://schemas.microsoft.com/office/drawing/2014/main" id="{CBDA6FDA-3525-38C8-A691-43A14D5FB8B6}"/>
              </a:ext>
            </a:extLst>
          </p:cNvPr>
          <p:cNvSpPr/>
          <p:nvPr/>
        </p:nvSpPr>
        <p:spPr bwMode="auto">
          <a:xfrm>
            <a:off x="9551681" y="2323803"/>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564</a:t>
            </a:r>
          </a:p>
        </p:txBody>
      </p:sp>
      <p:sp>
        <p:nvSpPr>
          <p:cNvPr id="228" name="正方形/長方形 227">
            <a:extLst>
              <a:ext uri="{FF2B5EF4-FFF2-40B4-BE49-F238E27FC236}">
                <a16:creationId xmlns:a16="http://schemas.microsoft.com/office/drawing/2014/main" id="{FDB18BBB-276C-2A07-3C77-AA642A8D1157}"/>
              </a:ext>
            </a:extLst>
          </p:cNvPr>
          <p:cNvSpPr/>
          <p:nvPr/>
        </p:nvSpPr>
        <p:spPr bwMode="auto">
          <a:xfrm>
            <a:off x="9551681" y="2503798"/>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198</a:t>
            </a:r>
          </a:p>
        </p:txBody>
      </p:sp>
      <p:sp>
        <p:nvSpPr>
          <p:cNvPr id="233" name="正方形/長方形 232">
            <a:extLst>
              <a:ext uri="{FF2B5EF4-FFF2-40B4-BE49-F238E27FC236}">
                <a16:creationId xmlns:a16="http://schemas.microsoft.com/office/drawing/2014/main" id="{9249CEEC-B2E7-E49E-47B3-05BFDBDCCA44}"/>
              </a:ext>
            </a:extLst>
          </p:cNvPr>
          <p:cNvSpPr/>
          <p:nvPr/>
        </p:nvSpPr>
        <p:spPr bwMode="auto">
          <a:xfrm>
            <a:off x="9551681" y="2683793"/>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38" name="正方形/長方形 237">
            <a:extLst>
              <a:ext uri="{FF2B5EF4-FFF2-40B4-BE49-F238E27FC236}">
                <a16:creationId xmlns:a16="http://schemas.microsoft.com/office/drawing/2014/main" id="{68F25994-69C1-7584-E496-560CEEDAE420}"/>
              </a:ext>
            </a:extLst>
          </p:cNvPr>
          <p:cNvSpPr/>
          <p:nvPr/>
        </p:nvSpPr>
        <p:spPr bwMode="auto">
          <a:xfrm>
            <a:off x="9551681" y="2863788"/>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198</a:t>
            </a:r>
          </a:p>
        </p:txBody>
      </p:sp>
      <p:sp>
        <p:nvSpPr>
          <p:cNvPr id="243" name="正方形/長方形 242">
            <a:extLst>
              <a:ext uri="{FF2B5EF4-FFF2-40B4-BE49-F238E27FC236}">
                <a16:creationId xmlns:a16="http://schemas.microsoft.com/office/drawing/2014/main" id="{FC1C2F39-E180-EE89-BD14-6C680ADF1436}"/>
              </a:ext>
            </a:extLst>
          </p:cNvPr>
          <p:cNvSpPr/>
          <p:nvPr/>
        </p:nvSpPr>
        <p:spPr bwMode="auto">
          <a:xfrm>
            <a:off x="9551681" y="3043782"/>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48" name="正方形/長方形 247">
            <a:extLst>
              <a:ext uri="{FF2B5EF4-FFF2-40B4-BE49-F238E27FC236}">
                <a16:creationId xmlns:a16="http://schemas.microsoft.com/office/drawing/2014/main" id="{A299C65C-31D8-0FCB-06B1-276DA4A4DFA9}"/>
              </a:ext>
            </a:extLst>
          </p:cNvPr>
          <p:cNvSpPr/>
          <p:nvPr/>
        </p:nvSpPr>
        <p:spPr bwMode="auto">
          <a:xfrm>
            <a:off x="9551681" y="3403771"/>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77</a:t>
            </a:r>
          </a:p>
        </p:txBody>
      </p:sp>
      <p:sp>
        <p:nvSpPr>
          <p:cNvPr id="253" name="正方形/長方形 252">
            <a:extLst>
              <a:ext uri="{FF2B5EF4-FFF2-40B4-BE49-F238E27FC236}">
                <a16:creationId xmlns:a16="http://schemas.microsoft.com/office/drawing/2014/main" id="{126C505D-A80D-69B2-3DBC-BB0126CB8899}"/>
              </a:ext>
            </a:extLst>
          </p:cNvPr>
          <p:cNvSpPr/>
          <p:nvPr/>
        </p:nvSpPr>
        <p:spPr bwMode="auto">
          <a:xfrm>
            <a:off x="9551681" y="3583766"/>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8" name="正方形/長方形 257">
            <a:extLst>
              <a:ext uri="{FF2B5EF4-FFF2-40B4-BE49-F238E27FC236}">
                <a16:creationId xmlns:a16="http://schemas.microsoft.com/office/drawing/2014/main" id="{12638271-8CD1-69CC-A6AB-4BAC00997ECC}"/>
              </a:ext>
            </a:extLst>
          </p:cNvPr>
          <p:cNvSpPr/>
          <p:nvPr/>
        </p:nvSpPr>
        <p:spPr bwMode="auto">
          <a:xfrm>
            <a:off x="9551681" y="3763759"/>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3" name="正方形/長方形 262">
            <a:extLst>
              <a:ext uri="{FF2B5EF4-FFF2-40B4-BE49-F238E27FC236}">
                <a16:creationId xmlns:a16="http://schemas.microsoft.com/office/drawing/2014/main" id="{90CC85FC-2987-73E5-B59E-890269C1C4BA}"/>
              </a:ext>
            </a:extLst>
          </p:cNvPr>
          <p:cNvSpPr/>
          <p:nvPr/>
        </p:nvSpPr>
        <p:spPr bwMode="auto">
          <a:xfrm>
            <a:off x="9551681" y="3943756"/>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8" name="正方形/長方形 267">
            <a:extLst>
              <a:ext uri="{FF2B5EF4-FFF2-40B4-BE49-F238E27FC236}">
                <a16:creationId xmlns:a16="http://schemas.microsoft.com/office/drawing/2014/main" id="{2D714A2B-B8EC-475E-9060-34745CB9561F}"/>
              </a:ext>
            </a:extLst>
          </p:cNvPr>
          <p:cNvSpPr/>
          <p:nvPr/>
        </p:nvSpPr>
        <p:spPr bwMode="auto">
          <a:xfrm>
            <a:off x="9551681" y="4123044"/>
            <a:ext cx="612000"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1,121</a:t>
            </a:r>
          </a:p>
        </p:txBody>
      </p:sp>
      <p:sp>
        <p:nvSpPr>
          <p:cNvPr id="278" name="正方形/長方形 277">
            <a:extLst>
              <a:ext uri="{FF2B5EF4-FFF2-40B4-BE49-F238E27FC236}">
                <a16:creationId xmlns:a16="http://schemas.microsoft.com/office/drawing/2014/main" id="{8E28F246-4A01-9504-B7B9-8EBED7FD9CCF}"/>
              </a:ext>
            </a:extLst>
          </p:cNvPr>
          <p:cNvSpPr/>
          <p:nvPr/>
        </p:nvSpPr>
        <p:spPr bwMode="auto">
          <a:xfrm>
            <a:off x="10459870" y="4123044"/>
            <a:ext cx="792000" cy="169030"/>
          </a:xfrm>
          <a:prstGeom prst="rect">
            <a:avLst/>
          </a:prstGeom>
          <a:solidFill>
            <a:schemeClr val="accent6">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200" b="1" dirty="0">
                <a:solidFill>
                  <a:schemeClr val="bg1"/>
                </a:solidFill>
                <a:latin typeface="Meiryo UI" panose="020B0604030504040204" pitchFamily="50" charset="-128"/>
                <a:ea typeface="Meiryo UI" panose="020B0604030504040204" pitchFamily="50" charset="-128"/>
              </a:rPr>
              <a:t>34,708</a:t>
            </a:r>
            <a:r>
              <a:rPr lang="ja-JP" altLang="en-US" sz="800" dirty="0">
                <a:solidFill>
                  <a:schemeClr val="bg1"/>
                </a:solidFill>
                <a:latin typeface="Meiryo UI" panose="020B0604030504040204" pitchFamily="50" charset="-128"/>
                <a:ea typeface="Meiryo UI" panose="020B0604030504040204" pitchFamily="50" charset="-128"/>
              </a:rPr>
              <a:t>万円</a:t>
            </a:r>
            <a:endParaRPr lang="en-US" altLang="ja-JP" sz="800" dirty="0">
              <a:solidFill>
                <a:schemeClr val="bg1"/>
              </a:solidFill>
              <a:latin typeface="Meiryo UI" panose="020B0604030504040204" pitchFamily="50" charset="-128"/>
              <a:ea typeface="Meiryo UI" panose="020B0604030504040204" pitchFamily="50" charset="-128"/>
            </a:endParaRPr>
          </a:p>
        </p:txBody>
      </p:sp>
      <p:sp>
        <p:nvSpPr>
          <p:cNvPr id="279" name="正方形/長方形 278">
            <a:extLst>
              <a:ext uri="{FF2B5EF4-FFF2-40B4-BE49-F238E27FC236}">
                <a16:creationId xmlns:a16="http://schemas.microsoft.com/office/drawing/2014/main" id="{CAF0A684-4157-DE3A-A094-9EF56DD91222}"/>
              </a:ext>
            </a:extLst>
          </p:cNvPr>
          <p:cNvSpPr/>
          <p:nvPr/>
        </p:nvSpPr>
        <p:spPr bwMode="auto">
          <a:xfrm>
            <a:off x="10459870" y="2323803"/>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10,867</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0" name="正方形/長方形 279">
            <a:extLst>
              <a:ext uri="{FF2B5EF4-FFF2-40B4-BE49-F238E27FC236}">
                <a16:creationId xmlns:a16="http://schemas.microsoft.com/office/drawing/2014/main" id="{60AD363E-FF77-8979-4DC0-32F2C9F2D36F}"/>
              </a:ext>
            </a:extLst>
          </p:cNvPr>
          <p:cNvSpPr/>
          <p:nvPr/>
        </p:nvSpPr>
        <p:spPr bwMode="auto">
          <a:xfrm>
            <a:off x="10459870" y="2503727"/>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4,150</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1" name="正方形/長方形 280">
            <a:extLst>
              <a:ext uri="{FF2B5EF4-FFF2-40B4-BE49-F238E27FC236}">
                <a16:creationId xmlns:a16="http://schemas.microsoft.com/office/drawing/2014/main" id="{CA1E6736-B84A-2B4E-6827-466101192E3F}"/>
              </a:ext>
            </a:extLst>
          </p:cNvPr>
          <p:cNvSpPr/>
          <p:nvPr/>
        </p:nvSpPr>
        <p:spPr bwMode="auto">
          <a:xfrm>
            <a:off x="10459870" y="2683651"/>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2,992</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2" name="正方形/長方形 281">
            <a:extLst>
              <a:ext uri="{FF2B5EF4-FFF2-40B4-BE49-F238E27FC236}">
                <a16:creationId xmlns:a16="http://schemas.microsoft.com/office/drawing/2014/main" id="{4E4C3241-29EE-004C-06E9-F659034CAD44}"/>
              </a:ext>
            </a:extLst>
          </p:cNvPr>
          <p:cNvSpPr/>
          <p:nvPr/>
        </p:nvSpPr>
        <p:spPr bwMode="auto">
          <a:xfrm>
            <a:off x="10459870" y="2863575"/>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8,770</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3" name="正方形/長方形 282">
            <a:extLst>
              <a:ext uri="{FF2B5EF4-FFF2-40B4-BE49-F238E27FC236}">
                <a16:creationId xmlns:a16="http://schemas.microsoft.com/office/drawing/2014/main" id="{EE05BEFF-8230-8A22-ADA1-19B9B8B911F3}"/>
              </a:ext>
            </a:extLst>
          </p:cNvPr>
          <p:cNvSpPr/>
          <p:nvPr/>
        </p:nvSpPr>
        <p:spPr bwMode="auto">
          <a:xfrm>
            <a:off x="10459870" y="3043498"/>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4,755</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4" name="正方形/長方形 283">
            <a:extLst>
              <a:ext uri="{FF2B5EF4-FFF2-40B4-BE49-F238E27FC236}">
                <a16:creationId xmlns:a16="http://schemas.microsoft.com/office/drawing/2014/main" id="{6A3FF8D2-AEA2-4CB8-1949-BF15F0B17EE7}"/>
              </a:ext>
            </a:extLst>
          </p:cNvPr>
          <p:cNvSpPr/>
          <p:nvPr/>
        </p:nvSpPr>
        <p:spPr bwMode="auto">
          <a:xfrm>
            <a:off x="10459870" y="3223422"/>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600</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5" name="正方形/長方形 284">
            <a:extLst>
              <a:ext uri="{FF2B5EF4-FFF2-40B4-BE49-F238E27FC236}">
                <a16:creationId xmlns:a16="http://schemas.microsoft.com/office/drawing/2014/main" id="{B2C738F0-F005-F719-DE8D-33ED66670070}"/>
              </a:ext>
            </a:extLst>
          </p:cNvPr>
          <p:cNvSpPr/>
          <p:nvPr/>
        </p:nvSpPr>
        <p:spPr bwMode="auto">
          <a:xfrm>
            <a:off x="10459870" y="3403345"/>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1,756</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6" name="正方形/長方形 285">
            <a:extLst>
              <a:ext uri="{FF2B5EF4-FFF2-40B4-BE49-F238E27FC236}">
                <a16:creationId xmlns:a16="http://schemas.microsoft.com/office/drawing/2014/main" id="{BDA5C55F-BFC5-2F3F-EFB9-6674A02FA550}"/>
              </a:ext>
            </a:extLst>
          </p:cNvPr>
          <p:cNvSpPr/>
          <p:nvPr/>
        </p:nvSpPr>
        <p:spPr bwMode="auto">
          <a:xfrm>
            <a:off x="10459870" y="3583268"/>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189</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7" name="正方形/長方形 286">
            <a:extLst>
              <a:ext uri="{FF2B5EF4-FFF2-40B4-BE49-F238E27FC236}">
                <a16:creationId xmlns:a16="http://schemas.microsoft.com/office/drawing/2014/main" id="{CF84257E-486A-730F-FAB4-8552DFD172A2}"/>
              </a:ext>
            </a:extLst>
          </p:cNvPr>
          <p:cNvSpPr/>
          <p:nvPr/>
        </p:nvSpPr>
        <p:spPr bwMode="auto">
          <a:xfrm>
            <a:off x="10459870" y="3763193"/>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149</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8" name="正方形/長方形 287">
            <a:extLst>
              <a:ext uri="{FF2B5EF4-FFF2-40B4-BE49-F238E27FC236}">
                <a16:creationId xmlns:a16="http://schemas.microsoft.com/office/drawing/2014/main" id="{62C8AE84-F7E1-7CB9-1DC3-3726B7EEAD87}"/>
              </a:ext>
            </a:extLst>
          </p:cNvPr>
          <p:cNvSpPr/>
          <p:nvPr/>
        </p:nvSpPr>
        <p:spPr bwMode="auto">
          <a:xfrm>
            <a:off x="10459870" y="3943116"/>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480</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C03A8D0B-68A9-2E3A-BBE2-4E3FBAA46E80}"/>
              </a:ext>
            </a:extLst>
          </p:cNvPr>
          <p:cNvSpPr/>
          <p:nvPr/>
        </p:nvSpPr>
        <p:spPr bwMode="auto">
          <a:xfrm>
            <a:off x="11298803" y="1903147"/>
            <a:ext cx="640715" cy="297851"/>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600" b="1">
                <a:solidFill>
                  <a:schemeClr val="tx1">
                    <a:lumMod val="75000"/>
                    <a:lumOff val="25000"/>
                  </a:schemeClr>
                </a:solidFill>
                <a:latin typeface="Meiryo UI" panose="020B0604030504040204" pitchFamily="50" charset="-128"/>
                <a:ea typeface="Meiryo UI" panose="020B0604030504040204" pitchFamily="50" charset="-128"/>
              </a:rPr>
              <a:t>参考：初期構築</a:t>
            </a:r>
            <a:endParaRPr lang="en-US" altLang="ja-JP" sz="600" b="1">
              <a:solidFill>
                <a:schemeClr val="tx1">
                  <a:lumMod val="75000"/>
                  <a:lumOff val="25000"/>
                </a:schemeClr>
              </a:solidFill>
              <a:latin typeface="Meiryo UI" panose="020B0604030504040204" pitchFamily="50" charset="-128"/>
              <a:ea typeface="Meiryo UI" panose="020B0604030504040204" pitchFamily="50" charset="-128"/>
            </a:endParaRPr>
          </a:p>
          <a:p>
            <a:pPr algn="ctr" fontAlgn="ctr"/>
            <a:r>
              <a:rPr lang="en-US" altLang="ja-JP" sz="600" b="1">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600" b="1">
                <a:solidFill>
                  <a:schemeClr val="tx1">
                    <a:lumMod val="75000"/>
                    <a:lumOff val="25000"/>
                  </a:schemeClr>
                </a:solidFill>
                <a:latin typeface="Meiryo UI" panose="020B0604030504040204" pitchFamily="50" charset="-128"/>
                <a:ea typeface="Meiryo UI" panose="020B0604030504040204" pitchFamily="50" charset="-128"/>
              </a:rPr>
              <a:t>コンサル抜き</a:t>
            </a:r>
            <a:endParaRPr lang="en-US" altLang="ja-JP" sz="6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1D76E35E-CEEF-61A1-11C8-BC96D829416C}"/>
              </a:ext>
            </a:extLst>
          </p:cNvPr>
          <p:cNvSpPr/>
          <p:nvPr/>
        </p:nvSpPr>
        <p:spPr bwMode="auto">
          <a:xfrm>
            <a:off x="11298803" y="2323803"/>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30,000</a:t>
            </a:r>
          </a:p>
        </p:txBody>
      </p:sp>
      <p:sp>
        <p:nvSpPr>
          <p:cNvPr id="57" name="正方形/長方形 56">
            <a:extLst>
              <a:ext uri="{FF2B5EF4-FFF2-40B4-BE49-F238E27FC236}">
                <a16:creationId xmlns:a16="http://schemas.microsoft.com/office/drawing/2014/main" id="{8111112A-2A54-7186-3280-0E13F3418C36}"/>
              </a:ext>
            </a:extLst>
          </p:cNvPr>
          <p:cNvSpPr/>
          <p:nvPr/>
        </p:nvSpPr>
        <p:spPr bwMode="auto">
          <a:xfrm>
            <a:off x="11298803" y="2503798"/>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5,000</a:t>
            </a:r>
          </a:p>
        </p:txBody>
      </p:sp>
      <p:sp>
        <p:nvSpPr>
          <p:cNvPr id="58" name="正方形/長方形 57">
            <a:extLst>
              <a:ext uri="{FF2B5EF4-FFF2-40B4-BE49-F238E27FC236}">
                <a16:creationId xmlns:a16="http://schemas.microsoft.com/office/drawing/2014/main" id="{B12AE041-4630-B315-211B-43770ED8780F}"/>
              </a:ext>
            </a:extLst>
          </p:cNvPr>
          <p:cNvSpPr/>
          <p:nvPr/>
        </p:nvSpPr>
        <p:spPr bwMode="auto">
          <a:xfrm>
            <a:off x="11298803" y="2683793"/>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5,000</a:t>
            </a:r>
          </a:p>
        </p:txBody>
      </p:sp>
      <p:sp>
        <p:nvSpPr>
          <p:cNvPr id="60" name="正方形/長方形 59">
            <a:extLst>
              <a:ext uri="{FF2B5EF4-FFF2-40B4-BE49-F238E27FC236}">
                <a16:creationId xmlns:a16="http://schemas.microsoft.com/office/drawing/2014/main" id="{B42513CA-0771-90BA-2696-26720A81D32C}"/>
              </a:ext>
            </a:extLst>
          </p:cNvPr>
          <p:cNvSpPr/>
          <p:nvPr/>
        </p:nvSpPr>
        <p:spPr bwMode="auto">
          <a:xfrm>
            <a:off x="11298803" y="2863788"/>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a:ea typeface="Meiryo UI"/>
              </a:rPr>
              <a:t>14,000</a:t>
            </a:r>
            <a:endParaRPr lang="en-US" altLang="ja-JP" sz="6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85E780C4-FFEA-4FC7-97FC-B1988442EC1E}"/>
              </a:ext>
            </a:extLst>
          </p:cNvPr>
          <p:cNvSpPr/>
          <p:nvPr/>
        </p:nvSpPr>
        <p:spPr bwMode="auto">
          <a:xfrm>
            <a:off x="11298803" y="3043782"/>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6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62" name="正方形/長方形 61">
            <a:extLst>
              <a:ext uri="{FF2B5EF4-FFF2-40B4-BE49-F238E27FC236}">
                <a16:creationId xmlns:a16="http://schemas.microsoft.com/office/drawing/2014/main" id="{339EEA10-9FF5-ADB8-CB2C-5C509D83E997}"/>
              </a:ext>
            </a:extLst>
          </p:cNvPr>
          <p:cNvSpPr/>
          <p:nvPr/>
        </p:nvSpPr>
        <p:spPr bwMode="auto">
          <a:xfrm>
            <a:off x="11298803" y="3223777"/>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600">
                <a:solidFill>
                  <a:schemeClr val="tx1">
                    <a:lumMod val="75000"/>
                    <a:lumOff val="25000"/>
                  </a:schemeClr>
                </a:solidFill>
                <a:latin typeface="Meiryo UI"/>
                <a:ea typeface="Meiryo UI"/>
              </a:rPr>
              <a:t>-</a:t>
            </a:r>
          </a:p>
        </p:txBody>
      </p:sp>
      <p:sp>
        <p:nvSpPr>
          <p:cNvPr id="63" name="正方形/長方形 62">
            <a:extLst>
              <a:ext uri="{FF2B5EF4-FFF2-40B4-BE49-F238E27FC236}">
                <a16:creationId xmlns:a16="http://schemas.microsoft.com/office/drawing/2014/main" id="{9C21C30F-6009-EC13-606C-06F1B7ACEB98}"/>
              </a:ext>
            </a:extLst>
          </p:cNvPr>
          <p:cNvSpPr/>
          <p:nvPr/>
        </p:nvSpPr>
        <p:spPr bwMode="auto">
          <a:xfrm>
            <a:off x="11298803" y="3403771"/>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3,000</a:t>
            </a:r>
          </a:p>
        </p:txBody>
      </p:sp>
      <p:sp>
        <p:nvSpPr>
          <p:cNvPr id="291" name="正方形/長方形 290">
            <a:extLst>
              <a:ext uri="{FF2B5EF4-FFF2-40B4-BE49-F238E27FC236}">
                <a16:creationId xmlns:a16="http://schemas.microsoft.com/office/drawing/2014/main" id="{75669C9F-5FEE-250D-781A-B53966397F18}"/>
              </a:ext>
            </a:extLst>
          </p:cNvPr>
          <p:cNvSpPr/>
          <p:nvPr/>
        </p:nvSpPr>
        <p:spPr bwMode="auto">
          <a:xfrm>
            <a:off x="11298803" y="3583766"/>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2" name="正方形/長方形 291">
            <a:extLst>
              <a:ext uri="{FF2B5EF4-FFF2-40B4-BE49-F238E27FC236}">
                <a16:creationId xmlns:a16="http://schemas.microsoft.com/office/drawing/2014/main" id="{AFC98A5D-BD8A-F217-391B-17EC17C78615}"/>
              </a:ext>
            </a:extLst>
          </p:cNvPr>
          <p:cNvSpPr/>
          <p:nvPr/>
        </p:nvSpPr>
        <p:spPr bwMode="auto">
          <a:xfrm>
            <a:off x="11298803" y="3763761"/>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3" name="正方形/長方形 292">
            <a:extLst>
              <a:ext uri="{FF2B5EF4-FFF2-40B4-BE49-F238E27FC236}">
                <a16:creationId xmlns:a16="http://schemas.microsoft.com/office/drawing/2014/main" id="{5BB1FD63-7EF9-C1CC-4A27-4982B233DA3D}"/>
              </a:ext>
            </a:extLst>
          </p:cNvPr>
          <p:cNvSpPr/>
          <p:nvPr/>
        </p:nvSpPr>
        <p:spPr bwMode="auto">
          <a:xfrm>
            <a:off x="11298803" y="3943756"/>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4" name="正方形/長方形 53">
            <a:extLst>
              <a:ext uri="{FF2B5EF4-FFF2-40B4-BE49-F238E27FC236}">
                <a16:creationId xmlns:a16="http://schemas.microsoft.com/office/drawing/2014/main" id="{74F4AAF2-2995-6E49-7C82-738434F58A20}"/>
              </a:ext>
            </a:extLst>
          </p:cNvPr>
          <p:cNvSpPr/>
          <p:nvPr/>
        </p:nvSpPr>
        <p:spPr bwMode="auto">
          <a:xfrm>
            <a:off x="8967215" y="3223777"/>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24</a:t>
            </a:r>
          </a:p>
        </p:txBody>
      </p:sp>
      <p:sp>
        <p:nvSpPr>
          <p:cNvPr id="59" name="正方形/長方形 58">
            <a:extLst>
              <a:ext uri="{FF2B5EF4-FFF2-40B4-BE49-F238E27FC236}">
                <a16:creationId xmlns:a16="http://schemas.microsoft.com/office/drawing/2014/main" id="{EB92AF60-487C-B150-5C68-8233CB438A6D}"/>
              </a:ext>
            </a:extLst>
          </p:cNvPr>
          <p:cNvSpPr/>
          <p:nvPr/>
        </p:nvSpPr>
        <p:spPr bwMode="auto">
          <a:xfrm>
            <a:off x="8967215" y="2323803"/>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264</a:t>
            </a:r>
          </a:p>
        </p:txBody>
      </p:sp>
      <p:sp>
        <p:nvSpPr>
          <p:cNvPr id="290" name="正方形/長方形 289">
            <a:extLst>
              <a:ext uri="{FF2B5EF4-FFF2-40B4-BE49-F238E27FC236}">
                <a16:creationId xmlns:a16="http://schemas.microsoft.com/office/drawing/2014/main" id="{049B05F8-249D-22ED-C794-4E84561A5BCF}"/>
              </a:ext>
            </a:extLst>
          </p:cNvPr>
          <p:cNvSpPr/>
          <p:nvPr/>
        </p:nvSpPr>
        <p:spPr bwMode="auto">
          <a:xfrm>
            <a:off x="8967215" y="2503798"/>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132</a:t>
            </a:r>
          </a:p>
        </p:txBody>
      </p:sp>
      <p:sp>
        <p:nvSpPr>
          <p:cNvPr id="294" name="正方形/長方形 293">
            <a:extLst>
              <a:ext uri="{FF2B5EF4-FFF2-40B4-BE49-F238E27FC236}">
                <a16:creationId xmlns:a16="http://schemas.microsoft.com/office/drawing/2014/main" id="{007EF577-7231-42EE-61DD-824BEB2C4553}"/>
              </a:ext>
            </a:extLst>
          </p:cNvPr>
          <p:cNvSpPr/>
          <p:nvPr/>
        </p:nvSpPr>
        <p:spPr bwMode="auto">
          <a:xfrm>
            <a:off x="8967215" y="2683793"/>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5" name="正方形/長方形 294">
            <a:extLst>
              <a:ext uri="{FF2B5EF4-FFF2-40B4-BE49-F238E27FC236}">
                <a16:creationId xmlns:a16="http://schemas.microsoft.com/office/drawing/2014/main" id="{1B8F3F66-6CCF-1AB5-A482-76EE5652C9CB}"/>
              </a:ext>
            </a:extLst>
          </p:cNvPr>
          <p:cNvSpPr/>
          <p:nvPr/>
        </p:nvSpPr>
        <p:spPr bwMode="auto">
          <a:xfrm>
            <a:off x="8967215" y="2863788"/>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132</a:t>
            </a:r>
          </a:p>
        </p:txBody>
      </p:sp>
      <p:sp>
        <p:nvSpPr>
          <p:cNvPr id="296" name="正方形/長方形 295">
            <a:extLst>
              <a:ext uri="{FF2B5EF4-FFF2-40B4-BE49-F238E27FC236}">
                <a16:creationId xmlns:a16="http://schemas.microsoft.com/office/drawing/2014/main" id="{663C348A-F375-E31F-314E-3AE130FFD45B}"/>
              </a:ext>
            </a:extLst>
          </p:cNvPr>
          <p:cNvSpPr/>
          <p:nvPr/>
        </p:nvSpPr>
        <p:spPr bwMode="auto">
          <a:xfrm>
            <a:off x="8967215" y="3043782"/>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7" name="正方形/長方形 296">
            <a:extLst>
              <a:ext uri="{FF2B5EF4-FFF2-40B4-BE49-F238E27FC236}">
                <a16:creationId xmlns:a16="http://schemas.microsoft.com/office/drawing/2014/main" id="{1B5BC277-7B79-53CC-BA8A-DF0ABD673809}"/>
              </a:ext>
            </a:extLst>
          </p:cNvPr>
          <p:cNvSpPr/>
          <p:nvPr/>
        </p:nvSpPr>
        <p:spPr bwMode="auto">
          <a:xfrm>
            <a:off x="8967215" y="3403771"/>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8" name="正方形/長方形 297">
            <a:extLst>
              <a:ext uri="{FF2B5EF4-FFF2-40B4-BE49-F238E27FC236}">
                <a16:creationId xmlns:a16="http://schemas.microsoft.com/office/drawing/2014/main" id="{E268E03C-AE38-9222-62BF-AF697C51ED5D}"/>
              </a:ext>
            </a:extLst>
          </p:cNvPr>
          <p:cNvSpPr/>
          <p:nvPr/>
        </p:nvSpPr>
        <p:spPr bwMode="auto">
          <a:xfrm>
            <a:off x="8967215" y="3583766"/>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9" name="正方形/長方形 298">
            <a:extLst>
              <a:ext uri="{FF2B5EF4-FFF2-40B4-BE49-F238E27FC236}">
                <a16:creationId xmlns:a16="http://schemas.microsoft.com/office/drawing/2014/main" id="{24B7EFC4-1B75-013F-54EB-856A13A9A33F}"/>
              </a:ext>
            </a:extLst>
          </p:cNvPr>
          <p:cNvSpPr/>
          <p:nvPr/>
        </p:nvSpPr>
        <p:spPr bwMode="auto">
          <a:xfrm>
            <a:off x="8967215" y="3763759"/>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00" name="正方形/長方形 299">
            <a:extLst>
              <a:ext uri="{FF2B5EF4-FFF2-40B4-BE49-F238E27FC236}">
                <a16:creationId xmlns:a16="http://schemas.microsoft.com/office/drawing/2014/main" id="{02AC8840-EFD1-3BF1-0465-7B87A8A67360}"/>
              </a:ext>
            </a:extLst>
          </p:cNvPr>
          <p:cNvSpPr/>
          <p:nvPr/>
        </p:nvSpPr>
        <p:spPr bwMode="auto">
          <a:xfrm>
            <a:off x="8967215" y="3943756"/>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01" name="正方形/長方形 300">
            <a:extLst>
              <a:ext uri="{FF2B5EF4-FFF2-40B4-BE49-F238E27FC236}">
                <a16:creationId xmlns:a16="http://schemas.microsoft.com/office/drawing/2014/main" id="{CC465A20-E279-C50A-CCE4-ACBD8603EED5}"/>
              </a:ext>
            </a:extLst>
          </p:cNvPr>
          <p:cNvSpPr/>
          <p:nvPr/>
        </p:nvSpPr>
        <p:spPr bwMode="auto">
          <a:xfrm>
            <a:off x="8967215" y="4123044"/>
            <a:ext cx="540000"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552</a:t>
            </a:r>
          </a:p>
        </p:txBody>
      </p:sp>
      <p:sp>
        <p:nvSpPr>
          <p:cNvPr id="37" name="コンテンツ プレースホルダー 5">
            <a:extLst>
              <a:ext uri="{FF2B5EF4-FFF2-40B4-BE49-F238E27FC236}">
                <a16:creationId xmlns:a16="http://schemas.microsoft.com/office/drawing/2014/main" id="{9C24BFF3-EC1F-77EF-4A4D-0A6C588DD515}"/>
              </a:ext>
            </a:extLst>
          </p:cNvPr>
          <p:cNvSpPr txBox="1">
            <a:spLocks/>
          </p:cNvSpPr>
          <p:nvPr/>
        </p:nvSpPr>
        <p:spPr bwMode="auto">
          <a:xfrm>
            <a:off x="4461328" y="3780141"/>
            <a:ext cx="2671557" cy="233716"/>
          </a:xfrm>
          <a:prstGeom prst="borderCallout1">
            <a:avLst>
              <a:gd name="adj1" fmla="val 104812"/>
              <a:gd name="adj2" fmla="val 35666"/>
              <a:gd name="adj3" fmla="val 139622"/>
              <a:gd name="adj4" fmla="val 44329"/>
            </a:avLst>
          </a:prstGeom>
          <a:solidFill>
            <a:srgbClr val="FFFFCC"/>
          </a:solidFill>
          <a:ln w="9525">
            <a:solidFill>
              <a:schemeClr val="bg1">
                <a:lumMod val="50000"/>
              </a:schemeClr>
            </a:solidFill>
            <a:miter lim="800000"/>
            <a:headEnd/>
            <a:tailEnd type="oval"/>
          </a:ln>
        </p:spPr>
        <p:txBody>
          <a:bodyPr vert="horz" wrap="none" lIns="90000" tIns="45720" rIns="91440" bIns="45720" numCol="1" anchor="ctr"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lgn="ctr">
              <a:buNone/>
            </a:pPr>
            <a:r>
              <a:rPr lang="ja-JP" altLang="en-US" sz="1050" kern="0" dirty="0"/>
              <a:t>基本設計～</a:t>
            </a:r>
            <a:r>
              <a:rPr lang="en-US" altLang="ja-JP" sz="1050" kern="0" dirty="0"/>
              <a:t>C/O</a:t>
            </a:r>
            <a:r>
              <a:rPr lang="ja-JP" altLang="en-US" sz="1050" kern="0" dirty="0"/>
              <a:t>までのコスト</a:t>
            </a:r>
            <a:r>
              <a:rPr lang="ja-JP" altLang="en-US" sz="1050" b="1" kern="0" dirty="0"/>
              <a:t>：</a:t>
            </a:r>
            <a:r>
              <a:rPr lang="en-US" altLang="ja-JP" sz="1050" b="1" u="sng" kern="0" dirty="0"/>
              <a:t>28,782</a:t>
            </a:r>
            <a:r>
              <a:rPr lang="ja-JP" altLang="en-US" sz="1050" b="1" u="sng" kern="0" dirty="0"/>
              <a:t>万円</a:t>
            </a:r>
            <a:endParaRPr lang="en-US" altLang="ja-JP" sz="1050" b="1" u="sng" kern="0" dirty="0"/>
          </a:p>
        </p:txBody>
      </p:sp>
      <p:sp>
        <p:nvSpPr>
          <p:cNvPr id="35" name="コンテンツ プレースホルダー 5">
            <a:extLst>
              <a:ext uri="{FF2B5EF4-FFF2-40B4-BE49-F238E27FC236}">
                <a16:creationId xmlns:a16="http://schemas.microsoft.com/office/drawing/2014/main" id="{F7BEC94D-ACDB-EF65-3F03-ECD48F12E1DE}"/>
              </a:ext>
            </a:extLst>
          </p:cNvPr>
          <p:cNvSpPr txBox="1">
            <a:spLocks/>
          </p:cNvSpPr>
          <p:nvPr/>
        </p:nvSpPr>
        <p:spPr bwMode="auto">
          <a:xfrm>
            <a:off x="2431544" y="3862552"/>
            <a:ext cx="663947" cy="189176"/>
          </a:xfrm>
          <a:prstGeom prst="wedgeEllipseCallout">
            <a:avLst>
              <a:gd name="adj1" fmla="val 29954"/>
              <a:gd name="adj2" fmla="val 108534"/>
            </a:avLst>
          </a:prstGeom>
          <a:solidFill>
            <a:srgbClr val="FFF2B9"/>
          </a:solidFill>
          <a:ln w="9525">
            <a:solidFill>
              <a:srgbClr val="FFC000"/>
            </a:solidFill>
            <a:miter lim="800000"/>
            <a:headEnd/>
            <a:tailEnd/>
          </a:ln>
        </p:spPr>
        <p:txBody>
          <a:bodyPr vert="horz" wrap="none" lIns="90000" tIns="45720" rIns="91440" bIns="45720" numCol="1" anchor="ctr"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lgn="ctr">
              <a:buNone/>
            </a:pPr>
            <a:r>
              <a:rPr lang="ja-JP" altLang="en-US" sz="1000" b="1" kern="0" dirty="0"/>
              <a:t>起案済</a:t>
            </a:r>
            <a:endParaRPr kumimoji="1" lang="en-US" altLang="ja-JP" sz="1000" b="1" i="0" u="none" strike="noStrike" kern="1200" cap="none" spc="0" normalizeH="0" baseline="0" noProof="0" dirty="0">
              <a:ln>
                <a:noFill/>
              </a:ln>
              <a:solidFill>
                <a:srgbClr val="C00000"/>
              </a:solidFill>
              <a:effectLst/>
              <a:uLnTx/>
              <a:uFillTx/>
              <a:latin typeface="Meiryo UI"/>
              <a:ea typeface="Meiryo UI"/>
              <a:sym typeface="MS UI Gothic" panose="020B0600070205080204" pitchFamily="34" charset="-128"/>
            </a:endParaRPr>
          </a:p>
        </p:txBody>
      </p:sp>
      <p:sp>
        <p:nvSpPr>
          <p:cNvPr id="64" name="正方形/長方形 63">
            <a:extLst>
              <a:ext uri="{FF2B5EF4-FFF2-40B4-BE49-F238E27FC236}">
                <a16:creationId xmlns:a16="http://schemas.microsoft.com/office/drawing/2014/main" id="{A8A3B209-4D02-54F8-9A13-B83D816CB8FE}"/>
              </a:ext>
            </a:extLst>
          </p:cNvPr>
          <p:cNvSpPr/>
          <p:nvPr/>
        </p:nvSpPr>
        <p:spPr>
          <a:xfrm flipH="1">
            <a:off x="10405897" y="4070611"/>
            <a:ext cx="878132" cy="27496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400">
              <a:solidFill>
                <a:schemeClr val="accent4">
                  <a:lumMod val="65000"/>
                  <a:lumOff val="35000"/>
                </a:schemeClr>
              </a:solidFill>
              <a:latin typeface="+mn-ea"/>
              <a:cs typeface="Hiragino Kaku Gothic Pro W3" charset="-128"/>
            </a:endParaRPr>
          </a:p>
        </p:txBody>
      </p:sp>
      <p:sp>
        <p:nvSpPr>
          <p:cNvPr id="34" name="正方形/長方形 33">
            <a:extLst>
              <a:ext uri="{FF2B5EF4-FFF2-40B4-BE49-F238E27FC236}">
                <a16:creationId xmlns:a16="http://schemas.microsoft.com/office/drawing/2014/main" id="{E45DE1A8-BB3B-30C0-40EB-24D4E8F802D9}"/>
              </a:ext>
            </a:extLst>
          </p:cNvPr>
          <p:cNvSpPr/>
          <p:nvPr/>
        </p:nvSpPr>
        <p:spPr>
          <a:xfrm>
            <a:off x="3729768" y="4116596"/>
            <a:ext cx="6444000" cy="188011"/>
          </a:xfrm>
          <a:prstGeom prst="rect">
            <a:avLst/>
          </a:prstGeom>
          <a:noFill/>
          <a:ln w="19050">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400">
              <a:solidFill>
                <a:schemeClr val="accent4">
                  <a:lumMod val="65000"/>
                  <a:lumOff val="35000"/>
                </a:schemeClr>
              </a:solidFill>
              <a:latin typeface="+mn-ea"/>
              <a:cs typeface="Hiragino Kaku Gothic Pro W3" charset="-128"/>
            </a:endParaRPr>
          </a:p>
        </p:txBody>
      </p:sp>
      <p:sp>
        <p:nvSpPr>
          <p:cNvPr id="39" name="コンテンツ プレースホルダー 5">
            <a:extLst>
              <a:ext uri="{FF2B5EF4-FFF2-40B4-BE49-F238E27FC236}">
                <a16:creationId xmlns:a16="http://schemas.microsoft.com/office/drawing/2014/main" id="{E745FE66-9325-CA7A-EC46-4BC0C358E71A}"/>
              </a:ext>
            </a:extLst>
          </p:cNvPr>
          <p:cNvSpPr txBox="1">
            <a:spLocks/>
          </p:cNvSpPr>
          <p:nvPr/>
        </p:nvSpPr>
        <p:spPr bwMode="auto">
          <a:xfrm>
            <a:off x="8957759" y="3642611"/>
            <a:ext cx="1328690" cy="353211"/>
          </a:xfrm>
          <a:prstGeom prst="wedgeEllipseCallout">
            <a:avLst>
              <a:gd name="adj1" fmla="val 60278"/>
              <a:gd name="adj2" fmla="val 93075"/>
            </a:avLst>
          </a:prstGeom>
          <a:solidFill>
            <a:srgbClr val="FFFF00"/>
          </a:solidFill>
          <a:ln w="9525">
            <a:solidFill>
              <a:srgbClr val="FFC000"/>
            </a:solidFill>
            <a:miter lim="800000"/>
            <a:headEnd/>
            <a:tailEnd/>
          </a:ln>
        </p:spPr>
        <p:txBody>
          <a:bodyPr vert="horz" wrap="none" lIns="90000" tIns="45720" rIns="91440" bIns="45720" numCol="1" anchor="ctr"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lgn="ctr">
              <a:buNone/>
            </a:pPr>
            <a:r>
              <a:rPr lang="ja-JP" altLang="en-US" sz="1400" b="1" kern="0" dirty="0">
                <a:solidFill>
                  <a:srgbClr val="C00000"/>
                </a:solidFill>
              </a:rPr>
              <a:t>本起案対象</a:t>
            </a:r>
            <a:endParaRPr kumimoji="1" lang="en-US" altLang="ja-JP" sz="1400" b="1" i="0" u="none" strike="noStrike" kern="1200" cap="none" spc="0" normalizeH="0" baseline="0" noProof="0" dirty="0">
              <a:ln>
                <a:noFill/>
              </a:ln>
              <a:solidFill>
                <a:srgbClr val="C00000"/>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1670340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20</a:t>
            </a:fld>
            <a:endParaRPr lang="en-US" altLang="ja-JP"/>
          </a:p>
        </p:txBody>
      </p:sp>
      <p:grpSp>
        <p:nvGrpSpPr>
          <p:cNvPr id="62" name="グループ化 61">
            <a:extLst>
              <a:ext uri="{FF2B5EF4-FFF2-40B4-BE49-F238E27FC236}">
                <a16:creationId xmlns:a16="http://schemas.microsoft.com/office/drawing/2014/main" id="{BEFBA366-FD12-16FC-B221-85D42504C63C}"/>
              </a:ext>
            </a:extLst>
          </p:cNvPr>
          <p:cNvGrpSpPr/>
          <p:nvPr/>
        </p:nvGrpSpPr>
        <p:grpSpPr>
          <a:xfrm>
            <a:off x="1056189" y="2111243"/>
            <a:ext cx="4562318" cy="318999"/>
            <a:chOff x="1505742" y="1438688"/>
            <a:chExt cx="1440000" cy="293530"/>
          </a:xfrm>
        </p:grpSpPr>
        <p:sp>
          <p:nvSpPr>
            <p:cNvPr id="63" name="正方形/長方形 62">
              <a:extLst>
                <a:ext uri="{FF2B5EF4-FFF2-40B4-BE49-F238E27FC236}">
                  <a16:creationId xmlns:a16="http://schemas.microsoft.com/office/drawing/2014/main" id="{D6ADEADE-A424-CC5B-D200-92F3C7752B9E}"/>
                </a:ext>
              </a:extLst>
            </p:cNvPr>
            <p:cNvSpPr/>
            <p:nvPr/>
          </p:nvSpPr>
          <p:spPr>
            <a:xfrm>
              <a:off x="1505742" y="1438688"/>
              <a:ext cx="144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対応方針</a:t>
              </a:r>
              <a:endParaRPr lang="en-US" altLang="ja-JP"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cxnSp>
          <p:nvCxnSpPr>
            <p:cNvPr id="1024" name="直線コネクタ 1023">
              <a:extLst>
                <a:ext uri="{FF2B5EF4-FFF2-40B4-BE49-F238E27FC236}">
                  <a16:creationId xmlns:a16="http://schemas.microsoft.com/office/drawing/2014/main" id="{9CF8BC4C-CFC7-CC13-4546-AEB61D5EAF4F}"/>
                </a:ext>
              </a:extLst>
            </p:cNvPr>
            <p:cNvCxnSpPr>
              <a:cxnSpLocks/>
            </p:cNvCxnSpPr>
            <p:nvPr/>
          </p:nvCxnSpPr>
          <p:spPr>
            <a:xfrm>
              <a:off x="1505742" y="1732218"/>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コンテンツ プレースホルダー 5">
            <a:extLst>
              <a:ext uri="{FF2B5EF4-FFF2-40B4-BE49-F238E27FC236}">
                <a16:creationId xmlns:a16="http://schemas.microsoft.com/office/drawing/2014/main" id="{03150355-6866-C7CA-999C-7B8CECC94FC2}"/>
              </a:ext>
            </a:extLst>
          </p:cNvPr>
          <p:cNvSpPr txBox="1">
            <a:spLocks/>
          </p:cNvSpPr>
          <p:nvPr/>
        </p:nvSpPr>
        <p:spPr bwMode="auto">
          <a:xfrm>
            <a:off x="211394" y="614837"/>
            <a:ext cx="11525251" cy="90386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当初は案①の検討を進めていたが、コスト削減余地がないか検討するため、追加で案②を検討した</a:t>
            </a:r>
            <a:endParaRPr lang="en-US" altLang="ja-JP" sz="1600" kern="0" dirty="0"/>
          </a:p>
          <a:p>
            <a:pPr marL="285750" indent="-285750">
              <a:buFont typeface="Arial" panose="020B0604020202020204" pitchFamily="34" charset="0"/>
              <a:buChar char="•"/>
            </a:pPr>
            <a:r>
              <a:rPr lang="ja-JP" altLang="en-US" sz="1600" kern="0" dirty="0"/>
              <a:t>コスト観点では案②が優位であるが、</a:t>
            </a:r>
            <a:r>
              <a:rPr lang="en-US" altLang="ja-JP" sz="1600" kern="0" dirty="0"/>
              <a:t>JKK</a:t>
            </a:r>
            <a:r>
              <a:rPr lang="ja-JP" altLang="en-US" sz="1600" kern="0" dirty="0"/>
              <a:t>が検討している経理業務の</a:t>
            </a:r>
            <a:r>
              <a:rPr lang="en-US" altLang="ja-JP" sz="1600" kern="0" dirty="0"/>
              <a:t>TOBE</a:t>
            </a:r>
            <a:r>
              <a:rPr lang="ja-JP" altLang="en-US" sz="1600" kern="0" dirty="0"/>
              <a:t>思想が現行踏襲ではなく</a:t>
            </a:r>
            <a:r>
              <a:rPr lang="en-US" altLang="ja-JP" sz="1600" kern="0" dirty="0"/>
              <a:t>SAP</a:t>
            </a:r>
            <a:r>
              <a:rPr lang="ja-JP" altLang="en-US" sz="1600" kern="0" dirty="0"/>
              <a:t>ベースで標準化する</a:t>
            </a:r>
            <a:br>
              <a:rPr lang="en-US" altLang="ja-JP" sz="1600" kern="0" dirty="0"/>
            </a:br>
            <a:r>
              <a:rPr lang="ja-JP" altLang="en-US" sz="1600" kern="0" dirty="0"/>
              <a:t>となったことにより、</a:t>
            </a:r>
            <a:r>
              <a:rPr lang="ja-JP" altLang="en-US" sz="1600" b="1" kern="0" dirty="0"/>
              <a:t>実現性・将来の保守性の観点から、案①を採用</a:t>
            </a:r>
            <a:r>
              <a:rPr lang="ja-JP" altLang="en-US" sz="1600" kern="0" dirty="0"/>
              <a:t>とする</a:t>
            </a:r>
            <a:endParaRPr lang="en-US" altLang="ja-JP" sz="1600" kern="0" dirty="0"/>
          </a:p>
        </p:txBody>
      </p:sp>
      <p:grpSp>
        <p:nvGrpSpPr>
          <p:cNvPr id="2" name="グループ化 1">
            <a:extLst>
              <a:ext uri="{FF2B5EF4-FFF2-40B4-BE49-F238E27FC236}">
                <a16:creationId xmlns:a16="http://schemas.microsoft.com/office/drawing/2014/main" id="{4B034600-5CEA-6EF3-DCA8-75BD20549738}"/>
              </a:ext>
            </a:extLst>
          </p:cNvPr>
          <p:cNvGrpSpPr/>
          <p:nvPr/>
        </p:nvGrpSpPr>
        <p:grpSpPr>
          <a:xfrm>
            <a:off x="5878280" y="2154789"/>
            <a:ext cx="1728000" cy="293530"/>
            <a:chOff x="1505742" y="1438688"/>
            <a:chExt cx="1440000" cy="293530"/>
          </a:xfrm>
        </p:grpSpPr>
        <p:sp>
          <p:nvSpPr>
            <p:cNvPr id="3" name="正方形/長方形 2">
              <a:extLst>
                <a:ext uri="{FF2B5EF4-FFF2-40B4-BE49-F238E27FC236}">
                  <a16:creationId xmlns:a16="http://schemas.microsoft.com/office/drawing/2014/main" id="{33EFD2C6-FB55-AF12-0E7B-205AF36E78A3}"/>
                </a:ext>
              </a:extLst>
            </p:cNvPr>
            <p:cNvSpPr/>
            <p:nvPr/>
          </p:nvSpPr>
          <p:spPr>
            <a:xfrm>
              <a:off x="1505742" y="1438688"/>
              <a:ext cx="144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コスト</a:t>
              </a:r>
              <a:endParaRPr lang="en-US" altLang="ja-JP"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cxnSp>
          <p:nvCxnSpPr>
            <p:cNvPr id="9" name="直線コネクタ 8">
              <a:extLst>
                <a:ext uri="{FF2B5EF4-FFF2-40B4-BE49-F238E27FC236}">
                  <a16:creationId xmlns:a16="http://schemas.microsoft.com/office/drawing/2014/main" id="{C74D5253-0DD9-DA27-3E23-55ECD2CDE5C1}"/>
                </a:ext>
              </a:extLst>
            </p:cNvPr>
            <p:cNvCxnSpPr>
              <a:cxnSpLocks/>
            </p:cNvCxnSpPr>
            <p:nvPr/>
          </p:nvCxnSpPr>
          <p:spPr>
            <a:xfrm>
              <a:off x="1505742" y="1732218"/>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6" name="グループ化 1025">
            <a:extLst>
              <a:ext uri="{FF2B5EF4-FFF2-40B4-BE49-F238E27FC236}">
                <a16:creationId xmlns:a16="http://schemas.microsoft.com/office/drawing/2014/main" id="{904E808E-EDE7-63AB-0824-AD447275CE36}"/>
              </a:ext>
            </a:extLst>
          </p:cNvPr>
          <p:cNvGrpSpPr/>
          <p:nvPr/>
        </p:nvGrpSpPr>
        <p:grpSpPr>
          <a:xfrm>
            <a:off x="7859012" y="2154789"/>
            <a:ext cx="1728000" cy="293530"/>
            <a:chOff x="1505742" y="1438688"/>
            <a:chExt cx="1440000" cy="293530"/>
          </a:xfrm>
        </p:grpSpPr>
        <p:sp>
          <p:nvSpPr>
            <p:cNvPr id="1029" name="正方形/長方形 1028">
              <a:extLst>
                <a:ext uri="{FF2B5EF4-FFF2-40B4-BE49-F238E27FC236}">
                  <a16:creationId xmlns:a16="http://schemas.microsoft.com/office/drawing/2014/main" id="{AD9D53D0-7910-BEE7-059A-0ADBE2FFF7B2}"/>
                </a:ext>
              </a:extLst>
            </p:cNvPr>
            <p:cNvSpPr/>
            <p:nvPr/>
          </p:nvSpPr>
          <p:spPr>
            <a:xfrm>
              <a:off x="1505742" y="1438688"/>
              <a:ext cx="144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実現性</a:t>
              </a:r>
              <a:endParaRPr lang="en-US" altLang="ja-JP"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cxnSp>
          <p:nvCxnSpPr>
            <p:cNvPr id="1030" name="直線コネクタ 1029">
              <a:extLst>
                <a:ext uri="{FF2B5EF4-FFF2-40B4-BE49-F238E27FC236}">
                  <a16:creationId xmlns:a16="http://schemas.microsoft.com/office/drawing/2014/main" id="{C904E3FF-A900-2716-1922-98DB12B5E2B1}"/>
                </a:ext>
              </a:extLst>
            </p:cNvPr>
            <p:cNvCxnSpPr>
              <a:cxnSpLocks/>
            </p:cNvCxnSpPr>
            <p:nvPr/>
          </p:nvCxnSpPr>
          <p:spPr>
            <a:xfrm>
              <a:off x="1505742" y="1732218"/>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グループ化 23">
            <a:extLst>
              <a:ext uri="{FF2B5EF4-FFF2-40B4-BE49-F238E27FC236}">
                <a16:creationId xmlns:a16="http://schemas.microsoft.com/office/drawing/2014/main" id="{51A96B83-367F-1194-F0CF-737A276506CF}"/>
              </a:ext>
            </a:extLst>
          </p:cNvPr>
          <p:cNvGrpSpPr/>
          <p:nvPr/>
        </p:nvGrpSpPr>
        <p:grpSpPr>
          <a:xfrm>
            <a:off x="9836581" y="2154789"/>
            <a:ext cx="1728000" cy="293530"/>
            <a:chOff x="1505742" y="1438688"/>
            <a:chExt cx="1440000" cy="293530"/>
          </a:xfrm>
        </p:grpSpPr>
        <p:sp>
          <p:nvSpPr>
            <p:cNvPr id="26" name="正方形/長方形 25">
              <a:extLst>
                <a:ext uri="{FF2B5EF4-FFF2-40B4-BE49-F238E27FC236}">
                  <a16:creationId xmlns:a16="http://schemas.microsoft.com/office/drawing/2014/main" id="{FA1A5D30-4EA9-7E32-1FE0-BA2B80A3EAE3}"/>
                </a:ext>
              </a:extLst>
            </p:cNvPr>
            <p:cNvSpPr/>
            <p:nvPr/>
          </p:nvSpPr>
          <p:spPr>
            <a:xfrm>
              <a:off x="1505742" y="1438688"/>
              <a:ext cx="144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将来の保守性</a:t>
              </a:r>
              <a:endParaRPr lang="en-US" altLang="ja-JP"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cxnSp>
          <p:nvCxnSpPr>
            <p:cNvPr id="27" name="直線コネクタ 26">
              <a:extLst>
                <a:ext uri="{FF2B5EF4-FFF2-40B4-BE49-F238E27FC236}">
                  <a16:creationId xmlns:a16="http://schemas.microsoft.com/office/drawing/2014/main" id="{4555E886-EF50-8576-876E-C8D4779DF04F}"/>
                </a:ext>
              </a:extLst>
            </p:cNvPr>
            <p:cNvCxnSpPr>
              <a:cxnSpLocks/>
            </p:cNvCxnSpPr>
            <p:nvPr/>
          </p:nvCxnSpPr>
          <p:spPr>
            <a:xfrm>
              <a:off x="1505742" y="1732218"/>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0" name="正方形/長方形 59">
            <a:extLst>
              <a:ext uri="{FF2B5EF4-FFF2-40B4-BE49-F238E27FC236}">
                <a16:creationId xmlns:a16="http://schemas.microsoft.com/office/drawing/2014/main" id="{8E54093F-000D-1884-8A69-E88B661A22F7}"/>
              </a:ext>
            </a:extLst>
          </p:cNvPr>
          <p:cNvSpPr/>
          <p:nvPr/>
        </p:nvSpPr>
        <p:spPr>
          <a:xfrm>
            <a:off x="236236" y="2623187"/>
            <a:ext cx="746960" cy="1330506"/>
          </a:xfrm>
          <a:prstGeom prst="rect">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lang="ja-JP" altLang="en-US" b="1">
                <a:solidFill>
                  <a:schemeClr val="bg1"/>
                </a:solidFill>
                <a:latin typeface="Meiryo UI" panose="020B0604030504040204" pitchFamily="50" charset="-128"/>
                <a:ea typeface="Meiryo UI" panose="020B0604030504040204" pitchFamily="50" charset="-128"/>
                <a:cs typeface="Hiragino Kaku Gothic Pro W3" charset="-128"/>
              </a:rPr>
              <a:t>案①</a:t>
            </a:r>
            <a:endParaRPr lang="en-US" altLang="ja-JP" b="1">
              <a:solidFill>
                <a:schemeClr val="bg1"/>
              </a:solidFill>
              <a:latin typeface="Meiryo UI" panose="020B0604030504040204" pitchFamily="50" charset="-128"/>
              <a:ea typeface="Meiryo UI" panose="020B0604030504040204" pitchFamily="50" charset="-128"/>
              <a:cs typeface="Hiragino Kaku Gothic Pro W3" charset="-128"/>
            </a:endParaRPr>
          </a:p>
        </p:txBody>
      </p:sp>
      <p:sp>
        <p:nvSpPr>
          <p:cNvPr id="53" name="正方形/長方形 52">
            <a:extLst>
              <a:ext uri="{FF2B5EF4-FFF2-40B4-BE49-F238E27FC236}">
                <a16:creationId xmlns:a16="http://schemas.microsoft.com/office/drawing/2014/main" id="{5E0C955E-29F1-734E-AA62-95AB89F6F761}"/>
              </a:ext>
            </a:extLst>
          </p:cNvPr>
          <p:cNvSpPr/>
          <p:nvPr/>
        </p:nvSpPr>
        <p:spPr>
          <a:xfrm>
            <a:off x="1056191" y="2623186"/>
            <a:ext cx="3480975" cy="1330506"/>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p:spPr>
        <p:txBody>
          <a:bodyPr vert="horz" wrap="square" lIns="36000" tIns="0" rIns="36000" bIns="0" numCol="1" rtlCol="0" anchor="ctr" anchorCtr="0" compatLnSpc="1">
            <a:prstTxWarp prst="textNoShape">
              <a:avLst/>
            </a:prstTxWarp>
          </a:bodyPr>
          <a:lstStyle/>
          <a:p>
            <a:pPr marL="74613">
              <a:tabLst>
                <a:tab pos="177800" algn="l"/>
              </a:tabLst>
            </a:pPr>
            <a:r>
              <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rPr>
              <a:t>SAP</a:t>
            </a:r>
            <a:r>
              <a:rPr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rPr>
              <a:t>ベースで業務</a:t>
            </a:r>
            <a:r>
              <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rPr>
              <a:t>/</a:t>
            </a:r>
            <a:r>
              <a:rPr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rPr>
              <a:t>システムの標準化を図る</a:t>
            </a:r>
            <a:endPar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50D1FD2F-C30D-A10B-3A12-F7D74332C1FC}"/>
              </a:ext>
            </a:extLst>
          </p:cNvPr>
          <p:cNvSpPr/>
          <p:nvPr/>
        </p:nvSpPr>
        <p:spPr>
          <a:xfrm>
            <a:off x="5878280" y="2666731"/>
            <a:ext cx="1728000" cy="1330506"/>
          </a:xfrm>
          <a:prstGeom prst="rect">
            <a:avLst/>
          </a:prstGeom>
          <a:solidFill>
            <a:schemeClr val="bg1"/>
          </a:solidFill>
          <a:ln w="6350" cap="flat" cmpd="sng" algn="ctr">
            <a:solidFill>
              <a:schemeClr val="bg1">
                <a:lumMod val="50000"/>
              </a:schemeClr>
            </a:solidFill>
            <a:prstDash val="solid"/>
            <a:round/>
            <a:headEnd type="none" w="med" len="med"/>
            <a:tailEnd type="none" w="med" len="med"/>
          </a:ln>
          <a:effectLst/>
        </p:spPr>
        <p:txBody>
          <a:bodyPr vert="horz" wrap="none" lIns="72000" tIns="0" rIns="72000" bIns="0" numCol="1" rtlCol="0" anchor="ctr" anchorCtr="0" compatLnSpc="1">
            <a:prstTxWarp prst="textNoShape">
              <a:avLst/>
            </a:prstTxWarp>
          </a:bodyPr>
          <a:lstStyle/>
          <a:p>
            <a:pPr algn="ctr">
              <a:tabLst>
                <a:tab pos="177800" algn="l"/>
              </a:tabLst>
            </a:pPr>
            <a:r>
              <a:rPr lang="en-US" altLang="ja-JP" sz="1200" b="1">
                <a:solidFill>
                  <a:schemeClr val="accent4">
                    <a:lumMod val="65000"/>
                    <a:lumOff val="35000"/>
                  </a:schemeClr>
                </a:solidFill>
                <a:latin typeface="Meiryo UI" panose="020B0604030504040204" pitchFamily="50" charset="-128"/>
                <a:ea typeface="Meiryo UI" panose="020B0604030504040204" pitchFamily="50" charset="-128"/>
              </a:rPr>
              <a:t>8,770</a:t>
            </a:r>
            <a:r>
              <a:rPr lang="ja-JP" altLang="en-US" sz="1200" b="1">
                <a:solidFill>
                  <a:schemeClr val="accent4">
                    <a:lumMod val="65000"/>
                    <a:lumOff val="35000"/>
                  </a:schemeClr>
                </a:solidFill>
                <a:latin typeface="Meiryo UI" panose="020B0604030504040204" pitchFamily="50" charset="-128"/>
                <a:ea typeface="Meiryo UI" panose="020B0604030504040204" pitchFamily="50" charset="-128"/>
              </a:rPr>
              <a:t>万円</a:t>
            </a:r>
            <a:endParaRPr lang="en-US" altLang="ja-JP" sz="1200" b="1">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73D8A14E-C7F7-FA16-E432-EF2B4DB9EE31}"/>
              </a:ext>
            </a:extLst>
          </p:cNvPr>
          <p:cNvSpPr/>
          <p:nvPr/>
        </p:nvSpPr>
        <p:spPr>
          <a:xfrm>
            <a:off x="7857431" y="2666731"/>
            <a:ext cx="1728000" cy="1330506"/>
          </a:xfrm>
          <a:prstGeom prst="rect">
            <a:avLst/>
          </a:prstGeom>
          <a:solidFill>
            <a:srgbClr val="E7F3FF"/>
          </a:solidFill>
          <a:ln w="6350" cap="flat" cmpd="sng" algn="ctr">
            <a:solidFill>
              <a:schemeClr val="bg1">
                <a:lumMod val="50000"/>
              </a:schemeClr>
            </a:solidFill>
            <a:prstDash val="solid"/>
            <a:round/>
            <a:headEnd type="none" w="med" len="med"/>
            <a:tailEnd type="none" w="med" len="med"/>
          </a:ln>
          <a:effectLst/>
        </p:spPr>
        <p:txBody>
          <a:bodyPr vert="horz" wrap="square" lIns="72000" tIns="0" rIns="72000" bIns="0" numCol="1" rtlCol="0" anchor="ctr" anchorCtr="0" compatLnSpc="1">
            <a:prstTxWarp prst="textNoShape">
              <a:avLst/>
            </a:prstTxWarp>
          </a:bodyPr>
          <a:lstStyle/>
          <a:p>
            <a:pPr algn="ctr">
              <a:tabLst>
                <a:tab pos="177800" algn="l"/>
              </a:tabLst>
            </a:pP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インプット</a:t>
            </a:r>
            <a:r>
              <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rPr>
              <a:t>(</a:t>
            </a: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新</a:t>
            </a:r>
            <a:r>
              <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rPr>
              <a:t>RIND)</a:t>
            </a: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に</a:t>
            </a:r>
            <a:endPar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endParaRPr>
          </a:p>
          <a:p>
            <a:pPr algn="ctr">
              <a:tabLst>
                <a:tab pos="177800" algn="l"/>
              </a:tabLst>
            </a:pP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合わせた設計となるため、</a:t>
            </a:r>
            <a:br>
              <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rPr>
            </a:b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実現性が高い</a:t>
            </a:r>
            <a:endPar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endParaRPr>
          </a:p>
          <a:p>
            <a:pPr algn="ctr">
              <a:tabLst>
                <a:tab pos="177800" algn="l"/>
              </a:tabLst>
            </a:pPr>
            <a:r>
              <a:rPr lang="ja-JP" altLang="en-US" sz="1100" b="1" dirty="0">
                <a:solidFill>
                  <a:schemeClr val="accent6">
                    <a:lumMod val="50000"/>
                  </a:schemeClr>
                </a:solidFill>
                <a:latin typeface="Meiryo UI" panose="020B0604030504040204" pitchFamily="50" charset="-128"/>
                <a:ea typeface="Meiryo UI" panose="020B0604030504040204" pitchFamily="50" charset="-128"/>
              </a:rPr>
              <a:t>→結果、品質・デリバリーが担保しやすい</a:t>
            </a:r>
            <a:endParaRPr lang="en-US" altLang="ja-JP" sz="1100" b="1" dirty="0">
              <a:solidFill>
                <a:schemeClr val="accent6">
                  <a:lumMod val="50000"/>
                </a:schemeClr>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3C5689F5-0BF1-4C21-D27C-38C9E7FD81A1}"/>
              </a:ext>
            </a:extLst>
          </p:cNvPr>
          <p:cNvSpPr/>
          <p:nvPr/>
        </p:nvSpPr>
        <p:spPr>
          <a:xfrm>
            <a:off x="9836582" y="2666731"/>
            <a:ext cx="1728000" cy="1330506"/>
          </a:xfrm>
          <a:prstGeom prst="rect">
            <a:avLst/>
          </a:prstGeom>
          <a:solidFill>
            <a:srgbClr val="E7F3FF"/>
          </a:solidFill>
          <a:ln w="6350" cap="flat" cmpd="sng" algn="ctr">
            <a:solidFill>
              <a:schemeClr val="bg1">
                <a:lumMod val="50000"/>
              </a:schemeClr>
            </a:solidFill>
            <a:prstDash val="solid"/>
            <a:round/>
            <a:headEnd type="none" w="med" len="med"/>
            <a:tailEnd type="none" w="med" len="med"/>
          </a:ln>
          <a:effectLst/>
        </p:spPr>
        <p:txBody>
          <a:bodyPr vert="horz" wrap="square" lIns="72000" tIns="0" rIns="72000" bIns="0" numCol="1" rtlCol="0" anchor="ctr" anchorCtr="0" compatLnSpc="1">
            <a:prstTxWarp prst="textNoShape">
              <a:avLst/>
            </a:prstTxWarp>
          </a:bodyPr>
          <a:lstStyle/>
          <a:p>
            <a:pPr algn="ctr">
              <a:tabLst>
                <a:tab pos="177800" algn="l"/>
              </a:tabLst>
            </a:pP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アーキが最適化されているため、保守性が高い</a:t>
            </a:r>
            <a:endParaRPr lang="en-US" altLang="ja-JP" sz="11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D78D2B30-A391-9E16-4E4C-9579AC6737D6}"/>
              </a:ext>
            </a:extLst>
          </p:cNvPr>
          <p:cNvSpPr/>
          <p:nvPr/>
        </p:nvSpPr>
        <p:spPr>
          <a:xfrm>
            <a:off x="236235" y="4113039"/>
            <a:ext cx="746960" cy="1330506"/>
          </a:xfrm>
          <a:prstGeom prst="rect">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lang="ja-JP" altLang="en-US" b="1">
                <a:solidFill>
                  <a:schemeClr val="bg1"/>
                </a:solidFill>
                <a:latin typeface="Meiryo UI" panose="020B0604030504040204" pitchFamily="50" charset="-128"/>
                <a:ea typeface="Meiryo UI" panose="020B0604030504040204" pitchFamily="50" charset="-128"/>
                <a:cs typeface="Hiragino Kaku Gothic Pro W3" charset="-128"/>
              </a:rPr>
              <a:t>案②</a:t>
            </a:r>
            <a:endParaRPr lang="en-US" altLang="ja-JP" b="1">
              <a:solidFill>
                <a:schemeClr val="bg1"/>
              </a:solidFill>
              <a:latin typeface="Meiryo UI" panose="020B0604030504040204" pitchFamily="50" charset="-128"/>
              <a:ea typeface="Meiryo UI" panose="020B0604030504040204" pitchFamily="50" charset="-128"/>
              <a:cs typeface="Hiragino Kaku Gothic Pro W3" charset="-128"/>
            </a:endParaRPr>
          </a:p>
        </p:txBody>
      </p:sp>
      <p:sp>
        <p:nvSpPr>
          <p:cNvPr id="12" name="正方形/長方形 11">
            <a:extLst>
              <a:ext uri="{FF2B5EF4-FFF2-40B4-BE49-F238E27FC236}">
                <a16:creationId xmlns:a16="http://schemas.microsoft.com/office/drawing/2014/main" id="{598C0394-50AA-513F-218E-FA6AF84E2DC2}"/>
              </a:ext>
            </a:extLst>
          </p:cNvPr>
          <p:cNvSpPr/>
          <p:nvPr/>
        </p:nvSpPr>
        <p:spPr>
          <a:xfrm>
            <a:off x="1056190" y="4113037"/>
            <a:ext cx="3480975" cy="1330506"/>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p:spPr>
        <p:txBody>
          <a:bodyPr vert="horz" wrap="square" lIns="36000" tIns="0" rIns="36000" bIns="0" numCol="1" rtlCol="0" anchor="ctr" anchorCtr="0" compatLnSpc="1">
            <a:prstTxWarp prst="textNoShape">
              <a:avLst/>
            </a:prstTxWarp>
          </a:bodyPr>
          <a:lstStyle/>
          <a:p>
            <a:pPr marL="74613">
              <a:tabLst>
                <a:tab pos="177800" algn="l"/>
              </a:tabLst>
            </a:pPr>
            <a:r>
              <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rPr>
              <a:t>SAP</a:t>
            </a:r>
            <a:r>
              <a:rPr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rPr>
              <a:t>ベース情報を現行</a:t>
            </a:r>
            <a:r>
              <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rPr>
              <a:t>RIND</a:t>
            </a:r>
            <a:r>
              <a:rPr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rPr>
              <a:t>に置き換え、</a:t>
            </a:r>
            <a:br>
              <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rPr>
            </a:br>
            <a:r>
              <a:rPr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rPr>
              <a:t>現行踏襲する</a:t>
            </a:r>
            <a:endPar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D5AF4311-FC97-DA94-C982-270982404FFF}"/>
              </a:ext>
            </a:extLst>
          </p:cNvPr>
          <p:cNvSpPr/>
          <p:nvPr/>
        </p:nvSpPr>
        <p:spPr>
          <a:xfrm>
            <a:off x="5878280" y="4156582"/>
            <a:ext cx="1728000" cy="1330506"/>
          </a:xfrm>
          <a:prstGeom prst="rect">
            <a:avLst/>
          </a:prstGeom>
          <a:solidFill>
            <a:srgbClr val="E7F3FF"/>
          </a:solidFill>
          <a:ln w="6350" cap="flat" cmpd="sng" algn="ctr">
            <a:solidFill>
              <a:schemeClr val="bg1">
                <a:lumMod val="50000"/>
              </a:schemeClr>
            </a:solidFill>
            <a:prstDash val="solid"/>
            <a:round/>
            <a:headEnd type="none" w="med" len="med"/>
            <a:tailEnd type="none" w="med" len="med"/>
          </a:ln>
          <a:effectLst/>
        </p:spPr>
        <p:txBody>
          <a:bodyPr vert="horz" wrap="none" lIns="72000" tIns="0" rIns="72000" bIns="0" numCol="1" rtlCol="0" anchor="ctr" anchorCtr="0" compatLnSpc="1">
            <a:prstTxWarp prst="textNoShape">
              <a:avLst/>
            </a:prstTxWarp>
          </a:bodyPr>
          <a:lstStyle/>
          <a:p>
            <a:pPr algn="ctr">
              <a:tabLst>
                <a:tab pos="177800" algn="l"/>
              </a:tabLst>
            </a:pPr>
            <a:r>
              <a:rPr lang="en-US" altLang="ja-JP" sz="1200" b="1">
                <a:solidFill>
                  <a:schemeClr val="accent4">
                    <a:lumMod val="65000"/>
                    <a:lumOff val="35000"/>
                  </a:schemeClr>
                </a:solidFill>
                <a:latin typeface="Meiryo UI" panose="020B0604030504040204" pitchFamily="50" charset="-128"/>
                <a:ea typeface="Meiryo UI" panose="020B0604030504040204" pitchFamily="50" charset="-128"/>
              </a:rPr>
              <a:t>7,228</a:t>
            </a:r>
            <a:r>
              <a:rPr lang="ja-JP" altLang="en-US" sz="1200" b="1">
                <a:solidFill>
                  <a:schemeClr val="accent4">
                    <a:lumMod val="65000"/>
                    <a:lumOff val="35000"/>
                  </a:schemeClr>
                </a:solidFill>
                <a:latin typeface="Meiryo UI" panose="020B0604030504040204" pitchFamily="50" charset="-128"/>
                <a:ea typeface="Meiryo UI" panose="020B0604030504040204" pitchFamily="50" charset="-128"/>
              </a:rPr>
              <a:t>万円</a:t>
            </a:r>
            <a:endParaRPr lang="en-US" altLang="ja-JP" sz="1200" b="1">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2AFA4A88-F693-9214-7BEF-2093315A2FA2}"/>
              </a:ext>
            </a:extLst>
          </p:cNvPr>
          <p:cNvSpPr/>
          <p:nvPr/>
        </p:nvSpPr>
        <p:spPr>
          <a:xfrm>
            <a:off x="7857430" y="4156582"/>
            <a:ext cx="1728000" cy="1330506"/>
          </a:xfrm>
          <a:prstGeom prst="rect">
            <a:avLst/>
          </a:prstGeom>
          <a:solidFill>
            <a:srgbClr val="FFCCCC"/>
          </a:solidFill>
          <a:ln w="6350" cap="flat" cmpd="sng" algn="ctr">
            <a:solidFill>
              <a:schemeClr val="bg1">
                <a:lumMod val="50000"/>
              </a:schemeClr>
            </a:solidFill>
            <a:prstDash val="solid"/>
            <a:round/>
            <a:headEnd type="none" w="med" len="med"/>
            <a:tailEnd type="none" w="med" len="med"/>
          </a:ln>
          <a:effectLst/>
        </p:spPr>
        <p:txBody>
          <a:bodyPr vert="horz" wrap="square" lIns="72000" tIns="0" rIns="72000" bIns="0" numCol="1" rtlCol="0" anchor="ctr" anchorCtr="0" compatLnSpc="1">
            <a:prstTxWarp prst="textNoShape">
              <a:avLst/>
            </a:prstTxWarp>
          </a:bodyPr>
          <a:lstStyle/>
          <a:p>
            <a:pPr algn="ctr">
              <a:tabLst>
                <a:tab pos="177800" algn="l"/>
              </a:tabLst>
            </a:pP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単純マッピングできるわけではなく、難易度が高い</a:t>
            </a:r>
            <a:endParaRPr lang="en-US" altLang="ja-JP" sz="11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CDB105AD-096F-4484-F955-CE50C354117A}"/>
              </a:ext>
            </a:extLst>
          </p:cNvPr>
          <p:cNvSpPr/>
          <p:nvPr/>
        </p:nvSpPr>
        <p:spPr>
          <a:xfrm>
            <a:off x="9836581" y="4156582"/>
            <a:ext cx="1728000" cy="1330506"/>
          </a:xfrm>
          <a:prstGeom prst="rect">
            <a:avLst/>
          </a:prstGeom>
          <a:solidFill>
            <a:srgbClr val="FFCCCC"/>
          </a:solidFill>
          <a:ln w="6350" cap="flat" cmpd="sng" algn="ctr">
            <a:solidFill>
              <a:schemeClr val="bg1">
                <a:lumMod val="50000"/>
              </a:schemeClr>
            </a:solidFill>
            <a:prstDash val="solid"/>
            <a:round/>
            <a:headEnd type="none" w="med" len="med"/>
            <a:tailEnd type="none" w="med" len="med"/>
          </a:ln>
          <a:effectLst/>
        </p:spPr>
        <p:txBody>
          <a:bodyPr vert="horz" wrap="square" lIns="72000" tIns="0" rIns="72000" bIns="0" numCol="1" rtlCol="0" anchor="ctr" anchorCtr="0" compatLnSpc="1">
            <a:prstTxWarp prst="textNoShape">
              <a:avLst/>
            </a:prstTxWarp>
          </a:bodyPr>
          <a:lstStyle/>
          <a:p>
            <a:pPr algn="ctr">
              <a:tabLst>
                <a:tab pos="177800" algn="l"/>
              </a:tabLst>
            </a:pP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旧</a:t>
            </a: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RIND</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・ロジックの再現を検討が必要となるため、保守性が低い</a:t>
            </a:r>
            <a:endParaRPr lang="en-US" altLang="ja-JP" sz="11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7" name="ドーナツ 29">
            <a:extLst>
              <a:ext uri="{FF2B5EF4-FFF2-40B4-BE49-F238E27FC236}">
                <a16:creationId xmlns:a16="http://schemas.microsoft.com/office/drawing/2014/main" id="{E0FA6230-D2F6-33A6-8F78-B67C0A4902E3}"/>
              </a:ext>
            </a:extLst>
          </p:cNvPr>
          <p:cNvSpPr/>
          <p:nvPr/>
        </p:nvSpPr>
        <p:spPr bwMode="auto">
          <a:xfrm>
            <a:off x="7273932" y="4197981"/>
            <a:ext cx="305282" cy="282702"/>
          </a:xfrm>
          <a:prstGeom prst="donut">
            <a:avLst>
              <a:gd name="adj" fmla="val 16363"/>
            </a:avLst>
          </a:prstGeom>
          <a:solidFill>
            <a:srgbClr val="0070C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sp>
        <p:nvSpPr>
          <p:cNvPr id="15" name="ドーナツ 29">
            <a:extLst>
              <a:ext uri="{FF2B5EF4-FFF2-40B4-BE49-F238E27FC236}">
                <a16:creationId xmlns:a16="http://schemas.microsoft.com/office/drawing/2014/main" id="{3B37B426-BF0C-867B-33F8-6AA6E888A9A3}"/>
              </a:ext>
            </a:extLst>
          </p:cNvPr>
          <p:cNvSpPr/>
          <p:nvPr/>
        </p:nvSpPr>
        <p:spPr bwMode="auto">
          <a:xfrm>
            <a:off x="9261676" y="2680726"/>
            <a:ext cx="305282" cy="282702"/>
          </a:xfrm>
          <a:prstGeom prst="donut">
            <a:avLst>
              <a:gd name="adj" fmla="val 16363"/>
            </a:avLst>
          </a:prstGeom>
          <a:solidFill>
            <a:srgbClr val="0070C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sp>
        <p:nvSpPr>
          <p:cNvPr id="17" name="ドーナツ 29">
            <a:extLst>
              <a:ext uri="{FF2B5EF4-FFF2-40B4-BE49-F238E27FC236}">
                <a16:creationId xmlns:a16="http://schemas.microsoft.com/office/drawing/2014/main" id="{C7C8C612-9E7A-3280-4643-86E50875DA8A}"/>
              </a:ext>
            </a:extLst>
          </p:cNvPr>
          <p:cNvSpPr/>
          <p:nvPr/>
        </p:nvSpPr>
        <p:spPr bwMode="auto">
          <a:xfrm>
            <a:off x="11228098" y="2680726"/>
            <a:ext cx="305282" cy="282702"/>
          </a:xfrm>
          <a:prstGeom prst="donut">
            <a:avLst>
              <a:gd name="adj" fmla="val 16363"/>
            </a:avLst>
          </a:prstGeom>
          <a:solidFill>
            <a:srgbClr val="0070C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sp>
        <p:nvSpPr>
          <p:cNvPr id="18" name="乗算記号 75">
            <a:extLst>
              <a:ext uri="{FF2B5EF4-FFF2-40B4-BE49-F238E27FC236}">
                <a16:creationId xmlns:a16="http://schemas.microsoft.com/office/drawing/2014/main" id="{2E9A525B-E057-CFD5-D213-F377A2E343FF}"/>
              </a:ext>
            </a:extLst>
          </p:cNvPr>
          <p:cNvSpPr/>
          <p:nvPr/>
        </p:nvSpPr>
        <p:spPr>
          <a:xfrm>
            <a:off x="9190868" y="4104484"/>
            <a:ext cx="446898" cy="398308"/>
          </a:xfrm>
          <a:prstGeom prst="mathMultiply">
            <a:avLst>
              <a:gd name="adj1" fmla="val 13832"/>
            </a:avLst>
          </a:prstGeom>
          <a:solidFill>
            <a:srgbClr val="FF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l"/>
            <a:endParaRPr kumimoji="1" lang="ja-JP" altLang="en-US" sz="1600" baseline="0">
              <a:latin typeface="Meiryo UI" pitchFamily="50" charset="-128"/>
              <a:ea typeface="Meiryo UI" pitchFamily="50" charset="-128"/>
            </a:endParaRPr>
          </a:p>
        </p:txBody>
      </p:sp>
      <p:sp>
        <p:nvSpPr>
          <p:cNvPr id="19" name="乗算記号 75">
            <a:extLst>
              <a:ext uri="{FF2B5EF4-FFF2-40B4-BE49-F238E27FC236}">
                <a16:creationId xmlns:a16="http://schemas.microsoft.com/office/drawing/2014/main" id="{60036558-C586-A1BB-288E-4CB95B22D165}"/>
              </a:ext>
            </a:extLst>
          </p:cNvPr>
          <p:cNvSpPr/>
          <p:nvPr/>
        </p:nvSpPr>
        <p:spPr>
          <a:xfrm>
            <a:off x="11157290" y="4104484"/>
            <a:ext cx="446898" cy="398308"/>
          </a:xfrm>
          <a:prstGeom prst="mathMultiply">
            <a:avLst>
              <a:gd name="adj1" fmla="val 13832"/>
            </a:avLst>
          </a:prstGeom>
          <a:solidFill>
            <a:srgbClr val="FF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l"/>
            <a:endParaRPr kumimoji="1" lang="ja-JP" altLang="en-US" sz="1600" baseline="0">
              <a:latin typeface="Meiryo UI" pitchFamily="50" charset="-128"/>
              <a:ea typeface="Meiryo UI" pitchFamily="50" charset="-128"/>
            </a:endParaRPr>
          </a:p>
        </p:txBody>
      </p:sp>
      <p:grpSp>
        <p:nvGrpSpPr>
          <p:cNvPr id="25" name="グループ化 24">
            <a:extLst>
              <a:ext uri="{FF2B5EF4-FFF2-40B4-BE49-F238E27FC236}">
                <a16:creationId xmlns:a16="http://schemas.microsoft.com/office/drawing/2014/main" id="{3E39F9A7-A586-90BC-73F9-E5F9DC8DDD6E}"/>
              </a:ext>
            </a:extLst>
          </p:cNvPr>
          <p:cNvGrpSpPr/>
          <p:nvPr/>
        </p:nvGrpSpPr>
        <p:grpSpPr>
          <a:xfrm>
            <a:off x="7212318" y="2695161"/>
            <a:ext cx="353651" cy="271335"/>
            <a:chOff x="1542998" y="6381328"/>
            <a:chExt cx="980935" cy="792088"/>
          </a:xfrm>
        </p:grpSpPr>
        <p:sp>
          <p:nvSpPr>
            <p:cNvPr id="32" name="二等辺三角形 31">
              <a:extLst>
                <a:ext uri="{FF2B5EF4-FFF2-40B4-BE49-F238E27FC236}">
                  <a16:creationId xmlns:a16="http://schemas.microsoft.com/office/drawing/2014/main" id="{F3C58BD5-B030-5131-AF4C-974345977436}"/>
                </a:ext>
              </a:extLst>
            </p:cNvPr>
            <p:cNvSpPr/>
            <p:nvPr/>
          </p:nvSpPr>
          <p:spPr bwMode="auto">
            <a:xfrm>
              <a:off x="1542998" y="6381328"/>
              <a:ext cx="980935" cy="792088"/>
            </a:xfrm>
            <a:prstGeom prst="triangle">
              <a:avLst/>
            </a:prstGeom>
            <a:solidFill>
              <a:srgbClr val="BCBDBC">
                <a:lumMod val="90000"/>
                <a:alpha val="45000"/>
              </a:srgb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sp>
          <p:nvSpPr>
            <p:cNvPr id="33" name="二等辺三角形 32">
              <a:extLst>
                <a:ext uri="{FF2B5EF4-FFF2-40B4-BE49-F238E27FC236}">
                  <a16:creationId xmlns:a16="http://schemas.microsoft.com/office/drawing/2014/main" id="{92C8D160-40A2-3552-F577-C26AC64AAB00}"/>
                </a:ext>
              </a:extLst>
            </p:cNvPr>
            <p:cNvSpPr/>
            <p:nvPr/>
          </p:nvSpPr>
          <p:spPr bwMode="auto">
            <a:xfrm>
              <a:off x="1764024" y="6609043"/>
              <a:ext cx="557440" cy="431898"/>
            </a:xfrm>
            <a:prstGeom prst="triangle">
              <a:avLst/>
            </a:prstGeom>
            <a:solidFill>
              <a:sysClr val="window" lastClr="FFFFFF"/>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grpSp>
      <p:grpSp>
        <p:nvGrpSpPr>
          <p:cNvPr id="37" name="グループ化 36">
            <a:extLst>
              <a:ext uri="{FF2B5EF4-FFF2-40B4-BE49-F238E27FC236}">
                <a16:creationId xmlns:a16="http://schemas.microsoft.com/office/drawing/2014/main" id="{94B67742-D861-940A-EC94-6A7C01E85A37}"/>
              </a:ext>
            </a:extLst>
          </p:cNvPr>
          <p:cNvGrpSpPr/>
          <p:nvPr/>
        </p:nvGrpSpPr>
        <p:grpSpPr>
          <a:xfrm>
            <a:off x="4700970" y="2822148"/>
            <a:ext cx="865201" cy="1011019"/>
            <a:chOff x="5119648" y="5496013"/>
            <a:chExt cx="865201" cy="900748"/>
          </a:xfrm>
        </p:grpSpPr>
        <p:sp>
          <p:nvSpPr>
            <p:cNvPr id="35" name="ドーナツ 29">
              <a:extLst>
                <a:ext uri="{FF2B5EF4-FFF2-40B4-BE49-F238E27FC236}">
                  <a16:creationId xmlns:a16="http://schemas.microsoft.com/office/drawing/2014/main" id="{C4C7C539-A6E3-CFCA-D75F-D2C8C7B2BEEF}"/>
                </a:ext>
              </a:extLst>
            </p:cNvPr>
            <p:cNvSpPr/>
            <p:nvPr/>
          </p:nvSpPr>
          <p:spPr bwMode="auto">
            <a:xfrm>
              <a:off x="5240749" y="5496013"/>
              <a:ext cx="688996" cy="578830"/>
            </a:xfrm>
            <a:prstGeom prst="donut">
              <a:avLst>
                <a:gd name="adj" fmla="val 16363"/>
              </a:avLst>
            </a:prstGeom>
            <a:solidFill>
              <a:srgbClr val="0070C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sp>
          <p:nvSpPr>
            <p:cNvPr id="36" name="正方形/長方形 35">
              <a:extLst>
                <a:ext uri="{FF2B5EF4-FFF2-40B4-BE49-F238E27FC236}">
                  <a16:creationId xmlns:a16="http://schemas.microsoft.com/office/drawing/2014/main" id="{9330D9C8-2564-2E4C-8DF1-B517578AEE75}"/>
                </a:ext>
              </a:extLst>
            </p:cNvPr>
            <p:cNvSpPr/>
            <p:nvPr/>
          </p:nvSpPr>
          <p:spPr bwMode="auto">
            <a:xfrm>
              <a:off x="5119648" y="6122028"/>
              <a:ext cx="865201" cy="274733"/>
            </a:xfrm>
            <a:prstGeom prst="rect">
              <a:avLst/>
            </a:prstGeom>
            <a:noFill/>
            <a:ln w="38100" cmpd="dbl">
              <a:noFill/>
              <a:prstDash val="solid"/>
              <a:miter lim="800000"/>
              <a:headEnd/>
              <a:tailEnd/>
            </a:ln>
          </p:spPr>
          <p:txBody>
            <a:bodyPr wrap="square" lIns="27432" tIns="18288" rIns="27432" bIns="18288"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fontAlgn="base">
                <a:spcBef>
                  <a:spcPct val="0"/>
                </a:spcBef>
                <a:spcAft>
                  <a:spcPct val="0"/>
                </a:spcAft>
              </a:pPr>
              <a:r>
                <a:rPr kumimoji="0" lang="ja-JP" altLang="en-US" sz="1400" b="1" kern="0">
                  <a:solidFill>
                    <a:srgbClr val="0070C0"/>
                  </a:solidFill>
                  <a:latin typeface="Meiryo UI"/>
                  <a:ea typeface="Meiryo UI"/>
                </a:rPr>
                <a:t>採用案</a:t>
              </a:r>
              <a:endParaRPr kumimoji="0" lang="en-US" altLang="ja-JP" sz="1400" b="1" kern="0">
                <a:solidFill>
                  <a:srgbClr val="0070C0"/>
                </a:solidFill>
                <a:latin typeface="Meiryo UI"/>
                <a:ea typeface="Meiryo UI"/>
              </a:endParaRPr>
            </a:p>
          </p:txBody>
        </p:sp>
      </p:grpSp>
      <p:sp>
        <p:nvSpPr>
          <p:cNvPr id="50" name="乗算記号 75">
            <a:extLst>
              <a:ext uri="{FF2B5EF4-FFF2-40B4-BE49-F238E27FC236}">
                <a16:creationId xmlns:a16="http://schemas.microsoft.com/office/drawing/2014/main" id="{FBF7905F-246B-1258-720C-11D49F1DD210}"/>
              </a:ext>
            </a:extLst>
          </p:cNvPr>
          <p:cNvSpPr/>
          <p:nvPr/>
        </p:nvSpPr>
        <p:spPr>
          <a:xfrm>
            <a:off x="4716755" y="4050894"/>
            <a:ext cx="901752" cy="810325"/>
          </a:xfrm>
          <a:prstGeom prst="mathMultiply">
            <a:avLst>
              <a:gd name="adj1" fmla="val 13832"/>
            </a:avLst>
          </a:prstGeom>
          <a:solidFill>
            <a:srgbClr val="FF0000">
              <a:alpha val="60000"/>
            </a:srgbClr>
          </a:solidFill>
          <a:ln w="12700" cap="flat" cmpd="sng" algn="ctr">
            <a:noFill/>
            <a:prstDash val="solid"/>
            <a:miter lim="800000"/>
          </a:ln>
          <a:effectLst/>
        </p:spPr>
        <p:txBody>
          <a:bodyPr wrap="none" rtlCol="0" anchor="t"/>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prstClr val="white"/>
              </a:solidFill>
              <a:effectLst/>
              <a:uLnTx/>
              <a:uFillTx/>
              <a:latin typeface="Meiryo UI" pitchFamily="50" charset="-128"/>
              <a:ea typeface="Meiryo UI" pitchFamily="50" charset="-128"/>
              <a:cs typeface="+mn-cs"/>
            </a:endParaRPr>
          </a:p>
        </p:txBody>
      </p:sp>
      <p:sp>
        <p:nvSpPr>
          <p:cNvPr id="51" name="正方形/長方形 50">
            <a:extLst>
              <a:ext uri="{FF2B5EF4-FFF2-40B4-BE49-F238E27FC236}">
                <a16:creationId xmlns:a16="http://schemas.microsoft.com/office/drawing/2014/main" id="{865BC140-59C5-866C-6DC0-581F543A0B5D}"/>
              </a:ext>
            </a:extLst>
          </p:cNvPr>
          <p:cNvSpPr/>
          <p:nvPr/>
        </p:nvSpPr>
        <p:spPr bwMode="auto">
          <a:xfrm>
            <a:off x="4637348" y="4965868"/>
            <a:ext cx="1073384" cy="383393"/>
          </a:xfrm>
          <a:prstGeom prst="rect">
            <a:avLst/>
          </a:prstGeom>
          <a:noFill/>
          <a:ln w="38100" cmpd="dbl">
            <a:noFill/>
            <a:prstDash val="solid"/>
            <a:miter lim="800000"/>
            <a:headEnd/>
            <a:tailEnd/>
          </a:ln>
        </p:spPr>
        <p:txBody>
          <a:bodyPr wrap="square" lIns="27432" tIns="18288" rIns="27432" bIns="18288"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fontAlgn="base">
              <a:spcBef>
                <a:spcPct val="0"/>
              </a:spcBef>
              <a:spcAft>
                <a:spcPct val="0"/>
              </a:spcAft>
            </a:pPr>
            <a:r>
              <a:rPr kumimoji="0" lang="ja-JP" altLang="en-US" sz="1400" kern="0">
                <a:solidFill>
                  <a:srgbClr val="FF6666"/>
                </a:solidFill>
                <a:latin typeface="Meiryo UI" panose="020B0604030504040204" pitchFamily="50" charset="-128"/>
                <a:ea typeface="Meiryo UI" panose="020B0604030504040204" pitchFamily="50" charset="-128"/>
              </a:rPr>
              <a:t>実現性、</a:t>
            </a:r>
            <a:br>
              <a:rPr kumimoji="0" lang="en-US" altLang="ja-JP" sz="1400" kern="0">
                <a:solidFill>
                  <a:srgbClr val="FF6666"/>
                </a:solidFill>
                <a:latin typeface="Meiryo UI" panose="020B0604030504040204" pitchFamily="50" charset="-128"/>
                <a:ea typeface="Meiryo UI" panose="020B0604030504040204" pitchFamily="50" charset="-128"/>
              </a:rPr>
            </a:br>
            <a:r>
              <a:rPr kumimoji="0" lang="ja-JP" altLang="en-US" sz="1400" kern="0">
                <a:solidFill>
                  <a:srgbClr val="FF6666"/>
                </a:solidFill>
                <a:latin typeface="Meiryo UI" panose="020B0604030504040204" pitchFamily="50" charset="-128"/>
                <a:ea typeface="Meiryo UI" panose="020B0604030504040204" pitchFamily="50" charset="-128"/>
              </a:rPr>
              <a:t>保守性で</a:t>
            </a:r>
            <a:endParaRPr kumimoji="0" lang="en-US" altLang="ja-JP" sz="1400" kern="0">
              <a:solidFill>
                <a:srgbClr val="FF6666"/>
              </a:solidFill>
              <a:latin typeface="Meiryo UI" panose="020B0604030504040204" pitchFamily="50" charset="-128"/>
              <a:ea typeface="Meiryo UI" panose="020B0604030504040204" pitchFamily="50" charset="-128"/>
            </a:endParaRPr>
          </a:p>
          <a:p>
            <a:pPr algn="ctr" fontAlgn="base">
              <a:spcBef>
                <a:spcPct val="0"/>
              </a:spcBef>
              <a:spcAft>
                <a:spcPct val="0"/>
              </a:spcAft>
            </a:pPr>
            <a:r>
              <a:rPr kumimoji="0" lang="ja-JP" altLang="en-US" sz="1400" kern="0">
                <a:solidFill>
                  <a:srgbClr val="FF6666"/>
                </a:solidFill>
                <a:latin typeface="Meiryo UI" panose="020B0604030504040204" pitchFamily="50" charset="-128"/>
                <a:ea typeface="Meiryo UI" panose="020B0604030504040204" pitchFamily="50" charset="-128"/>
              </a:rPr>
              <a:t>ノックアウト</a:t>
            </a:r>
            <a:endParaRPr kumimoji="0" lang="en-US" altLang="ja-JP" sz="1400" kern="0">
              <a:solidFill>
                <a:srgbClr val="FF6666"/>
              </a:solidFill>
              <a:latin typeface="Meiryo UI"/>
              <a:ea typeface="Meiryo UI"/>
            </a:endParaRPr>
          </a:p>
        </p:txBody>
      </p:sp>
      <p:sp>
        <p:nvSpPr>
          <p:cNvPr id="20" name="タイトル 2">
            <a:extLst>
              <a:ext uri="{FF2B5EF4-FFF2-40B4-BE49-F238E27FC236}">
                <a16:creationId xmlns:a16="http://schemas.microsoft.com/office/drawing/2014/main" id="{FBDAEA8A-C3E4-92B2-8DB7-37537D107BAA}"/>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sz="1400" kern="0">
                <a:latin typeface="Meiryo UI"/>
                <a:ea typeface="Meiryo UI"/>
                <a:cs typeface="Arial"/>
              </a:rPr>
              <a:t>5.</a:t>
            </a:r>
            <a:r>
              <a:rPr lang="ja-JP" altLang="en-US" sz="1400" kern="0">
                <a:latin typeface="Meiryo UI"/>
                <a:ea typeface="Meiryo UI"/>
                <a:cs typeface="Arial"/>
              </a:rPr>
              <a:t> 実行</a:t>
            </a:r>
            <a:r>
              <a:rPr lang="zh-TW" altLang="en-US" sz="1400" kern="0">
                <a:latin typeface="Meiryo UI"/>
                <a:ea typeface="Meiryo UI"/>
                <a:cs typeface="Arial"/>
              </a:rPr>
              <a:t>決裁内容</a:t>
            </a:r>
            <a:endParaRPr lang="en-US" altLang="zh-TW" sz="1400" kern="0">
              <a:latin typeface="Meiryo UI"/>
              <a:ea typeface="Meiryo UI"/>
              <a:cs typeface="Arial"/>
            </a:endParaRPr>
          </a:p>
          <a:p>
            <a:r>
              <a:rPr lang="ja-JP" altLang="en-US" kern="0">
                <a:latin typeface="Meiryo UI"/>
                <a:ea typeface="Meiryo UI"/>
                <a:cs typeface="Arial"/>
              </a:rPr>
              <a:t>　　</a:t>
            </a:r>
            <a:r>
              <a:rPr lang="en-US" altLang="ja-JP" kern="0">
                <a:latin typeface="Meiryo UI"/>
                <a:ea typeface="Meiryo UI"/>
                <a:cs typeface="Arial"/>
              </a:rPr>
              <a:t>5-2. RETMAS</a:t>
            </a:r>
            <a:r>
              <a:rPr lang="ja-JP" altLang="en-US" kern="0">
                <a:latin typeface="Meiryo UI"/>
                <a:ea typeface="Meiryo UI"/>
                <a:cs typeface="Arial"/>
              </a:rPr>
              <a:t>対応方針の検討結果</a:t>
            </a:r>
          </a:p>
        </p:txBody>
      </p:sp>
    </p:spTree>
    <p:extLst>
      <p:ext uri="{BB962C8B-B14F-4D97-AF65-F5344CB8AC3E}">
        <p14:creationId xmlns:p14="http://schemas.microsoft.com/office/powerpoint/2010/main" val="3769878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31">
            <a:extLst>
              <a:ext uri="{FF2B5EF4-FFF2-40B4-BE49-F238E27FC236}">
                <a16:creationId xmlns:a16="http://schemas.microsoft.com/office/drawing/2014/main" id="{1ED0B57F-B121-A2D2-7F38-76CAC694ED3F}"/>
              </a:ext>
            </a:extLst>
          </p:cNvPr>
          <p:cNvSpPr txBox="1"/>
          <p:nvPr/>
        </p:nvSpPr>
        <p:spPr>
          <a:xfrm>
            <a:off x="11312242" y="110921"/>
            <a:ext cx="720000" cy="360000"/>
          </a:xfrm>
          <a:prstGeom prst="rect">
            <a:avLst/>
          </a:prstGeom>
          <a:solidFill>
            <a:srgbClr val="FFCCCC"/>
          </a:solidFill>
        </p:spPr>
        <p:txBody>
          <a:bodyPr wrap="none" rtlCol="0" anchor="ctr">
            <a:noAutofit/>
          </a:bodyPr>
          <a:lstStyle>
            <a:defPPr>
              <a:defRPr lang="ja-JP"/>
            </a:defPPr>
            <a:lvl1pPr>
              <a:defRPr sz="1100">
                <a:latin typeface="Meiryo UI" panose="020B0604030504040204" pitchFamily="50" charset="-128"/>
                <a:ea typeface="Meiryo UI" panose="020B0604030504040204" pitchFamily="50" charset="-128"/>
              </a:defRPr>
            </a:lvl1pPr>
          </a:lstStyle>
          <a:p>
            <a:pPr algn="ctr"/>
            <a:r>
              <a:rPr lang="ja-JP" altLang="en-US" dirty="0">
                <a:solidFill>
                  <a:schemeClr val="accent4">
                    <a:lumMod val="65000"/>
                    <a:lumOff val="35000"/>
                  </a:schemeClr>
                </a:solidFill>
              </a:rPr>
              <a:t>変更</a:t>
            </a:r>
            <a:endParaRPr lang="en-US" altLang="ja-JP" dirty="0">
              <a:solidFill>
                <a:schemeClr val="accent4">
                  <a:lumMod val="65000"/>
                  <a:lumOff val="35000"/>
                </a:schemeClr>
              </a:solidFill>
            </a:endParaRPr>
          </a:p>
        </p:txBody>
      </p:sp>
      <p:sp>
        <p:nvSpPr>
          <p:cNvPr id="4" name="TextBox 131">
            <a:extLst>
              <a:ext uri="{FF2B5EF4-FFF2-40B4-BE49-F238E27FC236}">
                <a16:creationId xmlns:a16="http://schemas.microsoft.com/office/drawing/2014/main" id="{67E58CF7-56BB-A998-0D84-B7559B02E26F}"/>
              </a:ext>
            </a:extLst>
          </p:cNvPr>
          <p:cNvSpPr txBox="1"/>
          <p:nvPr/>
        </p:nvSpPr>
        <p:spPr>
          <a:xfrm>
            <a:off x="10570027" y="110921"/>
            <a:ext cx="720000" cy="360000"/>
          </a:xfrm>
          <a:prstGeom prst="rect">
            <a:avLst/>
          </a:prstGeom>
          <a:solidFill>
            <a:schemeClr val="accent1">
              <a:lumMod val="20000"/>
              <a:lumOff val="80000"/>
            </a:schemeClr>
          </a:solidFill>
        </p:spPr>
        <p:txBody>
          <a:bodyPr wrap="none" rtlCol="0" anchor="ctr">
            <a:noAutofit/>
          </a:bodyPr>
          <a:lstStyle>
            <a:defPPr>
              <a:defRPr lang="ja-JP"/>
            </a:defPPr>
            <a:lvl1pPr>
              <a:defRPr sz="1100">
                <a:latin typeface="Meiryo UI" panose="020B0604030504040204" pitchFamily="50" charset="-128"/>
                <a:ea typeface="Meiryo UI" panose="020B0604030504040204" pitchFamily="50" charset="-128"/>
              </a:defRPr>
            </a:lvl1pPr>
          </a:lstStyle>
          <a:p>
            <a:pPr algn="ctr"/>
            <a:r>
              <a:rPr lang="ja-JP" altLang="en-US">
                <a:solidFill>
                  <a:schemeClr val="accent4">
                    <a:lumMod val="65000"/>
                    <a:lumOff val="35000"/>
                  </a:schemeClr>
                </a:solidFill>
              </a:rPr>
              <a:t>新規</a:t>
            </a:r>
          </a:p>
        </p:txBody>
      </p:sp>
      <p:sp>
        <p:nvSpPr>
          <p:cNvPr id="5" name="タイトル 2">
            <a:extLst>
              <a:ext uri="{FF2B5EF4-FFF2-40B4-BE49-F238E27FC236}">
                <a16:creationId xmlns:a16="http://schemas.microsoft.com/office/drawing/2014/main" id="{EFD4BB23-2FAA-A7E1-E09A-F434D09B744E}"/>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sz="1400" kern="0">
                <a:latin typeface="Meiryo UI"/>
                <a:ea typeface="Meiryo UI"/>
                <a:cs typeface="Arial"/>
              </a:rPr>
              <a:t>5.</a:t>
            </a:r>
            <a:r>
              <a:rPr lang="ja-JP" altLang="en-US" sz="1400" kern="0">
                <a:latin typeface="Meiryo UI"/>
                <a:ea typeface="Meiryo UI"/>
                <a:cs typeface="Arial"/>
              </a:rPr>
              <a:t> 実行</a:t>
            </a:r>
            <a:r>
              <a:rPr lang="zh-TW" altLang="en-US" sz="1400" kern="0">
                <a:latin typeface="Meiryo UI"/>
                <a:ea typeface="Meiryo UI"/>
                <a:cs typeface="Arial"/>
              </a:rPr>
              <a:t>決裁内容</a:t>
            </a:r>
            <a:endParaRPr lang="en-US" altLang="zh-TW" sz="1400" kern="0">
              <a:latin typeface="Meiryo UI"/>
              <a:ea typeface="Meiryo UI"/>
              <a:cs typeface="Arial"/>
            </a:endParaRPr>
          </a:p>
          <a:p>
            <a:r>
              <a:rPr lang="ja-JP" altLang="en-US" kern="0">
                <a:latin typeface="Meiryo UI"/>
                <a:ea typeface="Meiryo UI"/>
                <a:cs typeface="Arial"/>
              </a:rPr>
              <a:t>　　</a:t>
            </a:r>
            <a:r>
              <a:rPr lang="en-US" altLang="ja-JP" kern="0">
                <a:latin typeface="Meiryo UI"/>
                <a:ea typeface="Meiryo UI"/>
                <a:cs typeface="Arial"/>
              </a:rPr>
              <a:t>5-2. RETMAS</a:t>
            </a:r>
            <a:r>
              <a:rPr lang="ja-JP" altLang="en-US" kern="0">
                <a:latin typeface="Meiryo UI"/>
                <a:ea typeface="Meiryo UI"/>
                <a:cs typeface="Arial"/>
              </a:rPr>
              <a:t>対応方針の検討結果（案①改修範囲）</a:t>
            </a:r>
          </a:p>
        </p:txBody>
      </p:sp>
      <p:sp>
        <p:nvSpPr>
          <p:cNvPr id="28" name="コンテンツ プレースホルダー 5">
            <a:extLst>
              <a:ext uri="{FF2B5EF4-FFF2-40B4-BE49-F238E27FC236}">
                <a16:creationId xmlns:a16="http://schemas.microsoft.com/office/drawing/2014/main" id="{44716430-B254-EADF-3C6A-B749B93C3473}"/>
              </a:ext>
            </a:extLst>
          </p:cNvPr>
          <p:cNvSpPr txBox="1">
            <a:spLocks/>
          </p:cNvSpPr>
          <p:nvPr/>
        </p:nvSpPr>
        <p:spPr bwMode="auto">
          <a:xfrm>
            <a:off x="211394" y="614837"/>
            <a:ext cx="11525251" cy="9362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RETMAS</a:t>
            </a:r>
            <a:r>
              <a:rPr lang="ja-JP" altLang="en-US" sz="1600" kern="0" dirty="0"/>
              <a:t>機能のうち、</a:t>
            </a:r>
            <a:r>
              <a:rPr lang="en-US" altLang="ja-JP" sz="1600" kern="0" dirty="0"/>
              <a:t>JKK</a:t>
            </a:r>
            <a:r>
              <a:rPr lang="ja-JP" altLang="en-US" sz="1600" kern="0" dirty="0"/>
              <a:t>により影響を受ける可能性のある箇所は以下の</a:t>
            </a:r>
            <a:r>
              <a:rPr lang="ja-JP" altLang="en-US" sz="1600" kern="0" dirty="0">
                <a:highlight>
                  <a:srgbClr val="C2FFF0"/>
                </a:highlight>
              </a:rPr>
              <a:t>緑</a:t>
            </a:r>
            <a:r>
              <a:rPr lang="en-US" altLang="ja-JP" sz="1600" kern="0" dirty="0"/>
              <a:t>/</a:t>
            </a:r>
            <a:r>
              <a:rPr lang="ja-JP" altLang="en-US" sz="1600" kern="0" dirty="0">
                <a:highlight>
                  <a:srgbClr val="FFDDDD"/>
                </a:highlight>
              </a:rPr>
              <a:t>ピンク</a:t>
            </a:r>
            <a:r>
              <a:rPr lang="ja-JP" altLang="en-US" sz="1600" kern="0" dirty="0"/>
              <a:t>で示した通り</a:t>
            </a:r>
            <a:endParaRPr lang="en-US" altLang="ja-JP" sz="1600" kern="0" dirty="0"/>
          </a:p>
          <a:p>
            <a:pPr marL="285750" indent="-285750">
              <a:buFont typeface="Arial" panose="020B0604020202020204" pitchFamily="34" charset="0"/>
              <a:buChar char="•"/>
            </a:pPr>
            <a:r>
              <a:rPr lang="en-US" altLang="ja-JP" sz="1600" kern="0" dirty="0"/>
              <a:t>RETMAS</a:t>
            </a:r>
            <a:r>
              <a:rPr lang="ja-JP" altLang="en-US" sz="1600" kern="0" dirty="0"/>
              <a:t>は、</a:t>
            </a:r>
            <a:r>
              <a:rPr lang="ja-JP" altLang="en-US" sz="1600" b="1" kern="0" dirty="0"/>
              <a:t>大量</a:t>
            </a:r>
            <a:r>
              <a:rPr lang="en-US" altLang="ja-JP" sz="1200" b="1" kern="0" dirty="0"/>
              <a:t>(</a:t>
            </a:r>
            <a:r>
              <a:rPr lang="ja-JP" altLang="en-US" sz="1200" b="1" kern="0" dirty="0"/>
              <a:t>約</a:t>
            </a:r>
            <a:r>
              <a:rPr lang="en-US" altLang="ja-JP" sz="1200" b="1" kern="0" dirty="0"/>
              <a:t>30view)</a:t>
            </a:r>
            <a:r>
              <a:rPr lang="ja-JP" altLang="en-US" sz="1600" b="1" kern="0" dirty="0"/>
              <a:t>の</a:t>
            </a:r>
            <a:r>
              <a:rPr lang="en-US" altLang="ja-JP" sz="1600" b="1" kern="0" dirty="0"/>
              <a:t>RIND/DB9/</a:t>
            </a:r>
            <a:r>
              <a:rPr lang="en-US" altLang="ja-JP" sz="1600" b="1" kern="0" dirty="0" err="1"/>
              <a:t>Neko</a:t>
            </a:r>
            <a:r>
              <a:rPr lang="ja-JP" altLang="en-US" sz="1600" b="1" kern="0" dirty="0"/>
              <a:t>をインプット</a:t>
            </a:r>
            <a:r>
              <a:rPr lang="ja-JP" altLang="en-US" sz="1600" kern="0" dirty="0"/>
              <a:t>としているため、</a:t>
            </a:r>
            <a:r>
              <a:rPr lang="en-US" altLang="ja-JP" sz="1600" kern="0" dirty="0"/>
              <a:t>RIND</a:t>
            </a:r>
            <a:r>
              <a:rPr lang="ja-JP" altLang="en-US" sz="1600" kern="0" dirty="0"/>
              <a:t>改修による影響が大きく、</a:t>
            </a:r>
            <a:r>
              <a:rPr lang="ja-JP" altLang="en-US" sz="1600" b="1" kern="0" dirty="0"/>
              <a:t>改修コストが大きくなる</a:t>
            </a:r>
            <a:endParaRPr lang="en-US" altLang="ja-JP" sz="1600" b="1" kern="0" dirty="0"/>
          </a:p>
          <a:p>
            <a:endParaRPr lang="ja-JP" altLang="en-US" sz="1600" kern="0" dirty="0"/>
          </a:p>
        </p:txBody>
      </p:sp>
      <p:grpSp>
        <p:nvGrpSpPr>
          <p:cNvPr id="9" name="グループ化 8">
            <a:extLst>
              <a:ext uri="{FF2B5EF4-FFF2-40B4-BE49-F238E27FC236}">
                <a16:creationId xmlns:a16="http://schemas.microsoft.com/office/drawing/2014/main" id="{1D128639-C64C-14F6-CAE2-EA6A4205B39E}"/>
              </a:ext>
            </a:extLst>
          </p:cNvPr>
          <p:cNvGrpSpPr/>
          <p:nvPr/>
        </p:nvGrpSpPr>
        <p:grpSpPr>
          <a:xfrm>
            <a:off x="739196" y="1632878"/>
            <a:ext cx="10612004" cy="4766623"/>
            <a:chOff x="739196" y="1321719"/>
            <a:chExt cx="10612004" cy="5243285"/>
          </a:xfrm>
        </p:grpSpPr>
        <p:sp>
          <p:nvSpPr>
            <p:cNvPr id="6" name="TextBox 131">
              <a:extLst>
                <a:ext uri="{FF2B5EF4-FFF2-40B4-BE49-F238E27FC236}">
                  <a16:creationId xmlns:a16="http://schemas.microsoft.com/office/drawing/2014/main" id="{580B18FD-2FEA-A508-37B0-A8C4A4296974}"/>
                </a:ext>
              </a:extLst>
            </p:cNvPr>
            <p:cNvSpPr txBox="1"/>
            <p:nvPr/>
          </p:nvSpPr>
          <p:spPr>
            <a:xfrm>
              <a:off x="7522265" y="1538681"/>
              <a:ext cx="3703566" cy="2541117"/>
            </a:xfrm>
            <a:prstGeom prst="rect">
              <a:avLst/>
            </a:prstGeom>
            <a:solidFill>
              <a:srgbClr val="FFDDDD"/>
            </a:solidFill>
          </p:spPr>
          <p:txBody>
            <a:bodyPr wrap="none" rtlCol="0">
              <a:noAutofit/>
            </a:bodyPr>
            <a:lstStyle>
              <a:defPPr>
                <a:defRPr lang="ja-JP"/>
              </a:defPPr>
              <a:lvl1pPr>
                <a:defRPr sz="1100">
                  <a:latin typeface="Meiryo UI" panose="020B0604030504040204" pitchFamily="50" charset="-128"/>
                  <a:ea typeface="Meiryo UI" panose="020B0604030504040204" pitchFamily="50" charset="-128"/>
                </a:defRPr>
              </a:lvl1pPr>
            </a:lstStyle>
            <a:p>
              <a:endParaRPr lang="ja-JP" altLang="en-US">
                <a:solidFill>
                  <a:schemeClr val="accent4">
                    <a:lumMod val="65000"/>
                    <a:lumOff val="35000"/>
                  </a:schemeClr>
                </a:solidFill>
              </a:endParaRPr>
            </a:p>
          </p:txBody>
        </p:sp>
        <p:sp>
          <p:nvSpPr>
            <p:cNvPr id="242" name="TextBox 131">
              <a:extLst>
                <a:ext uri="{FF2B5EF4-FFF2-40B4-BE49-F238E27FC236}">
                  <a16:creationId xmlns:a16="http://schemas.microsoft.com/office/drawing/2014/main" id="{F648F555-BA9E-A0E7-29E1-5E7178819C7D}"/>
                </a:ext>
              </a:extLst>
            </p:cNvPr>
            <p:cNvSpPr txBox="1"/>
            <p:nvPr/>
          </p:nvSpPr>
          <p:spPr>
            <a:xfrm>
              <a:off x="8049262" y="6151812"/>
              <a:ext cx="1786819" cy="413192"/>
            </a:xfrm>
            <a:prstGeom prst="rect">
              <a:avLst/>
            </a:prstGeom>
            <a:solidFill>
              <a:schemeClr val="accent1">
                <a:lumMod val="20000"/>
                <a:lumOff val="80000"/>
              </a:schemeClr>
            </a:solidFill>
          </p:spPr>
          <p:txBody>
            <a:bodyPr wrap="none" rtlCol="0">
              <a:noAutofit/>
            </a:bodyPr>
            <a:lstStyle>
              <a:defPPr>
                <a:defRPr lang="ja-JP"/>
              </a:defPPr>
              <a:lvl1pPr>
                <a:defRPr sz="1100">
                  <a:latin typeface="Meiryo UI" panose="020B0604030504040204" pitchFamily="50" charset="-128"/>
                  <a:ea typeface="Meiryo UI" panose="020B0604030504040204" pitchFamily="50" charset="-128"/>
                </a:defRPr>
              </a:lvl1pPr>
            </a:lstStyle>
            <a:p>
              <a:endParaRPr lang="ja-JP" altLang="en-US">
                <a:solidFill>
                  <a:srgbClr val="C2FFF0"/>
                </a:solidFill>
              </a:endParaRPr>
            </a:p>
          </p:txBody>
        </p:sp>
        <p:sp>
          <p:nvSpPr>
            <p:cNvPr id="25" name="TextBox 131">
              <a:extLst>
                <a:ext uri="{FF2B5EF4-FFF2-40B4-BE49-F238E27FC236}">
                  <a16:creationId xmlns:a16="http://schemas.microsoft.com/office/drawing/2014/main" id="{FA03332E-7D01-1FB2-B06F-15E34ABA6AD3}"/>
                </a:ext>
              </a:extLst>
            </p:cNvPr>
            <p:cNvSpPr txBox="1"/>
            <p:nvPr/>
          </p:nvSpPr>
          <p:spPr>
            <a:xfrm>
              <a:off x="2933413" y="5731529"/>
              <a:ext cx="3287793" cy="833475"/>
            </a:xfrm>
            <a:prstGeom prst="rect">
              <a:avLst/>
            </a:prstGeom>
            <a:solidFill>
              <a:srgbClr val="FFDDDD"/>
            </a:solidFill>
          </p:spPr>
          <p:txBody>
            <a:bodyPr wrap="none" rtlCol="0">
              <a:noAutofit/>
            </a:bodyPr>
            <a:lstStyle>
              <a:defPPr>
                <a:defRPr lang="ja-JP"/>
              </a:defPPr>
              <a:lvl1pPr>
                <a:defRPr sz="1100">
                  <a:latin typeface="Meiryo UI" panose="020B0604030504040204" pitchFamily="50" charset="-128"/>
                  <a:ea typeface="Meiryo UI" panose="020B0604030504040204" pitchFamily="50" charset="-128"/>
                </a:defRPr>
              </a:lvl1pPr>
            </a:lstStyle>
            <a:p>
              <a:endParaRPr lang="ja-JP" altLang="en-US">
                <a:solidFill>
                  <a:schemeClr val="accent4">
                    <a:lumMod val="65000"/>
                    <a:lumOff val="35000"/>
                  </a:schemeClr>
                </a:solidFill>
              </a:endParaRPr>
            </a:p>
          </p:txBody>
        </p:sp>
        <p:sp>
          <p:nvSpPr>
            <p:cNvPr id="24" name="TextBox 131">
              <a:extLst>
                <a:ext uri="{FF2B5EF4-FFF2-40B4-BE49-F238E27FC236}">
                  <a16:creationId xmlns:a16="http://schemas.microsoft.com/office/drawing/2014/main" id="{A7180539-81B5-5191-BD3A-0EB879A48758}"/>
                </a:ext>
              </a:extLst>
            </p:cNvPr>
            <p:cNvSpPr txBox="1"/>
            <p:nvPr/>
          </p:nvSpPr>
          <p:spPr>
            <a:xfrm>
              <a:off x="1064036" y="1689109"/>
              <a:ext cx="5834438" cy="2383670"/>
            </a:xfrm>
            <a:prstGeom prst="rect">
              <a:avLst/>
            </a:prstGeom>
            <a:solidFill>
              <a:srgbClr val="FFDDDD"/>
            </a:solidFill>
          </p:spPr>
          <p:txBody>
            <a:bodyPr wrap="none" rtlCol="0">
              <a:noAutofit/>
            </a:bodyPr>
            <a:lstStyle>
              <a:defPPr>
                <a:defRPr lang="ja-JP"/>
              </a:defPPr>
              <a:lvl1pPr>
                <a:defRPr sz="1100">
                  <a:latin typeface="Meiryo UI" panose="020B0604030504040204" pitchFamily="50" charset="-128"/>
                  <a:ea typeface="Meiryo UI" panose="020B0604030504040204" pitchFamily="50" charset="-128"/>
                </a:defRPr>
              </a:lvl1pPr>
            </a:lstStyle>
            <a:p>
              <a:endParaRPr lang="ja-JP" altLang="en-US">
                <a:solidFill>
                  <a:srgbClr val="FFDDDD"/>
                </a:solidFill>
              </a:endParaRPr>
            </a:p>
          </p:txBody>
        </p:sp>
        <p:sp>
          <p:nvSpPr>
            <p:cNvPr id="17" name="TextBox 131">
              <a:extLst>
                <a:ext uri="{FF2B5EF4-FFF2-40B4-BE49-F238E27FC236}">
                  <a16:creationId xmlns:a16="http://schemas.microsoft.com/office/drawing/2014/main" id="{48C09EAD-8F60-4ACE-B976-5E0880C7BF34}"/>
                </a:ext>
              </a:extLst>
            </p:cNvPr>
            <p:cNvSpPr txBox="1"/>
            <p:nvPr/>
          </p:nvSpPr>
          <p:spPr>
            <a:xfrm>
              <a:off x="4658071" y="1718637"/>
              <a:ext cx="1244846" cy="1491851"/>
            </a:xfrm>
            <a:prstGeom prst="rect">
              <a:avLst/>
            </a:prstGeom>
            <a:solidFill>
              <a:schemeClr val="bg1">
                <a:lumMod val="95000"/>
              </a:schemeClr>
            </a:solidFill>
          </p:spPr>
          <p:txBody>
            <a:bodyPr vert="horz" wrap="none" rtlCol="0">
              <a:noAutofit/>
            </a:bodyPr>
            <a:lstStyle/>
            <a:p>
              <a:pPr algn="ctr"/>
              <a:r>
                <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rPr>
                <a:t>データマート</a:t>
              </a:r>
              <a:r>
                <a:rPr lang="ja-JP" altLang="en-US" sz="1050">
                  <a:solidFill>
                    <a:schemeClr val="accent4">
                      <a:lumMod val="65000"/>
                      <a:lumOff val="35000"/>
                    </a:schemeClr>
                  </a:solidFill>
                  <a:latin typeface="Meiryo UI" panose="020B0604030504040204" pitchFamily="50" charset="-128"/>
                  <a:ea typeface="Meiryo UI" panose="020B0604030504040204" pitchFamily="50" charset="-128"/>
                </a:rPr>
                <a:t>作成</a:t>
              </a:r>
              <a:endPar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30" name="Can 3">
              <a:extLst>
                <a:ext uri="{FF2B5EF4-FFF2-40B4-BE49-F238E27FC236}">
                  <a16:creationId xmlns:a16="http://schemas.microsoft.com/office/drawing/2014/main" id="{57CF7194-A040-44AF-B044-27C32989F561}"/>
                </a:ext>
              </a:extLst>
            </p:cNvPr>
            <p:cNvSpPr/>
            <p:nvPr/>
          </p:nvSpPr>
          <p:spPr>
            <a:xfrm>
              <a:off x="4811706" y="5765573"/>
              <a:ext cx="900000" cy="360000"/>
            </a:xfrm>
            <a:prstGeom prst="can">
              <a:avLst/>
            </a:prstGeom>
            <a:solidFill>
              <a:schemeClr val="bg1"/>
            </a:solidFill>
            <a:ln w="9525" cap="flat" cmpd="sng" algn="ctr">
              <a:solidFill>
                <a:schemeClr val="bg1">
                  <a:lumMod val="50000"/>
                </a:schemeClr>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管理マスタ</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sp>
          <p:nvSpPr>
            <p:cNvPr id="31" name="円柱 30">
              <a:extLst>
                <a:ext uri="{FF2B5EF4-FFF2-40B4-BE49-F238E27FC236}">
                  <a16:creationId xmlns:a16="http://schemas.microsoft.com/office/drawing/2014/main" id="{43B78705-60DF-4F86-A049-938DF26913B1}"/>
                </a:ext>
              </a:extLst>
            </p:cNvPr>
            <p:cNvSpPr/>
            <p:nvPr/>
          </p:nvSpPr>
          <p:spPr>
            <a:xfrm>
              <a:off x="1260655" y="3099449"/>
              <a:ext cx="947862" cy="360000"/>
            </a:xfrm>
            <a:prstGeom prst="can">
              <a:avLst/>
            </a:prstGeom>
            <a:solidFill>
              <a:schemeClr val="bg1">
                <a:lumMod val="85000"/>
              </a:schemeClr>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err="1">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NeKo</a:t>
              </a:r>
              <a:endParaRPr kumimoji="0" lang="en-US" altLang="ja-JP" sz="10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a:t>
              </a:r>
              <a:r>
                <a:rPr kumimoji="0" lang="en-US" altLang="ja-JP" sz="1000" kern="0">
                  <a:solidFill>
                    <a:srgbClr val="FF0000"/>
                  </a:solidFill>
                  <a:latin typeface="Meiryo UI" panose="020B0604030504040204" pitchFamily="50" charset="-128"/>
                  <a:ea typeface="Meiryo UI" panose="020B0604030504040204" pitchFamily="50" charset="-128"/>
                  <a:cs typeface="Hiragino Kaku Gothic Pro W3" charset="-128"/>
                </a:rPr>
                <a:t>5view</a:t>
              </a:r>
              <a:r>
                <a:rPr kumimoji="0" lang="ja-JP" altLang="en-US" sz="1000" kern="0">
                  <a:solidFill>
                    <a:srgbClr val="FF0000"/>
                  </a:solidFill>
                  <a:latin typeface="Meiryo UI" panose="020B0604030504040204" pitchFamily="50" charset="-128"/>
                  <a:ea typeface="Meiryo UI" panose="020B0604030504040204" pitchFamily="50" charset="-128"/>
                  <a:cs typeface="Hiragino Kaku Gothic Pro W3" charset="-128"/>
                </a:rPr>
                <a:t>：廃止</a:t>
              </a:r>
              <a:r>
                <a:rPr kumimoji="0"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a:t>
              </a:r>
            </a:p>
          </p:txBody>
        </p:sp>
        <p:sp>
          <p:nvSpPr>
            <p:cNvPr id="32" name="Can 3">
              <a:extLst>
                <a:ext uri="{FF2B5EF4-FFF2-40B4-BE49-F238E27FC236}">
                  <a16:creationId xmlns:a16="http://schemas.microsoft.com/office/drawing/2014/main" id="{E6B33418-AF7D-4F4B-A0CF-943FCC5453D2}"/>
                </a:ext>
              </a:extLst>
            </p:cNvPr>
            <p:cNvSpPr/>
            <p:nvPr/>
          </p:nvSpPr>
          <p:spPr>
            <a:xfrm>
              <a:off x="4811706" y="3681594"/>
              <a:ext cx="900000"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合算データ</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sp>
          <p:nvSpPr>
            <p:cNvPr id="33" name="Can 3">
              <a:extLst>
                <a:ext uri="{FF2B5EF4-FFF2-40B4-BE49-F238E27FC236}">
                  <a16:creationId xmlns:a16="http://schemas.microsoft.com/office/drawing/2014/main" id="{B61F2A6E-C753-4732-A2FE-C145E873C8DD}"/>
                </a:ext>
              </a:extLst>
            </p:cNvPr>
            <p:cNvSpPr/>
            <p:nvPr/>
          </p:nvSpPr>
          <p:spPr>
            <a:xfrm>
              <a:off x="4811706" y="4097818"/>
              <a:ext cx="900000"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合算</a:t>
              </a:r>
              <a:r>
                <a:rPr kumimoji="0"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CAPEX</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sp>
          <p:nvSpPr>
            <p:cNvPr id="36" name="TextBox 131">
              <a:extLst>
                <a:ext uri="{FF2B5EF4-FFF2-40B4-BE49-F238E27FC236}">
                  <a16:creationId xmlns:a16="http://schemas.microsoft.com/office/drawing/2014/main" id="{8801CC8C-DF86-4F33-86A6-45C46F63BE48}"/>
                </a:ext>
              </a:extLst>
            </p:cNvPr>
            <p:cNvSpPr txBox="1"/>
            <p:nvPr/>
          </p:nvSpPr>
          <p:spPr>
            <a:xfrm>
              <a:off x="3172093" y="1718637"/>
              <a:ext cx="1053768" cy="1928411"/>
            </a:xfrm>
            <a:prstGeom prst="rect">
              <a:avLst/>
            </a:prstGeom>
            <a:solidFill>
              <a:schemeClr val="accent3">
                <a:lumMod val="95000"/>
              </a:schemeClr>
            </a:solidFill>
          </p:spPr>
          <p:txBody>
            <a:bodyPr vert="horz" wrap="none" rtlCol="0">
              <a:noAutofit/>
            </a:bodyPr>
            <a:lstStyle/>
            <a:p>
              <a:pPr algn="ctr"/>
              <a:r>
                <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rPr>
                <a:t>データ抽出</a:t>
              </a:r>
            </a:p>
          </p:txBody>
        </p:sp>
        <p:cxnSp>
          <p:nvCxnSpPr>
            <p:cNvPr id="47" name="コネクタ: カギ線 46">
              <a:extLst>
                <a:ext uri="{FF2B5EF4-FFF2-40B4-BE49-F238E27FC236}">
                  <a16:creationId xmlns:a16="http://schemas.microsoft.com/office/drawing/2014/main" id="{AFA3F5E4-00ED-4CD9-8702-C94F18713CED}"/>
                </a:ext>
              </a:extLst>
            </p:cNvPr>
            <p:cNvCxnSpPr>
              <a:cxnSpLocks/>
              <a:stCxn id="175" idx="3"/>
              <a:endCxn id="30" idx="3"/>
            </p:cNvCxnSpPr>
            <p:nvPr/>
          </p:nvCxnSpPr>
          <p:spPr>
            <a:xfrm flipV="1">
              <a:off x="4233305" y="6125573"/>
              <a:ext cx="1028401" cy="233363"/>
            </a:xfrm>
            <a:prstGeom prst="bentConnector2">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131">
              <a:extLst>
                <a:ext uri="{FF2B5EF4-FFF2-40B4-BE49-F238E27FC236}">
                  <a16:creationId xmlns:a16="http://schemas.microsoft.com/office/drawing/2014/main" id="{A307D9A4-CC24-4ED9-98C8-1933DD99DE63}"/>
                </a:ext>
              </a:extLst>
            </p:cNvPr>
            <p:cNvSpPr txBox="1"/>
            <p:nvPr/>
          </p:nvSpPr>
          <p:spPr>
            <a:xfrm>
              <a:off x="8093111" y="4671702"/>
              <a:ext cx="1326725" cy="419566"/>
            </a:xfrm>
            <a:prstGeom prst="rect">
              <a:avLst/>
            </a:prstGeom>
            <a:noFill/>
            <a:ln>
              <a:noFill/>
            </a:ln>
          </p:spPr>
          <p:txBody>
            <a:bodyPr wrap="none" rtlCol="0">
              <a:noAutofit/>
            </a:bodyPr>
            <a:lstStyle/>
            <a:p>
              <a:pPr algn="ctr"/>
              <a:endParaRPr lang="en-US" altLang="ja-JP" sz="11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56" name="円柱 55">
              <a:extLst>
                <a:ext uri="{FF2B5EF4-FFF2-40B4-BE49-F238E27FC236}">
                  <a16:creationId xmlns:a16="http://schemas.microsoft.com/office/drawing/2014/main" id="{94F9F6D4-4D47-4E14-919A-690B5B8F0D38}"/>
                </a:ext>
              </a:extLst>
            </p:cNvPr>
            <p:cNvSpPr/>
            <p:nvPr/>
          </p:nvSpPr>
          <p:spPr>
            <a:xfrm>
              <a:off x="4811706" y="2780603"/>
              <a:ext cx="900000" cy="3600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原価</a:t>
              </a:r>
              <a:endParaRPr kumimoji="0" lang="en-US" altLang="ja-JP" sz="11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57" name="円柱 56">
              <a:extLst>
                <a:ext uri="{FF2B5EF4-FFF2-40B4-BE49-F238E27FC236}">
                  <a16:creationId xmlns:a16="http://schemas.microsoft.com/office/drawing/2014/main" id="{4D7D50D9-7BCE-4964-A8F4-8726ABB481B6}"/>
                </a:ext>
              </a:extLst>
            </p:cNvPr>
            <p:cNvSpPr/>
            <p:nvPr/>
          </p:nvSpPr>
          <p:spPr>
            <a:xfrm>
              <a:off x="4811706" y="1978097"/>
              <a:ext cx="900000" cy="3600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1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経費</a:t>
              </a:r>
              <a:endParaRPr kumimoji="0" lang="en-US" altLang="ja-JP" sz="11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58" name="円柱 57">
              <a:extLst>
                <a:ext uri="{FF2B5EF4-FFF2-40B4-BE49-F238E27FC236}">
                  <a16:creationId xmlns:a16="http://schemas.microsoft.com/office/drawing/2014/main" id="{B060EB9B-B42C-47FC-A467-8FEBAF96E236}"/>
                </a:ext>
              </a:extLst>
            </p:cNvPr>
            <p:cNvSpPr/>
            <p:nvPr/>
          </p:nvSpPr>
          <p:spPr>
            <a:xfrm>
              <a:off x="4811706" y="2379350"/>
              <a:ext cx="900000" cy="3600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売上販手</a:t>
              </a:r>
              <a:endParaRPr kumimoji="0" lang="en-US" altLang="ja-JP" sz="11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77" name="円柱 76">
              <a:extLst>
                <a:ext uri="{FF2B5EF4-FFF2-40B4-BE49-F238E27FC236}">
                  <a16:creationId xmlns:a16="http://schemas.microsoft.com/office/drawing/2014/main" id="{0341CB23-80AA-450B-B862-A267CE7D67AC}"/>
                </a:ext>
              </a:extLst>
            </p:cNvPr>
            <p:cNvSpPr/>
            <p:nvPr/>
          </p:nvSpPr>
          <p:spPr>
            <a:xfrm>
              <a:off x="3320959" y="3101690"/>
              <a:ext cx="770179" cy="360000"/>
            </a:xfrm>
            <a:prstGeom prst="can">
              <a:avLst/>
            </a:prstGeom>
            <a:solidFill>
              <a:schemeClr val="bg1">
                <a:lumMod val="85000"/>
              </a:schemeClr>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err="1">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Neko</a:t>
              </a:r>
              <a:endParaRPr kumimoji="0" lang="en-US" altLang="ja-JP" sz="10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cxnSp>
          <p:nvCxnSpPr>
            <p:cNvPr id="81" name="コネクタ: カギ線 80">
              <a:extLst>
                <a:ext uri="{FF2B5EF4-FFF2-40B4-BE49-F238E27FC236}">
                  <a16:creationId xmlns:a16="http://schemas.microsoft.com/office/drawing/2014/main" id="{CEAC502C-6DC0-4F02-AE34-F72517C688D0}"/>
                </a:ext>
              </a:extLst>
            </p:cNvPr>
            <p:cNvCxnSpPr>
              <a:cxnSpLocks/>
              <a:stCxn id="83" idx="4"/>
              <a:endCxn id="17" idx="1"/>
            </p:cNvCxnSpPr>
            <p:nvPr/>
          </p:nvCxnSpPr>
          <p:spPr>
            <a:xfrm>
              <a:off x="4091138" y="2165682"/>
              <a:ext cx="566933" cy="298881"/>
            </a:xfrm>
            <a:prstGeom prst="bentConnector3">
              <a:avLst>
                <a:gd name="adj1" fmla="val 50000"/>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3" name="円柱 82">
              <a:extLst>
                <a:ext uri="{FF2B5EF4-FFF2-40B4-BE49-F238E27FC236}">
                  <a16:creationId xmlns:a16="http://schemas.microsoft.com/office/drawing/2014/main" id="{BAB13AA0-6F4C-4639-951B-65FBF0921ADC}"/>
                </a:ext>
              </a:extLst>
            </p:cNvPr>
            <p:cNvSpPr/>
            <p:nvPr/>
          </p:nvSpPr>
          <p:spPr>
            <a:xfrm>
              <a:off x="3320959" y="1985682"/>
              <a:ext cx="770179" cy="3600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RIND</a:t>
              </a:r>
            </a:p>
          </p:txBody>
        </p:sp>
        <p:sp>
          <p:nvSpPr>
            <p:cNvPr id="84" name="円柱 83">
              <a:extLst>
                <a:ext uri="{FF2B5EF4-FFF2-40B4-BE49-F238E27FC236}">
                  <a16:creationId xmlns:a16="http://schemas.microsoft.com/office/drawing/2014/main" id="{54AE59B1-8234-4E65-B6F0-FD8EF6EC6F01}"/>
                </a:ext>
              </a:extLst>
            </p:cNvPr>
            <p:cNvSpPr/>
            <p:nvPr/>
          </p:nvSpPr>
          <p:spPr>
            <a:xfrm>
              <a:off x="3320959" y="2596903"/>
              <a:ext cx="770179" cy="3600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DB9</a:t>
              </a:r>
            </a:p>
          </p:txBody>
        </p:sp>
        <p:sp>
          <p:nvSpPr>
            <p:cNvPr id="88" name="Can 3">
              <a:extLst>
                <a:ext uri="{FF2B5EF4-FFF2-40B4-BE49-F238E27FC236}">
                  <a16:creationId xmlns:a16="http://schemas.microsoft.com/office/drawing/2014/main" id="{CE4F880F-8DA7-439C-951C-5A70CF64A9F5}"/>
                </a:ext>
              </a:extLst>
            </p:cNvPr>
            <p:cNvSpPr/>
            <p:nvPr/>
          </p:nvSpPr>
          <p:spPr>
            <a:xfrm>
              <a:off x="4811706" y="4514042"/>
              <a:ext cx="900000"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販売収入</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sp>
          <p:nvSpPr>
            <p:cNvPr id="89" name="Can 3">
              <a:extLst>
                <a:ext uri="{FF2B5EF4-FFF2-40B4-BE49-F238E27FC236}">
                  <a16:creationId xmlns:a16="http://schemas.microsoft.com/office/drawing/2014/main" id="{7E60B5D6-D646-4981-A9AD-7C0443C7505B}"/>
                </a:ext>
              </a:extLst>
            </p:cNvPr>
            <p:cNvSpPr/>
            <p:nvPr/>
          </p:nvSpPr>
          <p:spPr>
            <a:xfrm>
              <a:off x="4811706" y="4930266"/>
              <a:ext cx="900000"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伝票外</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sp>
          <p:nvSpPr>
            <p:cNvPr id="90" name="Can 3">
              <a:extLst>
                <a:ext uri="{FF2B5EF4-FFF2-40B4-BE49-F238E27FC236}">
                  <a16:creationId xmlns:a16="http://schemas.microsoft.com/office/drawing/2014/main" id="{ADBF7E5B-5829-45C6-9C94-4F30EFA30E73}"/>
                </a:ext>
              </a:extLst>
            </p:cNvPr>
            <p:cNvSpPr/>
            <p:nvPr/>
          </p:nvSpPr>
          <p:spPr>
            <a:xfrm>
              <a:off x="4811706" y="5346490"/>
              <a:ext cx="900000"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人員データ</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cxnSp>
          <p:nvCxnSpPr>
            <p:cNvPr id="142" name="直線矢印コネクタ 141">
              <a:extLst>
                <a:ext uri="{FF2B5EF4-FFF2-40B4-BE49-F238E27FC236}">
                  <a16:creationId xmlns:a16="http://schemas.microsoft.com/office/drawing/2014/main" id="{4F3596B7-0A3B-426A-8ECB-2D8948208326}"/>
                </a:ext>
              </a:extLst>
            </p:cNvPr>
            <p:cNvCxnSpPr>
              <a:cxnSpLocks/>
              <a:stCxn id="34" idx="4"/>
              <a:endCxn id="83" idx="2"/>
            </p:cNvCxnSpPr>
            <p:nvPr/>
          </p:nvCxnSpPr>
          <p:spPr>
            <a:xfrm flipV="1">
              <a:off x="2208517" y="2165682"/>
              <a:ext cx="1112442" cy="1"/>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直線矢印コネクタ 144">
              <a:extLst>
                <a:ext uri="{FF2B5EF4-FFF2-40B4-BE49-F238E27FC236}">
                  <a16:creationId xmlns:a16="http://schemas.microsoft.com/office/drawing/2014/main" id="{1BF84CF4-612C-470F-9BA8-4AAB82C6C109}"/>
                </a:ext>
              </a:extLst>
            </p:cNvPr>
            <p:cNvCxnSpPr>
              <a:cxnSpLocks/>
              <a:stCxn id="31" idx="4"/>
              <a:endCxn id="77" idx="2"/>
            </p:cNvCxnSpPr>
            <p:nvPr/>
          </p:nvCxnSpPr>
          <p:spPr>
            <a:xfrm>
              <a:off x="2208517" y="3279449"/>
              <a:ext cx="1112442" cy="2241"/>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直線矢印コネクタ 145">
              <a:extLst>
                <a:ext uri="{FF2B5EF4-FFF2-40B4-BE49-F238E27FC236}">
                  <a16:creationId xmlns:a16="http://schemas.microsoft.com/office/drawing/2014/main" id="{68E50D34-E7D9-44A3-ABC7-BDC91BB6A973}"/>
                </a:ext>
              </a:extLst>
            </p:cNvPr>
            <p:cNvCxnSpPr>
              <a:cxnSpLocks/>
              <a:stCxn id="16" idx="4"/>
              <a:endCxn id="84" idx="2"/>
            </p:cNvCxnSpPr>
            <p:nvPr/>
          </p:nvCxnSpPr>
          <p:spPr>
            <a:xfrm>
              <a:off x="2208517" y="2776903"/>
              <a:ext cx="1112442"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329BDBDD-3485-44B1-9795-80E2A43647E5}"/>
                </a:ext>
              </a:extLst>
            </p:cNvPr>
            <p:cNvSpPr/>
            <p:nvPr/>
          </p:nvSpPr>
          <p:spPr>
            <a:xfrm>
              <a:off x="900634" y="1494540"/>
              <a:ext cx="1644383" cy="5055130"/>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ja-JP" altLang="en-US" b="1">
                <a:solidFill>
                  <a:srgbClr val="C00000"/>
                </a:solidFill>
                <a:latin typeface="Meiryo UI" panose="020B0604030504040204" pitchFamily="50" charset="-128"/>
                <a:ea typeface="Meiryo UI" panose="020B0604030504040204" pitchFamily="50" charset="-128"/>
              </a:endParaRPr>
            </a:p>
          </p:txBody>
        </p:sp>
        <p:cxnSp>
          <p:nvCxnSpPr>
            <p:cNvPr id="111" name="コネクタ: カギ線 110">
              <a:extLst>
                <a:ext uri="{FF2B5EF4-FFF2-40B4-BE49-F238E27FC236}">
                  <a16:creationId xmlns:a16="http://schemas.microsoft.com/office/drawing/2014/main" id="{36DD10FA-9618-4B5E-A679-44C6FB23EE5D}"/>
                </a:ext>
              </a:extLst>
            </p:cNvPr>
            <p:cNvCxnSpPr>
              <a:cxnSpLocks/>
              <a:stCxn id="84" idx="4"/>
              <a:endCxn id="17" idx="1"/>
            </p:cNvCxnSpPr>
            <p:nvPr/>
          </p:nvCxnSpPr>
          <p:spPr>
            <a:xfrm flipV="1">
              <a:off x="4091138" y="2464563"/>
              <a:ext cx="566933" cy="312340"/>
            </a:xfrm>
            <a:prstGeom prst="bentConnector3">
              <a:avLst>
                <a:gd name="adj1" fmla="val 50000"/>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4" name="フローチャート: 書類 93">
              <a:extLst>
                <a:ext uri="{FF2B5EF4-FFF2-40B4-BE49-F238E27FC236}">
                  <a16:creationId xmlns:a16="http://schemas.microsoft.com/office/drawing/2014/main" id="{B0091A0F-92C4-44DA-BF02-1F30B244F5A6}"/>
                </a:ext>
              </a:extLst>
            </p:cNvPr>
            <p:cNvSpPr/>
            <p:nvPr/>
          </p:nvSpPr>
          <p:spPr>
            <a:xfrm>
              <a:off x="8309679" y="1602627"/>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PL</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帳票</a:t>
              </a: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/PL</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比較</a:t>
              </a:r>
            </a:p>
          </p:txBody>
        </p:sp>
        <p:sp>
          <p:nvSpPr>
            <p:cNvPr id="121" name="フローチャート: 書類 120">
              <a:extLst>
                <a:ext uri="{FF2B5EF4-FFF2-40B4-BE49-F238E27FC236}">
                  <a16:creationId xmlns:a16="http://schemas.microsoft.com/office/drawing/2014/main" id="{E7E19C64-FD95-43EE-898E-3CD40775CC37}"/>
                </a:ext>
              </a:extLst>
            </p:cNvPr>
            <p:cNvSpPr/>
            <p:nvPr/>
          </p:nvSpPr>
          <p:spPr>
            <a:xfrm>
              <a:off x="9676899" y="2615119"/>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販売組織別データ</a:t>
              </a:r>
            </a:p>
          </p:txBody>
        </p:sp>
        <p:sp>
          <p:nvSpPr>
            <p:cNvPr id="124" name="フローチャート: 書類 123">
              <a:extLst>
                <a:ext uri="{FF2B5EF4-FFF2-40B4-BE49-F238E27FC236}">
                  <a16:creationId xmlns:a16="http://schemas.microsoft.com/office/drawing/2014/main" id="{5B91E86A-8FE3-4863-A842-CC42B00CF286}"/>
                </a:ext>
              </a:extLst>
            </p:cNvPr>
            <p:cNvSpPr/>
            <p:nvPr/>
          </p:nvSpPr>
          <p:spPr>
            <a:xfrm>
              <a:off x="8292328" y="216673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科目明細</a:t>
              </a:r>
            </a:p>
          </p:txBody>
        </p:sp>
        <p:sp>
          <p:nvSpPr>
            <p:cNvPr id="127" name="フローチャート: 書類 126">
              <a:extLst>
                <a:ext uri="{FF2B5EF4-FFF2-40B4-BE49-F238E27FC236}">
                  <a16:creationId xmlns:a16="http://schemas.microsoft.com/office/drawing/2014/main" id="{F8CA9237-6C75-4082-AD94-B2FC012C6C16}"/>
                </a:ext>
              </a:extLst>
            </p:cNvPr>
            <p:cNvSpPr/>
            <p:nvPr/>
          </p:nvSpPr>
          <p:spPr>
            <a:xfrm>
              <a:off x="8292328" y="2615119"/>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売上販手明細</a:t>
              </a:r>
            </a:p>
          </p:txBody>
        </p:sp>
        <p:sp>
          <p:nvSpPr>
            <p:cNvPr id="131" name="フローチャート: 書類 130">
              <a:extLst>
                <a:ext uri="{FF2B5EF4-FFF2-40B4-BE49-F238E27FC236}">
                  <a16:creationId xmlns:a16="http://schemas.microsoft.com/office/drawing/2014/main" id="{6B742B55-EA06-493A-95A4-64B2E4F4BF10}"/>
                </a:ext>
              </a:extLst>
            </p:cNvPr>
            <p:cNvSpPr/>
            <p:nvPr/>
          </p:nvSpPr>
          <p:spPr>
            <a:xfrm>
              <a:off x="9676899" y="216673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原価明細</a:t>
              </a:r>
            </a:p>
          </p:txBody>
        </p:sp>
        <p:sp>
          <p:nvSpPr>
            <p:cNvPr id="135" name="フローチャート: 書類 134">
              <a:extLst>
                <a:ext uri="{FF2B5EF4-FFF2-40B4-BE49-F238E27FC236}">
                  <a16:creationId xmlns:a16="http://schemas.microsoft.com/office/drawing/2014/main" id="{91E07367-13D1-4789-B266-31FA64945DF9}"/>
                </a:ext>
              </a:extLst>
            </p:cNvPr>
            <p:cNvSpPr/>
            <p:nvPr/>
          </p:nvSpPr>
          <p:spPr>
            <a:xfrm>
              <a:off x="8292328" y="4097818"/>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CAPEX</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合算値</a:t>
              </a:r>
            </a:p>
          </p:txBody>
        </p:sp>
        <p:sp>
          <p:nvSpPr>
            <p:cNvPr id="138" name="フローチャート: 書類 137">
              <a:extLst>
                <a:ext uri="{FF2B5EF4-FFF2-40B4-BE49-F238E27FC236}">
                  <a16:creationId xmlns:a16="http://schemas.microsoft.com/office/drawing/2014/main" id="{B29C9185-B423-4CF6-AD09-33ED74D5A92E}"/>
                </a:ext>
              </a:extLst>
            </p:cNvPr>
            <p:cNvSpPr/>
            <p:nvPr/>
          </p:nvSpPr>
          <p:spPr>
            <a:xfrm>
              <a:off x="8324441" y="3101690"/>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業績一覧</a:t>
              </a:r>
            </a:p>
          </p:txBody>
        </p:sp>
        <p:sp>
          <p:nvSpPr>
            <p:cNvPr id="141" name="フローチャート: 書類 140">
              <a:extLst>
                <a:ext uri="{FF2B5EF4-FFF2-40B4-BE49-F238E27FC236}">
                  <a16:creationId xmlns:a16="http://schemas.microsoft.com/office/drawing/2014/main" id="{5355CD46-0D99-43AF-8532-697C03BAB2C4}"/>
                </a:ext>
              </a:extLst>
            </p:cNvPr>
            <p:cNvSpPr/>
            <p:nvPr/>
          </p:nvSpPr>
          <p:spPr>
            <a:xfrm>
              <a:off x="9676899" y="3556354"/>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IJ</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差額</a:t>
              </a:r>
            </a:p>
          </p:txBody>
        </p:sp>
        <p:sp>
          <p:nvSpPr>
            <p:cNvPr id="150" name="フローチャート: 書類 149">
              <a:extLst>
                <a:ext uri="{FF2B5EF4-FFF2-40B4-BE49-F238E27FC236}">
                  <a16:creationId xmlns:a16="http://schemas.microsoft.com/office/drawing/2014/main" id="{595034ED-E298-4950-B39C-C275366E4727}"/>
                </a:ext>
              </a:extLst>
            </p:cNvPr>
            <p:cNvSpPr/>
            <p:nvPr/>
          </p:nvSpPr>
          <p:spPr>
            <a:xfrm>
              <a:off x="8309679" y="5765573"/>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管理会計マスタ</a:t>
              </a:r>
            </a:p>
          </p:txBody>
        </p:sp>
        <p:sp>
          <p:nvSpPr>
            <p:cNvPr id="153" name="フローチャート: 書類 152">
              <a:extLst>
                <a:ext uri="{FF2B5EF4-FFF2-40B4-BE49-F238E27FC236}">
                  <a16:creationId xmlns:a16="http://schemas.microsoft.com/office/drawing/2014/main" id="{748D6ECD-8140-4EE9-BBF5-DC0145907298}"/>
                </a:ext>
              </a:extLst>
            </p:cNvPr>
            <p:cNvSpPr/>
            <p:nvPr/>
          </p:nvSpPr>
          <p:spPr>
            <a:xfrm>
              <a:off x="8309679" y="4514042"/>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販売収入明細</a:t>
              </a:r>
            </a:p>
          </p:txBody>
        </p:sp>
        <p:sp>
          <p:nvSpPr>
            <p:cNvPr id="156" name="フローチャート: 書類 155">
              <a:extLst>
                <a:ext uri="{FF2B5EF4-FFF2-40B4-BE49-F238E27FC236}">
                  <a16:creationId xmlns:a16="http://schemas.microsoft.com/office/drawing/2014/main" id="{5A433EE6-4BFD-4C8E-8B69-5133D4106036}"/>
                </a:ext>
              </a:extLst>
            </p:cNvPr>
            <p:cNvSpPr/>
            <p:nvPr/>
          </p:nvSpPr>
          <p:spPr>
            <a:xfrm>
              <a:off x="8309679" y="493026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伝票外明細</a:t>
              </a:r>
            </a:p>
          </p:txBody>
        </p:sp>
        <p:sp>
          <p:nvSpPr>
            <p:cNvPr id="160" name="フローチャート: 書類 159">
              <a:extLst>
                <a:ext uri="{FF2B5EF4-FFF2-40B4-BE49-F238E27FC236}">
                  <a16:creationId xmlns:a16="http://schemas.microsoft.com/office/drawing/2014/main" id="{B646825E-F1AE-4947-932E-379E50333F28}"/>
                </a:ext>
              </a:extLst>
            </p:cNvPr>
            <p:cNvSpPr/>
            <p:nvPr/>
          </p:nvSpPr>
          <p:spPr>
            <a:xfrm>
              <a:off x="8309679" y="5346490"/>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人員数</a:t>
              </a:r>
            </a:p>
          </p:txBody>
        </p:sp>
        <p:cxnSp>
          <p:nvCxnSpPr>
            <p:cNvPr id="167" name="コネクタ: カギ線 166">
              <a:extLst>
                <a:ext uri="{FF2B5EF4-FFF2-40B4-BE49-F238E27FC236}">
                  <a16:creationId xmlns:a16="http://schemas.microsoft.com/office/drawing/2014/main" id="{250EFF66-8E17-4DD3-A142-CB0D8B3A19C2}"/>
                </a:ext>
              </a:extLst>
            </p:cNvPr>
            <p:cNvCxnSpPr>
              <a:cxnSpLocks/>
              <a:stCxn id="17" idx="3"/>
              <a:endCxn id="293" idx="1"/>
            </p:cNvCxnSpPr>
            <p:nvPr/>
          </p:nvCxnSpPr>
          <p:spPr>
            <a:xfrm flipV="1">
              <a:off x="5902917" y="1777763"/>
              <a:ext cx="2237624" cy="686800"/>
            </a:xfrm>
            <a:prstGeom prst="bentConnector3">
              <a:avLst>
                <a:gd name="adj1" fmla="val 50000"/>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2" name="フローチャート: 書類 171">
              <a:extLst>
                <a:ext uri="{FF2B5EF4-FFF2-40B4-BE49-F238E27FC236}">
                  <a16:creationId xmlns:a16="http://schemas.microsoft.com/office/drawing/2014/main" id="{0F816D91-E3F6-4D8B-A6C4-1385486A9FC8}"/>
                </a:ext>
              </a:extLst>
            </p:cNvPr>
            <p:cNvSpPr/>
            <p:nvPr/>
          </p:nvSpPr>
          <p:spPr>
            <a:xfrm>
              <a:off x="1103488" y="3681594"/>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合算値</a:t>
              </a:r>
            </a:p>
          </p:txBody>
        </p:sp>
        <p:sp>
          <p:nvSpPr>
            <p:cNvPr id="175" name="フローチャート: 書類 174">
              <a:extLst>
                <a:ext uri="{FF2B5EF4-FFF2-40B4-BE49-F238E27FC236}">
                  <a16:creationId xmlns:a16="http://schemas.microsoft.com/office/drawing/2014/main" id="{CC8223A8-8A58-4197-913B-9D19EFE5DE99}"/>
                </a:ext>
              </a:extLst>
            </p:cNvPr>
            <p:cNvSpPr/>
            <p:nvPr/>
          </p:nvSpPr>
          <p:spPr>
            <a:xfrm>
              <a:off x="2971108" y="617893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kumimoji="1" lang="ja-JP" altLang="en-US" sz="12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マスタメンテナンス</a:t>
              </a:r>
            </a:p>
          </p:txBody>
        </p:sp>
        <p:sp>
          <p:nvSpPr>
            <p:cNvPr id="179" name="フローチャート: 書類 178">
              <a:extLst>
                <a:ext uri="{FF2B5EF4-FFF2-40B4-BE49-F238E27FC236}">
                  <a16:creationId xmlns:a16="http://schemas.microsoft.com/office/drawing/2014/main" id="{D51E975B-2D64-405B-BB3A-BAAC53F83984}"/>
                </a:ext>
              </a:extLst>
            </p:cNvPr>
            <p:cNvSpPr/>
            <p:nvPr/>
          </p:nvSpPr>
          <p:spPr>
            <a:xfrm>
              <a:off x="1092122" y="4097818"/>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CAPEX</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合算値</a:t>
              </a:r>
            </a:p>
          </p:txBody>
        </p:sp>
        <p:cxnSp>
          <p:nvCxnSpPr>
            <p:cNvPr id="185" name="直線矢印コネクタ 184">
              <a:extLst>
                <a:ext uri="{FF2B5EF4-FFF2-40B4-BE49-F238E27FC236}">
                  <a16:creationId xmlns:a16="http://schemas.microsoft.com/office/drawing/2014/main" id="{196B02D0-8D5A-4FEA-AEEB-9B03279F71C3}"/>
                </a:ext>
              </a:extLst>
            </p:cNvPr>
            <p:cNvCxnSpPr>
              <a:cxnSpLocks/>
              <a:stCxn id="172" idx="3"/>
              <a:endCxn id="32" idx="2"/>
            </p:cNvCxnSpPr>
            <p:nvPr/>
          </p:nvCxnSpPr>
          <p:spPr>
            <a:xfrm>
              <a:off x="2365685" y="3861594"/>
              <a:ext cx="2446021"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直線矢印コネクタ 213">
              <a:extLst>
                <a:ext uri="{FF2B5EF4-FFF2-40B4-BE49-F238E27FC236}">
                  <a16:creationId xmlns:a16="http://schemas.microsoft.com/office/drawing/2014/main" id="{4D29C901-97FB-4DD9-9943-CEEF835306BD}"/>
                </a:ext>
              </a:extLst>
            </p:cNvPr>
            <p:cNvCxnSpPr>
              <a:cxnSpLocks/>
              <a:stCxn id="179" idx="3"/>
              <a:endCxn id="33" idx="2"/>
            </p:cNvCxnSpPr>
            <p:nvPr/>
          </p:nvCxnSpPr>
          <p:spPr>
            <a:xfrm>
              <a:off x="2354319" y="4277818"/>
              <a:ext cx="245738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2" name="フローチャート: 書類 251">
              <a:extLst>
                <a:ext uri="{FF2B5EF4-FFF2-40B4-BE49-F238E27FC236}">
                  <a16:creationId xmlns:a16="http://schemas.microsoft.com/office/drawing/2014/main" id="{7D775C2F-A981-4B7E-8C31-064D74CC1C13}"/>
                </a:ext>
              </a:extLst>
            </p:cNvPr>
            <p:cNvSpPr/>
            <p:nvPr/>
          </p:nvSpPr>
          <p:spPr>
            <a:xfrm>
              <a:off x="1092122" y="4514042"/>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販売収入データ</a:t>
              </a:r>
            </a:p>
          </p:txBody>
        </p:sp>
        <p:sp>
          <p:nvSpPr>
            <p:cNvPr id="255" name="フローチャート: 書類 254">
              <a:extLst>
                <a:ext uri="{FF2B5EF4-FFF2-40B4-BE49-F238E27FC236}">
                  <a16:creationId xmlns:a16="http://schemas.microsoft.com/office/drawing/2014/main" id="{8B18E0A3-1906-4898-A767-3ADA7A1DC6EC}"/>
                </a:ext>
              </a:extLst>
            </p:cNvPr>
            <p:cNvSpPr/>
            <p:nvPr/>
          </p:nvSpPr>
          <p:spPr>
            <a:xfrm>
              <a:off x="1092122" y="493026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伝票外データ</a:t>
              </a:r>
            </a:p>
          </p:txBody>
        </p:sp>
        <p:sp>
          <p:nvSpPr>
            <p:cNvPr id="258" name="フローチャート: 書類 257">
              <a:extLst>
                <a:ext uri="{FF2B5EF4-FFF2-40B4-BE49-F238E27FC236}">
                  <a16:creationId xmlns:a16="http://schemas.microsoft.com/office/drawing/2014/main" id="{409487E7-2BBD-4F36-911E-EFDC70FAD3C4}"/>
                </a:ext>
              </a:extLst>
            </p:cNvPr>
            <p:cNvSpPr/>
            <p:nvPr/>
          </p:nvSpPr>
          <p:spPr>
            <a:xfrm>
              <a:off x="1092122" y="5346490"/>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人員データ</a:t>
              </a:r>
            </a:p>
          </p:txBody>
        </p:sp>
        <p:cxnSp>
          <p:nvCxnSpPr>
            <p:cNvPr id="277" name="直線矢印コネクタ 276">
              <a:extLst>
                <a:ext uri="{FF2B5EF4-FFF2-40B4-BE49-F238E27FC236}">
                  <a16:creationId xmlns:a16="http://schemas.microsoft.com/office/drawing/2014/main" id="{575FFAC8-D798-4A62-9511-4FCA5C479917}"/>
                </a:ext>
              </a:extLst>
            </p:cNvPr>
            <p:cNvCxnSpPr>
              <a:cxnSpLocks/>
              <a:stCxn id="252" idx="3"/>
              <a:endCxn id="88" idx="2"/>
            </p:cNvCxnSpPr>
            <p:nvPr/>
          </p:nvCxnSpPr>
          <p:spPr>
            <a:xfrm>
              <a:off x="2354319" y="4694042"/>
              <a:ext cx="245738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0" name="直線矢印コネクタ 279">
              <a:extLst>
                <a:ext uri="{FF2B5EF4-FFF2-40B4-BE49-F238E27FC236}">
                  <a16:creationId xmlns:a16="http://schemas.microsoft.com/office/drawing/2014/main" id="{B4B0C5B4-2393-44E9-A842-F373648C3453}"/>
                </a:ext>
              </a:extLst>
            </p:cNvPr>
            <p:cNvCxnSpPr>
              <a:cxnSpLocks/>
              <a:stCxn id="255" idx="3"/>
              <a:endCxn id="89" idx="2"/>
            </p:cNvCxnSpPr>
            <p:nvPr/>
          </p:nvCxnSpPr>
          <p:spPr>
            <a:xfrm>
              <a:off x="2354319" y="5110266"/>
              <a:ext cx="245738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1" name="直線矢印コネクタ 280">
              <a:extLst>
                <a:ext uri="{FF2B5EF4-FFF2-40B4-BE49-F238E27FC236}">
                  <a16:creationId xmlns:a16="http://schemas.microsoft.com/office/drawing/2014/main" id="{D45716DC-325C-4F6C-9C8F-AAEF11A5529B}"/>
                </a:ext>
              </a:extLst>
            </p:cNvPr>
            <p:cNvCxnSpPr>
              <a:cxnSpLocks/>
              <a:stCxn id="258" idx="3"/>
              <a:endCxn id="90" idx="2"/>
            </p:cNvCxnSpPr>
            <p:nvPr/>
          </p:nvCxnSpPr>
          <p:spPr>
            <a:xfrm>
              <a:off x="2354319" y="5526490"/>
              <a:ext cx="245738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7" name="直線矢印コネクタ 286">
              <a:extLst>
                <a:ext uri="{FF2B5EF4-FFF2-40B4-BE49-F238E27FC236}">
                  <a16:creationId xmlns:a16="http://schemas.microsoft.com/office/drawing/2014/main" id="{D2272830-B39E-48F8-91EF-C53FFD30E7C8}"/>
                </a:ext>
              </a:extLst>
            </p:cNvPr>
            <p:cNvCxnSpPr>
              <a:cxnSpLocks/>
              <a:stCxn id="372" idx="3"/>
              <a:endCxn id="30" idx="2"/>
            </p:cNvCxnSpPr>
            <p:nvPr/>
          </p:nvCxnSpPr>
          <p:spPr>
            <a:xfrm>
              <a:off x="2354319" y="5945573"/>
              <a:ext cx="245738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3" name="直線矢印コネクタ 352">
              <a:extLst>
                <a:ext uri="{FF2B5EF4-FFF2-40B4-BE49-F238E27FC236}">
                  <a16:creationId xmlns:a16="http://schemas.microsoft.com/office/drawing/2014/main" id="{AC85142C-0408-4344-9C39-1B246AEDC311}"/>
                </a:ext>
              </a:extLst>
            </p:cNvPr>
            <p:cNvCxnSpPr>
              <a:cxnSpLocks/>
              <a:stCxn id="88" idx="4"/>
              <a:endCxn id="153" idx="1"/>
            </p:cNvCxnSpPr>
            <p:nvPr/>
          </p:nvCxnSpPr>
          <p:spPr>
            <a:xfrm>
              <a:off x="5711706" y="4694042"/>
              <a:ext cx="2597973"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7" name="直線矢印コネクタ 356">
              <a:extLst>
                <a:ext uri="{FF2B5EF4-FFF2-40B4-BE49-F238E27FC236}">
                  <a16:creationId xmlns:a16="http://schemas.microsoft.com/office/drawing/2014/main" id="{24CC0190-8654-448F-8495-DA313E039023}"/>
                </a:ext>
              </a:extLst>
            </p:cNvPr>
            <p:cNvCxnSpPr>
              <a:cxnSpLocks/>
              <a:stCxn id="89" idx="4"/>
              <a:endCxn id="156" idx="1"/>
            </p:cNvCxnSpPr>
            <p:nvPr/>
          </p:nvCxnSpPr>
          <p:spPr>
            <a:xfrm>
              <a:off x="5711706" y="5110266"/>
              <a:ext cx="2597973"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8" name="直線矢印コネクタ 357">
              <a:extLst>
                <a:ext uri="{FF2B5EF4-FFF2-40B4-BE49-F238E27FC236}">
                  <a16:creationId xmlns:a16="http://schemas.microsoft.com/office/drawing/2014/main" id="{68CFE05F-7C6B-4F11-8D31-F9BCE79209C5}"/>
                </a:ext>
              </a:extLst>
            </p:cNvPr>
            <p:cNvCxnSpPr>
              <a:cxnSpLocks/>
              <a:stCxn id="90" idx="4"/>
              <a:endCxn id="160" idx="1"/>
            </p:cNvCxnSpPr>
            <p:nvPr/>
          </p:nvCxnSpPr>
          <p:spPr>
            <a:xfrm>
              <a:off x="5711706" y="5526490"/>
              <a:ext cx="2597973"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3" name="直線矢印コネクタ 362">
              <a:extLst>
                <a:ext uri="{FF2B5EF4-FFF2-40B4-BE49-F238E27FC236}">
                  <a16:creationId xmlns:a16="http://schemas.microsoft.com/office/drawing/2014/main" id="{CE7C805F-C002-432C-A784-E65CD5BDD73C}"/>
                </a:ext>
              </a:extLst>
            </p:cNvPr>
            <p:cNvCxnSpPr>
              <a:cxnSpLocks/>
              <a:stCxn id="30" idx="4"/>
              <a:endCxn id="150" idx="1"/>
            </p:cNvCxnSpPr>
            <p:nvPr/>
          </p:nvCxnSpPr>
          <p:spPr>
            <a:xfrm>
              <a:off x="5711706" y="5945573"/>
              <a:ext cx="2597973"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2" name="フローチャート: 書類 371">
              <a:extLst>
                <a:ext uri="{FF2B5EF4-FFF2-40B4-BE49-F238E27FC236}">
                  <a16:creationId xmlns:a16="http://schemas.microsoft.com/office/drawing/2014/main" id="{C238032D-6926-4429-9445-C9ECCE8A743A}"/>
                </a:ext>
              </a:extLst>
            </p:cNvPr>
            <p:cNvSpPr/>
            <p:nvPr/>
          </p:nvSpPr>
          <p:spPr>
            <a:xfrm>
              <a:off x="1092122" y="5765573"/>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組織</a:t>
              </a:r>
              <a:r>
                <a:rPr lang="en-US" altLang="ja-JP" sz="11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CD/</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商品</a:t>
              </a:r>
              <a:r>
                <a:rPr lang="en-US" altLang="ja-JP" sz="11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CD</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更新データ</a:t>
              </a:r>
              <a:endParaRPr kumimoji="1" lang="ja-JP" altLang="en-US" sz="12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cxnSp>
          <p:nvCxnSpPr>
            <p:cNvPr id="383" name="コネクタ: カギ線 382">
              <a:extLst>
                <a:ext uri="{FF2B5EF4-FFF2-40B4-BE49-F238E27FC236}">
                  <a16:creationId xmlns:a16="http://schemas.microsoft.com/office/drawing/2014/main" id="{732F3ED9-3D43-4F72-9DA7-EACC134DDC15}"/>
                </a:ext>
              </a:extLst>
            </p:cNvPr>
            <p:cNvCxnSpPr>
              <a:cxnSpLocks/>
              <a:stCxn id="17" idx="3"/>
              <a:endCxn id="270" idx="1"/>
            </p:cNvCxnSpPr>
            <p:nvPr/>
          </p:nvCxnSpPr>
          <p:spPr>
            <a:xfrm>
              <a:off x="5902917" y="2464563"/>
              <a:ext cx="2237624" cy="101235"/>
            </a:xfrm>
            <a:prstGeom prst="bentConnector3">
              <a:avLst>
                <a:gd name="adj1" fmla="val 50000"/>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コネクタ: カギ線 163">
              <a:extLst>
                <a:ext uri="{FF2B5EF4-FFF2-40B4-BE49-F238E27FC236}">
                  <a16:creationId xmlns:a16="http://schemas.microsoft.com/office/drawing/2014/main" id="{3BBFA43C-633F-4F05-97F4-323959AD2F57}"/>
                </a:ext>
              </a:extLst>
            </p:cNvPr>
            <p:cNvCxnSpPr>
              <a:cxnSpLocks/>
            </p:cNvCxnSpPr>
            <p:nvPr/>
          </p:nvCxnSpPr>
          <p:spPr>
            <a:xfrm rot="5400000" flipH="1" flipV="1">
              <a:off x="6120686" y="2681859"/>
              <a:ext cx="2916000" cy="1107808"/>
            </a:xfrm>
            <a:prstGeom prst="bentConnector2">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0" name="左大かっこ 269">
              <a:extLst>
                <a:ext uri="{FF2B5EF4-FFF2-40B4-BE49-F238E27FC236}">
                  <a16:creationId xmlns:a16="http://schemas.microsoft.com/office/drawing/2014/main" id="{1BE41E9C-A8B5-4064-80E0-D0DC7FEFDBD0}"/>
                </a:ext>
              </a:extLst>
            </p:cNvPr>
            <p:cNvSpPr/>
            <p:nvPr/>
          </p:nvSpPr>
          <p:spPr>
            <a:xfrm>
              <a:off x="8140541" y="2176018"/>
              <a:ext cx="68808" cy="779559"/>
            </a:xfrm>
            <a:prstGeom prst="leftBracket">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accent4">
                    <a:lumMod val="65000"/>
                    <a:lumOff val="35000"/>
                  </a:schemeClr>
                </a:solidFill>
                <a:latin typeface="Meiryo UI" panose="020B0604030504040204" pitchFamily="50" charset="-128"/>
                <a:ea typeface="Meiryo UI" panose="020B0604030504040204" pitchFamily="50" charset="-128"/>
              </a:endParaRPr>
            </a:p>
          </p:txBody>
        </p:sp>
        <p:cxnSp>
          <p:nvCxnSpPr>
            <p:cNvPr id="289" name="直線矢印コネクタ 288">
              <a:extLst>
                <a:ext uri="{FF2B5EF4-FFF2-40B4-BE49-F238E27FC236}">
                  <a16:creationId xmlns:a16="http://schemas.microsoft.com/office/drawing/2014/main" id="{2923C72F-E0F5-42EB-B055-AFC429E4EBE3}"/>
                </a:ext>
              </a:extLst>
            </p:cNvPr>
            <p:cNvCxnSpPr>
              <a:cxnSpLocks/>
              <a:stCxn id="33" idx="4"/>
              <a:endCxn id="135" idx="1"/>
            </p:cNvCxnSpPr>
            <p:nvPr/>
          </p:nvCxnSpPr>
          <p:spPr>
            <a:xfrm>
              <a:off x="5711706" y="4277818"/>
              <a:ext cx="2580622"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1" name="フローチャート: 書類 290">
              <a:extLst>
                <a:ext uri="{FF2B5EF4-FFF2-40B4-BE49-F238E27FC236}">
                  <a16:creationId xmlns:a16="http://schemas.microsoft.com/office/drawing/2014/main" id="{D0ECC191-4AA0-41AF-B23E-5FB2C2EE1245}"/>
                </a:ext>
              </a:extLst>
            </p:cNvPr>
            <p:cNvSpPr/>
            <p:nvPr/>
          </p:nvSpPr>
          <p:spPr>
            <a:xfrm>
              <a:off x="9676899" y="1602627"/>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PL</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データ</a:t>
              </a:r>
            </a:p>
          </p:txBody>
        </p:sp>
        <p:sp>
          <p:nvSpPr>
            <p:cNvPr id="293" name="左大かっこ 292">
              <a:extLst>
                <a:ext uri="{FF2B5EF4-FFF2-40B4-BE49-F238E27FC236}">
                  <a16:creationId xmlns:a16="http://schemas.microsoft.com/office/drawing/2014/main" id="{E4CBA0D0-C315-4C57-B45A-10ED3B6268E7}"/>
                </a:ext>
              </a:extLst>
            </p:cNvPr>
            <p:cNvSpPr/>
            <p:nvPr/>
          </p:nvSpPr>
          <p:spPr>
            <a:xfrm>
              <a:off x="8140541" y="1552652"/>
              <a:ext cx="86103" cy="450222"/>
            </a:xfrm>
            <a:prstGeom prst="leftBracket">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accent4">
                    <a:lumMod val="65000"/>
                    <a:lumOff val="35000"/>
                  </a:schemeClr>
                </a:solidFill>
                <a:latin typeface="Meiryo UI" panose="020B0604030504040204" pitchFamily="50" charset="-128"/>
                <a:ea typeface="Meiryo UI" panose="020B0604030504040204" pitchFamily="50" charset="-128"/>
              </a:endParaRPr>
            </a:p>
          </p:txBody>
        </p:sp>
        <p:cxnSp>
          <p:nvCxnSpPr>
            <p:cNvPr id="295" name="直線矢印コネクタ 294">
              <a:extLst>
                <a:ext uri="{FF2B5EF4-FFF2-40B4-BE49-F238E27FC236}">
                  <a16:creationId xmlns:a16="http://schemas.microsoft.com/office/drawing/2014/main" id="{E6032891-65A4-47D6-ABE7-82F32890D3E5}"/>
                </a:ext>
              </a:extLst>
            </p:cNvPr>
            <p:cNvCxnSpPr>
              <a:cxnSpLocks/>
              <a:stCxn id="77" idx="4"/>
              <a:endCxn id="235" idx="2"/>
            </p:cNvCxnSpPr>
            <p:nvPr/>
          </p:nvCxnSpPr>
          <p:spPr>
            <a:xfrm>
              <a:off x="4091138" y="3281690"/>
              <a:ext cx="185191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7EC14536-0D4A-61DF-4ED5-E34D82C583C9}"/>
                </a:ext>
              </a:extLst>
            </p:cNvPr>
            <p:cNvCxnSpPr>
              <a:cxnSpLocks/>
              <a:stCxn id="30" idx="4"/>
              <a:endCxn id="29" idx="1"/>
            </p:cNvCxnSpPr>
            <p:nvPr/>
          </p:nvCxnSpPr>
          <p:spPr>
            <a:xfrm>
              <a:off x="5711706" y="5945573"/>
              <a:ext cx="2612735" cy="413363"/>
            </a:xfrm>
            <a:prstGeom prst="bentConnector3">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フローチャート: 書類 28">
              <a:extLst>
                <a:ext uri="{FF2B5EF4-FFF2-40B4-BE49-F238E27FC236}">
                  <a16:creationId xmlns:a16="http://schemas.microsoft.com/office/drawing/2014/main" id="{F2480DBC-292A-67F0-3044-BF1013553DD7}"/>
                </a:ext>
              </a:extLst>
            </p:cNvPr>
            <p:cNvSpPr/>
            <p:nvPr/>
          </p:nvSpPr>
          <p:spPr>
            <a:xfrm>
              <a:off x="8324441" y="617893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CGU</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マスタ</a:t>
              </a:r>
            </a:p>
          </p:txBody>
        </p:sp>
        <p:sp>
          <p:nvSpPr>
            <p:cNvPr id="228" name="フローチャート: 書類 227">
              <a:extLst>
                <a:ext uri="{FF2B5EF4-FFF2-40B4-BE49-F238E27FC236}">
                  <a16:creationId xmlns:a16="http://schemas.microsoft.com/office/drawing/2014/main" id="{B3032012-AF92-A476-4794-7906C8A577C0}"/>
                </a:ext>
              </a:extLst>
            </p:cNvPr>
            <p:cNvSpPr/>
            <p:nvPr/>
          </p:nvSpPr>
          <p:spPr>
            <a:xfrm>
              <a:off x="8326613" y="3599754"/>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固定資産明細</a:t>
              </a:r>
            </a:p>
          </p:txBody>
        </p:sp>
        <p:sp>
          <p:nvSpPr>
            <p:cNvPr id="243" name="正方形/長方形 242">
              <a:extLst>
                <a:ext uri="{FF2B5EF4-FFF2-40B4-BE49-F238E27FC236}">
                  <a16:creationId xmlns:a16="http://schemas.microsoft.com/office/drawing/2014/main" id="{6B894AD1-B1D1-7BA0-2D67-9E352D46D050}"/>
                </a:ext>
              </a:extLst>
            </p:cNvPr>
            <p:cNvSpPr/>
            <p:nvPr/>
          </p:nvSpPr>
          <p:spPr>
            <a:xfrm>
              <a:off x="900432" y="1494540"/>
              <a:ext cx="1644383" cy="5055130"/>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ja-JP" altLang="en-US" b="1">
                <a:solidFill>
                  <a:srgbClr val="C00000"/>
                </a:solidFill>
                <a:latin typeface="Meiryo UI" panose="020B0604030504040204" pitchFamily="50" charset="-128"/>
                <a:ea typeface="Meiryo UI" panose="020B0604030504040204" pitchFamily="50" charset="-128"/>
              </a:endParaRPr>
            </a:p>
          </p:txBody>
        </p:sp>
        <p:cxnSp>
          <p:nvCxnSpPr>
            <p:cNvPr id="245" name="直線矢印コネクタ 244">
              <a:extLst>
                <a:ext uri="{FF2B5EF4-FFF2-40B4-BE49-F238E27FC236}">
                  <a16:creationId xmlns:a16="http://schemas.microsoft.com/office/drawing/2014/main" id="{8238C61D-8D66-14B9-4AE3-2C7C86F48FAF}"/>
                </a:ext>
              </a:extLst>
            </p:cNvPr>
            <p:cNvCxnSpPr>
              <a:cxnSpLocks/>
              <a:stCxn id="29" idx="3"/>
              <a:endCxn id="248" idx="1"/>
            </p:cNvCxnSpPr>
            <p:nvPr/>
          </p:nvCxnSpPr>
          <p:spPr>
            <a:xfrm flipV="1">
              <a:off x="9586638" y="6354590"/>
              <a:ext cx="467855" cy="4346"/>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8" name="テキスト ボックス 247">
              <a:extLst>
                <a:ext uri="{FF2B5EF4-FFF2-40B4-BE49-F238E27FC236}">
                  <a16:creationId xmlns:a16="http://schemas.microsoft.com/office/drawing/2014/main" id="{F5DF9B71-E036-1BB8-2C0D-DC313DEE2F89}"/>
                </a:ext>
              </a:extLst>
            </p:cNvPr>
            <p:cNvSpPr txBox="1"/>
            <p:nvPr/>
          </p:nvSpPr>
          <p:spPr bwMode="auto">
            <a:xfrm>
              <a:off x="10054493" y="6216090"/>
              <a:ext cx="1012831" cy="276999"/>
            </a:xfrm>
            <a:prstGeom prst="rect">
              <a:avLst/>
            </a:prstGeom>
            <a:noFill/>
            <a:ln w="9525">
              <a:noFill/>
              <a:miter lim="800000"/>
              <a:headEnd/>
              <a:tailEnd/>
            </a:ln>
          </p:spPr>
          <p:txBody>
            <a:bodyPr wrap="square" rtlCol="0">
              <a:spAutoFit/>
            </a:bodyPr>
            <a:lstStyle/>
            <a:p>
              <a:pPr algn="l"/>
              <a:r>
                <a:rPr lang="en-US" altLang="ja-JP" sz="1200" u="sng">
                  <a:solidFill>
                    <a:schemeClr val="accent4">
                      <a:lumMod val="65000"/>
                      <a:lumOff val="35000"/>
                    </a:schemeClr>
                  </a:solidFill>
                  <a:latin typeface="Meiryo UI" panose="020B0604030504040204" pitchFamily="34" charset="-128"/>
                  <a:ea typeface="Meiryo UI" panose="020B0604030504040204" pitchFamily="34" charset="-128"/>
                  <a:cs typeface="メイリオ"/>
                </a:rPr>
                <a:t>NEXUS</a:t>
              </a:r>
              <a:r>
                <a:rPr kumimoji="1" lang="ja-JP" altLang="en-US" sz="1200" u="sng">
                  <a:solidFill>
                    <a:schemeClr val="accent4">
                      <a:lumMod val="65000"/>
                      <a:lumOff val="35000"/>
                    </a:schemeClr>
                  </a:solidFill>
                  <a:latin typeface="Meiryo UI" panose="020B0604030504040204" pitchFamily="34" charset="-128"/>
                  <a:ea typeface="Meiryo UI" panose="020B0604030504040204" pitchFamily="34" charset="-128"/>
                  <a:cs typeface="メイリオ"/>
                </a:rPr>
                <a:t>へ</a:t>
              </a:r>
            </a:p>
          </p:txBody>
        </p:sp>
        <p:sp>
          <p:nvSpPr>
            <p:cNvPr id="408" name="テキスト ボックス 407">
              <a:extLst>
                <a:ext uri="{FF2B5EF4-FFF2-40B4-BE49-F238E27FC236}">
                  <a16:creationId xmlns:a16="http://schemas.microsoft.com/office/drawing/2014/main" id="{AA8B9E18-0888-4717-ADDE-D23D033FC362}"/>
                </a:ext>
              </a:extLst>
            </p:cNvPr>
            <p:cNvSpPr txBox="1">
              <a:spLocks noChangeArrowheads="1"/>
            </p:cNvSpPr>
            <p:nvPr/>
          </p:nvSpPr>
          <p:spPr bwMode="auto">
            <a:xfrm>
              <a:off x="739196" y="1355330"/>
              <a:ext cx="1182068" cy="315218"/>
            </a:xfrm>
            <a:prstGeom prst="rect">
              <a:avLst/>
            </a:prstGeom>
            <a:solidFill>
              <a:schemeClr val="bg1">
                <a:lumMod val="50000"/>
              </a:schemeClr>
            </a:solidFill>
            <a:ln w="9525" cap="flat" cmpd="sng" algn="ctr">
              <a:noFill/>
              <a:prstDash val="solid"/>
              <a:round/>
              <a:headEnd type="none" w="med" len="med"/>
              <a:tailEnd type="none" w="med" len="med"/>
            </a:ln>
            <a:effectLst/>
          </p:spPr>
          <p:txBody>
            <a:bodyPr wrap="square" lIns="0" tIns="36000" rIns="0" bIns="36000" anchor="t"/>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600" b="0">
                  <a:solidFill>
                    <a:schemeClr val="bg1"/>
                  </a:solidFill>
                </a:rPr>
                <a:t>取得元データ</a:t>
              </a:r>
              <a:endParaRPr lang="en-US" altLang="ja-JP" sz="1600" b="0">
                <a:solidFill>
                  <a:schemeClr val="bg1"/>
                </a:solidFill>
              </a:endParaRPr>
            </a:p>
          </p:txBody>
        </p:sp>
        <p:sp>
          <p:nvSpPr>
            <p:cNvPr id="409" name="正方形/長方形 408">
              <a:extLst>
                <a:ext uri="{FF2B5EF4-FFF2-40B4-BE49-F238E27FC236}">
                  <a16:creationId xmlns:a16="http://schemas.microsoft.com/office/drawing/2014/main" id="{12C15C43-ED4E-4864-BD1F-24BF9C9238F7}"/>
                </a:ext>
              </a:extLst>
            </p:cNvPr>
            <p:cNvSpPr/>
            <p:nvPr/>
          </p:nvSpPr>
          <p:spPr>
            <a:xfrm>
              <a:off x="2819486" y="1494540"/>
              <a:ext cx="8531714" cy="5055130"/>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4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grpSp>
          <p:nvGrpSpPr>
            <p:cNvPr id="366" name="グループ化 365">
              <a:extLst>
                <a:ext uri="{FF2B5EF4-FFF2-40B4-BE49-F238E27FC236}">
                  <a16:creationId xmlns:a16="http://schemas.microsoft.com/office/drawing/2014/main" id="{0F1ECB9D-D321-4898-9B5C-E4BA219209A5}"/>
                </a:ext>
              </a:extLst>
            </p:cNvPr>
            <p:cNvGrpSpPr/>
            <p:nvPr/>
          </p:nvGrpSpPr>
          <p:grpSpPr>
            <a:xfrm>
              <a:off x="2682798" y="1321719"/>
              <a:ext cx="1457124" cy="315218"/>
              <a:chOff x="10142260" y="2860024"/>
              <a:chExt cx="1457124" cy="315218"/>
            </a:xfrm>
          </p:grpSpPr>
          <p:pic>
            <p:nvPicPr>
              <p:cNvPr id="368" name="図 367" descr="アイコン&#10;&#10;中程度の精度で自動的に生成された説明">
                <a:extLst>
                  <a:ext uri="{FF2B5EF4-FFF2-40B4-BE49-F238E27FC236}">
                    <a16:creationId xmlns:a16="http://schemas.microsoft.com/office/drawing/2014/main" id="{AD41E742-AED7-4F00-B804-D44670B479B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9662" t="17421" r="21938" b="16765"/>
              <a:stretch/>
            </p:blipFill>
            <p:spPr>
              <a:xfrm>
                <a:off x="10142260" y="2865508"/>
                <a:ext cx="317546" cy="304034"/>
              </a:xfrm>
              <a:prstGeom prst="rect">
                <a:avLst/>
              </a:prstGeom>
            </p:spPr>
          </p:pic>
          <p:sp>
            <p:nvSpPr>
              <p:cNvPr id="367" name="テキスト ボックス 366">
                <a:extLst>
                  <a:ext uri="{FF2B5EF4-FFF2-40B4-BE49-F238E27FC236}">
                    <a16:creationId xmlns:a16="http://schemas.microsoft.com/office/drawing/2014/main" id="{D7E67A5D-FC50-4DAB-A4CE-CFDD2F80E52B}"/>
                  </a:ext>
                </a:extLst>
              </p:cNvPr>
              <p:cNvSpPr txBox="1">
                <a:spLocks noChangeArrowheads="1"/>
              </p:cNvSpPr>
              <p:nvPr/>
            </p:nvSpPr>
            <p:spPr bwMode="auto">
              <a:xfrm>
                <a:off x="10417316" y="2860024"/>
                <a:ext cx="1182068" cy="315218"/>
              </a:xfrm>
              <a:prstGeom prst="rect">
                <a:avLst/>
              </a:prstGeom>
              <a:solidFill>
                <a:srgbClr val="FF7C80"/>
              </a:solidFill>
              <a:ln w="9525" cap="flat" cmpd="sng" algn="ctr">
                <a:noFill/>
                <a:prstDash val="solid"/>
                <a:round/>
                <a:headEnd type="none" w="med" len="med"/>
                <a:tailEnd type="none" w="med" len="med"/>
              </a:ln>
              <a:effectLst/>
            </p:spPr>
            <p:txBody>
              <a:bodyPr wrap="square" lIns="0" tIns="36000" rIns="0" bIns="36000" anchor="t"/>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600" b="0">
                    <a:solidFill>
                      <a:schemeClr val="bg1"/>
                    </a:solidFill>
                  </a:rPr>
                  <a:t>RETMAS</a:t>
                </a:r>
              </a:p>
            </p:txBody>
          </p:sp>
        </p:grpSp>
        <p:sp>
          <p:nvSpPr>
            <p:cNvPr id="235" name="Can 3">
              <a:extLst>
                <a:ext uri="{FF2B5EF4-FFF2-40B4-BE49-F238E27FC236}">
                  <a16:creationId xmlns:a16="http://schemas.microsoft.com/office/drawing/2014/main" id="{B5A00650-3DB0-AD51-C123-9F77485500F6}"/>
                </a:ext>
              </a:extLst>
            </p:cNvPr>
            <p:cNvSpPr/>
            <p:nvPr/>
          </p:nvSpPr>
          <p:spPr>
            <a:xfrm>
              <a:off x="5943055" y="3101690"/>
              <a:ext cx="906813"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業績</a:t>
              </a:r>
              <a:r>
                <a:rPr kumimoji="0"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/CAPEX</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cxnSp>
          <p:nvCxnSpPr>
            <p:cNvPr id="241" name="直線矢印コネクタ 240">
              <a:extLst>
                <a:ext uri="{FF2B5EF4-FFF2-40B4-BE49-F238E27FC236}">
                  <a16:creationId xmlns:a16="http://schemas.microsoft.com/office/drawing/2014/main" id="{D6C3EA02-75CF-8530-AA1C-9EDDFF0FDC3D}"/>
                </a:ext>
              </a:extLst>
            </p:cNvPr>
            <p:cNvCxnSpPr>
              <a:cxnSpLocks/>
              <a:stCxn id="235" idx="4"/>
              <a:endCxn id="138" idx="1"/>
            </p:cNvCxnSpPr>
            <p:nvPr/>
          </p:nvCxnSpPr>
          <p:spPr>
            <a:xfrm>
              <a:off x="6849868" y="3281690"/>
              <a:ext cx="1474573"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コネクタ: カギ線 48">
              <a:extLst>
                <a:ext uri="{FF2B5EF4-FFF2-40B4-BE49-F238E27FC236}">
                  <a16:creationId xmlns:a16="http://schemas.microsoft.com/office/drawing/2014/main" id="{C30C9556-C451-51AB-405D-C7D09E5621DF}"/>
                </a:ext>
              </a:extLst>
            </p:cNvPr>
            <p:cNvCxnSpPr>
              <a:cxnSpLocks/>
              <a:stCxn id="77" idx="4"/>
              <a:endCxn id="228" idx="1"/>
            </p:cNvCxnSpPr>
            <p:nvPr/>
          </p:nvCxnSpPr>
          <p:spPr>
            <a:xfrm>
              <a:off x="4091138" y="3281690"/>
              <a:ext cx="4235475" cy="498064"/>
            </a:xfrm>
            <a:prstGeom prst="bentConnector3">
              <a:avLst>
                <a:gd name="adj1" fmla="val 40205"/>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2" name="直線矢印コネクタ 261">
              <a:extLst>
                <a:ext uri="{FF2B5EF4-FFF2-40B4-BE49-F238E27FC236}">
                  <a16:creationId xmlns:a16="http://schemas.microsoft.com/office/drawing/2014/main" id="{3569BA36-7EC9-A92C-FF59-096DD5D82EB6}"/>
                </a:ext>
              </a:extLst>
            </p:cNvPr>
            <p:cNvCxnSpPr>
              <a:cxnSpLocks/>
              <a:endCxn id="235" idx="1"/>
            </p:cNvCxnSpPr>
            <p:nvPr/>
          </p:nvCxnSpPr>
          <p:spPr>
            <a:xfrm>
              <a:off x="6396462" y="2464186"/>
              <a:ext cx="0" cy="637504"/>
            </a:xfrm>
            <a:prstGeom prst="straightConnector1">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0" name="グループ化 9">
              <a:extLst>
                <a:ext uri="{FF2B5EF4-FFF2-40B4-BE49-F238E27FC236}">
                  <a16:creationId xmlns:a16="http://schemas.microsoft.com/office/drawing/2014/main" id="{AA1601C4-C053-A3B1-2FE3-356743443EBD}"/>
                </a:ext>
              </a:extLst>
            </p:cNvPr>
            <p:cNvGrpSpPr/>
            <p:nvPr/>
          </p:nvGrpSpPr>
          <p:grpSpPr>
            <a:xfrm>
              <a:off x="1152516" y="1877008"/>
              <a:ext cx="1164141" cy="577349"/>
              <a:chOff x="1047718" y="2012480"/>
              <a:chExt cx="1164141" cy="577349"/>
            </a:xfrm>
          </p:grpSpPr>
          <p:sp>
            <p:nvSpPr>
              <p:cNvPr id="34" name="円柱 33">
                <a:extLst>
                  <a:ext uri="{FF2B5EF4-FFF2-40B4-BE49-F238E27FC236}">
                    <a16:creationId xmlns:a16="http://schemas.microsoft.com/office/drawing/2014/main" id="{A66A9DFE-61BC-49FF-9F6C-8ECD8AFD531E}"/>
                  </a:ext>
                </a:extLst>
              </p:cNvPr>
              <p:cNvSpPr/>
              <p:nvPr/>
            </p:nvSpPr>
            <p:spPr>
              <a:xfrm>
                <a:off x="1155857" y="2012480"/>
                <a:ext cx="947862" cy="577349"/>
              </a:xfrm>
              <a:prstGeom prst="can">
                <a:avLst/>
              </a:prstGeom>
              <a:solidFill>
                <a:srgbClr val="E7F3FF"/>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ts val="1000"/>
                  </a:lnSpc>
                  <a:spcBef>
                    <a:spcPct val="0"/>
                  </a:spcBef>
                  <a:spcAft>
                    <a:spcPct val="0"/>
                  </a:spcAft>
                  <a:buClrTx/>
                  <a:buSzTx/>
                  <a:buFontTx/>
                  <a:buNone/>
                  <a:tabLst/>
                  <a:defRPr/>
                </a:pPr>
                <a:r>
                  <a:rPr kumimoji="0" lang="en-US" altLang="ja-JP" sz="10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RIND</a:t>
                </a:r>
              </a:p>
              <a:p>
                <a:pPr marL="0" marR="0" lvl="0" indent="0" algn="ctr" defTabSz="914400" eaLnBrk="1" fontAlgn="base" latinLnBrk="0" hangingPunct="1">
                  <a:lnSpc>
                    <a:spcPts val="1000"/>
                  </a:lnSpc>
                  <a:spcBef>
                    <a:spcPct val="0"/>
                  </a:spcBef>
                  <a:spcAft>
                    <a:spcPct val="0"/>
                  </a:spcAft>
                  <a:buClrTx/>
                  <a:buSzTx/>
                  <a:buFontTx/>
                  <a:buNone/>
                  <a:tabLst/>
                  <a:defRPr/>
                </a:pPr>
                <a:r>
                  <a:rPr kumimoji="0" lang="ja-JP" altLang="en-US" sz="10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a:t>
                </a:r>
                <a:r>
                  <a:rPr kumimoji="0" lang="en-US" altLang="ja-JP" sz="1000" b="1" kern="0"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21</a:t>
                </a:r>
                <a:r>
                  <a:rPr kumimoji="0"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view)</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6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 </a:t>
                </a:r>
                <a:endParaRPr kumimoji="0" lang="en-US" altLang="ja-JP" sz="8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3" name="正方形/長方形 12">
                <a:extLst>
                  <a:ext uri="{FF2B5EF4-FFF2-40B4-BE49-F238E27FC236}">
                    <a16:creationId xmlns:a16="http://schemas.microsoft.com/office/drawing/2014/main" id="{5FC09216-EB7F-6472-A430-0CF141C3F87E}"/>
                  </a:ext>
                </a:extLst>
              </p:cNvPr>
              <p:cNvSpPr/>
              <p:nvPr/>
            </p:nvSpPr>
            <p:spPr>
              <a:xfrm>
                <a:off x="1047718" y="2414438"/>
                <a:ext cx="1164141" cy="137442"/>
              </a:xfrm>
              <a:prstGeom prst="rect">
                <a:avLst/>
              </a:prstGeom>
              <a:solidFill>
                <a:srgbClr val="FFCCFF"/>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900" b="1" dirty="0">
                    <a:solidFill>
                      <a:srgbClr val="C00000"/>
                    </a:solidFill>
                    <a:latin typeface="Meiryo UI" panose="020B0604030504040204" pitchFamily="50" charset="-128"/>
                    <a:ea typeface="Meiryo UI" panose="020B0604030504040204" pitchFamily="50" charset="-128"/>
                    <a:cs typeface="Hiragino Kaku Gothic Pro W3" charset="-128"/>
                  </a:rPr>
                  <a:t>※14view</a:t>
                </a:r>
                <a:r>
                  <a:rPr lang="ja-JP" altLang="en-US" sz="900" b="1" dirty="0">
                    <a:solidFill>
                      <a:srgbClr val="C00000"/>
                    </a:solidFill>
                    <a:latin typeface="Meiryo UI" panose="020B0604030504040204" pitchFamily="50" charset="-128"/>
                    <a:ea typeface="Meiryo UI" panose="020B0604030504040204" pitchFamily="50" charset="-128"/>
                    <a:cs typeface="Hiragino Kaku Gothic Pro W3" charset="-128"/>
                  </a:rPr>
                  <a:t>が変更有</a:t>
                </a:r>
                <a:endParaRPr lang="en-US" altLang="ja-JP" sz="900" b="1" dirty="0">
                  <a:solidFill>
                    <a:srgbClr val="C00000"/>
                  </a:solidFill>
                  <a:latin typeface="Meiryo UI" panose="020B0604030504040204" pitchFamily="50" charset="-128"/>
                  <a:ea typeface="Meiryo UI" panose="020B0604030504040204" pitchFamily="50" charset="-128"/>
                  <a:cs typeface="Hiragino Kaku Gothic Pro W3" charset="-128"/>
                </a:endParaRPr>
              </a:p>
            </p:txBody>
          </p:sp>
        </p:grpSp>
        <p:grpSp>
          <p:nvGrpSpPr>
            <p:cNvPr id="8" name="グループ化 7">
              <a:extLst>
                <a:ext uri="{FF2B5EF4-FFF2-40B4-BE49-F238E27FC236}">
                  <a16:creationId xmlns:a16="http://schemas.microsoft.com/office/drawing/2014/main" id="{224F7F32-A093-1EF0-0F42-4A6E5207221F}"/>
                </a:ext>
              </a:extLst>
            </p:cNvPr>
            <p:cNvGrpSpPr/>
            <p:nvPr/>
          </p:nvGrpSpPr>
          <p:grpSpPr>
            <a:xfrm>
              <a:off x="1152516" y="2488903"/>
              <a:ext cx="1164141" cy="576000"/>
              <a:chOff x="1047718" y="2624375"/>
              <a:chExt cx="1164141" cy="576000"/>
            </a:xfrm>
          </p:grpSpPr>
          <p:sp>
            <p:nvSpPr>
              <p:cNvPr id="16" name="円柱 15">
                <a:extLst>
                  <a:ext uri="{FF2B5EF4-FFF2-40B4-BE49-F238E27FC236}">
                    <a16:creationId xmlns:a16="http://schemas.microsoft.com/office/drawing/2014/main" id="{799DB035-788A-4554-B15D-1C128871C9F3}"/>
                  </a:ext>
                </a:extLst>
              </p:cNvPr>
              <p:cNvSpPr/>
              <p:nvPr/>
            </p:nvSpPr>
            <p:spPr>
              <a:xfrm>
                <a:off x="1155857" y="2624375"/>
                <a:ext cx="947862" cy="576000"/>
              </a:xfrm>
              <a:prstGeom prst="can">
                <a:avLst/>
              </a:prstGeom>
              <a:solidFill>
                <a:srgbClr val="E7F3FF"/>
              </a:solidFill>
              <a:ln w="9525" cap="flat" cmpd="sng" algn="ctr">
                <a:solidFill>
                  <a:srgbClr val="FFFFFF">
                    <a:lumMod val="65000"/>
                  </a:srgbClr>
                </a:solidFill>
                <a:prstDash val="solid"/>
              </a:ln>
              <a:effectLst/>
            </p:spPr>
            <p:txBody>
              <a:bodyPr vert="horz" wrap="none" lIns="36000" rIns="36000" rtlCol="0" anchor="ctr"/>
              <a:lstStyle/>
              <a:p>
                <a:pPr algn="ctr" fontAlgn="base">
                  <a:lnSpc>
                    <a:spcPts val="1000"/>
                  </a:lnSpc>
                  <a:spcBef>
                    <a:spcPct val="0"/>
                  </a:spcBef>
                  <a:spcAft>
                    <a:spcPct val="0"/>
                  </a:spcAft>
                  <a:defRPr/>
                </a:pPr>
                <a:r>
                  <a:rPr kumimoji="0"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rPr>
                  <a:t>DB9</a:t>
                </a:r>
              </a:p>
              <a:p>
                <a:pPr algn="ctr" fontAlgn="base">
                  <a:lnSpc>
                    <a:spcPts val="1000"/>
                  </a:lnSpc>
                  <a:spcBef>
                    <a:spcPct val="0"/>
                  </a:spcBef>
                  <a:spcAft>
                    <a:spcPct val="0"/>
                  </a:spcAft>
                  <a:defRPr/>
                </a:pPr>
                <a:r>
                  <a:rPr kumimoji="0"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rPr>
                  <a:t>(</a:t>
                </a:r>
                <a:r>
                  <a:rPr kumimoji="0" lang="en-US" altLang="ja-JP" sz="1000" b="1" kern="0" dirty="0">
                    <a:solidFill>
                      <a:schemeClr val="accent4">
                        <a:lumMod val="65000"/>
                        <a:lumOff val="35000"/>
                      </a:schemeClr>
                    </a:solidFill>
                    <a:latin typeface="Meiryo UI" panose="020B0604030504040204" pitchFamily="50" charset="-128"/>
                    <a:ea typeface="Meiryo UI" panose="020B0604030504040204" pitchFamily="50" charset="-128"/>
                  </a:rPr>
                  <a:t>4</a:t>
                </a:r>
                <a:r>
                  <a:rPr kumimoji="0"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rPr>
                  <a:t>view)</a:t>
                </a:r>
                <a:br>
                  <a:rPr kumimoji="0"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rPr>
                </a:br>
                <a:r>
                  <a:rPr kumimoji="0" lang="en-US" altLang="ja-JP" sz="100" kern="0" dirty="0">
                    <a:solidFill>
                      <a:schemeClr val="accent4">
                        <a:lumMod val="65000"/>
                        <a:lumOff val="35000"/>
                      </a:schemeClr>
                    </a:solidFill>
                    <a:latin typeface="Meiryo UI" panose="020B0604030504040204" pitchFamily="50" charset="-128"/>
                    <a:ea typeface="Meiryo UI" panose="020B0604030504040204" pitchFamily="50" charset="-128"/>
                  </a:rPr>
                  <a:t> </a:t>
                </a:r>
                <a:endParaRPr kumimoji="0" lang="en-US" altLang="ja-JP" sz="1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5" name="正方形/長方形 14">
                <a:extLst>
                  <a:ext uri="{FF2B5EF4-FFF2-40B4-BE49-F238E27FC236}">
                    <a16:creationId xmlns:a16="http://schemas.microsoft.com/office/drawing/2014/main" id="{846F3CC2-F20C-2525-2ED8-3C83D03963EB}"/>
                  </a:ext>
                </a:extLst>
              </p:cNvPr>
              <p:cNvSpPr/>
              <p:nvPr/>
            </p:nvSpPr>
            <p:spPr>
              <a:xfrm>
                <a:off x="1047718" y="3047110"/>
                <a:ext cx="1164141" cy="137442"/>
              </a:xfrm>
              <a:prstGeom prst="rect">
                <a:avLst/>
              </a:prstGeom>
              <a:solidFill>
                <a:srgbClr val="FFCCFF"/>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900" b="1">
                    <a:solidFill>
                      <a:srgbClr val="C00000"/>
                    </a:solidFill>
                    <a:latin typeface="Meiryo UI" panose="020B0604030504040204" pitchFamily="50" charset="-128"/>
                    <a:ea typeface="Meiryo UI" panose="020B0604030504040204" pitchFamily="50" charset="-128"/>
                    <a:cs typeface="Hiragino Kaku Gothic Pro W3" charset="-128"/>
                  </a:rPr>
                  <a:t>※1view</a:t>
                </a:r>
                <a:r>
                  <a:rPr lang="ja-JP" altLang="en-US" sz="900" b="1">
                    <a:solidFill>
                      <a:srgbClr val="C00000"/>
                    </a:solidFill>
                    <a:latin typeface="Meiryo UI" panose="020B0604030504040204" pitchFamily="50" charset="-128"/>
                    <a:ea typeface="Meiryo UI" panose="020B0604030504040204" pitchFamily="50" charset="-128"/>
                    <a:cs typeface="Hiragino Kaku Gothic Pro W3" charset="-128"/>
                  </a:rPr>
                  <a:t>が変更有</a:t>
                </a:r>
                <a:endParaRPr lang="en-US" altLang="ja-JP" sz="900" b="1">
                  <a:solidFill>
                    <a:srgbClr val="C00000"/>
                  </a:solidFill>
                  <a:latin typeface="Meiryo UI" panose="020B0604030504040204" pitchFamily="50" charset="-128"/>
                  <a:ea typeface="Meiryo UI" panose="020B0604030504040204" pitchFamily="50" charset="-128"/>
                  <a:cs typeface="Hiragino Kaku Gothic Pro W3" charset="-128"/>
                </a:endParaRPr>
              </a:p>
            </p:txBody>
          </p:sp>
        </p:grpSp>
        <p:cxnSp>
          <p:nvCxnSpPr>
            <p:cNvPr id="246" name="コネクタ: カギ線 245">
              <a:extLst>
                <a:ext uri="{FF2B5EF4-FFF2-40B4-BE49-F238E27FC236}">
                  <a16:creationId xmlns:a16="http://schemas.microsoft.com/office/drawing/2014/main" id="{89E41EC1-AE81-E598-3607-C9B2848B7C23}"/>
                </a:ext>
              </a:extLst>
            </p:cNvPr>
            <p:cNvCxnSpPr>
              <a:cxnSpLocks/>
              <a:stCxn id="32" idx="4"/>
              <a:endCxn id="90" idx="4"/>
            </p:cNvCxnSpPr>
            <p:nvPr/>
          </p:nvCxnSpPr>
          <p:spPr>
            <a:xfrm>
              <a:off x="5711706" y="3861594"/>
              <a:ext cx="12700" cy="1664896"/>
            </a:xfrm>
            <a:prstGeom prst="bentConnector3">
              <a:avLst>
                <a:gd name="adj1" fmla="val 1800000"/>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7" name="スライド番号プレースホルダー 3">
            <a:extLst>
              <a:ext uri="{FF2B5EF4-FFF2-40B4-BE49-F238E27FC236}">
                <a16:creationId xmlns:a16="http://schemas.microsoft.com/office/drawing/2014/main" id="{437BF3E5-3A6E-AB96-518B-8326C55B6208}"/>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21</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591778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Concur</a:t>
            </a:r>
            <a:r>
              <a:rPr lang="ja-JP" altLang="en-US" kern="0" dirty="0"/>
              <a:t>系）②</a:t>
            </a:r>
          </a:p>
        </p:txBody>
      </p:sp>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22</a:t>
            </a:fld>
            <a:endParaRPr lang="en-US" altLang="ja-JP"/>
          </a:p>
        </p:txBody>
      </p:sp>
      <p:grpSp>
        <p:nvGrpSpPr>
          <p:cNvPr id="6" name="グループ化 5">
            <a:extLst>
              <a:ext uri="{FF2B5EF4-FFF2-40B4-BE49-F238E27FC236}">
                <a16:creationId xmlns:a16="http://schemas.microsoft.com/office/drawing/2014/main" id="{51859698-238F-D69E-C095-C97DA2A253B2}"/>
              </a:ext>
            </a:extLst>
          </p:cNvPr>
          <p:cNvGrpSpPr/>
          <p:nvPr/>
        </p:nvGrpSpPr>
        <p:grpSpPr>
          <a:xfrm>
            <a:off x="186827" y="1460389"/>
            <a:ext cx="11818591" cy="2046669"/>
            <a:chOff x="245335" y="1460389"/>
            <a:chExt cx="11701575" cy="2046669"/>
          </a:xfrm>
        </p:grpSpPr>
        <p:grpSp>
          <p:nvGrpSpPr>
            <p:cNvPr id="8" name="グループ化 7">
              <a:extLst>
                <a:ext uri="{FF2B5EF4-FFF2-40B4-BE49-F238E27FC236}">
                  <a16:creationId xmlns:a16="http://schemas.microsoft.com/office/drawing/2014/main" id="{75F384A2-7ED5-E67B-6A9B-731259E97185}"/>
                </a:ext>
              </a:extLst>
            </p:cNvPr>
            <p:cNvGrpSpPr/>
            <p:nvPr/>
          </p:nvGrpSpPr>
          <p:grpSpPr>
            <a:xfrm>
              <a:off x="1005851" y="1770730"/>
              <a:ext cx="1561349" cy="212291"/>
              <a:chOff x="4709497" y="955750"/>
              <a:chExt cx="3307096" cy="243392"/>
            </a:xfrm>
            <a:effectLst/>
          </p:grpSpPr>
          <p:sp>
            <p:nvSpPr>
              <p:cNvPr id="9" name="テキスト ボックス 8">
                <a:extLst>
                  <a:ext uri="{FF2B5EF4-FFF2-40B4-BE49-F238E27FC236}">
                    <a16:creationId xmlns:a16="http://schemas.microsoft.com/office/drawing/2014/main" id="{CB0DC411-BBDD-1A35-207D-75BA79AB52F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 name="直線コネクタ 9">
                <a:extLst>
                  <a:ext uri="{FF2B5EF4-FFF2-40B4-BE49-F238E27FC236}">
                    <a16:creationId xmlns:a16="http://schemas.microsoft.com/office/drawing/2014/main" id="{BDC424A1-CA35-84B9-627E-C99A2B3ACB0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11" name="グループ化 10">
              <a:extLst>
                <a:ext uri="{FF2B5EF4-FFF2-40B4-BE49-F238E27FC236}">
                  <a16:creationId xmlns:a16="http://schemas.microsoft.com/office/drawing/2014/main" id="{9F84DD77-B936-B973-9F68-227644C34AB0}"/>
                </a:ext>
              </a:extLst>
            </p:cNvPr>
            <p:cNvGrpSpPr/>
            <p:nvPr/>
          </p:nvGrpSpPr>
          <p:grpSpPr>
            <a:xfrm>
              <a:off x="2637095" y="1770730"/>
              <a:ext cx="2452946" cy="212291"/>
              <a:chOff x="4709497" y="955750"/>
              <a:chExt cx="3307096" cy="243392"/>
            </a:xfrm>
            <a:effectLst/>
          </p:grpSpPr>
          <p:sp>
            <p:nvSpPr>
              <p:cNvPr id="12" name="テキスト ボックス 11">
                <a:extLst>
                  <a:ext uri="{FF2B5EF4-FFF2-40B4-BE49-F238E27FC236}">
                    <a16:creationId xmlns:a16="http://schemas.microsoft.com/office/drawing/2014/main" id="{AEB316A0-97B9-25F5-2128-2A7708F1773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3" name="直線コネクタ 12">
                <a:extLst>
                  <a:ext uri="{FF2B5EF4-FFF2-40B4-BE49-F238E27FC236}">
                    <a16:creationId xmlns:a16="http://schemas.microsoft.com/office/drawing/2014/main" id="{4A474DB0-BB86-AFB1-9440-F81F73AF9D9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2" name="グループ化 21">
              <a:extLst>
                <a:ext uri="{FF2B5EF4-FFF2-40B4-BE49-F238E27FC236}">
                  <a16:creationId xmlns:a16="http://schemas.microsoft.com/office/drawing/2014/main" id="{5CF2BC56-B5D0-F978-7A9A-12F177437CA5}"/>
                </a:ext>
              </a:extLst>
            </p:cNvPr>
            <p:cNvGrpSpPr/>
            <p:nvPr/>
          </p:nvGrpSpPr>
          <p:grpSpPr>
            <a:xfrm>
              <a:off x="5159935" y="1460389"/>
              <a:ext cx="6786975" cy="212291"/>
              <a:chOff x="4709497" y="955750"/>
              <a:chExt cx="3307096" cy="243392"/>
            </a:xfrm>
            <a:effectLst/>
          </p:grpSpPr>
          <p:sp>
            <p:nvSpPr>
              <p:cNvPr id="25" name="テキスト ボックス 24">
                <a:extLst>
                  <a:ext uri="{FF2B5EF4-FFF2-40B4-BE49-F238E27FC236}">
                    <a16:creationId xmlns:a16="http://schemas.microsoft.com/office/drawing/2014/main" id="{96EDBBBD-40EC-FADD-39C1-47A9D94D5955}"/>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6" name="直線コネクタ 25">
                <a:extLst>
                  <a:ext uri="{FF2B5EF4-FFF2-40B4-BE49-F238E27FC236}">
                    <a16:creationId xmlns:a16="http://schemas.microsoft.com/office/drawing/2014/main" id="{4D46CBC8-958E-9881-2B9E-56746913018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9" name="グループ化 28">
              <a:extLst>
                <a:ext uri="{FF2B5EF4-FFF2-40B4-BE49-F238E27FC236}">
                  <a16:creationId xmlns:a16="http://schemas.microsoft.com/office/drawing/2014/main" id="{DD2B4EDB-5269-7C33-D286-0C0461ABA752}"/>
                </a:ext>
              </a:extLst>
            </p:cNvPr>
            <p:cNvGrpSpPr/>
            <p:nvPr/>
          </p:nvGrpSpPr>
          <p:grpSpPr>
            <a:xfrm>
              <a:off x="5651004" y="1770730"/>
              <a:ext cx="421172" cy="212291"/>
              <a:chOff x="4709497" y="955750"/>
              <a:chExt cx="3307096" cy="243392"/>
            </a:xfrm>
            <a:effectLst/>
          </p:grpSpPr>
          <p:sp>
            <p:nvSpPr>
              <p:cNvPr id="30" name="テキスト ボックス 29">
                <a:extLst>
                  <a:ext uri="{FF2B5EF4-FFF2-40B4-BE49-F238E27FC236}">
                    <a16:creationId xmlns:a16="http://schemas.microsoft.com/office/drawing/2014/main" id="{4C9C9D59-AD80-3021-2772-C1AEFCA0BE4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1" name="直線コネクタ 30">
                <a:extLst>
                  <a:ext uri="{FF2B5EF4-FFF2-40B4-BE49-F238E27FC236}">
                    <a16:creationId xmlns:a16="http://schemas.microsoft.com/office/drawing/2014/main" id="{6E3DE8EF-DD6A-B71E-5C86-A4462A6ECBE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7" name="グループ化 36">
              <a:extLst>
                <a:ext uri="{FF2B5EF4-FFF2-40B4-BE49-F238E27FC236}">
                  <a16:creationId xmlns:a16="http://schemas.microsoft.com/office/drawing/2014/main" id="{F9846079-A6E1-3E4C-C5EF-628118184A42}"/>
                </a:ext>
              </a:extLst>
            </p:cNvPr>
            <p:cNvGrpSpPr/>
            <p:nvPr/>
          </p:nvGrpSpPr>
          <p:grpSpPr>
            <a:xfrm>
              <a:off x="5159936" y="1766917"/>
              <a:ext cx="421172" cy="212291"/>
              <a:chOff x="4709497" y="955750"/>
              <a:chExt cx="3307096" cy="243392"/>
            </a:xfrm>
            <a:effectLst/>
          </p:grpSpPr>
          <p:sp>
            <p:nvSpPr>
              <p:cNvPr id="45" name="テキスト ボックス 44">
                <a:extLst>
                  <a:ext uri="{FF2B5EF4-FFF2-40B4-BE49-F238E27FC236}">
                    <a16:creationId xmlns:a16="http://schemas.microsoft.com/office/drawing/2014/main" id="{15ECC45D-E8E8-A23C-8535-E13246C4972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9" name="直線コネクタ 58">
                <a:extLst>
                  <a:ext uri="{FF2B5EF4-FFF2-40B4-BE49-F238E27FC236}">
                    <a16:creationId xmlns:a16="http://schemas.microsoft.com/office/drawing/2014/main" id="{DAA7CE31-CFFF-F050-C1CD-C5EA74F6AA7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0" name="グループ化 59">
              <a:extLst>
                <a:ext uri="{FF2B5EF4-FFF2-40B4-BE49-F238E27FC236}">
                  <a16:creationId xmlns:a16="http://schemas.microsoft.com/office/drawing/2014/main" id="{03781C1D-40C4-6F82-1EC3-6E7FE455C510}"/>
                </a:ext>
              </a:extLst>
            </p:cNvPr>
            <p:cNvGrpSpPr/>
            <p:nvPr/>
          </p:nvGrpSpPr>
          <p:grpSpPr>
            <a:xfrm>
              <a:off x="6142071" y="1766917"/>
              <a:ext cx="3291523" cy="212291"/>
              <a:chOff x="4709497" y="955750"/>
              <a:chExt cx="3307096" cy="243392"/>
            </a:xfrm>
            <a:effectLst/>
          </p:grpSpPr>
          <p:sp>
            <p:nvSpPr>
              <p:cNvPr id="69" name="テキスト ボックス 68">
                <a:extLst>
                  <a:ext uri="{FF2B5EF4-FFF2-40B4-BE49-F238E27FC236}">
                    <a16:creationId xmlns:a16="http://schemas.microsoft.com/office/drawing/2014/main" id="{245F569D-C916-2C02-ADD9-5F5488337F0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0" name="直線コネクタ 69">
                <a:extLst>
                  <a:ext uri="{FF2B5EF4-FFF2-40B4-BE49-F238E27FC236}">
                    <a16:creationId xmlns:a16="http://schemas.microsoft.com/office/drawing/2014/main" id="{3010F604-A175-83C6-2CE3-D8BF10D544A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1" name="グループ化 70">
              <a:extLst>
                <a:ext uri="{FF2B5EF4-FFF2-40B4-BE49-F238E27FC236}">
                  <a16:creationId xmlns:a16="http://schemas.microsoft.com/office/drawing/2014/main" id="{C57839A9-6A4F-5FEC-8859-9ED2BCD6BFEF}"/>
                </a:ext>
              </a:extLst>
            </p:cNvPr>
            <p:cNvGrpSpPr/>
            <p:nvPr/>
          </p:nvGrpSpPr>
          <p:grpSpPr>
            <a:xfrm>
              <a:off x="9493964" y="1770730"/>
              <a:ext cx="2452946" cy="212291"/>
              <a:chOff x="4709497" y="955750"/>
              <a:chExt cx="3307096" cy="243392"/>
            </a:xfrm>
            <a:effectLst/>
          </p:grpSpPr>
          <p:sp>
            <p:nvSpPr>
              <p:cNvPr id="72" name="テキスト ボックス 71">
                <a:extLst>
                  <a:ext uri="{FF2B5EF4-FFF2-40B4-BE49-F238E27FC236}">
                    <a16:creationId xmlns:a16="http://schemas.microsoft.com/office/drawing/2014/main" id="{1110641C-8B07-FBA2-E391-F5204250FCC9}"/>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3" name="直線コネクタ 72">
                <a:extLst>
                  <a:ext uri="{FF2B5EF4-FFF2-40B4-BE49-F238E27FC236}">
                    <a16:creationId xmlns:a16="http://schemas.microsoft.com/office/drawing/2014/main" id="{D6ACBE5A-C791-AF31-0DA3-813959F53D1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88" name="正方形/長方形 87">
              <a:extLst>
                <a:ext uri="{FF2B5EF4-FFF2-40B4-BE49-F238E27FC236}">
                  <a16:creationId xmlns:a16="http://schemas.microsoft.com/office/drawing/2014/main" id="{6C9C806A-1212-5714-3B4C-51F610412B37}"/>
                </a:ext>
              </a:extLst>
            </p:cNvPr>
            <p:cNvSpPr/>
            <p:nvPr/>
          </p:nvSpPr>
          <p:spPr>
            <a:xfrm>
              <a:off x="1005851" y="2574821"/>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支払依頼取込結果</a:t>
              </a:r>
              <a:br>
                <a:rPr lang="en-US" altLang="zh-TW" sz="1200" b="1">
                  <a:solidFill>
                    <a:schemeClr val="tx1">
                      <a:lumMod val="75000"/>
                      <a:lumOff val="25000"/>
                    </a:schemeClr>
                  </a:solidFill>
                  <a:latin typeface="Meiryo UI" panose="020B0604030504040204" pitchFamily="50" charset="-128"/>
                  <a:ea typeface="Meiryo UI" panose="020B0604030504040204" pitchFamily="50" charset="-128"/>
                </a:rPr>
              </a:b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9" name="正方形/長方形 88">
              <a:extLst>
                <a:ext uri="{FF2B5EF4-FFF2-40B4-BE49-F238E27FC236}">
                  <a16:creationId xmlns:a16="http://schemas.microsoft.com/office/drawing/2014/main" id="{B3879882-99CF-E254-2DE6-AA0D847F72FB}"/>
                </a:ext>
              </a:extLst>
            </p:cNvPr>
            <p:cNvSpPr/>
            <p:nvPr/>
          </p:nvSpPr>
          <p:spPr>
            <a:xfrm>
              <a:off x="2637095" y="2574821"/>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元が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連携頻度が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時間に</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回に増加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FE6031BE-91BF-EFFA-6134-3115B2DC9FD6}"/>
                </a:ext>
              </a:extLst>
            </p:cNvPr>
            <p:cNvSpPr/>
            <p:nvPr/>
          </p:nvSpPr>
          <p:spPr>
            <a:xfrm>
              <a:off x="5159936" y="2574821"/>
              <a:ext cx="421172"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0A80CF4C-7B30-34DD-279B-DAE1FB138391}"/>
                </a:ext>
              </a:extLst>
            </p:cNvPr>
            <p:cNvSpPr/>
            <p:nvPr/>
          </p:nvSpPr>
          <p:spPr>
            <a:xfrm>
              <a:off x="5651004" y="2574821"/>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43EE0EA0-26E7-90EE-3653-3189DC386CDA}"/>
                </a:ext>
              </a:extLst>
            </p:cNvPr>
            <p:cNvSpPr/>
            <p:nvPr/>
          </p:nvSpPr>
          <p:spPr>
            <a:xfrm>
              <a:off x="6142071" y="2574821"/>
              <a:ext cx="3291523"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仕様に合わせた</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処理、連携設定変更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エラー検知機能の変更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ABFFBB38-1945-D27F-5448-31EB7EFE48B2}"/>
                </a:ext>
              </a:extLst>
            </p:cNvPr>
            <p:cNvSpPr/>
            <p:nvPr/>
          </p:nvSpPr>
          <p:spPr>
            <a:xfrm>
              <a:off x="9493964" y="2574821"/>
              <a:ext cx="2452946"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8A9D92D9-EFB0-749B-CF82-ED888B85078B}"/>
                </a:ext>
              </a:extLst>
            </p:cNvPr>
            <p:cNvSpPr/>
            <p:nvPr/>
          </p:nvSpPr>
          <p:spPr>
            <a:xfrm>
              <a:off x="1005851" y="3065200"/>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活文連携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5E44FDF6-A8B4-ADD0-2CE4-CF9C1A81267F}"/>
                </a:ext>
              </a:extLst>
            </p:cNvPr>
            <p:cNvSpPr/>
            <p:nvPr/>
          </p:nvSpPr>
          <p:spPr>
            <a:xfrm>
              <a:off x="2637095" y="3065200"/>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71BE5D24-7798-0901-E278-EEC21734A48C}"/>
                </a:ext>
              </a:extLst>
            </p:cNvPr>
            <p:cNvSpPr/>
            <p:nvPr/>
          </p:nvSpPr>
          <p:spPr>
            <a:xfrm>
              <a:off x="5159936" y="3065200"/>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8" name="正方形/長方形 57">
              <a:extLst>
                <a:ext uri="{FF2B5EF4-FFF2-40B4-BE49-F238E27FC236}">
                  <a16:creationId xmlns:a16="http://schemas.microsoft.com/office/drawing/2014/main" id="{82528AAD-2847-0D3C-BB2D-763529E801D3}"/>
                </a:ext>
              </a:extLst>
            </p:cNvPr>
            <p:cNvSpPr/>
            <p:nvPr/>
          </p:nvSpPr>
          <p:spPr>
            <a:xfrm>
              <a:off x="5651004" y="3065200"/>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61" name="正方形/長方形 60">
              <a:extLst>
                <a:ext uri="{FF2B5EF4-FFF2-40B4-BE49-F238E27FC236}">
                  <a16:creationId xmlns:a16="http://schemas.microsoft.com/office/drawing/2014/main" id="{7B13D8EF-6341-C152-6767-D67C35A2FD2A}"/>
                </a:ext>
              </a:extLst>
            </p:cNvPr>
            <p:cNvSpPr/>
            <p:nvPr/>
          </p:nvSpPr>
          <p:spPr>
            <a:xfrm>
              <a:off x="6142071" y="3065200"/>
              <a:ext cx="3291523"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73C96CEB-FAC9-BD26-7EF0-4C44C0160782}"/>
                </a:ext>
              </a:extLst>
            </p:cNvPr>
            <p:cNvSpPr/>
            <p:nvPr/>
          </p:nvSpPr>
          <p:spPr>
            <a:xfrm>
              <a:off x="9493964" y="3065200"/>
              <a:ext cx="245294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F485DFEF-E79A-9D6A-37EA-ACCBEC4F85DC}"/>
                </a:ext>
              </a:extLst>
            </p:cNvPr>
            <p:cNvSpPr/>
            <p:nvPr/>
          </p:nvSpPr>
          <p:spPr bwMode="auto">
            <a:xfrm>
              <a:off x="245335" y="2079575"/>
              <a:ext cx="690620" cy="1427483"/>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ロコン</a:t>
              </a:r>
              <a:br>
                <a:rPr lang="en-US" altLang="ja-JP" sz="1000" b="1">
                  <a:solidFill>
                    <a:schemeClr val="bg1"/>
                  </a:solidFill>
                  <a:latin typeface="Meiryo UI" panose="020B0604030504040204" pitchFamily="50" charset="-128"/>
                  <a:ea typeface="Meiryo UI" panose="020B0604030504040204" pitchFamily="50" charset="-128"/>
                </a:rPr>
              </a:br>
              <a:r>
                <a:rPr lang="en-US" altLang="ja-JP" sz="1000" b="1">
                  <a:solidFill>
                    <a:schemeClr val="bg1"/>
                  </a:solidFill>
                  <a:latin typeface="Meiryo UI" panose="020B0604030504040204" pitchFamily="50" charset="-128"/>
                  <a:ea typeface="Meiryo UI" panose="020B0604030504040204" pitchFamily="50" charset="-128"/>
                </a:rPr>
                <a:t>Concur</a:t>
              </a:r>
              <a:br>
                <a:rPr lang="en-US" altLang="ja-JP" sz="1000" b="1">
                  <a:solidFill>
                    <a:schemeClr val="bg1"/>
                  </a:solidFill>
                  <a:latin typeface="Meiryo UI" panose="020B0604030504040204" pitchFamily="50" charset="-128"/>
                  <a:ea typeface="Meiryo UI" panose="020B0604030504040204" pitchFamily="50" charset="-128"/>
                </a:rPr>
              </a:br>
              <a:r>
                <a:rPr lang="en-US" altLang="ja-JP" sz="1000" b="1">
                  <a:solidFill>
                    <a:schemeClr val="bg1"/>
                  </a:solidFill>
                  <a:latin typeface="Meiryo UI" panose="020B0604030504040204" pitchFamily="50" charset="-128"/>
                  <a:ea typeface="Meiryo UI" panose="020B0604030504040204" pitchFamily="50" charset="-128"/>
                </a:rPr>
                <a:t>HUB</a:t>
              </a:r>
            </a:p>
          </p:txBody>
        </p:sp>
        <p:sp>
          <p:nvSpPr>
            <p:cNvPr id="82" name="正方形/長方形 81">
              <a:extLst>
                <a:ext uri="{FF2B5EF4-FFF2-40B4-BE49-F238E27FC236}">
                  <a16:creationId xmlns:a16="http://schemas.microsoft.com/office/drawing/2014/main" id="{3332EA76-8357-1C33-CC8B-9C6E11609D55}"/>
                </a:ext>
              </a:extLst>
            </p:cNvPr>
            <p:cNvSpPr/>
            <p:nvPr/>
          </p:nvSpPr>
          <p:spPr>
            <a:xfrm>
              <a:off x="1005851" y="2084442"/>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請求書</a:t>
              </a:r>
              <a:r>
                <a:rPr lang="en-US" altLang="zh-TW" sz="1200" b="1">
                  <a:solidFill>
                    <a:schemeClr val="tx1">
                      <a:lumMod val="75000"/>
                      <a:lumOff val="25000"/>
                    </a:schemeClr>
                  </a:solidFill>
                  <a:latin typeface="Meiryo UI" panose="020B0604030504040204" pitchFamily="50" charset="-128"/>
                  <a:ea typeface="Meiryo UI" panose="020B0604030504040204" pitchFamily="50" charset="-128"/>
                </a:rPr>
                <a:t>ID</a:t>
              </a: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照会</a:t>
              </a:r>
              <a:br>
                <a:rPr lang="en-US" altLang="zh-TW" sz="1200" b="1">
                  <a:solidFill>
                    <a:schemeClr val="tx1">
                      <a:lumMod val="75000"/>
                      <a:lumOff val="25000"/>
                    </a:schemeClr>
                  </a:solidFill>
                  <a:latin typeface="Meiryo UI" panose="020B0604030504040204" pitchFamily="50" charset="-128"/>
                  <a:ea typeface="Meiryo UI" panose="020B0604030504040204" pitchFamily="50" charset="-128"/>
                </a:rPr>
              </a:br>
              <a:r>
                <a:rPr lang="en-US" altLang="zh-TW" sz="1200" b="1">
                  <a:solidFill>
                    <a:schemeClr val="tx1">
                      <a:lumMod val="75000"/>
                      <a:lumOff val="25000"/>
                    </a:schemeClr>
                  </a:solidFill>
                  <a:latin typeface="Meiryo UI" panose="020B0604030504040204" pitchFamily="50" charset="-128"/>
                  <a:ea typeface="Meiryo UI" panose="020B0604030504040204" pitchFamily="50" charset="-128"/>
                </a:rPr>
                <a:t>View</a:t>
              </a: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3" name="正方形/長方形 82">
              <a:extLst>
                <a:ext uri="{FF2B5EF4-FFF2-40B4-BE49-F238E27FC236}">
                  <a16:creationId xmlns:a16="http://schemas.microsoft.com/office/drawing/2014/main" id="{56ED9496-7245-2D8D-311F-5AF7768A2A3C}"/>
                </a:ext>
              </a:extLst>
            </p:cNvPr>
            <p:cNvSpPr/>
            <p:nvPr/>
          </p:nvSpPr>
          <p:spPr>
            <a:xfrm>
              <a:off x="2637095" y="2084442"/>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5C961771-6E48-95C7-13A1-25E280D54564}"/>
                </a:ext>
              </a:extLst>
            </p:cNvPr>
            <p:cNvSpPr/>
            <p:nvPr/>
          </p:nvSpPr>
          <p:spPr>
            <a:xfrm>
              <a:off x="6142071" y="2084442"/>
              <a:ext cx="3291523"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支払依頼の連携先変更に伴うレイアウト変更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コード体系変更に伴う変換処理の変更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4" name="正方形/長方形 53">
              <a:extLst>
                <a:ext uri="{FF2B5EF4-FFF2-40B4-BE49-F238E27FC236}">
                  <a16:creationId xmlns:a16="http://schemas.microsoft.com/office/drawing/2014/main" id="{882D3876-C834-7F58-B2DF-CBCE4AEA95BB}"/>
                </a:ext>
              </a:extLst>
            </p:cNvPr>
            <p:cNvSpPr/>
            <p:nvPr/>
          </p:nvSpPr>
          <p:spPr>
            <a:xfrm>
              <a:off x="9493964" y="2084442"/>
              <a:ext cx="2452946"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FD9C4CB2-4757-0A18-E760-578171A6CFDC}"/>
                </a:ext>
              </a:extLst>
            </p:cNvPr>
            <p:cNvSpPr/>
            <p:nvPr/>
          </p:nvSpPr>
          <p:spPr>
            <a:xfrm>
              <a:off x="5159936" y="2080852"/>
              <a:ext cx="421172"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C0BFBA00-3449-F842-2BA1-E08968E4972C}"/>
                </a:ext>
              </a:extLst>
            </p:cNvPr>
            <p:cNvSpPr/>
            <p:nvPr/>
          </p:nvSpPr>
          <p:spPr>
            <a:xfrm>
              <a:off x="5651004" y="2080852"/>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14" name="コンテンツ プレースホルダー 5">
            <a:extLst>
              <a:ext uri="{FF2B5EF4-FFF2-40B4-BE49-F238E27FC236}">
                <a16:creationId xmlns:a16="http://schemas.microsoft.com/office/drawing/2014/main" id="{F75EB8F8-F175-8D32-DB1A-0DFDB36A40EA}"/>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Concur</a:t>
            </a:r>
            <a:r>
              <a:rPr lang="ja-JP" altLang="en-US" sz="1600"/>
              <a:t>系システム</a:t>
            </a:r>
            <a:r>
              <a:rPr lang="en-US" altLang="ja-JP" sz="1600" baseline="30000"/>
              <a:t>*1</a:t>
            </a:r>
            <a:r>
              <a:rPr lang="ja-JP" altLang="en-US" sz="1600"/>
              <a:t>の各機能における改修内容と規模は以下。　</a:t>
            </a:r>
            <a:endParaRPr lang="en-US" altLang="ja-JP" sz="1600"/>
          </a:p>
        </p:txBody>
      </p:sp>
      <p:sp>
        <p:nvSpPr>
          <p:cNvPr id="16" name="コンテンツ プレースホルダー 5">
            <a:extLst>
              <a:ext uri="{FF2B5EF4-FFF2-40B4-BE49-F238E27FC236}">
                <a16:creationId xmlns:a16="http://schemas.microsoft.com/office/drawing/2014/main" id="{BE0E7A5C-2498-EB80-A67B-13E8FF2D3D22}"/>
              </a:ext>
            </a:extLst>
          </p:cNvPr>
          <p:cNvSpPr txBox="1">
            <a:spLocks/>
          </p:cNvSpPr>
          <p:nvPr/>
        </p:nvSpPr>
        <p:spPr bwMode="auto">
          <a:xfrm>
            <a:off x="395851" y="642211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2259721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23</a:t>
            </a:fld>
            <a:endParaRPr lang="en-US" altLang="ja-JP"/>
          </a:p>
        </p:txBody>
      </p:sp>
      <p:grpSp>
        <p:nvGrpSpPr>
          <p:cNvPr id="3" name="グループ化 2">
            <a:extLst>
              <a:ext uri="{FF2B5EF4-FFF2-40B4-BE49-F238E27FC236}">
                <a16:creationId xmlns:a16="http://schemas.microsoft.com/office/drawing/2014/main" id="{A19C1BFB-1952-4D1D-E244-5E088637D4D8}"/>
              </a:ext>
            </a:extLst>
          </p:cNvPr>
          <p:cNvGrpSpPr/>
          <p:nvPr/>
        </p:nvGrpSpPr>
        <p:grpSpPr>
          <a:xfrm>
            <a:off x="186827" y="1460389"/>
            <a:ext cx="11818591" cy="4644561"/>
            <a:chOff x="245335" y="1460389"/>
            <a:chExt cx="11701575" cy="4644561"/>
          </a:xfrm>
        </p:grpSpPr>
        <p:grpSp>
          <p:nvGrpSpPr>
            <p:cNvPr id="8" name="グループ化 7">
              <a:extLst>
                <a:ext uri="{FF2B5EF4-FFF2-40B4-BE49-F238E27FC236}">
                  <a16:creationId xmlns:a16="http://schemas.microsoft.com/office/drawing/2014/main" id="{75F384A2-7ED5-E67B-6A9B-731259E97185}"/>
                </a:ext>
              </a:extLst>
            </p:cNvPr>
            <p:cNvGrpSpPr/>
            <p:nvPr/>
          </p:nvGrpSpPr>
          <p:grpSpPr>
            <a:xfrm>
              <a:off x="1005851" y="1770730"/>
              <a:ext cx="1561349" cy="212291"/>
              <a:chOff x="4709497" y="955750"/>
              <a:chExt cx="3307096" cy="243392"/>
            </a:xfrm>
            <a:effectLst/>
          </p:grpSpPr>
          <p:sp>
            <p:nvSpPr>
              <p:cNvPr id="9" name="テキスト ボックス 8">
                <a:extLst>
                  <a:ext uri="{FF2B5EF4-FFF2-40B4-BE49-F238E27FC236}">
                    <a16:creationId xmlns:a16="http://schemas.microsoft.com/office/drawing/2014/main" id="{CB0DC411-BBDD-1A35-207D-75BA79AB52F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 name="直線コネクタ 9">
                <a:extLst>
                  <a:ext uri="{FF2B5EF4-FFF2-40B4-BE49-F238E27FC236}">
                    <a16:creationId xmlns:a16="http://schemas.microsoft.com/office/drawing/2014/main" id="{BDC424A1-CA35-84B9-627E-C99A2B3ACB0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11" name="グループ化 10">
              <a:extLst>
                <a:ext uri="{FF2B5EF4-FFF2-40B4-BE49-F238E27FC236}">
                  <a16:creationId xmlns:a16="http://schemas.microsoft.com/office/drawing/2014/main" id="{9F84DD77-B936-B973-9F68-227644C34AB0}"/>
                </a:ext>
              </a:extLst>
            </p:cNvPr>
            <p:cNvGrpSpPr/>
            <p:nvPr/>
          </p:nvGrpSpPr>
          <p:grpSpPr>
            <a:xfrm>
              <a:off x="2637095" y="1770730"/>
              <a:ext cx="2452946" cy="212291"/>
              <a:chOff x="4709497" y="955750"/>
              <a:chExt cx="3307096" cy="243392"/>
            </a:xfrm>
            <a:effectLst/>
          </p:grpSpPr>
          <p:sp>
            <p:nvSpPr>
              <p:cNvPr id="12" name="テキスト ボックス 11">
                <a:extLst>
                  <a:ext uri="{FF2B5EF4-FFF2-40B4-BE49-F238E27FC236}">
                    <a16:creationId xmlns:a16="http://schemas.microsoft.com/office/drawing/2014/main" id="{AEB316A0-97B9-25F5-2128-2A7708F1773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3" name="直線コネクタ 12">
                <a:extLst>
                  <a:ext uri="{FF2B5EF4-FFF2-40B4-BE49-F238E27FC236}">
                    <a16:creationId xmlns:a16="http://schemas.microsoft.com/office/drawing/2014/main" id="{4A474DB0-BB86-AFB1-9440-F81F73AF9D9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2" name="グループ化 21">
              <a:extLst>
                <a:ext uri="{FF2B5EF4-FFF2-40B4-BE49-F238E27FC236}">
                  <a16:creationId xmlns:a16="http://schemas.microsoft.com/office/drawing/2014/main" id="{5CF2BC56-B5D0-F978-7A9A-12F177437CA5}"/>
                </a:ext>
              </a:extLst>
            </p:cNvPr>
            <p:cNvGrpSpPr/>
            <p:nvPr/>
          </p:nvGrpSpPr>
          <p:grpSpPr>
            <a:xfrm>
              <a:off x="5159935" y="1460389"/>
              <a:ext cx="6786975" cy="212291"/>
              <a:chOff x="4709497" y="955750"/>
              <a:chExt cx="3307096" cy="243392"/>
            </a:xfrm>
            <a:effectLst/>
          </p:grpSpPr>
          <p:sp>
            <p:nvSpPr>
              <p:cNvPr id="25" name="テキスト ボックス 24">
                <a:extLst>
                  <a:ext uri="{FF2B5EF4-FFF2-40B4-BE49-F238E27FC236}">
                    <a16:creationId xmlns:a16="http://schemas.microsoft.com/office/drawing/2014/main" id="{96EDBBBD-40EC-FADD-39C1-47A9D94D5955}"/>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6" name="直線コネクタ 25">
                <a:extLst>
                  <a:ext uri="{FF2B5EF4-FFF2-40B4-BE49-F238E27FC236}">
                    <a16:creationId xmlns:a16="http://schemas.microsoft.com/office/drawing/2014/main" id="{4D46CBC8-958E-9881-2B9E-56746913018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9" name="グループ化 28">
              <a:extLst>
                <a:ext uri="{FF2B5EF4-FFF2-40B4-BE49-F238E27FC236}">
                  <a16:creationId xmlns:a16="http://schemas.microsoft.com/office/drawing/2014/main" id="{DD2B4EDB-5269-7C33-D286-0C0461ABA752}"/>
                </a:ext>
              </a:extLst>
            </p:cNvPr>
            <p:cNvGrpSpPr/>
            <p:nvPr/>
          </p:nvGrpSpPr>
          <p:grpSpPr>
            <a:xfrm>
              <a:off x="5651004" y="1770730"/>
              <a:ext cx="421172" cy="212291"/>
              <a:chOff x="4709497" y="955750"/>
              <a:chExt cx="3307096" cy="243392"/>
            </a:xfrm>
            <a:effectLst/>
          </p:grpSpPr>
          <p:sp>
            <p:nvSpPr>
              <p:cNvPr id="30" name="テキスト ボックス 29">
                <a:extLst>
                  <a:ext uri="{FF2B5EF4-FFF2-40B4-BE49-F238E27FC236}">
                    <a16:creationId xmlns:a16="http://schemas.microsoft.com/office/drawing/2014/main" id="{4C9C9D59-AD80-3021-2772-C1AEFCA0BE4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1" name="直線コネクタ 30">
                <a:extLst>
                  <a:ext uri="{FF2B5EF4-FFF2-40B4-BE49-F238E27FC236}">
                    <a16:creationId xmlns:a16="http://schemas.microsoft.com/office/drawing/2014/main" id="{6E3DE8EF-DD6A-B71E-5C86-A4462A6ECBE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7" name="グループ化 36">
              <a:extLst>
                <a:ext uri="{FF2B5EF4-FFF2-40B4-BE49-F238E27FC236}">
                  <a16:creationId xmlns:a16="http://schemas.microsoft.com/office/drawing/2014/main" id="{F9846079-A6E1-3E4C-C5EF-628118184A42}"/>
                </a:ext>
              </a:extLst>
            </p:cNvPr>
            <p:cNvGrpSpPr/>
            <p:nvPr/>
          </p:nvGrpSpPr>
          <p:grpSpPr>
            <a:xfrm>
              <a:off x="5159936" y="1766917"/>
              <a:ext cx="421172" cy="212291"/>
              <a:chOff x="4709497" y="955750"/>
              <a:chExt cx="3307096" cy="243392"/>
            </a:xfrm>
            <a:effectLst/>
          </p:grpSpPr>
          <p:sp>
            <p:nvSpPr>
              <p:cNvPr id="45" name="テキスト ボックス 44">
                <a:extLst>
                  <a:ext uri="{FF2B5EF4-FFF2-40B4-BE49-F238E27FC236}">
                    <a16:creationId xmlns:a16="http://schemas.microsoft.com/office/drawing/2014/main" id="{15ECC45D-E8E8-A23C-8535-E13246C4972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9" name="直線コネクタ 58">
                <a:extLst>
                  <a:ext uri="{FF2B5EF4-FFF2-40B4-BE49-F238E27FC236}">
                    <a16:creationId xmlns:a16="http://schemas.microsoft.com/office/drawing/2014/main" id="{DAA7CE31-CFFF-F050-C1CD-C5EA74F6AA7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0" name="グループ化 59">
              <a:extLst>
                <a:ext uri="{FF2B5EF4-FFF2-40B4-BE49-F238E27FC236}">
                  <a16:creationId xmlns:a16="http://schemas.microsoft.com/office/drawing/2014/main" id="{03781C1D-40C4-6F82-1EC3-6E7FE455C510}"/>
                </a:ext>
              </a:extLst>
            </p:cNvPr>
            <p:cNvGrpSpPr/>
            <p:nvPr/>
          </p:nvGrpSpPr>
          <p:grpSpPr>
            <a:xfrm>
              <a:off x="6142071" y="1766917"/>
              <a:ext cx="3291523" cy="212291"/>
              <a:chOff x="4709497" y="955750"/>
              <a:chExt cx="3307096" cy="243392"/>
            </a:xfrm>
            <a:effectLst/>
          </p:grpSpPr>
          <p:sp>
            <p:nvSpPr>
              <p:cNvPr id="69" name="テキスト ボックス 68">
                <a:extLst>
                  <a:ext uri="{FF2B5EF4-FFF2-40B4-BE49-F238E27FC236}">
                    <a16:creationId xmlns:a16="http://schemas.microsoft.com/office/drawing/2014/main" id="{245F569D-C916-2C02-ADD9-5F5488337F0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0" name="直線コネクタ 69">
                <a:extLst>
                  <a:ext uri="{FF2B5EF4-FFF2-40B4-BE49-F238E27FC236}">
                    <a16:creationId xmlns:a16="http://schemas.microsoft.com/office/drawing/2014/main" id="{3010F604-A175-83C6-2CE3-D8BF10D544A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1" name="グループ化 70">
              <a:extLst>
                <a:ext uri="{FF2B5EF4-FFF2-40B4-BE49-F238E27FC236}">
                  <a16:creationId xmlns:a16="http://schemas.microsoft.com/office/drawing/2014/main" id="{C57839A9-6A4F-5FEC-8859-9ED2BCD6BFEF}"/>
                </a:ext>
              </a:extLst>
            </p:cNvPr>
            <p:cNvGrpSpPr/>
            <p:nvPr/>
          </p:nvGrpSpPr>
          <p:grpSpPr>
            <a:xfrm>
              <a:off x="9493964" y="1770730"/>
              <a:ext cx="2452946" cy="212291"/>
              <a:chOff x="4709497" y="955750"/>
              <a:chExt cx="3307096" cy="243392"/>
            </a:xfrm>
            <a:effectLst/>
          </p:grpSpPr>
          <p:sp>
            <p:nvSpPr>
              <p:cNvPr id="72" name="テキスト ボックス 71">
                <a:extLst>
                  <a:ext uri="{FF2B5EF4-FFF2-40B4-BE49-F238E27FC236}">
                    <a16:creationId xmlns:a16="http://schemas.microsoft.com/office/drawing/2014/main" id="{1110641C-8B07-FBA2-E391-F5204250FCC9}"/>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3" name="直線コネクタ 72">
                <a:extLst>
                  <a:ext uri="{FF2B5EF4-FFF2-40B4-BE49-F238E27FC236}">
                    <a16:creationId xmlns:a16="http://schemas.microsoft.com/office/drawing/2014/main" id="{D6ACBE5A-C791-AF31-0DA3-813959F53D1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9" name="グループ化 78">
              <a:extLst>
                <a:ext uri="{FF2B5EF4-FFF2-40B4-BE49-F238E27FC236}">
                  <a16:creationId xmlns:a16="http://schemas.microsoft.com/office/drawing/2014/main" id="{91E4007B-D284-C983-8FC3-C53ED3F2EF8F}"/>
                </a:ext>
              </a:extLst>
            </p:cNvPr>
            <p:cNvGrpSpPr/>
            <p:nvPr/>
          </p:nvGrpSpPr>
          <p:grpSpPr>
            <a:xfrm>
              <a:off x="1005851" y="2079574"/>
              <a:ext cx="10941059" cy="1154711"/>
              <a:chOff x="1005851" y="2210210"/>
              <a:chExt cx="10941059" cy="441858"/>
            </a:xfrm>
          </p:grpSpPr>
          <p:sp>
            <p:nvSpPr>
              <p:cNvPr id="16" name="正方形/長方形 15">
                <a:extLst>
                  <a:ext uri="{FF2B5EF4-FFF2-40B4-BE49-F238E27FC236}">
                    <a16:creationId xmlns:a16="http://schemas.microsoft.com/office/drawing/2014/main" id="{041CBBD5-1E8F-1F21-A465-6DA5B6DDDA87}"/>
                  </a:ext>
                </a:extLst>
              </p:cNvPr>
              <p:cNvSpPr/>
              <p:nvPr/>
            </p:nvSpPr>
            <p:spPr>
              <a:xfrm>
                <a:off x="1005851" y="2210210"/>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支払依頼連携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A9BD3A7C-0B48-1ABD-6728-1B9CBBF1502E}"/>
                  </a:ext>
                </a:extLst>
              </p:cNvPr>
              <p:cNvSpPr/>
              <p:nvPr/>
            </p:nvSpPr>
            <p:spPr>
              <a:xfrm>
                <a:off x="2637095" y="2210210"/>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支払依頼データ連携先、レイアウト、設定内容の変更</a:t>
                </a:r>
              </a:p>
              <a:p>
                <a:pPr marL="171450" indent="-17145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体系、連携頻度の変更</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制約の廃止</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D72CDF4A-0CB0-063E-2199-7BA44E450E8A}"/>
                  </a:ext>
                </a:extLst>
              </p:cNvPr>
              <p:cNvSpPr/>
              <p:nvPr/>
            </p:nvSpPr>
            <p:spPr>
              <a:xfrm>
                <a:off x="5159936" y="2210210"/>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DC75F56B-4C35-AC90-4301-373C4DB106F0}"/>
                  </a:ext>
                </a:extLst>
              </p:cNvPr>
              <p:cNvSpPr/>
              <p:nvPr/>
            </p:nvSpPr>
            <p:spPr>
              <a:xfrm>
                <a:off x="5651004" y="2210210"/>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rgbClr val="FF0000"/>
                    </a:solidFill>
                    <a:latin typeface="Meiryo UI" panose="020B0604030504040204" pitchFamily="50" charset="-128"/>
                    <a:ea typeface="Meiryo UI" panose="020B0604030504040204" pitchFamily="50" charset="-128"/>
                  </a:rPr>
                  <a:t>大</a:t>
                </a:r>
                <a:endParaRPr lang="en-US" altLang="ja-JP" sz="1400">
                  <a:solidFill>
                    <a:srgbClr val="FF0000"/>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22F6FD04-0C79-05F2-183B-AD05132A93A5}"/>
                  </a:ext>
                </a:extLst>
              </p:cNvPr>
              <p:cNvSpPr/>
              <p:nvPr/>
            </p:nvSpPr>
            <p:spPr>
              <a:xfrm>
                <a:off x="6142071" y="2210210"/>
                <a:ext cx="3291523"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Arial" panose="020B0604020202020204" pitchFamily="34" charset="0"/>
                  <a:buChar char="•"/>
                </a:pPr>
                <a:r>
                  <a:rPr lang="ja-JP" altLang="en-US" sz="1100">
                    <a:solidFill>
                      <a:srgbClr val="FF0000"/>
                    </a:solidFill>
                    <a:latin typeface="Meiryo UI"/>
                    <a:ea typeface="Meiryo UI"/>
                  </a:rPr>
                  <a:t>仕訳、原価の変換処理およびレイアウトの全変更</a:t>
                </a:r>
                <a:endParaRPr lang="en-US" altLang="ja-JP" sz="1100">
                  <a:solidFill>
                    <a:srgbClr val="FF0000"/>
                  </a:solidFill>
                  <a:latin typeface="Meiryo UI"/>
                  <a:ea typeface="Meiryo UI"/>
                </a:endParaRPr>
              </a:p>
              <a:p>
                <a:pPr marL="171450" indent="-171450">
                  <a:buFont typeface="Arial" panose="020B0604020202020204" pitchFamily="34" charset="0"/>
                  <a:buChar char="•"/>
                </a:pPr>
                <a:r>
                  <a:rPr lang="ja-JP" altLang="en-US" sz="1100">
                    <a:solidFill>
                      <a:srgbClr val="FF0000"/>
                    </a:solidFill>
                    <a:latin typeface="Meiryo UI"/>
                    <a:ea typeface="Meiryo UI"/>
                  </a:rPr>
                  <a:t>トランデータ取得</a:t>
                </a:r>
                <a:r>
                  <a:rPr lang="en-US" altLang="ja-JP" sz="1100">
                    <a:solidFill>
                      <a:srgbClr val="FF0000"/>
                    </a:solidFill>
                    <a:latin typeface="Meiryo UI"/>
                    <a:ea typeface="Meiryo UI"/>
                  </a:rPr>
                  <a:t>API</a:t>
                </a:r>
                <a:r>
                  <a:rPr lang="ja-JP" altLang="en-US" sz="1100">
                    <a:solidFill>
                      <a:srgbClr val="FF0000"/>
                    </a:solidFill>
                    <a:latin typeface="Meiryo UI"/>
                    <a:ea typeface="Meiryo UI"/>
                  </a:rPr>
                  <a:t>処理の変更</a:t>
                </a:r>
                <a:endParaRPr lang="en-US" altLang="ja-JP" sz="1100">
                  <a:solidFill>
                    <a:srgbClr val="FF0000"/>
                  </a:solidFill>
                  <a:latin typeface="Meiryo UI"/>
                  <a:ea typeface="Meiryo UI"/>
                </a:endParaRP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コード体系変更に伴うチェック処理</a:t>
                </a:r>
                <a:r>
                  <a:rPr lang="en-US" altLang="ja-JP" sz="1100">
                    <a:solidFill>
                      <a:srgbClr val="FF0000"/>
                    </a:solidFill>
                    <a:latin typeface="Meiryo UI" panose="020B0604030504040204" pitchFamily="50" charset="-128"/>
                    <a:ea typeface="Meiryo UI" panose="020B0604030504040204" pitchFamily="50" charset="-128"/>
                  </a:rPr>
                  <a:t>(</a:t>
                </a:r>
                <a:r>
                  <a:rPr lang="ja-JP" altLang="en-US" sz="1100">
                    <a:solidFill>
                      <a:srgbClr val="FF0000"/>
                    </a:solidFill>
                    <a:latin typeface="Meiryo UI" panose="020B0604030504040204" pitchFamily="50" charset="-128"/>
                    <a:ea typeface="Meiryo UI" panose="020B0604030504040204" pitchFamily="50" charset="-128"/>
                  </a:rPr>
                  <a:t>数十件</a:t>
                </a:r>
                <a:r>
                  <a:rPr lang="en-US" altLang="ja-JP" sz="1100">
                    <a:solidFill>
                      <a:srgbClr val="FF0000"/>
                    </a:solidFill>
                    <a:latin typeface="Meiryo UI" panose="020B0604030504040204" pitchFamily="50" charset="-128"/>
                    <a:ea typeface="Meiryo UI" panose="020B0604030504040204" pitchFamily="50" charset="-128"/>
                  </a:rPr>
                  <a:t>)</a:t>
                </a:r>
                <a:r>
                  <a:rPr lang="ja-JP" altLang="en-US" sz="1100">
                    <a:solidFill>
                      <a:srgbClr val="FF0000"/>
                    </a:solidFill>
                    <a:latin typeface="Meiryo UI" panose="020B0604030504040204" pitchFamily="50" charset="-128"/>
                    <a:ea typeface="Meiryo UI" panose="020B0604030504040204" pitchFamily="50" charset="-128"/>
                  </a:rPr>
                  <a:t>の修正</a:t>
                </a:r>
                <a:endParaRPr lang="en-US" altLang="ja-JP" sz="110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100">
                    <a:solidFill>
                      <a:srgbClr val="FF0000"/>
                    </a:solidFill>
                    <a:latin typeface="Meiryo UI" panose="020B0604030504040204" pitchFamily="50" charset="-128"/>
                    <a:ea typeface="Meiryo UI" panose="020B0604030504040204" pitchFamily="50" charset="-128"/>
                  </a:rPr>
                  <a:t>Neo</a:t>
                </a:r>
                <a:r>
                  <a:rPr lang="ja-JP" altLang="en-US" sz="1100">
                    <a:solidFill>
                      <a:srgbClr val="FF0000"/>
                    </a:solidFill>
                    <a:latin typeface="Meiryo UI" panose="020B0604030504040204" pitchFamily="50" charset="-128"/>
                    <a:ea typeface="Meiryo UI" panose="020B0604030504040204" pitchFamily="50" charset="-128"/>
                  </a:rPr>
                  <a:t>制約によるチェック機能の廃止</a:t>
                </a:r>
                <a:r>
                  <a:rPr lang="en-US" altLang="ja-JP" sz="1100">
                    <a:solidFill>
                      <a:srgbClr val="FF0000"/>
                    </a:solidFill>
                    <a:latin typeface="Meiryo UI" panose="020B0604030504040204" pitchFamily="50" charset="-128"/>
                    <a:ea typeface="Meiryo UI" panose="020B0604030504040204" pitchFamily="50" charset="-128"/>
                  </a:rPr>
                  <a:t>(</a:t>
                </a:r>
                <a:r>
                  <a:rPr lang="ja-JP" altLang="en-US" sz="1100">
                    <a:solidFill>
                      <a:srgbClr val="FF0000"/>
                    </a:solidFill>
                    <a:latin typeface="Meiryo UI" panose="020B0604030504040204" pitchFamily="50" charset="-128"/>
                    <a:ea typeface="Meiryo UI" panose="020B0604030504040204" pitchFamily="50" charset="-128"/>
                  </a:rPr>
                  <a:t>明細数など</a:t>
                </a:r>
                <a:r>
                  <a:rPr lang="en-US" altLang="ja-JP" sz="1100">
                    <a:solidFill>
                      <a:srgbClr val="FF0000"/>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精算者口座情報の設定</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2075B722-BB01-A86E-5F54-68D0EBB7B31B}"/>
                  </a:ext>
                </a:extLst>
              </p:cNvPr>
              <p:cNvSpPr/>
              <p:nvPr/>
            </p:nvSpPr>
            <p:spPr>
              <a:xfrm>
                <a:off x="9493964" y="2210210"/>
                <a:ext cx="2452946"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Arial" panose="020B0604020202020204" pitchFamily="34" charset="0"/>
                  <a:buChar char="•"/>
                </a:pPr>
                <a:r>
                  <a:rPr lang="ja-JP" altLang="en-US" sz="1000">
                    <a:solidFill>
                      <a:srgbClr val="FF0000"/>
                    </a:solidFill>
                    <a:latin typeface="Meiryo UI"/>
                    <a:ea typeface="Meiryo UI"/>
                  </a:rPr>
                  <a:t>過渡期データの取り扱いによる臨時機能の要否</a:t>
                </a:r>
                <a:endParaRPr lang="en-US" altLang="ja-JP" sz="1000">
                  <a:solidFill>
                    <a:srgbClr val="FF0000"/>
                  </a:solidFill>
                  <a:latin typeface="Meiryo UI"/>
                  <a:ea typeface="Meiryo UI"/>
                </a:endParaRPr>
              </a:p>
            </p:txBody>
          </p:sp>
        </p:grpSp>
        <p:sp>
          <p:nvSpPr>
            <p:cNvPr id="24" name="正方形/長方形 23">
              <a:extLst>
                <a:ext uri="{FF2B5EF4-FFF2-40B4-BE49-F238E27FC236}">
                  <a16:creationId xmlns:a16="http://schemas.microsoft.com/office/drawing/2014/main" id="{3489E408-8873-DF0A-1E05-5F96D25F764A}"/>
                </a:ext>
              </a:extLst>
            </p:cNvPr>
            <p:cNvSpPr/>
            <p:nvPr/>
          </p:nvSpPr>
          <p:spPr>
            <a:xfrm>
              <a:off x="1005851" y="5663091"/>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精算個人コード連携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24844F2E-68C2-54A8-BE3D-430807962DAC}"/>
                </a:ext>
              </a:extLst>
            </p:cNvPr>
            <p:cNvSpPr/>
            <p:nvPr/>
          </p:nvSpPr>
          <p:spPr>
            <a:xfrm>
              <a:off x="2671931" y="5663091"/>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RECO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から精算者毎の口座情報を取得してロコン上で管理、設定する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7C15CC8B-E5D6-6CC0-24C8-535B602E4A9C}"/>
                </a:ext>
              </a:extLst>
            </p:cNvPr>
            <p:cNvSpPr/>
            <p:nvPr/>
          </p:nvSpPr>
          <p:spPr>
            <a:xfrm>
              <a:off x="5159936" y="5663091"/>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8A43196E-86F0-51B4-0036-909D6575812D}"/>
                </a:ext>
              </a:extLst>
            </p:cNvPr>
            <p:cNvSpPr/>
            <p:nvPr/>
          </p:nvSpPr>
          <p:spPr>
            <a:xfrm>
              <a:off x="5651004" y="5663091"/>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B664B472-CAC3-71A1-6987-DBF025E07501}"/>
                </a:ext>
              </a:extLst>
            </p:cNvPr>
            <p:cNvSpPr/>
            <p:nvPr/>
          </p:nvSpPr>
          <p:spPr>
            <a:xfrm>
              <a:off x="6142071" y="5663091"/>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RECO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→ロコン連携の新規追加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口座情報保有のための各種マスタの新規追加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22F88EAC-7202-312E-AD7A-58940FF63387}"/>
                </a:ext>
              </a:extLst>
            </p:cNvPr>
            <p:cNvSpPr/>
            <p:nvPr/>
          </p:nvSpPr>
          <p:spPr>
            <a:xfrm>
              <a:off x="9493964" y="5663091"/>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E20CD1D0-0AEF-91D8-3DA2-10953AB38DD9}"/>
                </a:ext>
              </a:extLst>
            </p:cNvPr>
            <p:cNvSpPr/>
            <p:nvPr/>
          </p:nvSpPr>
          <p:spPr>
            <a:xfrm>
              <a:off x="1005851" y="4990660"/>
              <a:ext cx="1561349" cy="618391"/>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固定資産連携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9" name="正方形/長方形 48">
              <a:extLst>
                <a:ext uri="{FF2B5EF4-FFF2-40B4-BE49-F238E27FC236}">
                  <a16:creationId xmlns:a16="http://schemas.microsoft.com/office/drawing/2014/main" id="{C5ACD93A-AD2D-1BDF-F737-BB7D305F7F39}"/>
                </a:ext>
              </a:extLst>
            </p:cNvPr>
            <p:cNvSpPr/>
            <p:nvPr/>
          </p:nvSpPr>
          <p:spPr>
            <a:xfrm>
              <a:off x="2637095" y="4990660"/>
              <a:ext cx="2452946" cy="618391"/>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から連携した固定資産マスタを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へ連携</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0" name="正方形/長方形 49">
              <a:extLst>
                <a:ext uri="{FF2B5EF4-FFF2-40B4-BE49-F238E27FC236}">
                  <a16:creationId xmlns:a16="http://schemas.microsoft.com/office/drawing/2014/main" id="{704517C9-6E23-74AB-BD7C-42EE423AFAC6}"/>
                </a:ext>
              </a:extLst>
            </p:cNvPr>
            <p:cNvSpPr/>
            <p:nvPr/>
          </p:nvSpPr>
          <p:spPr>
            <a:xfrm>
              <a:off x="5159936" y="4990660"/>
              <a:ext cx="421172" cy="618391"/>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1" name="正方形/長方形 50">
              <a:extLst>
                <a:ext uri="{FF2B5EF4-FFF2-40B4-BE49-F238E27FC236}">
                  <a16:creationId xmlns:a16="http://schemas.microsoft.com/office/drawing/2014/main" id="{8230FEFB-BE87-31C8-525C-C369502DF286}"/>
                </a:ext>
              </a:extLst>
            </p:cNvPr>
            <p:cNvSpPr/>
            <p:nvPr/>
          </p:nvSpPr>
          <p:spPr>
            <a:xfrm>
              <a:off x="5651004" y="4990660"/>
              <a:ext cx="421172" cy="618391"/>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9B060321-1BA8-CBE1-9D5C-6D2CE3DD3050}"/>
                </a:ext>
              </a:extLst>
            </p:cNvPr>
            <p:cNvSpPr/>
            <p:nvPr/>
          </p:nvSpPr>
          <p:spPr>
            <a:xfrm>
              <a:off x="6142071" y="4990660"/>
              <a:ext cx="3291523" cy="618391"/>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から取得した固定資産マスタデータを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へ連携する処理（送信、戻り値チェック）の新規追加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F12EBAD0-A6C4-03ED-3659-7B918B4BB83B}"/>
                </a:ext>
              </a:extLst>
            </p:cNvPr>
            <p:cNvSpPr/>
            <p:nvPr/>
          </p:nvSpPr>
          <p:spPr>
            <a:xfrm>
              <a:off x="9493964" y="4990660"/>
              <a:ext cx="2452946" cy="618391"/>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BCE24CA0-0550-F6A7-323C-7B01027E0ABD}"/>
                </a:ext>
              </a:extLst>
            </p:cNvPr>
            <p:cNvSpPr/>
            <p:nvPr/>
          </p:nvSpPr>
          <p:spPr>
            <a:xfrm>
              <a:off x="1005851" y="4091797"/>
              <a:ext cx="1561349" cy="839317"/>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5" name="正方形/長方形 64">
              <a:extLst>
                <a:ext uri="{FF2B5EF4-FFF2-40B4-BE49-F238E27FC236}">
                  <a16:creationId xmlns:a16="http://schemas.microsoft.com/office/drawing/2014/main" id="{1AC19C9D-19EC-5AE6-AD18-8730644797EC}"/>
                </a:ext>
              </a:extLst>
            </p:cNvPr>
            <p:cNvSpPr/>
            <p:nvPr/>
          </p:nvSpPr>
          <p:spPr>
            <a:xfrm>
              <a:off x="2637095" y="4091797"/>
              <a:ext cx="2452946" cy="839317"/>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の固定資産情報と</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支払依頼情報を整合性チェック</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固定資産取得仕訳を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へ連携</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A3E14884-4847-7096-581D-67F759720CAB}"/>
                </a:ext>
              </a:extLst>
            </p:cNvPr>
            <p:cNvSpPr/>
            <p:nvPr/>
          </p:nvSpPr>
          <p:spPr>
            <a:xfrm>
              <a:off x="5159936" y="4091797"/>
              <a:ext cx="421172" cy="83931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7" name="正方形/長方形 66">
              <a:extLst>
                <a:ext uri="{FF2B5EF4-FFF2-40B4-BE49-F238E27FC236}">
                  <a16:creationId xmlns:a16="http://schemas.microsoft.com/office/drawing/2014/main" id="{44570AD1-72A1-D324-5136-0D6CC3C4B09E}"/>
                </a:ext>
              </a:extLst>
            </p:cNvPr>
            <p:cNvSpPr/>
            <p:nvPr/>
          </p:nvSpPr>
          <p:spPr>
            <a:xfrm>
              <a:off x="5651004" y="4091797"/>
              <a:ext cx="421172" cy="83931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rgbClr val="FF0000"/>
                  </a:solidFill>
                  <a:latin typeface="Meiryo UI" panose="020B0604030504040204" pitchFamily="50" charset="-128"/>
                  <a:ea typeface="Meiryo UI" panose="020B0604030504040204" pitchFamily="50" charset="-128"/>
                </a:rPr>
                <a:t>大</a:t>
              </a:r>
              <a:endParaRPr lang="en-US" altLang="ja-JP" sz="1400">
                <a:solidFill>
                  <a:srgbClr val="FF0000"/>
                </a:solidFill>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FC45C634-BC30-FED9-7E98-D6598430C436}"/>
                </a:ext>
              </a:extLst>
            </p:cNvPr>
            <p:cNvSpPr/>
            <p:nvPr/>
          </p:nvSpPr>
          <p:spPr>
            <a:xfrm>
              <a:off x="6142071" y="4091797"/>
              <a:ext cx="3291523" cy="83931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rgbClr val="FF0000"/>
                  </a:solidFill>
                  <a:latin typeface="Meiryo UI" panose="020B0604030504040204" pitchFamily="50" charset="-128"/>
                  <a:ea typeface="Meiryo UI" panose="020B0604030504040204" pitchFamily="50" charset="-128"/>
                </a:rPr>
                <a:t>OASYS</a:t>
              </a:r>
              <a:r>
                <a:rPr lang="ja-JP" altLang="en-US" sz="1100">
                  <a:solidFill>
                    <a:srgbClr val="FF0000"/>
                  </a:solidFill>
                  <a:latin typeface="Meiryo UI" panose="020B0604030504040204" pitchFamily="50" charset="-128"/>
                  <a:ea typeface="Meiryo UI" panose="020B0604030504040204" pitchFamily="50" charset="-128"/>
                </a:rPr>
                <a:t>金額と</a:t>
              </a:r>
              <a:r>
                <a:rPr lang="en-US" altLang="ja-JP" sz="1100">
                  <a:solidFill>
                    <a:srgbClr val="FF0000"/>
                  </a:solidFill>
                  <a:latin typeface="Meiryo UI" panose="020B0604030504040204" pitchFamily="50" charset="-128"/>
                  <a:ea typeface="Meiryo UI" panose="020B0604030504040204" pitchFamily="50" charset="-128"/>
                </a:rPr>
                <a:t>Concur</a:t>
              </a:r>
              <a:r>
                <a:rPr lang="ja-JP" altLang="en-US" sz="1100">
                  <a:solidFill>
                    <a:srgbClr val="FF0000"/>
                  </a:solidFill>
                  <a:latin typeface="Meiryo UI" panose="020B0604030504040204" pitchFamily="50" charset="-128"/>
                  <a:ea typeface="Meiryo UI" panose="020B0604030504040204" pitchFamily="50" charset="-128"/>
                </a:rPr>
                <a:t>金額の整合性チェックとエラーハンドリング機能の新規追加</a:t>
              </a:r>
              <a:endParaRPr lang="en-US" altLang="ja-JP" sz="110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固定資産取得用の仕訳作成機能の新規作成</a:t>
              </a:r>
              <a:endParaRPr lang="en-US" altLang="ja-JP" sz="110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100">
                  <a:solidFill>
                    <a:srgbClr val="FF0000"/>
                  </a:solidFill>
                  <a:latin typeface="Meiryo UI" panose="020B0604030504040204" pitchFamily="50" charset="-128"/>
                  <a:ea typeface="Meiryo UI" panose="020B0604030504040204" pitchFamily="50" charset="-128"/>
                </a:rPr>
                <a:t>OASYS</a:t>
              </a:r>
              <a:r>
                <a:rPr lang="ja-JP" altLang="en-US" sz="1100">
                  <a:solidFill>
                    <a:srgbClr val="FF0000"/>
                  </a:solidFill>
                  <a:latin typeface="Meiryo UI" panose="020B0604030504040204" pitchFamily="50" charset="-128"/>
                  <a:ea typeface="Meiryo UI" panose="020B0604030504040204" pitchFamily="50" charset="-128"/>
                </a:rPr>
                <a:t>とのデータ授受の仕組み構築</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ACA4EDB2-0852-B7B3-59E7-E7DEC30E1661}"/>
                </a:ext>
              </a:extLst>
            </p:cNvPr>
            <p:cNvSpPr/>
            <p:nvPr/>
          </p:nvSpPr>
          <p:spPr>
            <a:xfrm>
              <a:off x="9493964" y="4091797"/>
              <a:ext cx="2452946" cy="83931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なし</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F485DFEF-E79A-9D6A-37EA-ACCBEC4F85DC}"/>
                </a:ext>
              </a:extLst>
            </p:cNvPr>
            <p:cNvSpPr/>
            <p:nvPr/>
          </p:nvSpPr>
          <p:spPr bwMode="auto">
            <a:xfrm>
              <a:off x="245335" y="2079576"/>
              <a:ext cx="690620" cy="4025374"/>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ロコン</a:t>
              </a:r>
              <a:br>
                <a:rPr lang="en-US" altLang="ja-JP" sz="1000" b="1">
                  <a:solidFill>
                    <a:schemeClr val="bg1"/>
                  </a:solidFill>
                  <a:latin typeface="Meiryo UI" panose="020B0604030504040204" pitchFamily="50" charset="-128"/>
                  <a:ea typeface="Meiryo UI" panose="020B0604030504040204" pitchFamily="50" charset="-128"/>
                </a:rPr>
              </a:br>
              <a:r>
                <a:rPr lang="en-US" altLang="ja-JP" sz="1000" b="1">
                  <a:solidFill>
                    <a:schemeClr val="bg1"/>
                  </a:solidFill>
                  <a:latin typeface="Meiryo UI" panose="020B0604030504040204" pitchFamily="50" charset="-128"/>
                  <a:ea typeface="Meiryo UI" panose="020B0604030504040204" pitchFamily="50" charset="-128"/>
                </a:rPr>
                <a:t>Concur</a:t>
              </a:r>
              <a:br>
                <a:rPr lang="en-US" altLang="ja-JP" sz="1000" b="1">
                  <a:solidFill>
                    <a:schemeClr val="bg1"/>
                  </a:solidFill>
                  <a:latin typeface="Meiryo UI" panose="020B0604030504040204" pitchFamily="50" charset="-128"/>
                  <a:ea typeface="Meiryo UI" panose="020B0604030504040204" pitchFamily="50" charset="-128"/>
                </a:rPr>
              </a:br>
              <a:r>
                <a:rPr lang="en-US" altLang="ja-JP" sz="1000" b="1">
                  <a:solidFill>
                    <a:schemeClr val="bg1"/>
                  </a:solidFill>
                  <a:latin typeface="Meiryo UI" panose="020B0604030504040204" pitchFamily="50" charset="-128"/>
                  <a:ea typeface="Meiryo UI" panose="020B0604030504040204" pitchFamily="50" charset="-128"/>
                </a:rPr>
                <a:t>HUB</a:t>
              </a:r>
            </a:p>
          </p:txBody>
        </p:sp>
        <p:grpSp>
          <p:nvGrpSpPr>
            <p:cNvPr id="77" name="グループ化 76">
              <a:extLst>
                <a:ext uri="{FF2B5EF4-FFF2-40B4-BE49-F238E27FC236}">
                  <a16:creationId xmlns:a16="http://schemas.microsoft.com/office/drawing/2014/main" id="{55DFE615-B689-A08B-DBB5-94F45FBE4BF6}"/>
                </a:ext>
              </a:extLst>
            </p:cNvPr>
            <p:cNvGrpSpPr/>
            <p:nvPr/>
          </p:nvGrpSpPr>
          <p:grpSpPr>
            <a:xfrm>
              <a:off x="1005851" y="3277376"/>
              <a:ext cx="10941059" cy="754875"/>
              <a:chOff x="1005851" y="2711143"/>
              <a:chExt cx="10941059" cy="441858"/>
            </a:xfrm>
          </p:grpSpPr>
          <p:sp>
            <p:nvSpPr>
              <p:cNvPr id="14" name="正方形/長方形 13">
                <a:extLst>
                  <a:ext uri="{FF2B5EF4-FFF2-40B4-BE49-F238E27FC236}">
                    <a16:creationId xmlns:a16="http://schemas.microsoft.com/office/drawing/2014/main" id="{A8681E77-2E9C-DF72-DE0D-413902FA11BD}"/>
                  </a:ext>
                </a:extLst>
              </p:cNvPr>
              <p:cNvSpPr/>
              <p:nvPr/>
            </p:nvSpPr>
            <p:spPr>
              <a:xfrm>
                <a:off x="1005851" y="2711143"/>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マスタデータ連携・</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F71A68FB-D6D2-8F68-B18E-23E60A3167F5}"/>
                  </a:ext>
                </a:extLst>
              </p:cNvPr>
              <p:cNvSpPr/>
              <p:nvPr/>
            </p:nvSpPr>
            <p:spPr>
              <a:xfrm>
                <a:off x="2637095" y="2711143"/>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マスタの取得元変更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体系、連携頻度の変更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4" name="正方形/長方形 93">
                <a:extLst>
                  <a:ext uri="{FF2B5EF4-FFF2-40B4-BE49-F238E27FC236}">
                    <a16:creationId xmlns:a16="http://schemas.microsoft.com/office/drawing/2014/main" id="{8FD8F661-2F89-B8C6-E777-E96E6E1525B6}"/>
                  </a:ext>
                </a:extLst>
              </p:cNvPr>
              <p:cNvSpPr/>
              <p:nvPr/>
            </p:nvSpPr>
            <p:spPr>
              <a:xfrm>
                <a:off x="5159936" y="2711143"/>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5" name="正方形/長方形 94">
                <a:extLst>
                  <a:ext uri="{FF2B5EF4-FFF2-40B4-BE49-F238E27FC236}">
                    <a16:creationId xmlns:a16="http://schemas.microsoft.com/office/drawing/2014/main" id="{36FA3E1B-CB99-8ACC-AFFA-5B9C635731F2}"/>
                  </a:ext>
                </a:extLst>
              </p:cNvPr>
              <p:cNvSpPr/>
              <p:nvPr/>
            </p:nvSpPr>
            <p:spPr>
              <a:xfrm>
                <a:off x="5651004" y="2711143"/>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rgbClr val="FF0000"/>
                    </a:solidFill>
                    <a:latin typeface="Meiryo UI" panose="020B0604030504040204" pitchFamily="50" charset="-128"/>
                    <a:ea typeface="Meiryo UI" panose="020B0604030504040204" pitchFamily="50" charset="-128"/>
                  </a:rPr>
                  <a:t>大</a:t>
                </a:r>
                <a:endParaRPr lang="en-US" altLang="ja-JP" sz="1400">
                  <a:solidFill>
                    <a:srgbClr val="FF0000"/>
                  </a:solidFill>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BEEEB1B1-55FA-50CA-5DA7-004197955091}"/>
                  </a:ext>
                </a:extLst>
              </p:cNvPr>
              <p:cNvSpPr/>
              <p:nvPr/>
            </p:nvSpPr>
            <p:spPr>
              <a:xfrm>
                <a:off x="6142071" y="2711143"/>
                <a:ext cx="3291523"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データ取得先の変更、取得処理の新規追加</a:t>
                </a:r>
                <a:r>
                  <a:rPr lang="en-US" altLang="ja-JP" sz="1100">
                    <a:solidFill>
                      <a:srgbClr val="FF0000"/>
                    </a:solidFill>
                    <a:latin typeface="Meiryo UI" panose="020B0604030504040204" pitchFamily="50" charset="-128"/>
                    <a:ea typeface="Meiryo UI" panose="020B0604030504040204" pitchFamily="50" charset="-128"/>
                  </a:rPr>
                  <a:t>(10</a:t>
                </a:r>
                <a:r>
                  <a:rPr lang="ja-JP" altLang="en-US" sz="1100">
                    <a:solidFill>
                      <a:srgbClr val="FF0000"/>
                    </a:solidFill>
                    <a:latin typeface="Meiryo UI" panose="020B0604030504040204" pitchFamily="50" charset="-128"/>
                    <a:ea typeface="Meiryo UI" panose="020B0604030504040204" pitchFamily="50" charset="-128"/>
                  </a:rPr>
                  <a:t>強</a:t>
                </a:r>
                <a:r>
                  <a:rPr lang="en-US" altLang="ja-JP" sz="1100">
                    <a:solidFill>
                      <a:srgbClr val="FF0000"/>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更新、削除機能の変更</a:t>
                </a:r>
                <a:endParaRPr lang="en-US" altLang="ja-JP" sz="110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旧コードと新コードの共存のための機能追加</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97" name="正方形/長方形 96">
                <a:extLst>
                  <a:ext uri="{FF2B5EF4-FFF2-40B4-BE49-F238E27FC236}">
                    <a16:creationId xmlns:a16="http://schemas.microsoft.com/office/drawing/2014/main" id="{19F577E1-DDAB-6CC2-9729-34BEA0514594}"/>
                  </a:ext>
                </a:extLst>
              </p:cNvPr>
              <p:cNvSpPr/>
              <p:nvPr/>
            </p:nvSpPr>
            <p:spPr>
              <a:xfrm>
                <a:off x="9493964" y="2711143"/>
                <a:ext cx="2452946"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rgbClr val="FF0000"/>
                    </a:solidFill>
                    <a:latin typeface="Meiryo UI"/>
                    <a:ea typeface="Meiryo UI"/>
                  </a:rPr>
                  <a:t>過渡期データの取り扱いによる臨時機能の要否</a:t>
                </a:r>
                <a:endParaRPr lang="en-US" altLang="ja-JP" sz="1100">
                  <a:solidFill>
                    <a:srgbClr val="FF0000"/>
                  </a:solidFill>
                  <a:latin typeface="Meiryo UI"/>
                  <a:ea typeface="Meiryo UI"/>
                </a:endParaRPr>
              </a:p>
              <a:p>
                <a:pPr marL="171450" indent="-171450">
                  <a:buFont typeface="Arial" panose="020B0604020202020204" pitchFamily="34" charset="0"/>
                  <a:buChar char="•"/>
                </a:pPr>
                <a:r>
                  <a:rPr lang="en-US" altLang="ja-JP" sz="1100">
                    <a:solidFill>
                      <a:srgbClr val="FF0000"/>
                    </a:solidFill>
                    <a:latin typeface="Meiryo UI"/>
                    <a:ea typeface="Meiryo UI"/>
                  </a:rPr>
                  <a:t>RIND</a:t>
                </a:r>
                <a:r>
                  <a:rPr lang="ja-JP" altLang="en-US" sz="1100">
                    <a:solidFill>
                      <a:srgbClr val="FF0000"/>
                    </a:solidFill>
                    <a:latin typeface="Meiryo UI"/>
                    <a:ea typeface="Meiryo UI"/>
                  </a:rPr>
                  <a:t>のデータレイアウト変更</a:t>
                </a:r>
                <a:endParaRPr lang="en-US" altLang="ja-JP" sz="1100">
                  <a:solidFill>
                    <a:srgbClr val="FF0000"/>
                  </a:solidFill>
                  <a:latin typeface="Meiryo UI"/>
                  <a:ea typeface="Meiryo UI"/>
                </a:endParaRPr>
              </a:p>
            </p:txBody>
          </p:sp>
        </p:grpSp>
      </p:grpSp>
      <p:sp>
        <p:nvSpPr>
          <p:cNvPr id="18" name="タイトル 2">
            <a:extLst>
              <a:ext uri="{FF2B5EF4-FFF2-40B4-BE49-F238E27FC236}">
                <a16:creationId xmlns:a16="http://schemas.microsoft.com/office/drawing/2014/main" id="{D40C6CDD-9CAF-C003-84A7-7C92F5877690}"/>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dirty="0"/>
              <a:t>6. </a:t>
            </a:r>
            <a:r>
              <a:rPr lang="ja-JP" altLang="en-US" kern="0" dirty="0"/>
              <a:t>各システム対応内容（</a:t>
            </a:r>
            <a:r>
              <a:rPr lang="en-US" altLang="ja-JP" kern="0" dirty="0"/>
              <a:t>Concur</a:t>
            </a:r>
            <a:r>
              <a:rPr lang="ja-JP" altLang="en-US" kern="0" dirty="0"/>
              <a:t>系）①</a:t>
            </a:r>
          </a:p>
        </p:txBody>
      </p:sp>
      <p:sp>
        <p:nvSpPr>
          <p:cNvPr id="21" name="コンテンツ プレースホルダー 5">
            <a:extLst>
              <a:ext uri="{FF2B5EF4-FFF2-40B4-BE49-F238E27FC236}">
                <a16:creationId xmlns:a16="http://schemas.microsoft.com/office/drawing/2014/main" id="{B00A574B-3981-B688-0139-FC7382AE4944}"/>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Concur</a:t>
            </a:r>
            <a:r>
              <a:rPr lang="ja-JP" altLang="en-US" sz="1600"/>
              <a:t>系システム</a:t>
            </a:r>
            <a:r>
              <a:rPr lang="en-US" altLang="ja-JP" sz="1600" baseline="30000"/>
              <a:t>*1</a:t>
            </a:r>
            <a:r>
              <a:rPr lang="ja-JP" altLang="en-US" sz="1600"/>
              <a:t>の各機能における改修内容と規模は以下。　</a:t>
            </a:r>
            <a:endParaRPr lang="en-US" altLang="ja-JP" sz="1600"/>
          </a:p>
        </p:txBody>
      </p:sp>
      <p:sp>
        <p:nvSpPr>
          <p:cNvPr id="6" name="コンテンツ プレースホルダー 5">
            <a:extLst>
              <a:ext uri="{FF2B5EF4-FFF2-40B4-BE49-F238E27FC236}">
                <a16:creationId xmlns:a16="http://schemas.microsoft.com/office/drawing/2014/main" id="{35B904B6-3CCC-FDAF-80CA-B2D2934A2474}"/>
              </a:ext>
            </a:extLst>
          </p:cNvPr>
          <p:cNvSpPr txBox="1">
            <a:spLocks/>
          </p:cNvSpPr>
          <p:nvPr/>
        </p:nvSpPr>
        <p:spPr bwMode="auto">
          <a:xfrm>
            <a:off x="395851" y="642211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3750459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24</a:t>
            </a:fld>
            <a:endParaRPr lang="en-US" altLang="ja-JP"/>
          </a:p>
        </p:txBody>
      </p:sp>
      <p:grpSp>
        <p:nvGrpSpPr>
          <p:cNvPr id="6" name="グループ化 5">
            <a:extLst>
              <a:ext uri="{FF2B5EF4-FFF2-40B4-BE49-F238E27FC236}">
                <a16:creationId xmlns:a16="http://schemas.microsoft.com/office/drawing/2014/main" id="{BBF6B149-1241-D0E7-7911-4EA1C7362E19}"/>
              </a:ext>
            </a:extLst>
          </p:cNvPr>
          <p:cNvGrpSpPr/>
          <p:nvPr/>
        </p:nvGrpSpPr>
        <p:grpSpPr>
          <a:xfrm>
            <a:off x="186827" y="1460389"/>
            <a:ext cx="11818591" cy="5008777"/>
            <a:chOff x="245335" y="1460389"/>
            <a:chExt cx="11701575" cy="5008777"/>
          </a:xfrm>
        </p:grpSpPr>
        <p:grpSp>
          <p:nvGrpSpPr>
            <p:cNvPr id="5" name="グループ化 4">
              <a:extLst>
                <a:ext uri="{FF2B5EF4-FFF2-40B4-BE49-F238E27FC236}">
                  <a16:creationId xmlns:a16="http://schemas.microsoft.com/office/drawing/2014/main" id="{14808FE9-C016-9E90-4CC4-C087C087F828}"/>
                </a:ext>
              </a:extLst>
            </p:cNvPr>
            <p:cNvGrpSpPr/>
            <p:nvPr/>
          </p:nvGrpSpPr>
          <p:grpSpPr>
            <a:xfrm>
              <a:off x="1005851" y="1770730"/>
              <a:ext cx="1561349" cy="212291"/>
              <a:chOff x="4709497" y="955750"/>
              <a:chExt cx="3307096" cy="243392"/>
            </a:xfrm>
            <a:effectLst/>
          </p:grpSpPr>
          <p:sp>
            <p:nvSpPr>
              <p:cNvPr id="7" name="テキスト ボックス 6">
                <a:extLst>
                  <a:ext uri="{FF2B5EF4-FFF2-40B4-BE49-F238E27FC236}">
                    <a16:creationId xmlns:a16="http://schemas.microsoft.com/office/drawing/2014/main" id="{B3ECA92A-E0AB-F01E-1121-745F2E6AACA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3" name="直線コネクタ 22">
                <a:extLst>
                  <a:ext uri="{FF2B5EF4-FFF2-40B4-BE49-F238E27FC236}">
                    <a16:creationId xmlns:a16="http://schemas.microsoft.com/office/drawing/2014/main" id="{446CB77D-DC80-D243-FCED-F9EDF9F54C0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9" name="グループ化 38">
              <a:extLst>
                <a:ext uri="{FF2B5EF4-FFF2-40B4-BE49-F238E27FC236}">
                  <a16:creationId xmlns:a16="http://schemas.microsoft.com/office/drawing/2014/main" id="{7A24639F-AD38-6AD2-7655-38687F4F64C3}"/>
                </a:ext>
              </a:extLst>
            </p:cNvPr>
            <p:cNvGrpSpPr/>
            <p:nvPr/>
          </p:nvGrpSpPr>
          <p:grpSpPr>
            <a:xfrm>
              <a:off x="2637095" y="1770730"/>
              <a:ext cx="2452946" cy="212291"/>
              <a:chOff x="4709497" y="955750"/>
              <a:chExt cx="3307096" cy="243392"/>
            </a:xfrm>
            <a:effectLst/>
          </p:grpSpPr>
          <p:sp>
            <p:nvSpPr>
              <p:cNvPr id="47" name="テキスト ボックス 46">
                <a:extLst>
                  <a:ext uri="{FF2B5EF4-FFF2-40B4-BE49-F238E27FC236}">
                    <a16:creationId xmlns:a16="http://schemas.microsoft.com/office/drawing/2014/main" id="{0AD9177F-8608-5542-1CE4-39920DC3514C}"/>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4" name="直線コネクタ 53">
                <a:extLst>
                  <a:ext uri="{FF2B5EF4-FFF2-40B4-BE49-F238E27FC236}">
                    <a16:creationId xmlns:a16="http://schemas.microsoft.com/office/drawing/2014/main" id="{8CB1BD4E-4FBF-E689-370E-E35D1F847B56}"/>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3" name="グループ化 62">
              <a:extLst>
                <a:ext uri="{FF2B5EF4-FFF2-40B4-BE49-F238E27FC236}">
                  <a16:creationId xmlns:a16="http://schemas.microsoft.com/office/drawing/2014/main" id="{1A3D596C-48DE-BB94-7A94-7863E2C9E6C1}"/>
                </a:ext>
              </a:extLst>
            </p:cNvPr>
            <p:cNvGrpSpPr/>
            <p:nvPr/>
          </p:nvGrpSpPr>
          <p:grpSpPr>
            <a:xfrm>
              <a:off x="5159935" y="1460389"/>
              <a:ext cx="6786975" cy="212291"/>
              <a:chOff x="4709497" y="955750"/>
              <a:chExt cx="3307096" cy="243392"/>
            </a:xfrm>
            <a:effectLst/>
          </p:grpSpPr>
          <p:sp>
            <p:nvSpPr>
              <p:cNvPr id="76" name="テキスト ボックス 75">
                <a:extLst>
                  <a:ext uri="{FF2B5EF4-FFF2-40B4-BE49-F238E27FC236}">
                    <a16:creationId xmlns:a16="http://schemas.microsoft.com/office/drawing/2014/main" id="{1E07154C-9F53-962C-1EE3-03FDA3287C18}"/>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7" name="直線コネクタ 76">
                <a:extLst>
                  <a:ext uri="{FF2B5EF4-FFF2-40B4-BE49-F238E27FC236}">
                    <a16:creationId xmlns:a16="http://schemas.microsoft.com/office/drawing/2014/main" id="{CC9286C6-2626-9A2A-D8BC-BD15C6ED32E8}"/>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8" name="グループ化 77">
              <a:extLst>
                <a:ext uri="{FF2B5EF4-FFF2-40B4-BE49-F238E27FC236}">
                  <a16:creationId xmlns:a16="http://schemas.microsoft.com/office/drawing/2014/main" id="{B294EB3B-AE15-6E5F-FFF0-3ACACF8ADBC3}"/>
                </a:ext>
              </a:extLst>
            </p:cNvPr>
            <p:cNvGrpSpPr/>
            <p:nvPr/>
          </p:nvGrpSpPr>
          <p:grpSpPr>
            <a:xfrm>
              <a:off x="5651004" y="1770730"/>
              <a:ext cx="421172" cy="212291"/>
              <a:chOff x="4709497" y="955750"/>
              <a:chExt cx="3307096" cy="243392"/>
            </a:xfrm>
            <a:effectLst/>
          </p:grpSpPr>
          <p:sp>
            <p:nvSpPr>
              <p:cNvPr id="79" name="テキスト ボックス 78">
                <a:extLst>
                  <a:ext uri="{FF2B5EF4-FFF2-40B4-BE49-F238E27FC236}">
                    <a16:creationId xmlns:a16="http://schemas.microsoft.com/office/drawing/2014/main" id="{7CA3C7C1-7028-77B4-0D10-E72B9C0AC23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0" name="直線コネクタ 79">
                <a:extLst>
                  <a:ext uri="{FF2B5EF4-FFF2-40B4-BE49-F238E27FC236}">
                    <a16:creationId xmlns:a16="http://schemas.microsoft.com/office/drawing/2014/main" id="{B01652E8-A04C-2771-3379-0FC734512E5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1" name="グループ化 80">
              <a:extLst>
                <a:ext uri="{FF2B5EF4-FFF2-40B4-BE49-F238E27FC236}">
                  <a16:creationId xmlns:a16="http://schemas.microsoft.com/office/drawing/2014/main" id="{C465791F-B13D-8A6E-561A-DE001C85C298}"/>
                </a:ext>
              </a:extLst>
            </p:cNvPr>
            <p:cNvGrpSpPr/>
            <p:nvPr/>
          </p:nvGrpSpPr>
          <p:grpSpPr>
            <a:xfrm>
              <a:off x="5159936" y="1766917"/>
              <a:ext cx="421172" cy="212291"/>
              <a:chOff x="4709497" y="955750"/>
              <a:chExt cx="3307096" cy="243392"/>
            </a:xfrm>
            <a:effectLst/>
          </p:grpSpPr>
          <p:sp>
            <p:nvSpPr>
              <p:cNvPr id="94" name="テキスト ボックス 93">
                <a:extLst>
                  <a:ext uri="{FF2B5EF4-FFF2-40B4-BE49-F238E27FC236}">
                    <a16:creationId xmlns:a16="http://schemas.microsoft.com/office/drawing/2014/main" id="{37840C5C-D0B2-0E5E-5771-F10832BFCBD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5" name="直線コネクタ 94">
                <a:extLst>
                  <a:ext uri="{FF2B5EF4-FFF2-40B4-BE49-F238E27FC236}">
                    <a16:creationId xmlns:a16="http://schemas.microsoft.com/office/drawing/2014/main" id="{425BAFE3-B18F-2283-9FD5-684CCD26921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6" name="グループ化 95">
              <a:extLst>
                <a:ext uri="{FF2B5EF4-FFF2-40B4-BE49-F238E27FC236}">
                  <a16:creationId xmlns:a16="http://schemas.microsoft.com/office/drawing/2014/main" id="{37B06F4B-7633-63E3-D21A-8FF79C428A44}"/>
                </a:ext>
              </a:extLst>
            </p:cNvPr>
            <p:cNvGrpSpPr/>
            <p:nvPr/>
          </p:nvGrpSpPr>
          <p:grpSpPr>
            <a:xfrm>
              <a:off x="6142071" y="1766917"/>
              <a:ext cx="3291523" cy="212291"/>
              <a:chOff x="4709497" y="955750"/>
              <a:chExt cx="3307096" cy="243392"/>
            </a:xfrm>
            <a:effectLst/>
          </p:grpSpPr>
          <p:sp>
            <p:nvSpPr>
              <p:cNvPr id="97" name="テキスト ボックス 96">
                <a:extLst>
                  <a:ext uri="{FF2B5EF4-FFF2-40B4-BE49-F238E27FC236}">
                    <a16:creationId xmlns:a16="http://schemas.microsoft.com/office/drawing/2014/main" id="{C0381706-7043-2D3E-61B5-A95557762EE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8" name="直線コネクタ 97">
                <a:extLst>
                  <a:ext uri="{FF2B5EF4-FFF2-40B4-BE49-F238E27FC236}">
                    <a16:creationId xmlns:a16="http://schemas.microsoft.com/office/drawing/2014/main" id="{89F33C35-239E-20CF-BBF9-B2E804EEABE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9" name="グループ化 98">
              <a:extLst>
                <a:ext uri="{FF2B5EF4-FFF2-40B4-BE49-F238E27FC236}">
                  <a16:creationId xmlns:a16="http://schemas.microsoft.com/office/drawing/2014/main" id="{BA9BD418-B55C-5D7D-B180-3DC29D0558EB}"/>
                </a:ext>
              </a:extLst>
            </p:cNvPr>
            <p:cNvGrpSpPr/>
            <p:nvPr/>
          </p:nvGrpSpPr>
          <p:grpSpPr>
            <a:xfrm>
              <a:off x="9493964" y="1770730"/>
              <a:ext cx="2452946" cy="212291"/>
              <a:chOff x="4709497" y="955750"/>
              <a:chExt cx="3307096" cy="243392"/>
            </a:xfrm>
            <a:effectLst/>
          </p:grpSpPr>
          <p:sp>
            <p:nvSpPr>
              <p:cNvPr id="100" name="テキスト ボックス 99">
                <a:extLst>
                  <a:ext uri="{FF2B5EF4-FFF2-40B4-BE49-F238E27FC236}">
                    <a16:creationId xmlns:a16="http://schemas.microsoft.com/office/drawing/2014/main" id="{8D840C23-0105-1663-73DB-DB10A02EA91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1" name="直線コネクタ 100">
                <a:extLst>
                  <a:ext uri="{FF2B5EF4-FFF2-40B4-BE49-F238E27FC236}">
                    <a16:creationId xmlns:a16="http://schemas.microsoft.com/office/drawing/2014/main" id="{3E088FA5-AC71-9F6E-451B-379707713722}"/>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102" name="正方形/長方形 101">
              <a:extLst>
                <a:ext uri="{FF2B5EF4-FFF2-40B4-BE49-F238E27FC236}">
                  <a16:creationId xmlns:a16="http://schemas.microsoft.com/office/drawing/2014/main" id="{CFA72949-7D97-1F3B-0E79-3E2F5358D72E}"/>
                </a:ext>
              </a:extLst>
            </p:cNvPr>
            <p:cNvSpPr/>
            <p:nvPr/>
          </p:nvSpPr>
          <p:spPr>
            <a:xfrm>
              <a:off x="1005851" y="2079575"/>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画面変更</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3" name="正方形/長方形 102">
              <a:extLst>
                <a:ext uri="{FF2B5EF4-FFF2-40B4-BE49-F238E27FC236}">
                  <a16:creationId xmlns:a16="http://schemas.microsoft.com/office/drawing/2014/main" id="{80CE288A-83B0-FC1F-2D33-6C4AD43E0B6B}"/>
                </a:ext>
              </a:extLst>
            </p:cNvPr>
            <p:cNvSpPr/>
            <p:nvPr/>
          </p:nvSpPr>
          <p:spPr>
            <a:xfrm>
              <a:off x="2637095" y="2079575"/>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4" name="正方形/長方形 103">
              <a:extLst>
                <a:ext uri="{FF2B5EF4-FFF2-40B4-BE49-F238E27FC236}">
                  <a16:creationId xmlns:a16="http://schemas.microsoft.com/office/drawing/2014/main" id="{8FF64BD2-62EA-64F2-71D8-62B2F5D87A23}"/>
                </a:ext>
              </a:extLst>
            </p:cNvPr>
            <p:cNvSpPr/>
            <p:nvPr/>
          </p:nvSpPr>
          <p:spPr>
            <a:xfrm>
              <a:off x="5159936" y="2079575"/>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6" name="正方形/長方形 105">
              <a:extLst>
                <a:ext uri="{FF2B5EF4-FFF2-40B4-BE49-F238E27FC236}">
                  <a16:creationId xmlns:a16="http://schemas.microsoft.com/office/drawing/2014/main" id="{76F3F8EB-40C2-64C8-2B17-32EDA1C90BE4}"/>
                </a:ext>
              </a:extLst>
            </p:cNvPr>
            <p:cNvSpPr/>
            <p:nvPr/>
          </p:nvSpPr>
          <p:spPr>
            <a:xfrm>
              <a:off x="6142071" y="2079575"/>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項目の新規追加、廃止</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他科目交際費など</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新旧リスト値の共存による設定変更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7" name="正方形/長方形 106">
              <a:extLst>
                <a:ext uri="{FF2B5EF4-FFF2-40B4-BE49-F238E27FC236}">
                  <a16:creationId xmlns:a16="http://schemas.microsoft.com/office/drawing/2014/main" id="{43AD72C2-C896-DE9D-795F-37631826DA7C}"/>
                </a:ext>
              </a:extLst>
            </p:cNvPr>
            <p:cNvSpPr/>
            <p:nvPr/>
          </p:nvSpPr>
          <p:spPr>
            <a:xfrm>
              <a:off x="9493964" y="2079575"/>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8" name="正方形/長方形 107">
              <a:extLst>
                <a:ext uri="{FF2B5EF4-FFF2-40B4-BE49-F238E27FC236}">
                  <a16:creationId xmlns:a16="http://schemas.microsoft.com/office/drawing/2014/main" id="{A298D41A-8C46-F3D7-3C42-DCC096C73147}"/>
                </a:ext>
              </a:extLst>
            </p:cNvPr>
            <p:cNvSpPr/>
            <p:nvPr/>
          </p:nvSpPr>
          <p:spPr>
            <a:xfrm>
              <a:off x="1005851" y="2569954"/>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監査ルール</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9" name="正方形/長方形 108">
              <a:extLst>
                <a:ext uri="{FF2B5EF4-FFF2-40B4-BE49-F238E27FC236}">
                  <a16:creationId xmlns:a16="http://schemas.microsoft.com/office/drawing/2014/main" id="{FE7C4952-6747-BF99-19F4-E1658758405F}"/>
                </a:ext>
              </a:extLst>
            </p:cNvPr>
            <p:cNvSpPr/>
            <p:nvPr/>
          </p:nvSpPr>
          <p:spPr>
            <a:xfrm>
              <a:off x="2637095" y="2569954"/>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緊急払い対応</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0" name="正方形/長方形 109">
              <a:extLst>
                <a:ext uri="{FF2B5EF4-FFF2-40B4-BE49-F238E27FC236}">
                  <a16:creationId xmlns:a16="http://schemas.microsoft.com/office/drawing/2014/main" id="{96BFFFF8-07F3-9409-48B2-1B61EC7B7209}"/>
                </a:ext>
              </a:extLst>
            </p:cNvPr>
            <p:cNvSpPr/>
            <p:nvPr/>
          </p:nvSpPr>
          <p:spPr>
            <a:xfrm>
              <a:off x="5159936" y="2569954"/>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1" name="正方形/長方形 110">
              <a:extLst>
                <a:ext uri="{FF2B5EF4-FFF2-40B4-BE49-F238E27FC236}">
                  <a16:creationId xmlns:a16="http://schemas.microsoft.com/office/drawing/2014/main" id="{3EF757C1-438C-1B60-3C48-B546CBABEACF}"/>
                </a:ext>
              </a:extLst>
            </p:cNvPr>
            <p:cNvSpPr/>
            <p:nvPr/>
          </p:nvSpPr>
          <p:spPr>
            <a:xfrm>
              <a:off x="5651004" y="2569954"/>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2" name="正方形/長方形 111">
              <a:extLst>
                <a:ext uri="{FF2B5EF4-FFF2-40B4-BE49-F238E27FC236}">
                  <a16:creationId xmlns:a16="http://schemas.microsoft.com/office/drawing/2014/main" id="{5EC000B6-5DF2-21A8-2FCA-197134CE0BFB}"/>
                </a:ext>
              </a:extLst>
            </p:cNvPr>
            <p:cNvSpPr/>
            <p:nvPr/>
          </p:nvSpPr>
          <p:spPr>
            <a:xfrm>
              <a:off x="6142071" y="2569954"/>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コード値変更に伴う全面見直し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制約によるチェック廃止</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明細数など</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緊急払い用の変更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3" name="正方形/長方形 112">
              <a:extLst>
                <a:ext uri="{FF2B5EF4-FFF2-40B4-BE49-F238E27FC236}">
                  <a16:creationId xmlns:a16="http://schemas.microsoft.com/office/drawing/2014/main" id="{58B0B0B3-5E0A-6D5C-1F6A-4D6449BFCBAF}"/>
                </a:ext>
              </a:extLst>
            </p:cNvPr>
            <p:cNvSpPr/>
            <p:nvPr/>
          </p:nvSpPr>
          <p:spPr>
            <a:xfrm>
              <a:off x="9493963" y="2569954"/>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4" name="正方形/長方形 113">
              <a:extLst>
                <a:ext uri="{FF2B5EF4-FFF2-40B4-BE49-F238E27FC236}">
                  <a16:creationId xmlns:a16="http://schemas.microsoft.com/office/drawing/2014/main" id="{033AED06-198A-E3D8-03ED-B3C32EA13AD4}"/>
                </a:ext>
              </a:extLst>
            </p:cNvPr>
            <p:cNvSpPr/>
            <p:nvPr/>
          </p:nvSpPr>
          <p:spPr>
            <a:xfrm>
              <a:off x="1005851" y="5047744"/>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検証ルール</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5" name="正方形/長方形 114">
              <a:extLst>
                <a:ext uri="{FF2B5EF4-FFF2-40B4-BE49-F238E27FC236}">
                  <a16:creationId xmlns:a16="http://schemas.microsoft.com/office/drawing/2014/main" id="{2EDD1DAF-0BE9-D066-321D-1A6B05323A3B}"/>
                </a:ext>
              </a:extLst>
            </p:cNvPr>
            <p:cNvSpPr/>
            <p:nvPr/>
          </p:nvSpPr>
          <p:spPr>
            <a:xfrm>
              <a:off x="2637095" y="5047744"/>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6" name="正方形/長方形 115">
              <a:extLst>
                <a:ext uri="{FF2B5EF4-FFF2-40B4-BE49-F238E27FC236}">
                  <a16:creationId xmlns:a16="http://schemas.microsoft.com/office/drawing/2014/main" id="{E08EB709-E0FB-2D99-A0AA-DC3C19AEBA6F}"/>
                </a:ext>
              </a:extLst>
            </p:cNvPr>
            <p:cNvSpPr/>
            <p:nvPr/>
          </p:nvSpPr>
          <p:spPr>
            <a:xfrm>
              <a:off x="5159936" y="5047744"/>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7" name="正方形/長方形 116">
              <a:extLst>
                <a:ext uri="{FF2B5EF4-FFF2-40B4-BE49-F238E27FC236}">
                  <a16:creationId xmlns:a16="http://schemas.microsoft.com/office/drawing/2014/main" id="{167CDE1F-6AF0-B84C-69BC-BFF2ED48ABBB}"/>
                </a:ext>
              </a:extLst>
            </p:cNvPr>
            <p:cNvSpPr/>
            <p:nvPr/>
          </p:nvSpPr>
          <p:spPr>
            <a:xfrm>
              <a:off x="5651004" y="5047744"/>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8" name="正方形/長方形 117">
              <a:extLst>
                <a:ext uri="{FF2B5EF4-FFF2-40B4-BE49-F238E27FC236}">
                  <a16:creationId xmlns:a16="http://schemas.microsoft.com/office/drawing/2014/main" id="{9D814FEE-20A7-F082-E916-5787405725AA}"/>
                </a:ext>
              </a:extLst>
            </p:cNvPr>
            <p:cNvSpPr/>
            <p:nvPr/>
          </p:nvSpPr>
          <p:spPr>
            <a:xfrm>
              <a:off x="6142071" y="5047744"/>
              <a:ext cx="3291523"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体系変更に伴うテーブル値、ルール変更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9" name="正方形/長方形 118">
              <a:extLst>
                <a:ext uri="{FF2B5EF4-FFF2-40B4-BE49-F238E27FC236}">
                  <a16:creationId xmlns:a16="http://schemas.microsoft.com/office/drawing/2014/main" id="{019A16C4-FFAE-B039-50DE-6EECB667C829}"/>
                </a:ext>
              </a:extLst>
            </p:cNvPr>
            <p:cNvSpPr/>
            <p:nvPr/>
          </p:nvSpPr>
          <p:spPr>
            <a:xfrm>
              <a:off x="9493964" y="5047744"/>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0" name="正方形/長方形 119">
              <a:extLst>
                <a:ext uri="{FF2B5EF4-FFF2-40B4-BE49-F238E27FC236}">
                  <a16:creationId xmlns:a16="http://schemas.microsoft.com/office/drawing/2014/main" id="{56DF76E9-1859-C2A9-7520-643444037B0D}"/>
                </a:ext>
              </a:extLst>
            </p:cNvPr>
            <p:cNvSpPr/>
            <p:nvPr/>
          </p:nvSpPr>
          <p:spPr>
            <a:xfrm>
              <a:off x="1005851" y="4069141"/>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承認</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WF</a:t>
              </a:r>
            </a:p>
          </p:txBody>
        </p:sp>
        <p:sp>
          <p:nvSpPr>
            <p:cNvPr id="121" name="正方形/長方形 120">
              <a:extLst>
                <a:ext uri="{FF2B5EF4-FFF2-40B4-BE49-F238E27FC236}">
                  <a16:creationId xmlns:a16="http://schemas.microsoft.com/office/drawing/2014/main" id="{1D89DDCE-CFB8-5FC5-38DE-FFD6EC6A2F54}"/>
                </a:ext>
              </a:extLst>
            </p:cNvPr>
            <p:cNvSpPr/>
            <p:nvPr/>
          </p:nvSpPr>
          <p:spPr>
            <a:xfrm>
              <a:off x="2637095" y="4069141"/>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緊急払い対応</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2" name="正方形/長方形 121">
              <a:extLst>
                <a:ext uri="{FF2B5EF4-FFF2-40B4-BE49-F238E27FC236}">
                  <a16:creationId xmlns:a16="http://schemas.microsoft.com/office/drawing/2014/main" id="{D3A7E089-73B5-CFD3-C207-5B26C81C0337}"/>
                </a:ext>
              </a:extLst>
            </p:cNvPr>
            <p:cNvSpPr/>
            <p:nvPr/>
          </p:nvSpPr>
          <p:spPr>
            <a:xfrm>
              <a:off x="5159936" y="4069141"/>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3" name="正方形/長方形 122">
              <a:extLst>
                <a:ext uri="{FF2B5EF4-FFF2-40B4-BE49-F238E27FC236}">
                  <a16:creationId xmlns:a16="http://schemas.microsoft.com/office/drawing/2014/main" id="{6CB54BAC-C540-51A4-ED4B-B5C0EB14CF0F}"/>
                </a:ext>
              </a:extLst>
            </p:cNvPr>
            <p:cNvSpPr/>
            <p:nvPr/>
          </p:nvSpPr>
          <p:spPr>
            <a:xfrm>
              <a:off x="5651004" y="4069141"/>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4" name="正方形/長方形 123">
              <a:extLst>
                <a:ext uri="{FF2B5EF4-FFF2-40B4-BE49-F238E27FC236}">
                  <a16:creationId xmlns:a16="http://schemas.microsoft.com/office/drawing/2014/main" id="{1ACE0C8A-0DD0-14F4-8265-E6D6D6596218}"/>
                </a:ext>
              </a:extLst>
            </p:cNvPr>
            <p:cNvSpPr/>
            <p:nvPr/>
          </p:nvSpPr>
          <p:spPr>
            <a:xfrm>
              <a:off x="6142071" y="4069141"/>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コード値による</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WF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分岐の変更</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分岐が複雑なため、テストが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100</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パターン以上あり</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緊急払い用の変更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5" name="正方形/長方形 124">
              <a:extLst>
                <a:ext uri="{FF2B5EF4-FFF2-40B4-BE49-F238E27FC236}">
                  <a16:creationId xmlns:a16="http://schemas.microsoft.com/office/drawing/2014/main" id="{19E85BF2-014C-66FB-8B7C-0804F0A6BE0C}"/>
                </a:ext>
              </a:extLst>
            </p:cNvPr>
            <p:cNvSpPr/>
            <p:nvPr/>
          </p:nvSpPr>
          <p:spPr>
            <a:xfrm>
              <a:off x="9493964" y="4069141"/>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6" name="正方形/長方形 155">
              <a:extLst>
                <a:ext uri="{FF2B5EF4-FFF2-40B4-BE49-F238E27FC236}">
                  <a16:creationId xmlns:a16="http://schemas.microsoft.com/office/drawing/2014/main" id="{C9F6AE32-07E5-A4E6-2000-93FCD90A3815}"/>
                </a:ext>
              </a:extLst>
            </p:cNvPr>
            <p:cNvSpPr/>
            <p:nvPr/>
          </p:nvSpPr>
          <p:spPr bwMode="auto">
            <a:xfrm>
              <a:off x="245335" y="2079575"/>
              <a:ext cx="690620" cy="4389591"/>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a:solidFill>
                    <a:schemeClr val="bg1"/>
                  </a:solidFill>
                  <a:latin typeface="Meiryo UI" panose="020B0604030504040204" pitchFamily="50" charset="-128"/>
                  <a:ea typeface="Meiryo UI" panose="020B0604030504040204" pitchFamily="50" charset="-128"/>
                </a:rPr>
                <a:t>Concur</a:t>
              </a:r>
            </a:p>
            <a:p>
              <a:pPr algn="ctr" fontAlgn="ctr"/>
              <a:r>
                <a:rPr lang="en-US" altLang="ja-JP" sz="1000" b="1">
                  <a:solidFill>
                    <a:schemeClr val="bg1"/>
                  </a:solidFill>
                  <a:latin typeface="Meiryo UI" panose="020B0604030504040204" pitchFamily="50" charset="-128"/>
                  <a:ea typeface="Meiryo UI" panose="020B0604030504040204" pitchFamily="50" charset="-128"/>
                </a:rPr>
                <a:t>Invoice</a:t>
              </a:r>
            </a:p>
          </p:txBody>
        </p:sp>
        <p:sp>
          <p:nvSpPr>
            <p:cNvPr id="9" name="正方形/長方形 8">
              <a:extLst>
                <a:ext uri="{FF2B5EF4-FFF2-40B4-BE49-F238E27FC236}">
                  <a16:creationId xmlns:a16="http://schemas.microsoft.com/office/drawing/2014/main" id="{715B347B-54EA-0A11-759B-F23D191700E6}"/>
                </a:ext>
              </a:extLst>
            </p:cNvPr>
            <p:cNvSpPr/>
            <p:nvPr/>
          </p:nvSpPr>
          <p:spPr>
            <a:xfrm>
              <a:off x="1005851" y="4553330"/>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印刷レポート</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0EA4E08E-91E2-3193-0E11-33E7A988B751}"/>
                </a:ext>
              </a:extLst>
            </p:cNvPr>
            <p:cNvSpPr/>
            <p:nvPr/>
          </p:nvSpPr>
          <p:spPr>
            <a:xfrm>
              <a:off x="2637095" y="4553330"/>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0473135A-8C7B-BBBD-A69A-22D8373269BD}"/>
                </a:ext>
              </a:extLst>
            </p:cNvPr>
            <p:cNvSpPr/>
            <p:nvPr/>
          </p:nvSpPr>
          <p:spPr>
            <a:xfrm>
              <a:off x="5159936" y="4553330"/>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FF56A638-7723-4E47-9C58-F4D8B212D690}"/>
                </a:ext>
              </a:extLst>
            </p:cNvPr>
            <p:cNvSpPr/>
            <p:nvPr/>
          </p:nvSpPr>
          <p:spPr>
            <a:xfrm>
              <a:off x="5651004" y="4553330"/>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012D56F8-14E9-ADB3-577A-7854EAE621A8}"/>
                </a:ext>
              </a:extLst>
            </p:cNvPr>
            <p:cNvSpPr/>
            <p:nvPr/>
          </p:nvSpPr>
          <p:spPr>
            <a:xfrm>
              <a:off x="6142071" y="4553330"/>
              <a:ext cx="3291523"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画面変更に伴う出力項目の変更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3B5A2E84-745B-D89E-410E-8C8B1BA32CD5}"/>
                </a:ext>
              </a:extLst>
            </p:cNvPr>
            <p:cNvSpPr/>
            <p:nvPr/>
          </p:nvSpPr>
          <p:spPr>
            <a:xfrm>
              <a:off x="9493964" y="4553330"/>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1226498A-53F0-7C6F-0A37-24B26197DC09}"/>
                </a:ext>
              </a:extLst>
            </p:cNvPr>
            <p:cNvSpPr/>
            <p:nvPr/>
          </p:nvSpPr>
          <p:spPr>
            <a:xfrm>
              <a:off x="1005851" y="6027308"/>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BI</a:t>
              </a:r>
            </a:p>
          </p:txBody>
        </p:sp>
        <p:sp>
          <p:nvSpPr>
            <p:cNvPr id="17" name="正方形/長方形 16">
              <a:extLst>
                <a:ext uri="{FF2B5EF4-FFF2-40B4-BE49-F238E27FC236}">
                  <a16:creationId xmlns:a16="http://schemas.microsoft.com/office/drawing/2014/main" id="{6C264A29-BF0B-1CAD-1D5B-9C000F3E10B5}"/>
                </a:ext>
              </a:extLst>
            </p:cNvPr>
            <p:cNvSpPr/>
            <p:nvPr/>
          </p:nvSpPr>
          <p:spPr>
            <a:xfrm>
              <a:off x="2637095" y="6027308"/>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A75D1C13-8C9E-360A-2F9D-D1A479BCD293}"/>
                </a:ext>
              </a:extLst>
            </p:cNvPr>
            <p:cNvSpPr/>
            <p:nvPr/>
          </p:nvSpPr>
          <p:spPr>
            <a:xfrm>
              <a:off x="5159936" y="6027308"/>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 name="正方形/長方形 18">
              <a:extLst>
                <a:ext uri="{FF2B5EF4-FFF2-40B4-BE49-F238E27FC236}">
                  <a16:creationId xmlns:a16="http://schemas.microsoft.com/office/drawing/2014/main" id="{F404B9DB-7200-1576-1EA5-97DB7501B9FE}"/>
                </a:ext>
              </a:extLst>
            </p:cNvPr>
            <p:cNvSpPr/>
            <p:nvPr/>
          </p:nvSpPr>
          <p:spPr>
            <a:xfrm>
              <a:off x="5651004" y="6027308"/>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0" name="正方形/長方形 19">
              <a:extLst>
                <a:ext uri="{FF2B5EF4-FFF2-40B4-BE49-F238E27FC236}">
                  <a16:creationId xmlns:a16="http://schemas.microsoft.com/office/drawing/2014/main" id="{93A4FE4A-74DF-3E49-3894-DFABC4911EB3}"/>
                </a:ext>
              </a:extLst>
            </p:cNvPr>
            <p:cNvSpPr/>
            <p:nvPr/>
          </p:nvSpPr>
          <p:spPr>
            <a:xfrm>
              <a:off x="6142071" y="6027308"/>
              <a:ext cx="3291523"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経理で対応するため</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98EA77A0-BF54-BFC0-CE2A-79564738D442}"/>
                </a:ext>
              </a:extLst>
            </p:cNvPr>
            <p:cNvSpPr/>
            <p:nvPr/>
          </p:nvSpPr>
          <p:spPr>
            <a:xfrm>
              <a:off x="9493964" y="6027308"/>
              <a:ext cx="245294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22EBF7DD-65C5-70F8-D4D8-D57CBF3AD6F3}"/>
                </a:ext>
              </a:extLst>
            </p:cNvPr>
            <p:cNvSpPr/>
            <p:nvPr/>
          </p:nvSpPr>
          <p:spPr>
            <a:xfrm>
              <a:off x="1005851" y="3055204"/>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マスタ取込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8EE706C8-9DF2-262E-0115-DBE1401C9B51}"/>
                </a:ext>
              </a:extLst>
            </p:cNvPr>
            <p:cNvSpPr/>
            <p:nvPr/>
          </p:nvSpPr>
          <p:spPr>
            <a:xfrm>
              <a:off x="2637095" y="3055204"/>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C45F01A0-88B7-726D-C1CA-94D99FD8FD96}"/>
                </a:ext>
              </a:extLst>
            </p:cNvPr>
            <p:cNvSpPr/>
            <p:nvPr/>
          </p:nvSpPr>
          <p:spPr>
            <a:xfrm>
              <a:off x="5159936" y="3055204"/>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E0B02465-E3FB-3D23-65C5-7C716EA5D248}"/>
                </a:ext>
              </a:extLst>
            </p:cNvPr>
            <p:cNvSpPr/>
            <p:nvPr/>
          </p:nvSpPr>
          <p:spPr>
            <a:xfrm>
              <a:off x="5651004" y="3055204"/>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2969BA7F-5253-9922-A359-C17410C1267E}"/>
                </a:ext>
              </a:extLst>
            </p:cNvPr>
            <p:cNvSpPr/>
            <p:nvPr/>
          </p:nvSpPr>
          <p:spPr>
            <a:xfrm>
              <a:off x="6142071" y="3055204"/>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新リストの取り込み設定の追加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新旧リスト値の共存による設定変更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D54A6C0A-9E07-13D6-156C-F77E6F6F5876}"/>
                </a:ext>
              </a:extLst>
            </p:cNvPr>
            <p:cNvSpPr/>
            <p:nvPr/>
          </p:nvSpPr>
          <p:spPr>
            <a:xfrm>
              <a:off x="9493964" y="3055204"/>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E3820B64-E652-DFE6-FAEE-69BE34F0C062}"/>
                </a:ext>
              </a:extLst>
            </p:cNvPr>
            <p:cNvSpPr/>
            <p:nvPr/>
          </p:nvSpPr>
          <p:spPr>
            <a:xfrm>
              <a:off x="1005851" y="5552283"/>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ポリシー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A472B08E-9932-15AF-570F-389D7392C09D}"/>
                </a:ext>
              </a:extLst>
            </p:cNvPr>
            <p:cNvSpPr/>
            <p:nvPr/>
          </p:nvSpPr>
          <p:spPr>
            <a:xfrm>
              <a:off x="2637095" y="5552283"/>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204422F1-39F1-5AFA-C408-E13BAAFC0AD3}"/>
                </a:ext>
              </a:extLst>
            </p:cNvPr>
            <p:cNvSpPr/>
            <p:nvPr/>
          </p:nvSpPr>
          <p:spPr>
            <a:xfrm>
              <a:off x="5159936" y="5552283"/>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59DD347D-AEAE-2D64-8C0D-0F72D561C748}"/>
                </a:ext>
              </a:extLst>
            </p:cNvPr>
            <p:cNvSpPr/>
            <p:nvPr/>
          </p:nvSpPr>
          <p:spPr>
            <a:xfrm>
              <a:off x="5651004" y="5552283"/>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3" name="正方形/長方形 32">
              <a:extLst>
                <a:ext uri="{FF2B5EF4-FFF2-40B4-BE49-F238E27FC236}">
                  <a16:creationId xmlns:a16="http://schemas.microsoft.com/office/drawing/2014/main" id="{B4E1E059-7CA9-7CCE-8067-6F9B64FDCAF2}"/>
                </a:ext>
              </a:extLst>
            </p:cNvPr>
            <p:cNvSpPr/>
            <p:nvPr/>
          </p:nvSpPr>
          <p:spPr>
            <a:xfrm>
              <a:off x="6142071" y="5552283"/>
              <a:ext cx="3291523"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（作成する場合は上記すべての設定が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から必要）</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EE3412BF-1140-5F63-0F69-1F5CABC2FBD4}"/>
                </a:ext>
              </a:extLst>
            </p:cNvPr>
            <p:cNvSpPr/>
            <p:nvPr/>
          </p:nvSpPr>
          <p:spPr>
            <a:xfrm>
              <a:off x="9493964" y="5552283"/>
              <a:ext cx="245294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solidFill>
                  <a:latin typeface="Meiryo UI" panose="020B0604030504040204" pitchFamily="50" charset="-128"/>
                  <a:ea typeface="Meiryo UI" panose="020B0604030504040204" pitchFamily="50" charset="-128"/>
                </a:rPr>
                <a:t>JKK</a:t>
              </a:r>
              <a:r>
                <a:rPr lang="ja-JP" altLang="en-US" sz="1100">
                  <a:solidFill>
                    <a:schemeClr val="tx1"/>
                  </a:solidFill>
                  <a:latin typeface="Meiryo UI" panose="020B0604030504040204" pitchFamily="50" charset="-128"/>
                  <a:ea typeface="Meiryo UI" panose="020B0604030504040204" pitchFamily="50" charset="-128"/>
                </a:rPr>
                <a:t>用に別で作成する必要があると特大</a:t>
              </a:r>
              <a:r>
                <a:rPr lang="en-US" altLang="ja-JP" sz="1100">
                  <a:solidFill>
                    <a:schemeClr val="tx1"/>
                  </a:solidFill>
                  <a:latin typeface="Meiryo UI" panose="020B0604030504040204" pitchFamily="50" charset="-128"/>
                  <a:ea typeface="Meiryo UI" panose="020B0604030504040204" pitchFamily="50" charset="-128"/>
                </a:rPr>
                <a:t>(1,000-2,000</a:t>
              </a:r>
              <a:r>
                <a:rPr lang="ja-JP" altLang="en-US" sz="1100">
                  <a:solidFill>
                    <a:schemeClr val="tx1"/>
                  </a:solidFill>
                  <a:latin typeface="Meiryo UI" panose="020B0604030504040204" pitchFamily="50" charset="-128"/>
                  <a:ea typeface="Meiryo UI" panose="020B0604030504040204" pitchFamily="50" charset="-128"/>
                </a:rPr>
                <a:t>万</a:t>
              </a:r>
              <a:r>
                <a:rPr lang="en-US" altLang="ja-JP" sz="1100">
                  <a:solidFill>
                    <a:schemeClr val="tx1"/>
                  </a:solidFill>
                  <a:latin typeface="Meiryo UI" panose="020B0604030504040204" pitchFamily="50" charset="-128"/>
                  <a:ea typeface="Meiryo UI" panose="020B0604030504040204" pitchFamily="50" charset="-128"/>
                </a:rPr>
                <a:t>)</a:t>
              </a:r>
            </a:p>
          </p:txBody>
        </p:sp>
        <p:sp>
          <p:nvSpPr>
            <p:cNvPr id="35" name="正方形/長方形 34">
              <a:extLst>
                <a:ext uri="{FF2B5EF4-FFF2-40B4-BE49-F238E27FC236}">
                  <a16:creationId xmlns:a16="http://schemas.microsoft.com/office/drawing/2014/main" id="{C9C9DB45-FE23-561E-8746-75FCC3C3A995}"/>
                </a:ext>
              </a:extLst>
            </p:cNvPr>
            <p:cNvSpPr/>
            <p:nvPr/>
          </p:nvSpPr>
          <p:spPr>
            <a:xfrm>
              <a:off x="5651004" y="2090653"/>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EB3341BC-3ED0-1B38-5301-08338DF7630E}"/>
                </a:ext>
              </a:extLst>
            </p:cNvPr>
            <p:cNvSpPr/>
            <p:nvPr/>
          </p:nvSpPr>
          <p:spPr>
            <a:xfrm>
              <a:off x="1005851" y="3563632"/>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経費タイプ</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3214C9AF-CFA3-13E3-0FCF-D0027758197F}"/>
                </a:ext>
              </a:extLst>
            </p:cNvPr>
            <p:cNvSpPr/>
            <p:nvPr/>
          </p:nvSpPr>
          <p:spPr>
            <a:xfrm>
              <a:off x="2637095" y="3563632"/>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MAGI</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陸送費支払の</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化</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D6DEF9B8-9CB5-6E35-A442-5A2C702EF4B8}"/>
                </a:ext>
              </a:extLst>
            </p:cNvPr>
            <p:cNvSpPr/>
            <p:nvPr/>
          </p:nvSpPr>
          <p:spPr>
            <a:xfrm>
              <a:off x="5159936" y="3563632"/>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4BBDB3C7-33C8-DBA2-04DE-FBE1571F68CB}"/>
                </a:ext>
              </a:extLst>
            </p:cNvPr>
            <p:cNvSpPr/>
            <p:nvPr/>
          </p:nvSpPr>
          <p:spPr>
            <a:xfrm>
              <a:off x="5651004" y="3563632"/>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7CC01110-5F8D-5237-B8E6-734A1E9D6F63}"/>
                </a:ext>
              </a:extLst>
            </p:cNvPr>
            <p:cNvSpPr/>
            <p:nvPr/>
          </p:nvSpPr>
          <p:spPr>
            <a:xfrm>
              <a:off x="6142071" y="3563632"/>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経費タイプの新規追加、廃止（他科目交際費、</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MAGI</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陸送費など）</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62DADC6F-FD45-1ACC-1EDA-FBC921FBB3D7}"/>
                </a:ext>
              </a:extLst>
            </p:cNvPr>
            <p:cNvSpPr/>
            <p:nvPr/>
          </p:nvSpPr>
          <p:spPr>
            <a:xfrm>
              <a:off x="9493964" y="3563632"/>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42" name="タイトル 2">
            <a:extLst>
              <a:ext uri="{FF2B5EF4-FFF2-40B4-BE49-F238E27FC236}">
                <a16:creationId xmlns:a16="http://schemas.microsoft.com/office/drawing/2014/main" id="{1E7E45F8-BF2F-C0DF-F41E-B0CE59B73846}"/>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Concur</a:t>
            </a:r>
            <a:r>
              <a:rPr lang="ja-JP" altLang="en-US" kern="0" dirty="0"/>
              <a:t>系）③</a:t>
            </a:r>
          </a:p>
        </p:txBody>
      </p:sp>
      <p:sp>
        <p:nvSpPr>
          <p:cNvPr id="45" name="コンテンツ プレースホルダー 5">
            <a:extLst>
              <a:ext uri="{FF2B5EF4-FFF2-40B4-BE49-F238E27FC236}">
                <a16:creationId xmlns:a16="http://schemas.microsoft.com/office/drawing/2014/main" id="{A1C7D895-6229-4973-88B4-5D2BB3566BEB}"/>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Concur</a:t>
            </a:r>
            <a:r>
              <a:rPr lang="ja-JP" altLang="en-US" sz="1600"/>
              <a:t>系システム</a:t>
            </a:r>
            <a:r>
              <a:rPr lang="en-US" altLang="ja-JP" sz="1600" baseline="30000"/>
              <a:t>*1</a:t>
            </a:r>
            <a:r>
              <a:rPr lang="ja-JP" altLang="en-US" sz="1600"/>
              <a:t>の各機能における改修内容と規模は以下。　</a:t>
            </a:r>
            <a:endParaRPr lang="en-US" altLang="ja-JP" sz="1600"/>
          </a:p>
        </p:txBody>
      </p:sp>
      <p:sp>
        <p:nvSpPr>
          <p:cNvPr id="8" name="コンテンツ プレースホルダー 5">
            <a:extLst>
              <a:ext uri="{FF2B5EF4-FFF2-40B4-BE49-F238E27FC236}">
                <a16:creationId xmlns:a16="http://schemas.microsoft.com/office/drawing/2014/main" id="{1791AB17-CF95-AE9F-2E35-328166627B4A}"/>
              </a:ext>
            </a:extLst>
          </p:cNvPr>
          <p:cNvSpPr txBox="1">
            <a:spLocks/>
          </p:cNvSpPr>
          <p:nvPr/>
        </p:nvSpPr>
        <p:spPr bwMode="auto">
          <a:xfrm>
            <a:off x="395851" y="642211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1298513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25</a:t>
            </a:fld>
            <a:endParaRPr lang="en-US" altLang="ja-JP"/>
          </a:p>
        </p:txBody>
      </p:sp>
      <p:grpSp>
        <p:nvGrpSpPr>
          <p:cNvPr id="5" name="グループ化 4">
            <a:extLst>
              <a:ext uri="{FF2B5EF4-FFF2-40B4-BE49-F238E27FC236}">
                <a16:creationId xmlns:a16="http://schemas.microsoft.com/office/drawing/2014/main" id="{14808FE9-C016-9E90-4CC4-C087C087F828}"/>
              </a:ext>
            </a:extLst>
          </p:cNvPr>
          <p:cNvGrpSpPr/>
          <p:nvPr/>
        </p:nvGrpSpPr>
        <p:grpSpPr>
          <a:xfrm>
            <a:off x="954948" y="1770730"/>
            <a:ext cx="1576963" cy="212291"/>
            <a:chOff x="4709497" y="955750"/>
            <a:chExt cx="3307096" cy="243392"/>
          </a:xfrm>
          <a:effectLst/>
        </p:grpSpPr>
        <p:sp>
          <p:nvSpPr>
            <p:cNvPr id="7" name="テキスト ボックス 6">
              <a:extLst>
                <a:ext uri="{FF2B5EF4-FFF2-40B4-BE49-F238E27FC236}">
                  <a16:creationId xmlns:a16="http://schemas.microsoft.com/office/drawing/2014/main" id="{B3ECA92A-E0AB-F01E-1121-745F2E6AACA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3" name="直線コネクタ 22">
              <a:extLst>
                <a:ext uri="{FF2B5EF4-FFF2-40B4-BE49-F238E27FC236}">
                  <a16:creationId xmlns:a16="http://schemas.microsoft.com/office/drawing/2014/main" id="{446CB77D-DC80-D243-FCED-F9EDF9F54C0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9" name="グループ化 38">
            <a:extLst>
              <a:ext uri="{FF2B5EF4-FFF2-40B4-BE49-F238E27FC236}">
                <a16:creationId xmlns:a16="http://schemas.microsoft.com/office/drawing/2014/main" id="{7A24639F-AD38-6AD2-7655-38687F4F64C3}"/>
              </a:ext>
            </a:extLst>
          </p:cNvPr>
          <p:cNvGrpSpPr/>
          <p:nvPr/>
        </p:nvGrpSpPr>
        <p:grpSpPr>
          <a:xfrm>
            <a:off x="2602505" y="1770730"/>
            <a:ext cx="2477476" cy="212291"/>
            <a:chOff x="4709497" y="955750"/>
            <a:chExt cx="3307096" cy="243392"/>
          </a:xfrm>
          <a:effectLst/>
        </p:grpSpPr>
        <p:sp>
          <p:nvSpPr>
            <p:cNvPr id="47" name="テキスト ボックス 46">
              <a:extLst>
                <a:ext uri="{FF2B5EF4-FFF2-40B4-BE49-F238E27FC236}">
                  <a16:creationId xmlns:a16="http://schemas.microsoft.com/office/drawing/2014/main" id="{0AD9177F-8608-5542-1CE4-39920DC3514C}"/>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4" name="直線コネクタ 53">
              <a:extLst>
                <a:ext uri="{FF2B5EF4-FFF2-40B4-BE49-F238E27FC236}">
                  <a16:creationId xmlns:a16="http://schemas.microsoft.com/office/drawing/2014/main" id="{8CB1BD4E-4FBF-E689-370E-E35D1F847B56}"/>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3" name="グループ化 62">
            <a:extLst>
              <a:ext uri="{FF2B5EF4-FFF2-40B4-BE49-F238E27FC236}">
                <a16:creationId xmlns:a16="http://schemas.microsoft.com/office/drawing/2014/main" id="{1A3D596C-48DE-BB94-7A94-7863E2C9E6C1}"/>
              </a:ext>
            </a:extLst>
          </p:cNvPr>
          <p:cNvGrpSpPr/>
          <p:nvPr/>
        </p:nvGrpSpPr>
        <p:grpSpPr>
          <a:xfrm>
            <a:off x="5150573" y="1460389"/>
            <a:ext cx="6854845" cy="212291"/>
            <a:chOff x="4709497" y="955750"/>
            <a:chExt cx="3307096" cy="243392"/>
          </a:xfrm>
          <a:effectLst/>
        </p:grpSpPr>
        <p:sp>
          <p:nvSpPr>
            <p:cNvPr id="76" name="テキスト ボックス 75">
              <a:extLst>
                <a:ext uri="{FF2B5EF4-FFF2-40B4-BE49-F238E27FC236}">
                  <a16:creationId xmlns:a16="http://schemas.microsoft.com/office/drawing/2014/main" id="{1E07154C-9F53-962C-1EE3-03FDA3287C18}"/>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7" name="直線コネクタ 76">
              <a:extLst>
                <a:ext uri="{FF2B5EF4-FFF2-40B4-BE49-F238E27FC236}">
                  <a16:creationId xmlns:a16="http://schemas.microsoft.com/office/drawing/2014/main" id="{CC9286C6-2626-9A2A-D8BC-BD15C6ED32E8}"/>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8" name="グループ化 77">
            <a:extLst>
              <a:ext uri="{FF2B5EF4-FFF2-40B4-BE49-F238E27FC236}">
                <a16:creationId xmlns:a16="http://schemas.microsoft.com/office/drawing/2014/main" id="{B294EB3B-AE15-6E5F-FFF0-3ACACF8ADBC3}"/>
              </a:ext>
            </a:extLst>
          </p:cNvPr>
          <p:cNvGrpSpPr/>
          <p:nvPr/>
        </p:nvGrpSpPr>
        <p:grpSpPr>
          <a:xfrm>
            <a:off x="5646553" y="1770730"/>
            <a:ext cx="425384" cy="212291"/>
            <a:chOff x="4709497" y="955750"/>
            <a:chExt cx="3307096" cy="243392"/>
          </a:xfrm>
          <a:effectLst/>
        </p:grpSpPr>
        <p:sp>
          <p:nvSpPr>
            <p:cNvPr id="79" name="テキスト ボックス 78">
              <a:extLst>
                <a:ext uri="{FF2B5EF4-FFF2-40B4-BE49-F238E27FC236}">
                  <a16:creationId xmlns:a16="http://schemas.microsoft.com/office/drawing/2014/main" id="{7CA3C7C1-7028-77B4-0D10-E72B9C0AC23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0" name="直線コネクタ 79">
              <a:extLst>
                <a:ext uri="{FF2B5EF4-FFF2-40B4-BE49-F238E27FC236}">
                  <a16:creationId xmlns:a16="http://schemas.microsoft.com/office/drawing/2014/main" id="{B01652E8-A04C-2771-3379-0FC734512E5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1" name="グループ化 80">
            <a:extLst>
              <a:ext uri="{FF2B5EF4-FFF2-40B4-BE49-F238E27FC236}">
                <a16:creationId xmlns:a16="http://schemas.microsoft.com/office/drawing/2014/main" id="{C465791F-B13D-8A6E-561A-DE001C85C298}"/>
              </a:ext>
            </a:extLst>
          </p:cNvPr>
          <p:cNvGrpSpPr/>
          <p:nvPr/>
        </p:nvGrpSpPr>
        <p:grpSpPr>
          <a:xfrm>
            <a:off x="5150574" y="1766917"/>
            <a:ext cx="425384" cy="212291"/>
            <a:chOff x="4709497" y="955750"/>
            <a:chExt cx="3307096" cy="243392"/>
          </a:xfrm>
          <a:effectLst/>
        </p:grpSpPr>
        <p:sp>
          <p:nvSpPr>
            <p:cNvPr id="94" name="テキスト ボックス 93">
              <a:extLst>
                <a:ext uri="{FF2B5EF4-FFF2-40B4-BE49-F238E27FC236}">
                  <a16:creationId xmlns:a16="http://schemas.microsoft.com/office/drawing/2014/main" id="{37840C5C-D0B2-0E5E-5771-F10832BFCBD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5" name="直線コネクタ 94">
              <a:extLst>
                <a:ext uri="{FF2B5EF4-FFF2-40B4-BE49-F238E27FC236}">
                  <a16:creationId xmlns:a16="http://schemas.microsoft.com/office/drawing/2014/main" id="{425BAFE3-B18F-2283-9FD5-684CCD26921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6" name="グループ化 95">
            <a:extLst>
              <a:ext uri="{FF2B5EF4-FFF2-40B4-BE49-F238E27FC236}">
                <a16:creationId xmlns:a16="http://schemas.microsoft.com/office/drawing/2014/main" id="{37B06F4B-7633-63E3-D21A-8FF79C428A44}"/>
              </a:ext>
            </a:extLst>
          </p:cNvPr>
          <p:cNvGrpSpPr/>
          <p:nvPr/>
        </p:nvGrpSpPr>
        <p:grpSpPr>
          <a:xfrm>
            <a:off x="6142530" y="1766917"/>
            <a:ext cx="3324438" cy="212291"/>
            <a:chOff x="4709497" y="955750"/>
            <a:chExt cx="3307096" cy="243392"/>
          </a:xfrm>
          <a:effectLst/>
        </p:grpSpPr>
        <p:sp>
          <p:nvSpPr>
            <p:cNvPr id="97" name="テキスト ボックス 96">
              <a:extLst>
                <a:ext uri="{FF2B5EF4-FFF2-40B4-BE49-F238E27FC236}">
                  <a16:creationId xmlns:a16="http://schemas.microsoft.com/office/drawing/2014/main" id="{C0381706-7043-2D3E-61B5-A95557762EE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8" name="直線コネクタ 97">
              <a:extLst>
                <a:ext uri="{FF2B5EF4-FFF2-40B4-BE49-F238E27FC236}">
                  <a16:creationId xmlns:a16="http://schemas.microsoft.com/office/drawing/2014/main" id="{89F33C35-239E-20CF-BBF9-B2E804EEABE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9" name="グループ化 98">
            <a:extLst>
              <a:ext uri="{FF2B5EF4-FFF2-40B4-BE49-F238E27FC236}">
                <a16:creationId xmlns:a16="http://schemas.microsoft.com/office/drawing/2014/main" id="{BA9BD418-B55C-5D7D-B180-3DC29D0558EB}"/>
              </a:ext>
            </a:extLst>
          </p:cNvPr>
          <p:cNvGrpSpPr/>
          <p:nvPr/>
        </p:nvGrpSpPr>
        <p:grpSpPr>
          <a:xfrm>
            <a:off x="9527942" y="1770730"/>
            <a:ext cx="2477476" cy="212291"/>
            <a:chOff x="4709497" y="955750"/>
            <a:chExt cx="3307096" cy="243392"/>
          </a:xfrm>
          <a:effectLst/>
        </p:grpSpPr>
        <p:sp>
          <p:nvSpPr>
            <p:cNvPr id="100" name="テキスト ボックス 99">
              <a:extLst>
                <a:ext uri="{FF2B5EF4-FFF2-40B4-BE49-F238E27FC236}">
                  <a16:creationId xmlns:a16="http://schemas.microsoft.com/office/drawing/2014/main" id="{8D840C23-0105-1663-73DB-DB10A02EA91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1" name="直線コネクタ 100">
              <a:extLst>
                <a:ext uri="{FF2B5EF4-FFF2-40B4-BE49-F238E27FC236}">
                  <a16:creationId xmlns:a16="http://schemas.microsoft.com/office/drawing/2014/main" id="{3E088FA5-AC71-9F6E-451B-379707713722}"/>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8" name="グループ化 67">
            <a:extLst>
              <a:ext uri="{FF2B5EF4-FFF2-40B4-BE49-F238E27FC236}">
                <a16:creationId xmlns:a16="http://schemas.microsoft.com/office/drawing/2014/main" id="{EEB62A89-8394-0C1B-A05F-E60D1BA5B0A1}"/>
              </a:ext>
            </a:extLst>
          </p:cNvPr>
          <p:cNvGrpSpPr/>
          <p:nvPr/>
        </p:nvGrpSpPr>
        <p:grpSpPr>
          <a:xfrm>
            <a:off x="186827" y="2079574"/>
            <a:ext cx="11818591" cy="4392000"/>
            <a:chOff x="186827" y="2079575"/>
            <a:chExt cx="11818591" cy="4382657"/>
          </a:xfrm>
        </p:grpSpPr>
        <p:sp>
          <p:nvSpPr>
            <p:cNvPr id="6" name="正方形/長方形 5">
              <a:extLst>
                <a:ext uri="{FF2B5EF4-FFF2-40B4-BE49-F238E27FC236}">
                  <a16:creationId xmlns:a16="http://schemas.microsoft.com/office/drawing/2014/main" id="{0C823A9E-7A55-BBD3-EEB5-5C3CDBBBECA6}"/>
                </a:ext>
              </a:extLst>
            </p:cNvPr>
            <p:cNvSpPr/>
            <p:nvPr/>
          </p:nvSpPr>
          <p:spPr>
            <a:xfrm>
              <a:off x="954948" y="2079575"/>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画面変更</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16F1DDB2-5E7B-B39E-9962-4163B982085D}"/>
                </a:ext>
              </a:extLst>
            </p:cNvPr>
            <p:cNvSpPr/>
            <p:nvPr/>
          </p:nvSpPr>
          <p:spPr>
            <a:xfrm>
              <a:off x="2602505" y="2079575"/>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7C7BFDAA-B42E-826A-3DA2-9444D73AFC61}"/>
                </a:ext>
              </a:extLst>
            </p:cNvPr>
            <p:cNvSpPr/>
            <p:nvPr/>
          </p:nvSpPr>
          <p:spPr>
            <a:xfrm>
              <a:off x="5150574" y="2079575"/>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341C2DB6-B8D3-8552-5848-4C802109BE96}"/>
                </a:ext>
              </a:extLst>
            </p:cNvPr>
            <p:cNvSpPr/>
            <p:nvPr/>
          </p:nvSpPr>
          <p:spPr>
            <a:xfrm>
              <a:off x="6142530" y="2079575"/>
              <a:ext cx="3324438"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項目の新規追加、廃止</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他科目交際費など</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新旧リスト値の共存による設定変更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E218C62E-433C-96BE-D68D-8163045F3967}"/>
                </a:ext>
              </a:extLst>
            </p:cNvPr>
            <p:cNvSpPr/>
            <p:nvPr/>
          </p:nvSpPr>
          <p:spPr>
            <a:xfrm>
              <a:off x="9527942" y="2079575"/>
              <a:ext cx="247747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6332227D-DE8E-92D1-134A-18D3F9E3D568}"/>
                </a:ext>
              </a:extLst>
            </p:cNvPr>
            <p:cNvSpPr/>
            <p:nvPr/>
          </p:nvSpPr>
          <p:spPr>
            <a:xfrm>
              <a:off x="954948" y="2569954"/>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監査ルール</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31C3C3DF-F7C9-7324-64EA-03F0BEFF519D}"/>
                </a:ext>
              </a:extLst>
            </p:cNvPr>
            <p:cNvSpPr/>
            <p:nvPr/>
          </p:nvSpPr>
          <p:spPr>
            <a:xfrm>
              <a:off x="2602505" y="2569954"/>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6136B8BD-127B-AF2F-93C9-E087E01EBD39}"/>
                </a:ext>
              </a:extLst>
            </p:cNvPr>
            <p:cNvSpPr/>
            <p:nvPr/>
          </p:nvSpPr>
          <p:spPr>
            <a:xfrm>
              <a:off x="5150574" y="2569954"/>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3FCBA1E4-C39D-29BF-E7D2-C927F856D5E7}"/>
                </a:ext>
              </a:extLst>
            </p:cNvPr>
            <p:cNvSpPr/>
            <p:nvPr/>
          </p:nvSpPr>
          <p:spPr>
            <a:xfrm>
              <a:off x="5646553" y="2569954"/>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FDC71AEF-2B7E-4313-F06D-E2B97AFCA3EA}"/>
                </a:ext>
              </a:extLst>
            </p:cNvPr>
            <p:cNvSpPr/>
            <p:nvPr/>
          </p:nvSpPr>
          <p:spPr>
            <a:xfrm>
              <a:off x="6142530" y="2569954"/>
              <a:ext cx="3324438"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コード値変更に伴う全面見直し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制約によるチェック廃止</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明細数など</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 name="正方形/長方形 18">
              <a:extLst>
                <a:ext uri="{FF2B5EF4-FFF2-40B4-BE49-F238E27FC236}">
                  <a16:creationId xmlns:a16="http://schemas.microsoft.com/office/drawing/2014/main" id="{4B426EDC-C8F1-54C5-AFF4-1D5D21656C3B}"/>
                </a:ext>
              </a:extLst>
            </p:cNvPr>
            <p:cNvSpPr/>
            <p:nvPr/>
          </p:nvSpPr>
          <p:spPr>
            <a:xfrm>
              <a:off x="9527941" y="2569954"/>
              <a:ext cx="247747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DF5212CC-22BD-01D8-9286-645A412AFE39}"/>
                </a:ext>
              </a:extLst>
            </p:cNvPr>
            <p:cNvSpPr/>
            <p:nvPr/>
          </p:nvSpPr>
          <p:spPr>
            <a:xfrm>
              <a:off x="954948" y="5040810"/>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検証ルール</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06F455F7-18D7-BF4A-66F1-E08AC6D58F52}"/>
                </a:ext>
              </a:extLst>
            </p:cNvPr>
            <p:cNvSpPr/>
            <p:nvPr/>
          </p:nvSpPr>
          <p:spPr>
            <a:xfrm>
              <a:off x="2602505" y="5040810"/>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D47002CB-4B5B-5B31-3A1E-979610177277}"/>
                </a:ext>
              </a:extLst>
            </p:cNvPr>
            <p:cNvSpPr/>
            <p:nvPr/>
          </p:nvSpPr>
          <p:spPr>
            <a:xfrm>
              <a:off x="5150574" y="5040810"/>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D337FDE1-5653-8268-0F3E-A000AB74F76F}"/>
                </a:ext>
              </a:extLst>
            </p:cNvPr>
            <p:cNvSpPr/>
            <p:nvPr/>
          </p:nvSpPr>
          <p:spPr>
            <a:xfrm>
              <a:off x="5646553" y="5040810"/>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7770C48C-2399-A505-4505-1FBBE65147A5}"/>
                </a:ext>
              </a:extLst>
            </p:cNvPr>
            <p:cNvSpPr/>
            <p:nvPr/>
          </p:nvSpPr>
          <p:spPr>
            <a:xfrm>
              <a:off x="6142530" y="5040810"/>
              <a:ext cx="3324438"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体系変更に伴うテーブル値、ルール変更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7385300D-4C37-4687-E489-D24AF0A41FFA}"/>
                </a:ext>
              </a:extLst>
            </p:cNvPr>
            <p:cNvSpPr/>
            <p:nvPr/>
          </p:nvSpPr>
          <p:spPr>
            <a:xfrm>
              <a:off x="9527942" y="5040810"/>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F9FFFFF4-D438-06EC-4D28-00E799EE9D37}"/>
                </a:ext>
              </a:extLst>
            </p:cNvPr>
            <p:cNvSpPr/>
            <p:nvPr/>
          </p:nvSpPr>
          <p:spPr>
            <a:xfrm>
              <a:off x="954948" y="4062207"/>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承認</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WF</a:t>
              </a:r>
            </a:p>
          </p:txBody>
        </p:sp>
        <p:sp>
          <p:nvSpPr>
            <p:cNvPr id="28" name="正方形/長方形 27">
              <a:extLst>
                <a:ext uri="{FF2B5EF4-FFF2-40B4-BE49-F238E27FC236}">
                  <a16:creationId xmlns:a16="http://schemas.microsoft.com/office/drawing/2014/main" id="{3383F932-CCB0-FA63-A42B-4360145B806A}"/>
                </a:ext>
              </a:extLst>
            </p:cNvPr>
            <p:cNvSpPr/>
            <p:nvPr/>
          </p:nvSpPr>
          <p:spPr>
            <a:xfrm>
              <a:off x="2602505" y="406220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909AA5A7-9D89-2CAD-EEC7-C2AC95787D46}"/>
                </a:ext>
              </a:extLst>
            </p:cNvPr>
            <p:cNvSpPr/>
            <p:nvPr/>
          </p:nvSpPr>
          <p:spPr>
            <a:xfrm>
              <a:off x="5150574" y="4062207"/>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4D67BC02-A215-5F5C-AD1E-5477A11ED138}"/>
                </a:ext>
              </a:extLst>
            </p:cNvPr>
            <p:cNvSpPr/>
            <p:nvPr/>
          </p:nvSpPr>
          <p:spPr>
            <a:xfrm>
              <a:off x="5646553" y="4062207"/>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9ED90F7B-BCF6-175A-1F41-BAC93120269C}"/>
                </a:ext>
              </a:extLst>
            </p:cNvPr>
            <p:cNvSpPr/>
            <p:nvPr/>
          </p:nvSpPr>
          <p:spPr>
            <a:xfrm>
              <a:off x="6142530" y="4062207"/>
              <a:ext cx="3324438"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コード値による</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WF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分岐の変更</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分岐が複雑なため、テストが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100</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パターン以上あり</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DEDE8BC7-493C-F20D-DCBD-E40280E2CE10}"/>
                </a:ext>
              </a:extLst>
            </p:cNvPr>
            <p:cNvSpPr/>
            <p:nvPr/>
          </p:nvSpPr>
          <p:spPr>
            <a:xfrm>
              <a:off x="9527942" y="4062207"/>
              <a:ext cx="247747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6C0F418D-86BE-D66C-B8BB-0A51D8C694D2}"/>
                </a:ext>
              </a:extLst>
            </p:cNvPr>
            <p:cNvSpPr/>
            <p:nvPr/>
          </p:nvSpPr>
          <p:spPr bwMode="auto">
            <a:xfrm>
              <a:off x="186827" y="2079575"/>
              <a:ext cx="697526" cy="4382657"/>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a:solidFill>
                    <a:schemeClr val="bg1"/>
                  </a:solidFill>
                  <a:latin typeface="Meiryo UI" panose="020B0604030504040204" pitchFamily="50" charset="-128"/>
                  <a:ea typeface="Meiryo UI" panose="020B0604030504040204" pitchFamily="50" charset="-128"/>
                </a:rPr>
                <a:t>Concur</a:t>
              </a:r>
            </a:p>
            <a:p>
              <a:pPr algn="ctr" fontAlgn="ctr"/>
              <a:r>
                <a:rPr lang="en-US" altLang="ja-JP" sz="1000" b="1">
                  <a:solidFill>
                    <a:schemeClr val="bg1"/>
                  </a:solidFill>
                  <a:latin typeface="Meiryo UI" panose="020B0604030504040204" pitchFamily="50" charset="-128"/>
                  <a:ea typeface="Meiryo UI" panose="020B0604030504040204" pitchFamily="50" charset="-128"/>
                </a:rPr>
                <a:t>Expense</a:t>
              </a:r>
            </a:p>
            <a:p>
              <a:pPr algn="ctr" fontAlgn="ctr"/>
              <a:endParaRPr lang="en-US" altLang="ja-JP" sz="1000" b="1">
                <a:solidFill>
                  <a:schemeClr val="bg1"/>
                </a:solidFill>
                <a:latin typeface="Meiryo UI" panose="020B0604030504040204" pitchFamily="50" charset="-128"/>
                <a:ea typeface="Meiryo UI" panose="020B0604030504040204" pitchFamily="50" charset="-128"/>
              </a:endParaRPr>
            </a:p>
            <a:p>
              <a:pPr algn="ctr" fontAlgn="ctr"/>
              <a:r>
                <a:rPr lang="en-US" altLang="ja-JP" sz="1000" b="1">
                  <a:solidFill>
                    <a:srgbClr val="FFFF00"/>
                  </a:solidFill>
                  <a:latin typeface="Meiryo UI" panose="020B0604030504040204" pitchFamily="50" charset="-128"/>
                  <a:ea typeface="Meiryo UI" panose="020B0604030504040204" pitchFamily="50" charset="-128"/>
                </a:rPr>
                <a:t>※Invoice</a:t>
              </a:r>
              <a:r>
                <a:rPr lang="ja-JP" altLang="en-US" sz="1000" b="1">
                  <a:solidFill>
                    <a:srgbClr val="FFFF00"/>
                  </a:solidFill>
                  <a:latin typeface="Meiryo UI" panose="020B0604030504040204" pitchFamily="50" charset="-128"/>
                  <a:ea typeface="Meiryo UI" panose="020B0604030504040204" pitchFamily="50" charset="-128"/>
                </a:rPr>
                <a:t>とほぼ同様</a:t>
              </a:r>
              <a:endParaRPr lang="en-US" altLang="ja-JP" sz="1000" b="1">
                <a:solidFill>
                  <a:srgbClr val="FFFF00"/>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DCB39EE0-10F9-931E-77EE-E0BD23D2CAF8}"/>
                </a:ext>
              </a:extLst>
            </p:cNvPr>
            <p:cNvSpPr/>
            <p:nvPr/>
          </p:nvSpPr>
          <p:spPr>
            <a:xfrm>
              <a:off x="954948" y="4546396"/>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印刷レポート</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971EF1AB-B642-354F-7FFC-AEBD6553750E}"/>
                </a:ext>
              </a:extLst>
            </p:cNvPr>
            <p:cNvSpPr/>
            <p:nvPr/>
          </p:nvSpPr>
          <p:spPr>
            <a:xfrm>
              <a:off x="2602505" y="4546396"/>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81EF34BA-055C-F243-A026-31A3709589BE}"/>
                </a:ext>
              </a:extLst>
            </p:cNvPr>
            <p:cNvSpPr/>
            <p:nvPr/>
          </p:nvSpPr>
          <p:spPr>
            <a:xfrm>
              <a:off x="5150574" y="4546396"/>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B194FE18-CD55-8D32-FCAA-189363F518FC}"/>
                </a:ext>
              </a:extLst>
            </p:cNvPr>
            <p:cNvSpPr/>
            <p:nvPr/>
          </p:nvSpPr>
          <p:spPr>
            <a:xfrm>
              <a:off x="5646553" y="4546396"/>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22DAA5A2-3E1E-D0EE-06D9-BE090AA5CCA5}"/>
                </a:ext>
              </a:extLst>
            </p:cNvPr>
            <p:cNvSpPr/>
            <p:nvPr/>
          </p:nvSpPr>
          <p:spPr>
            <a:xfrm>
              <a:off x="6142530" y="4546396"/>
              <a:ext cx="3324438"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画面変更に伴う出力項目の変更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462E9F2C-421D-41E5-9871-D41D9BFC6E05}"/>
                </a:ext>
              </a:extLst>
            </p:cNvPr>
            <p:cNvSpPr/>
            <p:nvPr/>
          </p:nvSpPr>
          <p:spPr>
            <a:xfrm>
              <a:off x="9527942" y="4546396"/>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15751CDC-3697-8B53-162E-B3708C9BEBB9}"/>
                </a:ext>
              </a:extLst>
            </p:cNvPr>
            <p:cNvSpPr/>
            <p:nvPr/>
          </p:nvSpPr>
          <p:spPr>
            <a:xfrm>
              <a:off x="954948" y="6020374"/>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BI</a:t>
              </a:r>
            </a:p>
          </p:txBody>
        </p:sp>
        <p:sp>
          <p:nvSpPr>
            <p:cNvPr id="42" name="正方形/長方形 41">
              <a:extLst>
                <a:ext uri="{FF2B5EF4-FFF2-40B4-BE49-F238E27FC236}">
                  <a16:creationId xmlns:a16="http://schemas.microsoft.com/office/drawing/2014/main" id="{8A7A39A7-BF93-08E8-1D50-C69492E51E21}"/>
                </a:ext>
              </a:extLst>
            </p:cNvPr>
            <p:cNvSpPr/>
            <p:nvPr/>
          </p:nvSpPr>
          <p:spPr>
            <a:xfrm>
              <a:off x="2602505" y="6020374"/>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50BE780B-C52F-A46C-B577-26A62D0F8784}"/>
                </a:ext>
              </a:extLst>
            </p:cNvPr>
            <p:cNvSpPr/>
            <p:nvPr/>
          </p:nvSpPr>
          <p:spPr>
            <a:xfrm>
              <a:off x="5150574" y="6020374"/>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44" name="正方形/長方形 43">
              <a:extLst>
                <a:ext uri="{FF2B5EF4-FFF2-40B4-BE49-F238E27FC236}">
                  <a16:creationId xmlns:a16="http://schemas.microsoft.com/office/drawing/2014/main" id="{29D465A7-E664-DE29-8F3E-DAFDF2000E51}"/>
                </a:ext>
              </a:extLst>
            </p:cNvPr>
            <p:cNvSpPr/>
            <p:nvPr/>
          </p:nvSpPr>
          <p:spPr>
            <a:xfrm>
              <a:off x="5646553" y="6020374"/>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45" name="正方形/長方形 44">
              <a:extLst>
                <a:ext uri="{FF2B5EF4-FFF2-40B4-BE49-F238E27FC236}">
                  <a16:creationId xmlns:a16="http://schemas.microsoft.com/office/drawing/2014/main" id="{7DA571C7-DDA5-712A-FD2A-2ED1EE592113}"/>
                </a:ext>
              </a:extLst>
            </p:cNvPr>
            <p:cNvSpPr/>
            <p:nvPr/>
          </p:nvSpPr>
          <p:spPr>
            <a:xfrm>
              <a:off x="6142530" y="6020374"/>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経理で対応するため</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2A31580F-8114-1BC7-6A65-4659B92288AE}"/>
                </a:ext>
              </a:extLst>
            </p:cNvPr>
            <p:cNvSpPr/>
            <p:nvPr/>
          </p:nvSpPr>
          <p:spPr>
            <a:xfrm>
              <a:off x="9527942" y="6020374"/>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BF934DA4-60D0-423D-50F9-CD751F3850BF}"/>
                </a:ext>
              </a:extLst>
            </p:cNvPr>
            <p:cNvSpPr/>
            <p:nvPr/>
          </p:nvSpPr>
          <p:spPr>
            <a:xfrm>
              <a:off x="954948" y="3055204"/>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マスタ取込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9" name="正方形/長方形 48">
              <a:extLst>
                <a:ext uri="{FF2B5EF4-FFF2-40B4-BE49-F238E27FC236}">
                  <a16:creationId xmlns:a16="http://schemas.microsoft.com/office/drawing/2014/main" id="{A30C74BB-9CA9-DDC6-A5F4-A88E5DDBF020}"/>
                </a:ext>
              </a:extLst>
            </p:cNvPr>
            <p:cNvSpPr/>
            <p:nvPr/>
          </p:nvSpPr>
          <p:spPr>
            <a:xfrm>
              <a:off x="2602505" y="3055204"/>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0" name="正方形/長方形 49">
              <a:extLst>
                <a:ext uri="{FF2B5EF4-FFF2-40B4-BE49-F238E27FC236}">
                  <a16:creationId xmlns:a16="http://schemas.microsoft.com/office/drawing/2014/main" id="{81998283-984C-CC60-5905-F7EB6A8ABF26}"/>
                </a:ext>
              </a:extLst>
            </p:cNvPr>
            <p:cNvSpPr/>
            <p:nvPr/>
          </p:nvSpPr>
          <p:spPr>
            <a:xfrm>
              <a:off x="5150574" y="3055204"/>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1" name="正方形/長方形 50">
              <a:extLst>
                <a:ext uri="{FF2B5EF4-FFF2-40B4-BE49-F238E27FC236}">
                  <a16:creationId xmlns:a16="http://schemas.microsoft.com/office/drawing/2014/main" id="{840AF82E-1790-4FC3-13DE-0986189401AE}"/>
                </a:ext>
              </a:extLst>
            </p:cNvPr>
            <p:cNvSpPr/>
            <p:nvPr/>
          </p:nvSpPr>
          <p:spPr>
            <a:xfrm>
              <a:off x="5646553" y="3055204"/>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B4313537-47A2-FCAA-EB8A-44F7BE7684D6}"/>
                </a:ext>
              </a:extLst>
            </p:cNvPr>
            <p:cNvSpPr/>
            <p:nvPr/>
          </p:nvSpPr>
          <p:spPr>
            <a:xfrm>
              <a:off x="6142530" y="3055204"/>
              <a:ext cx="3324438"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新リストの取り込み設定の追加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新旧リスト値の共存による設定変更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7BE4075F-966A-6294-3828-0BCE579D6DC8}"/>
                </a:ext>
              </a:extLst>
            </p:cNvPr>
            <p:cNvSpPr/>
            <p:nvPr/>
          </p:nvSpPr>
          <p:spPr>
            <a:xfrm>
              <a:off x="9527942" y="3055204"/>
              <a:ext cx="247747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D3F6A3B3-1EB1-07D5-68DB-D2927CA70537}"/>
                </a:ext>
              </a:extLst>
            </p:cNvPr>
            <p:cNvSpPr/>
            <p:nvPr/>
          </p:nvSpPr>
          <p:spPr>
            <a:xfrm>
              <a:off x="954948" y="5545349"/>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ポリシー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9F2D5B9C-DBCE-732A-4C6F-B948FAFC7061}"/>
                </a:ext>
              </a:extLst>
            </p:cNvPr>
            <p:cNvSpPr/>
            <p:nvPr/>
          </p:nvSpPr>
          <p:spPr>
            <a:xfrm>
              <a:off x="2602505" y="5545349"/>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D36D60C9-C606-F6F6-4E41-9AABF22081E7}"/>
                </a:ext>
              </a:extLst>
            </p:cNvPr>
            <p:cNvSpPr/>
            <p:nvPr/>
          </p:nvSpPr>
          <p:spPr>
            <a:xfrm>
              <a:off x="5150574" y="5545349"/>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74137891-7B93-B03E-7201-A89C5C56BA76}"/>
                </a:ext>
              </a:extLst>
            </p:cNvPr>
            <p:cNvSpPr/>
            <p:nvPr/>
          </p:nvSpPr>
          <p:spPr>
            <a:xfrm>
              <a:off x="5646553" y="5545349"/>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9" name="正方形/長方形 58">
              <a:extLst>
                <a:ext uri="{FF2B5EF4-FFF2-40B4-BE49-F238E27FC236}">
                  <a16:creationId xmlns:a16="http://schemas.microsoft.com/office/drawing/2014/main" id="{1886A0BD-4CB9-D3CF-1373-5473F698A262}"/>
                </a:ext>
              </a:extLst>
            </p:cNvPr>
            <p:cNvSpPr/>
            <p:nvPr/>
          </p:nvSpPr>
          <p:spPr>
            <a:xfrm>
              <a:off x="6142530" y="5545349"/>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（作成する場合は上記すべての設定が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から必要）</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0" name="正方形/長方形 59">
              <a:extLst>
                <a:ext uri="{FF2B5EF4-FFF2-40B4-BE49-F238E27FC236}">
                  <a16:creationId xmlns:a16="http://schemas.microsoft.com/office/drawing/2014/main" id="{287F0F10-A391-CB1A-CEE4-B68AE84686BF}"/>
                </a:ext>
              </a:extLst>
            </p:cNvPr>
            <p:cNvSpPr/>
            <p:nvPr/>
          </p:nvSpPr>
          <p:spPr>
            <a:xfrm>
              <a:off x="9527942" y="5545349"/>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solidFill>
                  <a:latin typeface="Meiryo UI" panose="020B0604030504040204" pitchFamily="50" charset="-128"/>
                  <a:ea typeface="Meiryo UI" panose="020B0604030504040204" pitchFamily="50" charset="-128"/>
                </a:rPr>
                <a:t>JKK</a:t>
              </a:r>
              <a:r>
                <a:rPr lang="ja-JP" altLang="en-US" sz="1100">
                  <a:solidFill>
                    <a:schemeClr val="tx1"/>
                  </a:solidFill>
                  <a:latin typeface="Meiryo UI" panose="020B0604030504040204" pitchFamily="50" charset="-128"/>
                  <a:ea typeface="Meiryo UI" panose="020B0604030504040204" pitchFamily="50" charset="-128"/>
                </a:rPr>
                <a:t>用に別で作成する必要があると特大</a:t>
              </a:r>
              <a:r>
                <a:rPr lang="en-US" altLang="ja-JP" sz="1100">
                  <a:solidFill>
                    <a:schemeClr val="tx1"/>
                  </a:solidFill>
                  <a:latin typeface="Meiryo UI" panose="020B0604030504040204" pitchFamily="50" charset="-128"/>
                  <a:ea typeface="Meiryo UI" panose="020B0604030504040204" pitchFamily="50" charset="-128"/>
                </a:rPr>
                <a:t>(1,000-2,000</a:t>
              </a:r>
              <a:r>
                <a:rPr lang="ja-JP" altLang="en-US" sz="1100">
                  <a:solidFill>
                    <a:schemeClr val="tx1"/>
                  </a:solidFill>
                  <a:latin typeface="Meiryo UI" panose="020B0604030504040204" pitchFamily="50" charset="-128"/>
                  <a:ea typeface="Meiryo UI" panose="020B0604030504040204" pitchFamily="50" charset="-128"/>
                </a:rPr>
                <a:t>万</a:t>
              </a:r>
              <a:r>
                <a:rPr lang="en-US" altLang="ja-JP" sz="1100">
                  <a:solidFill>
                    <a:schemeClr val="tx1"/>
                  </a:solidFill>
                  <a:latin typeface="Meiryo UI" panose="020B0604030504040204" pitchFamily="50" charset="-128"/>
                  <a:ea typeface="Meiryo UI" panose="020B0604030504040204" pitchFamily="50" charset="-128"/>
                </a:rPr>
                <a:t>)</a:t>
              </a:r>
            </a:p>
          </p:txBody>
        </p:sp>
        <p:sp>
          <p:nvSpPr>
            <p:cNvPr id="61" name="正方形/長方形 60">
              <a:extLst>
                <a:ext uri="{FF2B5EF4-FFF2-40B4-BE49-F238E27FC236}">
                  <a16:creationId xmlns:a16="http://schemas.microsoft.com/office/drawing/2014/main" id="{33ADA038-D81A-D72B-C887-E88C9C19A7B0}"/>
                </a:ext>
              </a:extLst>
            </p:cNvPr>
            <p:cNvSpPr/>
            <p:nvPr/>
          </p:nvSpPr>
          <p:spPr>
            <a:xfrm>
              <a:off x="5646553" y="2090653"/>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C7235D6E-81D4-5D80-C204-436E03896AAF}"/>
                </a:ext>
              </a:extLst>
            </p:cNvPr>
            <p:cNvSpPr/>
            <p:nvPr/>
          </p:nvSpPr>
          <p:spPr>
            <a:xfrm>
              <a:off x="954948" y="3563632"/>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経費タイプ</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04E20A53-15AF-A978-0775-B94378439932}"/>
                </a:ext>
              </a:extLst>
            </p:cNvPr>
            <p:cNvSpPr/>
            <p:nvPr/>
          </p:nvSpPr>
          <p:spPr>
            <a:xfrm>
              <a:off x="2602505" y="3563632"/>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5F1224B0-6827-8E6E-50C4-CD650DFC9992}"/>
                </a:ext>
              </a:extLst>
            </p:cNvPr>
            <p:cNvSpPr/>
            <p:nvPr/>
          </p:nvSpPr>
          <p:spPr>
            <a:xfrm>
              <a:off x="5150574" y="3563632"/>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28334BE8-2494-9867-5A67-BD69E25C518E}"/>
                </a:ext>
              </a:extLst>
            </p:cNvPr>
            <p:cNvSpPr/>
            <p:nvPr/>
          </p:nvSpPr>
          <p:spPr>
            <a:xfrm>
              <a:off x="5646553" y="3563632"/>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3EC67DED-47FA-A5F9-AE8B-E213EA99B331}"/>
                </a:ext>
              </a:extLst>
            </p:cNvPr>
            <p:cNvSpPr/>
            <p:nvPr/>
          </p:nvSpPr>
          <p:spPr>
            <a:xfrm>
              <a:off x="6142530" y="3563632"/>
              <a:ext cx="3324438"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経費タイプの新規追加、廃止（他科目交際費など）</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53E73D4D-6288-273E-69E4-B194B4187C20}"/>
                </a:ext>
              </a:extLst>
            </p:cNvPr>
            <p:cNvSpPr/>
            <p:nvPr/>
          </p:nvSpPr>
          <p:spPr>
            <a:xfrm>
              <a:off x="9527942" y="3563632"/>
              <a:ext cx="247747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69" name="タイトル 2">
            <a:extLst>
              <a:ext uri="{FF2B5EF4-FFF2-40B4-BE49-F238E27FC236}">
                <a16:creationId xmlns:a16="http://schemas.microsoft.com/office/drawing/2014/main" id="{622E1780-4756-4454-29EB-9344CC6EB6CF}"/>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Concur</a:t>
            </a:r>
            <a:r>
              <a:rPr lang="ja-JP" altLang="en-US" kern="0" dirty="0"/>
              <a:t>系）④</a:t>
            </a:r>
          </a:p>
        </p:txBody>
      </p:sp>
      <p:sp>
        <p:nvSpPr>
          <p:cNvPr id="73" name="コンテンツ プレースホルダー 5">
            <a:extLst>
              <a:ext uri="{FF2B5EF4-FFF2-40B4-BE49-F238E27FC236}">
                <a16:creationId xmlns:a16="http://schemas.microsoft.com/office/drawing/2014/main" id="{A185197D-251D-5C84-6AE9-38324B4DF267}"/>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Concur</a:t>
            </a:r>
            <a:r>
              <a:rPr lang="ja-JP" altLang="en-US" sz="1600"/>
              <a:t>系システム</a:t>
            </a:r>
            <a:r>
              <a:rPr lang="en-US" altLang="ja-JP" sz="1600" baseline="30000"/>
              <a:t>*1</a:t>
            </a:r>
            <a:r>
              <a:rPr lang="ja-JP" altLang="en-US" sz="1600"/>
              <a:t>の各機能における改修内容と規模は以下。　</a:t>
            </a:r>
            <a:endParaRPr lang="en-US" altLang="ja-JP" sz="1600"/>
          </a:p>
        </p:txBody>
      </p:sp>
      <p:sp>
        <p:nvSpPr>
          <p:cNvPr id="67" name="コンテンツ プレースホルダー 5">
            <a:extLst>
              <a:ext uri="{FF2B5EF4-FFF2-40B4-BE49-F238E27FC236}">
                <a16:creationId xmlns:a16="http://schemas.microsoft.com/office/drawing/2014/main" id="{0B7D75FD-F644-8F51-21B6-9B5344989448}"/>
              </a:ext>
            </a:extLst>
          </p:cNvPr>
          <p:cNvSpPr txBox="1">
            <a:spLocks/>
          </p:cNvSpPr>
          <p:nvPr/>
        </p:nvSpPr>
        <p:spPr bwMode="auto">
          <a:xfrm>
            <a:off x="395851" y="642211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3880064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26</a:t>
            </a:fld>
            <a:endParaRPr lang="en-US" altLang="ja-JP"/>
          </a:p>
        </p:txBody>
      </p:sp>
      <p:grpSp>
        <p:nvGrpSpPr>
          <p:cNvPr id="5" name="グループ化 4">
            <a:extLst>
              <a:ext uri="{FF2B5EF4-FFF2-40B4-BE49-F238E27FC236}">
                <a16:creationId xmlns:a16="http://schemas.microsoft.com/office/drawing/2014/main" id="{E0E11DF7-A97C-EDEF-9C79-07FDCFE2996C}"/>
              </a:ext>
            </a:extLst>
          </p:cNvPr>
          <p:cNvGrpSpPr/>
          <p:nvPr/>
        </p:nvGrpSpPr>
        <p:grpSpPr>
          <a:xfrm>
            <a:off x="954948" y="1770730"/>
            <a:ext cx="1576963" cy="212291"/>
            <a:chOff x="4709497" y="955750"/>
            <a:chExt cx="3307096" cy="243392"/>
          </a:xfrm>
          <a:effectLst/>
        </p:grpSpPr>
        <p:sp>
          <p:nvSpPr>
            <p:cNvPr id="7" name="テキスト ボックス 6">
              <a:extLst>
                <a:ext uri="{FF2B5EF4-FFF2-40B4-BE49-F238E27FC236}">
                  <a16:creationId xmlns:a16="http://schemas.microsoft.com/office/drawing/2014/main" id="{E95C4055-444C-6C29-990C-5E97EDFEE45E}"/>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3" name="直線コネクタ 22">
              <a:extLst>
                <a:ext uri="{FF2B5EF4-FFF2-40B4-BE49-F238E27FC236}">
                  <a16:creationId xmlns:a16="http://schemas.microsoft.com/office/drawing/2014/main" id="{AD1A3427-674D-65D5-5438-4FEA8BF219DD}"/>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9" name="グループ化 38">
            <a:extLst>
              <a:ext uri="{FF2B5EF4-FFF2-40B4-BE49-F238E27FC236}">
                <a16:creationId xmlns:a16="http://schemas.microsoft.com/office/drawing/2014/main" id="{CBB2FE0D-3EA6-E386-E560-59C565B223EB}"/>
              </a:ext>
            </a:extLst>
          </p:cNvPr>
          <p:cNvGrpSpPr/>
          <p:nvPr/>
        </p:nvGrpSpPr>
        <p:grpSpPr>
          <a:xfrm>
            <a:off x="2602505" y="1770730"/>
            <a:ext cx="2477476" cy="212291"/>
            <a:chOff x="4709497" y="955750"/>
            <a:chExt cx="3307096" cy="243392"/>
          </a:xfrm>
          <a:effectLst/>
        </p:grpSpPr>
        <p:sp>
          <p:nvSpPr>
            <p:cNvPr id="47" name="テキスト ボックス 46">
              <a:extLst>
                <a:ext uri="{FF2B5EF4-FFF2-40B4-BE49-F238E27FC236}">
                  <a16:creationId xmlns:a16="http://schemas.microsoft.com/office/drawing/2014/main" id="{D19DA016-EC3D-8143-927C-1560B71431E3}"/>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4" name="直線コネクタ 53">
              <a:extLst>
                <a:ext uri="{FF2B5EF4-FFF2-40B4-BE49-F238E27FC236}">
                  <a16:creationId xmlns:a16="http://schemas.microsoft.com/office/drawing/2014/main" id="{69890C2D-B596-62A0-5571-94F6E3F1AC6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3" name="グループ化 62">
            <a:extLst>
              <a:ext uri="{FF2B5EF4-FFF2-40B4-BE49-F238E27FC236}">
                <a16:creationId xmlns:a16="http://schemas.microsoft.com/office/drawing/2014/main" id="{85528A05-63C5-B5CE-EB9A-971F8E6E5DC7}"/>
              </a:ext>
            </a:extLst>
          </p:cNvPr>
          <p:cNvGrpSpPr/>
          <p:nvPr/>
        </p:nvGrpSpPr>
        <p:grpSpPr>
          <a:xfrm>
            <a:off x="5150573" y="1460389"/>
            <a:ext cx="6854845" cy="212291"/>
            <a:chOff x="4709497" y="955750"/>
            <a:chExt cx="3307096" cy="243392"/>
          </a:xfrm>
          <a:effectLst/>
        </p:grpSpPr>
        <p:sp>
          <p:nvSpPr>
            <p:cNvPr id="76" name="テキスト ボックス 75">
              <a:extLst>
                <a:ext uri="{FF2B5EF4-FFF2-40B4-BE49-F238E27FC236}">
                  <a16:creationId xmlns:a16="http://schemas.microsoft.com/office/drawing/2014/main" id="{A38EEEC6-EDAE-58E5-C63C-2D2A8DB2764A}"/>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7" name="直線コネクタ 76">
              <a:extLst>
                <a:ext uri="{FF2B5EF4-FFF2-40B4-BE49-F238E27FC236}">
                  <a16:creationId xmlns:a16="http://schemas.microsoft.com/office/drawing/2014/main" id="{5C80365C-9D5B-5953-4DBF-04752781A554}"/>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8" name="グループ化 77">
            <a:extLst>
              <a:ext uri="{FF2B5EF4-FFF2-40B4-BE49-F238E27FC236}">
                <a16:creationId xmlns:a16="http://schemas.microsoft.com/office/drawing/2014/main" id="{403C1614-D341-D021-E662-93DC2E119B32}"/>
              </a:ext>
            </a:extLst>
          </p:cNvPr>
          <p:cNvGrpSpPr/>
          <p:nvPr/>
        </p:nvGrpSpPr>
        <p:grpSpPr>
          <a:xfrm>
            <a:off x="5646553" y="1770730"/>
            <a:ext cx="425384" cy="212291"/>
            <a:chOff x="4709497" y="955750"/>
            <a:chExt cx="3307096" cy="243392"/>
          </a:xfrm>
          <a:effectLst/>
        </p:grpSpPr>
        <p:sp>
          <p:nvSpPr>
            <p:cNvPr id="79" name="テキスト ボックス 78">
              <a:extLst>
                <a:ext uri="{FF2B5EF4-FFF2-40B4-BE49-F238E27FC236}">
                  <a16:creationId xmlns:a16="http://schemas.microsoft.com/office/drawing/2014/main" id="{7B41F172-677F-F719-622B-FEADA73519CC}"/>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0" name="直線コネクタ 79">
              <a:extLst>
                <a:ext uri="{FF2B5EF4-FFF2-40B4-BE49-F238E27FC236}">
                  <a16:creationId xmlns:a16="http://schemas.microsoft.com/office/drawing/2014/main" id="{CD483A02-4523-9C39-9A99-64C1E1558627}"/>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1" name="グループ化 80">
            <a:extLst>
              <a:ext uri="{FF2B5EF4-FFF2-40B4-BE49-F238E27FC236}">
                <a16:creationId xmlns:a16="http://schemas.microsoft.com/office/drawing/2014/main" id="{657B2D31-3296-3766-9ECA-DF81C568240B}"/>
              </a:ext>
            </a:extLst>
          </p:cNvPr>
          <p:cNvGrpSpPr/>
          <p:nvPr/>
        </p:nvGrpSpPr>
        <p:grpSpPr>
          <a:xfrm>
            <a:off x="5150574" y="1766917"/>
            <a:ext cx="425384" cy="212291"/>
            <a:chOff x="4709497" y="955750"/>
            <a:chExt cx="3307096" cy="243392"/>
          </a:xfrm>
          <a:effectLst/>
        </p:grpSpPr>
        <p:sp>
          <p:nvSpPr>
            <p:cNvPr id="94" name="テキスト ボックス 93">
              <a:extLst>
                <a:ext uri="{FF2B5EF4-FFF2-40B4-BE49-F238E27FC236}">
                  <a16:creationId xmlns:a16="http://schemas.microsoft.com/office/drawing/2014/main" id="{145F6EEB-AE29-FCA8-10CF-26DB8DF4E1CE}"/>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5" name="直線コネクタ 94">
              <a:extLst>
                <a:ext uri="{FF2B5EF4-FFF2-40B4-BE49-F238E27FC236}">
                  <a16:creationId xmlns:a16="http://schemas.microsoft.com/office/drawing/2014/main" id="{41F80808-3917-F65C-1CE7-283C3DD1DEC7}"/>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6" name="グループ化 95">
            <a:extLst>
              <a:ext uri="{FF2B5EF4-FFF2-40B4-BE49-F238E27FC236}">
                <a16:creationId xmlns:a16="http://schemas.microsoft.com/office/drawing/2014/main" id="{D63ED2B1-088B-611B-DA9E-B9062675E523}"/>
              </a:ext>
            </a:extLst>
          </p:cNvPr>
          <p:cNvGrpSpPr/>
          <p:nvPr/>
        </p:nvGrpSpPr>
        <p:grpSpPr>
          <a:xfrm>
            <a:off x="6142530" y="1766917"/>
            <a:ext cx="3324438" cy="212291"/>
            <a:chOff x="4709497" y="955750"/>
            <a:chExt cx="3307096" cy="243392"/>
          </a:xfrm>
          <a:effectLst/>
        </p:grpSpPr>
        <p:sp>
          <p:nvSpPr>
            <p:cNvPr id="97" name="テキスト ボックス 96">
              <a:extLst>
                <a:ext uri="{FF2B5EF4-FFF2-40B4-BE49-F238E27FC236}">
                  <a16:creationId xmlns:a16="http://schemas.microsoft.com/office/drawing/2014/main" id="{C123E255-41C2-8833-6285-DC78DB1469CE}"/>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8" name="直線コネクタ 97">
              <a:extLst>
                <a:ext uri="{FF2B5EF4-FFF2-40B4-BE49-F238E27FC236}">
                  <a16:creationId xmlns:a16="http://schemas.microsoft.com/office/drawing/2014/main" id="{7E562366-D886-1310-990D-DDBEFCB17F7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9" name="グループ化 98">
            <a:extLst>
              <a:ext uri="{FF2B5EF4-FFF2-40B4-BE49-F238E27FC236}">
                <a16:creationId xmlns:a16="http://schemas.microsoft.com/office/drawing/2014/main" id="{DDF8DC23-1389-1778-71C2-64FBE80BECB7}"/>
              </a:ext>
            </a:extLst>
          </p:cNvPr>
          <p:cNvGrpSpPr/>
          <p:nvPr/>
        </p:nvGrpSpPr>
        <p:grpSpPr>
          <a:xfrm>
            <a:off x="9527942" y="1770730"/>
            <a:ext cx="2477476" cy="212291"/>
            <a:chOff x="4709497" y="955750"/>
            <a:chExt cx="3307096" cy="243392"/>
          </a:xfrm>
          <a:effectLst/>
        </p:grpSpPr>
        <p:sp>
          <p:nvSpPr>
            <p:cNvPr id="100" name="テキスト ボックス 99">
              <a:extLst>
                <a:ext uri="{FF2B5EF4-FFF2-40B4-BE49-F238E27FC236}">
                  <a16:creationId xmlns:a16="http://schemas.microsoft.com/office/drawing/2014/main" id="{D919E94B-8664-0DD3-084A-62110533F94E}"/>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1" name="直線コネクタ 100">
              <a:extLst>
                <a:ext uri="{FF2B5EF4-FFF2-40B4-BE49-F238E27FC236}">
                  <a16:creationId xmlns:a16="http://schemas.microsoft.com/office/drawing/2014/main" id="{CA1E24F1-FB74-9C40-4488-3D940F02071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 name="グループ化 7">
            <a:extLst>
              <a:ext uri="{FF2B5EF4-FFF2-40B4-BE49-F238E27FC236}">
                <a16:creationId xmlns:a16="http://schemas.microsoft.com/office/drawing/2014/main" id="{3FB6B6B9-DB30-8054-50F4-53C9BCF7B73A}"/>
              </a:ext>
            </a:extLst>
          </p:cNvPr>
          <p:cNvGrpSpPr/>
          <p:nvPr/>
        </p:nvGrpSpPr>
        <p:grpSpPr>
          <a:xfrm>
            <a:off x="186827" y="2079575"/>
            <a:ext cx="11818591" cy="4392000"/>
            <a:chOff x="186827" y="2079575"/>
            <a:chExt cx="11818591" cy="4478615"/>
          </a:xfrm>
        </p:grpSpPr>
        <p:sp>
          <p:nvSpPr>
            <p:cNvPr id="102" name="正方形/長方形 101">
              <a:extLst>
                <a:ext uri="{FF2B5EF4-FFF2-40B4-BE49-F238E27FC236}">
                  <a16:creationId xmlns:a16="http://schemas.microsoft.com/office/drawing/2014/main" id="{F6DDBAB3-2C1E-C8E2-6FF4-DAB04972DD18}"/>
                </a:ext>
              </a:extLst>
            </p:cNvPr>
            <p:cNvSpPr/>
            <p:nvPr/>
          </p:nvSpPr>
          <p:spPr>
            <a:xfrm>
              <a:off x="954948" y="2079575"/>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経費タイプ表示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3" name="正方形/長方形 102">
              <a:extLst>
                <a:ext uri="{FF2B5EF4-FFF2-40B4-BE49-F238E27FC236}">
                  <a16:creationId xmlns:a16="http://schemas.microsoft.com/office/drawing/2014/main" id="{C686314D-E530-A1F7-4E3F-C60DB9A9EDCE}"/>
                </a:ext>
              </a:extLst>
            </p:cNvPr>
            <p:cNvSpPr/>
            <p:nvPr/>
          </p:nvSpPr>
          <p:spPr>
            <a:xfrm>
              <a:off x="2602505" y="2079575"/>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経費タイプの追加</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廃止</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4" name="正方形/長方形 103">
              <a:extLst>
                <a:ext uri="{FF2B5EF4-FFF2-40B4-BE49-F238E27FC236}">
                  <a16:creationId xmlns:a16="http://schemas.microsoft.com/office/drawing/2014/main" id="{0D4AB4F6-8CDF-C98D-4111-205B9A86FF4D}"/>
                </a:ext>
              </a:extLst>
            </p:cNvPr>
            <p:cNvSpPr/>
            <p:nvPr/>
          </p:nvSpPr>
          <p:spPr>
            <a:xfrm>
              <a:off x="5150574" y="2079575"/>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5" name="正方形/長方形 104">
              <a:extLst>
                <a:ext uri="{FF2B5EF4-FFF2-40B4-BE49-F238E27FC236}">
                  <a16:creationId xmlns:a16="http://schemas.microsoft.com/office/drawing/2014/main" id="{275A4056-D160-A617-4241-309C0D9B83BC}"/>
                </a:ext>
              </a:extLst>
            </p:cNvPr>
            <p:cNvSpPr/>
            <p:nvPr/>
          </p:nvSpPr>
          <p:spPr>
            <a:xfrm>
              <a:off x="5646553" y="2079575"/>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6" name="正方形/長方形 105">
              <a:extLst>
                <a:ext uri="{FF2B5EF4-FFF2-40B4-BE49-F238E27FC236}">
                  <a16:creationId xmlns:a16="http://schemas.microsoft.com/office/drawing/2014/main" id="{C164864A-1F6A-7160-FD6E-6DEEB6C76D97}"/>
                </a:ext>
              </a:extLst>
            </p:cNvPr>
            <p:cNvSpPr/>
            <p:nvPr/>
          </p:nvSpPr>
          <p:spPr>
            <a:xfrm>
              <a:off x="6142530" y="2079575"/>
              <a:ext cx="3324438"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JKK</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で整理した経費タイプ体系に合わせた表示機能の変更 </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(Invoice/Expense</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の両方</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07" name="正方形/長方形 106">
              <a:extLst>
                <a:ext uri="{FF2B5EF4-FFF2-40B4-BE49-F238E27FC236}">
                  <a16:creationId xmlns:a16="http://schemas.microsoft.com/office/drawing/2014/main" id="{E1B610D6-9224-A1CF-5900-1F3537B0284B}"/>
                </a:ext>
              </a:extLst>
            </p:cNvPr>
            <p:cNvSpPr/>
            <p:nvPr/>
          </p:nvSpPr>
          <p:spPr>
            <a:xfrm>
              <a:off x="9527942" y="2079575"/>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8" name="正方形/長方形 107">
              <a:extLst>
                <a:ext uri="{FF2B5EF4-FFF2-40B4-BE49-F238E27FC236}">
                  <a16:creationId xmlns:a16="http://schemas.microsoft.com/office/drawing/2014/main" id="{663832AD-1FE7-8884-62E6-34CEBB111D1A}"/>
                </a:ext>
              </a:extLst>
            </p:cNvPr>
            <p:cNvSpPr/>
            <p:nvPr/>
          </p:nvSpPr>
          <p:spPr>
            <a:xfrm>
              <a:off x="954948" y="3176282"/>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活文連携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9" name="正方形/長方形 108">
              <a:extLst>
                <a:ext uri="{FF2B5EF4-FFF2-40B4-BE49-F238E27FC236}">
                  <a16:creationId xmlns:a16="http://schemas.microsoft.com/office/drawing/2014/main" id="{56A01A8B-9FA7-3F0A-0A7F-58B2D3A96D82}"/>
                </a:ext>
              </a:extLst>
            </p:cNvPr>
            <p:cNvSpPr/>
            <p:nvPr/>
          </p:nvSpPr>
          <p:spPr>
            <a:xfrm>
              <a:off x="2602505" y="3176282"/>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0" name="正方形/長方形 109">
              <a:extLst>
                <a:ext uri="{FF2B5EF4-FFF2-40B4-BE49-F238E27FC236}">
                  <a16:creationId xmlns:a16="http://schemas.microsoft.com/office/drawing/2014/main" id="{EE027E68-86C4-0D64-AB4B-854484A02824}"/>
                </a:ext>
              </a:extLst>
            </p:cNvPr>
            <p:cNvSpPr/>
            <p:nvPr/>
          </p:nvSpPr>
          <p:spPr>
            <a:xfrm>
              <a:off x="5150574" y="317628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11" name="正方形/長方形 110">
              <a:extLst>
                <a:ext uri="{FF2B5EF4-FFF2-40B4-BE49-F238E27FC236}">
                  <a16:creationId xmlns:a16="http://schemas.microsoft.com/office/drawing/2014/main" id="{5922EE77-9963-C824-F849-878178469A89}"/>
                </a:ext>
              </a:extLst>
            </p:cNvPr>
            <p:cNvSpPr/>
            <p:nvPr/>
          </p:nvSpPr>
          <p:spPr>
            <a:xfrm>
              <a:off x="5646553" y="317628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12" name="正方形/長方形 111">
              <a:extLst>
                <a:ext uri="{FF2B5EF4-FFF2-40B4-BE49-F238E27FC236}">
                  <a16:creationId xmlns:a16="http://schemas.microsoft.com/office/drawing/2014/main" id="{C45991A1-6F81-85B5-A29C-06A25EF2DAEB}"/>
                </a:ext>
              </a:extLst>
            </p:cNvPr>
            <p:cNvSpPr/>
            <p:nvPr/>
          </p:nvSpPr>
          <p:spPr>
            <a:xfrm>
              <a:off x="6142530" y="3176282"/>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3" name="正方形/長方形 112">
              <a:extLst>
                <a:ext uri="{FF2B5EF4-FFF2-40B4-BE49-F238E27FC236}">
                  <a16:creationId xmlns:a16="http://schemas.microsoft.com/office/drawing/2014/main" id="{8E81F1FF-A2AF-95EE-D259-BEFED0F5A444}"/>
                </a:ext>
              </a:extLst>
            </p:cNvPr>
            <p:cNvSpPr/>
            <p:nvPr/>
          </p:nvSpPr>
          <p:spPr>
            <a:xfrm>
              <a:off x="9527941" y="3176282"/>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4" name="正方形/長方形 113">
              <a:extLst>
                <a:ext uri="{FF2B5EF4-FFF2-40B4-BE49-F238E27FC236}">
                  <a16:creationId xmlns:a16="http://schemas.microsoft.com/office/drawing/2014/main" id="{29891404-C215-4938-819C-50A0B822C3F3}"/>
                </a:ext>
              </a:extLst>
            </p:cNvPr>
            <p:cNvSpPr/>
            <p:nvPr/>
          </p:nvSpPr>
          <p:spPr>
            <a:xfrm>
              <a:off x="954948" y="3647864"/>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タイムスタンプ</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5" name="正方形/長方形 114">
              <a:extLst>
                <a:ext uri="{FF2B5EF4-FFF2-40B4-BE49-F238E27FC236}">
                  <a16:creationId xmlns:a16="http://schemas.microsoft.com/office/drawing/2014/main" id="{99DC1513-E324-CCD2-E997-BDE42CC88F8F}"/>
                </a:ext>
              </a:extLst>
            </p:cNvPr>
            <p:cNvSpPr/>
            <p:nvPr/>
          </p:nvSpPr>
          <p:spPr>
            <a:xfrm>
              <a:off x="2602505" y="3647864"/>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6" name="正方形/長方形 115">
              <a:extLst>
                <a:ext uri="{FF2B5EF4-FFF2-40B4-BE49-F238E27FC236}">
                  <a16:creationId xmlns:a16="http://schemas.microsoft.com/office/drawing/2014/main" id="{7CF571D2-2252-53BF-3259-150DF3FCCE06}"/>
                </a:ext>
              </a:extLst>
            </p:cNvPr>
            <p:cNvSpPr/>
            <p:nvPr/>
          </p:nvSpPr>
          <p:spPr>
            <a:xfrm>
              <a:off x="5150574" y="3647864"/>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17" name="正方形/長方形 116">
              <a:extLst>
                <a:ext uri="{FF2B5EF4-FFF2-40B4-BE49-F238E27FC236}">
                  <a16:creationId xmlns:a16="http://schemas.microsoft.com/office/drawing/2014/main" id="{77965C8B-2F25-DD8F-B26F-1647D39F1BD9}"/>
                </a:ext>
              </a:extLst>
            </p:cNvPr>
            <p:cNvSpPr/>
            <p:nvPr/>
          </p:nvSpPr>
          <p:spPr>
            <a:xfrm>
              <a:off x="5646553" y="3647864"/>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18" name="正方形/長方形 117">
              <a:extLst>
                <a:ext uri="{FF2B5EF4-FFF2-40B4-BE49-F238E27FC236}">
                  <a16:creationId xmlns:a16="http://schemas.microsoft.com/office/drawing/2014/main" id="{E165F90D-12C0-CF01-7BBF-9ADB10C9A9FC}"/>
                </a:ext>
              </a:extLst>
            </p:cNvPr>
            <p:cNvSpPr/>
            <p:nvPr/>
          </p:nvSpPr>
          <p:spPr>
            <a:xfrm>
              <a:off x="6142530" y="3647864"/>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9" name="正方形/長方形 118">
              <a:extLst>
                <a:ext uri="{FF2B5EF4-FFF2-40B4-BE49-F238E27FC236}">
                  <a16:creationId xmlns:a16="http://schemas.microsoft.com/office/drawing/2014/main" id="{046F6CA9-06E3-7AD7-C96C-850B9F3A60E1}"/>
                </a:ext>
              </a:extLst>
            </p:cNvPr>
            <p:cNvSpPr/>
            <p:nvPr/>
          </p:nvSpPr>
          <p:spPr>
            <a:xfrm>
              <a:off x="9527942" y="3647864"/>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6" name="正方形/長方形 125">
              <a:extLst>
                <a:ext uri="{FF2B5EF4-FFF2-40B4-BE49-F238E27FC236}">
                  <a16:creationId xmlns:a16="http://schemas.microsoft.com/office/drawing/2014/main" id="{A2CDF96D-071D-67D9-E963-05A6298B5962}"/>
                </a:ext>
              </a:extLst>
            </p:cNvPr>
            <p:cNvSpPr/>
            <p:nvPr/>
          </p:nvSpPr>
          <p:spPr>
            <a:xfrm>
              <a:off x="954948" y="4137717"/>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連携</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API</a:t>
              </a:r>
            </a:p>
          </p:txBody>
        </p:sp>
        <p:sp>
          <p:nvSpPr>
            <p:cNvPr id="127" name="正方形/長方形 126">
              <a:extLst>
                <a:ext uri="{FF2B5EF4-FFF2-40B4-BE49-F238E27FC236}">
                  <a16:creationId xmlns:a16="http://schemas.microsoft.com/office/drawing/2014/main" id="{31BDD25C-D88F-9B61-0E1F-225673252DD4}"/>
                </a:ext>
              </a:extLst>
            </p:cNvPr>
            <p:cNvSpPr/>
            <p:nvPr/>
          </p:nvSpPr>
          <p:spPr>
            <a:xfrm>
              <a:off x="2602505" y="413771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err="1">
                  <a:solidFill>
                    <a:schemeClr val="tx1">
                      <a:lumMod val="75000"/>
                      <a:lumOff val="25000"/>
                    </a:schemeClr>
                  </a:solidFill>
                  <a:latin typeface="Meiryo UI" panose="020B0604030504040204" pitchFamily="50" charset="-128"/>
                  <a:ea typeface="Meiryo UI" panose="020B0604030504040204" pitchFamily="50" charset="-128"/>
                </a:rPr>
                <a:t>BtoB</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請求書で受領した請求書について、口座情報を利用しない</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8" name="正方形/長方形 127">
              <a:extLst>
                <a:ext uri="{FF2B5EF4-FFF2-40B4-BE49-F238E27FC236}">
                  <a16:creationId xmlns:a16="http://schemas.microsoft.com/office/drawing/2014/main" id="{A5798277-E7F5-8944-71D5-FA01725CCEEB}"/>
                </a:ext>
              </a:extLst>
            </p:cNvPr>
            <p:cNvSpPr/>
            <p:nvPr/>
          </p:nvSpPr>
          <p:spPr>
            <a:xfrm>
              <a:off x="5150574" y="4137717"/>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9" name="正方形/長方形 128">
              <a:extLst>
                <a:ext uri="{FF2B5EF4-FFF2-40B4-BE49-F238E27FC236}">
                  <a16:creationId xmlns:a16="http://schemas.microsoft.com/office/drawing/2014/main" id="{51D53F46-54D0-108D-0265-3F1652F8BB7C}"/>
                </a:ext>
              </a:extLst>
            </p:cNvPr>
            <p:cNvSpPr/>
            <p:nvPr/>
          </p:nvSpPr>
          <p:spPr>
            <a:xfrm>
              <a:off x="5646553" y="4137717"/>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0" name="正方形/長方形 129">
              <a:extLst>
                <a:ext uri="{FF2B5EF4-FFF2-40B4-BE49-F238E27FC236}">
                  <a16:creationId xmlns:a16="http://schemas.microsoft.com/office/drawing/2014/main" id="{77F73945-86F4-0460-D023-AAA329D5B15A}"/>
                </a:ext>
              </a:extLst>
            </p:cNvPr>
            <p:cNvSpPr/>
            <p:nvPr/>
          </p:nvSpPr>
          <p:spPr>
            <a:xfrm>
              <a:off x="6142530" y="4137717"/>
              <a:ext cx="3324438"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へ連携する</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API</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設定の変更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1" name="正方形/長方形 130">
              <a:extLst>
                <a:ext uri="{FF2B5EF4-FFF2-40B4-BE49-F238E27FC236}">
                  <a16:creationId xmlns:a16="http://schemas.microsoft.com/office/drawing/2014/main" id="{378A4E18-2040-77FC-864B-8B365C2E54B1}"/>
                </a:ext>
              </a:extLst>
            </p:cNvPr>
            <p:cNvSpPr/>
            <p:nvPr/>
          </p:nvSpPr>
          <p:spPr>
            <a:xfrm>
              <a:off x="9527942" y="413771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6" name="正方形/長方形 155">
              <a:extLst>
                <a:ext uri="{FF2B5EF4-FFF2-40B4-BE49-F238E27FC236}">
                  <a16:creationId xmlns:a16="http://schemas.microsoft.com/office/drawing/2014/main" id="{AF176A23-6227-3D0D-4B44-AC50907DD1AA}"/>
                </a:ext>
              </a:extLst>
            </p:cNvPr>
            <p:cNvSpPr/>
            <p:nvPr/>
          </p:nvSpPr>
          <p:spPr bwMode="auto">
            <a:xfrm>
              <a:off x="186827" y="2079576"/>
              <a:ext cx="697526" cy="1996812"/>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err="1">
                  <a:solidFill>
                    <a:schemeClr val="bg1"/>
                  </a:solidFill>
                  <a:latin typeface="Meiryo UI" panose="020B0604030504040204" pitchFamily="50" charset="-128"/>
                  <a:ea typeface="Meiryo UI" panose="020B0604030504040204" pitchFamily="50" charset="-128"/>
                </a:rPr>
                <a:t>Walkme</a:t>
              </a:r>
              <a:endParaRPr lang="en-US" altLang="ja-JP" sz="1000" b="1">
                <a:solidFill>
                  <a:schemeClr val="bg1"/>
                </a:solidFill>
                <a:latin typeface="Meiryo UI" panose="020B0604030504040204" pitchFamily="50" charset="-128"/>
                <a:ea typeface="Meiryo UI" panose="020B0604030504040204" pitchFamily="50" charset="-128"/>
              </a:endParaRPr>
            </a:p>
          </p:txBody>
        </p:sp>
        <p:sp>
          <p:nvSpPr>
            <p:cNvPr id="157" name="正方形/長方形 156">
              <a:extLst>
                <a:ext uri="{FF2B5EF4-FFF2-40B4-BE49-F238E27FC236}">
                  <a16:creationId xmlns:a16="http://schemas.microsoft.com/office/drawing/2014/main" id="{C2106040-2198-9692-9A1A-0DB273CFB3B8}"/>
                </a:ext>
              </a:extLst>
            </p:cNvPr>
            <p:cNvSpPr/>
            <p:nvPr/>
          </p:nvSpPr>
          <p:spPr bwMode="auto">
            <a:xfrm>
              <a:off x="186827" y="4137717"/>
              <a:ext cx="697526" cy="1425883"/>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err="1">
                  <a:solidFill>
                    <a:schemeClr val="bg1"/>
                  </a:solidFill>
                  <a:latin typeface="Meiryo UI" panose="020B0604030504040204" pitchFamily="50" charset="-128"/>
                  <a:ea typeface="Meiryo UI" panose="020B0604030504040204" pitchFamily="50" charset="-128"/>
                </a:rPr>
                <a:t>BtoB</a:t>
              </a:r>
              <a:endParaRPr lang="en-US" altLang="ja-JP" sz="1000" b="1">
                <a:solidFill>
                  <a:schemeClr val="bg1"/>
                </a:solidFill>
                <a:latin typeface="Meiryo UI" panose="020B0604030504040204" pitchFamily="50" charset="-128"/>
                <a:ea typeface="Meiryo UI" panose="020B0604030504040204" pitchFamily="50" charset="-128"/>
              </a:endParaRPr>
            </a:p>
            <a:p>
              <a:pPr algn="ctr" fontAlgn="ctr"/>
              <a:r>
                <a:rPr lang="ja-JP" altLang="en-US" sz="1000" b="1">
                  <a:solidFill>
                    <a:schemeClr val="bg1"/>
                  </a:solidFill>
                  <a:latin typeface="Meiryo UI" panose="020B0604030504040204" pitchFamily="50" charset="-128"/>
                  <a:ea typeface="Meiryo UI" panose="020B0604030504040204" pitchFamily="50" charset="-128"/>
                </a:rPr>
                <a:t>請求書</a:t>
              </a:r>
              <a:endParaRPr lang="en-US" altLang="ja-JP" sz="1000" b="1">
                <a:solidFill>
                  <a:schemeClr val="bg1"/>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625A303A-931C-8DC7-66E4-B3755588C4B0}"/>
                </a:ext>
              </a:extLst>
            </p:cNvPr>
            <p:cNvSpPr/>
            <p:nvPr/>
          </p:nvSpPr>
          <p:spPr>
            <a:xfrm>
              <a:off x="954948" y="4624447"/>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取引先マスタ取込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495010BA-0990-4B99-6F60-1B36F75EEFFA}"/>
                </a:ext>
              </a:extLst>
            </p:cNvPr>
            <p:cNvSpPr/>
            <p:nvPr/>
          </p:nvSpPr>
          <p:spPr>
            <a:xfrm>
              <a:off x="2602505" y="462444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マスタコード体系、名称体系の変更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DC01FB3E-318C-BB39-9233-3315AF38D18C}"/>
                </a:ext>
              </a:extLst>
            </p:cNvPr>
            <p:cNvSpPr/>
            <p:nvPr/>
          </p:nvSpPr>
          <p:spPr>
            <a:xfrm>
              <a:off x="5150574" y="4624447"/>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92DF7E1E-F081-A9E8-4619-38AC962EE486}"/>
                </a:ext>
              </a:extLst>
            </p:cNvPr>
            <p:cNvSpPr/>
            <p:nvPr/>
          </p:nvSpPr>
          <p:spPr>
            <a:xfrm>
              <a:off x="5646553" y="4624447"/>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38791FFB-3ECC-8CFA-AA94-701485D319E4}"/>
                </a:ext>
              </a:extLst>
            </p:cNvPr>
            <p:cNvSpPr/>
            <p:nvPr/>
          </p:nvSpPr>
          <p:spPr>
            <a:xfrm>
              <a:off x="6142530" y="4624447"/>
              <a:ext cx="3324438"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既存取引先マスタの設定値の変更（コード、名称）</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7A101A07-D5C7-359D-FE6A-16DF37563A47}"/>
                </a:ext>
              </a:extLst>
            </p:cNvPr>
            <p:cNvSpPr/>
            <p:nvPr/>
          </p:nvSpPr>
          <p:spPr>
            <a:xfrm>
              <a:off x="9527942" y="462444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73567B59-AC85-6C7B-A240-C5C6E5A8C403}"/>
                </a:ext>
              </a:extLst>
            </p:cNvPr>
            <p:cNvSpPr/>
            <p:nvPr/>
          </p:nvSpPr>
          <p:spPr bwMode="auto">
            <a:xfrm>
              <a:off x="186827" y="5624929"/>
              <a:ext cx="697526" cy="933261"/>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活文</a:t>
              </a:r>
              <a:endParaRPr lang="en-US" altLang="ja-JP" sz="1000" b="1">
                <a:solidFill>
                  <a:schemeClr val="bg1"/>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6510FDAB-7EA7-33E2-3AF5-B75DF29AE68B}"/>
                </a:ext>
              </a:extLst>
            </p:cNvPr>
            <p:cNvSpPr/>
            <p:nvPr/>
          </p:nvSpPr>
          <p:spPr>
            <a:xfrm>
              <a:off x="954948" y="5619037"/>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文書保管</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DA14C5E2-3AF0-C7E9-2BCA-1EB6F24066FF}"/>
                </a:ext>
              </a:extLst>
            </p:cNvPr>
            <p:cNvSpPr/>
            <p:nvPr/>
          </p:nvSpPr>
          <p:spPr>
            <a:xfrm>
              <a:off x="2602505" y="561903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81758E56-5654-DB29-4DFA-54ED0B122217}"/>
                </a:ext>
              </a:extLst>
            </p:cNvPr>
            <p:cNvSpPr/>
            <p:nvPr/>
          </p:nvSpPr>
          <p:spPr>
            <a:xfrm>
              <a:off x="5150574" y="5619037"/>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8" name="正方形/長方形 17">
              <a:extLst>
                <a:ext uri="{FF2B5EF4-FFF2-40B4-BE49-F238E27FC236}">
                  <a16:creationId xmlns:a16="http://schemas.microsoft.com/office/drawing/2014/main" id="{02C05CC2-94E6-F907-858C-A05F29E06E42}"/>
                </a:ext>
              </a:extLst>
            </p:cNvPr>
            <p:cNvSpPr/>
            <p:nvPr/>
          </p:nvSpPr>
          <p:spPr>
            <a:xfrm>
              <a:off x="5646553" y="5619037"/>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 name="正方形/長方形 18">
              <a:extLst>
                <a:ext uri="{FF2B5EF4-FFF2-40B4-BE49-F238E27FC236}">
                  <a16:creationId xmlns:a16="http://schemas.microsoft.com/office/drawing/2014/main" id="{D6231549-50D2-2CFB-3BD9-A7AE2FE3F384}"/>
                </a:ext>
              </a:extLst>
            </p:cNvPr>
            <p:cNvSpPr/>
            <p:nvPr/>
          </p:nvSpPr>
          <p:spPr>
            <a:xfrm>
              <a:off x="6142530" y="5619037"/>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F13B934A-45B8-FAC1-E96F-2A50E805CED6}"/>
                </a:ext>
              </a:extLst>
            </p:cNvPr>
            <p:cNvSpPr/>
            <p:nvPr/>
          </p:nvSpPr>
          <p:spPr>
            <a:xfrm>
              <a:off x="9527942" y="5619037"/>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2D092A62-7B3D-F9DD-65F5-FC08E03AD8FD}"/>
                </a:ext>
              </a:extLst>
            </p:cNvPr>
            <p:cNvSpPr/>
            <p:nvPr/>
          </p:nvSpPr>
          <p:spPr>
            <a:xfrm>
              <a:off x="954948" y="5121742"/>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請求書受取</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A377262E-6B2B-5EAE-0136-CC0907203954}"/>
                </a:ext>
              </a:extLst>
            </p:cNvPr>
            <p:cNvSpPr/>
            <p:nvPr/>
          </p:nvSpPr>
          <p:spPr>
            <a:xfrm>
              <a:off x="2602505" y="5121742"/>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9E8E3379-2E76-60AD-27EA-35D9F372943D}"/>
                </a:ext>
              </a:extLst>
            </p:cNvPr>
            <p:cNvSpPr/>
            <p:nvPr/>
          </p:nvSpPr>
          <p:spPr>
            <a:xfrm>
              <a:off x="5150574" y="512174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 name="正方形/長方形 24">
              <a:extLst>
                <a:ext uri="{FF2B5EF4-FFF2-40B4-BE49-F238E27FC236}">
                  <a16:creationId xmlns:a16="http://schemas.microsoft.com/office/drawing/2014/main" id="{4A48580C-6790-2A21-ACC4-6BD11EA5BF40}"/>
                </a:ext>
              </a:extLst>
            </p:cNvPr>
            <p:cNvSpPr/>
            <p:nvPr/>
          </p:nvSpPr>
          <p:spPr>
            <a:xfrm>
              <a:off x="5646553" y="512174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 name="正方形/長方形 25">
              <a:extLst>
                <a:ext uri="{FF2B5EF4-FFF2-40B4-BE49-F238E27FC236}">
                  <a16:creationId xmlns:a16="http://schemas.microsoft.com/office/drawing/2014/main" id="{27A64119-4C83-53E1-D729-F28134284B41}"/>
                </a:ext>
              </a:extLst>
            </p:cNvPr>
            <p:cNvSpPr/>
            <p:nvPr/>
          </p:nvSpPr>
          <p:spPr>
            <a:xfrm>
              <a:off x="6142530" y="5121742"/>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6C3BFF63-03D2-F4DB-9BA6-DB0768FCA5B3}"/>
                </a:ext>
              </a:extLst>
            </p:cNvPr>
            <p:cNvSpPr/>
            <p:nvPr/>
          </p:nvSpPr>
          <p:spPr>
            <a:xfrm>
              <a:off x="9527942" y="5121742"/>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B3BECFAC-E3D5-6565-122F-BFD5A14E5A16}"/>
                </a:ext>
              </a:extLst>
            </p:cNvPr>
            <p:cNvSpPr/>
            <p:nvPr/>
          </p:nvSpPr>
          <p:spPr>
            <a:xfrm>
              <a:off x="954948" y="6116332"/>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不正検知</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A5EAA951-126D-CDF5-F5FC-EA6822D49405}"/>
                </a:ext>
              </a:extLst>
            </p:cNvPr>
            <p:cNvSpPr/>
            <p:nvPr/>
          </p:nvSpPr>
          <p:spPr>
            <a:xfrm>
              <a:off x="2602505" y="6116332"/>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98B7FA7E-D912-715D-4F4A-06C30BD21595}"/>
                </a:ext>
              </a:extLst>
            </p:cNvPr>
            <p:cNvSpPr/>
            <p:nvPr/>
          </p:nvSpPr>
          <p:spPr>
            <a:xfrm>
              <a:off x="5150574" y="611633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1" name="正方形/長方形 30">
              <a:extLst>
                <a:ext uri="{FF2B5EF4-FFF2-40B4-BE49-F238E27FC236}">
                  <a16:creationId xmlns:a16="http://schemas.microsoft.com/office/drawing/2014/main" id="{433F1D40-7B78-B1F0-1D01-7426EA20177A}"/>
                </a:ext>
              </a:extLst>
            </p:cNvPr>
            <p:cNvSpPr/>
            <p:nvPr/>
          </p:nvSpPr>
          <p:spPr>
            <a:xfrm>
              <a:off x="5646553" y="611633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2" name="正方形/長方形 31">
              <a:extLst>
                <a:ext uri="{FF2B5EF4-FFF2-40B4-BE49-F238E27FC236}">
                  <a16:creationId xmlns:a16="http://schemas.microsoft.com/office/drawing/2014/main" id="{0CB3A505-8551-D667-CE89-0FD5ACB267DB}"/>
                </a:ext>
              </a:extLst>
            </p:cNvPr>
            <p:cNvSpPr/>
            <p:nvPr/>
          </p:nvSpPr>
          <p:spPr>
            <a:xfrm>
              <a:off x="6142530" y="6116332"/>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41E70285-D482-1C98-5697-0420033F345E}"/>
                </a:ext>
              </a:extLst>
            </p:cNvPr>
            <p:cNvSpPr/>
            <p:nvPr/>
          </p:nvSpPr>
          <p:spPr>
            <a:xfrm>
              <a:off x="9527942" y="6116332"/>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A302D605-407A-A738-65A8-BDA4607FF8F3}"/>
                </a:ext>
              </a:extLst>
            </p:cNvPr>
            <p:cNvSpPr/>
            <p:nvPr/>
          </p:nvSpPr>
          <p:spPr>
            <a:xfrm>
              <a:off x="954948" y="2558607"/>
              <a:ext cx="1576963" cy="569659"/>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BF7CA19B-A3F0-CF96-97C1-6927450EE357}"/>
                </a:ext>
              </a:extLst>
            </p:cNvPr>
            <p:cNvSpPr/>
            <p:nvPr/>
          </p:nvSpPr>
          <p:spPr>
            <a:xfrm>
              <a:off x="2602505" y="2558607"/>
              <a:ext cx="2477476" cy="569659"/>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で固定資産登録することにより、</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へ画面遷移する機能の追加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E9F523A8-B18E-2ADD-DAF8-ADE65FBBD65D}"/>
                </a:ext>
              </a:extLst>
            </p:cNvPr>
            <p:cNvSpPr/>
            <p:nvPr/>
          </p:nvSpPr>
          <p:spPr>
            <a:xfrm>
              <a:off x="5150574" y="2558607"/>
              <a:ext cx="425384" cy="569659"/>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A7F130CB-3738-5BE9-45F0-A0FCF53DB665}"/>
                </a:ext>
              </a:extLst>
            </p:cNvPr>
            <p:cNvSpPr/>
            <p:nvPr/>
          </p:nvSpPr>
          <p:spPr>
            <a:xfrm>
              <a:off x="5646553" y="2558607"/>
              <a:ext cx="425384" cy="569659"/>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A14BC18A-C106-37D3-BF8E-2B24CE3128A6}"/>
                </a:ext>
              </a:extLst>
            </p:cNvPr>
            <p:cNvSpPr/>
            <p:nvPr/>
          </p:nvSpPr>
          <p:spPr>
            <a:xfrm>
              <a:off x="6142530" y="2558607"/>
              <a:ext cx="3324438" cy="569659"/>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の画面遷移のためのボタン、処理の追加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DDF75B42-F53D-BAAB-9626-3DC909F74849}"/>
                </a:ext>
              </a:extLst>
            </p:cNvPr>
            <p:cNvSpPr/>
            <p:nvPr/>
          </p:nvSpPr>
          <p:spPr>
            <a:xfrm>
              <a:off x="9527942" y="2558607"/>
              <a:ext cx="2477476" cy="569659"/>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41" name="タイトル 2">
            <a:extLst>
              <a:ext uri="{FF2B5EF4-FFF2-40B4-BE49-F238E27FC236}">
                <a16:creationId xmlns:a16="http://schemas.microsoft.com/office/drawing/2014/main" id="{073ED90E-A566-A4F0-9A5C-06F146A06A3B}"/>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Concur</a:t>
            </a:r>
            <a:r>
              <a:rPr lang="ja-JP" altLang="en-US" kern="0" dirty="0"/>
              <a:t>系）⑤</a:t>
            </a:r>
          </a:p>
        </p:txBody>
      </p:sp>
      <p:sp>
        <p:nvSpPr>
          <p:cNvPr id="45" name="コンテンツ プレースホルダー 5">
            <a:extLst>
              <a:ext uri="{FF2B5EF4-FFF2-40B4-BE49-F238E27FC236}">
                <a16:creationId xmlns:a16="http://schemas.microsoft.com/office/drawing/2014/main" id="{EB4C4959-F97F-23A0-CDE7-0B368E07AC1C}"/>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Concur</a:t>
            </a:r>
            <a:r>
              <a:rPr lang="ja-JP" altLang="en-US" sz="1600"/>
              <a:t>系システム</a:t>
            </a:r>
            <a:r>
              <a:rPr lang="en-US" altLang="ja-JP" sz="1600" baseline="30000"/>
              <a:t>*1</a:t>
            </a:r>
            <a:r>
              <a:rPr lang="ja-JP" altLang="en-US" sz="1600"/>
              <a:t>の各機能における改修内容と規模は以下。　</a:t>
            </a:r>
            <a:endParaRPr lang="en-US" altLang="ja-JP" sz="1600"/>
          </a:p>
        </p:txBody>
      </p:sp>
      <p:sp>
        <p:nvSpPr>
          <p:cNvPr id="10" name="コンテンツ プレースホルダー 5">
            <a:extLst>
              <a:ext uri="{FF2B5EF4-FFF2-40B4-BE49-F238E27FC236}">
                <a16:creationId xmlns:a16="http://schemas.microsoft.com/office/drawing/2014/main" id="{32178CFB-683B-6BDF-4BC5-E5C22E272C6A}"/>
              </a:ext>
            </a:extLst>
          </p:cNvPr>
          <p:cNvSpPr txBox="1">
            <a:spLocks/>
          </p:cNvSpPr>
          <p:nvPr/>
        </p:nvSpPr>
        <p:spPr bwMode="auto">
          <a:xfrm>
            <a:off x="395851" y="642211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18954360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27</a:t>
            </a:fld>
            <a:endParaRPr lang="en-US" altLang="ja-JP"/>
          </a:p>
        </p:txBody>
      </p:sp>
      <p:grpSp>
        <p:nvGrpSpPr>
          <p:cNvPr id="8" name="グループ化 7">
            <a:extLst>
              <a:ext uri="{FF2B5EF4-FFF2-40B4-BE49-F238E27FC236}">
                <a16:creationId xmlns:a16="http://schemas.microsoft.com/office/drawing/2014/main" id="{75F384A2-7ED5-E67B-6A9B-731259E97185}"/>
              </a:ext>
            </a:extLst>
          </p:cNvPr>
          <p:cNvGrpSpPr/>
          <p:nvPr/>
        </p:nvGrpSpPr>
        <p:grpSpPr>
          <a:xfrm>
            <a:off x="954948" y="1770730"/>
            <a:ext cx="1576963" cy="212291"/>
            <a:chOff x="4709497" y="955750"/>
            <a:chExt cx="3307096" cy="243392"/>
          </a:xfrm>
          <a:effectLst/>
        </p:grpSpPr>
        <p:sp>
          <p:nvSpPr>
            <p:cNvPr id="9" name="テキスト ボックス 8">
              <a:extLst>
                <a:ext uri="{FF2B5EF4-FFF2-40B4-BE49-F238E27FC236}">
                  <a16:creationId xmlns:a16="http://schemas.microsoft.com/office/drawing/2014/main" id="{CB0DC411-BBDD-1A35-207D-75BA79AB52F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 name="直線コネクタ 9">
              <a:extLst>
                <a:ext uri="{FF2B5EF4-FFF2-40B4-BE49-F238E27FC236}">
                  <a16:creationId xmlns:a16="http://schemas.microsoft.com/office/drawing/2014/main" id="{BDC424A1-CA35-84B9-627E-C99A2B3ACB0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11" name="グループ化 10">
            <a:extLst>
              <a:ext uri="{FF2B5EF4-FFF2-40B4-BE49-F238E27FC236}">
                <a16:creationId xmlns:a16="http://schemas.microsoft.com/office/drawing/2014/main" id="{9F84DD77-B936-B973-9F68-227644C34AB0}"/>
              </a:ext>
            </a:extLst>
          </p:cNvPr>
          <p:cNvGrpSpPr/>
          <p:nvPr/>
        </p:nvGrpSpPr>
        <p:grpSpPr>
          <a:xfrm>
            <a:off x="2602505" y="1770730"/>
            <a:ext cx="2477476" cy="212291"/>
            <a:chOff x="4709497" y="955750"/>
            <a:chExt cx="3307096" cy="243392"/>
          </a:xfrm>
          <a:effectLst/>
        </p:grpSpPr>
        <p:sp>
          <p:nvSpPr>
            <p:cNvPr id="12" name="テキスト ボックス 11">
              <a:extLst>
                <a:ext uri="{FF2B5EF4-FFF2-40B4-BE49-F238E27FC236}">
                  <a16:creationId xmlns:a16="http://schemas.microsoft.com/office/drawing/2014/main" id="{AEB316A0-97B9-25F5-2128-2A7708F1773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3" name="直線コネクタ 12">
              <a:extLst>
                <a:ext uri="{FF2B5EF4-FFF2-40B4-BE49-F238E27FC236}">
                  <a16:creationId xmlns:a16="http://schemas.microsoft.com/office/drawing/2014/main" id="{4A474DB0-BB86-AFB1-9440-F81F73AF9D9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2" name="グループ化 21">
            <a:extLst>
              <a:ext uri="{FF2B5EF4-FFF2-40B4-BE49-F238E27FC236}">
                <a16:creationId xmlns:a16="http://schemas.microsoft.com/office/drawing/2014/main" id="{5CF2BC56-B5D0-F978-7A9A-12F177437CA5}"/>
              </a:ext>
            </a:extLst>
          </p:cNvPr>
          <p:cNvGrpSpPr/>
          <p:nvPr/>
        </p:nvGrpSpPr>
        <p:grpSpPr>
          <a:xfrm>
            <a:off x="5150573" y="1460389"/>
            <a:ext cx="6854845" cy="212291"/>
            <a:chOff x="4709497" y="955750"/>
            <a:chExt cx="3307096" cy="243392"/>
          </a:xfrm>
          <a:effectLst/>
        </p:grpSpPr>
        <p:sp>
          <p:nvSpPr>
            <p:cNvPr id="25" name="テキスト ボックス 24">
              <a:extLst>
                <a:ext uri="{FF2B5EF4-FFF2-40B4-BE49-F238E27FC236}">
                  <a16:creationId xmlns:a16="http://schemas.microsoft.com/office/drawing/2014/main" id="{96EDBBBD-40EC-FADD-39C1-47A9D94D5955}"/>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6" name="直線コネクタ 25">
              <a:extLst>
                <a:ext uri="{FF2B5EF4-FFF2-40B4-BE49-F238E27FC236}">
                  <a16:creationId xmlns:a16="http://schemas.microsoft.com/office/drawing/2014/main" id="{4D46CBC8-958E-9881-2B9E-56746913018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9" name="グループ化 28">
            <a:extLst>
              <a:ext uri="{FF2B5EF4-FFF2-40B4-BE49-F238E27FC236}">
                <a16:creationId xmlns:a16="http://schemas.microsoft.com/office/drawing/2014/main" id="{DD2B4EDB-5269-7C33-D286-0C0461ABA752}"/>
              </a:ext>
            </a:extLst>
          </p:cNvPr>
          <p:cNvGrpSpPr/>
          <p:nvPr/>
        </p:nvGrpSpPr>
        <p:grpSpPr>
          <a:xfrm>
            <a:off x="5646553" y="1770730"/>
            <a:ext cx="425384" cy="212291"/>
            <a:chOff x="4709497" y="955750"/>
            <a:chExt cx="3307096" cy="243392"/>
          </a:xfrm>
          <a:effectLst/>
        </p:grpSpPr>
        <p:sp>
          <p:nvSpPr>
            <p:cNvPr id="30" name="テキスト ボックス 29">
              <a:extLst>
                <a:ext uri="{FF2B5EF4-FFF2-40B4-BE49-F238E27FC236}">
                  <a16:creationId xmlns:a16="http://schemas.microsoft.com/office/drawing/2014/main" id="{4C9C9D59-AD80-3021-2772-C1AEFCA0BE4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1" name="直線コネクタ 30">
              <a:extLst>
                <a:ext uri="{FF2B5EF4-FFF2-40B4-BE49-F238E27FC236}">
                  <a16:creationId xmlns:a16="http://schemas.microsoft.com/office/drawing/2014/main" id="{6E3DE8EF-DD6A-B71E-5C86-A4462A6ECBE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7" name="グループ化 36">
            <a:extLst>
              <a:ext uri="{FF2B5EF4-FFF2-40B4-BE49-F238E27FC236}">
                <a16:creationId xmlns:a16="http://schemas.microsoft.com/office/drawing/2014/main" id="{F9846079-A6E1-3E4C-C5EF-628118184A42}"/>
              </a:ext>
            </a:extLst>
          </p:cNvPr>
          <p:cNvGrpSpPr/>
          <p:nvPr/>
        </p:nvGrpSpPr>
        <p:grpSpPr>
          <a:xfrm>
            <a:off x="5150574" y="1766917"/>
            <a:ext cx="425384" cy="212291"/>
            <a:chOff x="4709497" y="955750"/>
            <a:chExt cx="3307096" cy="243392"/>
          </a:xfrm>
          <a:effectLst/>
        </p:grpSpPr>
        <p:sp>
          <p:nvSpPr>
            <p:cNvPr id="45" name="テキスト ボックス 44">
              <a:extLst>
                <a:ext uri="{FF2B5EF4-FFF2-40B4-BE49-F238E27FC236}">
                  <a16:creationId xmlns:a16="http://schemas.microsoft.com/office/drawing/2014/main" id="{15ECC45D-E8E8-A23C-8535-E13246C4972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9" name="直線コネクタ 58">
              <a:extLst>
                <a:ext uri="{FF2B5EF4-FFF2-40B4-BE49-F238E27FC236}">
                  <a16:creationId xmlns:a16="http://schemas.microsoft.com/office/drawing/2014/main" id="{DAA7CE31-CFFF-F050-C1CD-C5EA74F6AA7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0" name="グループ化 59">
            <a:extLst>
              <a:ext uri="{FF2B5EF4-FFF2-40B4-BE49-F238E27FC236}">
                <a16:creationId xmlns:a16="http://schemas.microsoft.com/office/drawing/2014/main" id="{03781C1D-40C4-6F82-1EC3-6E7FE455C510}"/>
              </a:ext>
            </a:extLst>
          </p:cNvPr>
          <p:cNvGrpSpPr/>
          <p:nvPr/>
        </p:nvGrpSpPr>
        <p:grpSpPr>
          <a:xfrm>
            <a:off x="6142530" y="1766917"/>
            <a:ext cx="3324438" cy="212291"/>
            <a:chOff x="4709497" y="955750"/>
            <a:chExt cx="3307096" cy="243392"/>
          </a:xfrm>
          <a:effectLst/>
        </p:grpSpPr>
        <p:sp>
          <p:nvSpPr>
            <p:cNvPr id="69" name="テキスト ボックス 68">
              <a:extLst>
                <a:ext uri="{FF2B5EF4-FFF2-40B4-BE49-F238E27FC236}">
                  <a16:creationId xmlns:a16="http://schemas.microsoft.com/office/drawing/2014/main" id="{245F569D-C916-2C02-ADD9-5F5488337F0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0" name="直線コネクタ 69">
              <a:extLst>
                <a:ext uri="{FF2B5EF4-FFF2-40B4-BE49-F238E27FC236}">
                  <a16:creationId xmlns:a16="http://schemas.microsoft.com/office/drawing/2014/main" id="{3010F604-A175-83C6-2CE3-D8BF10D544A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1" name="グループ化 70">
            <a:extLst>
              <a:ext uri="{FF2B5EF4-FFF2-40B4-BE49-F238E27FC236}">
                <a16:creationId xmlns:a16="http://schemas.microsoft.com/office/drawing/2014/main" id="{C57839A9-6A4F-5FEC-8859-9ED2BCD6BFEF}"/>
              </a:ext>
            </a:extLst>
          </p:cNvPr>
          <p:cNvGrpSpPr/>
          <p:nvPr/>
        </p:nvGrpSpPr>
        <p:grpSpPr>
          <a:xfrm>
            <a:off x="9527942" y="1770730"/>
            <a:ext cx="2477476" cy="212291"/>
            <a:chOff x="4709497" y="955750"/>
            <a:chExt cx="3307096" cy="243392"/>
          </a:xfrm>
          <a:effectLst/>
        </p:grpSpPr>
        <p:sp>
          <p:nvSpPr>
            <p:cNvPr id="72" name="テキスト ボックス 71">
              <a:extLst>
                <a:ext uri="{FF2B5EF4-FFF2-40B4-BE49-F238E27FC236}">
                  <a16:creationId xmlns:a16="http://schemas.microsoft.com/office/drawing/2014/main" id="{1110641C-8B07-FBA2-E391-F5204250FCC9}"/>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3" name="直線コネクタ 72">
              <a:extLst>
                <a:ext uri="{FF2B5EF4-FFF2-40B4-BE49-F238E27FC236}">
                  <a16:creationId xmlns:a16="http://schemas.microsoft.com/office/drawing/2014/main" id="{D6ACBE5A-C791-AF31-0DA3-813959F53D1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9" name="グループ化 78">
            <a:extLst>
              <a:ext uri="{FF2B5EF4-FFF2-40B4-BE49-F238E27FC236}">
                <a16:creationId xmlns:a16="http://schemas.microsoft.com/office/drawing/2014/main" id="{91E4007B-D284-C983-8FC3-C53ED3F2EF8F}"/>
              </a:ext>
            </a:extLst>
          </p:cNvPr>
          <p:cNvGrpSpPr/>
          <p:nvPr/>
        </p:nvGrpSpPr>
        <p:grpSpPr>
          <a:xfrm>
            <a:off x="954948" y="2079574"/>
            <a:ext cx="11050470" cy="1154711"/>
            <a:chOff x="1005851" y="2210210"/>
            <a:chExt cx="10941059" cy="441858"/>
          </a:xfrm>
        </p:grpSpPr>
        <p:sp>
          <p:nvSpPr>
            <p:cNvPr id="16" name="正方形/長方形 15">
              <a:extLst>
                <a:ext uri="{FF2B5EF4-FFF2-40B4-BE49-F238E27FC236}">
                  <a16:creationId xmlns:a16="http://schemas.microsoft.com/office/drawing/2014/main" id="{041CBBD5-1E8F-1F21-A465-6DA5B6DDDA87}"/>
                </a:ext>
              </a:extLst>
            </p:cNvPr>
            <p:cNvSpPr/>
            <p:nvPr/>
          </p:nvSpPr>
          <p:spPr>
            <a:xfrm>
              <a:off x="1005851" y="2210210"/>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支払依頼連携</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(Oz/YCC/</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凸版</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7" name="正方形/長方形 16">
              <a:extLst>
                <a:ext uri="{FF2B5EF4-FFF2-40B4-BE49-F238E27FC236}">
                  <a16:creationId xmlns:a16="http://schemas.microsoft.com/office/drawing/2014/main" id="{A9BD3A7C-0B48-1ABD-6728-1B9CBBF1502E}"/>
                </a:ext>
              </a:extLst>
            </p:cNvPr>
            <p:cNvSpPr/>
            <p:nvPr/>
          </p:nvSpPr>
          <p:spPr>
            <a:xfrm>
              <a:off x="2637095" y="2210210"/>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支払依頼データ連携先、レイアウト、設定内容の変更</a:t>
              </a:r>
            </a:p>
            <a:p>
              <a:pPr marL="171450" indent="-17145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体系、連携頻度の変更</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D72CDF4A-0CB0-063E-2199-7BA44E450E8A}"/>
                </a:ext>
              </a:extLst>
            </p:cNvPr>
            <p:cNvSpPr/>
            <p:nvPr/>
          </p:nvSpPr>
          <p:spPr>
            <a:xfrm>
              <a:off x="5159936" y="2210210"/>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DC75F56B-4C35-AC90-4301-373C4DB106F0}"/>
                </a:ext>
              </a:extLst>
            </p:cNvPr>
            <p:cNvSpPr/>
            <p:nvPr/>
          </p:nvSpPr>
          <p:spPr>
            <a:xfrm>
              <a:off x="5651004" y="2210210"/>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rgbClr val="FF0000"/>
                  </a:solidFill>
                  <a:latin typeface="Meiryo UI" panose="020B0604030504040204" pitchFamily="50" charset="-128"/>
                  <a:ea typeface="Meiryo UI" panose="020B0604030504040204" pitchFamily="50" charset="-128"/>
                </a:rPr>
                <a:t>大</a:t>
              </a:r>
              <a:endParaRPr lang="en-US" altLang="ja-JP" sz="1400">
                <a:solidFill>
                  <a:srgbClr val="FF0000"/>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22F6FD04-0C79-05F2-183B-AD05132A93A5}"/>
                </a:ext>
              </a:extLst>
            </p:cNvPr>
            <p:cNvSpPr/>
            <p:nvPr/>
          </p:nvSpPr>
          <p:spPr>
            <a:xfrm>
              <a:off x="6142071" y="2210210"/>
              <a:ext cx="3291523"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Arial" panose="020B0604020202020204" pitchFamily="34" charset="0"/>
                <a:buChar char="•"/>
              </a:pPr>
              <a:r>
                <a:rPr lang="ja-JP" altLang="en-US" sz="1100">
                  <a:solidFill>
                    <a:srgbClr val="FF0000"/>
                  </a:solidFill>
                  <a:latin typeface="Meiryo UI"/>
                  <a:ea typeface="Meiryo UI"/>
                </a:rPr>
                <a:t>仕訳、原価の変換処理およびレイアウトの全変更</a:t>
              </a:r>
              <a:endParaRPr lang="en-US" altLang="ja-JP" sz="1100">
                <a:solidFill>
                  <a:srgbClr val="FF0000"/>
                </a:solidFill>
                <a:latin typeface="Meiryo UI"/>
                <a:ea typeface="Meiryo UI"/>
              </a:endParaRP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コード体系変更に伴うチェック処理</a:t>
              </a:r>
              <a:r>
                <a:rPr lang="en-US" altLang="ja-JP" sz="1100">
                  <a:solidFill>
                    <a:srgbClr val="FF0000"/>
                  </a:solidFill>
                  <a:latin typeface="Meiryo UI" panose="020B0604030504040204" pitchFamily="50" charset="-128"/>
                  <a:ea typeface="Meiryo UI" panose="020B0604030504040204" pitchFamily="50" charset="-128"/>
                </a:rPr>
                <a:t>(</a:t>
              </a:r>
              <a:r>
                <a:rPr lang="ja-JP" altLang="en-US" sz="1100">
                  <a:solidFill>
                    <a:srgbClr val="FF0000"/>
                  </a:solidFill>
                  <a:latin typeface="Meiryo UI" panose="020B0604030504040204" pitchFamily="50" charset="-128"/>
                  <a:ea typeface="Meiryo UI" panose="020B0604030504040204" pitchFamily="50" charset="-128"/>
                </a:rPr>
                <a:t>数十件</a:t>
              </a:r>
              <a:r>
                <a:rPr lang="en-US" altLang="ja-JP" sz="1100">
                  <a:solidFill>
                    <a:srgbClr val="FF0000"/>
                  </a:solidFill>
                  <a:latin typeface="Meiryo UI" panose="020B0604030504040204" pitchFamily="50" charset="-128"/>
                  <a:ea typeface="Meiryo UI" panose="020B0604030504040204" pitchFamily="50" charset="-128"/>
                </a:rPr>
                <a:t>)</a:t>
              </a:r>
              <a:r>
                <a:rPr lang="ja-JP" altLang="en-US" sz="1100">
                  <a:solidFill>
                    <a:srgbClr val="FF0000"/>
                  </a:solidFill>
                  <a:latin typeface="Meiryo UI" panose="020B0604030504040204" pitchFamily="50" charset="-128"/>
                  <a:ea typeface="Meiryo UI" panose="020B0604030504040204" pitchFamily="50" charset="-128"/>
                </a:rPr>
                <a:t>の修正</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2075B722-BB01-A86E-5F54-68D0EBB7B31B}"/>
                </a:ext>
              </a:extLst>
            </p:cNvPr>
            <p:cNvSpPr/>
            <p:nvPr/>
          </p:nvSpPr>
          <p:spPr>
            <a:xfrm>
              <a:off x="9493964" y="2210210"/>
              <a:ext cx="2452946"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Arial" panose="020B0604020202020204" pitchFamily="34" charset="0"/>
                <a:buChar char="•"/>
              </a:pPr>
              <a:r>
                <a:rPr lang="ja-JP" altLang="en-US" sz="1000">
                  <a:solidFill>
                    <a:srgbClr val="FF0000"/>
                  </a:solidFill>
                  <a:latin typeface="Meiryo UI"/>
                  <a:ea typeface="Meiryo UI"/>
                </a:rPr>
                <a:t>過渡期データの取り扱いによる臨時機能の要否</a:t>
              </a:r>
              <a:endParaRPr lang="en-US" altLang="ja-JP" sz="1000">
                <a:solidFill>
                  <a:srgbClr val="FF0000"/>
                </a:solidFill>
                <a:latin typeface="Meiryo UI"/>
                <a:ea typeface="Meiryo UI"/>
              </a:endParaRPr>
            </a:p>
            <a:p>
              <a:pPr marL="171450" indent="-171450">
                <a:buFont typeface="Arial" panose="020B0604020202020204" pitchFamily="34" charset="0"/>
                <a:buChar char="•"/>
              </a:pPr>
              <a:r>
                <a:rPr lang="en-US" altLang="ja-JP" sz="1000">
                  <a:solidFill>
                    <a:srgbClr val="FF0000"/>
                  </a:solidFill>
                  <a:latin typeface="Meiryo UI"/>
                  <a:ea typeface="Meiryo UI"/>
                </a:rPr>
                <a:t>YCC/</a:t>
              </a:r>
              <a:r>
                <a:rPr lang="ja-JP" altLang="en-US" sz="1000">
                  <a:solidFill>
                    <a:srgbClr val="FF0000"/>
                  </a:solidFill>
                  <a:latin typeface="Meiryo UI"/>
                  <a:ea typeface="Meiryo UI"/>
                </a:rPr>
                <a:t>凸版→ロコンの連携レイアウト変更</a:t>
              </a:r>
              <a:endParaRPr lang="en-US" altLang="ja-JP" sz="1000">
                <a:solidFill>
                  <a:srgbClr val="FF0000"/>
                </a:solidFill>
                <a:latin typeface="Meiryo UI"/>
                <a:ea typeface="Meiryo UI"/>
              </a:endParaRPr>
            </a:p>
          </p:txBody>
        </p:sp>
      </p:grpSp>
      <p:sp>
        <p:nvSpPr>
          <p:cNvPr id="78" name="正方形/長方形 77">
            <a:extLst>
              <a:ext uri="{FF2B5EF4-FFF2-40B4-BE49-F238E27FC236}">
                <a16:creationId xmlns:a16="http://schemas.microsoft.com/office/drawing/2014/main" id="{F485DFEF-E79A-9D6A-37EA-ACCBEC4F85DC}"/>
              </a:ext>
            </a:extLst>
          </p:cNvPr>
          <p:cNvSpPr/>
          <p:nvPr/>
        </p:nvSpPr>
        <p:spPr bwMode="auto">
          <a:xfrm>
            <a:off x="186827" y="2079576"/>
            <a:ext cx="697526" cy="3716455"/>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ロコン</a:t>
            </a:r>
            <a:br>
              <a:rPr lang="en-US" altLang="ja-JP" sz="1000" b="1">
                <a:solidFill>
                  <a:schemeClr val="bg1"/>
                </a:solidFill>
                <a:latin typeface="Meiryo UI" panose="020B0604030504040204" pitchFamily="50" charset="-128"/>
                <a:ea typeface="Meiryo UI" panose="020B0604030504040204" pitchFamily="50" charset="-128"/>
              </a:rPr>
            </a:br>
            <a:r>
              <a:rPr lang="ja-JP" altLang="en-US" sz="1000" b="1">
                <a:solidFill>
                  <a:schemeClr val="bg1"/>
                </a:solidFill>
                <a:latin typeface="Meiryo UI" panose="020B0604030504040204" pitchFamily="50" charset="-128"/>
                <a:ea typeface="Meiryo UI" panose="020B0604030504040204" pitchFamily="50" charset="-128"/>
              </a:rPr>
              <a:t>購買</a:t>
            </a:r>
            <a:r>
              <a:rPr lang="en-US" altLang="ja-JP" sz="1000" b="1">
                <a:solidFill>
                  <a:schemeClr val="bg1"/>
                </a:solidFill>
                <a:latin typeface="Meiryo UI" panose="020B0604030504040204" pitchFamily="50" charset="-128"/>
                <a:ea typeface="Meiryo UI" panose="020B0604030504040204" pitchFamily="50" charset="-128"/>
              </a:rPr>
              <a:t>HUB</a:t>
            </a:r>
          </a:p>
        </p:txBody>
      </p:sp>
      <p:grpSp>
        <p:nvGrpSpPr>
          <p:cNvPr id="77" name="グループ化 76">
            <a:extLst>
              <a:ext uri="{FF2B5EF4-FFF2-40B4-BE49-F238E27FC236}">
                <a16:creationId xmlns:a16="http://schemas.microsoft.com/office/drawing/2014/main" id="{55DFE615-B689-A08B-DBB5-94F45FBE4BF6}"/>
              </a:ext>
            </a:extLst>
          </p:cNvPr>
          <p:cNvGrpSpPr/>
          <p:nvPr/>
        </p:nvGrpSpPr>
        <p:grpSpPr>
          <a:xfrm>
            <a:off x="954948" y="3278886"/>
            <a:ext cx="11050470" cy="754875"/>
            <a:chOff x="1005851" y="2711143"/>
            <a:chExt cx="10941059" cy="441858"/>
          </a:xfrm>
        </p:grpSpPr>
        <p:sp>
          <p:nvSpPr>
            <p:cNvPr id="14" name="正方形/長方形 13">
              <a:extLst>
                <a:ext uri="{FF2B5EF4-FFF2-40B4-BE49-F238E27FC236}">
                  <a16:creationId xmlns:a16="http://schemas.microsoft.com/office/drawing/2014/main" id="{A8681E77-2E9C-DF72-DE0D-413902FA11BD}"/>
                </a:ext>
              </a:extLst>
            </p:cNvPr>
            <p:cNvSpPr/>
            <p:nvPr/>
          </p:nvSpPr>
          <p:spPr>
            <a:xfrm>
              <a:off x="1005851" y="2711143"/>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マスタデータ連携・</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F71A68FB-D6D2-8F68-B18E-23E60A3167F5}"/>
                </a:ext>
              </a:extLst>
            </p:cNvPr>
            <p:cNvSpPr/>
            <p:nvPr/>
          </p:nvSpPr>
          <p:spPr>
            <a:xfrm>
              <a:off x="2637095" y="2711143"/>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マスタの取得元変更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体系、連携頻度の変更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4" name="正方形/長方形 93">
              <a:extLst>
                <a:ext uri="{FF2B5EF4-FFF2-40B4-BE49-F238E27FC236}">
                  <a16:creationId xmlns:a16="http://schemas.microsoft.com/office/drawing/2014/main" id="{8FD8F661-2F89-B8C6-E777-E96E6E1525B6}"/>
                </a:ext>
              </a:extLst>
            </p:cNvPr>
            <p:cNvSpPr/>
            <p:nvPr/>
          </p:nvSpPr>
          <p:spPr>
            <a:xfrm>
              <a:off x="5159936" y="2711143"/>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5" name="正方形/長方形 94">
              <a:extLst>
                <a:ext uri="{FF2B5EF4-FFF2-40B4-BE49-F238E27FC236}">
                  <a16:creationId xmlns:a16="http://schemas.microsoft.com/office/drawing/2014/main" id="{36FA3E1B-CB99-8ACC-AFFA-5B9C635731F2}"/>
                </a:ext>
              </a:extLst>
            </p:cNvPr>
            <p:cNvSpPr/>
            <p:nvPr/>
          </p:nvSpPr>
          <p:spPr>
            <a:xfrm>
              <a:off x="5651004" y="2711143"/>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rgbClr val="FF0000"/>
                  </a:solidFill>
                  <a:latin typeface="Meiryo UI" panose="020B0604030504040204" pitchFamily="50" charset="-128"/>
                  <a:ea typeface="Meiryo UI" panose="020B0604030504040204" pitchFamily="50" charset="-128"/>
                </a:rPr>
                <a:t>大</a:t>
              </a:r>
              <a:endParaRPr lang="en-US" altLang="ja-JP" sz="1400">
                <a:solidFill>
                  <a:srgbClr val="FF0000"/>
                </a:solidFill>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BEEEB1B1-55FA-50CA-5DA7-004197955091}"/>
                </a:ext>
              </a:extLst>
            </p:cNvPr>
            <p:cNvSpPr/>
            <p:nvPr/>
          </p:nvSpPr>
          <p:spPr>
            <a:xfrm>
              <a:off x="6142071" y="2711143"/>
              <a:ext cx="3291523"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データ取得先の変更、取得処理の新規追加</a:t>
              </a:r>
              <a:r>
                <a:rPr lang="en-US" altLang="ja-JP" sz="1100">
                  <a:solidFill>
                    <a:srgbClr val="FF0000"/>
                  </a:solidFill>
                  <a:latin typeface="Meiryo UI" panose="020B0604030504040204" pitchFamily="50" charset="-128"/>
                  <a:ea typeface="Meiryo UI" panose="020B0604030504040204" pitchFamily="50" charset="-128"/>
                </a:rPr>
                <a:t>(10</a:t>
              </a:r>
              <a:r>
                <a:rPr lang="ja-JP" altLang="en-US" sz="1100">
                  <a:solidFill>
                    <a:srgbClr val="FF0000"/>
                  </a:solidFill>
                  <a:latin typeface="Meiryo UI" panose="020B0604030504040204" pitchFamily="50" charset="-128"/>
                  <a:ea typeface="Meiryo UI" panose="020B0604030504040204" pitchFamily="50" charset="-128"/>
                </a:rPr>
                <a:t>強</a:t>
              </a:r>
              <a:r>
                <a:rPr lang="en-US" altLang="ja-JP" sz="1100">
                  <a:solidFill>
                    <a:srgbClr val="FF0000"/>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更新、削除機能の変更</a:t>
              </a:r>
              <a:endParaRPr lang="en-US" altLang="ja-JP" sz="110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旧コードと新コードの共存のための機能追加</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97" name="正方形/長方形 96">
              <a:extLst>
                <a:ext uri="{FF2B5EF4-FFF2-40B4-BE49-F238E27FC236}">
                  <a16:creationId xmlns:a16="http://schemas.microsoft.com/office/drawing/2014/main" id="{19F577E1-DDAB-6CC2-9729-34BEA0514594}"/>
                </a:ext>
              </a:extLst>
            </p:cNvPr>
            <p:cNvSpPr/>
            <p:nvPr/>
          </p:nvSpPr>
          <p:spPr>
            <a:xfrm>
              <a:off x="9493964" y="2711143"/>
              <a:ext cx="2452946"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rgbClr val="FF0000"/>
                  </a:solidFill>
                  <a:latin typeface="Meiryo UI"/>
                  <a:ea typeface="Meiryo UI"/>
                </a:rPr>
                <a:t>過渡期データの取り扱いによる臨時機能の要否</a:t>
              </a:r>
              <a:endParaRPr lang="en-US" altLang="ja-JP" sz="1100">
                <a:solidFill>
                  <a:srgbClr val="FF0000"/>
                </a:solidFill>
                <a:latin typeface="Meiryo UI"/>
                <a:ea typeface="Meiryo UI"/>
              </a:endParaRPr>
            </a:p>
            <a:p>
              <a:pPr marL="171450" indent="-171450">
                <a:buFont typeface="Arial" panose="020B0604020202020204" pitchFamily="34" charset="0"/>
                <a:buChar char="•"/>
              </a:pPr>
              <a:r>
                <a:rPr lang="en-US" altLang="ja-JP" sz="1100">
                  <a:solidFill>
                    <a:srgbClr val="FF0000"/>
                  </a:solidFill>
                  <a:latin typeface="Meiryo UI"/>
                  <a:ea typeface="Meiryo UI"/>
                </a:rPr>
                <a:t>RIND</a:t>
              </a:r>
              <a:r>
                <a:rPr lang="ja-JP" altLang="en-US" sz="1100">
                  <a:solidFill>
                    <a:srgbClr val="FF0000"/>
                  </a:solidFill>
                  <a:latin typeface="Meiryo UI"/>
                  <a:ea typeface="Meiryo UI"/>
                </a:rPr>
                <a:t>のデータレイアウト変更</a:t>
              </a:r>
              <a:endParaRPr lang="en-US" altLang="ja-JP" sz="1100">
                <a:solidFill>
                  <a:srgbClr val="FF0000"/>
                </a:solidFill>
                <a:latin typeface="Meiryo UI"/>
                <a:ea typeface="Meiryo UI"/>
              </a:endParaRPr>
            </a:p>
          </p:txBody>
        </p:sp>
      </p:grpSp>
      <p:sp>
        <p:nvSpPr>
          <p:cNvPr id="5" name="正方形/長方形 4">
            <a:extLst>
              <a:ext uri="{FF2B5EF4-FFF2-40B4-BE49-F238E27FC236}">
                <a16:creationId xmlns:a16="http://schemas.microsoft.com/office/drawing/2014/main" id="{1F944CDE-1940-6199-9007-1919DA28A52D}"/>
              </a:ext>
            </a:extLst>
          </p:cNvPr>
          <p:cNvSpPr/>
          <p:nvPr/>
        </p:nvSpPr>
        <p:spPr>
          <a:xfrm>
            <a:off x="954948" y="4078362"/>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支払依頼取込結果</a:t>
            </a:r>
            <a:br>
              <a:rPr lang="en-US" altLang="zh-TW" sz="1200" b="1">
                <a:solidFill>
                  <a:schemeClr val="tx1">
                    <a:lumMod val="75000"/>
                    <a:lumOff val="25000"/>
                  </a:schemeClr>
                </a:solidFill>
                <a:latin typeface="Meiryo UI" panose="020B0604030504040204" pitchFamily="50" charset="-128"/>
                <a:ea typeface="Meiryo UI" panose="020B0604030504040204" pitchFamily="50" charset="-128"/>
              </a:rPr>
            </a:b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9B52CE67-62BA-389B-AA3F-FF75F5D4E172}"/>
              </a:ext>
            </a:extLst>
          </p:cNvPr>
          <p:cNvSpPr/>
          <p:nvPr/>
        </p:nvSpPr>
        <p:spPr>
          <a:xfrm>
            <a:off x="2602505" y="4078362"/>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元が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連携頻度が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時間に</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回に増加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B2E3A816-3D3E-94FB-3DDE-90F88ABE1490}"/>
              </a:ext>
            </a:extLst>
          </p:cNvPr>
          <p:cNvSpPr/>
          <p:nvPr/>
        </p:nvSpPr>
        <p:spPr>
          <a:xfrm>
            <a:off x="5150574" y="4078362"/>
            <a:ext cx="425384"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31BC26C3-954B-45EA-26D8-12164AAE6B92}"/>
              </a:ext>
            </a:extLst>
          </p:cNvPr>
          <p:cNvSpPr/>
          <p:nvPr/>
        </p:nvSpPr>
        <p:spPr>
          <a:xfrm>
            <a:off x="5646553" y="4078362"/>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70540585-5B14-2809-396D-5A1149F64469}"/>
              </a:ext>
            </a:extLst>
          </p:cNvPr>
          <p:cNvSpPr/>
          <p:nvPr/>
        </p:nvSpPr>
        <p:spPr>
          <a:xfrm>
            <a:off x="6142530" y="4078362"/>
            <a:ext cx="3324438"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仕様に合わせた</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処理、連携設定変更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エラー検知機能の変更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B48C8200-E1B9-EC86-CD91-B17B850C9826}"/>
              </a:ext>
            </a:extLst>
          </p:cNvPr>
          <p:cNvSpPr/>
          <p:nvPr/>
        </p:nvSpPr>
        <p:spPr>
          <a:xfrm>
            <a:off x="9527942" y="4078362"/>
            <a:ext cx="2477476"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C5BC12D0-D4B0-EE8A-9DC4-EDBF80E09A00}"/>
              </a:ext>
            </a:extLst>
          </p:cNvPr>
          <p:cNvSpPr/>
          <p:nvPr/>
        </p:nvSpPr>
        <p:spPr>
          <a:xfrm>
            <a:off x="954948" y="4560375"/>
            <a:ext cx="1576963" cy="754874"/>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支払依頼</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Neo-HR</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3A6DE934-A59B-8B65-0DD3-456A82B31852}"/>
              </a:ext>
            </a:extLst>
          </p:cNvPr>
          <p:cNvSpPr/>
          <p:nvPr/>
        </p:nvSpPr>
        <p:spPr>
          <a:xfrm>
            <a:off x="2602505" y="4560375"/>
            <a:ext cx="2477476" cy="754874"/>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廃止</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送信、結果の両方</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40" name="正方形/長方形 39">
            <a:extLst>
              <a:ext uri="{FF2B5EF4-FFF2-40B4-BE49-F238E27FC236}">
                <a16:creationId xmlns:a16="http://schemas.microsoft.com/office/drawing/2014/main" id="{C67CB5F4-6482-74E0-A750-88A7583B4DB7}"/>
              </a:ext>
            </a:extLst>
          </p:cNvPr>
          <p:cNvSpPr/>
          <p:nvPr/>
        </p:nvSpPr>
        <p:spPr>
          <a:xfrm>
            <a:off x="5150574" y="4560375"/>
            <a:ext cx="425384" cy="754874"/>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F7EE4E0F-E693-73B8-FFAF-43F4B985200C}"/>
              </a:ext>
            </a:extLst>
          </p:cNvPr>
          <p:cNvSpPr/>
          <p:nvPr/>
        </p:nvSpPr>
        <p:spPr>
          <a:xfrm>
            <a:off x="5646553" y="4560375"/>
            <a:ext cx="425384" cy="754874"/>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9A7FFE35-04BF-49DD-B369-A0B3B4CDD67E}"/>
              </a:ext>
            </a:extLst>
          </p:cNvPr>
          <p:cNvSpPr/>
          <p:nvPr/>
        </p:nvSpPr>
        <p:spPr>
          <a:xfrm>
            <a:off x="6142530" y="4560375"/>
            <a:ext cx="3324438" cy="754874"/>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廃止対応</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(Neo-HR→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ロコン→</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全社会計</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　</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全社会計→ロコン</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43" name="正方形/長方形 42">
            <a:extLst>
              <a:ext uri="{FF2B5EF4-FFF2-40B4-BE49-F238E27FC236}">
                <a16:creationId xmlns:a16="http://schemas.microsoft.com/office/drawing/2014/main" id="{CFB297F3-70F8-2917-2D0F-BF3C05EEEAC4}"/>
              </a:ext>
            </a:extLst>
          </p:cNvPr>
          <p:cNvSpPr/>
          <p:nvPr/>
        </p:nvSpPr>
        <p:spPr>
          <a:xfrm>
            <a:off x="9527942" y="4560375"/>
            <a:ext cx="2477476" cy="754874"/>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4" name="正方形/長方形 43">
            <a:extLst>
              <a:ext uri="{FF2B5EF4-FFF2-40B4-BE49-F238E27FC236}">
                <a16:creationId xmlns:a16="http://schemas.microsoft.com/office/drawing/2014/main" id="{2E164736-1232-B343-33B6-9F6E5E0A037D}"/>
              </a:ext>
            </a:extLst>
          </p:cNvPr>
          <p:cNvSpPr/>
          <p:nvPr/>
        </p:nvSpPr>
        <p:spPr>
          <a:xfrm>
            <a:off x="954948" y="5354173"/>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登録番号のマスタ</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データ管理</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BB34AD37-BC6A-D368-7A1A-CC59B4B44A91}"/>
              </a:ext>
            </a:extLst>
          </p:cNvPr>
          <p:cNvSpPr/>
          <p:nvPr/>
        </p:nvSpPr>
        <p:spPr>
          <a:xfrm>
            <a:off x="2602505" y="5354173"/>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パートナーマスタのコード値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06DEDD7B-7147-9376-E2A1-EC3AAFB61459}"/>
              </a:ext>
            </a:extLst>
          </p:cNvPr>
          <p:cNvSpPr/>
          <p:nvPr/>
        </p:nvSpPr>
        <p:spPr>
          <a:xfrm>
            <a:off x="5150574" y="5354173"/>
            <a:ext cx="425384"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4" name="正方形/長方形 53">
            <a:extLst>
              <a:ext uri="{FF2B5EF4-FFF2-40B4-BE49-F238E27FC236}">
                <a16:creationId xmlns:a16="http://schemas.microsoft.com/office/drawing/2014/main" id="{5B2A9411-4C01-2EF3-7E91-B1359BDA6414}"/>
              </a:ext>
            </a:extLst>
          </p:cNvPr>
          <p:cNvSpPr/>
          <p:nvPr/>
        </p:nvSpPr>
        <p:spPr>
          <a:xfrm>
            <a:off x="5646553" y="5354173"/>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73CA91B6-65EC-E7CB-27C2-223E7E1BE0B0}"/>
              </a:ext>
            </a:extLst>
          </p:cNvPr>
          <p:cNvSpPr/>
          <p:nvPr/>
        </p:nvSpPr>
        <p:spPr>
          <a:xfrm>
            <a:off x="6142530" y="5354173"/>
            <a:ext cx="3324438"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取引先コード（</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7</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桁）から</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パートナー法人コード（</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10</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桁）への変更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0567C55C-EB5C-2BD7-B784-41E4DE2C2348}"/>
              </a:ext>
            </a:extLst>
          </p:cNvPr>
          <p:cNvSpPr/>
          <p:nvPr/>
        </p:nvSpPr>
        <p:spPr>
          <a:xfrm>
            <a:off x="9527942" y="5354173"/>
            <a:ext cx="2477476"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2" name="タイトル 2">
            <a:extLst>
              <a:ext uri="{FF2B5EF4-FFF2-40B4-BE49-F238E27FC236}">
                <a16:creationId xmlns:a16="http://schemas.microsoft.com/office/drawing/2014/main" id="{60455724-CBB0-15C3-2896-8C2D5AA8E78C}"/>
              </a:ext>
            </a:extLst>
          </p:cNvPr>
          <p:cNvSpPr>
            <a:spLocks noGrp="1"/>
          </p:cNvSpPr>
          <p:nvPr>
            <p:ph type="title"/>
          </p:nvPr>
        </p:nvSpPr>
        <p:spPr>
          <a:xfrm>
            <a:off x="203200" y="124971"/>
            <a:ext cx="11480800" cy="379413"/>
          </a:xfrm>
        </p:spPr>
        <p:txBody>
          <a:bodyPr/>
          <a:lstStyle/>
          <a:p>
            <a:r>
              <a:rPr lang="en-US" altLang="ja-JP" kern="0"/>
              <a:t>6. </a:t>
            </a:r>
            <a:r>
              <a:rPr lang="ja-JP" altLang="en-US" kern="0"/>
              <a:t>各システム対応内容（ロコン購買</a:t>
            </a:r>
            <a:r>
              <a:rPr lang="en-US" altLang="ja-JP" kern="0"/>
              <a:t>HUB</a:t>
            </a:r>
            <a:r>
              <a:rPr lang="ja-JP" altLang="en-US" kern="0"/>
              <a:t>）</a:t>
            </a:r>
          </a:p>
        </p:txBody>
      </p:sp>
      <p:sp>
        <p:nvSpPr>
          <p:cNvPr id="36" name="コンテンツ プレースホルダー 5">
            <a:extLst>
              <a:ext uri="{FF2B5EF4-FFF2-40B4-BE49-F238E27FC236}">
                <a16:creationId xmlns:a16="http://schemas.microsoft.com/office/drawing/2014/main" id="{C46BA1DB-D5B6-C94A-8406-65B10A0B7BD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a:t>ロコン購買</a:t>
            </a:r>
            <a:r>
              <a:rPr lang="en-US" altLang="ja-JP" sz="1600"/>
              <a:t>HUB(A</a:t>
            </a:r>
            <a:r>
              <a:rPr lang="ja-JP" altLang="en-US" sz="1600"/>
              <a:t>伝</a:t>
            </a:r>
            <a:r>
              <a:rPr lang="en-US" altLang="ja-JP" sz="1600"/>
              <a:t>)</a:t>
            </a:r>
            <a:r>
              <a:rPr lang="ja-JP" altLang="en-US" sz="1600"/>
              <a:t>の各機能における改修内容と規模は以下。　</a:t>
            </a:r>
            <a:endParaRPr lang="en-US" altLang="ja-JP" sz="1600"/>
          </a:p>
        </p:txBody>
      </p:sp>
    </p:spTree>
    <p:extLst>
      <p:ext uri="{BB962C8B-B14F-4D97-AF65-F5344CB8AC3E}">
        <p14:creationId xmlns:p14="http://schemas.microsoft.com/office/powerpoint/2010/main" val="501327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正方形/長方形 53">
            <a:extLst>
              <a:ext uri="{FF2B5EF4-FFF2-40B4-BE49-F238E27FC236}">
                <a16:creationId xmlns:a16="http://schemas.microsoft.com/office/drawing/2014/main" id="{05AE3842-45D4-F8BA-24E7-8082D3B5D9F3}"/>
              </a:ext>
            </a:extLst>
          </p:cNvPr>
          <p:cNvSpPr/>
          <p:nvPr/>
        </p:nvSpPr>
        <p:spPr>
          <a:xfrm>
            <a:off x="1245232" y="2081071"/>
            <a:ext cx="1286515" cy="10656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連携追加に</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伴う並行稼働</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CE85FAC7-E3AA-22C8-1D11-FE0730E41A4E}"/>
              </a:ext>
            </a:extLst>
          </p:cNvPr>
          <p:cNvSpPr/>
          <p:nvPr/>
        </p:nvSpPr>
        <p:spPr>
          <a:xfrm>
            <a:off x="2602505" y="2081071"/>
            <a:ext cx="2476800" cy="10656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en-US" altLang="ja-JP" sz="1050">
                <a:solidFill>
                  <a:srgbClr val="404040"/>
                </a:solidFill>
                <a:latin typeface="Meiryo UI" panose="020B0604030504040204" pitchFamily="50" charset="-128"/>
                <a:ea typeface="Meiryo UI" panose="020B0604030504040204" pitchFamily="50" charset="-128"/>
              </a:rPr>
              <a:t>【</a:t>
            </a:r>
            <a:r>
              <a:rPr lang="ja-JP" altLang="en-US" sz="1050">
                <a:solidFill>
                  <a:srgbClr val="404040"/>
                </a:solidFill>
                <a:latin typeface="Meiryo UI" panose="020B0604030504040204" pitchFamily="50" charset="-128"/>
                <a:ea typeface="Meiryo UI" panose="020B0604030504040204" pitchFamily="50" charset="-128"/>
              </a:rPr>
              <a:t>入金</a:t>
            </a:r>
            <a:r>
              <a:rPr lang="en-US" altLang="ja-JP" sz="1050">
                <a:solidFill>
                  <a:srgbClr val="404040"/>
                </a:solidFill>
                <a:latin typeface="Meiryo UI" panose="020B0604030504040204" pitchFamily="50" charset="-128"/>
                <a:ea typeface="Meiryo UI" panose="020B0604030504040204" pitchFamily="50" charset="-128"/>
              </a:rPr>
              <a:t>】</a:t>
            </a:r>
            <a:r>
              <a:rPr lang="ja-JP" altLang="en-US" sz="1050">
                <a:solidFill>
                  <a:srgbClr val="404040"/>
                </a:solidFill>
                <a:latin typeface="Meiryo UI" panose="020B0604030504040204" pitchFamily="50" charset="-128"/>
                <a:ea typeface="Meiryo UI" panose="020B0604030504040204" pitchFamily="50" charset="-128"/>
              </a:rPr>
              <a:t>業務習熟期間中は</a:t>
            </a:r>
            <a:r>
              <a:rPr lang="en-US" altLang="ja-JP" sz="1050">
                <a:solidFill>
                  <a:srgbClr val="404040"/>
                </a:solidFill>
                <a:latin typeface="Meiryo UI" panose="020B0604030504040204" pitchFamily="50" charset="-128"/>
                <a:ea typeface="Meiryo UI" panose="020B0604030504040204" pitchFamily="50" charset="-128"/>
              </a:rPr>
              <a:t>NEXUS</a:t>
            </a:r>
            <a:r>
              <a:rPr lang="ja-JP" altLang="en-US" sz="1050">
                <a:solidFill>
                  <a:srgbClr val="404040"/>
                </a:solidFill>
                <a:latin typeface="Meiryo UI" panose="020B0604030504040204" pitchFamily="50" charset="-128"/>
                <a:ea typeface="Meiryo UI" panose="020B0604030504040204" pitchFamily="50" charset="-128"/>
              </a:rPr>
              <a:t>または</a:t>
            </a:r>
            <a:br>
              <a:rPr lang="en-US" altLang="ja-JP" sz="1050">
                <a:solidFill>
                  <a:srgbClr val="404040"/>
                </a:solidFill>
                <a:latin typeface="Meiryo UI" panose="020B0604030504040204" pitchFamily="50" charset="-128"/>
                <a:ea typeface="Meiryo UI" panose="020B0604030504040204" pitchFamily="50" charset="-128"/>
              </a:rPr>
            </a:br>
            <a:r>
              <a:rPr lang="en-US" altLang="ja-JP" sz="1050">
                <a:solidFill>
                  <a:srgbClr val="404040"/>
                </a:solidFill>
                <a:latin typeface="Meiryo UI" panose="020B0604030504040204" pitchFamily="50" charset="-128"/>
                <a:ea typeface="Meiryo UI" panose="020B0604030504040204" pitchFamily="50" charset="-128"/>
              </a:rPr>
              <a:t>         SAP</a:t>
            </a:r>
            <a:r>
              <a:rPr lang="ja-JP" altLang="en-US" sz="1050">
                <a:solidFill>
                  <a:srgbClr val="404040"/>
                </a:solidFill>
                <a:latin typeface="Meiryo UI" panose="020B0604030504040204" pitchFamily="50" charset="-128"/>
                <a:ea typeface="Meiryo UI" panose="020B0604030504040204" pitchFamily="50" charset="-128"/>
              </a:rPr>
              <a:t>連携まで（後続処理しない）</a:t>
            </a:r>
            <a:endParaRPr lang="en-US" altLang="ja-JP" sz="1050">
              <a:solidFill>
                <a:srgbClr val="404040"/>
              </a:solidFill>
              <a:latin typeface="Meiryo UI" panose="020B0604030504040204" pitchFamily="50" charset="-128"/>
              <a:ea typeface="Meiryo UI" panose="020B0604030504040204" pitchFamily="50" charset="-128"/>
            </a:endParaRPr>
          </a:p>
          <a:p>
            <a:r>
              <a:rPr lang="en-US" altLang="ja-JP" sz="1050">
                <a:solidFill>
                  <a:srgbClr val="404040"/>
                </a:solidFill>
                <a:latin typeface="Meiryo UI" panose="020B0604030504040204" pitchFamily="50" charset="-128"/>
                <a:ea typeface="Meiryo UI" panose="020B0604030504040204" pitchFamily="50" charset="-128"/>
              </a:rPr>
              <a:t>【</a:t>
            </a:r>
            <a:r>
              <a:rPr lang="ja-JP" altLang="en-US" sz="1050">
                <a:solidFill>
                  <a:srgbClr val="404040"/>
                </a:solidFill>
                <a:latin typeface="Meiryo UI" panose="020B0604030504040204" pitchFamily="50" charset="-128"/>
                <a:ea typeface="Meiryo UI" panose="020B0604030504040204" pitchFamily="50" charset="-128"/>
              </a:rPr>
              <a:t>出金</a:t>
            </a:r>
            <a:r>
              <a:rPr lang="en-US" altLang="ja-JP" sz="1050">
                <a:solidFill>
                  <a:srgbClr val="404040"/>
                </a:solidFill>
                <a:latin typeface="Meiryo UI" panose="020B0604030504040204" pitchFamily="50" charset="-128"/>
                <a:ea typeface="Meiryo UI" panose="020B0604030504040204" pitchFamily="50" charset="-128"/>
              </a:rPr>
              <a:t>】</a:t>
            </a:r>
            <a:r>
              <a:rPr lang="ja-JP" altLang="en-US" sz="1050">
                <a:solidFill>
                  <a:srgbClr val="404040"/>
                </a:solidFill>
                <a:latin typeface="Meiryo UI" panose="020B0604030504040204" pitchFamily="50" charset="-128"/>
                <a:ea typeface="Meiryo UI" panose="020B0604030504040204" pitchFamily="50" charset="-128"/>
              </a:rPr>
              <a:t>仕掛の都合上、一定期間中は</a:t>
            </a:r>
            <a:br>
              <a:rPr lang="en-US" altLang="ja-JP" sz="1050">
                <a:solidFill>
                  <a:srgbClr val="404040"/>
                </a:solidFill>
                <a:latin typeface="Meiryo UI" panose="020B0604030504040204" pitchFamily="50" charset="-128"/>
                <a:ea typeface="Meiryo UI" panose="020B0604030504040204" pitchFamily="50" charset="-128"/>
              </a:rPr>
            </a:br>
            <a:r>
              <a:rPr lang="en-US" altLang="ja-JP" sz="1050">
                <a:solidFill>
                  <a:srgbClr val="404040"/>
                </a:solidFill>
                <a:latin typeface="Meiryo UI" panose="020B0604030504040204" pitchFamily="50" charset="-128"/>
                <a:ea typeface="Meiryo UI" panose="020B0604030504040204" pitchFamily="50" charset="-128"/>
              </a:rPr>
              <a:t>         Neo</a:t>
            </a:r>
            <a:r>
              <a:rPr lang="ja-JP" altLang="en-US" sz="1050">
                <a:solidFill>
                  <a:srgbClr val="404040"/>
                </a:solidFill>
                <a:latin typeface="Meiryo UI" panose="020B0604030504040204" pitchFamily="50" charset="-128"/>
                <a:ea typeface="Meiryo UI" panose="020B0604030504040204" pitchFamily="50" charset="-128"/>
              </a:rPr>
              <a:t>と</a:t>
            </a:r>
            <a:r>
              <a:rPr lang="en-US" altLang="ja-JP" sz="1050">
                <a:solidFill>
                  <a:srgbClr val="404040"/>
                </a:solidFill>
                <a:latin typeface="Meiryo UI" panose="020B0604030504040204" pitchFamily="50" charset="-128"/>
                <a:ea typeface="Meiryo UI" panose="020B0604030504040204" pitchFamily="50" charset="-128"/>
              </a:rPr>
              <a:t>NEXUS</a:t>
            </a:r>
            <a:r>
              <a:rPr lang="ja-JP" altLang="en-US" sz="1050">
                <a:solidFill>
                  <a:srgbClr val="404040"/>
                </a:solidFill>
                <a:latin typeface="Meiryo UI" panose="020B0604030504040204" pitchFamily="50" charset="-128"/>
                <a:ea typeface="Meiryo UI" panose="020B0604030504040204" pitchFamily="50" charset="-128"/>
              </a:rPr>
              <a:t>の並行稼働となる</a:t>
            </a:r>
            <a:endParaRPr lang="en-US" altLang="ja-JP" sz="1050">
              <a:solidFill>
                <a:srgbClr val="404040"/>
              </a:solidFill>
              <a:latin typeface="Meiryo UI" panose="020B0604030504040204" pitchFamily="50" charset="-128"/>
              <a:ea typeface="Meiryo UI" panose="020B0604030504040204" pitchFamily="50" charset="-128"/>
            </a:endParaRPr>
          </a:p>
          <a:p>
            <a:r>
              <a:rPr lang="en-US" altLang="ja-JP" sz="1050">
                <a:solidFill>
                  <a:srgbClr val="404040"/>
                </a:solidFill>
                <a:latin typeface="Meiryo UI" panose="020B0604030504040204" pitchFamily="50" charset="-128"/>
                <a:ea typeface="Meiryo UI" panose="020B0604030504040204" pitchFamily="50" charset="-128"/>
              </a:rPr>
              <a:t>         (</a:t>
            </a:r>
            <a:r>
              <a:rPr lang="ja-JP" altLang="en-US" sz="1050">
                <a:solidFill>
                  <a:srgbClr val="404040"/>
                </a:solidFill>
                <a:latin typeface="Meiryo UI" panose="020B0604030504040204" pitchFamily="50" charset="-128"/>
                <a:ea typeface="Meiryo UI" panose="020B0604030504040204" pitchFamily="50" charset="-128"/>
              </a:rPr>
              <a:t>それに伴うシミュレーションと移行</a:t>
            </a:r>
            <a:br>
              <a:rPr lang="en-US" altLang="ja-JP" sz="1050">
                <a:solidFill>
                  <a:srgbClr val="404040"/>
                </a:solidFill>
                <a:latin typeface="Meiryo UI" panose="020B0604030504040204" pitchFamily="50" charset="-128"/>
                <a:ea typeface="Meiryo UI" panose="020B0604030504040204" pitchFamily="50" charset="-128"/>
              </a:rPr>
            </a:br>
            <a:r>
              <a:rPr lang="en-US" altLang="ja-JP" sz="1050">
                <a:solidFill>
                  <a:srgbClr val="404040"/>
                </a:solidFill>
                <a:latin typeface="Meiryo UI" panose="020B0604030504040204" pitchFamily="50" charset="-128"/>
                <a:ea typeface="Meiryo UI" panose="020B0604030504040204" pitchFamily="50" charset="-128"/>
              </a:rPr>
              <a:t>          </a:t>
            </a:r>
            <a:r>
              <a:rPr lang="ja-JP" altLang="en-US" sz="1050">
                <a:solidFill>
                  <a:srgbClr val="404040"/>
                </a:solidFill>
                <a:latin typeface="Meiryo UI" panose="020B0604030504040204" pitchFamily="50" charset="-128"/>
                <a:ea typeface="Meiryo UI" panose="020B0604030504040204" pitchFamily="50" charset="-128"/>
              </a:rPr>
              <a:t>手順作成および合意</a:t>
            </a:r>
            <a:r>
              <a:rPr lang="en-US" altLang="ja-JP" sz="1050">
                <a:solidFill>
                  <a:srgbClr val="404040"/>
                </a:solidFill>
                <a:latin typeface="Meiryo UI" panose="020B0604030504040204" pitchFamily="50" charset="-128"/>
                <a:ea typeface="Meiryo UI" panose="020B0604030504040204" pitchFamily="50" charset="-128"/>
              </a:rPr>
              <a:t>)</a:t>
            </a:r>
          </a:p>
        </p:txBody>
      </p:sp>
      <p:sp>
        <p:nvSpPr>
          <p:cNvPr id="58" name="正方形/長方形 57">
            <a:extLst>
              <a:ext uri="{FF2B5EF4-FFF2-40B4-BE49-F238E27FC236}">
                <a16:creationId xmlns:a16="http://schemas.microsoft.com/office/drawing/2014/main" id="{B04DDF84-10A5-62A8-E2DF-D6010EDF8320}"/>
              </a:ext>
            </a:extLst>
          </p:cNvPr>
          <p:cNvSpPr/>
          <p:nvPr/>
        </p:nvSpPr>
        <p:spPr>
          <a:xfrm>
            <a:off x="5151158" y="2081071"/>
            <a:ext cx="424800" cy="1065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05A53C34-B84B-F2AF-E63F-2F576ECA1D7D}"/>
              </a:ext>
            </a:extLst>
          </p:cNvPr>
          <p:cNvSpPr/>
          <p:nvPr/>
        </p:nvSpPr>
        <p:spPr>
          <a:xfrm>
            <a:off x="5647137" y="2081071"/>
            <a:ext cx="424800" cy="1065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大</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AE13B0BE-52AF-F467-C928-4D377F9BC6D9}"/>
              </a:ext>
            </a:extLst>
          </p:cNvPr>
          <p:cNvSpPr/>
          <p:nvPr/>
        </p:nvSpPr>
        <p:spPr>
          <a:xfrm>
            <a:off x="6140568" y="2081071"/>
            <a:ext cx="3326400" cy="1065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88900" indent="-88900">
              <a:buFont typeface="Arial" panose="020B0604020202020204" pitchFamily="34" charset="0"/>
              <a:buChar char="•"/>
            </a:pPr>
            <a:r>
              <a:rPr lang="en-US" altLang="ja-JP" sz="1050">
                <a:solidFill>
                  <a:srgbClr val="FF0000"/>
                </a:solidFill>
                <a:latin typeface="Meiryo UI" panose="020B0604030504040204" pitchFamily="50" charset="-128"/>
                <a:ea typeface="Meiryo UI" panose="020B0604030504040204" pitchFamily="50" charset="-128"/>
              </a:rPr>
              <a:t>【</a:t>
            </a:r>
            <a:r>
              <a:rPr lang="ja-JP" altLang="en-US" sz="1050">
                <a:solidFill>
                  <a:srgbClr val="FF0000"/>
                </a:solidFill>
                <a:latin typeface="Meiryo UI" panose="020B0604030504040204" pitchFamily="50" charset="-128"/>
                <a:ea typeface="Meiryo UI" panose="020B0604030504040204" pitchFamily="50" charset="-128"/>
              </a:rPr>
              <a:t>入金</a:t>
            </a:r>
            <a:r>
              <a:rPr lang="en-US" altLang="ja-JP" sz="1050">
                <a:solidFill>
                  <a:srgbClr val="FF0000"/>
                </a:solidFill>
                <a:latin typeface="Meiryo UI" panose="020B0604030504040204" pitchFamily="50" charset="-128"/>
                <a:ea typeface="Meiryo UI" panose="020B0604030504040204" pitchFamily="50" charset="-128"/>
              </a:rPr>
              <a:t>】</a:t>
            </a:r>
            <a:r>
              <a:rPr lang="ja-JP" altLang="en-US" sz="1050">
                <a:solidFill>
                  <a:srgbClr val="FF0000"/>
                </a:solidFill>
                <a:latin typeface="Meiryo UI" panose="020B0604030504040204" pitchFamily="50" charset="-128"/>
                <a:ea typeface="Meiryo UI" panose="020B0604030504040204" pitchFamily="50" charset="-128"/>
              </a:rPr>
              <a:t>一定期間は並行稼動（</a:t>
            </a:r>
            <a:r>
              <a:rPr lang="en-US" altLang="ja-JP" sz="1050">
                <a:solidFill>
                  <a:srgbClr val="FF0000"/>
                </a:solidFill>
                <a:latin typeface="Meiryo UI" panose="020B0604030504040204" pitchFamily="50" charset="-128"/>
                <a:ea typeface="Meiryo UI" panose="020B0604030504040204" pitchFamily="50" charset="-128"/>
              </a:rPr>
              <a:t>Neo</a:t>
            </a:r>
            <a:r>
              <a:rPr lang="ja-JP" altLang="en-US" sz="1050">
                <a:solidFill>
                  <a:srgbClr val="FF0000"/>
                </a:solidFill>
                <a:latin typeface="Meiryo UI" panose="020B0604030504040204" pitchFamily="50" charset="-128"/>
                <a:ea typeface="Meiryo UI" panose="020B0604030504040204" pitchFamily="50" charset="-128"/>
              </a:rPr>
              <a:t>と</a:t>
            </a:r>
            <a:r>
              <a:rPr lang="en-US" altLang="ja-JP" sz="1050">
                <a:solidFill>
                  <a:srgbClr val="FF0000"/>
                </a:solidFill>
                <a:latin typeface="Meiryo UI" panose="020B0604030504040204" pitchFamily="50" charset="-128"/>
                <a:ea typeface="Meiryo UI" panose="020B0604030504040204" pitchFamily="50" charset="-128"/>
              </a:rPr>
              <a:t>NEXUS</a:t>
            </a:r>
            <a:r>
              <a:rPr lang="ja-JP" altLang="en-US" sz="1050">
                <a:solidFill>
                  <a:srgbClr val="FF0000"/>
                </a:solidFill>
                <a:latin typeface="Meiryo UI" panose="020B0604030504040204" pitchFamily="50" charset="-128"/>
                <a:ea typeface="Meiryo UI" panose="020B0604030504040204" pitchFamily="50" charset="-128"/>
              </a:rPr>
              <a:t>の両方にデータを連携）する想定</a:t>
            </a:r>
            <a:endParaRPr lang="en-US" altLang="ja-JP" sz="1050">
              <a:solidFill>
                <a:srgbClr val="FF0000"/>
              </a:solidFill>
              <a:latin typeface="Meiryo UI" panose="020B0604030504040204" pitchFamily="50" charset="-128"/>
              <a:ea typeface="Meiryo UI" panose="020B0604030504040204" pitchFamily="50" charset="-128"/>
            </a:endParaRPr>
          </a:p>
          <a:p>
            <a:pPr marL="88900" indent="-88900">
              <a:buFont typeface="Arial" panose="020B0604020202020204" pitchFamily="34" charset="0"/>
              <a:buChar char="•"/>
            </a:pPr>
            <a:r>
              <a:rPr lang="en-US" altLang="ja-JP" sz="1050">
                <a:solidFill>
                  <a:srgbClr val="FF0000"/>
                </a:solidFill>
                <a:latin typeface="Meiryo UI" panose="020B0604030504040204" pitchFamily="50" charset="-128"/>
                <a:ea typeface="Meiryo UI" panose="020B0604030504040204" pitchFamily="50" charset="-128"/>
              </a:rPr>
              <a:t>【</a:t>
            </a:r>
            <a:r>
              <a:rPr lang="ja-JP" altLang="en-US" sz="1050">
                <a:solidFill>
                  <a:srgbClr val="FF0000"/>
                </a:solidFill>
                <a:latin typeface="Meiryo UI" panose="020B0604030504040204" pitchFamily="50" charset="-128"/>
                <a:ea typeface="Meiryo UI" panose="020B0604030504040204" pitchFamily="50" charset="-128"/>
              </a:rPr>
              <a:t>出金</a:t>
            </a:r>
            <a:r>
              <a:rPr lang="en-US" altLang="ja-JP" sz="1050">
                <a:solidFill>
                  <a:srgbClr val="FF0000"/>
                </a:solidFill>
                <a:latin typeface="Meiryo UI" panose="020B0604030504040204" pitchFamily="50" charset="-128"/>
                <a:ea typeface="Meiryo UI" panose="020B0604030504040204" pitchFamily="50" charset="-128"/>
              </a:rPr>
              <a:t>】</a:t>
            </a:r>
            <a:r>
              <a:rPr lang="ja-JP" altLang="en-US" sz="1050">
                <a:solidFill>
                  <a:srgbClr val="FF0000"/>
                </a:solidFill>
                <a:latin typeface="Meiryo UI" panose="020B0604030504040204" pitchFamily="50" charset="-128"/>
                <a:ea typeface="Meiryo UI" panose="020B0604030504040204" pitchFamily="50" charset="-128"/>
              </a:rPr>
              <a:t>二重送金防止のための適切な移行計画や手順の作成と合意（時間と工数がかかる想定）</a:t>
            </a:r>
            <a:endParaRPr lang="en-US" altLang="ja-JP" sz="1050">
              <a:solidFill>
                <a:srgbClr val="FF0000"/>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D098BE70-4612-6829-2646-D554FC795DA2}"/>
              </a:ext>
            </a:extLst>
          </p:cNvPr>
          <p:cNvSpPr/>
          <p:nvPr/>
        </p:nvSpPr>
        <p:spPr>
          <a:xfrm>
            <a:off x="9527942" y="2081071"/>
            <a:ext cx="2476800" cy="1065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Arial" panose="020B0604020202020204" pitchFamily="34" charset="0"/>
              <a:buChar char="•"/>
            </a:pPr>
            <a:r>
              <a:rPr lang="ja-JP" altLang="en-US" sz="1050">
                <a:solidFill>
                  <a:srgbClr val="FF0000"/>
                </a:solidFill>
                <a:latin typeface="Meiryo UI"/>
                <a:ea typeface="Meiryo UI"/>
              </a:rPr>
              <a:t>本線、ファイナンス</a:t>
            </a:r>
            <a:r>
              <a:rPr lang="en-US" altLang="ja-JP" sz="1050">
                <a:solidFill>
                  <a:srgbClr val="FF0000"/>
                </a:solidFill>
                <a:latin typeface="Meiryo UI"/>
                <a:ea typeface="Meiryo UI"/>
              </a:rPr>
              <a:t>U</a:t>
            </a:r>
            <a:r>
              <a:rPr lang="ja-JP" altLang="en-US" sz="1050">
                <a:solidFill>
                  <a:srgbClr val="FF0000"/>
                </a:solidFill>
                <a:latin typeface="Meiryo UI"/>
                <a:ea typeface="Meiryo UI"/>
              </a:rPr>
              <a:t>側でデータ移行や業務移行について未計画のため、並行稼働期間が定かでない</a:t>
            </a:r>
            <a:endParaRPr lang="en-US" altLang="ja-JP" sz="1050">
              <a:solidFill>
                <a:srgbClr val="FF0000"/>
              </a:solidFill>
              <a:latin typeface="Meiryo UI"/>
              <a:ea typeface="Meiryo UI"/>
            </a:endParaRPr>
          </a:p>
          <a:p>
            <a:pPr marL="171450" indent="-171450">
              <a:buFont typeface="Arial" panose="020B0604020202020204" pitchFamily="34" charset="0"/>
              <a:buChar char="•"/>
            </a:pPr>
            <a:r>
              <a:rPr lang="ja-JP" altLang="en-US" sz="1050">
                <a:solidFill>
                  <a:srgbClr val="FF0000"/>
                </a:solidFill>
                <a:latin typeface="Meiryo UI"/>
                <a:ea typeface="Meiryo UI"/>
              </a:rPr>
              <a:t>並行稼働期間の長さ、並行稼動の実現方法次第では工数増となる</a:t>
            </a:r>
            <a:endParaRPr lang="en-US" altLang="ja-JP" sz="1050">
              <a:solidFill>
                <a:srgbClr val="FF0000"/>
              </a:solidFill>
              <a:latin typeface="Meiryo UI"/>
              <a:ea typeface="Meiryo UI"/>
            </a:endParaRPr>
          </a:p>
        </p:txBody>
      </p:sp>
      <p:sp>
        <p:nvSpPr>
          <p:cNvPr id="118" name="正方形/長方形 117">
            <a:extLst>
              <a:ext uri="{FF2B5EF4-FFF2-40B4-BE49-F238E27FC236}">
                <a16:creationId xmlns:a16="http://schemas.microsoft.com/office/drawing/2014/main" id="{DDC28737-7F08-A593-71A1-A93FA77D3924}"/>
              </a:ext>
            </a:extLst>
          </p:cNvPr>
          <p:cNvSpPr/>
          <p:nvPr/>
        </p:nvSpPr>
        <p:spPr>
          <a:xfrm>
            <a:off x="5151158" y="4913629"/>
            <a:ext cx="424800" cy="1100214"/>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9" name="正方形/長方形 118">
            <a:extLst>
              <a:ext uri="{FF2B5EF4-FFF2-40B4-BE49-F238E27FC236}">
                <a16:creationId xmlns:a16="http://schemas.microsoft.com/office/drawing/2014/main" id="{ED99E51A-B31B-FEBF-C4CA-F472B4BF3414}"/>
              </a:ext>
            </a:extLst>
          </p:cNvPr>
          <p:cNvSpPr/>
          <p:nvPr/>
        </p:nvSpPr>
        <p:spPr>
          <a:xfrm>
            <a:off x="5647137" y="4913629"/>
            <a:ext cx="424800" cy="1100214"/>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0" name="正方形/長方形 119">
            <a:extLst>
              <a:ext uri="{FF2B5EF4-FFF2-40B4-BE49-F238E27FC236}">
                <a16:creationId xmlns:a16="http://schemas.microsoft.com/office/drawing/2014/main" id="{587E7E66-C788-CE7F-C53D-9B3C6B8C9F55}"/>
              </a:ext>
            </a:extLst>
          </p:cNvPr>
          <p:cNvSpPr/>
          <p:nvPr/>
        </p:nvSpPr>
        <p:spPr>
          <a:xfrm>
            <a:off x="6140568" y="4913629"/>
            <a:ext cx="3326400" cy="511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88900" indent="-88900">
              <a:buFont typeface="Arial" panose="020B0604020202020204" pitchFamily="34" charset="0"/>
              <a:buChar char="•"/>
            </a:pPr>
            <a:r>
              <a:rPr lang="ja-JP" altLang="en-US" sz="1050">
                <a:solidFill>
                  <a:schemeClr val="bg2">
                    <a:lumMod val="50000"/>
                  </a:schemeClr>
                </a:solidFill>
                <a:latin typeface="Meiryo UI" panose="020B0604030504040204" pitchFamily="50" charset="-128"/>
                <a:ea typeface="Meiryo UI" panose="020B0604030504040204" pitchFamily="50" charset="-128"/>
              </a:rPr>
              <a:t>転送方式変更に伴う疎通試験</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a:p>
            <a:pPr marL="88900" indent="-88900">
              <a:buFont typeface="Arial" panose="020B0604020202020204" pitchFamily="34" charset="0"/>
              <a:buChar char="•"/>
            </a:pPr>
            <a:r>
              <a:rPr lang="en-US" altLang="ja-JP" sz="1050">
                <a:solidFill>
                  <a:schemeClr val="bg2">
                    <a:lumMod val="50000"/>
                  </a:schemeClr>
                </a:solidFill>
                <a:latin typeface="Meiryo UI" panose="020B0604030504040204" pitchFamily="50" charset="-128"/>
                <a:ea typeface="Meiryo UI" panose="020B0604030504040204" pitchFamily="50" charset="-128"/>
              </a:rPr>
              <a:t>PUT/GET</a:t>
            </a:r>
            <a:r>
              <a:rPr lang="ja-JP" altLang="en-US" sz="1050">
                <a:solidFill>
                  <a:schemeClr val="bg2">
                    <a:lumMod val="50000"/>
                  </a:schemeClr>
                </a:solidFill>
                <a:latin typeface="Meiryo UI" panose="020B0604030504040204" pitchFamily="50" charset="-128"/>
                <a:ea typeface="Meiryo UI" panose="020B0604030504040204" pitchFamily="50" charset="-128"/>
              </a:rPr>
              <a:t>コマンド変更に伴う連携処理改修と検証作業</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a:p>
            <a:pPr marL="88900" indent="-88900">
              <a:buFont typeface="Arial" panose="020B0604020202020204" pitchFamily="34" charset="0"/>
              <a:buChar char="•"/>
            </a:pPr>
            <a:r>
              <a:rPr lang="en-US" altLang="ja-JP" sz="1050">
                <a:solidFill>
                  <a:schemeClr val="bg2">
                    <a:lumMod val="50000"/>
                  </a:schemeClr>
                </a:solidFill>
                <a:latin typeface="Meiryo UI" panose="020B0604030504040204" pitchFamily="50" charset="-128"/>
                <a:ea typeface="Meiryo UI" panose="020B0604030504040204" pitchFamily="50" charset="-128"/>
              </a:rPr>
              <a:t>SFTP</a:t>
            </a:r>
            <a:r>
              <a:rPr lang="ja-JP" altLang="en-US" sz="1050">
                <a:solidFill>
                  <a:schemeClr val="bg2">
                    <a:lumMod val="50000"/>
                  </a:schemeClr>
                </a:solidFill>
                <a:latin typeface="Meiryo UI" panose="020B0604030504040204" pitchFamily="50" charset="-128"/>
                <a:ea typeface="Meiryo UI" panose="020B0604030504040204" pitchFamily="50" charset="-128"/>
              </a:rPr>
              <a:t>用鍵の新規作成および検証作業</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p:txBody>
      </p:sp>
      <p:sp>
        <p:nvSpPr>
          <p:cNvPr id="121" name="正方形/長方形 120">
            <a:extLst>
              <a:ext uri="{FF2B5EF4-FFF2-40B4-BE49-F238E27FC236}">
                <a16:creationId xmlns:a16="http://schemas.microsoft.com/office/drawing/2014/main" id="{CECB0ED4-E99E-EC71-DC6D-5F016DF9B2A7}"/>
              </a:ext>
            </a:extLst>
          </p:cNvPr>
          <p:cNvSpPr/>
          <p:nvPr/>
        </p:nvSpPr>
        <p:spPr>
          <a:xfrm>
            <a:off x="9527942" y="4265843"/>
            <a:ext cx="2476800" cy="594000"/>
          </a:xfrm>
          <a:prstGeom prst="rect">
            <a:avLst/>
          </a:prstGeom>
          <a:solidFill>
            <a:srgbClr val="FFE1E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050">
                <a:solidFill>
                  <a:srgbClr val="FF0000"/>
                </a:solidFill>
                <a:latin typeface="Meiryo UI" panose="020B0604030504040204" pitchFamily="50" charset="-128"/>
                <a:ea typeface="Meiryo UI" panose="020B0604030504040204" pitchFamily="50" charset="-128"/>
              </a:rPr>
              <a:t>ファイル名上書き不可、かつ</a:t>
            </a:r>
            <a:r>
              <a:rPr lang="en-US" altLang="ja-JP" sz="1050">
                <a:solidFill>
                  <a:srgbClr val="FF0000"/>
                </a:solidFill>
                <a:latin typeface="Meiryo UI" panose="020B0604030504040204" pitchFamily="50" charset="-128"/>
                <a:ea typeface="Meiryo UI" panose="020B0604030504040204" pitchFamily="50" charset="-128"/>
              </a:rPr>
              <a:t>2</a:t>
            </a:r>
            <a:r>
              <a:rPr lang="ja-JP" altLang="en-US" sz="1050">
                <a:solidFill>
                  <a:srgbClr val="FF0000"/>
                </a:solidFill>
                <a:latin typeface="Meiryo UI" panose="020B0604030504040204" pitchFamily="50" charset="-128"/>
                <a:ea typeface="Meiryo UI" panose="020B0604030504040204" pitchFamily="50" charset="-128"/>
              </a:rPr>
              <a:t>営前</a:t>
            </a:r>
            <a:r>
              <a:rPr lang="en-US" altLang="ja-JP" sz="1050">
                <a:solidFill>
                  <a:srgbClr val="FF0000"/>
                </a:solidFill>
                <a:latin typeface="Meiryo UI" panose="020B0604030504040204" pitchFamily="50" charset="-128"/>
                <a:ea typeface="Meiryo UI" panose="020B0604030504040204" pitchFamily="50" charset="-128"/>
              </a:rPr>
              <a:t>/3</a:t>
            </a:r>
            <a:r>
              <a:rPr lang="ja-JP" altLang="en-US" sz="1050">
                <a:solidFill>
                  <a:srgbClr val="FF0000"/>
                </a:solidFill>
                <a:latin typeface="Meiryo UI" panose="020B0604030504040204" pitchFamily="50" charset="-128"/>
                <a:ea typeface="Meiryo UI" panose="020B0604030504040204" pitchFamily="50" charset="-128"/>
              </a:rPr>
              <a:t>営前がわかるようなファイル名でデータを受領できない場合は処理の追加が必要</a:t>
            </a:r>
            <a:endParaRPr lang="en-US" altLang="ja-JP" sz="1050">
              <a:solidFill>
                <a:srgbClr val="FF0000"/>
              </a:solidFill>
              <a:latin typeface="Meiryo UI" panose="020B0604030504040204" pitchFamily="50" charset="-128"/>
              <a:ea typeface="Meiryo UI" panose="020B0604030504040204" pitchFamily="50" charset="-128"/>
            </a:endParaRPr>
          </a:p>
        </p:txBody>
      </p:sp>
      <p:sp>
        <p:nvSpPr>
          <p:cNvPr id="122" name="正方形/長方形 121">
            <a:extLst>
              <a:ext uri="{FF2B5EF4-FFF2-40B4-BE49-F238E27FC236}">
                <a16:creationId xmlns:a16="http://schemas.microsoft.com/office/drawing/2014/main" id="{C24DAA5D-7015-846F-7E43-FCADE5FF072C}"/>
              </a:ext>
            </a:extLst>
          </p:cNvPr>
          <p:cNvSpPr/>
          <p:nvPr/>
        </p:nvSpPr>
        <p:spPr>
          <a:xfrm>
            <a:off x="1245232" y="4914033"/>
            <a:ext cx="1286515" cy="5112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データ転送方式・</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連携コマンド変更</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3" name="正方形/長方形 122">
            <a:extLst>
              <a:ext uri="{FF2B5EF4-FFF2-40B4-BE49-F238E27FC236}">
                <a16:creationId xmlns:a16="http://schemas.microsoft.com/office/drawing/2014/main" id="{A258CF09-5F8C-909A-24DC-04688BF77E50}"/>
              </a:ext>
            </a:extLst>
          </p:cNvPr>
          <p:cNvSpPr/>
          <p:nvPr/>
        </p:nvSpPr>
        <p:spPr>
          <a:xfrm>
            <a:off x="2602505" y="4913629"/>
            <a:ext cx="2476800" cy="5112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データの授受について</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 ・転送方式にを</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FTP</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から</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SFTP</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へ変更</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sz="1050">
                <a:solidFill>
                  <a:schemeClr val="bg2">
                    <a:lumMod val="50000"/>
                  </a:schemeClr>
                </a:solidFill>
                <a:latin typeface="Meiryo UI" panose="020B0604030504040204" pitchFamily="50" charset="-128"/>
                <a:ea typeface="Meiryo UI" panose="020B0604030504040204" pitchFamily="50" charset="-128"/>
              </a:rPr>
              <a:t> ・連携コマンド</a:t>
            </a:r>
            <a:r>
              <a:rPr lang="en-US" altLang="ja-JP" sz="1050">
                <a:solidFill>
                  <a:schemeClr val="bg2">
                    <a:lumMod val="50000"/>
                  </a:schemeClr>
                </a:solidFill>
                <a:latin typeface="Meiryo UI" panose="020B0604030504040204" pitchFamily="50" charset="-128"/>
                <a:ea typeface="Meiryo UI" panose="020B0604030504040204" pitchFamily="50" charset="-128"/>
              </a:rPr>
              <a:t>PUT/GET</a:t>
            </a:r>
            <a:r>
              <a:rPr lang="ja-JP" altLang="en-US" sz="1050">
                <a:solidFill>
                  <a:schemeClr val="bg2">
                    <a:lumMod val="50000"/>
                  </a:schemeClr>
                </a:solidFill>
                <a:latin typeface="Meiryo UI" panose="020B0604030504040204" pitchFamily="50" charset="-128"/>
                <a:ea typeface="Meiryo UI" panose="020B0604030504040204" pitchFamily="50" charset="-128"/>
              </a:rPr>
              <a:t>の変更</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p:txBody>
      </p:sp>
      <p:sp>
        <p:nvSpPr>
          <p:cNvPr id="124" name="正方形/長方形 123">
            <a:extLst>
              <a:ext uri="{FF2B5EF4-FFF2-40B4-BE49-F238E27FC236}">
                <a16:creationId xmlns:a16="http://schemas.microsoft.com/office/drawing/2014/main" id="{9AEDB74A-B5C1-7013-1E4D-DDA9AC07316D}"/>
              </a:ext>
            </a:extLst>
          </p:cNvPr>
          <p:cNvSpPr/>
          <p:nvPr/>
        </p:nvSpPr>
        <p:spPr>
          <a:xfrm>
            <a:off x="5151158" y="3204716"/>
            <a:ext cx="424800" cy="165512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bg2">
                    <a:lumMod val="50000"/>
                  </a:schemeClr>
                </a:solidFill>
                <a:latin typeface="Meiryo UI" panose="020B0604030504040204" pitchFamily="50" charset="-128"/>
                <a:ea typeface="Meiryo UI" panose="020B0604030504040204" pitchFamily="50" charset="-128"/>
              </a:rPr>
              <a:t>○</a:t>
            </a:r>
            <a:endParaRPr lang="en-US" altLang="ja-JP" sz="1400">
              <a:solidFill>
                <a:schemeClr val="bg2">
                  <a:lumMod val="50000"/>
                </a:schemeClr>
              </a:solidFill>
              <a:latin typeface="Meiryo UI" panose="020B0604030504040204" pitchFamily="50" charset="-128"/>
              <a:ea typeface="Meiryo UI" panose="020B0604030504040204" pitchFamily="50" charset="-128"/>
            </a:endParaRPr>
          </a:p>
        </p:txBody>
      </p:sp>
      <p:sp>
        <p:nvSpPr>
          <p:cNvPr id="125" name="正方形/長方形 124">
            <a:extLst>
              <a:ext uri="{FF2B5EF4-FFF2-40B4-BE49-F238E27FC236}">
                <a16:creationId xmlns:a16="http://schemas.microsoft.com/office/drawing/2014/main" id="{000D0282-7FE5-C8F4-6153-66791CA89ACD}"/>
              </a:ext>
            </a:extLst>
          </p:cNvPr>
          <p:cNvSpPr/>
          <p:nvPr/>
        </p:nvSpPr>
        <p:spPr>
          <a:xfrm>
            <a:off x="5647137" y="3204716"/>
            <a:ext cx="424800" cy="165512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bg2">
                    <a:lumMod val="50000"/>
                  </a:schemeClr>
                </a:solidFill>
                <a:latin typeface="Meiryo UI" panose="020B0604030504040204" pitchFamily="50" charset="-128"/>
                <a:ea typeface="Meiryo UI" panose="020B0604030504040204" pitchFamily="50" charset="-128"/>
              </a:rPr>
              <a:t>大</a:t>
            </a:r>
            <a:endParaRPr lang="en-US" altLang="ja-JP" sz="1400">
              <a:solidFill>
                <a:schemeClr val="bg2">
                  <a:lumMod val="50000"/>
                </a:schemeClr>
              </a:solidFill>
              <a:latin typeface="Meiryo UI" panose="020B0604030504040204" pitchFamily="50" charset="-128"/>
              <a:ea typeface="Meiryo UI" panose="020B0604030504040204" pitchFamily="50" charset="-128"/>
            </a:endParaRPr>
          </a:p>
        </p:txBody>
      </p:sp>
      <p:sp>
        <p:nvSpPr>
          <p:cNvPr id="126" name="正方形/長方形 125">
            <a:extLst>
              <a:ext uri="{FF2B5EF4-FFF2-40B4-BE49-F238E27FC236}">
                <a16:creationId xmlns:a16="http://schemas.microsoft.com/office/drawing/2014/main" id="{A9042C21-922C-1136-F493-FB30F8C874CE}"/>
              </a:ext>
            </a:extLst>
          </p:cNvPr>
          <p:cNvSpPr/>
          <p:nvPr/>
        </p:nvSpPr>
        <p:spPr>
          <a:xfrm>
            <a:off x="6140568" y="3204716"/>
            <a:ext cx="3326400" cy="1011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88900" indent="-88900">
              <a:buFont typeface="Arial" panose="020B0604020202020204" pitchFamily="34" charset="0"/>
              <a:buChar char="•"/>
            </a:pPr>
            <a:r>
              <a:rPr lang="en-US" altLang="ja-JP" sz="1050" err="1">
                <a:solidFill>
                  <a:srgbClr val="FF0000"/>
                </a:solidFill>
                <a:latin typeface="Meiryo UI" panose="020B0604030504040204" pitchFamily="50" charset="-128"/>
                <a:ea typeface="Meiryo UI" panose="020B0604030504040204" pitchFamily="50" charset="-128"/>
              </a:rPr>
              <a:t>AsIs</a:t>
            </a:r>
            <a:r>
              <a:rPr lang="ja-JP" altLang="en-US" sz="1050">
                <a:solidFill>
                  <a:srgbClr val="FF0000"/>
                </a:solidFill>
                <a:latin typeface="Meiryo UI" panose="020B0604030504040204" pitchFamily="50" charset="-128"/>
                <a:ea typeface="Meiryo UI" panose="020B0604030504040204" pitchFamily="50" charset="-128"/>
              </a:rPr>
              <a:t>で実績のある銀行連携データと</a:t>
            </a:r>
            <a:r>
              <a:rPr lang="en-US" altLang="ja-JP" sz="1050">
                <a:solidFill>
                  <a:srgbClr val="FF0000"/>
                </a:solidFill>
                <a:latin typeface="Meiryo UI" panose="020B0604030504040204" pitchFamily="50" charset="-128"/>
                <a:ea typeface="Meiryo UI" panose="020B0604030504040204" pitchFamily="50" charset="-128"/>
              </a:rPr>
              <a:t>NEXUS</a:t>
            </a:r>
            <a:r>
              <a:rPr lang="ja-JP" altLang="en-US" sz="1050">
                <a:solidFill>
                  <a:srgbClr val="FF0000"/>
                </a:solidFill>
                <a:latin typeface="Meiryo UI" panose="020B0604030504040204" pitchFamily="50" charset="-128"/>
                <a:ea typeface="Meiryo UI" panose="020B0604030504040204" pitchFamily="50" charset="-128"/>
              </a:rPr>
              <a:t>から受領したデータの比較を銀行毎、支払処理パターン毎に実施することでデータの信頼性を担保する</a:t>
            </a:r>
            <a:endParaRPr lang="en-US" altLang="ja-JP" sz="105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lang="en-US" altLang="ja-JP" sz="105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lang="en-US" altLang="ja-JP" sz="105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lang="en-US" altLang="ja-JP" sz="1050">
              <a:solidFill>
                <a:srgbClr val="FF0000"/>
              </a:solidFill>
              <a:latin typeface="Meiryo UI" panose="020B0604030504040204" pitchFamily="50" charset="-128"/>
              <a:ea typeface="Meiryo UI" panose="020B0604030504040204" pitchFamily="50" charset="-128"/>
            </a:endParaRPr>
          </a:p>
        </p:txBody>
      </p:sp>
      <p:sp>
        <p:nvSpPr>
          <p:cNvPr id="130" name="正方形/長方形 129">
            <a:extLst>
              <a:ext uri="{FF2B5EF4-FFF2-40B4-BE49-F238E27FC236}">
                <a16:creationId xmlns:a16="http://schemas.microsoft.com/office/drawing/2014/main" id="{D1F633A1-C454-55DE-7668-AA060A8A500E}"/>
              </a:ext>
            </a:extLst>
          </p:cNvPr>
          <p:cNvSpPr/>
          <p:nvPr/>
        </p:nvSpPr>
        <p:spPr>
          <a:xfrm>
            <a:off x="1245232" y="4266449"/>
            <a:ext cx="1286515" cy="5940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1100" b="1">
                <a:solidFill>
                  <a:schemeClr val="bg2">
                    <a:lumMod val="50000"/>
                  </a:schemeClr>
                </a:solidFill>
                <a:latin typeface="Meiryo UI" panose="020B0604030504040204" pitchFamily="50" charset="-128"/>
                <a:ea typeface="Meiryo UI" panose="020B0604030504040204" pitchFamily="50" charset="-128"/>
              </a:rPr>
              <a:t>【</a:t>
            </a:r>
            <a:r>
              <a:rPr lang="ja-JP" altLang="en-US" sz="1100" b="1">
                <a:solidFill>
                  <a:schemeClr val="bg2">
                    <a:lumMod val="50000"/>
                  </a:schemeClr>
                </a:solidFill>
                <a:latin typeface="Meiryo UI" panose="020B0604030504040204" pitchFamily="50" charset="-128"/>
                <a:ea typeface="Meiryo UI" panose="020B0604030504040204" pitchFamily="50" charset="-128"/>
              </a:rPr>
              <a:t>出金</a:t>
            </a:r>
            <a:r>
              <a:rPr lang="en-US" altLang="ja-JP" sz="1100" b="1">
                <a:solidFill>
                  <a:schemeClr val="bg2">
                    <a:lumMod val="50000"/>
                  </a:schemeClr>
                </a:solidFill>
                <a:latin typeface="Meiryo UI" panose="020B0604030504040204" pitchFamily="50" charset="-128"/>
                <a:ea typeface="Meiryo UI" panose="020B0604030504040204" pitchFamily="50" charset="-128"/>
              </a:rPr>
              <a:t>】</a:t>
            </a:r>
          </a:p>
          <a:p>
            <a:pPr algn="ctr"/>
            <a:r>
              <a:rPr lang="ja-JP" altLang="en-US" sz="1100" b="1">
                <a:solidFill>
                  <a:schemeClr val="bg2">
                    <a:lumMod val="50000"/>
                  </a:schemeClr>
                </a:solidFill>
                <a:latin typeface="Meiryo UI" panose="020B0604030504040204" pitchFamily="50" charset="-128"/>
                <a:ea typeface="Meiryo UI" panose="020B0604030504040204" pitchFamily="50" charset="-128"/>
              </a:rPr>
              <a:t>銀行連携データ追加</a:t>
            </a:r>
            <a:endParaRPr lang="en-US" altLang="ja-JP" sz="1100" b="1">
              <a:solidFill>
                <a:schemeClr val="bg2">
                  <a:lumMod val="50000"/>
                </a:schemeClr>
              </a:solidFill>
              <a:latin typeface="Meiryo UI" panose="020B0604030504040204" pitchFamily="50" charset="-128"/>
              <a:ea typeface="Meiryo UI" panose="020B0604030504040204" pitchFamily="50" charset="-128"/>
            </a:endParaRPr>
          </a:p>
        </p:txBody>
      </p:sp>
      <p:sp>
        <p:nvSpPr>
          <p:cNvPr id="131" name="正方形/長方形 130">
            <a:extLst>
              <a:ext uri="{FF2B5EF4-FFF2-40B4-BE49-F238E27FC236}">
                <a16:creationId xmlns:a16="http://schemas.microsoft.com/office/drawing/2014/main" id="{6A19938D-8D3D-4832-2BBA-CD8ED5F5EC30}"/>
              </a:ext>
            </a:extLst>
          </p:cNvPr>
          <p:cNvSpPr/>
          <p:nvPr/>
        </p:nvSpPr>
        <p:spPr>
          <a:xfrm>
            <a:off x="2602505" y="3200457"/>
            <a:ext cx="2476800" cy="10116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050">
                <a:solidFill>
                  <a:schemeClr val="bg2">
                    <a:lumMod val="50000"/>
                  </a:schemeClr>
                </a:solidFill>
                <a:latin typeface="Meiryo UI" panose="020B0604030504040204" pitchFamily="50" charset="-128"/>
                <a:ea typeface="Meiryo UI" panose="020B0604030504040204" pitchFamily="50" charset="-128"/>
              </a:rPr>
              <a:t>・</a:t>
            </a:r>
            <a:r>
              <a:rPr lang="en-US" altLang="ja-JP" sz="1050">
                <a:solidFill>
                  <a:schemeClr val="bg2">
                    <a:lumMod val="50000"/>
                  </a:schemeClr>
                </a:solidFill>
                <a:latin typeface="Meiryo UI" panose="020B0604030504040204" pitchFamily="50" charset="-128"/>
                <a:ea typeface="Meiryo UI" panose="020B0604030504040204" pitchFamily="50" charset="-128"/>
              </a:rPr>
              <a:t>SAP</a:t>
            </a:r>
            <a:r>
              <a:rPr lang="ja-JP" altLang="en-US" sz="1050">
                <a:solidFill>
                  <a:schemeClr val="bg2">
                    <a:lumMod val="50000"/>
                  </a:schemeClr>
                </a:solidFill>
                <a:latin typeface="Meiryo UI" panose="020B0604030504040204" pitchFamily="50" charset="-128"/>
                <a:ea typeface="Meiryo UI" panose="020B0604030504040204" pitchFamily="50" charset="-128"/>
              </a:rPr>
              <a:t>からは支払予定日、口座単位の</a:t>
            </a:r>
            <a:br>
              <a:rPr lang="en-US" altLang="ja-JP" sz="1050">
                <a:solidFill>
                  <a:schemeClr val="bg2">
                    <a:lumMod val="50000"/>
                  </a:schemeClr>
                </a:solidFill>
                <a:latin typeface="Meiryo UI" panose="020B0604030504040204" pitchFamily="50" charset="-128"/>
                <a:ea typeface="Meiryo UI" panose="020B0604030504040204" pitchFamily="50" charset="-128"/>
              </a:rPr>
            </a:br>
            <a:r>
              <a:rPr lang="en-US" altLang="ja-JP" sz="1050">
                <a:solidFill>
                  <a:schemeClr val="bg2">
                    <a:lumMod val="50000"/>
                  </a:schemeClr>
                </a:solidFill>
                <a:latin typeface="Meiryo UI" panose="020B0604030504040204" pitchFamily="50" charset="-128"/>
                <a:ea typeface="Meiryo UI" panose="020B0604030504040204" pitchFamily="50" charset="-128"/>
              </a:rPr>
              <a:t> </a:t>
            </a:r>
            <a:r>
              <a:rPr lang="ja-JP" altLang="en-US" sz="1050">
                <a:solidFill>
                  <a:schemeClr val="bg2">
                    <a:lumMod val="50000"/>
                  </a:schemeClr>
                </a:solidFill>
                <a:latin typeface="Meiryo UI" panose="020B0604030504040204" pitchFamily="50" charset="-128"/>
                <a:ea typeface="Meiryo UI" panose="020B0604030504040204" pitchFamily="50" charset="-128"/>
              </a:rPr>
              <a:t>データを受領</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a:p>
            <a:r>
              <a:rPr lang="ja-JP" altLang="en-US" sz="1050">
                <a:solidFill>
                  <a:schemeClr val="bg2">
                    <a:lumMod val="50000"/>
                  </a:schemeClr>
                </a:solidFill>
                <a:latin typeface="Meiryo UI" panose="020B0604030504040204" pitchFamily="50" charset="-128"/>
                <a:ea typeface="Meiryo UI" panose="020B0604030504040204" pitchFamily="50" charset="-128"/>
              </a:rPr>
              <a:t> →</a:t>
            </a:r>
            <a:r>
              <a:rPr lang="en-US" altLang="ja-JP" sz="1050">
                <a:solidFill>
                  <a:schemeClr val="bg2">
                    <a:lumMod val="50000"/>
                  </a:schemeClr>
                </a:solidFill>
                <a:latin typeface="Meiryo UI" panose="020B0604030504040204" pitchFamily="50" charset="-128"/>
                <a:ea typeface="Meiryo UI" panose="020B0604030504040204" pitchFamily="50" charset="-128"/>
              </a:rPr>
              <a:t>NEXUS</a:t>
            </a:r>
            <a:r>
              <a:rPr lang="ja-JP" altLang="en-US" sz="1050">
                <a:solidFill>
                  <a:schemeClr val="bg2">
                    <a:lumMod val="50000"/>
                  </a:schemeClr>
                </a:solidFill>
                <a:latin typeface="Meiryo UI" panose="020B0604030504040204" pitchFamily="50" charset="-128"/>
                <a:ea typeface="Meiryo UI" panose="020B0604030504040204" pitchFamily="50" charset="-128"/>
              </a:rPr>
              <a:t>経由したデータの検証を銀行毎、</a:t>
            </a:r>
            <a:br>
              <a:rPr lang="en-US" altLang="ja-JP" sz="1050">
                <a:solidFill>
                  <a:schemeClr val="bg2">
                    <a:lumMod val="50000"/>
                  </a:schemeClr>
                </a:solidFill>
                <a:latin typeface="Meiryo UI" panose="020B0604030504040204" pitchFamily="50" charset="-128"/>
                <a:ea typeface="Meiryo UI" panose="020B0604030504040204" pitchFamily="50" charset="-128"/>
              </a:rPr>
            </a:br>
            <a:r>
              <a:rPr lang="en-US" altLang="ja-JP" sz="1050">
                <a:solidFill>
                  <a:schemeClr val="bg2">
                    <a:lumMod val="50000"/>
                  </a:schemeClr>
                </a:solidFill>
                <a:latin typeface="Meiryo UI" panose="020B0604030504040204" pitchFamily="50" charset="-128"/>
                <a:ea typeface="Meiryo UI" panose="020B0604030504040204" pitchFamily="50" charset="-128"/>
              </a:rPr>
              <a:t>    </a:t>
            </a:r>
            <a:r>
              <a:rPr lang="ja-JP" altLang="en-US" sz="1050">
                <a:solidFill>
                  <a:schemeClr val="bg2">
                    <a:lumMod val="50000"/>
                  </a:schemeClr>
                </a:solidFill>
                <a:latin typeface="Meiryo UI" panose="020B0604030504040204" pitchFamily="50" charset="-128"/>
                <a:ea typeface="Meiryo UI" panose="020B0604030504040204" pitchFamily="50" charset="-128"/>
              </a:rPr>
              <a:t>支払処理パターン毎に実施</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F860F71F-555E-355D-3534-885C89C70EF7}"/>
              </a:ext>
            </a:extLst>
          </p:cNvPr>
          <p:cNvSpPr/>
          <p:nvPr/>
        </p:nvSpPr>
        <p:spPr>
          <a:xfrm>
            <a:off x="1245232" y="5478817"/>
            <a:ext cx="1286515" cy="5112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文字コード仕様変更</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7" name="正方形/長方形 96">
            <a:extLst>
              <a:ext uri="{FF2B5EF4-FFF2-40B4-BE49-F238E27FC236}">
                <a16:creationId xmlns:a16="http://schemas.microsoft.com/office/drawing/2014/main" id="{24699CF8-FB60-CDF7-E3A6-562957065AC2}"/>
              </a:ext>
            </a:extLst>
          </p:cNvPr>
          <p:cNvSpPr/>
          <p:nvPr/>
        </p:nvSpPr>
        <p:spPr>
          <a:xfrm>
            <a:off x="2602505" y="5478615"/>
            <a:ext cx="2476800" cy="511200"/>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050">
                <a:solidFill>
                  <a:schemeClr val="bg2">
                    <a:lumMod val="50000"/>
                  </a:schemeClr>
                </a:solidFill>
                <a:latin typeface="Meiryo UI" panose="020B0604030504040204" pitchFamily="50" charset="-128"/>
                <a:ea typeface="Meiryo UI" panose="020B0604030504040204" pitchFamily="50" charset="-128"/>
              </a:rPr>
              <a:t>銀行とは</a:t>
            </a:r>
            <a:r>
              <a:rPr lang="en-US" altLang="ja-JP" sz="1050">
                <a:solidFill>
                  <a:schemeClr val="bg2">
                    <a:lumMod val="50000"/>
                  </a:schemeClr>
                </a:solidFill>
                <a:latin typeface="Meiryo UI" panose="020B0604030504040204" pitchFamily="50" charset="-128"/>
                <a:ea typeface="Meiryo UI" panose="020B0604030504040204" pitchFamily="50" charset="-128"/>
              </a:rPr>
              <a:t>EBCDIC (</a:t>
            </a:r>
            <a:r>
              <a:rPr lang="ja-JP" altLang="en-US" sz="1050">
                <a:solidFill>
                  <a:schemeClr val="bg2">
                    <a:lumMod val="50000"/>
                  </a:schemeClr>
                </a:solidFill>
                <a:latin typeface="Meiryo UI" panose="020B0604030504040204" pitchFamily="50" charset="-128"/>
                <a:ea typeface="Meiryo UI" panose="020B0604030504040204" pitchFamily="50" charset="-128"/>
              </a:rPr>
              <a:t>改行無</a:t>
            </a:r>
            <a:r>
              <a:rPr lang="en-US" altLang="ja-JP" sz="1050">
                <a:solidFill>
                  <a:schemeClr val="bg2">
                    <a:lumMod val="50000"/>
                  </a:schemeClr>
                </a:solidFill>
                <a:latin typeface="Meiryo UI" panose="020B0604030504040204" pitchFamily="50" charset="-128"/>
                <a:ea typeface="Meiryo UI" panose="020B0604030504040204" pitchFamily="50" charset="-128"/>
              </a:rPr>
              <a:t>) ,</a:t>
            </a:r>
          </a:p>
          <a:p>
            <a:r>
              <a:rPr lang="en-US" altLang="ja-JP" sz="1050">
                <a:solidFill>
                  <a:schemeClr val="bg2">
                    <a:lumMod val="50000"/>
                  </a:schemeClr>
                </a:solidFill>
                <a:latin typeface="Meiryo UI" panose="020B0604030504040204" pitchFamily="50" charset="-128"/>
                <a:ea typeface="Meiryo UI" panose="020B0604030504040204" pitchFamily="50" charset="-128"/>
              </a:rPr>
              <a:t>NEXUS</a:t>
            </a:r>
            <a:r>
              <a:rPr lang="ja-JP" altLang="en-US" sz="1050">
                <a:solidFill>
                  <a:schemeClr val="bg2">
                    <a:lumMod val="50000"/>
                  </a:schemeClr>
                </a:solidFill>
                <a:latin typeface="Meiryo UI" panose="020B0604030504040204" pitchFamily="50" charset="-128"/>
                <a:ea typeface="Meiryo UI" panose="020B0604030504040204" pitchFamily="50" charset="-128"/>
              </a:rPr>
              <a:t>とは</a:t>
            </a:r>
            <a:r>
              <a:rPr lang="en-US" altLang="ja-JP" sz="1050">
                <a:solidFill>
                  <a:schemeClr val="bg2">
                    <a:lumMod val="50000"/>
                  </a:schemeClr>
                </a:solidFill>
                <a:latin typeface="Meiryo UI" panose="020B0604030504040204" pitchFamily="50" charset="-128"/>
                <a:ea typeface="Meiryo UI" panose="020B0604030504040204" pitchFamily="50" charset="-128"/>
              </a:rPr>
              <a:t>SJIS (</a:t>
            </a:r>
            <a:r>
              <a:rPr lang="ja-JP" altLang="en-US" sz="1050">
                <a:solidFill>
                  <a:schemeClr val="bg2">
                    <a:lumMod val="50000"/>
                  </a:schemeClr>
                </a:solidFill>
                <a:latin typeface="Meiryo UI" panose="020B0604030504040204" pitchFamily="50" charset="-128"/>
                <a:ea typeface="Meiryo UI" panose="020B0604030504040204" pitchFamily="50" charset="-128"/>
              </a:rPr>
              <a:t>改行無</a:t>
            </a:r>
            <a:r>
              <a:rPr lang="en-US" altLang="ja-JP" sz="1050">
                <a:solidFill>
                  <a:schemeClr val="bg2">
                    <a:lumMod val="50000"/>
                  </a:schemeClr>
                </a:solidFill>
                <a:latin typeface="Meiryo UI" panose="020B0604030504040204" pitchFamily="50" charset="-128"/>
                <a:ea typeface="Meiryo UI" panose="020B0604030504040204" pitchFamily="50" charset="-128"/>
              </a:rPr>
              <a:t>)</a:t>
            </a:r>
            <a:r>
              <a:rPr lang="ja-JP" altLang="en-US" sz="1050">
                <a:solidFill>
                  <a:schemeClr val="bg2">
                    <a:lumMod val="50000"/>
                  </a:schemeClr>
                </a:solidFill>
                <a:latin typeface="Meiryo UI" panose="020B0604030504040204" pitchFamily="50" charset="-128"/>
                <a:ea typeface="Meiryo UI" panose="020B0604030504040204" pitchFamily="50" charset="-128"/>
              </a:rPr>
              <a:t>で連携すること</a:t>
            </a:r>
            <a:br>
              <a:rPr lang="en-US" altLang="ja-JP" sz="1050">
                <a:solidFill>
                  <a:schemeClr val="bg2">
                    <a:lumMod val="50000"/>
                  </a:schemeClr>
                </a:solidFill>
                <a:latin typeface="Meiryo UI" panose="020B0604030504040204" pitchFamily="50" charset="-128"/>
                <a:ea typeface="Meiryo UI" panose="020B0604030504040204" pitchFamily="50" charset="-128"/>
              </a:rPr>
            </a:br>
            <a:r>
              <a:rPr lang="ja-JP" altLang="en-US" sz="1050">
                <a:solidFill>
                  <a:schemeClr val="bg2">
                    <a:lumMod val="50000"/>
                  </a:schemeClr>
                </a:solidFill>
                <a:latin typeface="Meiryo UI" panose="020B0604030504040204" pitchFamily="50" charset="-128"/>
                <a:ea typeface="Meiryo UI" panose="020B0604030504040204" pitchFamily="50" charset="-128"/>
              </a:rPr>
              <a:t>による文字コードの変換</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p:txBody>
      </p:sp>
      <p:sp>
        <p:nvSpPr>
          <p:cNvPr id="190" name="正方形/長方形 189">
            <a:extLst>
              <a:ext uri="{FF2B5EF4-FFF2-40B4-BE49-F238E27FC236}">
                <a16:creationId xmlns:a16="http://schemas.microsoft.com/office/drawing/2014/main" id="{C7B0CB33-4163-7415-70B3-FE1EE4D295DA}"/>
              </a:ext>
            </a:extLst>
          </p:cNvPr>
          <p:cNvSpPr/>
          <p:nvPr/>
        </p:nvSpPr>
        <p:spPr>
          <a:xfrm>
            <a:off x="6140568" y="5478615"/>
            <a:ext cx="3326400" cy="511200"/>
          </a:xfrm>
          <a:prstGeom prst="rect">
            <a:avLst/>
          </a:prstGeom>
          <a:solidFill>
            <a:srgbClr val="FFF2B9"/>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88900" indent="-8890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文字コード仕様の変更に伴う変換処理改修と検証作業</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1" name="正方形/長方形 190">
            <a:extLst>
              <a:ext uri="{FF2B5EF4-FFF2-40B4-BE49-F238E27FC236}">
                <a16:creationId xmlns:a16="http://schemas.microsoft.com/office/drawing/2014/main" id="{E1A2B6E2-8F0B-7676-8B93-7E4C7A825222}"/>
              </a:ext>
            </a:extLst>
          </p:cNvPr>
          <p:cNvSpPr/>
          <p:nvPr/>
        </p:nvSpPr>
        <p:spPr>
          <a:xfrm>
            <a:off x="9527942" y="4913629"/>
            <a:ext cx="2476800" cy="1076186"/>
          </a:xfrm>
          <a:prstGeom prst="rect">
            <a:avLst/>
          </a:prstGeom>
          <a:solidFill>
            <a:srgbClr val="FFF2B9"/>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向けの設定で都合が悪い連携先がある場合は、個別にロジックを追加する必要がある</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1FAC1BCD-C9F5-FC1D-357A-1B7FF6062F6F}"/>
              </a:ext>
            </a:extLst>
          </p:cNvPr>
          <p:cNvSpPr/>
          <p:nvPr/>
        </p:nvSpPr>
        <p:spPr>
          <a:xfrm>
            <a:off x="2602505" y="4265843"/>
            <a:ext cx="2476800" cy="594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・新たに振込日</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2E</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前のデータ連携を追加</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BF6D3F33-AA56-FD59-14FE-DBAD6C9EC56E}"/>
              </a:ext>
            </a:extLst>
          </p:cNvPr>
          <p:cNvSpPr/>
          <p:nvPr/>
        </p:nvSpPr>
        <p:spPr>
          <a:xfrm>
            <a:off x="6140568" y="4265843"/>
            <a:ext cx="3326400" cy="5940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88900" indent="-88900">
              <a:buFont typeface="Arial" panose="020B0604020202020204" pitchFamily="34" charset="0"/>
              <a:buChar char="•"/>
            </a:pPr>
            <a:r>
              <a:rPr lang="ja-JP" altLang="en-US" sz="1050">
                <a:solidFill>
                  <a:srgbClr val="FF0000"/>
                </a:solidFill>
                <a:latin typeface="Meiryo UI" panose="020B0604030504040204" pitchFamily="50" charset="-128"/>
                <a:ea typeface="Meiryo UI" panose="020B0604030504040204" pitchFamily="50" charset="-128"/>
              </a:rPr>
              <a:t>振込日</a:t>
            </a:r>
            <a:r>
              <a:rPr lang="en-US" altLang="ja-JP" sz="1050">
                <a:solidFill>
                  <a:srgbClr val="FF0000"/>
                </a:solidFill>
                <a:latin typeface="Meiryo UI" panose="020B0604030504040204" pitchFamily="50" charset="-128"/>
                <a:ea typeface="Meiryo UI" panose="020B0604030504040204" pitchFamily="50" charset="-128"/>
              </a:rPr>
              <a:t>2E</a:t>
            </a:r>
            <a:r>
              <a:rPr lang="ja-JP" altLang="en-US" sz="1050">
                <a:solidFill>
                  <a:srgbClr val="FF0000"/>
                </a:solidFill>
                <a:latin typeface="Meiryo UI" panose="020B0604030504040204" pitchFamily="50" charset="-128"/>
                <a:ea typeface="Meiryo UI" panose="020B0604030504040204" pitchFamily="50" charset="-128"/>
              </a:rPr>
              <a:t>前ファイル追加に伴う処理方式の変更と検証作業</a:t>
            </a:r>
            <a:endParaRPr lang="en-US" altLang="ja-JP" sz="1050">
              <a:solidFill>
                <a:srgbClr val="FF0000"/>
              </a:solidFill>
              <a:latin typeface="Meiryo UI" panose="020B0604030504040204" pitchFamily="50" charset="-128"/>
              <a:ea typeface="Meiryo UI" panose="020B0604030504040204" pitchFamily="50" charset="-128"/>
            </a:endParaRPr>
          </a:p>
          <a:p>
            <a:pPr marL="88900" indent="-88900">
              <a:buFont typeface="Arial" panose="020B0604020202020204" pitchFamily="34" charset="0"/>
              <a:buChar char="•"/>
            </a:pPr>
            <a:r>
              <a:rPr lang="ja-JP" altLang="en-US" sz="1050">
                <a:solidFill>
                  <a:srgbClr val="FF0000"/>
                </a:solidFill>
                <a:latin typeface="Meiryo UI" panose="020B0604030504040204" pitchFamily="50" charset="-128"/>
                <a:ea typeface="Meiryo UI" panose="020B0604030504040204" pitchFamily="50" charset="-128"/>
              </a:rPr>
              <a:t>支払予定日の異なる同一口座のファイル連携に必要な改修</a:t>
            </a:r>
            <a:endParaRPr lang="en-US" altLang="ja-JP" sz="1050">
              <a:solidFill>
                <a:srgbClr val="FF0000"/>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F0081516-5E59-BD0D-1CA5-7D5076A2AF15}"/>
              </a:ext>
            </a:extLst>
          </p:cNvPr>
          <p:cNvSpPr/>
          <p:nvPr/>
        </p:nvSpPr>
        <p:spPr>
          <a:xfrm>
            <a:off x="1245232" y="3200255"/>
            <a:ext cx="1286515" cy="101261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1100" b="1">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b="1">
                <a:solidFill>
                  <a:schemeClr val="tx1">
                    <a:lumMod val="75000"/>
                    <a:lumOff val="25000"/>
                  </a:schemeClr>
                </a:solidFill>
                <a:latin typeface="Meiryo UI" panose="020B0604030504040204" pitchFamily="50" charset="-128"/>
                <a:ea typeface="Meiryo UI" panose="020B0604030504040204" pitchFamily="50" charset="-128"/>
              </a:rPr>
              <a:t>出金</a:t>
            </a:r>
            <a:r>
              <a:rPr lang="en-US" altLang="ja-JP" sz="1100" b="1">
                <a:solidFill>
                  <a:schemeClr val="tx1">
                    <a:lumMod val="75000"/>
                    <a:lumOff val="25000"/>
                  </a:schemeClr>
                </a:solidFill>
                <a:latin typeface="Meiryo UI" panose="020B0604030504040204" pitchFamily="50" charset="-128"/>
                <a:ea typeface="Meiryo UI" panose="020B0604030504040204" pitchFamily="50" charset="-128"/>
              </a:rPr>
              <a:t>】</a:t>
            </a:r>
          </a:p>
          <a:p>
            <a:pPr algn="ctr"/>
            <a:r>
              <a:rPr lang="ja-JP" altLang="en-US" sz="1100" b="1">
                <a:solidFill>
                  <a:schemeClr val="tx1">
                    <a:lumMod val="75000"/>
                    <a:lumOff val="25000"/>
                  </a:schemeClr>
                </a:solidFill>
                <a:latin typeface="Meiryo UI" panose="020B0604030504040204" pitchFamily="50" charset="-128"/>
                <a:ea typeface="Meiryo UI" panose="020B0604030504040204" pitchFamily="50" charset="-128"/>
              </a:rPr>
              <a:t>銀行連携データ検証</a:t>
            </a:r>
            <a:endParaRPr lang="en-US" altLang="ja-JP" sz="11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01DC4947-5AA9-7C68-E435-EC69202FD124}"/>
              </a:ext>
            </a:extLst>
          </p:cNvPr>
          <p:cNvSpPr/>
          <p:nvPr/>
        </p:nvSpPr>
        <p:spPr>
          <a:xfrm>
            <a:off x="954948" y="4914034"/>
            <a:ext cx="229311" cy="1075782"/>
          </a:xfrm>
          <a:prstGeom prst="rect">
            <a:avLst/>
          </a:prstGeom>
          <a:solidFill>
            <a:schemeClr val="accent5">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eaVert" wrap="square" lIns="36000" tIns="0" rIns="36000" bIns="0" rtlCol="0" anchor="ctr">
            <a:noAutofit/>
          </a:bodyPr>
          <a:lstStyle/>
          <a:p>
            <a:pPr 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設定変更　</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78E1519C-E8A9-2956-3214-32785DD133F4}"/>
              </a:ext>
            </a:extLst>
          </p:cNvPr>
          <p:cNvSpPr/>
          <p:nvPr/>
        </p:nvSpPr>
        <p:spPr>
          <a:xfrm>
            <a:off x="954948" y="3198712"/>
            <a:ext cx="229311" cy="1666439"/>
          </a:xfrm>
          <a:prstGeom prst="rect">
            <a:avLst/>
          </a:prstGeom>
          <a:solidFill>
            <a:schemeClr val="accent5">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eaVert" wrap="square" lIns="36000" tIns="0" rIns="36000" bIns="0" rtlCol="0" anchor="ctr">
            <a:noAutofit/>
          </a:bodyPr>
          <a:lstStyle/>
          <a:p>
            <a:pPr 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データ検証</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B71BF64D-EA09-E90F-2399-6898A2F3DA25}"/>
              </a:ext>
            </a:extLst>
          </p:cNvPr>
          <p:cNvSpPr/>
          <p:nvPr/>
        </p:nvSpPr>
        <p:spPr>
          <a:xfrm>
            <a:off x="954948" y="2081071"/>
            <a:ext cx="229311" cy="1065600"/>
          </a:xfrm>
          <a:prstGeom prst="rect">
            <a:avLst/>
          </a:prstGeom>
          <a:solidFill>
            <a:schemeClr val="accent5">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eaVert" wrap="square" lIns="36000" tIns="0" rIns="36000" bIns="0" rtlCol="0" anchor="ctr">
            <a:noAutofit/>
          </a:bodyPr>
          <a:lstStyle/>
          <a:p>
            <a:pPr 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移行手順作成</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grpSp>
        <p:nvGrpSpPr>
          <p:cNvPr id="74" name="グループ化 73">
            <a:extLst>
              <a:ext uri="{FF2B5EF4-FFF2-40B4-BE49-F238E27FC236}">
                <a16:creationId xmlns:a16="http://schemas.microsoft.com/office/drawing/2014/main" id="{134299C1-4384-8D79-98C5-778B65CBE3F9}"/>
              </a:ext>
            </a:extLst>
          </p:cNvPr>
          <p:cNvGrpSpPr/>
          <p:nvPr/>
        </p:nvGrpSpPr>
        <p:grpSpPr>
          <a:xfrm>
            <a:off x="954948" y="6043603"/>
            <a:ext cx="11049794" cy="511200"/>
            <a:chOff x="954948" y="6089323"/>
            <a:chExt cx="11049794" cy="511200"/>
          </a:xfrm>
        </p:grpSpPr>
        <p:sp>
          <p:nvSpPr>
            <p:cNvPr id="22" name="正方形/長方形 21">
              <a:extLst>
                <a:ext uri="{FF2B5EF4-FFF2-40B4-BE49-F238E27FC236}">
                  <a16:creationId xmlns:a16="http://schemas.microsoft.com/office/drawing/2014/main" id="{E6C71CFE-360C-1F95-448F-911F2A272AC8}"/>
                </a:ext>
              </a:extLst>
            </p:cNvPr>
            <p:cNvSpPr/>
            <p:nvPr/>
          </p:nvSpPr>
          <p:spPr>
            <a:xfrm>
              <a:off x="1245232" y="6089323"/>
              <a:ext cx="1286515" cy="5112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入金</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a:t>
              </a:r>
            </a:p>
            <a:p>
              <a:pPr 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データ連携タイミングの変更・追加</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7BDA19C4-ADD9-7733-05B3-FEEA6FC7D260}"/>
                </a:ext>
              </a:extLst>
            </p:cNvPr>
            <p:cNvSpPr/>
            <p:nvPr/>
          </p:nvSpPr>
          <p:spPr>
            <a:xfrm>
              <a:off x="954948" y="6089323"/>
              <a:ext cx="229311" cy="511200"/>
            </a:xfrm>
            <a:prstGeom prst="rect">
              <a:avLst/>
            </a:prstGeom>
            <a:solidFill>
              <a:schemeClr val="accent5">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eaVert" wrap="square" lIns="36000" tIns="0" rIns="36000" bIns="0" rtlCol="0" anchor="ctr">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運用変更</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7CC13072-AEB2-84AC-0E07-9C98ECCA8695}"/>
                </a:ext>
              </a:extLst>
            </p:cNvPr>
            <p:cNvSpPr/>
            <p:nvPr/>
          </p:nvSpPr>
          <p:spPr>
            <a:xfrm>
              <a:off x="2602505" y="6089323"/>
              <a:ext cx="2476800" cy="5112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050">
                  <a:solidFill>
                    <a:srgbClr val="404040"/>
                  </a:solidFill>
                  <a:latin typeface="Meiryo UI" panose="020B0604030504040204" pitchFamily="50" charset="-128"/>
                  <a:ea typeface="Meiryo UI" panose="020B0604030504040204" pitchFamily="50" charset="-128"/>
                </a:rPr>
                <a:t>経理処理円滑化のため、</a:t>
              </a:r>
              <a:r>
                <a:rPr lang="en-US" altLang="ja-JP" sz="1050" err="1">
                  <a:solidFill>
                    <a:srgbClr val="404040"/>
                  </a:solidFill>
                  <a:latin typeface="Meiryo UI" panose="020B0604030504040204" pitchFamily="50" charset="-128"/>
                  <a:ea typeface="Meiryo UI" panose="020B0604030504040204" pitchFamily="50" charset="-128"/>
                </a:rPr>
                <a:t>AsIs</a:t>
              </a:r>
              <a:r>
                <a:rPr lang="ja-JP" altLang="en-US" sz="1050">
                  <a:solidFill>
                    <a:srgbClr val="404040"/>
                  </a:solidFill>
                  <a:latin typeface="Meiryo UI" panose="020B0604030504040204" pitchFamily="50" charset="-128"/>
                  <a:ea typeface="Meiryo UI" panose="020B0604030504040204" pitchFamily="50" charset="-128"/>
                </a:rPr>
                <a:t>よりもデータ連携のタイミングを増やす、もしくは時間帯を変更する。</a:t>
              </a:r>
              <a:endParaRPr lang="en-US" altLang="ja-JP" sz="1050">
                <a:solidFill>
                  <a:srgbClr val="404040"/>
                </a:solidFill>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FE5AC423-24C9-3DFD-332B-C35A54906578}"/>
                </a:ext>
              </a:extLst>
            </p:cNvPr>
            <p:cNvSpPr/>
            <p:nvPr/>
          </p:nvSpPr>
          <p:spPr>
            <a:xfrm>
              <a:off x="6140568" y="6089323"/>
              <a:ext cx="3326400" cy="5112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88900" indent="-8890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振込入金通知のデータ連携回数を増やす</a:t>
              </a:r>
              <a:br>
                <a:rPr lang="en-US" altLang="ja-JP" sz="1050">
                  <a:solidFill>
                    <a:schemeClr val="tx1">
                      <a:lumMod val="75000"/>
                      <a:lumOff val="25000"/>
                    </a:schemeClr>
                  </a:solidFill>
                  <a:latin typeface="Meiryo UI" panose="020B0604030504040204" pitchFamily="50" charset="-128"/>
                  <a:ea typeface="Meiryo UI" panose="020B0604030504040204" pitchFamily="50" charset="-128"/>
                </a:rPr>
              </a:b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もしくは時間帯を銀行毎に変更する</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E05C12B8-691C-6164-B1DD-0B70DBAC276D}"/>
                </a:ext>
              </a:extLst>
            </p:cNvPr>
            <p:cNvSpPr/>
            <p:nvPr/>
          </p:nvSpPr>
          <p:spPr>
            <a:xfrm>
              <a:off x="9527942" y="6089323"/>
              <a:ext cx="2476800" cy="5112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銀行毎に</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ADP</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開局時間が異なるため、</a:t>
              </a:r>
              <a:br>
                <a:rPr lang="en-US" altLang="ja-JP" sz="1050">
                  <a:solidFill>
                    <a:schemeClr val="tx1">
                      <a:lumMod val="75000"/>
                      <a:lumOff val="25000"/>
                    </a:schemeClr>
                  </a:solidFill>
                  <a:latin typeface="Meiryo UI" panose="020B0604030504040204" pitchFamily="50" charset="-128"/>
                  <a:ea typeface="Meiryo UI" panose="020B0604030504040204" pitchFamily="50" charset="-128"/>
                </a:rPr>
              </a:b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銀行毎に取得時間を変更する場合は</a:t>
              </a:r>
              <a:br>
                <a:rPr lang="en-US" altLang="ja-JP" sz="1050">
                  <a:solidFill>
                    <a:schemeClr val="tx1">
                      <a:lumMod val="75000"/>
                      <a:lumOff val="25000"/>
                    </a:schemeClr>
                  </a:solidFill>
                  <a:latin typeface="Meiryo UI" panose="020B0604030504040204" pitchFamily="50" charset="-128"/>
                  <a:ea typeface="Meiryo UI" panose="020B0604030504040204" pitchFamily="50" charset="-128"/>
                </a:rPr>
              </a:b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工数増</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E99846A9-7618-667B-8E4F-1EF5129A392C}"/>
                </a:ext>
              </a:extLst>
            </p:cNvPr>
            <p:cNvSpPr/>
            <p:nvPr/>
          </p:nvSpPr>
          <p:spPr>
            <a:xfrm>
              <a:off x="5151158" y="6089323"/>
              <a:ext cx="424800" cy="5112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EE095AF8-25C5-328F-8DFD-630984601529}"/>
                </a:ext>
              </a:extLst>
            </p:cNvPr>
            <p:cNvSpPr/>
            <p:nvPr/>
          </p:nvSpPr>
          <p:spPr>
            <a:xfrm>
              <a:off x="5647137" y="6089323"/>
              <a:ext cx="424800" cy="5112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45" name="正方形/長方形 44">
            <a:extLst>
              <a:ext uri="{FF2B5EF4-FFF2-40B4-BE49-F238E27FC236}">
                <a16:creationId xmlns:a16="http://schemas.microsoft.com/office/drawing/2014/main" id="{2765B318-B71D-58EF-C4FF-FAEDB8C4A267}"/>
              </a:ext>
            </a:extLst>
          </p:cNvPr>
          <p:cNvSpPr/>
          <p:nvPr/>
        </p:nvSpPr>
        <p:spPr>
          <a:xfrm>
            <a:off x="9527942" y="3204716"/>
            <a:ext cx="2476800" cy="1011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rgbClr val="FF0000"/>
                </a:solidFill>
                <a:latin typeface="Meiryo UI" panose="020B0604030504040204" pitchFamily="50" charset="-128"/>
                <a:ea typeface="Meiryo UI" panose="020B0604030504040204" pitchFamily="50" charset="-128"/>
              </a:rPr>
              <a:t>NEXUS</a:t>
            </a:r>
            <a:r>
              <a:rPr lang="ja-JP" altLang="en-US" sz="1100">
                <a:solidFill>
                  <a:srgbClr val="FF0000"/>
                </a:solidFill>
                <a:latin typeface="Meiryo UI" panose="020B0604030504040204" pitchFamily="50" charset="-128"/>
                <a:ea typeface="Meiryo UI" panose="020B0604030504040204" pitchFamily="50" charset="-128"/>
              </a:rPr>
              <a:t>から受領しロコンで処理した</a:t>
            </a:r>
            <a:r>
              <a:rPr lang="en-US" altLang="ja-JP" sz="1100">
                <a:solidFill>
                  <a:srgbClr val="FF0000"/>
                </a:solidFill>
                <a:latin typeface="Meiryo UI" panose="020B0604030504040204" pitchFamily="50" charset="-128"/>
                <a:ea typeface="Meiryo UI" panose="020B0604030504040204" pitchFamily="50" charset="-128"/>
              </a:rPr>
              <a:t>FB</a:t>
            </a:r>
            <a:r>
              <a:rPr lang="ja-JP" altLang="en-US" sz="1100">
                <a:solidFill>
                  <a:srgbClr val="FF0000"/>
                </a:solidFill>
                <a:latin typeface="Meiryo UI" panose="020B0604030504040204" pitchFamily="50" charset="-128"/>
                <a:ea typeface="Meiryo UI" panose="020B0604030504040204" pitchFamily="50" charset="-128"/>
              </a:rPr>
              <a:t>データのうち、業務影響なくテスト実施可能な一部のケースについては銀行疎通試験にて検証する。それ以外のケースについては</a:t>
            </a:r>
            <a:r>
              <a:rPr lang="en-US" altLang="ja-JP" sz="1100" err="1">
                <a:solidFill>
                  <a:srgbClr val="FF0000"/>
                </a:solidFill>
                <a:latin typeface="Meiryo UI" panose="020B0604030504040204" pitchFamily="50" charset="-128"/>
                <a:ea typeface="Meiryo UI" panose="020B0604030504040204" pitchFamily="50" charset="-128"/>
              </a:rPr>
              <a:t>AsIs</a:t>
            </a:r>
            <a:r>
              <a:rPr lang="ja-JP" altLang="en-US" sz="1100">
                <a:solidFill>
                  <a:srgbClr val="FF0000"/>
                </a:solidFill>
                <a:latin typeface="Meiryo UI" panose="020B0604030504040204" pitchFamily="50" charset="-128"/>
                <a:ea typeface="Meiryo UI" panose="020B0604030504040204" pitchFamily="50" charset="-128"/>
              </a:rPr>
              <a:t>実績有のデータとのコンペアにて担保する</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55" name="吹き出し: 角を丸めた四角形 54">
            <a:extLst>
              <a:ext uri="{FF2B5EF4-FFF2-40B4-BE49-F238E27FC236}">
                <a16:creationId xmlns:a16="http://schemas.microsoft.com/office/drawing/2014/main" id="{139ABCD9-18D5-5F67-A349-1556B84FEBE9}"/>
              </a:ext>
            </a:extLst>
          </p:cNvPr>
          <p:cNvSpPr/>
          <p:nvPr/>
        </p:nvSpPr>
        <p:spPr>
          <a:xfrm>
            <a:off x="6217909" y="3739043"/>
            <a:ext cx="2962638" cy="473964"/>
          </a:xfrm>
          <a:prstGeom prst="wedgeRoundRectCallout">
            <a:avLst>
              <a:gd name="adj1" fmla="val 62652"/>
              <a:gd name="adj2" fmla="val -34469"/>
              <a:gd name="adj3" fmla="val 16667"/>
            </a:avLst>
          </a:prstGeom>
          <a:solidFill>
            <a:srgbClr val="FFFF00">
              <a:alpha val="34000"/>
            </a:srgb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対三菱のようにテスト用センター確認コードが設定</a:t>
            </a:r>
            <a:br>
              <a:rPr kumimoji="1" lang="en-US" altLang="ja-JP" sz="105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br>
            <a:r>
              <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されている、かつテストデータのサンプルがあるケースに</a:t>
            </a:r>
            <a:br>
              <a:rPr kumimoji="1" lang="en-US" altLang="ja-JP" sz="105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br>
            <a:r>
              <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ついては銀行疎通試験は可能という判断。</a:t>
            </a:r>
          </a:p>
        </p:txBody>
      </p:sp>
      <p:sp>
        <p:nvSpPr>
          <p:cNvPr id="10" name="タイトル 2">
            <a:extLst>
              <a:ext uri="{FF2B5EF4-FFF2-40B4-BE49-F238E27FC236}">
                <a16:creationId xmlns:a16="http://schemas.microsoft.com/office/drawing/2014/main" id="{0226E5D6-45AD-D9EE-74E5-4CA0C74906B7}"/>
              </a:ext>
            </a:extLst>
          </p:cNvPr>
          <p:cNvSpPr>
            <a:spLocks noGrp="1"/>
          </p:cNvSpPr>
          <p:nvPr>
            <p:ph type="title"/>
          </p:nvPr>
        </p:nvSpPr>
        <p:spPr>
          <a:xfrm>
            <a:off x="203200" y="124971"/>
            <a:ext cx="11480800" cy="379413"/>
          </a:xfrm>
        </p:spPr>
        <p:txBody>
          <a:bodyPr/>
          <a:lstStyle/>
          <a:p>
            <a:r>
              <a:rPr lang="en-US" altLang="ja-JP" kern="0"/>
              <a:t>6. </a:t>
            </a:r>
            <a:r>
              <a:rPr lang="ja-JP" altLang="en-US" kern="0"/>
              <a:t>各システム対応内容（ロコン銀行</a:t>
            </a:r>
            <a:r>
              <a:rPr lang="en-US" altLang="ja-JP" kern="0"/>
              <a:t>HUB</a:t>
            </a:r>
            <a:r>
              <a:rPr lang="ja-JP" altLang="en-US" kern="0"/>
              <a:t>）</a:t>
            </a:r>
          </a:p>
        </p:txBody>
      </p:sp>
      <p:sp>
        <p:nvSpPr>
          <p:cNvPr id="14" name="コンテンツ プレースホルダー 5">
            <a:extLst>
              <a:ext uri="{FF2B5EF4-FFF2-40B4-BE49-F238E27FC236}">
                <a16:creationId xmlns:a16="http://schemas.microsoft.com/office/drawing/2014/main" id="{02130E6D-D399-1795-EF93-679E616FBA05}"/>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a:t>ロコン銀行</a:t>
            </a:r>
            <a:r>
              <a:rPr lang="en-US" altLang="ja-JP" sz="1600"/>
              <a:t>HUB</a:t>
            </a:r>
            <a:r>
              <a:rPr lang="ja-JP" altLang="en-US" sz="1600"/>
              <a:t>の各機能における改修内容と規模は以下。</a:t>
            </a:r>
            <a:endParaRPr lang="en-US" altLang="ja-JP" sz="1600"/>
          </a:p>
        </p:txBody>
      </p:sp>
      <p:sp>
        <p:nvSpPr>
          <p:cNvPr id="3" name="正方形/長方形 2">
            <a:extLst>
              <a:ext uri="{FF2B5EF4-FFF2-40B4-BE49-F238E27FC236}">
                <a16:creationId xmlns:a16="http://schemas.microsoft.com/office/drawing/2014/main" id="{F6882042-AB8F-C79F-CD7E-6D3832523512}"/>
              </a:ext>
            </a:extLst>
          </p:cNvPr>
          <p:cNvSpPr/>
          <p:nvPr/>
        </p:nvSpPr>
        <p:spPr bwMode="auto">
          <a:xfrm>
            <a:off x="186827" y="2079576"/>
            <a:ext cx="697526" cy="4520947"/>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ロコン</a:t>
            </a:r>
            <a:br>
              <a:rPr lang="en-US" altLang="ja-JP" sz="1000" b="1">
                <a:solidFill>
                  <a:schemeClr val="bg1"/>
                </a:solidFill>
                <a:latin typeface="Meiryo UI" panose="020B0604030504040204" pitchFamily="50" charset="-128"/>
                <a:ea typeface="Meiryo UI" panose="020B0604030504040204" pitchFamily="50" charset="-128"/>
              </a:rPr>
            </a:br>
            <a:r>
              <a:rPr lang="ja-JP" altLang="en-US" sz="1000" b="1">
                <a:solidFill>
                  <a:schemeClr val="bg1"/>
                </a:solidFill>
                <a:latin typeface="Meiryo UI" panose="020B0604030504040204" pitchFamily="50" charset="-128"/>
                <a:ea typeface="Meiryo UI" panose="020B0604030504040204" pitchFamily="50" charset="-128"/>
              </a:rPr>
              <a:t>銀行</a:t>
            </a:r>
            <a:r>
              <a:rPr lang="en-US" altLang="ja-JP" sz="1000" b="1">
                <a:solidFill>
                  <a:schemeClr val="bg1"/>
                </a:solidFill>
                <a:latin typeface="Meiryo UI" panose="020B0604030504040204" pitchFamily="50" charset="-128"/>
                <a:ea typeface="Meiryo UI" panose="020B0604030504040204" pitchFamily="50" charset="-128"/>
              </a:rPr>
              <a:t>HUB</a:t>
            </a:r>
          </a:p>
        </p:txBody>
      </p:sp>
      <p:grpSp>
        <p:nvGrpSpPr>
          <p:cNvPr id="6" name="グループ化 5">
            <a:extLst>
              <a:ext uri="{FF2B5EF4-FFF2-40B4-BE49-F238E27FC236}">
                <a16:creationId xmlns:a16="http://schemas.microsoft.com/office/drawing/2014/main" id="{24414752-A272-C346-1B36-B069286C6998}"/>
              </a:ext>
            </a:extLst>
          </p:cNvPr>
          <p:cNvGrpSpPr/>
          <p:nvPr/>
        </p:nvGrpSpPr>
        <p:grpSpPr>
          <a:xfrm>
            <a:off x="954948" y="1770730"/>
            <a:ext cx="1576963" cy="212291"/>
            <a:chOff x="4709497" y="955750"/>
            <a:chExt cx="3307096" cy="243392"/>
          </a:xfrm>
          <a:effectLst/>
        </p:grpSpPr>
        <p:sp>
          <p:nvSpPr>
            <p:cNvPr id="7" name="テキスト ボックス 6">
              <a:extLst>
                <a:ext uri="{FF2B5EF4-FFF2-40B4-BE49-F238E27FC236}">
                  <a16:creationId xmlns:a16="http://schemas.microsoft.com/office/drawing/2014/main" id="{06D268EE-0B27-196A-02FF-7A99710A2F88}"/>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5" name="直線コネクタ 14">
              <a:extLst>
                <a:ext uri="{FF2B5EF4-FFF2-40B4-BE49-F238E27FC236}">
                  <a16:creationId xmlns:a16="http://schemas.microsoft.com/office/drawing/2014/main" id="{373922B9-59E0-BA72-D303-FF4321F0F51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16" name="グループ化 15">
            <a:extLst>
              <a:ext uri="{FF2B5EF4-FFF2-40B4-BE49-F238E27FC236}">
                <a16:creationId xmlns:a16="http://schemas.microsoft.com/office/drawing/2014/main" id="{BF6A1C01-D01C-440B-EF68-4AE8640763D1}"/>
              </a:ext>
            </a:extLst>
          </p:cNvPr>
          <p:cNvGrpSpPr/>
          <p:nvPr/>
        </p:nvGrpSpPr>
        <p:grpSpPr>
          <a:xfrm>
            <a:off x="2602505" y="1770730"/>
            <a:ext cx="2477476" cy="212291"/>
            <a:chOff x="4709497" y="955750"/>
            <a:chExt cx="3307096" cy="243392"/>
          </a:xfrm>
          <a:effectLst/>
        </p:grpSpPr>
        <p:sp>
          <p:nvSpPr>
            <p:cNvPr id="17" name="テキスト ボックス 16">
              <a:extLst>
                <a:ext uri="{FF2B5EF4-FFF2-40B4-BE49-F238E27FC236}">
                  <a16:creationId xmlns:a16="http://schemas.microsoft.com/office/drawing/2014/main" id="{6D4BE8F9-A25B-F2E0-B247-9FA3A48F9B78}"/>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8" name="直線コネクタ 47">
              <a:extLst>
                <a:ext uri="{FF2B5EF4-FFF2-40B4-BE49-F238E27FC236}">
                  <a16:creationId xmlns:a16="http://schemas.microsoft.com/office/drawing/2014/main" id="{5382799A-8884-18FD-0F93-A96E04E6AA06}"/>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49" name="グループ化 48">
            <a:extLst>
              <a:ext uri="{FF2B5EF4-FFF2-40B4-BE49-F238E27FC236}">
                <a16:creationId xmlns:a16="http://schemas.microsoft.com/office/drawing/2014/main" id="{C72565BC-BD2F-28CE-B63B-1C3AD9B7FFD8}"/>
              </a:ext>
            </a:extLst>
          </p:cNvPr>
          <p:cNvGrpSpPr/>
          <p:nvPr/>
        </p:nvGrpSpPr>
        <p:grpSpPr>
          <a:xfrm>
            <a:off x="5150573" y="1460389"/>
            <a:ext cx="6854845" cy="212291"/>
            <a:chOff x="4709497" y="955750"/>
            <a:chExt cx="3307096" cy="243392"/>
          </a:xfrm>
          <a:effectLst/>
        </p:grpSpPr>
        <p:sp>
          <p:nvSpPr>
            <p:cNvPr id="53" name="テキスト ボックス 52">
              <a:extLst>
                <a:ext uri="{FF2B5EF4-FFF2-40B4-BE49-F238E27FC236}">
                  <a16:creationId xmlns:a16="http://schemas.microsoft.com/office/drawing/2014/main" id="{F0109A9A-0764-2C26-1D7B-3BD084F78E6C}"/>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6" name="直線コネクタ 55">
              <a:extLst>
                <a:ext uri="{FF2B5EF4-FFF2-40B4-BE49-F238E27FC236}">
                  <a16:creationId xmlns:a16="http://schemas.microsoft.com/office/drawing/2014/main" id="{FE225680-B72F-1B00-487E-86D2DC6A8AD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9" name="グループ化 58">
            <a:extLst>
              <a:ext uri="{FF2B5EF4-FFF2-40B4-BE49-F238E27FC236}">
                <a16:creationId xmlns:a16="http://schemas.microsoft.com/office/drawing/2014/main" id="{5A7D1625-5E94-22E0-5987-0E04D36F3413}"/>
              </a:ext>
            </a:extLst>
          </p:cNvPr>
          <p:cNvGrpSpPr/>
          <p:nvPr/>
        </p:nvGrpSpPr>
        <p:grpSpPr>
          <a:xfrm>
            <a:off x="5646553" y="1770730"/>
            <a:ext cx="425384" cy="212291"/>
            <a:chOff x="4709497" y="955750"/>
            <a:chExt cx="3307096" cy="243392"/>
          </a:xfrm>
          <a:effectLst/>
        </p:grpSpPr>
        <p:sp>
          <p:nvSpPr>
            <p:cNvPr id="60" name="テキスト ボックス 59">
              <a:extLst>
                <a:ext uri="{FF2B5EF4-FFF2-40B4-BE49-F238E27FC236}">
                  <a16:creationId xmlns:a16="http://schemas.microsoft.com/office/drawing/2014/main" id="{D521359C-889C-B0BD-C55B-F40E8A139A65}"/>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3" name="直線コネクタ 62">
              <a:extLst>
                <a:ext uri="{FF2B5EF4-FFF2-40B4-BE49-F238E27FC236}">
                  <a16:creationId xmlns:a16="http://schemas.microsoft.com/office/drawing/2014/main" id="{AF3FF37F-049F-4C57-EF6E-1659E85FBABF}"/>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4" name="グループ化 63">
            <a:extLst>
              <a:ext uri="{FF2B5EF4-FFF2-40B4-BE49-F238E27FC236}">
                <a16:creationId xmlns:a16="http://schemas.microsoft.com/office/drawing/2014/main" id="{58856F00-F71E-9C65-5D8C-C31C186E3D96}"/>
              </a:ext>
            </a:extLst>
          </p:cNvPr>
          <p:cNvGrpSpPr/>
          <p:nvPr/>
        </p:nvGrpSpPr>
        <p:grpSpPr>
          <a:xfrm>
            <a:off x="5150574" y="1766917"/>
            <a:ext cx="425384" cy="212291"/>
            <a:chOff x="4709497" y="955750"/>
            <a:chExt cx="3307096" cy="243392"/>
          </a:xfrm>
          <a:effectLst/>
        </p:grpSpPr>
        <p:sp>
          <p:nvSpPr>
            <p:cNvPr id="65" name="テキスト ボックス 64">
              <a:extLst>
                <a:ext uri="{FF2B5EF4-FFF2-40B4-BE49-F238E27FC236}">
                  <a16:creationId xmlns:a16="http://schemas.microsoft.com/office/drawing/2014/main" id="{E983C030-A07D-6901-855C-9638442138E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7" name="直線コネクタ 66">
              <a:extLst>
                <a:ext uri="{FF2B5EF4-FFF2-40B4-BE49-F238E27FC236}">
                  <a16:creationId xmlns:a16="http://schemas.microsoft.com/office/drawing/2014/main" id="{7BAF1C9F-D851-C49E-04F8-E04D6F25E21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8" name="グループ化 67">
            <a:extLst>
              <a:ext uri="{FF2B5EF4-FFF2-40B4-BE49-F238E27FC236}">
                <a16:creationId xmlns:a16="http://schemas.microsoft.com/office/drawing/2014/main" id="{581A8AB6-DA3E-0CD6-1CA0-CCC0EF56F19F}"/>
              </a:ext>
            </a:extLst>
          </p:cNvPr>
          <p:cNvGrpSpPr/>
          <p:nvPr/>
        </p:nvGrpSpPr>
        <p:grpSpPr>
          <a:xfrm>
            <a:off x="6142530" y="1766917"/>
            <a:ext cx="3324438" cy="212291"/>
            <a:chOff x="4709497" y="955750"/>
            <a:chExt cx="3307096" cy="243392"/>
          </a:xfrm>
          <a:effectLst/>
        </p:grpSpPr>
        <p:sp>
          <p:nvSpPr>
            <p:cNvPr id="69" name="テキスト ボックス 68">
              <a:extLst>
                <a:ext uri="{FF2B5EF4-FFF2-40B4-BE49-F238E27FC236}">
                  <a16:creationId xmlns:a16="http://schemas.microsoft.com/office/drawing/2014/main" id="{9766F921-E330-1700-045A-8E45F0B45AB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0" name="直線コネクタ 69">
              <a:extLst>
                <a:ext uri="{FF2B5EF4-FFF2-40B4-BE49-F238E27FC236}">
                  <a16:creationId xmlns:a16="http://schemas.microsoft.com/office/drawing/2014/main" id="{3832E384-1314-CC57-F29C-BA1CCF035A78}"/>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1" name="グループ化 70">
            <a:extLst>
              <a:ext uri="{FF2B5EF4-FFF2-40B4-BE49-F238E27FC236}">
                <a16:creationId xmlns:a16="http://schemas.microsoft.com/office/drawing/2014/main" id="{90DAAEC6-5376-54D4-EE07-D4106678503E}"/>
              </a:ext>
            </a:extLst>
          </p:cNvPr>
          <p:cNvGrpSpPr/>
          <p:nvPr/>
        </p:nvGrpSpPr>
        <p:grpSpPr>
          <a:xfrm>
            <a:off x="9527942" y="1770730"/>
            <a:ext cx="2477476" cy="212291"/>
            <a:chOff x="4709497" y="955750"/>
            <a:chExt cx="3307096" cy="243392"/>
          </a:xfrm>
          <a:effectLst/>
        </p:grpSpPr>
        <p:sp>
          <p:nvSpPr>
            <p:cNvPr id="72" name="テキスト ボックス 71">
              <a:extLst>
                <a:ext uri="{FF2B5EF4-FFF2-40B4-BE49-F238E27FC236}">
                  <a16:creationId xmlns:a16="http://schemas.microsoft.com/office/drawing/2014/main" id="{AFF2CA23-458E-5588-8ED1-6BA4242B0C0A}"/>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3" name="直線コネクタ 72">
              <a:extLst>
                <a:ext uri="{FF2B5EF4-FFF2-40B4-BE49-F238E27FC236}">
                  <a16:creationId xmlns:a16="http://schemas.microsoft.com/office/drawing/2014/main" id="{7FF62634-97AD-037D-2E9D-FD04220A2CF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75" name="スライド番号プレースホルダー 3">
            <a:extLst>
              <a:ext uri="{FF2B5EF4-FFF2-40B4-BE49-F238E27FC236}">
                <a16:creationId xmlns:a16="http://schemas.microsoft.com/office/drawing/2014/main" id="{AF29DDF4-D440-1CA8-D6FB-6D43AD46F6E3}"/>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28</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22653440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29</a:t>
            </a:fld>
            <a:endParaRPr lang="en-US" altLang="ja-JP"/>
          </a:p>
        </p:txBody>
      </p:sp>
      <p:sp>
        <p:nvSpPr>
          <p:cNvPr id="16" name="正方形/長方形 15">
            <a:extLst>
              <a:ext uri="{FF2B5EF4-FFF2-40B4-BE49-F238E27FC236}">
                <a16:creationId xmlns:a16="http://schemas.microsoft.com/office/drawing/2014/main" id="{041CBBD5-1E8F-1F21-A465-6DA5B6DDDA87}"/>
              </a:ext>
            </a:extLst>
          </p:cNvPr>
          <p:cNvSpPr/>
          <p:nvPr/>
        </p:nvSpPr>
        <p:spPr>
          <a:xfrm>
            <a:off x="955111" y="3196775"/>
            <a:ext cx="1576800" cy="618994"/>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データマート経費作成</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A9BD3A7C-0B48-1ABD-6728-1B9CBBF1502E}"/>
              </a:ext>
            </a:extLst>
          </p:cNvPr>
          <p:cNvSpPr/>
          <p:nvPr/>
        </p:nvSpPr>
        <p:spPr>
          <a:xfrm>
            <a:off x="2602505" y="2079577"/>
            <a:ext cx="2476800" cy="107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 </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固定資産を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で一元管理すること</a:t>
            </a:r>
          </a:p>
        </p:txBody>
      </p:sp>
      <p:sp>
        <p:nvSpPr>
          <p:cNvPr id="82" name="正方形/長方形 81">
            <a:extLst>
              <a:ext uri="{FF2B5EF4-FFF2-40B4-BE49-F238E27FC236}">
                <a16:creationId xmlns:a16="http://schemas.microsoft.com/office/drawing/2014/main" id="{3332EA76-8357-1C33-CC8B-9C6E11609D55}"/>
              </a:ext>
            </a:extLst>
          </p:cNvPr>
          <p:cNvSpPr/>
          <p:nvPr/>
        </p:nvSpPr>
        <p:spPr>
          <a:xfrm>
            <a:off x="955111" y="5354416"/>
            <a:ext cx="1576800" cy="514862"/>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売上販手明細</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DL</a:t>
            </a:r>
          </a:p>
        </p:txBody>
      </p:sp>
      <p:sp>
        <p:nvSpPr>
          <p:cNvPr id="89" name="正方形/長方形 88">
            <a:extLst>
              <a:ext uri="{FF2B5EF4-FFF2-40B4-BE49-F238E27FC236}">
                <a16:creationId xmlns:a16="http://schemas.microsoft.com/office/drawing/2014/main" id="{B3879882-99CF-E254-2DE6-AA0D847F72FB}"/>
              </a:ext>
            </a:extLst>
          </p:cNvPr>
          <p:cNvSpPr/>
          <p:nvPr/>
        </p:nvSpPr>
        <p:spPr>
          <a:xfrm>
            <a:off x="2602505" y="3196775"/>
            <a:ext cx="2476800" cy="3302857"/>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7561747C-B53E-7076-15EB-285E760F0A3F}"/>
              </a:ext>
            </a:extLst>
          </p:cNvPr>
          <p:cNvSpPr/>
          <p:nvPr/>
        </p:nvSpPr>
        <p:spPr>
          <a:xfrm>
            <a:off x="5151158" y="2079577"/>
            <a:ext cx="424800" cy="1072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4083DB6A-3B92-8FCF-CD2F-21E5C1B8229C}"/>
              </a:ext>
            </a:extLst>
          </p:cNvPr>
          <p:cNvSpPr/>
          <p:nvPr/>
        </p:nvSpPr>
        <p:spPr>
          <a:xfrm>
            <a:off x="5647137" y="2079577"/>
            <a:ext cx="424800" cy="1072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rgbClr val="FF0000"/>
                </a:solidFill>
                <a:latin typeface="Meiryo UI" panose="020B0604030504040204" pitchFamily="50" charset="-128"/>
                <a:ea typeface="Meiryo UI" panose="020B0604030504040204" pitchFamily="50" charset="-128"/>
              </a:rPr>
              <a:t>大</a:t>
            </a:r>
            <a:endParaRPr lang="en-US" altLang="ja-JP" sz="1400" b="1">
              <a:solidFill>
                <a:srgbClr val="FF0000"/>
              </a:solidFill>
              <a:latin typeface="Meiryo UI" panose="020B0604030504040204" pitchFamily="50" charset="-128"/>
              <a:ea typeface="Meiryo UI" panose="020B0604030504040204" pitchFamily="50" charset="-128"/>
            </a:endParaRPr>
          </a:p>
        </p:txBody>
      </p:sp>
      <p:sp>
        <p:nvSpPr>
          <p:cNvPr id="113" name="正方形/長方形 112">
            <a:extLst>
              <a:ext uri="{FF2B5EF4-FFF2-40B4-BE49-F238E27FC236}">
                <a16:creationId xmlns:a16="http://schemas.microsoft.com/office/drawing/2014/main" id="{94847A15-B3A0-A5EA-8DD2-BA88719189D4}"/>
              </a:ext>
            </a:extLst>
          </p:cNvPr>
          <p:cNvSpPr/>
          <p:nvPr/>
        </p:nvSpPr>
        <p:spPr>
          <a:xfrm>
            <a:off x="9528618" y="2079577"/>
            <a:ext cx="2476800" cy="1072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114" name="正方形/長方形 113">
            <a:extLst>
              <a:ext uri="{FF2B5EF4-FFF2-40B4-BE49-F238E27FC236}">
                <a16:creationId xmlns:a16="http://schemas.microsoft.com/office/drawing/2014/main" id="{74BC4FF1-ECE3-307A-70C0-5AC0D18F9B01}"/>
              </a:ext>
            </a:extLst>
          </p:cNvPr>
          <p:cNvSpPr/>
          <p:nvPr/>
        </p:nvSpPr>
        <p:spPr>
          <a:xfrm>
            <a:off x="5151158" y="3196148"/>
            <a:ext cx="424800" cy="619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115" name="正方形/長方形 114">
            <a:extLst>
              <a:ext uri="{FF2B5EF4-FFF2-40B4-BE49-F238E27FC236}">
                <a16:creationId xmlns:a16="http://schemas.microsoft.com/office/drawing/2014/main" id="{9D068728-BE76-136A-9F5B-313446B08A35}"/>
              </a:ext>
            </a:extLst>
          </p:cNvPr>
          <p:cNvSpPr/>
          <p:nvPr/>
        </p:nvSpPr>
        <p:spPr>
          <a:xfrm>
            <a:off x="5647137" y="3196148"/>
            <a:ext cx="424800" cy="619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rgbClr val="FF0000"/>
                </a:solidFill>
                <a:latin typeface="Meiryo UI" panose="020B0604030504040204" pitchFamily="50" charset="-128"/>
                <a:ea typeface="Meiryo UI" panose="020B0604030504040204" pitchFamily="50" charset="-128"/>
              </a:rPr>
              <a:t>大</a:t>
            </a:r>
            <a:endParaRPr lang="en-US" altLang="ja-JP" sz="1400" b="1">
              <a:solidFill>
                <a:srgbClr val="FF0000"/>
              </a:solidFill>
              <a:latin typeface="Meiryo UI" panose="020B0604030504040204" pitchFamily="50" charset="-128"/>
              <a:ea typeface="Meiryo UI" panose="020B0604030504040204" pitchFamily="50" charset="-128"/>
            </a:endParaRPr>
          </a:p>
        </p:txBody>
      </p:sp>
      <p:sp>
        <p:nvSpPr>
          <p:cNvPr id="116" name="正方形/長方形 115">
            <a:extLst>
              <a:ext uri="{FF2B5EF4-FFF2-40B4-BE49-F238E27FC236}">
                <a16:creationId xmlns:a16="http://schemas.microsoft.com/office/drawing/2014/main" id="{2825C7ED-EB7A-C946-22B4-1007807CF3F5}"/>
              </a:ext>
            </a:extLst>
          </p:cNvPr>
          <p:cNvSpPr/>
          <p:nvPr/>
        </p:nvSpPr>
        <p:spPr>
          <a:xfrm>
            <a:off x="6140568" y="3196148"/>
            <a:ext cx="3326400" cy="619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rgbClr val="FF0000"/>
                </a:solidFill>
                <a:latin typeface="Meiryo UI" panose="020B0604030504040204" pitchFamily="50" charset="-128"/>
                <a:ea typeface="Meiryo UI" panose="020B0604030504040204" pitchFamily="50" charset="-128"/>
              </a:rPr>
              <a:t>経理会計伝票、及び固定資産データの連携データのレイアウト変更に伴う、データマート経費の作成処理の改修</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117" name="正方形/長方形 116">
            <a:extLst>
              <a:ext uri="{FF2B5EF4-FFF2-40B4-BE49-F238E27FC236}">
                <a16:creationId xmlns:a16="http://schemas.microsoft.com/office/drawing/2014/main" id="{3EBA9FA8-27F6-A018-9D9D-BBD99AC6FFEC}"/>
              </a:ext>
            </a:extLst>
          </p:cNvPr>
          <p:cNvSpPr/>
          <p:nvPr/>
        </p:nvSpPr>
        <p:spPr>
          <a:xfrm>
            <a:off x="9528618" y="3196148"/>
            <a:ext cx="2476800" cy="619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18" name="正方形/長方形 17">
            <a:extLst>
              <a:ext uri="{FF2B5EF4-FFF2-40B4-BE49-F238E27FC236}">
                <a16:creationId xmlns:a16="http://schemas.microsoft.com/office/drawing/2014/main" id="{75387CB8-5558-B471-D354-4FEA86950CCA}"/>
              </a:ext>
            </a:extLst>
          </p:cNvPr>
          <p:cNvSpPr/>
          <p:nvPr/>
        </p:nvSpPr>
        <p:spPr>
          <a:xfrm>
            <a:off x="6140568" y="2079577"/>
            <a:ext cx="3326400" cy="1072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Wingdings" panose="05000000000000000000" pitchFamily="2" charset="2"/>
              <a:buChar char="Ø"/>
            </a:pPr>
            <a:r>
              <a:rPr lang="en-US" altLang="ja-JP" sz="1100">
                <a:solidFill>
                  <a:srgbClr val="FF0000"/>
                </a:solidFill>
                <a:latin typeface="Meiryo UI"/>
                <a:ea typeface="Meiryo UI"/>
              </a:rPr>
              <a:t>RIND</a:t>
            </a:r>
            <a:r>
              <a:rPr lang="ja-JP" altLang="en-US" sz="1100">
                <a:solidFill>
                  <a:srgbClr val="FF0000"/>
                </a:solidFill>
                <a:latin typeface="Meiryo UI"/>
                <a:ea typeface="Meiryo UI"/>
              </a:rPr>
              <a:t>経理会計伝票明細等、</a:t>
            </a:r>
            <a:r>
              <a:rPr lang="en-US" altLang="ja-JP" sz="1100" err="1">
                <a:solidFill>
                  <a:srgbClr val="FF0000"/>
                </a:solidFill>
                <a:latin typeface="Meiryo UI"/>
                <a:ea typeface="Meiryo UI"/>
              </a:rPr>
              <a:t>RINDview</a:t>
            </a:r>
            <a:r>
              <a:rPr lang="ja-JP" altLang="en-US" sz="1100">
                <a:solidFill>
                  <a:srgbClr val="FF0000"/>
                </a:solidFill>
                <a:latin typeface="Meiryo UI"/>
                <a:ea typeface="Meiryo UI"/>
              </a:rPr>
              <a:t>の変更に伴い取り込み処理</a:t>
            </a:r>
            <a:r>
              <a:rPr lang="en-US" altLang="ja-JP" sz="1100">
                <a:solidFill>
                  <a:srgbClr val="FF0000"/>
                </a:solidFill>
                <a:latin typeface="Meiryo UI"/>
                <a:ea typeface="Meiryo UI"/>
              </a:rPr>
              <a:t>,</a:t>
            </a:r>
            <a:r>
              <a:rPr lang="ja-JP" altLang="en-US" sz="1100">
                <a:solidFill>
                  <a:srgbClr val="FF0000"/>
                </a:solidFill>
                <a:latin typeface="Meiryo UI"/>
                <a:ea typeface="Meiryo UI"/>
              </a:rPr>
              <a:t>及び</a:t>
            </a:r>
            <a:r>
              <a:rPr lang="en-US" altLang="ja-JP" sz="1100">
                <a:solidFill>
                  <a:srgbClr val="FF0000"/>
                </a:solidFill>
                <a:latin typeface="Meiryo UI"/>
                <a:ea typeface="Meiryo UI"/>
              </a:rPr>
              <a:t>RETMAS</a:t>
            </a:r>
            <a:r>
              <a:rPr lang="ja-JP" altLang="en-US" sz="1100">
                <a:solidFill>
                  <a:srgbClr val="FF0000"/>
                </a:solidFill>
                <a:latin typeface="Meiryo UI"/>
                <a:ea typeface="Meiryo UI"/>
              </a:rPr>
              <a:t>内でのデータ蓄積処理を修正（</a:t>
            </a:r>
            <a:r>
              <a:rPr lang="en-US" altLang="ja-JP" sz="1100">
                <a:solidFill>
                  <a:srgbClr val="FF0000"/>
                </a:solidFill>
                <a:latin typeface="Meiryo UI"/>
                <a:ea typeface="Meiryo UI"/>
              </a:rPr>
              <a:t>RIND</a:t>
            </a:r>
            <a:r>
              <a:rPr lang="ja-JP" altLang="en-US" sz="1100">
                <a:solidFill>
                  <a:srgbClr val="FF0000"/>
                </a:solidFill>
                <a:latin typeface="Meiryo UI"/>
                <a:ea typeface="Meiryo UI"/>
              </a:rPr>
              <a:t>対象</a:t>
            </a:r>
            <a:r>
              <a:rPr lang="en-US" altLang="ja-JP" sz="1100">
                <a:solidFill>
                  <a:srgbClr val="FF0000"/>
                </a:solidFill>
                <a:latin typeface="Meiryo UI"/>
                <a:ea typeface="Meiryo UI"/>
              </a:rPr>
              <a:t>TBL</a:t>
            </a:r>
            <a:r>
              <a:rPr lang="ja-JP" altLang="en-US" sz="1100">
                <a:solidFill>
                  <a:srgbClr val="FF0000"/>
                </a:solidFill>
                <a:latin typeface="Meiryo UI"/>
                <a:ea typeface="Meiryo UI"/>
              </a:rPr>
              <a:t>：</a:t>
            </a:r>
            <a:r>
              <a:rPr lang="en-US" altLang="ja-JP" sz="1100">
                <a:solidFill>
                  <a:srgbClr val="FF0000"/>
                </a:solidFill>
                <a:latin typeface="Meiryo UI"/>
                <a:ea typeface="Meiryo UI"/>
              </a:rPr>
              <a:t>14)</a:t>
            </a:r>
          </a:p>
          <a:p>
            <a:pPr marL="171450" indent="-171450">
              <a:buFont typeface="Wingdings" panose="05000000000000000000" pitchFamily="2" charset="2"/>
              <a:buChar char="Ø"/>
            </a:pPr>
            <a:r>
              <a:rPr lang="ja-JP" altLang="en-US" sz="1100">
                <a:solidFill>
                  <a:srgbClr val="FF0000"/>
                </a:solidFill>
                <a:latin typeface="Meiryo UI"/>
                <a:ea typeface="Meiryo UI"/>
              </a:rPr>
              <a:t>固定資産情報の管理が</a:t>
            </a:r>
            <a:r>
              <a:rPr lang="en-US" altLang="ja-JP" sz="1100" err="1">
                <a:solidFill>
                  <a:srgbClr val="FF0000"/>
                </a:solidFill>
                <a:latin typeface="Meiryo UI"/>
                <a:ea typeface="Meiryo UI"/>
              </a:rPr>
              <a:t>NeKo</a:t>
            </a:r>
            <a:r>
              <a:rPr lang="ja-JP" altLang="en-US" sz="1100">
                <a:solidFill>
                  <a:srgbClr val="FF0000"/>
                </a:solidFill>
                <a:latin typeface="Meiryo UI"/>
                <a:ea typeface="Meiryo UI"/>
              </a:rPr>
              <a:t>→</a:t>
            </a:r>
            <a:r>
              <a:rPr lang="en-US" altLang="ja-JP" sz="1100">
                <a:solidFill>
                  <a:srgbClr val="FF0000"/>
                </a:solidFill>
                <a:latin typeface="Meiryo UI"/>
                <a:ea typeface="Meiryo UI"/>
              </a:rPr>
              <a:t>SAP</a:t>
            </a:r>
            <a:r>
              <a:rPr lang="ja-JP" altLang="en-US" sz="1100">
                <a:solidFill>
                  <a:srgbClr val="FF0000"/>
                </a:solidFill>
                <a:latin typeface="Meiryo UI"/>
                <a:ea typeface="Meiryo UI"/>
              </a:rPr>
              <a:t>に変更になることに伴い固定資産情報の取得元変更（</a:t>
            </a:r>
            <a:r>
              <a:rPr lang="en-US" altLang="ja-JP" sz="1100" err="1">
                <a:solidFill>
                  <a:srgbClr val="FF0000"/>
                </a:solidFill>
                <a:latin typeface="Meiryo UI"/>
                <a:ea typeface="Meiryo UI"/>
              </a:rPr>
              <a:t>NeKo</a:t>
            </a:r>
            <a:r>
              <a:rPr lang="ja-JP" altLang="en-US" sz="1100">
                <a:solidFill>
                  <a:srgbClr val="FF0000"/>
                </a:solidFill>
                <a:latin typeface="Meiryo UI"/>
                <a:ea typeface="Meiryo UI"/>
              </a:rPr>
              <a:t>対象</a:t>
            </a:r>
            <a:r>
              <a:rPr lang="en-US" altLang="ja-JP" sz="1100">
                <a:solidFill>
                  <a:srgbClr val="FF0000"/>
                </a:solidFill>
                <a:latin typeface="Meiryo UI"/>
                <a:ea typeface="Meiryo UI"/>
              </a:rPr>
              <a:t>TbL:5)</a:t>
            </a:r>
            <a:endParaRPr lang="en-US" altLang="ja-JP" sz="1100" b="1">
              <a:solidFill>
                <a:srgbClr val="FF0000"/>
              </a:solidFill>
              <a:highlight>
                <a:srgbClr val="FFFF00"/>
              </a:highlight>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FAB4737D-4F04-4103-FE36-AFB8A97D3838}"/>
              </a:ext>
            </a:extLst>
          </p:cNvPr>
          <p:cNvSpPr/>
          <p:nvPr/>
        </p:nvSpPr>
        <p:spPr>
          <a:xfrm>
            <a:off x="955111" y="3860041"/>
            <a:ext cx="1576800" cy="751013"/>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科目明細</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DL</a:t>
            </a:r>
          </a:p>
        </p:txBody>
      </p:sp>
      <p:sp>
        <p:nvSpPr>
          <p:cNvPr id="32" name="正方形/長方形 31">
            <a:extLst>
              <a:ext uri="{FF2B5EF4-FFF2-40B4-BE49-F238E27FC236}">
                <a16:creationId xmlns:a16="http://schemas.microsoft.com/office/drawing/2014/main" id="{5A31FF1F-AD5B-BE2E-3D56-A0A53A37C3FC}"/>
              </a:ext>
            </a:extLst>
          </p:cNvPr>
          <p:cNvSpPr/>
          <p:nvPr/>
        </p:nvSpPr>
        <p:spPr>
          <a:xfrm>
            <a:off x="955111" y="4655326"/>
            <a:ext cx="1576800" cy="65481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データマート売上販手作成</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6C7B5F9E-57A5-76BB-44C9-E83C07680EE1}"/>
              </a:ext>
            </a:extLst>
          </p:cNvPr>
          <p:cNvSpPr/>
          <p:nvPr/>
        </p:nvSpPr>
        <p:spPr>
          <a:xfrm>
            <a:off x="6140568" y="3859119"/>
            <a:ext cx="3326400" cy="7524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出力項目の変更に伴う、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機能の改修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減価償却費明細データ取得ロジックの改修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F379A193-77DD-D3AC-CBFC-A90CA7F5E962}"/>
              </a:ext>
            </a:extLst>
          </p:cNvPr>
          <p:cNvSpPr/>
          <p:nvPr/>
        </p:nvSpPr>
        <p:spPr>
          <a:xfrm>
            <a:off x="955111" y="5913550"/>
            <a:ext cx="1576800" cy="586083"/>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データマート原価作成</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41EAB625-ABB8-03CB-5E22-329DF0B3CF0C}"/>
              </a:ext>
            </a:extLst>
          </p:cNvPr>
          <p:cNvSpPr/>
          <p:nvPr/>
        </p:nvSpPr>
        <p:spPr>
          <a:xfrm>
            <a:off x="5647137" y="5354261"/>
            <a:ext cx="424800" cy="514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C278E138-72E3-1A54-D520-A85A2AB4C523}"/>
              </a:ext>
            </a:extLst>
          </p:cNvPr>
          <p:cNvSpPr/>
          <p:nvPr/>
        </p:nvSpPr>
        <p:spPr>
          <a:xfrm>
            <a:off x="5151158" y="5354261"/>
            <a:ext cx="424800" cy="514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67" name="正方形/長方形 66">
            <a:extLst>
              <a:ext uri="{FF2B5EF4-FFF2-40B4-BE49-F238E27FC236}">
                <a16:creationId xmlns:a16="http://schemas.microsoft.com/office/drawing/2014/main" id="{6812EEBC-72FC-FD64-8E91-7620C61868CE}"/>
              </a:ext>
            </a:extLst>
          </p:cNvPr>
          <p:cNvSpPr/>
          <p:nvPr/>
        </p:nvSpPr>
        <p:spPr>
          <a:xfrm>
            <a:off x="6140568" y="5354261"/>
            <a:ext cx="3326400" cy="514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出力項目の変更に伴う、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機能の改修</a:t>
            </a:r>
          </a:p>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DM</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売上販手の変更に伴う、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機能の改修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AD546C32-33BC-1CEF-4F78-71083D7595AF}"/>
              </a:ext>
            </a:extLst>
          </p:cNvPr>
          <p:cNvSpPr/>
          <p:nvPr/>
        </p:nvSpPr>
        <p:spPr>
          <a:xfrm>
            <a:off x="9528618" y="5354261"/>
            <a:ext cx="2476800" cy="514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DM</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売上販手のレイアウト変更要否次第で、規模小→中に変動</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ED926F5E-4CA6-E399-4D52-CBFF715739A0}"/>
              </a:ext>
            </a:extLst>
          </p:cNvPr>
          <p:cNvSpPr/>
          <p:nvPr/>
        </p:nvSpPr>
        <p:spPr>
          <a:xfrm>
            <a:off x="5151158" y="4655290"/>
            <a:ext cx="424800" cy="655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7E3B1C9D-9B66-31EA-37DF-D7228B38E845}"/>
              </a:ext>
            </a:extLst>
          </p:cNvPr>
          <p:cNvSpPr/>
          <p:nvPr/>
        </p:nvSpPr>
        <p:spPr>
          <a:xfrm>
            <a:off x="5647137" y="4655290"/>
            <a:ext cx="424800" cy="655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rgbClr val="FF0000"/>
                </a:solidFill>
                <a:latin typeface="Meiryo UI" panose="020B0604030504040204" pitchFamily="50" charset="-128"/>
                <a:ea typeface="Meiryo UI" panose="020B0604030504040204" pitchFamily="50" charset="-128"/>
              </a:rPr>
              <a:t>大</a:t>
            </a:r>
            <a:endParaRPr lang="en-US" altLang="ja-JP" sz="1400" b="1">
              <a:solidFill>
                <a:srgbClr val="FF0000"/>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E3CC8386-BA34-B87D-B841-686C2E833A4C}"/>
              </a:ext>
            </a:extLst>
          </p:cNvPr>
          <p:cNvSpPr/>
          <p:nvPr/>
        </p:nvSpPr>
        <p:spPr>
          <a:xfrm>
            <a:off x="6140568" y="4655290"/>
            <a:ext cx="3326400" cy="655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rgbClr val="FF0000"/>
                </a:solidFill>
                <a:latin typeface="Meiryo UI" panose="020B0604030504040204" pitchFamily="50" charset="-128"/>
                <a:ea typeface="Meiryo UI" panose="020B0604030504040204" pitchFamily="50" charset="-128"/>
              </a:rPr>
              <a:t>経理売上明細の連携データ変更に伴う、データマート売上販手の作成処理の改修（</a:t>
            </a:r>
            <a:r>
              <a:rPr lang="en-US" altLang="ja-JP" sz="1100">
                <a:solidFill>
                  <a:srgbClr val="FF0000"/>
                </a:solidFill>
                <a:latin typeface="Meiryo UI" panose="020B0604030504040204" pitchFamily="50" charset="-128"/>
                <a:ea typeface="Meiryo UI" panose="020B0604030504040204" pitchFamily="50" charset="-128"/>
              </a:rPr>
              <a:t>DM</a:t>
            </a:r>
            <a:r>
              <a:rPr lang="ja-JP" altLang="en-US" sz="1100">
                <a:solidFill>
                  <a:srgbClr val="FF0000"/>
                </a:solidFill>
                <a:latin typeface="Meiryo UI" panose="020B0604030504040204" pitchFamily="50" charset="-128"/>
                <a:ea typeface="Meiryo UI" panose="020B0604030504040204" pitchFamily="50" charset="-128"/>
              </a:rPr>
              <a:t>売上販手</a:t>
            </a:r>
            <a:r>
              <a:rPr lang="en-US" altLang="ja-JP" sz="1100">
                <a:solidFill>
                  <a:srgbClr val="FF0000"/>
                </a:solidFill>
                <a:latin typeface="Meiryo UI" panose="020B0604030504040204" pitchFamily="50" charset="-128"/>
                <a:ea typeface="Meiryo UI" panose="020B0604030504040204" pitchFamily="50" charset="-128"/>
              </a:rPr>
              <a:t>TBL</a:t>
            </a:r>
            <a:r>
              <a:rPr lang="ja-JP" altLang="en-US" sz="1100">
                <a:solidFill>
                  <a:srgbClr val="FF0000"/>
                </a:solidFill>
                <a:latin typeface="Meiryo UI" panose="020B0604030504040204" pitchFamily="50" charset="-128"/>
                <a:ea typeface="Meiryo UI" panose="020B0604030504040204" pitchFamily="50" charset="-128"/>
              </a:rPr>
              <a:t>の変更が必要となる可能性が大きい）</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77" name="正方形/長方形 76">
            <a:extLst>
              <a:ext uri="{FF2B5EF4-FFF2-40B4-BE49-F238E27FC236}">
                <a16:creationId xmlns:a16="http://schemas.microsoft.com/office/drawing/2014/main" id="{A89520DF-F97F-F1C0-1EF0-737F0CEAFC64}"/>
              </a:ext>
            </a:extLst>
          </p:cNvPr>
          <p:cNvSpPr/>
          <p:nvPr/>
        </p:nvSpPr>
        <p:spPr>
          <a:xfrm>
            <a:off x="9528618" y="4655290"/>
            <a:ext cx="2476800" cy="655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84" name="正方形/長方形 83">
            <a:extLst>
              <a:ext uri="{FF2B5EF4-FFF2-40B4-BE49-F238E27FC236}">
                <a16:creationId xmlns:a16="http://schemas.microsoft.com/office/drawing/2014/main" id="{A141BC1A-E1C7-A345-6EDF-42F870EB6BC7}"/>
              </a:ext>
            </a:extLst>
          </p:cNvPr>
          <p:cNvSpPr/>
          <p:nvPr/>
        </p:nvSpPr>
        <p:spPr>
          <a:xfrm>
            <a:off x="5151158" y="5912833"/>
            <a:ext cx="424800" cy="586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85" name="正方形/長方形 84">
            <a:extLst>
              <a:ext uri="{FF2B5EF4-FFF2-40B4-BE49-F238E27FC236}">
                <a16:creationId xmlns:a16="http://schemas.microsoft.com/office/drawing/2014/main" id="{612F2BE7-6C01-DCE7-F5FC-44A58B706B54}"/>
              </a:ext>
            </a:extLst>
          </p:cNvPr>
          <p:cNvSpPr/>
          <p:nvPr/>
        </p:nvSpPr>
        <p:spPr>
          <a:xfrm>
            <a:off x="5647137" y="5912833"/>
            <a:ext cx="424800" cy="586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rgbClr val="FF0000"/>
                </a:solidFill>
                <a:latin typeface="Meiryo UI" panose="020B0604030504040204" pitchFamily="50" charset="-128"/>
                <a:ea typeface="Meiryo UI" panose="020B0604030504040204" pitchFamily="50" charset="-128"/>
              </a:rPr>
              <a:t>大</a:t>
            </a:r>
            <a:endParaRPr lang="en-US" altLang="ja-JP" sz="1400" b="1">
              <a:solidFill>
                <a:srgbClr val="FF0000"/>
              </a:solidFill>
              <a:latin typeface="Meiryo UI" panose="020B0604030504040204" pitchFamily="50" charset="-128"/>
              <a:ea typeface="Meiryo UI" panose="020B0604030504040204" pitchFamily="50" charset="-128"/>
            </a:endParaRPr>
          </a:p>
        </p:txBody>
      </p:sp>
      <p:sp>
        <p:nvSpPr>
          <p:cNvPr id="86" name="正方形/長方形 85">
            <a:extLst>
              <a:ext uri="{FF2B5EF4-FFF2-40B4-BE49-F238E27FC236}">
                <a16:creationId xmlns:a16="http://schemas.microsoft.com/office/drawing/2014/main" id="{CDF78852-49A2-98DF-0D73-6BB3085EE58E}"/>
              </a:ext>
            </a:extLst>
          </p:cNvPr>
          <p:cNvSpPr/>
          <p:nvPr/>
        </p:nvSpPr>
        <p:spPr>
          <a:xfrm>
            <a:off x="6140568" y="5912833"/>
            <a:ext cx="3326400" cy="586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rgbClr val="FF0000"/>
                </a:solidFill>
                <a:latin typeface="Meiryo UI" panose="020B0604030504040204" pitchFamily="50" charset="-128"/>
                <a:ea typeface="Meiryo UI" panose="020B0604030504040204" pitchFamily="50" charset="-128"/>
              </a:rPr>
              <a:t>原価データの連携データ変更に伴う、データマート原価の作成処理の改修（ほぼ作り変えとなる見込み）</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87" name="正方形/長方形 86">
            <a:extLst>
              <a:ext uri="{FF2B5EF4-FFF2-40B4-BE49-F238E27FC236}">
                <a16:creationId xmlns:a16="http://schemas.microsoft.com/office/drawing/2014/main" id="{C362E8D9-B1E0-05AE-2F6B-180F14E9EB29}"/>
              </a:ext>
            </a:extLst>
          </p:cNvPr>
          <p:cNvSpPr/>
          <p:nvPr/>
        </p:nvSpPr>
        <p:spPr>
          <a:xfrm>
            <a:off x="9528618" y="5912833"/>
            <a:ext cx="2476800" cy="586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20" name="正方形/長方形 19">
            <a:extLst>
              <a:ext uri="{FF2B5EF4-FFF2-40B4-BE49-F238E27FC236}">
                <a16:creationId xmlns:a16="http://schemas.microsoft.com/office/drawing/2014/main" id="{31498696-5B0B-C55E-0BC9-AD5591F45279}"/>
              </a:ext>
            </a:extLst>
          </p:cNvPr>
          <p:cNvSpPr/>
          <p:nvPr/>
        </p:nvSpPr>
        <p:spPr>
          <a:xfrm>
            <a:off x="9528618" y="3859119"/>
            <a:ext cx="2476800" cy="7524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DM</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経費にレイアウト変更の必要が生じた場合、規模小→中に変動</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D31F55E1-4200-0F5F-DBAC-28549B7DA0A1}"/>
              </a:ext>
            </a:extLst>
          </p:cNvPr>
          <p:cNvSpPr/>
          <p:nvPr/>
        </p:nvSpPr>
        <p:spPr>
          <a:xfrm>
            <a:off x="5647137" y="3859119"/>
            <a:ext cx="424800" cy="7524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16523D84-C0E3-A4D7-1D38-4C50CC98ECDD}"/>
              </a:ext>
            </a:extLst>
          </p:cNvPr>
          <p:cNvSpPr/>
          <p:nvPr/>
        </p:nvSpPr>
        <p:spPr>
          <a:xfrm>
            <a:off x="5151158" y="3859119"/>
            <a:ext cx="424800" cy="7524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1FDDEF09-1B75-F60B-ACF6-F0687B77EF71}"/>
              </a:ext>
            </a:extLst>
          </p:cNvPr>
          <p:cNvSpPr/>
          <p:nvPr/>
        </p:nvSpPr>
        <p:spPr>
          <a:xfrm>
            <a:off x="955111" y="2079577"/>
            <a:ext cx="1576800" cy="1072926"/>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データ取込バッチ</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RIND,NEKO</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grpSp>
        <p:nvGrpSpPr>
          <p:cNvPr id="14" name="グループ化 13">
            <a:extLst>
              <a:ext uri="{FF2B5EF4-FFF2-40B4-BE49-F238E27FC236}">
                <a16:creationId xmlns:a16="http://schemas.microsoft.com/office/drawing/2014/main" id="{22093EAA-F579-A143-516F-EDEC5542511F}"/>
              </a:ext>
            </a:extLst>
          </p:cNvPr>
          <p:cNvGrpSpPr/>
          <p:nvPr/>
        </p:nvGrpSpPr>
        <p:grpSpPr>
          <a:xfrm>
            <a:off x="954948" y="1770730"/>
            <a:ext cx="1576963" cy="212291"/>
            <a:chOff x="4709497" y="955750"/>
            <a:chExt cx="3307096" cy="243392"/>
          </a:xfrm>
          <a:effectLst/>
        </p:grpSpPr>
        <p:sp>
          <p:nvSpPr>
            <p:cNvPr id="24" name="テキスト ボックス 23">
              <a:extLst>
                <a:ext uri="{FF2B5EF4-FFF2-40B4-BE49-F238E27FC236}">
                  <a16:creationId xmlns:a16="http://schemas.microsoft.com/office/drawing/2014/main" id="{B1FF2F6C-CFF9-C129-5D74-F912475C70C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7" name="直線コネクタ 26">
              <a:extLst>
                <a:ext uri="{FF2B5EF4-FFF2-40B4-BE49-F238E27FC236}">
                  <a16:creationId xmlns:a16="http://schemas.microsoft.com/office/drawing/2014/main" id="{FE3F504A-E6CC-F53B-CFC1-7D125C91322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8" name="グループ化 27">
            <a:extLst>
              <a:ext uri="{FF2B5EF4-FFF2-40B4-BE49-F238E27FC236}">
                <a16:creationId xmlns:a16="http://schemas.microsoft.com/office/drawing/2014/main" id="{8956B6B3-9E32-DBFB-6E0A-35129BF44FC7}"/>
              </a:ext>
            </a:extLst>
          </p:cNvPr>
          <p:cNvGrpSpPr/>
          <p:nvPr/>
        </p:nvGrpSpPr>
        <p:grpSpPr>
          <a:xfrm>
            <a:off x="2602505" y="1770730"/>
            <a:ext cx="2476800" cy="212291"/>
            <a:chOff x="4709497" y="955750"/>
            <a:chExt cx="1936622" cy="243392"/>
          </a:xfrm>
          <a:effectLst/>
        </p:grpSpPr>
        <p:sp>
          <p:nvSpPr>
            <p:cNvPr id="33" name="テキスト ボックス 32">
              <a:extLst>
                <a:ext uri="{FF2B5EF4-FFF2-40B4-BE49-F238E27FC236}">
                  <a16:creationId xmlns:a16="http://schemas.microsoft.com/office/drawing/2014/main" id="{DBACACC2-9648-FD16-68E3-A9BF7C0CBA75}"/>
                </a:ext>
              </a:extLst>
            </p:cNvPr>
            <p:cNvSpPr txBox="1">
              <a:spLocks noChangeArrowheads="1"/>
            </p:cNvSpPr>
            <p:nvPr/>
          </p:nvSpPr>
          <p:spPr bwMode="auto">
            <a:xfrm>
              <a:off x="4709497" y="955750"/>
              <a:ext cx="1936622"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4" name="直線コネクタ 33">
              <a:extLst>
                <a:ext uri="{FF2B5EF4-FFF2-40B4-BE49-F238E27FC236}">
                  <a16:creationId xmlns:a16="http://schemas.microsoft.com/office/drawing/2014/main" id="{00978032-A995-46CF-94D2-2C56CD14E193}"/>
                </a:ext>
              </a:extLst>
            </p:cNvPr>
            <p:cNvCxnSpPr/>
            <p:nvPr/>
          </p:nvCxnSpPr>
          <p:spPr bwMode="auto">
            <a:xfrm>
              <a:off x="4709497" y="1194770"/>
              <a:ext cx="1936622"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5" name="グループ化 34">
            <a:extLst>
              <a:ext uri="{FF2B5EF4-FFF2-40B4-BE49-F238E27FC236}">
                <a16:creationId xmlns:a16="http://schemas.microsoft.com/office/drawing/2014/main" id="{C6A89F80-6299-2E00-67CB-34A80BE1E8B1}"/>
              </a:ext>
            </a:extLst>
          </p:cNvPr>
          <p:cNvGrpSpPr/>
          <p:nvPr/>
        </p:nvGrpSpPr>
        <p:grpSpPr>
          <a:xfrm>
            <a:off x="5150573" y="1460389"/>
            <a:ext cx="6854845" cy="212291"/>
            <a:chOff x="4709497" y="955750"/>
            <a:chExt cx="3307096" cy="243392"/>
          </a:xfrm>
          <a:effectLst/>
        </p:grpSpPr>
        <p:sp>
          <p:nvSpPr>
            <p:cNvPr id="36" name="テキスト ボックス 35">
              <a:extLst>
                <a:ext uri="{FF2B5EF4-FFF2-40B4-BE49-F238E27FC236}">
                  <a16:creationId xmlns:a16="http://schemas.microsoft.com/office/drawing/2014/main" id="{A730EC3A-43D1-6EA4-7616-8EED521E95A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8" name="直線コネクタ 37">
              <a:extLst>
                <a:ext uri="{FF2B5EF4-FFF2-40B4-BE49-F238E27FC236}">
                  <a16:creationId xmlns:a16="http://schemas.microsoft.com/office/drawing/2014/main" id="{7A5DAA67-FB3F-0490-11AC-95B02D7F887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9" name="グループ化 38">
            <a:extLst>
              <a:ext uri="{FF2B5EF4-FFF2-40B4-BE49-F238E27FC236}">
                <a16:creationId xmlns:a16="http://schemas.microsoft.com/office/drawing/2014/main" id="{03A54B9F-30BD-AB0E-1B02-8D64D64B543F}"/>
              </a:ext>
            </a:extLst>
          </p:cNvPr>
          <p:cNvGrpSpPr/>
          <p:nvPr/>
        </p:nvGrpSpPr>
        <p:grpSpPr>
          <a:xfrm>
            <a:off x="5646553" y="1770730"/>
            <a:ext cx="425384" cy="212291"/>
            <a:chOff x="4709497" y="955750"/>
            <a:chExt cx="3307096" cy="243392"/>
          </a:xfrm>
          <a:effectLst/>
        </p:grpSpPr>
        <p:sp>
          <p:nvSpPr>
            <p:cNvPr id="41" name="テキスト ボックス 40">
              <a:extLst>
                <a:ext uri="{FF2B5EF4-FFF2-40B4-BE49-F238E27FC236}">
                  <a16:creationId xmlns:a16="http://schemas.microsoft.com/office/drawing/2014/main" id="{0E1228AD-21F3-7AE5-DCC3-B85EA8621F3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2" name="直線コネクタ 41">
              <a:extLst>
                <a:ext uri="{FF2B5EF4-FFF2-40B4-BE49-F238E27FC236}">
                  <a16:creationId xmlns:a16="http://schemas.microsoft.com/office/drawing/2014/main" id="{4B46109D-B49C-3D63-1613-7CC8E0784865}"/>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44" name="グループ化 43">
            <a:extLst>
              <a:ext uri="{FF2B5EF4-FFF2-40B4-BE49-F238E27FC236}">
                <a16:creationId xmlns:a16="http://schemas.microsoft.com/office/drawing/2014/main" id="{0397D936-140D-AC92-39D0-1643388AC694}"/>
              </a:ext>
            </a:extLst>
          </p:cNvPr>
          <p:cNvGrpSpPr/>
          <p:nvPr/>
        </p:nvGrpSpPr>
        <p:grpSpPr>
          <a:xfrm>
            <a:off x="5150574" y="1766917"/>
            <a:ext cx="425384" cy="212291"/>
            <a:chOff x="4709497" y="955750"/>
            <a:chExt cx="3307096" cy="243392"/>
          </a:xfrm>
          <a:effectLst/>
        </p:grpSpPr>
        <p:sp>
          <p:nvSpPr>
            <p:cNvPr id="46" name="テキスト ボックス 45">
              <a:extLst>
                <a:ext uri="{FF2B5EF4-FFF2-40B4-BE49-F238E27FC236}">
                  <a16:creationId xmlns:a16="http://schemas.microsoft.com/office/drawing/2014/main" id="{2B5587A6-C71A-247C-87B1-833851C74649}"/>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7" name="直線コネクタ 46">
              <a:extLst>
                <a:ext uri="{FF2B5EF4-FFF2-40B4-BE49-F238E27FC236}">
                  <a16:creationId xmlns:a16="http://schemas.microsoft.com/office/drawing/2014/main" id="{BB733B65-9078-1BB8-028B-758288A81EFF}"/>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48" name="グループ化 47">
            <a:extLst>
              <a:ext uri="{FF2B5EF4-FFF2-40B4-BE49-F238E27FC236}">
                <a16:creationId xmlns:a16="http://schemas.microsoft.com/office/drawing/2014/main" id="{8DA02EC8-DF65-48C2-278C-BF26D56AF281}"/>
              </a:ext>
            </a:extLst>
          </p:cNvPr>
          <p:cNvGrpSpPr/>
          <p:nvPr/>
        </p:nvGrpSpPr>
        <p:grpSpPr>
          <a:xfrm>
            <a:off x="6142530" y="1766917"/>
            <a:ext cx="3324438" cy="212291"/>
            <a:chOff x="4709497" y="955750"/>
            <a:chExt cx="3307096" cy="243392"/>
          </a:xfrm>
          <a:effectLst/>
        </p:grpSpPr>
        <p:sp>
          <p:nvSpPr>
            <p:cNvPr id="49" name="テキスト ボックス 48">
              <a:extLst>
                <a:ext uri="{FF2B5EF4-FFF2-40B4-BE49-F238E27FC236}">
                  <a16:creationId xmlns:a16="http://schemas.microsoft.com/office/drawing/2014/main" id="{64BDD1E5-B27B-7648-D4F0-B5A19246A425}"/>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0" name="直線コネクタ 49">
              <a:extLst>
                <a:ext uri="{FF2B5EF4-FFF2-40B4-BE49-F238E27FC236}">
                  <a16:creationId xmlns:a16="http://schemas.microsoft.com/office/drawing/2014/main" id="{DB5B9BF1-BA2F-9309-6DFB-229229D61C89}"/>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1" name="グループ化 50">
            <a:extLst>
              <a:ext uri="{FF2B5EF4-FFF2-40B4-BE49-F238E27FC236}">
                <a16:creationId xmlns:a16="http://schemas.microsoft.com/office/drawing/2014/main" id="{4733BE4D-42EB-7C5D-C9E3-8630830A7400}"/>
              </a:ext>
            </a:extLst>
          </p:cNvPr>
          <p:cNvGrpSpPr/>
          <p:nvPr/>
        </p:nvGrpSpPr>
        <p:grpSpPr>
          <a:xfrm>
            <a:off x="9527942" y="1770730"/>
            <a:ext cx="2477476" cy="212291"/>
            <a:chOff x="4709497" y="955750"/>
            <a:chExt cx="3307096" cy="243392"/>
          </a:xfrm>
          <a:effectLst/>
        </p:grpSpPr>
        <p:sp>
          <p:nvSpPr>
            <p:cNvPr id="52" name="テキスト ボックス 51">
              <a:extLst>
                <a:ext uri="{FF2B5EF4-FFF2-40B4-BE49-F238E27FC236}">
                  <a16:creationId xmlns:a16="http://schemas.microsoft.com/office/drawing/2014/main" id="{5030E175-65F9-681D-2293-BDD57EC07B9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3" name="直線コネクタ 52">
              <a:extLst>
                <a:ext uri="{FF2B5EF4-FFF2-40B4-BE49-F238E27FC236}">
                  <a16:creationId xmlns:a16="http://schemas.microsoft.com/office/drawing/2014/main" id="{5C547838-24F1-1933-839A-3F45312ADCD2}"/>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54" name="正方形/長方形 53">
            <a:extLst>
              <a:ext uri="{FF2B5EF4-FFF2-40B4-BE49-F238E27FC236}">
                <a16:creationId xmlns:a16="http://schemas.microsoft.com/office/drawing/2014/main" id="{1B9161DE-B06C-7531-3964-7EE1F8699D96}"/>
              </a:ext>
            </a:extLst>
          </p:cNvPr>
          <p:cNvSpPr/>
          <p:nvPr/>
        </p:nvSpPr>
        <p:spPr bwMode="auto">
          <a:xfrm>
            <a:off x="186827" y="2079576"/>
            <a:ext cx="697526" cy="4420055"/>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a:solidFill>
                  <a:schemeClr val="bg1"/>
                </a:solidFill>
                <a:latin typeface="Meiryo UI" panose="020B0604030504040204" pitchFamily="50" charset="-128"/>
                <a:ea typeface="Meiryo UI" panose="020B0604030504040204" pitchFamily="50" charset="-128"/>
              </a:rPr>
              <a:t>RETMAS</a:t>
            </a:r>
          </a:p>
        </p:txBody>
      </p:sp>
      <p:sp>
        <p:nvSpPr>
          <p:cNvPr id="58" name="コンテンツ プレースホルダー 5">
            <a:extLst>
              <a:ext uri="{FF2B5EF4-FFF2-40B4-BE49-F238E27FC236}">
                <a16:creationId xmlns:a16="http://schemas.microsoft.com/office/drawing/2014/main" id="{2958A5BA-8D7A-E1C3-89C5-CA68DEA1E1FD}"/>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RETMAS</a:t>
            </a:r>
            <a:r>
              <a:rPr lang="ja-JP" altLang="en-US" sz="1600"/>
              <a:t>の各機能における改修内容と規模は以下。</a:t>
            </a:r>
          </a:p>
          <a:p>
            <a:pPr marL="285750" indent="-285750">
              <a:buFont typeface="Arial" panose="020B0604020202020204" pitchFamily="34" charset="0"/>
              <a:buChar char="•"/>
            </a:pPr>
            <a:r>
              <a:rPr lang="ja-JP" altLang="en-US" sz="1600"/>
              <a:t>ブレ要素に記載している各データマートテーブルのレイアウト変更要否については基本設計で確定予定</a:t>
            </a:r>
          </a:p>
        </p:txBody>
      </p:sp>
      <p:sp>
        <p:nvSpPr>
          <p:cNvPr id="79" name="タイトル 2">
            <a:extLst>
              <a:ext uri="{FF2B5EF4-FFF2-40B4-BE49-F238E27FC236}">
                <a16:creationId xmlns:a16="http://schemas.microsoft.com/office/drawing/2014/main" id="{E56A64B1-5208-0CF5-BD14-E18B28FAC7E8}"/>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RETMAS</a:t>
            </a:r>
            <a:r>
              <a:rPr lang="ja-JP" altLang="en-US" kern="0" dirty="0"/>
              <a:t>）①</a:t>
            </a:r>
          </a:p>
        </p:txBody>
      </p:sp>
    </p:spTree>
    <p:extLst>
      <p:ext uri="{BB962C8B-B14F-4D97-AF65-F5344CB8AC3E}">
        <p14:creationId xmlns:p14="http://schemas.microsoft.com/office/powerpoint/2010/main" val="22403479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24844F2E-68C2-54A8-BE3D-430807962DAC}"/>
              </a:ext>
            </a:extLst>
          </p:cNvPr>
          <p:cNvSpPr/>
          <p:nvPr/>
        </p:nvSpPr>
        <p:spPr>
          <a:xfrm>
            <a:off x="2602505" y="2827326"/>
            <a:ext cx="2476800" cy="964833"/>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固定資産を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で一元管理すること</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650813C8-6922-07A5-EFDD-BEF1CCA43649}"/>
              </a:ext>
            </a:extLst>
          </p:cNvPr>
          <p:cNvSpPr/>
          <p:nvPr/>
        </p:nvSpPr>
        <p:spPr>
          <a:xfrm>
            <a:off x="955111" y="4976855"/>
            <a:ext cx="1576800"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PL</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AmakongPL</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E20CD1D0-0AEF-91D8-3DA2-10953AB38DD9}"/>
              </a:ext>
            </a:extLst>
          </p:cNvPr>
          <p:cNvSpPr/>
          <p:nvPr/>
        </p:nvSpPr>
        <p:spPr>
          <a:xfrm>
            <a:off x="955111" y="5972331"/>
            <a:ext cx="1576800"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合算</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9" name="正方形/長方形 48">
            <a:extLst>
              <a:ext uri="{FF2B5EF4-FFF2-40B4-BE49-F238E27FC236}">
                <a16:creationId xmlns:a16="http://schemas.microsoft.com/office/drawing/2014/main" id="{C5ACD93A-AD2D-1BDF-F737-BB7D305F7F39}"/>
              </a:ext>
            </a:extLst>
          </p:cNvPr>
          <p:cNvSpPr/>
          <p:nvPr/>
        </p:nvSpPr>
        <p:spPr>
          <a:xfrm>
            <a:off x="2602505" y="5972331"/>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8A9D92D9-EFB0-749B-CF82-ED888B85078B}"/>
              </a:ext>
            </a:extLst>
          </p:cNvPr>
          <p:cNvSpPr/>
          <p:nvPr/>
        </p:nvSpPr>
        <p:spPr>
          <a:xfrm>
            <a:off x="955111" y="5474593"/>
            <a:ext cx="1576800"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PL</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帳票</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1" name="正方形/長方形 80">
            <a:extLst>
              <a:ext uri="{FF2B5EF4-FFF2-40B4-BE49-F238E27FC236}">
                <a16:creationId xmlns:a16="http://schemas.microsoft.com/office/drawing/2014/main" id="{0BA34CBD-D36E-9401-E49E-0171D210453D}"/>
              </a:ext>
            </a:extLst>
          </p:cNvPr>
          <p:cNvSpPr/>
          <p:nvPr/>
        </p:nvSpPr>
        <p:spPr>
          <a:xfrm>
            <a:off x="9528618" y="3848039"/>
            <a:ext cx="2476800" cy="561600"/>
          </a:xfrm>
          <a:prstGeom prst="rect">
            <a:avLst/>
          </a:prstGeom>
          <a:solidFill>
            <a:srgbClr val="FFF2B9"/>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102" name="正方形/長方形 101">
            <a:extLst>
              <a:ext uri="{FF2B5EF4-FFF2-40B4-BE49-F238E27FC236}">
                <a16:creationId xmlns:a16="http://schemas.microsoft.com/office/drawing/2014/main" id="{9473EC14-66D6-BBF7-2DA9-35DA10336F2A}"/>
              </a:ext>
            </a:extLst>
          </p:cNvPr>
          <p:cNvSpPr/>
          <p:nvPr/>
        </p:nvSpPr>
        <p:spPr>
          <a:xfrm>
            <a:off x="5151158" y="4976851"/>
            <a:ext cx="424800" cy="9396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3" name="正方形/長方形 102">
            <a:extLst>
              <a:ext uri="{FF2B5EF4-FFF2-40B4-BE49-F238E27FC236}">
                <a16:creationId xmlns:a16="http://schemas.microsoft.com/office/drawing/2014/main" id="{1C3C94D4-7A88-446A-1DEA-15105006C289}"/>
              </a:ext>
            </a:extLst>
          </p:cNvPr>
          <p:cNvSpPr/>
          <p:nvPr/>
        </p:nvSpPr>
        <p:spPr>
          <a:xfrm>
            <a:off x="5647137" y="4976851"/>
            <a:ext cx="424800" cy="9396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4" name="正方形/長方形 103">
            <a:extLst>
              <a:ext uri="{FF2B5EF4-FFF2-40B4-BE49-F238E27FC236}">
                <a16:creationId xmlns:a16="http://schemas.microsoft.com/office/drawing/2014/main" id="{52B875EA-0161-F46F-F8B7-E1157BA23F09}"/>
              </a:ext>
            </a:extLst>
          </p:cNvPr>
          <p:cNvSpPr/>
          <p:nvPr/>
        </p:nvSpPr>
        <p:spPr>
          <a:xfrm>
            <a:off x="6140568" y="4976855"/>
            <a:ext cx="3326400" cy="912906"/>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勘定科目コードのコード体系変更に伴う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ロジック（</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PL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集計ロジック）改修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5" name="正方形/長方形 104">
            <a:extLst>
              <a:ext uri="{FF2B5EF4-FFF2-40B4-BE49-F238E27FC236}">
                <a16:creationId xmlns:a16="http://schemas.microsoft.com/office/drawing/2014/main" id="{7D11FBCC-A22A-869E-FB38-0FBE9C6582A0}"/>
              </a:ext>
            </a:extLst>
          </p:cNvPr>
          <p:cNvSpPr/>
          <p:nvPr/>
        </p:nvSpPr>
        <p:spPr>
          <a:xfrm>
            <a:off x="9528618" y="4950161"/>
            <a:ext cx="2476800" cy="9396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可能性は低いが集約データマートのマテビューに改修が入った場合、改修工数が上振れる見込み</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sp>
        <p:nvSpPr>
          <p:cNvPr id="114" name="正方形/長方形 113">
            <a:extLst>
              <a:ext uri="{FF2B5EF4-FFF2-40B4-BE49-F238E27FC236}">
                <a16:creationId xmlns:a16="http://schemas.microsoft.com/office/drawing/2014/main" id="{74BC4FF1-ECE3-307A-70C0-5AC0D18F9B01}"/>
              </a:ext>
            </a:extLst>
          </p:cNvPr>
          <p:cNvSpPr/>
          <p:nvPr/>
        </p:nvSpPr>
        <p:spPr>
          <a:xfrm>
            <a:off x="5151158" y="4465357"/>
            <a:ext cx="424800" cy="457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5" name="正方形/長方形 114">
            <a:extLst>
              <a:ext uri="{FF2B5EF4-FFF2-40B4-BE49-F238E27FC236}">
                <a16:creationId xmlns:a16="http://schemas.microsoft.com/office/drawing/2014/main" id="{9D068728-BE76-136A-9F5B-313446B08A35}"/>
              </a:ext>
            </a:extLst>
          </p:cNvPr>
          <p:cNvSpPr/>
          <p:nvPr/>
        </p:nvSpPr>
        <p:spPr>
          <a:xfrm>
            <a:off x="5647137" y="4465356"/>
            <a:ext cx="424800" cy="457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6" name="正方形/長方形 115">
            <a:extLst>
              <a:ext uri="{FF2B5EF4-FFF2-40B4-BE49-F238E27FC236}">
                <a16:creationId xmlns:a16="http://schemas.microsoft.com/office/drawing/2014/main" id="{2825C7ED-EB7A-C946-22B4-1007807CF3F5}"/>
              </a:ext>
            </a:extLst>
          </p:cNvPr>
          <p:cNvSpPr/>
          <p:nvPr/>
        </p:nvSpPr>
        <p:spPr>
          <a:xfrm>
            <a:off x="6140568" y="4465357"/>
            <a:ext cx="3326400" cy="457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減価償却推移表のレイアウト変更に伴うロジック修正</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7" name="正方形/長方形 116">
            <a:extLst>
              <a:ext uri="{FF2B5EF4-FFF2-40B4-BE49-F238E27FC236}">
                <a16:creationId xmlns:a16="http://schemas.microsoft.com/office/drawing/2014/main" id="{3EBA9FA8-27F6-A018-9D9D-BBD99AC6FFEC}"/>
              </a:ext>
            </a:extLst>
          </p:cNvPr>
          <p:cNvSpPr/>
          <p:nvPr/>
        </p:nvSpPr>
        <p:spPr>
          <a:xfrm>
            <a:off x="9528618" y="4465357"/>
            <a:ext cx="2476800" cy="457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DM</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経費にレイアウト変更の必要が生じた場合、対応工数増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C4192891-8E50-64C6-39C7-D29E20411268}"/>
              </a:ext>
            </a:extLst>
          </p:cNvPr>
          <p:cNvSpPr/>
          <p:nvPr/>
        </p:nvSpPr>
        <p:spPr>
          <a:xfrm>
            <a:off x="955111" y="2832380"/>
            <a:ext cx="1576800" cy="482223"/>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固定資産明細</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ダウンロード</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9AFCE1D7-15E7-F846-0B5F-A4E6ED2D1278}"/>
              </a:ext>
            </a:extLst>
          </p:cNvPr>
          <p:cNvSpPr/>
          <p:nvPr/>
        </p:nvSpPr>
        <p:spPr>
          <a:xfrm>
            <a:off x="955111" y="3370483"/>
            <a:ext cx="1576800" cy="421676"/>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CAPEX</a:t>
            </a:r>
          </a:p>
        </p:txBody>
      </p:sp>
      <p:sp>
        <p:nvSpPr>
          <p:cNvPr id="21" name="正方形/長方形 20">
            <a:extLst>
              <a:ext uri="{FF2B5EF4-FFF2-40B4-BE49-F238E27FC236}">
                <a16:creationId xmlns:a16="http://schemas.microsoft.com/office/drawing/2014/main" id="{FFF89726-3884-4421-82ED-E6FE867A8BD0}"/>
              </a:ext>
            </a:extLst>
          </p:cNvPr>
          <p:cNvSpPr/>
          <p:nvPr/>
        </p:nvSpPr>
        <p:spPr>
          <a:xfrm>
            <a:off x="6140568" y="2832380"/>
            <a:ext cx="3326400" cy="9648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Wingdings" panose="05000000000000000000" pitchFamily="2" charset="2"/>
              <a:buChar char="Ø"/>
            </a:pPr>
            <a:r>
              <a:rPr lang="ja-JP" altLang="en-US" sz="1100">
                <a:solidFill>
                  <a:schemeClr val="tx2">
                    <a:lumMod val="75000"/>
                    <a:lumOff val="25000"/>
                  </a:schemeClr>
                </a:solidFill>
                <a:latin typeface="Meiryo UI"/>
                <a:ea typeface="Meiryo UI"/>
              </a:rPr>
              <a:t>減価償却推移表のレイアウト変更に伴う</a:t>
            </a:r>
            <a:r>
              <a:rPr lang="en-US" altLang="ja-JP" sz="1100">
                <a:solidFill>
                  <a:schemeClr val="tx2">
                    <a:lumMod val="75000"/>
                    <a:lumOff val="25000"/>
                  </a:schemeClr>
                </a:solidFill>
                <a:latin typeface="Meiryo UI"/>
                <a:ea typeface="Meiryo UI"/>
              </a:rPr>
              <a:t>CAPEX</a:t>
            </a:r>
            <a:r>
              <a:rPr lang="ja-JP" altLang="en-US" sz="1100">
                <a:solidFill>
                  <a:schemeClr val="tx2">
                    <a:lumMod val="75000"/>
                    <a:lumOff val="25000"/>
                  </a:schemeClr>
                </a:solidFill>
                <a:latin typeface="Meiryo UI"/>
                <a:ea typeface="Meiryo UI"/>
              </a:rPr>
              <a:t>データ作成ロジック及び固定資産明細の</a:t>
            </a:r>
            <a:r>
              <a:rPr lang="en-US" altLang="ja-JP" sz="1100">
                <a:solidFill>
                  <a:schemeClr val="tx2">
                    <a:lumMod val="75000"/>
                    <a:lumOff val="25000"/>
                  </a:schemeClr>
                </a:solidFill>
                <a:latin typeface="Meiryo UI"/>
                <a:ea typeface="Meiryo UI"/>
              </a:rPr>
              <a:t>DL</a:t>
            </a:r>
            <a:r>
              <a:rPr lang="ja-JP" altLang="en-US" sz="1100">
                <a:solidFill>
                  <a:schemeClr val="tx2">
                    <a:lumMod val="75000"/>
                    <a:lumOff val="25000"/>
                  </a:schemeClr>
                </a:solidFill>
                <a:latin typeface="Meiryo UI"/>
                <a:ea typeface="Meiryo UI"/>
              </a:rPr>
              <a:t>ロジック改修</a:t>
            </a:r>
            <a:endParaRPr lang="en-US" altLang="ja-JP" sz="1100" b="1">
              <a:solidFill>
                <a:schemeClr val="tx2">
                  <a:lumMod val="75000"/>
                  <a:lumOff val="25000"/>
                </a:schemeClr>
              </a:solidFill>
              <a:highlight>
                <a:srgbClr val="FFFF00"/>
              </a:highlight>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2">
                    <a:lumMod val="75000"/>
                    <a:lumOff val="25000"/>
                  </a:schemeClr>
                </a:solidFill>
                <a:latin typeface="Meiryo UI" panose="020B0604030504040204" pitchFamily="50" charset="-128"/>
                <a:ea typeface="Meiryo UI" panose="020B0604030504040204" pitchFamily="50" charset="-128"/>
              </a:rPr>
              <a:t>資産購入額の取得元を経理会計伝票に変更</a:t>
            </a:r>
            <a:endParaRPr lang="en-US" altLang="ja-JP" sz="1100">
              <a:solidFill>
                <a:schemeClr val="tx2">
                  <a:lumMod val="75000"/>
                  <a:lumOff val="25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4AEF72C0-EC7C-930A-A03A-5ACDF22FEEBA}"/>
              </a:ext>
            </a:extLst>
          </p:cNvPr>
          <p:cNvSpPr/>
          <p:nvPr/>
        </p:nvSpPr>
        <p:spPr>
          <a:xfrm>
            <a:off x="9528618" y="2832380"/>
            <a:ext cx="2476800" cy="9648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27" name="正方形/長方形 26">
            <a:extLst>
              <a:ext uri="{FF2B5EF4-FFF2-40B4-BE49-F238E27FC236}">
                <a16:creationId xmlns:a16="http://schemas.microsoft.com/office/drawing/2014/main" id="{A1BCAD1D-BC1F-A446-6C60-F83C96DA709A}"/>
              </a:ext>
            </a:extLst>
          </p:cNvPr>
          <p:cNvSpPr/>
          <p:nvPr/>
        </p:nvSpPr>
        <p:spPr>
          <a:xfrm>
            <a:off x="955111" y="3848039"/>
            <a:ext cx="1576800" cy="5616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IJ</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差額</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32F03ACD-DA06-51CD-4388-1E5CE45ECA02}"/>
              </a:ext>
            </a:extLst>
          </p:cNvPr>
          <p:cNvSpPr/>
          <p:nvPr/>
        </p:nvSpPr>
        <p:spPr>
          <a:xfrm>
            <a:off x="2602505" y="3848038"/>
            <a:ext cx="2476800" cy="5616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固定資産を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で一元管理すること</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7D6DCC97-7B0F-948F-C2B4-02C826E85F7F}"/>
              </a:ext>
            </a:extLst>
          </p:cNvPr>
          <p:cNvSpPr/>
          <p:nvPr/>
        </p:nvSpPr>
        <p:spPr>
          <a:xfrm>
            <a:off x="5151158" y="2832380"/>
            <a:ext cx="424800" cy="4824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109D4134-94B4-0EC9-E230-2F5CE88974EE}"/>
              </a:ext>
            </a:extLst>
          </p:cNvPr>
          <p:cNvSpPr/>
          <p:nvPr/>
        </p:nvSpPr>
        <p:spPr>
          <a:xfrm>
            <a:off x="5647137" y="2832380"/>
            <a:ext cx="424800" cy="4824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2">
                    <a:lumMod val="75000"/>
                    <a:lumOff val="25000"/>
                  </a:schemeClr>
                </a:solidFill>
                <a:latin typeface="Meiryo UI" panose="020B0604030504040204" pitchFamily="50" charset="-128"/>
                <a:ea typeface="Meiryo UI" panose="020B0604030504040204" pitchFamily="50" charset="-128"/>
              </a:rPr>
              <a:t>中</a:t>
            </a:r>
          </a:p>
        </p:txBody>
      </p:sp>
      <p:sp>
        <p:nvSpPr>
          <p:cNvPr id="35" name="正方形/長方形 34">
            <a:extLst>
              <a:ext uri="{FF2B5EF4-FFF2-40B4-BE49-F238E27FC236}">
                <a16:creationId xmlns:a16="http://schemas.microsoft.com/office/drawing/2014/main" id="{E5626E2C-7911-3B9A-0A53-E8724817BDA7}"/>
              </a:ext>
            </a:extLst>
          </p:cNvPr>
          <p:cNvSpPr/>
          <p:nvPr/>
        </p:nvSpPr>
        <p:spPr>
          <a:xfrm>
            <a:off x="6140568" y="3848039"/>
            <a:ext cx="3326400" cy="5616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2">
                    <a:lumMod val="75000"/>
                    <a:lumOff val="25000"/>
                  </a:schemeClr>
                </a:solidFill>
                <a:latin typeface="Meiryo UI" panose="020B0604030504040204" pitchFamily="50" charset="-128"/>
                <a:ea typeface="Meiryo UI" panose="020B0604030504040204" pitchFamily="50" charset="-128"/>
              </a:rPr>
              <a:t>減価償却推移表のレイアウト変更に伴うロジック修正</a:t>
            </a:r>
            <a:endParaRPr lang="en-US" altLang="ja-JP" sz="1100">
              <a:solidFill>
                <a:schemeClr val="tx2">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2">
                    <a:lumMod val="75000"/>
                    <a:lumOff val="25000"/>
                  </a:schemeClr>
                </a:solidFill>
                <a:latin typeface="Meiryo UI" panose="020B0604030504040204" pitchFamily="50" charset="-128"/>
                <a:ea typeface="Meiryo UI" panose="020B0604030504040204" pitchFamily="50" charset="-128"/>
              </a:rPr>
              <a:t>仕訳データの取得元テーブル、及びデータの保持体系変更に伴うロジック改修</a:t>
            </a:r>
            <a:endParaRPr lang="en-US" altLang="ja-JP" sz="1100">
              <a:solidFill>
                <a:schemeClr val="tx2">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EF89BEE4-0687-C0AC-838B-7F2027A03847}"/>
              </a:ext>
            </a:extLst>
          </p:cNvPr>
          <p:cNvSpPr/>
          <p:nvPr/>
        </p:nvSpPr>
        <p:spPr>
          <a:xfrm>
            <a:off x="2602505" y="4976855"/>
            <a:ext cx="2476800" cy="939596"/>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F82EA7D9-0653-6FE1-5A93-E8037365A4CA}"/>
              </a:ext>
            </a:extLst>
          </p:cNvPr>
          <p:cNvSpPr/>
          <p:nvPr/>
        </p:nvSpPr>
        <p:spPr>
          <a:xfrm>
            <a:off x="955111" y="4465357"/>
            <a:ext cx="1576800" cy="45561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業績一覧</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5CC7980D-4F28-AB77-98FA-302664C4C91E}"/>
              </a:ext>
            </a:extLst>
          </p:cNvPr>
          <p:cNvSpPr/>
          <p:nvPr/>
        </p:nvSpPr>
        <p:spPr>
          <a:xfrm>
            <a:off x="2602505" y="4465357"/>
            <a:ext cx="2476800" cy="4572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固定資産を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で一元管理すること</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72DFA227-510D-2109-708D-3219DB0BF5A2}"/>
              </a:ext>
            </a:extLst>
          </p:cNvPr>
          <p:cNvSpPr/>
          <p:nvPr/>
        </p:nvSpPr>
        <p:spPr>
          <a:xfrm>
            <a:off x="5151158" y="5972331"/>
            <a:ext cx="424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0" name="正方形/長方形 49">
            <a:extLst>
              <a:ext uri="{FF2B5EF4-FFF2-40B4-BE49-F238E27FC236}">
                <a16:creationId xmlns:a16="http://schemas.microsoft.com/office/drawing/2014/main" id="{384104AD-109B-D7C0-CF5C-197E82751EA6}"/>
              </a:ext>
            </a:extLst>
          </p:cNvPr>
          <p:cNvSpPr/>
          <p:nvPr/>
        </p:nvSpPr>
        <p:spPr>
          <a:xfrm>
            <a:off x="5647137" y="5972331"/>
            <a:ext cx="424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p>
        </p:txBody>
      </p:sp>
      <p:sp>
        <p:nvSpPr>
          <p:cNvPr id="51" name="正方形/長方形 50">
            <a:extLst>
              <a:ext uri="{FF2B5EF4-FFF2-40B4-BE49-F238E27FC236}">
                <a16:creationId xmlns:a16="http://schemas.microsoft.com/office/drawing/2014/main" id="{870DE0F7-A012-CBEA-A013-F6ACD22CD9C7}"/>
              </a:ext>
            </a:extLst>
          </p:cNvPr>
          <p:cNvSpPr/>
          <p:nvPr/>
        </p:nvSpPr>
        <p:spPr>
          <a:xfrm>
            <a:off x="6140568" y="5972331"/>
            <a:ext cx="33264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勘定科目コードのコード体系変更に伴うロジック改修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037F8E8D-5BC7-44AF-995C-AA1A45023C5F}"/>
              </a:ext>
            </a:extLst>
          </p:cNvPr>
          <p:cNvSpPr/>
          <p:nvPr/>
        </p:nvSpPr>
        <p:spPr>
          <a:xfrm>
            <a:off x="9528618" y="5972331"/>
            <a:ext cx="2476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16" name="正方形/長方形 15">
            <a:extLst>
              <a:ext uri="{FF2B5EF4-FFF2-40B4-BE49-F238E27FC236}">
                <a16:creationId xmlns:a16="http://schemas.microsoft.com/office/drawing/2014/main" id="{8BFF45C0-BA56-52D7-51BC-5B1E1A591213}"/>
              </a:ext>
            </a:extLst>
          </p:cNvPr>
          <p:cNvSpPr/>
          <p:nvPr/>
        </p:nvSpPr>
        <p:spPr>
          <a:xfrm>
            <a:off x="955111" y="2079576"/>
            <a:ext cx="1576800" cy="696924"/>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原価明細</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DL</a:t>
            </a:r>
          </a:p>
        </p:txBody>
      </p:sp>
      <p:sp>
        <p:nvSpPr>
          <p:cNvPr id="17" name="正方形/長方形 16">
            <a:extLst>
              <a:ext uri="{FF2B5EF4-FFF2-40B4-BE49-F238E27FC236}">
                <a16:creationId xmlns:a16="http://schemas.microsoft.com/office/drawing/2014/main" id="{956CA169-E1B2-9901-4098-EC3CEEC834F9}"/>
              </a:ext>
            </a:extLst>
          </p:cNvPr>
          <p:cNvSpPr/>
          <p:nvPr/>
        </p:nvSpPr>
        <p:spPr>
          <a:xfrm>
            <a:off x="5647137" y="2079576"/>
            <a:ext cx="424800" cy="690648"/>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736DCB94-4B54-389B-9F89-27DB6B6025EF}"/>
              </a:ext>
            </a:extLst>
          </p:cNvPr>
          <p:cNvSpPr/>
          <p:nvPr/>
        </p:nvSpPr>
        <p:spPr>
          <a:xfrm>
            <a:off x="5151158" y="2079576"/>
            <a:ext cx="424800" cy="686693"/>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BE683826-CD99-3C3F-96FB-CA2AC01DC7BC}"/>
              </a:ext>
            </a:extLst>
          </p:cNvPr>
          <p:cNvSpPr/>
          <p:nvPr/>
        </p:nvSpPr>
        <p:spPr>
          <a:xfrm>
            <a:off x="6140568" y="2079576"/>
            <a:ext cx="3326400" cy="700617"/>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出力項目の変更に伴う、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機能の改修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4F7A9413-64FC-FCFE-51DF-5EDCF6941812}"/>
              </a:ext>
            </a:extLst>
          </p:cNvPr>
          <p:cNvSpPr/>
          <p:nvPr/>
        </p:nvSpPr>
        <p:spPr>
          <a:xfrm>
            <a:off x="9528618" y="2079576"/>
            <a:ext cx="2476800" cy="707175"/>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DM</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原価にレイアウト変更の必要が生じた場合、規模小→中に変動</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70C6DC0D-1EC0-772D-7369-F9B915837F93}"/>
              </a:ext>
            </a:extLst>
          </p:cNvPr>
          <p:cNvSpPr/>
          <p:nvPr/>
        </p:nvSpPr>
        <p:spPr>
          <a:xfrm>
            <a:off x="2602505" y="2079576"/>
            <a:ext cx="2476800" cy="69064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AE1F70A7-112B-03E8-36D2-8A0EFA63D10B}"/>
              </a:ext>
            </a:extLst>
          </p:cNvPr>
          <p:cNvSpPr/>
          <p:nvPr/>
        </p:nvSpPr>
        <p:spPr>
          <a:xfrm>
            <a:off x="5151158" y="3370959"/>
            <a:ext cx="424800" cy="421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BB959C4B-9091-89CC-DBD0-A74ABEC1A796}"/>
              </a:ext>
            </a:extLst>
          </p:cNvPr>
          <p:cNvSpPr/>
          <p:nvPr/>
        </p:nvSpPr>
        <p:spPr>
          <a:xfrm>
            <a:off x="5647137" y="3370959"/>
            <a:ext cx="424800" cy="421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2">
                    <a:lumMod val="75000"/>
                    <a:lumOff val="25000"/>
                  </a:schemeClr>
                </a:solidFill>
                <a:latin typeface="Meiryo UI" panose="020B0604030504040204" pitchFamily="50" charset="-128"/>
                <a:ea typeface="Meiryo UI" panose="020B0604030504040204" pitchFamily="50" charset="-128"/>
              </a:rPr>
              <a:t>中</a:t>
            </a:r>
            <a:endParaRPr lang="en-US" altLang="ja-JP" sz="1400" b="1">
              <a:solidFill>
                <a:schemeClr val="tx2">
                  <a:lumMod val="75000"/>
                  <a:lumOff val="25000"/>
                </a:schemeClr>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55229556-2001-AC74-D8D7-B3FBE263792D}"/>
              </a:ext>
            </a:extLst>
          </p:cNvPr>
          <p:cNvSpPr/>
          <p:nvPr/>
        </p:nvSpPr>
        <p:spPr>
          <a:xfrm>
            <a:off x="5151158" y="3848039"/>
            <a:ext cx="424800" cy="5616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7" name="正方形/長方形 76">
            <a:extLst>
              <a:ext uri="{FF2B5EF4-FFF2-40B4-BE49-F238E27FC236}">
                <a16:creationId xmlns:a16="http://schemas.microsoft.com/office/drawing/2014/main" id="{EF66E3F2-24EC-A5D9-0C07-34CD5D68378F}"/>
              </a:ext>
            </a:extLst>
          </p:cNvPr>
          <p:cNvSpPr/>
          <p:nvPr/>
        </p:nvSpPr>
        <p:spPr>
          <a:xfrm>
            <a:off x="5647137" y="3848039"/>
            <a:ext cx="424800" cy="5616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2">
                    <a:lumMod val="75000"/>
                    <a:lumOff val="25000"/>
                  </a:schemeClr>
                </a:solidFill>
                <a:latin typeface="Meiryo UI" panose="020B0604030504040204" pitchFamily="50" charset="-128"/>
                <a:ea typeface="Meiryo UI" panose="020B0604030504040204" pitchFamily="50" charset="-128"/>
              </a:rPr>
              <a:t>中</a:t>
            </a:r>
            <a:endParaRPr lang="en-US" altLang="ja-JP" sz="1400" b="1">
              <a:solidFill>
                <a:schemeClr val="tx2">
                  <a:lumMod val="75000"/>
                  <a:lumOff val="25000"/>
                </a:schemeClr>
              </a:solidFill>
              <a:latin typeface="Meiryo UI" panose="020B0604030504040204" pitchFamily="50" charset="-128"/>
              <a:ea typeface="Meiryo UI" panose="020B0604030504040204" pitchFamily="50" charset="-128"/>
            </a:endParaRPr>
          </a:p>
        </p:txBody>
      </p:sp>
      <p:grpSp>
        <p:nvGrpSpPr>
          <p:cNvPr id="6" name="グループ化 5">
            <a:extLst>
              <a:ext uri="{FF2B5EF4-FFF2-40B4-BE49-F238E27FC236}">
                <a16:creationId xmlns:a16="http://schemas.microsoft.com/office/drawing/2014/main" id="{C4EA8B77-4A40-5D62-B77A-70DC51DDEC58}"/>
              </a:ext>
            </a:extLst>
          </p:cNvPr>
          <p:cNvGrpSpPr/>
          <p:nvPr/>
        </p:nvGrpSpPr>
        <p:grpSpPr>
          <a:xfrm>
            <a:off x="954948" y="1770730"/>
            <a:ext cx="1576963" cy="212291"/>
            <a:chOff x="4709497" y="955750"/>
            <a:chExt cx="3307096" cy="243392"/>
          </a:xfrm>
          <a:effectLst/>
        </p:grpSpPr>
        <p:sp>
          <p:nvSpPr>
            <p:cNvPr id="14" name="テキスト ボックス 13">
              <a:extLst>
                <a:ext uri="{FF2B5EF4-FFF2-40B4-BE49-F238E27FC236}">
                  <a16:creationId xmlns:a16="http://schemas.microsoft.com/office/drawing/2014/main" id="{B78F95F6-124A-BE4B-D3EC-5FD50FF0BEA0}"/>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5" name="直線コネクタ 14">
              <a:extLst>
                <a:ext uri="{FF2B5EF4-FFF2-40B4-BE49-F238E27FC236}">
                  <a16:creationId xmlns:a16="http://schemas.microsoft.com/office/drawing/2014/main" id="{0A27BF14-E980-9D9D-E2FB-5D162BF9FD5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43" name="グループ化 42">
            <a:extLst>
              <a:ext uri="{FF2B5EF4-FFF2-40B4-BE49-F238E27FC236}">
                <a16:creationId xmlns:a16="http://schemas.microsoft.com/office/drawing/2014/main" id="{7D5BB15E-B34C-C47B-E9AB-A8DDECCC01B4}"/>
              </a:ext>
            </a:extLst>
          </p:cNvPr>
          <p:cNvGrpSpPr/>
          <p:nvPr/>
        </p:nvGrpSpPr>
        <p:grpSpPr>
          <a:xfrm>
            <a:off x="2602505" y="1770730"/>
            <a:ext cx="2476800" cy="212291"/>
            <a:chOff x="4709497" y="955750"/>
            <a:chExt cx="1936622" cy="243392"/>
          </a:xfrm>
          <a:effectLst/>
        </p:grpSpPr>
        <p:sp>
          <p:nvSpPr>
            <p:cNvPr id="44" name="テキスト ボックス 43">
              <a:extLst>
                <a:ext uri="{FF2B5EF4-FFF2-40B4-BE49-F238E27FC236}">
                  <a16:creationId xmlns:a16="http://schemas.microsoft.com/office/drawing/2014/main" id="{3C67D1F6-624C-0F7F-A471-B2A90653AF87}"/>
                </a:ext>
              </a:extLst>
            </p:cNvPr>
            <p:cNvSpPr txBox="1">
              <a:spLocks noChangeArrowheads="1"/>
            </p:cNvSpPr>
            <p:nvPr/>
          </p:nvSpPr>
          <p:spPr bwMode="auto">
            <a:xfrm>
              <a:off x="4709497" y="955750"/>
              <a:ext cx="1936622"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6" name="直線コネクタ 45">
              <a:extLst>
                <a:ext uri="{FF2B5EF4-FFF2-40B4-BE49-F238E27FC236}">
                  <a16:creationId xmlns:a16="http://schemas.microsoft.com/office/drawing/2014/main" id="{23CA4558-7C91-1255-5572-5C3DC28AA09A}"/>
                </a:ext>
              </a:extLst>
            </p:cNvPr>
            <p:cNvCxnSpPr/>
            <p:nvPr/>
          </p:nvCxnSpPr>
          <p:spPr bwMode="auto">
            <a:xfrm>
              <a:off x="4709497" y="1194770"/>
              <a:ext cx="1936622"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3" name="グループ化 52">
            <a:extLst>
              <a:ext uri="{FF2B5EF4-FFF2-40B4-BE49-F238E27FC236}">
                <a16:creationId xmlns:a16="http://schemas.microsoft.com/office/drawing/2014/main" id="{79E15357-56CC-F515-E9AF-52218A5CDCD3}"/>
              </a:ext>
            </a:extLst>
          </p:cNvPr>
          <p:cNvGrpSpPr/>
          <p:nvPr/>
        </p:nvGrpSpPr>
        <p:grpSpPr>
          <a:xfrm>
            <a:off x="5150573" y="1460389"/>
            <a:ext cx="6854845" cy="212291"/>
            <a:chOff x="4709497" y="955750"/>
            <a:chExt cx="3307096" cy="243392"/>
          </a:xfrm>
          <a:effectLst/>
        </p:grpSpPr>
        <p:sp>
          <p:nvSpPr>
            <p:cNvPr id="54" name="テキスト ボックス 53">
              <a:extLst>
                <a:ext uri="{FF2B5EF4-FFF2-40B4-BE49-F238E27FC236}">
                  <a16:creationId xmlns:a16="http://schemas.microsoft.com/office/drawing/2014/main" id="{962B14C6-FA44-2667-DE15-904948A8059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8" name="直線コネクタ 57">
              <a:extLst>
                <a:ext uri="{FF2B5EF4-FFF2-40B4-BE49-F238E27FC236}">
                  <a16:creationId xmlns:a16="http://schemas.microsoft.com/office/drawing/2014/main" id="{A1583D42-58C6-37BF-59B5-4E71B0BA22AD}"/>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1" name="グループ化 60">
            <a:extLst>
              <a:ext uri="{FF2B5EF4-FFF2-40B4-BE49-F238E27FC236}">
                <a16:creationId xmlns:a16="http://schemas.microsoft.com/office/drawing/2014/main" id="{AF33BB0A-3DFA-C931-7300-B59C4F2DA4FD}"/>
              </a:ext>
            </a:extLst>
          </p:cNvPr>
          <p:cNvGrpSpPr/>
          <p:nvPr/>
        </p:nvGrpSpPr>
        <p:grpSpPr>
          <a:xfrm>
            <a:off x="5646553" y="1770730"/>
            <a:ext cx="425384" cy="212291"/>
            <a:chOff x="4709497" y="955750"/>
            <a:chExt cx="3307096" cy="243392"/>
          </a:xfrm>
          <a:effectLst/>
        </p:grpSpPr>
        <p:sp>
          <p:nvSpPr>
            <p:cNvPr id="62" name="テキスト ボックス 61">
              <a:extLst>
                <a:ext uri="{FF2B5EF4-FFF2-40B4-BE49-F238E27FC236}">
                  <a16:creationId xmlns:a16="http://schemas.microsoft.com/office/drawing/2014/main" id="{76BCEC60-69AC-1583-8F5E-1828759E0EEC}"/>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3" name="直線コネクタ 62">
              <a:extLst>
                <a:ext uri="{FF2B5EF4-FFF2-40B4-BE49-F238E27FC236}">
                  <a16:creationId xmlns:a16="http://schemas.microsoft.com/office/drawing/2014/main" id="{2B9B84A7-5D62-AEB6-3283-2356DF924DB6}"/>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4" name="グループ化 63">
            <a:extLst>
              <a:ext uri="{FF2B5EF4-FFF2-40B4-BE49-F238E27FC236}">
                <a16:creationId xmlns:a16="http://schemas.microsoft.com/office/drawing/2014/main" id="{76EB8FE2-56CB-0A94-C217-5A9D1ACC3EF9}"/>
              </a:ext>
            </a:extLst>
          </p:cNvPr>
          <p:cNvGrpSpPr/>
          <p:nvPr/>
        </p:nvGrpSpPr>
        <p:grpSpPr>
          <a:xfrm>
            <a:off x="5150574" y="1766917"/>
            <a:ext cx="425384" cy="212291"/>
            <a:chOff x="4709497" y="955750"/>
            <a:chExt cx="3307096" cy="243392"/>
          </a:xfrm>
          <a:effectLst/>
        </p:grpSpPr>
        <p:sp>
          <p:nvSpPr>
            <p:cNvPr id="65" name="テキスト ボックス 64">
              <a:extLst>
                <a:ext uri="{FF2B5EF4-FFF2-40B4-BE49-F238E27FC236}">
                  <a16:creationId xmlns:a16="http://schemas.microsoft.com/office/drawing/2014/main" id="{AE81F72A-744B-C560-4DE9-82FE4DE21FF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6" name="直線コネクタ 65">
              <a:extLst>
                <a:ext uri="{FF2B5EF4-FFF2-40B4-BE49-F238E27FC236}">
                  <a16:creationId xmlns:a16="http://schemas.microsoft.com/office/drawing/2014/main" id="{E684ADEB-AB50-8B95-1A0D-E10F541DE45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7" name="グループ化 66">
            <a:extLst>
              <a:ext uri="{FF2B5EF4-FFF2-40B4-BE49-F238E27FC236}">
                <a16:creationId xmlns:a16="http://schemas.microsoft.com/office/drawing/2014/main" id="{DFAFA8E1-4549-F3DE-9785-6C3B5FD0D016}"/>
              </a:ext>
            </a:extLst>
          </p:cNvPr>
          <p:cNvGrpSpPr/>
          <p:nvPr/>
        </p:nvGrpSpPr>
        <p:grpSpPr>
          <a:xfrm>
            <a:off x="6142530" y="1766917"/>
            <a:ext cx="3324438" cy="212291"/>
            <a:chOff x="4709497" y="955750"/>
            <a:chExt cx="3307096" cy="243392"/>
          </a:xfrm>
          <a:effectLst/>
        </p:grpSpPr>
        <p:sp>
          <p:nvSpPr>
            <p:cNvPr id="68" name="テキスト ボックス 67">
              <a:extLst>
                <a:ext uri="{FF2B5EF4-FFF2-40B4-BE49-F238E27FC236}">
                  <a16:creationId xmlns:a16="http://schemas.microsoft.com/office/drawing/2014/main" id="{44EE1105-8F3F-B1B8-E0A3-9CE389742E2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4" name="直線コネクタ 73">
              <a:extLst>
                <a:ext uri="{FF2B5EF4-FFF2-40B4-BE49-F238E27FC236}">
                  <a16:creationId xmlns:a16="http://schemas.microsoft.com/office/drawing/2014/main" id="{029B145E-CAFC-DB60-AACE-4DBDCEB30BA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5" name="グループ化 74">
            <a:extLst>
              <a:ext uri="{FF2B5EF4-FFF2-40B4-BE49-F238E27FC236}">
                <a16:creationId xmlns:a16="http://schemas.microsoft.com/office/drawing/2014/main" id="{86E10676-B40A-F426-25B9-E3BE8006BB1C}"/>
              </a:ext>
            </a:extLst>
          </p:cNvPr>
          <p:cNvGrpSpPr/>
          <p:nvPr/>
        </p:nvGrpSpPr>
        <p:grpSpPr>
          <a:xfrm>
            <a:off x="9527942" y="1770730"/>
            <a:ext cx="2477476" cy="212291"/>
            <a:chOff x="4709497" y="955750"/>
            <a:chExt cx="3307096" cy="243392"/>
          </a:xfrm>
          <a:effectLst/>
        </p:grpSpPr>
        <p:sp>
          <p:nvSpPr>
            <p:cNvPr id="78" name="テキスト ボックス 77">
              <a:extLst>
                <a:ext uri="{FF2B5EF4-FFF2-40B4-BE49-F238E27FC236}">
                  <a16:creationId xmlns:a16="http://schemas.microsoft.com/office/drawing/2014/main" id="{071A6263-9D92-F4C0-8780-36EEF3F7513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9" name="直線コネクタ 78">
              <a:extLst>
                <a:ext uri="{FF2B5EF4-FFF2-40B4-BE49-F238E27FC236}">
                  <a16:creationId xmlns:a16="http://schemas.microsoft.com/office/drawing/2014/main" id="{2F861836-BF02-1BD3-02DE-9C02E858AC2D}"/>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80" name="正方形/長方形 79">
            <a:extLst>
              <a:ext uri="{FF2B5EF4-FFF2-40B4-BE49-F238E27FC236}">
                <a16:creationId xmlns:a16="http://schemas.microsoft.com/office/drawing/2014/main" id="{D351F556-3A09-0CFF-9159-FD1F9CDB3271}"/>
              </a:ext>
            </a:extLst>
          </p:cNvPr>
          <p:cNvSpPr/>
          <p:nvPr/>
        </p:nvSpPr>
        <p:spPr bwMode="auto">
          <a:xfrm>
            <a:off x="186827" y="2079576"/>
            <a:ext cx="697526" cy="4334613"/>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a:solidFill>
                  <a:schemeClr val="bg1"/>
                </a:solidFill>
                <a:latin typeface="Meiryo UI" panose="020B0604030504040204" pitchFamily="50" charset="-128"/>
                <a:ea typeface="Meiryo UI" panose="020B0604030504040204" pitchFamily="50" charset="-128"/>
              </a:rPr>
              <a:t>RETMAS</a:t>
            </a:r>
          </a:p>
        </p:txBody>
      </p:sp>
      <p:sp>
        <p:nvSpPr>
          <p:cNvPr id="82" name="コンテンツ プレースホルダー 5">
            <a:extLst>
              <a:ext uri="{FF2B5EF4-FFF2-40B4-BE49-F238E27FC236}">
                <a16:creationId xmlns:a16="http://schemas.microsoft.com/office/drawing/2014/main" id="{B58C08FF-A269-4488-9741-B6DA657DD920}"/>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RETMAS</a:t>
            </a:r>
            <a:r>
              <a:rPr lang="ja-JP" altLang="en-US" sz="1600"/>
              <a:t>の各機能における改修内容と規模は以下。</a:t>
            </a:r>
          </a:p>
          <a:p>
            <a:pPr marL="285750" indent="-285750">
              <a:buFont typeface="Arial" panose="020B0604020202020204" pitchFamily="34" charset="0"/>
              <a:buChar char="•"/>
            </a:pPr>
            <a:r>
              <a:rPr lang="ja-JP" altLang="en-US" sz="1600"/>
              <a:t>ブレ要素に記載している各データマートテーブルのレイアウト変更要否については基本設計で確定予定</a:t>
            </a:r>
          </a:p>
        </p:txBody>
      </p:sp>
      <p:sp>
        <p:nvSpPr>
          <p:cNvPr id="85" name="タイトル 2">
            <a:extLst>
              <a:ext uri="{FF2B5EF4-FFF2-40B4-BE49-F238E27FC236}">
                <a16:creationId xmlns:a16="http://schemas.microsoft.com/office/drawing/2014/main" id="{574D56E6-E50D-3498-4366-DA2419B94AF9}"/>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RETMAS</a:t>
            </a:r>
            <a:r>
              <a:rPr lang="ja-JP" altLang="en-US" kern="0" dirty="0"/>
              <a:t>）②</a:t>
            </a:r>
          </a:p>
        </p:txBody>
      </p:sp>
      <p:sp>
        <p:nvSpPr>
          <p:cNvPr id="86" name="スライド番号プレースホルダー 3">
            <a:extLst>
              <a:ext uri="{FF2B5EF4-FFF2-40B4-BE49-F238E27FC236}">
                <a16:creationId xmlns:a16="http://schemas.microsoft.com/office/drawing/2014/main" id="{1AEC609F-4929-FCF8-5B06-9EF0C81C6F53}"/>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30</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25249841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3489E408-8873-DF0A-1E05-5F96D25F764A}"/>
              </a:ext>
            </a:extLst>
          </p:cNvPr>
          <p:cNvSpPr/>
          <p:nvPr/>
        </p:nvSpPr>
        <p:spPr>
          <a:xfrm>
            <a:off x="955111" y="4237092"/>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データ連携</a:t>
            </a:r>
            <a:r>
              <a:rPr lang="en-US" altLang="ja-JP" sz="1000" b="1">
                <a:solidFill>
                  <a:schemeClr val="tx1">
                    <a:lumMod val="75000"/>
                    <a:lumOff val="25000"/>
                  </a:schemeClr>
                </a:solidFill>
                <a:latin typeface="Meiryo UI" panose="020B0604030504040204" pitchFamily="50" charset="-128"/>
                <a:ea typeface="Meiryo UI" panose="020B0604030504040204" pitchFamily="50" charset="-128"/>
              </a:rPr>
              <a:t>(RETMAS⇔HIKARU)</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24844F2E-68C2-54A8-BE3D-430807962DAC}"/>
              </a:ext>
            </a:extLst>
          </p:cNvPr>
          <p:cNvSpPr/>
          <p:nvPr/>
        </p:nvSpPr>
        <p:spPr>
          <a:xfrm>
            <a:off x="2602505" y="4237092"/>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CAC5BF75-56C7-5C6A-0907-AB18894B4217}"/>
              </a:ext>
            </a:extLst>
          </p:cNvPr>
          <p:cNvSpPr/>
          <p:nvPr/>
        </p:nvSpPr>
        <p:spPr>
          <a:xfrm>
            <a:off x="5151158" y="4237092"/>
            <a:ext cx="424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BCD5E94F-C016-89CF-15B8-86FC835F60D9}"/>
              </a:ext>
            </a:extLst>
          </p:cNvPr>
          <p:cNvSpPr/>
          <p:nvPr/>
        </p:nvSpPr>
        <p:spPr>
          <a:xfrm>
            <a:off x="5647137" y="4237092"/>
            <a:ext cx="424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33DF84AA-8F97-4B64-2342-045029CA042A}"/>
              </a:ext>
            </a:extLst>
          </p:cNvPr>
          <p:cNvSpPr/>
          <p:nvPr/>
        </p:nvSpPr>
        <p:spPr>
          <a:xfrm>
            <a:off x="6140568" y="4237092"/>
            <a:ext cx="33264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RIND</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連携データ、及び</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RETMAS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内で生成するデータの変更に案件マスタ等とのマッピング処理を見直し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5CB7029A-6669-F10D-D279-1640626616C0}"/>
              </a:ext>
            </a:extLst>
          </p:cNvPr>
          <p:cNvSpPr/>
          <p:nvPr/>
        </p:nvSpPr>
        <p:spPr>
          <a:xfrm>
            <a:off x="9528618" y="4237092"/>
            <a:ext cx="2476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科目明細</a:t>
            </a:r>
            <a:r>
              <a:rPr lang="en-US" altLang="ja-JP" sz="1100">
                <a:solidFill>
                  <a:schemeClr val="bg1">
                    <a:lumMod val="50000"/>
                  </a:schemeClr>
                </a:solidFill>
                <a:latin typeface="Meiryo UI" panose="020B0604030504040204" pitchFamily="50" charset="-128"/>
                <a:ea typeface="Meiryo UI" panose="020B0604030504040204" pitchFamily="50" charset="-128"/>
              </a:rPr>
              <a:t>DL</a:t>
            </a:r>
            <a:r>
              <a:rPr lang="ja-JP" altLang="en-US" sz="1100">
                <a:solidFill>
                  <a:schemeClr val="bg1">
                    <a:lumMod val="50000"/>
                  </a:schemeClr>
                </a:solidFill>
                <a:latin typeface="Meiryo UI" panose="020B0604030504040204" pitchFamily="50" charset="-128"/>
                <a:ea typeface="Meiryo UI" panose="020B0604030504040204" pitchFamily="50" charset="-128"/>
              </a:rPr>
              <a:t>の</a:t>
            </a:r>
            <a:r>
              <a:rPr lang="en-US" altLang="ja-JP" sz="1100">
                <a:solidFill>
                  <a:schemeClr val="bg1">
                    <a:lumMod val="50000"/>
                  </a:schemeClr>
                </a:solidFill>
                <a:latin typeface="Meiryo UI" panose="020B0604030504040204" pitchFamily="50" charset="-128"/>
                <a:ea typeface="Meiryo UI" panose="020B0604030504040204" pitchFamily="50" charset="-128"/>
              </a:rPr>
              <a:t>DL</a:t>
            </a:r>
            <a:r>
              <a:rPr lang="ja-JP" altLang="en-US" sz="1100">
                <a:solidFill>
                  <a:schemeClr val="bg1">
                    <a:lumMod val="50000"/>
                  </a:schemeClr>
                </a:solidFill>
                <a:latin typeface="Meiryo UI" panose="020B0604030504040204" pitchFamily="50" charset="-128"/>
                <a:ea typeface="Meiryo UI" panose="020B0604030504040204" pitchFamily="50" charset="-128"/>
              </a:rPr>
              <a:t>フォーマットに変更が生じた場合対応工数増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402EB15D-1075-55DF-DA07-E13059F276EA}"/>
              </a:ext>
            </a:extLst>
          </p:cNvPr>
          <p:cNvSpPr/>
          <p:nvPr/>
        </p:nvSpPr>
        <p:spPr>
          <a:xfrm>
            <a:off x="955111" y="5855229"/>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CGU</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対応</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448E0E0E-D57E-73DF-32C4-B67551C863D4}"/>
              </a:ext>
            </a:extLst>
          </p:cNvPr>
          <p:cNvSpPr/>
          <p:nvPr/>
        </p:nvSpPr>
        <p:spPr>
          <a:xfrm>
            <a:off x="2602505" y="5855229"/>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CGU</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マスタ連携（管理会計要求）</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E9640113-5ADE-47AA-7C8C-50CBB2F8EE9D}"/>
              </a:ext>
            </a:extLst>
          </p:cNvPr>
          <p:cNvSpPr/>
          <p:nvPr/>
        </p:nvSpPr>
        <p:spPr>
          <a:xfrm>
            <a:off x="5151158" y="5855229"/>
            <a:ext cx="424800" cy="442800"/>
          </a:xfrm>
          <a:prstGeom prst="rect">
            <a:avLst/>
          </a:prstGeom>
          <a:solidFill>
            <a:srgbClr val="FFF2B9"/>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09ACCA28-0C5D-7CB4-5F7A-D1701128D9D3}"/>
              </a:ext>
            </a:extLst>
          </p:cNvPr>
          <p:cNvSpPr/>
          <p:nvPr/>
        </p:nvSpPr>
        <p:spPr>
          <a:xfrm>
            <a:off x="5647137" y="5855229"/>
            <a:ext cx="424800" cy="442800"/>
          </a:xfrm>
          <a:prstGeom prst="rect">
            <a:avLst/>
          </a:prstGeom>
          <a:solidFill>
            <a:srgbClr val="FFF2B9"/>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中</a:t>
            </a:r>
          </a:p>
        </p:txBody>
      </p:sp>
      <p:sp>
        <p:nvSpPr>
          <p:cNvPr id="39" name="正方形/長方形 38">
            <a:extLst>
              <a:ext uri="{FF2B5EF4-FFF2-40B4-BE49-F238E27FC236}">
                <a16:creationId xmlns:a16="http://schemas.microsoft.com/office/drawing/2014/main" id="{43F8F69B-2ED1-7354-2ABC-4F466AC21205}"/>
              </a:ext>
            </a:extLst>
          </p:cNvPr>
          <p:cNvSpPr/>
          <p:nvPr/>
        </p:nvSpPr>
        <p:spPr>
          <a:xfrm>
            <a:off x="6140568" y="5855229"/>
            <a:ext cx="3326400" cy="442800"/>
          </a:xfrm>
          <a:prstGeom prst="rect">
            <a:avLst/>
          </a:prstGeom>
          <a:solidFill>
            <a:srgbClr val="FFF2B9"/>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RETMAS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の</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CGU</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マスタをファイル出力して</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に連携する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CB9670D8-D353-B0E3-CE2E-523740E5DFDF}"/>
              </a:ext>
            </a:extLst>
          </p:cNvPr>
          <p:cNvSpPr/>
          <p:nvPr/>
        </p:nvSpPr>
        <p:spPr>
          <a:xfrm>
            <a:off x="9528618" y="5855229"/>
            <a:ext cx="2476800" cy="442800"/>
          </a:xfrm>
          <a:prstGeom prst="rect">
            <a:avLst/>
          </a:prstGeom>
          <a:solidFill>
            <a:srgbClr val="FFF2B9"/>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4" name="正方形/長方形 3">
            <a:extLst>
              <a:ext uri="{FF2B5EF4-FFF2-40B4-BE49-F238E27FC236}">
                <a16:creationId xmlns:a16="http://schemas.microsoft.com/office/drawing/2014/main" id="{A2ED95FC-5DA8-4D6C-2BCD-6C7037453D85}"/>
              </a:ext>
            </a:extLst>
          </p:cNvPr>
          <p:cNvSpPr/>
          <p:nvPr/>
        </p:nvSpPr>
        <p:spPr>
          <a:xfrm>
            <a:off x="955111" y="3158334"/>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販売収入データ</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UL/DL</a:t>
            </a:r>
          </a:p>
        </p:txBody>
      </p:sp>
      <p:sp>
        <p:nvSpPr>
          <p:cNvPr id="5" name="正方形/長方形 4">
            <a:extLst>
              <a:ext uri="{FF2B5EF4-FFF2-40B4-BE49-F238E27FC236}">
                <a16:creationId xmlns:a16="http://schemas.microsoft.com/office/drawing/2014/main" id="{639BD8EA-CB1B-722D-2115-D74E446E5A85}"/>
              </a:ext>
            </a:extLst>
          </p:cNvPr>
          <p:cNvSpPr/>
          <p:nvPr/>
        </p:nvSpPr>
        <p:spPr>
          <a:xfrm>
            <a:off x="2602505" y="3158334"/>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　ー</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0228131B-1F6E-882E-3328-416BCD6907FC}"/>
              </a:ext>
            </a:extLst>
          </p:cNvPr>
          <p:cNvSpPr/>
          <p:nvPr/>
        </p:nvSpPr>
        <p:spPr>
          <a:xfrm>
            <a:off x="5151158" y="3158334"/>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4" name="正方形/長方形 13">
            <a:extLst>
              <a:ext uri="{FF2B5EF4-FFF2-40B4-BE49-F238E27FC236}">
                <a16:creationId xmlns:a16="http://schemas.microsoft.com/office/drawing/2014/main" id="{62D572B8-7AB8-C666-DA12-541C7F0D3540}"/>
              </a:ext>
            </a:extLst>
          </p:cNvPr>
          <p:cNvSpPr/>
          <p:nvPr/>
        </p:nvSpPr>
        <p:spPr>
          <a:xfrm>
            <a:off x="5647137" y="3158334"/>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5" name="正方形/長方形 14">
            <a:extLst>
              <a:ext uri="{FF2B5EF4-FFF2-40B4-BE49-F238E27FC236}">
                <a16:creationId xmlns:a16="http://schemas.microsoft.com/office/drawing/2014/main" id="{985811C6-B17A-93AD-1D36-041BCDC55D74}"/>
              </a:ext>
            </a:extLst>
          </p:cNvPr>
          <p:cNvSpPr/>
          <p:nvPr/>
        </p:nvSpPr>
        <p:spPr>
          <a:xfrm>
            <a:off x="6140568" y="3158334"/>
            <a:ext cx="33264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RETMAS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内で完結、かつ科目コードによる紐づけもないため影響なし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FA27E232-1535-7D4E-AC87-E0AC822AA270}"/>
              </a:ext>
            </a:extLst>
          </p:cNvPr>
          <p:cNvSpPr/>
          <p:nvPr/>
        </p:nvSpPr>
        <p:spPr>
          <a:xfrm>
            <a:off x="9528618" y="3158334"/>
            <a:ext cx="2476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E13F9EC9-0C98-D013-2E0C-88782D274BC3}"/>
              </a:ext>
            </a:extLst>
          </p:cNvPr>
          <p:cNvSpPr/>
          <p:nvPr/>
        </p:nvSpPr>
        <p:spPr>
          <a:xfrm>
            <a:off x="955111" y="5315850"/>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人員データ</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UL/DL</a:t>
            </a:r>
          </a:p>
        </p:txBody>
      </p:sp>
      <p:sp>
        <p:nvSpPr>
          <p:cNvPr id="28" name="正方形/長方形 27">
            <a:extLst>
              <a:ext uri="{FF2B5EF4-FFF2-40B4-BE49-F238E27FC236}">
                <a16:creationId xmlns:a16="http://schemas.microsoft.com/office/drawing/2014/main" id="{12A97E7D-E8B0-4380-765B-8F9465704D6F}"/>
              </a:ext>
            </a:extLst>
          </p:cNvPr>
          <p:cNvSpPr/>
          <p:nvPr/>
        </p:nvSpPr>
        <p:spPr>
          <a:xfrm>
            <a:off x="2602505" y="5315850"/>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　ー</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E92B7E39-A69C-A851-CA4A-64C37C60E197}"/>
              </a:ext>
            </a:extLst>
          </p:cNvPr>
          <p:cNvSpPr/>
          <p:nvPr/>
        </p:nvSpPr>
        <p:spPr>
          <a:xfrm>
            <a:off x="5151158" y="5315850"/>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4" name="正方形/長方形 33">
            <a:extLst>
              <a:ext uri="{FF2B5EF4-FFF2-40B4-BE49-F238E27FC236}">
                <a16:creationId xmlns:a16="http://schemas.microsoft.com/office/drawing/2014/main" id="{AE9176FF-8F65-4C23-F0D6-71BC4334162F}"/>
              </a:ext>
            </a:extLst>
          </p:cNvPr>
          <p:cNvSpPr/>
          <p:nvPr/>
        </p:nvSpPr>
        <p:spPr>
          <a:xfrm>
            <a:off x="5647137" y="5315850"/>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5" name="正方形/長方形 34">
            <a:extLst>
              <a:ext uri="{FF2B5EF4-FFF2-40B4-BE49-F238E27FC236}">
                <a16:creationId xmlns:a16="http://schemas.microsoft.com/office/drawing/2014/main" id="{D93053E5-5958-8CD7-5293-736A39A5A38B}"/>
              </a:ext>
            </a:extLst>
          </p:cNvPr>
          <p:cNvSpPr/>
          <p:nvPr/>
        </p:nvSpPr>
        <p:spPr>
          <a:xfrm>
            <a:off x="6140568" y="5315850"/>
            <a:ext cx="33264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RETMAS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内で完結した機能のため影響なし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84B6E968-A7DC-2F1E-B83F-B2EF9CA5B4C0}"/>
              </a:ext>
            </a:extLst>
          </p:cNvPr>
          <p:cNvSpPr/>
          <p:nvPr/>
        </p:nvSpPr>
        <p:spPr>
          <a:xfrm>
            <a:off x="9528618" y="5315850"/>
            <a:ext cx="2476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2E35ECA9-C10F-D256-1D34-0E9CAA8C430F}"/>
              </a:ext>
            </a:extLst>
          </p:cNvPr>
          <p:cNvSpPr/>
          <p:nvPr/>
        </p:nvSpPr>
        <p:spPr>
          <a:xfrm>
            <a:off x="955111" y="4776471"/>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バッチスケジューラ</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D1B4F5D1-B7BB-0FC7-5224-D384B0ED7169}"/>
              </a:ext>
            </a:extLst>
          </p:cNvPr>
          <p:cNvSpPr/>
          <p:nvPr/>
        </p:nvSpPr>
        <p:spPr>
          <a:xfrm>
            <a:off x="2602505" y="4776471"/>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CGU</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マスタ連携（管理会計要求）</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FA5EF1A1-C7D7-0692-7E2A-99B2BBD644F6}"/>
              </a:ext>
            </a:extLst>
          </p:cNvPr>
          <p:cNvSpPr/>
          <p:nvPr/>
        </p:nvSpPr>
        <p:spPr>
          <a:xfrm>
            <a:off x="5151158" y="4776471"/>
            <a:ext cx="424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4D491798-010A-3D99-9FAE-773524EDAF8E}"/>
              </a:ext>
            </a:extLst>
          </p:cNvPr>
          <p:cNvSpPr/>
          <p:nvPr/>
        </p:nvSpPr>
        <p:spPr>
          <a:xfrm>
            <a:off x="5647137" y="4776471"/>
            <a:ext cx="424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1E73C744-55C6-C8E4-42E2-AA5686B0035D}"/>
              </a:ext>
            </a:extLst>
          </p:cNvPr>
          <p:cNvSpPr/>
          <p:nvPr/>
        </p:nvSpPr>
        <p:spPr>
          <a:xfrm>
            <a:off x="6140568" y="4776471"/>
            <a:ext cx="33264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連携データの増減に伴い、スケジューラ設定機能の改修が必要</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9C882E48-6B3C-90F7-3332-D84076EC073A}"/>
              </a:ext>
            </a:extLst>
          </p:cNvPr>
          <p:cNvSpPr/>
          <p:nvPr/>
        </p:nvSpPr>
        <p:spPr>
          <a:xfrm>
            <a:off x="9528618" y="4776471"/>
            <a:ext cx="2476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46" name="正方形/長方形 45">
            <a:extLst>
              <a:ext uri="{FF2B5EF4-FFF2-40B4-BE49-F238E27FC236}">
                <a16:creationId xmlns:a16="http://schemas.microsoft.com/office/drawing/2014/main" id="{F0597C99-B13B-35B0-21F6-6B7F72813507}"/>
              </a:ext>
            </a:extLst>
          </p:cNvPr>
          <p:cNvSpPr/>
          <p:nvPr/>
        </p:nvSpPr>
        <p:spPr>
          <a:xfrm>
            <a:off x="955111" y="2079576"/>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販売組織別データ</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45D96D06-7C1F-2600-67D4-A1944388A535}"/>
              </a:ext>
            </a:extLst>
          </p:cNvPr>
          <p:cNvSpPr/>
          <p:nvPr/>
        </p:nvSpPr>
        <p:spPr>
          <a:xfrm>
            <a:off x="2602505" y="2079576"/>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9" name="正方形/長方形 48">
            <a:extLst>
              <a:ext uri="{FF2B5EF4-FFF2-40B4-BE49-F238E27FC236}">
                <a16:creationId xmlns:a16="http://schemas.microsoft.com/office/drawing/2014/main" id="{A88593C4-B086-B006-1641-0D6412BB991A}"/>
              </a:ext>
            </a:extLst>
          </p:cNvPr>
          <p:cNvSpPr/>
          <p:nvPr/>
        </p:nvSpPr>
        <p:spPr>
          <a:xfrm>
            <a:off x="5151158" y="2079576"/>
            <a:ext cx="424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0" name="正方形/長方形 49">
            <a:extLst>
              <a:ext uri="{FF2B5EF4-FFF2-40B4-BE49-F238E27FC236}">
                <a16:creationId xmlns:a16="http://schemas.microsoft.com/office/drawing/2014/main" id="{412FA838-9149-B62B-2DB1-0294D4EABA10}"/>
              </a:ext>
            </a:extLst>
          </p:cNvPr>
          <p:cNvSpPr/>
          <p:nvPr/>
        </p:nvSpPr>
        <p:spPr>
          <a:xfrm>
            <a:off x="5647137" y="2079576"/>
            <a:ext cx="424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1" name="正方形/長方形 50">
            <a:extLst>
              <a:ext uri="{FF2B5EF4-FFF2-40B4-BE49-F238E27FC236}">
                <a16:creationId xmlns:a16="http://schemas.microsoft.com/office/drawing/2014/main" id="{0B8B326E-8F8C-3C20-4DCB-264B5B40EE8B}"/>
              </a:ext>
            </a:extLst>
          </p:cNvPr>
          <p:cNvSpPr/>
          <p:nvPr/>
        </p:nvSpPr>
        <p:spPr>
          <a:xfrm>
            <a:off x="6140568" y="2079576"/>
            <a:ext cx="33264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勘定科目コードのコード体系変更に伴う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ロジック改修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A65AC861-C1CE-2627-4813-A8897719D4BB}"/>
              </a:ext>
            </a:extLst>
          </p:cNvPr>
          <p:cNvSpPr/>
          <p:nvPr/>
        </p:nvSpPr>
        <p:spPr>
          <a:xfrm>
            <a:off x="9528618" y="2079576"/>
            <a:ext cx="2476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63" name="正方形/長方形 62">
            <a:extLst>
              <a:ext uri="{FF2B5EF4-FFF2-40B4-BE49-F238E27FC236}">
                <a16:creationId xmlns:a16="http://schemas.microsoft.com/office/drawing/2014/main" id="{57597FFD-FDBE-67D3-986D-0CB2D19617B7}"/>
              </a:ext>
            </a:extLst>
          </p:cNvPr>
          <p:cNvSpPr/>
          <p:nvPr/>
        </p:nvSpPr>
        <p:spPr>
          <a:xfrm>
            <a:off x="955111" y="3697713"/>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マスタ管理</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F68DD194-7541-E7D1-A7D0-5B430AB3CB51}"/>
              </a:ext>
            </a:extLst>
          </p:cNvPr>
          <p:cNvSpPr/>
          <p:nvPr/>
        </p:nvSpPr>
        <p:spPr>
          <a:xfrm>
            <a:off x="2602505" y="3697713"/>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その他</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5" name="正方形/長方形 64">
            <a:extLst>
              <a:ext uri="{FF2B5EF4-FFF2-40B4-BE49-F238E27FC236}">
                <a16:creationId xmlns:a16="http://schemas.microsoft.com/office/drawing/2014/main" id="{8FEA2697-A97B-95DE-E3B9-E9987D77756B}"/>
              </a:ext>
            </a:extLst>
          </p:cNvPr>
          <p:cNvSpPr/>
          <p:nvPr/>
        </p:nvSpPr>
        <p:spPr>
          <a:xfrm>
            <a:off x="5151158" y="3697713"/>
            <a:ext cx="424800" cy="442800"/>
          </a:xfrm>
          <a:prstGeom prst="rect">
            <a:avLst/>
          </a:prstGeom>
          <a:solidFill>
            <a:schemeClr val="bg1"/>
          </a:solid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8BBE5266-C21E-B1FE-A4CA-0A5301C5055B}"/>
              </a:ext>
            </a:extLst>
          </p:cNvPr>
          <p:cNvSpPr/>
          <p:nvPr/>
        </p:nvSpPr>
        <p:spPr>
          <a:xfrm>
            <a:off x="5647137" y="3697713"/>
            <a:ext cx="424800" cy="442800"/>
          </a:xfrm>
          <a:prstGeom prst="rect">
            <a:avLst/>
          </a:prstGeom>
          <a:solidFill>
            <a:schemeClr val="bg1"/>
          </a:solid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小</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67" name="正方形/長方形 66">
            <a:extLst>
              <a:ext uri="{FF2B5EF4-FFF2-40B4-BE49-F238E27FC236}">
                <a16:creationId xmlns:a16="http://schemas.microsoft.com/office/drawing/2014/main" id="{862A406E-6E67-F4E4-309B-290F8A1F0E2F}"/>
              </a:ext>
            </a:extLst>
          </p:cNvPr>
          <p:cNvSpPr/>
          <p:nvPr/>
        </p:nvSpPr>
        <p:spPr>
          <a:xfrm>
            <a:off x="6140568" y="3697713"/>
            <a:ext cx="3326400" cy="442800"/>
          </a:xfrm>
          <a:prstGeom prst="rect">
            <a:avLst/>
          </a:prstGeom>
          <a:solidFill>
            <a:schemeClr val="bg1"/>
          </a:solid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err="1">
                <a:solidFill>
                  <a:schemeClr val="tx1">
                    <a:lumMod val="75000"/>
                    <a:lumOff val="25000"/>
                  </a:schemeClr>
                </a:solidFill>
                <a:latin typeface="Meiryo UI" panose="020B0604030504040204" pitchFamily="50" charset="-128"/>
                <a:ea typeface="Meiryo UI" panose="020B0604030504040204" pitchFamily="50" charset="-128"/>
              </a:rPr>
              <a:t>NeKo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から取得していたマスタ「仕訳パターン」の連携停止に伴い、</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RETMAS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内でメンテナンス機能構築</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CFED9A42-7B46-8976-1A8E-346766EDDCDB}"/>
              </a:ext>
            </a:extLst>
          </p:cNvPr>
          <p:cNvSpPr/>
          <p:nvPr/>
        </p:nvSpPr>
        <p:spPr>
          <a:xfrm>
            <a:off x="9528618" y="3697713"/>
            <a:ext cx="2476800" cy="442800"/>
          </a:xfrm>
          <a:prstGeom prst="rect">
            <a:avLst/>
          </a:prstGeom>
          <a:solidFill>
            <a:schemeClr val="bg1"/>
          </a:solid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a:p>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運用作業で対応する場合開発なし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A410139C-AE37-AAEE-83BE-F56D4AB32B4F}"/>
              </a:ext>
            </a:extLst>
          </p:cNvPr>
          <p:cNvSpPr/>
          <p:nvPr/>
        </p:nvSpPr>
        <p:spPr>
          <a:xfrm>
            <a:off x="955111" y="2618955"/>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伝票外データ</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UL/DL</a:t>
            </a:r>
          </a:p>
        </p:txBody>
      </p:sp>
      <p:sp>
        <p:nvSpPr>
          <p:cNvPr id="74" name="正方形/長方形 73">
            <a:extLst>
              <a:ext uri="{FF2B5EF4-FFF2-40B4-BE49-F238E27FC236}">
                <a16:creationId xmlns:a16="http://schemas.microsoft.com/office/drawing/2014/main" id="{D8563664-A135-AAFB-896A-ABFFEA23EFE6}"/>
              </a:ext>
            </a:extLst>
          </p:cNvPr>
          <p:cNvSpPr/>
          <p:nvPr/>
        </p:nvSpPr>
        <p:spPr>
          <a:xfrm>
            <a:off x="2602505" y="2618955"/>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A3766AAB-FB2E-FF9F-6956-AFC62E3F9976}"/>
              </a:ext>
            </a:extLst>
          </p:cNvPr>
          <p:cNvSpPr/>
          <p:nvPr/>
        </p:nvSpPr>
        <p:spPr>
          <a:xfrm>
            <a:off x="5151158" y="2618955"/>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76" name="正方形/長方形 75">
            <a:extLst>
              <a:ext uri="{FF2B5EF4-FFF2-40B4-BE49-F238E27FC236}">
                <a16:creationId xmlns:a16="http://schemas.microsoft.com/office/drawing/2014/main" id="{2A1FAC37-FB44-F2F0-8013-11665B07D1C4}"/>
              </a:ext>
            </a:extLst>
          </p:cNvPr>
          <p:cNvSpPr/>
          <p:nvPr/>
        </p:nvSpPr>
        <p:spPr>
          <a:xfrm>
            <a:off x="5647137" y="2618955"/>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77" name="正方形/長方形 76">
            <a:extLst>
              <a:ext uri="{FF2B5EF4-FFF2-40B4-BE49-F238E27FC236}">
                <a16:creationId xmlns:a16="http://schemas.microsoft.com/office/drawing/2014/main" id="{35E43745-E7BC-E9BD-6CA4-8F5027A69E23}"/>
              </a:ext>
            </a:extLst>
          </p:cNvPr>
          <p:cNvSpPr/>
          <p:nvPr/>
        </p:nvSpPr>
        <p:spPr>
          <a:xfrm>
            <a:off x="6140568" y="2618955"/>
            <a:ext cx="33264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科目コードに対するマイグレ対応は行わないためなし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9" name="正方形/長方形 78">
            <a:extLst>
              <a:ext uri="{FF2B5EF4-FFF2-40B4-BE49-F238E27FC236}">
                <a16:creationId xmlns:a16="http://schemas.microsoft.com/office/drawing/2014/main" id="{A74990DF-B0FF-B5A2-C90E-009629845ECB}"/>
              </a:ext>
            </a:extLst>
          </p:cNvPr>
          <p:cNvSpPr/>
          <p:nvPr/>
        </p:nvSpPr>
        <p:spPr>
          <a:xfrm>
            <a:off x="9528618" y="2618955"/>
            <a:ext cx="2476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grpSp>
        <p:nvGrpSpPr>
          <p:cNvPr id="43" name="グループ化 42">
            <a:extLst>
              <a:ext uri="{FF2B5EF4-FFF2-40B4-BE49-F238E27FC236}">
                <a16:creationId xmlns:a16="http://schemas.microsoft.com/office/drawing/2014/main" id="{829F65D7-3B83-7197-1870-84355E84CCB6}"/>
              </a:ext>
            </a:extLst>
          </p:cNvPr>
          <p:cNvGrpSpPr/>
          <p:nvPr/>
        </p:nvGrpSpPr>
        <p:grpSpPr>
          <a:xfrm>
            <a:off x="954948" y="1770730"/>
            <a:ext cx="1576963" cy="212291"/>
            <a:chOff x="4709497" y="955750"/>
            <a:chExt cx="3307096" cy="243392"/>
          </a:xfrm>
          <a:effectLst/>
        </p:grpSpPr>
        <p:sp>
          <p:nvSpPr>
            <p:cNvPr id="44" name="テキスト ボックス 43">
              <a:extLst>
                <a:ext uri="{FF2B5EF4-FFF2-40B4-BE49-F238E27FC236}">
                  <a16:creationId xmlns:a16="http://schemas.microsoft.com/office/drawing/2014/main" id="{3A9A2616-9045-88BB-06C6-A74E67CF7CA1}"/>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3" name="直線コネクタ 52">
              <a:extLst>
                <a:ext uri="{FF2B5EF4-FFF2-40B4-BE49-F238E27FC236}">
                  <a16:creationId xmlns:a16="http://schemas.microsoft.com/office/drawing/2014/main" id="{FF0B201E-A666-1FA7-722B-CDC4085EF5F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4" name="グループ化 53">
            <a:extLst>
              <a:ext uri="{FF2B5EF4-FFF2-40B4-BE49-F238E27FC236}">
                <a16:creationId xmlns:a16="http://schemas.microsoft.com/office/drawing/2014/main" id="{824C1300-A277-CDDE-B0B6-CE9334D26EFA}"/>
              </a:ext>
            </a:extLst>
          </p:cNvPr>
          <p:cNvGrpSpPr/>
          <p:nvPr/>
        </p:nvGrpSpPr>
        <p:grpSpPr>
          <a:xfrm>
            <a:off x="2602505" y="1770730"/>
            <a:ext cx="2476800" cy="212291"/>
            <a:chOff x="4709497" y="955750"/>
            <a:chExt cx="1936622" cy="243392"/>
          </a:xfrm>
          <a:effectLst/>
        </p:grpSpPr>
        <p:sp>
          <p:nvSpPr>
            <p:cNvPr id="61" name="テキスト ボックス 60">
              <a:extLst>
                <a:ext uri="{FF2B5EF4-FFF2-40B4-BE49-F238E27FC236}">
                  <a16:creationId xmlns:a16="http://schemas.microsoft.com/office/drawing/2014/main" id="{3BFDBC01-04D5-1E80-01FC-EBB4408E78B6}"/>
                </a:ext>
              </a:extLst>
            </p:cNvPr>
            <p:cNvSpPr txBox="1">
              <a:spLocks noChangeArrowheads="1"/>
            </p:cNvSpPr>
            <p:nvPr/>
          </p:nvSpPr>
          <p:spPr bwMode="auto">
            <a:xfrm>
              <a:off x="4709497" y="955750"/>
              <a:ext cx="1936622"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2" name="直線コネクタ 61">
              <a:extLst>
                <a:ext uri="{FF2B5EF4-FFF2-40B4-BE49-F238E27FC236}">
                  <a16:creationId xmlns:a16="http://schemas.microsoft.com/office/drawing/2014/main" id="{E0EA4585-1832-EDBF-B1E2-AE336E0E2CD9}"/>
                </a:ext>
              </a:extLst>
            </p:cNvPr>
            <p:cNvCxnSpPr/>
            <p:nvPr/>
          </p:nvCxnSpPr>
          <p:spPr bwMode="auto">
            <a:xfrm>
              <a:off x="4709497" y="1194770"/>
              <a:ext cx="1936622"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8" name="グループ化 77">
            <a:extLst>
              <a:ext uri="{FF2B5EF4-FFF2-40B4-BE49-F238E27FC236}">
                <a16:creationId xmlns:a16="http://schemas.microsoft.com/office/drawing/2014/main" id="{7BBD7962-B3B7-7D37-53BD-5439B6C26843}"/>
              </a:ext>
            </a:extLst>
          </p:cNvPr>
          <p:cNvGrpSpPr/>
          <p:nvPr/>
        </p:nvGrpSpPr>
        <p:grpSpPr>
          <a:xfrm>
            <a:off x="5150573" y="1460389"/>
            <a:ext cx="6854845" cy="212291"/>
            <a:chOff x="4709497" y="955750"/>
            <a:chExt cx="3307096" cy="243392"/>
          </a:xfrm>
          <a:effectLst/>
        </p:grpSpPr>
        <p:sp>
          <p:nvSpPr>
            <p:cNvPr id="80" name="テキスト ボックス 79">
              <a:extLst>
                <a:ext uri="{FF2B5EF4-FFF2-40B4-BE49-F238E27FC236}">
                  <a16:creationId xmlns:a16="http://schemas.microsoft.com/office/drawing/2014/main" id="{D93A824E-1962-50E3-3E16-8DD8691846FD}"/>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1" name="直線コネクタ 80">
              <a:extLst>
                <a:ext uri="{FF2B5EF4-FFF2-40B4-BE49-F238E27FC236}">
                  <a16:creationId xmlns:a16="http://schemas.microsoft.com/office/drawing/2014/main" id="{DA1F2824-82A3-F4DC-E169-0EBFA0610ADF}"/>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2" name="グループ化 81">
            <a:extLst>
              <a:ext uri="{FF2B5EF4-FFF2-40B4-BE49-F238E27FC236}">
                <a16:creationId xmlns:a16="http://schemas.microsoft.com/office/drawing/2014/main" id="{D95D0F57-6B17-1E90-8749-9EF3E1CA60F0}"/>
              </a:ext>
            </a:extLst>
          </p:cNvPr>
          <p:cNvGrpSpPr/>
          <p:nvPr/>
        </p:nvGrpSpPr>
        <p:grpSpPr>
          <a:xfrm>
            <a:off x="5646553" y="1770730"/>
            <a:ext cx="425384" cy="212291"/>
            <a:chOff x="4709497" y="955750"/>
            <a:chExt cx="3307096" cy="243392"/>
          </a:xfrm>
          <a:effectLst/>
        </p:grpSpPr>
        <p:sp>
          <p:nvSpPr>
            <p:cNvPr id="83" name="テキスト ボックス 82">
              <a:extLst>
                <a:ext uri="{FF2B5EF4-FFF2-40B4-BE49-F238E27FC236}">
                  <a16:creationId xmlns:a16="http://schemas.microsoft.com/office/drawing/2014/main" id="{4115B178-F632-433F-C95D-2908B0F6E901}"/>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4" name="直線コネクタ 83">
              <a:extLst>
                <a:ext uri="{FF2B5EF4-FFF2-40B4-BE49-F238E27FC236}">
                  <a16:creationId xmlns:a16="http://schemas.microsoft.com/office/drawing/2014/main" id="{1A317C92-3D7E-3472-0209-1A11744424C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5" name="グループ化 84">
            <a:extLst>
              <a:ext uri="{FF2B5EF4-FFF2-40B4-BE49-F238E27FC236}">
                <a16:creationId xmlns:a16="http://schemas.microsoft.com/office/drawing/2014/main" id="{FCF175BF-CD3F-8009-BD0B-8BACDA26B590}"/>
              </a:ext>
            </a:extLst>
          </p:cNvPr>
          <p:cNvGrpSpPr/>
          <p:nvPr/>
        </p:nvGrpSpPr>
        <p:grpSpPr>
          <a:xfrm>
            <a:off x="5150574" y="1766917"/>
            <a:ext cx="425384" cy="212291"/>
            <a:chOff x="4709497" y="955750"/>
            <a:chExt cx="3307096" cy="243392"/>
          </a:xfrm>
          <a:effectLst/>
        </p:grpSpPr>
        <p:sp>
          <p:nvSpPr>
            <p:cNvPr id="86" name="テキスト ボックス 85">
              <a:extLst>
                <a:ext uri="{FF2B5EF4-FFF2-40B4-BE49-F238E27FC236}">
                  <a16:creationId xmlns:a16="http://schemas.microsoft.com/office/drawing/2014/main" id="{A0D3B5DF-983B-4A92-837A-39556FBCE8F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7" name="直線コネクタ 86">
              <a:extLst>
                <a:ext uri="{FF2B5EF4-FFF2-40B4-BE49-F238E27FC236}">
                  <a16:creationId xmlns:a16="http://schemas.microsoft.com/office/drawing/2014/main" id="{C576B343-AB1A-0BB1-55A2-578A7AE6934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8" name="グループ化 87">
            <a:extLst>
              <a:ext uri="{FF2B5EF4-FFF2-40B4-BE49-F238E27FC236}">
                <a16:creationId xmlns:a16="http://schemas.microsoft.com/office/drawing/2014/main" id="{1B93AD30-5EC0-54BE-6B61-D28008DA4317}"/>
              </a:ext>
            </a:extLst>
          </p:cNvPr>
          <p:cNvGrpSpPr/>
          <p:nvPr/>
        </p:nvGrpSpPr>
        <p:grpSpPr>
          <a:xfrm>
            <a:off x="6142530" y="1766917"/>
            <a:ext cx="3324438" cy="212291"/>
            <a:chOff x="4709497" y="955750"/>
            <a:chExt cx="3307096" cy="243392"/>
          </a:xfrm>
          <a:effectLst/>
        </p:grpSpPr>
        <p:sp>
          <p:nvSpPr>
            <p:cNvPr id="89" name="テキスト ボックス 88">
              <a:extLst>
                <a:ext uri="{FF2B5EF4-FFF2-40B4-BE49-F238E27FC236}">
                  <a16:creationId xmlns:a16="http://schemas.microsoft.com/office/drawing/2014/main" id="{AA20D99E-B277-B55D-3735-3DB4B0D2D6D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0" name="直線コネクタ 89">
              <a:extLst>
                <a:ext uri="{FF2B5EF4-FFF2-40B4-BE49-F238E27FC236}">
                  <a16:creationId xmlns:a16="http://schemas.microsoft.com/office/drawing/2014/main" id="{9E455F94-99BD-D9C9-8B29-14E714A6EE44}"/>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1" name="グループ化 90">
            <a:extLst>
              <a:ext uri="{FF2B5EF4-FFF2-40B4-BE49-F238E27FC236}">
                <a16:creationId xmlns:a16="http://schemas.microsoft.com/office/drawing/2014/main" id="{A97DA7AA-E01A-2CD7-6179-C68156E8EB6D}"/>
              </a:ext>
            </a:extLst>
          </p:cNvPr>
          <p:cNvGrpSpPr/>
          <p:nvPr/>
        </p:nvGrpSpPr>
        <p:grpSpPr>
          <a:xfrm>
            <a:off x="9527942" y="1770730"/>
            <a:ext cx="2477476" cy="212291"/>
            <a:chOff x="4709497" y="955750"/>
            <a:chExt cx="3307096" cy="243392"/>
          </a:xfrm>
          <a:effectLst/>
        </p:grpSpPr>
        <p:sp>
          <p:nvSpPr>
            <p:cNvPr id="92" name="テキスト ボックス 91">
              <a:extLst>
                <a:ext uri="{FF2B5EF4-FFF2-40B4-BE49-F238E27FC236}">
                  <a16:creationId xmlns:a16="http://schemas.microsoft.com/office/drawing/2014/main" id="{F7755529-F747-E66C-5B18-955104B8712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3" name="直線コネクタ 92">
              <a:extLst>
                <a:ext uri="{FF2B5EF4-FFF2-40B4-BE49-F238E27FC236}">
                  <a16:creationId xmlns:a16="http://schemas.microsoft.com/office/drawing/2014/main" id="{DC2A7C4A-77D9-7195-7790-B13F6454D6EF}"/>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94" name="正方形/長方形 93">
            <a:extLst>
              <a:ext uri="{FF2B5EF4-FFF2-40B4-BE49-F238E27FC236}">
                <a16:creationId xmlns:a16="http://schemas.microsoft.com/office/drawing/2014/main" id="{2C4099A4-46F5-08B4-C896-044D96FD5467}"/>
              </a:ext>
            </a:extLst>
          </p:cNvPr>
          <p:cNvSpPr/>
          <p:nvPr/>
        </p:nvSpPr>
        <p:spPr bwMode="auto">
          <a:xfrm>
            <a:off x="186827" y="2079576"/>
            <a:ext cx="697526" cy="4218453"/>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a:solidFill>
                  <a:schemeClr val="bg1"/>
                </a:solidFill>
                <a:latin typeface="Meiryo UI" panose="020B0604030504040204" pitchFamily="50" charset="-128"/>
                <a:ea typeface="Meiryo UI" panose="020B0604030504040204" pitchFamily="50" charset="-128"/>
              </a:rPr>
              <a:t>RETMAS</a:t>
            </a:r>
          </a:p>
        </p:txBody>
      </p:sp>
      <p:sp>
        <p:nvSpPr>
          <p:cNvPr id="95" name="コンテンツ プレースホルダー 5">
            <a:extLst>
              <a:ext uri="{FF2B5EF4-FFF2-40B4-BE49-F238E27FC236}">
                <a16:creationId xmlns:a16="http://schemas.microsoft.com/office/drawing/2014/main" id="{B57E385A-FDBC-6C1D-935E-8D6212B1277E}"/>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RETMAS</a:t>
            </a:r>
            <a:r>
              <a:rPr lang="ja-JP" altLang="en-US" sz="1600"/>
              <a:t>の各機能における改修内容と規模は以下。</a:t>
            </a:r>
          </a:p>
        </p:txBody>
      </p:sp>
      <p:sp>
        <p:nvSpPr>
          <p:cNvPr id="100" name="タイトル 2">
            <a:extLst>
              <a:ext uri="{FF2B5EF4-FFF2-40B4-BE49-F238E27FC236}">
                <a16:creationId xmlns:a16="http://schemas.microsoft.com/office/drawing/2014/main" id="{2818156A-1C48-58AC-C55F-A52FA4055ADE}"/>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RETMAS</a:t>
            </a:r>
            <a:r>
              <a:rPr lang="ja-JP" altLang="en-US" kern="0" dirty="0"/>
              <a:t>）③</a:t>
            </a:r>
          </a:p>
        </p:txBody>
      </p:sp>
      <p:sp>
        <p:nvSpPr>
          <p:cNvPr id="101" name="スライド番号プレースホルダー 3">
            <a:extLst>
              <a:ext uri="{FF2B5EF4-FFF2-40B4-BE49-F238E27FC236}">
                <a16:creationId xmlns:a16="http://schemas.microsoft.com/office/drawing/2014/main" id="{EAFD3472-D902-A958-CB75-1A0D199E065F}"/>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31</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41011504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041CBBD5-1E8F-1F21-A465-6DA5B6DDDA87}"/>
              </a:ext>
            </a:extLst>
          </p:cNvPr>
          <p:cNvSpPr/>
          <p:nvPr/>
        </p:nvSpPr>
        <p:spPr>
          <a:xfrm>
            <a:off x="954948" y="2079577"/>
            <a:ext cx="1576800" cy="970556"/>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IF</a:t>
            </a:r>
            <a:r>
              <a:rPr kumimoji="1" lang="ja-JP" altLang="en-US"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連携先の変更</a:t>
            </a:r>
            <a:endParaRPr kumimoji="1" lang="en-US" altLang="ja-JP"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7" name="正方形/長方形 16">
            <a:extLst>
              <a:ext uri="{FF2B5EF4-FFF2-40B4-BE49-F238E27FC236}">
                <a16:creationId xmlns:a16="http://schemas.microsoft.com/office/drawing/2014/main" id="{A9BD3A7C-0B48-1ABD-6728-1B9CBBF1502E}"/>
              </a:ext>
            </a:extLst>
          </p:cNvPr>
          <p:cNvSpPr/>
          <p:nvPr/>
        </p:nvSpPr>
        <p:spPr>
          <a:xfrm>
            <a:off x="2603181" y="2079577"/>
            <a:ext cx="2476800" cy="970556"/>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とんぺい→ツバサからとんぺい→</a:t>
            </a:r>
            <a:r>
              <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NEXUS</a:t>
            </a: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a:t>
            </a:r>
            <a:r>
              <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SAP</a:t>
            </a: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に</a:t>
            </a:r>
            <a:r>
              <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IF</a:t>
            </a: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連携先が変更になることに伴い、</a:t>
            </a:r>
            <a:r>
              <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IF</a:t>
            </a: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レイアウトやデータ連携内容の変更を行う</a:t>
            </a:r>
            <a:endPar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8" name="正方形/長方形 27">
            <a:extLst>
              <a:ext uri="{FF2B5EF4-FFF2-40B4-BE49-F238E27FC236}">
                <a16:creationId xmlns:a16="http://schemas.microsoft.com/office/drawing/2014/main" id="{D72CDF4A-0CB0-063E-2199-7BA44E450E8A}"/>
              </a:ext>
            </a:extLst>
          </p:cNvPr>
          <p:cNvSpPr/>
          <p:nvPr/>
        </p:nvSpPr>
        <p:spPr>
          <a:xfrm>
            <a:off x="5151158" y="2079577"/>
            <a:ext cx="424800" cy="970556"/>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400">
                <a:solidFill>
                  <a:srgbClr val="000000">
                    <a:lumMod val="75000"/>
                    <a:lumOff val="25000"/>
                  </a:srgbClr>
                </a:solidFill>
                <a:latin typeface="Meiryo UI" panose="020B0604030504040204" pitchFamily="50" charset="-128"/>
                <a:ea typeface="Meiryo UI" panose="020B0604030504040204" pitchFamily="50" charset="-128"/>
              </a:rPr>
              <a:t>〇</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4" name="正方形/長方形 33">
            <a:extLst>
              <a:ext uri="{FF2B5EF4-FFF2-40B4-BE49-F238E27FC236}">
                <a16:creationId xmlns:a16="http://schemas.microsoft.com/office/drawing/2014/main" id="{DC75F56B-4C35-AC90-4301-373C4DB106F0}"/>
              </a:ext>
            </a:extLst>
          </p:cNvPr>
          <p:cNvSpPr/>
          <p:nvPr/>
        </p:nvSpPr>
        <p:spPr>
          <a:xfrm>
            <a:off x="5647137" y="2079577"/>
            <a:ext cx="424800" cy="970556"/>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大</a:t>
            </a:r>
            <a:endParaRPr kumimoji="1" lang="en-US" altLang="ja-JP" sz="14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endParaRPr>
          </a:p>
        </p:txBody>
      </p:sp>
      <p:sp>
        <p:nvSpPr>
          <p:cNvPr id="27" name="正方形/長方形 26">
            <a:extLst>
              <a:ext uri="{FF2B5EF4-FFF2-40B4-BE49-F238E27FC236}">
                <a16:creationId xmlns:a16="http://schemas.microsoft.com/office/drawing/2014/main" id="{22F6FD04-0C79-05F2-183B-AD05132A93A5}"/>
              </a:ext>
            </a:extLst>
          </p:cNvPr>
          <p:cNvSpPr/>
          <p:nvPr/>
        </p:nvSpPr>
        <p:spPr>
          <a:xfrm>
            <a:off x="6140568" y="2079577"/>
            <a:ext cx="3326400" cy="970556"/>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ja-JP" sz="1100" b="0" i="0" u="none" strike="noStrike" kern="1200" cap="none" spc="0" normalizeH="0" baseline="0" noProof="0">
                <a:ln>
                  <a:noFill/>
                </a:ln>
                <a:solidFill>
                  <a:srgbClr val="FF0000"/>
                </a:solidFill>
                <a:effectLst/>
                <a:uLnTx/>
                <a:uFillTx/>
                <a:latin typeface="Meiryo UI"/>
                <a:ea typeface="Meiryo UI"/>
                <a:cs typeface="+mn-cs"/>
              </a:rPr>
              <a:t>SAP</a:t>
            </a: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用の</a:t>
            </a:r>
            <a:r>
              <a:rPr kumimoji="1" lang="en-US" altLang="ja-JP" sz="1100" b="0" i="0" u="none" strike="noStrike" kern="1200" cap="none" spc="0" normalizeH="0" baseline="0" noProof="0">
                <a:ln>
                  <a:noFill/>
                </a:ln>
                <a:solidFill>
                  <a:srgbClr val="FF0000"/>
                </a:solidFill>
                <a:effectLst/>
                <a:uLnTx/>
                <a:uFillTx/>
                <a:latin typeface="Meiryo UI"/>
                <a:ea typeface="Meiryo UI"/>
                <a:cs typeface="+mn-cs"/>
              </a:rPr>
              <a:t>IF</a:t>
            </a: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レイアウトや項目定義に変更を行う</a:t>
            </a:r>
            <a:endParaRPr kumimoji="1" lang="en-US" altLang="ja-JP" sz="1100" b="0" i="0" u="none" strike="noStrike" kern="1200" cap="none" spc="0" normalizeH="0" baseline="0" noProof="0">
              <a:ln>
                <a:noFill/>
              </a:ln>
              <a:solidFill>
                <a:srgbClr val="FF0000"/>
              </a:solidFill>
              <a:effectLst/>
              <a:uLnTx/>
              <a:uFillTx/>
              <a:latin typeface="Meiryo UI"/>
              <a:ea typeface="Meiryo UI"/>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ツバサから</a:t>
            </a:r>
            <a:r>
              <a:rPr kumimoji="1" lang="en-US" altLang="ja-JP" sz="1100" b="0" i="0" u="none" strike="noStrike" kern="1200" cap="none" spc="0" normalizeH="0" baseline="0" noProof="0">
                <a:ln>
                  <a:noFill/>
                </a:ln>
                <a:solidFill>
                  <a:srgbClr val="FF0000"/>
                </a:solidFill>
                <a:effectLst/>
                <a:uLnTx/>
                <a:uFillTx/>
                <a:latin typeface="Meiryo UI"/>
                <a:ea typeface="Meiryo UI"/>
                <a:cs typeface="+mn-cs"/>
              </a:rPr>
              <a:t>NEXUS</a:t>
            </a: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向けに</a:t>
            </a:r>
            <a:r>
              <a:rPr kumimoji="1" lang="en-US" altLang="ja-JP" sz="1100" b="0" i="0" u="none" strike="noStrike" kern="1200" cap="none" spc="0" normalizeH="0" baseline="0" noProof="0">
                <a:ln>
                  <a:noFill/>
                </a:ln>
                <a:solidFill>
                  <a:srgbClr val="FF0000"/>
                </a:solidFill>
                <a:effectLst/>
                <a:uLnTx/>
                <a:uFillTx/>
                <a:latin typeface="Meiryo UI"/>
                <a:ea typeface="Meiryo UI"/>
                <a:cs typeface="+mn-cs"/>
              </a:rPr>
              <a:t>IF</a:t>
            </a: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できるよう連携方式を変更する</a:t>
            </a:r>
            <a:endParaRPr kumimoji="1" lang="en-US" altLang="ja-JP" sz="1100" b="0" i="0" u="none" strike="noStrike" kern="1200" cap="none" spc="0" normalizeH="0" baseline="0" noProof="0">
              <a:ln>
                <a:noFill/>
              </a:ln>
              <a:solidFill>
                <a:srgbClr val="FF0000"/>
              </a:solidFill>
              <a:effectLst/>
              <a:uLnTx/>
              <a:uFillTx/>
              <a:latin typeface="Meiryo UI"/>
              <a:ea typeface="Meiryo UI"/>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ja-JP" sz="1100" b="0" i="0" u="none" strike="noStrike" kern="1200" cap="none" spc="0" normalizeH="0" baseline="0" noProof="0">
                <a:ln>
                  <a:noFill/>
                </a:ln>
                <a:solidFill>
                  <a:srgbClr val="FF0000"/>
                </a:solidFill>
                <a:effectLst/>
                <a:uLnTx/>
                <a:uFillTx/>
                <a:latin typeface="Meiryo UI"/>
                <a:ea typeface="Meiryo UI"/>
                <a:cs typeface="+mn-cs"/>
              </a:rPr>
              <a:t>SAP</a:t>
            </a: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の支払結果ととんぺい支払計算結果を照合するためのデータ作成ツールの改修</a:t>
            </a:r>
            <a:endParaRPr kumimoji="1" lang="en-US" altLang="ja-JP" sz="1100" b="0" i="0" u="none" strike="noStrike" kern="1200" cap="none" spc="0" normalizeH="0" baseline="0" noProof="0">
              <a:ln>
                <a:noFill/>
              </a:ln>
              <a:solidFill>
                <a:srgbClr val="FF0000"/>
              </a:solidFill>
              <a:effectLst/>
              <a:uLnTx/>
              <a:uFillTx/>
              <a:latin typeface="Meiryo UI"/>
              <a:ea typeface="Meiryo UI"/>
              <a:cs typeface="+mn-cs"/>
            </a:endParaRPr>
          </a:p>
        </p:txBody>
      </p:sp>
      <p:sp>
        <p:nvSpPr>
          <p:cNvPr id="74" name="正方形/長方形 73">
            <a:extLst>
              <a:ext uri="{FF2B5EF4-FFF2-40B4-BE49-F238E27FC236}">
                <a16:creationId xmlns:a16="http://schemas.microsoft.com/office/drawing/2014/main" id="{2075B722-BB01-A86E-5F54-68D0EBB7B31B}"/>
              </a:ext>
            </a:extLst>
          </p:cNvPr>
          <p:cNvSpPr/>
          <p:nvPr/>
        </p:nvSpPr>
        <p:spPr>
          <a:xfrm>
            <a:off x="9528618" y="2079577"/>
            <a:ext cx="2476800" cy="970556"/>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a:ea typeface="Meiryo UI"/>
                <a:cs typeface="+mn-cs"/>
              </a:rPr>
              <a:t>●ブレ要素</a:t>
            </a:r>
            <a:br>
              <a:rPr kumimoji="1" lang="en-US" altLang="ja-JP" sz="1000" b="0" i="0" u="none" strike="noStrike" kern="1200" cap="none" spc="0" normalizeH="0" baseline="0" noProof="0">
                <a:ln>
                  <a:noFill/>
                </a:ln>
                <a:solidFill>
                  <a:srgbClr val="FF0000"/>
                </a:solidFill>
                <a:effectLst/>
                <a:uLnTx/>
                <a:uFillTx/>
                <a:latin typeface="Meiryo UI"/>
                <a:ea typeface="Meiryo UI"/>
                <a:cs typeface="+mn-cs"/>
              </a:rPr>
            </a:br>
            <a:r>
              <a:rPr kumimoji="1" lang="ja-JP" altLang="en-US" sz="1000" b="0" i="0" u="none" strike="noStrike" kern="1200" cap="none" spc="0" normalizeH="0" baseline="0" noProof="0">
                <a:ln>
                  <a:noFill/>
                </a:ln>
                <a:solidFill>
                  <a:srgbClr val="FF0000"/>
                </a:solidFill>
                <a:effectLst/>
                <a:uLnTx/>
                <a:uFillTx/>
                <a:latin typeface="Meiryo UI"/>
                <a:ea typeface="Meiryo UI"/>
                <a:cs typeface="+mn-cs"/>
              </a:rPr>
              <a:t>・相手先システムのシステム上の制約（システム上必須チェックになっている等）により連携内容を変更する可能性がある</a:t>
            </a:r>
            <a:endParaRPr kumimoji="1" lang="en-US" altLang="ja-JP" sz="1000" b="0" i="0" u="none" strike="noStrike" kern="1200" cap="none" spc="0" normalizeH="0" baseline="0" noProof="0">
              <a:ln>
                <a:noFill/>
              </a:ln>
              <a:solidFill>
                <a:srgbClr val="FF0000"/>
              </a:solidFill>
              <a:effectLst/>
              <a:uLnTx/>
              <a:uFillTx/>
              <a:latin typeface="Meiryo UI"/>
              <a:ea typeface="Meiryo UI"/>
              <a:cs typeface="+mn-cs"/>
            </a:endParaRPr>
          </a:p>
        </p:txBody>
      </p:sp>
      <p:sp>
        <p:nvSpPr>
          <p:cNvPr id="64" name="正方形/長方形 63">
            <a:extLst>
              <a:ext uri="{FF2B5EF4-FFF2-40B4-BE49-F238E27FC236}">
                <a16:creationId xmlns:a16="http://schemas.microsoft.com/office/drawing/2014/main" id="{BCE24CA0-0550-F6A7-323C-7B01027E0ABD}"/>
              </a:ext>
            </a:extLst>
          </p:cNvPr>
          <p:cNvSpPr/>
          <p:nvPr/>
        </p:nvSpPr>
        <p:spPr>
          <a:xfrm>
            <a:off x="954948" y="4218120"/>
            <a:ext cx="1576800" cy="123468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トレーサビリティ対応のための支払明細取込件数上限の解消</a:t>
            </a:r>
            <a:endParaRPr kumimoji="1" lang="en-US" altLang="ja-JP"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65" name="正方形/長方形 64">
            <a:extLst>
              <a:ext uri="{FF2B5EF4-FFF2-40B4-BE49-F238E27FC236}">
                <a16:creationId xmlns:a16="http://schemas.microsoft.com/office/drawing/2014/main" id="{1AC19C9D-19EC-5AE6-AD18-8730644797EC}"/>
              </a:ext>
            </a:extLst>
          </p:cNvPr>
          <p:cNvSpPr/>
          <p:nvPr/>
        </p:nvSpPr>
        <p:spPr>
          <a:xfrm>
            <a:off x="2603181" y="4218120"/>
            <a:ext cx="2476800" cy="123468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とんぺい経由の支払についてのトレーサビリティ要件を満たすため、未集計の支払データをとりこめるようにする必要がある</a:t>
            </a:r>
            <a:endParaRPr kumimoji="1" lang="en-US" altLang="ja-JP"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現状：上限件数の制約により、とんぺいの外で支払先単位で集計したものを取り込んでいる</a:t>
            </a:r>
            <a:endParaRPr kumimoji="1" lang="en-US" altLang="ja-JP"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66" name="正方形/長方形 65">
            <a:extLst>
              <a:ext uri="{FF2B5EF4-FFF2-40B4-BE49-F238E27FC236}">
                <a16:creationId xmlns:a16="http://schemas.microsoft.com/office/drawing/2014/main" id="{A3E14884-4847-7096-581D-67F759720CAB}"/>
              </a:ext>
            </a:extLst>
          </p:cNvPr>
          <p:cNvSpPr/>
          <p:nvPr/>
        </p:nvSpPr>
        <p:spPr>
          <a:xfrm>
            <a:off x="5151158" y="4218120"/>
            <a:ext cx="424800" cy="123468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400">
                <a:solidFill>
                  <a:srgbClr val="404040"/>
                </a:solidFill>
                <a:latin typeface="Meiryo UI" panose="020B0604030504040204" pitchFamily="50" charset="-128"/>
                <a:ea typeface="Meiryo UI" panose="020B0604030504040204" pitchFamily="50" charset="-128"/>
              </a:rPr>
              <a:t>〇</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67" name="正方形/長方形 66">
            <a:extLst>
              <a:ext uri="{FF2B5EF4-FFF2-40B4-BE49-F238E27FC236}">
                <a16:creationId xmlns:a16="http://schemas.microsoft.com/office/drawing/2014/main" id="{44570AD1-72A1-D324-5136-0D6CC3C4B09E}"/>
              </a:ext>
            </a:extLst>
          </p:cNvPr>
          <p:cNvSpPr/>
          <p:nvPr/>
        </p:nvSpPr>
        <p:spPr>
          <a:xfrm>
            <a:off x="5647137" y="4218120"/>
            <a:ext cx="424800" cy="123468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中</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68" name="正方形/長方形 67">
            <a:extLst>
              <a:ext uri="{FF2B5EF4-FFF2-40B4-BE49-F238E27FC236}">
                <a16:creationId xmlns:a16="http://schemas.microsoft.com/office/drawing/2014/main" id="{FC45C634-BC30-FED9-7E98-D6598430C436}"/>
              </a:ext>
            </a:extLst>
          </p:cNvPr>
          <p:cNvSpPr/>
          <p:nvPr/>
        </p:nvSpPr>
        <p:spPr>
          <a:xfrm>
            <a:off x="6140568" y="4218120"/>
            <a:ext cx="3326400" cy="123468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一定件数でファイルを分割することで支払データ取込時の上限件数を解消</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取込処理のメモリ消費量を抑えることで、支払データ取込時の上限件数を解消</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75" name="正方形/長方形 74">
            <a:extLst>
              <a:ext uri="{FF2B5EF4-FFF2-40B4-BE49-F238E27FC236}">
                <a16:creationId xmlns:a16="http://schemas.microsoft.com/office/drawing/2014/main" id="{ACA4EDB2-0852-B7B3-59E7-E7DEC30E1661}"/>
              </a:ext>
            </a:extLst>
          </p:cNvPr>
          <p:cNvSpPr/>
          <p:nvPr/>
        </p:nvSpPr>
        <p:spPr>
          <a:xfrm>
            <a:off x="9528618" y="4218120"/>
            <a:ext cx="2476800" cy="123468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100" b="0" i="0" u="none" strike="noStrike" kern="1200" cap="none" spc="0" normalizeH="0" baseline="0" noProof="0">
                <a:ln>
                  <a:noFill/>
                </a:ln>
                <a:solidFill>
                  <a:srgbClr val="404040"/>
                </a:solidFill>
                <a:effectLst/>
                <a:uLnTx/>
                <a:uFillTx/>
                <a:latin typeface="Meiryo UI"/>
                <a:ea typeface="Meiryo UI"/>
                <a:cs typeface="+mn-cs"/>
              </a:rPr>
              <a:t>●ブレ要素</a:t>
            </a:r>
            <a:br>
              <a:rPr kumimoji="1" lang="en-US" altLang="ja-JP" sz="1100" b="0" i="0" u="none" strike="noStrike" kern="1200" cap="none" spc="0" normalizeH="0" baseline="0" noProof="0">
                <a:ln>
                  <a:noFill/>
                </a:ln>
                <a:solidFill>
                  <a:srgbClr val="404040"/>
                </a:solidFill>
                <a:effectLst/>
                <a:uLnTx/>
                <a:uFillTx/>
                <a:latin typeface="Meiryo UI"/>
                <a:ea typeface="Meiryo UI"/>
                <a:cs typeface="+mn-cs"/>
              </a:rPr>
            </a:br>
            <a:r>
              <a:rPr kumimoji="1" lang="ja-JP" altLang="en-US" sz="1100" b="0" i="0" u="none" strike="noStrike" kern="1200" cap="none" spc="0" normalizeH="0" baseline="0" noProof="0">
                <a:ln>
                  <a:noFill/>
                </a:ln>
                <a:solidFill>
                  <a:srgbClr val="404040"/>
                </a:solidFill>
                <a:effectLst/>
                <a:uLnTx/>
                <a:uFillTx/>
                <a:latin typeface="Meiryo UI"/>
                <a:ea typeface="Meiryo UI"/>
                <a:cs typeface="+mn-cs"/>
              </a:rPr>
              <a:t>・なし</a:t>
            </a:r>
            <a:endParaRPr kumimoji="1" lang="en-US" altLang="ja-JP" sz="1100" b="0" i="0" u="none" strike="noStrike" kern="1200" cap="none" spc="0" normalizeH="0" baseline="0" noProof="0">
              <a:ln>
                <a:noFill/>
              </a:ln>
              <a:solidFill>
                <a:srgbClr val="404040"/>
              </a:solidFill>
              <a:effectLst/>
              <a:uLnTx/>
              <a:uFillTx/>
              <a:latin typeface="Meiryo UI"/>
              <a:ea typeface="Meiryo UI"/>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7" name="正方形/長方形 6">
            <a:extLst>
              <a:ext uri="{FF2B5EF4-FFF2-40B4-BE49-F238E27FC236}">
                <a16:creationId xmlns:a16="http://schemas.microsoft.com/office/drawing/2014/main" id="{157003E0-C29F-8AE8-5904-732EB50B5222}"/>
              </a:ext>
            </a:extLst>
          </p:cNvPr>
          <p:cNvSpPr/>
          <p:nvPr/>
        </p:nvSpPr>
        <p:spPr>
          <a:xfrm>
            <a:off x="954948" y="3148849"/>
            <a:ext cx="1576800" cy="970555"/>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銀行休日を考慮した支払日設定の機能をツバサ→とんぺいに移管</a:t>
            </a:r>
            <a:endParaRPr kumimoji="1" lang="en-US" altLang="ja-JP"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8" name="正方形/長方形 17">
            <a:extLst>
              <a:ext uri="{FF2B5EF4-FFF2-40B4-BE49-F238E27FC236}">
                <a16:creationId xmlns:a16="http://schemas.microsoft.com/office/drawing/2014/main" id="{B3081C8F-B1E0-243B-FA12-EC96CC3B86E9}"/>
              </a:ext>
            </a:extLst>
          </p:cNvPr>
          <p:cNvSpPr/>
          <p:nvPr/>
        </p:nvSpPr>
        <p:spPr>
          <a:xfrm>
            <a:off x="2603181" y="3148849"/>
            <a:ext cx="2476800" cy="970555"/>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銀行休日の補正はこれまでツバサで行っていたが、</a:t>
            </a:r>
            <a:r>
              <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SAP</a:t>
            </a: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には該当する機能がないため、とんぺいに「銀行休日マスタ」を持たせて、それを考慮した支払日設定を行う</a:t>
            </a:r>
            <a:endPar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9" name="正方形/長方形 18">
            <a:extLst>
              <a:ext uri="{FF2B5EF4-FFF2-40B4-BE49-F238E27FC236}">
                <a16:creationId xmlns:a16="http://schemas.microsoft.com/office/drawing/2014/main" id="{3B4F2534-BE26-8709-BA28-298F2C31FFD6}"/>
              </a:ext>
            </a:extLst>
          </p:cNvPr>
          <p:cNvSpPr/>
          <p:nvPr/>
        </p:nvSpPr>
        <p:spPr>
          <a:xfrm>
            <a:off x="5151158" y="3148849"/>
            <a:ext cx="424800" cy="970555"/>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400">
                <a:solidFill>
                  <a:srgbClr val="404040"/>
                </a:solidFill>
                <a:latin typeface="Meiryo UI" panose="020B0604030504040204" pitchFamily="50" charset="-128"/>
                <a:ea typeface="Meiryo UI" panose="020B0604030504040204" pitchFamily="50" charset="-128"/>
              </a:rPr>
              <a:t>〇</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20" name="正方形/長方形 19">
            <a:extLst>
              <a:ext uri="{FF2B5EF4-FFF2-40B4-BE49-F238E27FC236}">
                <a16:creationId xmlns:a16="http://schemas.microsoft.com/office/drawing/2014/main" id="{B014529C-0074-20ED-2BB5-AC02BD1ABE56}"/>
              </a:ext>
            </a:extLst>
          </p:cNvPr>
          <p:cNvSpPr/>
          <p:nvPr/>
        </p:nvSpPr>
        <p:spPr>
          <a:xfrm>
            <a:off x="5647137" y="3148849"/>
            <a:ext cx="424800" cy="970555"/>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中</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21" name="正方形/長方形 20">
            <a:extLst>
              <a:ext uri="{FF2B5EF4-FFF2-40B4-BE49-F238E27FC236}">
                <a16:creationId xmlns:a16="http://schemas.microsoft.com/office/drawing/2014/main" id="{DCB2792B-80ED-C674-EB13-4FE2577BA776}"/>
              </a:ext>
            </a:extLst>
          </p:cNvPr>
          <p:cNvSpPr/>
          <p:nvPr/>
        </p:nvSpPr>
        <p:spPr>
          <a:xfrm>
            <a:off x="6140568" y="3148849"/>
            <a:ext cx="3326400" cy="970555"/>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「銀行休日マスタ」の新設</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「銀行休日マスタ」を考慮して支払日を変更する機能の作成</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「銀行休日マスタ」自体を変更する機能の作成</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23" name="正方形/長方形 22">
            <a:extLst>
              <a:ext uri="{FF2B5EF4-FFF2-40B4-BE49-F238E27FC236}">
                <a16:creationId xmlns:a16="http://schemas.microsoft.com/office/drawing/2014/main" id="{AE7B0CED-AF72-B510-C7B4-7B0D44FA1014}"/>
              </a:ext>
            </a:extLst>
          </p:cNvPr>
          <p:cNvSpPr/>
          <p:nvPr/>
        </p:nvSpPr>
        <p:spPr>
          <a:xfrm>
            <a:off x="9528618" y="3148849"/>
            <a:ext cx="2476800" cy="970555"/>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404040"/>
                </a:solidFill>
                <a:effectLst/>
                <a:uLnTx/>
                <a:uFillTx/>
                <a:latin typeface="Meiryo UI"/>
                <a:ea typeface="Meiryo UI"/>
                <a:cs typeface="+mn-cs"/>
              </a:rPr>
              <a:t>●ブレ要素</a:t>
            </a:r>
            <a:br>
              <a:rPr kumimoji="1" lang="en-US" altLang="ja-JP" sz="1000" b="0" i="0" u="none" strike="noStrike" kern="1200" cap="none" spc="0" normalizeH="0" baseline="0" noProof="0">
                <a:ln>
                  <a:noFill/>
                </a:ln>
                <a:solidFill>
                  <a:srgbClr val="404040"/>
                </a:solidFill>
                <a:effectLst/>
                <a:uLnTx/>
                <a:uFillTx/>
                <a:latin typeface="Meiryo UI"/>
                <a:ea typeface="Meiryo UI"/>
                <a:cs typeface="+mn-cs"/>
              </a:rPr>
            </a:br>
            <a:r>
              <a:rPr kumimoji="1" lang="ja-JP" altLang="en-US" sz="1000" b="0" i="0" u="none" strike="noStrike" kern="1200" cap="none" spc="0" normalizeH="0" baseline="0" noProof="0">
                <a:ln>
                  <a:noFill/>
                </a:ln>
                <a:solidFill>
                  <a:srgbClr val="404040"/>
                </a:solidFill>
                <a:effectLst/>
                <a:uLnTx/>
                <a:uFillTx/>
                <a:latin typeface="Meiryo UI"/>
                <a:ea typeface="Meiryo UI"/>
                <a:cs typeface="+mn-cs"/>
              </a:rPr>
              <a:t>・なし</a:t>
            </a:r>
            <a:endParaRPr kumimoji="1" lang="en-US" altLang="ja-JP" sz="1000" b="0" i="0" u="none" strike="noStrike" kern="1200" cap="none" spc="0" normalizeH="0" baseline="0" noProof="0">
              <a:ln>
                <a:noFill/>
              </a:ln>
              <a:solidFill>
                <a:srgbClr val="404040"/>
              </a:solidFill>
              <a:effectLst/>
              <a:uLnTx/>
              <a:uFillTx/>
              <a:latin typeface="Meiryo UI"/>
              <a:ea typeface="Meiryo UI"/>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a:ln>
                <a:noFill/>
              </a:ln>
              <a:solidFill>
                <a:srgbClr val="404040"/>
              </a:solidFill>
              <a:effectLst/>
              <a:uLnTx/>
              <a:uFillTx/>
              <a:latin typeface="Meiryo UI"/>
              <a:ea typeface="Meiryo UI"/>
              <a:cs typeface="+mn-cs"/>
            </a:endParaRPr>
          </a:p>
        </p:txBody>
      </p:sp>
      <p:sp>
        <p:nvSpPr>
          <p:cNvPr id="40" name="正方形/長方形 39">
            <a:extLst>
              <a:ext uri="{FF2B5EF4-FFF2-40B4-BE49-F238E27FC236}">
                <a16:creationId xmlns:a16="http://schemas.microsoft.com/office/drawing/2014/main" id="{FDF888B4-EA3B-5065-F1D6-825F3EC405A5}"/>
              </a:ext>
            </a:extLst>
          </p:cNvPr>
          <p:cNvSpPr/>
          <p:nvPr/>
        </p:nvSpPr>
        <p:spPr>
          <a:xfrm>
            <a:off x="954948" y="5551523"/>
            <a:ext cx="1576800" cy="899353"/>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支払先を識別するマスタの変更対応</a:t>
            </a:r>
            <a:endParaRPr kumimoji="1" lang="en-US" altLang="ja-JP"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41" name="正方形/長方形 40">
            <a:extLst>
              <a:ext uri="{FF2B5EF4-FFF2-40B4-BE49-F238E27FC236}">
                <a16:creationId xmlns:a16="http://schemas.microsoft.com/office/drawing/2014/main" id="{60AA31C8-FB1D-A51B-5A72-542BD45A2588}"/>
              </a:ext>
            </a:extLst>
          </p:cNvPr>
          <p:cNvSpPr/>
          <p:nvPr/>
        </p:nvSpPr>
        <p:spPr>
          <a:xfrm>
            <a:off x="2603181" y="5551523"/>
            <a:ext cx="2476800" cy="89935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現在は</a:t>
            </a:r>
            <a:r>
              <a:rPr kumimoji="1" lang="en-US" altLang="ja-JP"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Neo</a:t>
            </a:r>
            <a:r>
              <a:rPr kumimoji="1" lang="ja-JP" altLang="en-US"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の取引先マスタをもとにパートナーの支払先を管理しているが、</a:t>
            </a:r>
            <a:r>
              <a:rPr kumimoji="1" lang="en-US" altLang="ja-JP"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NEXUS</a:t>
            </a:r>
            <a:r>
              <a:rPr kumimoji="1" lang="ja-JP" altLang="en-US"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のマスタ管理で新たにパートナーを管理する方針なったため、新たなコード体系で支払先を管理する</a:t>
            </a:r>
            <a:endParaRPr kumimoji="1" lang="en-US" altLang="ja-JP"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42" name="正方形/長方形 41">
            <a:extLst>
              <a:ext uri="{FF2B5EF4-FFF2-40B4-BE49-F238E27FC236}">
                <a16:creationId xmlns:a16="http://schemas.microsoft.com/office/drawing/2014/main" id="{5963EF10-FA0C-C674-B235-5B8BF0652DEF}"/>
              </a:ext>
            </a:extLst>
          </p:cNvPr>
          <p:cNvSpPr/>
          <p:nvPr/>
        </p:nvSpPr>
        <p:spPr>
          <a:xfrm>
            <a:off x="5151158" y="5551523"/>
            <a:ext cx="424800" cy="899353"/>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400">
                <a:solidFill>
                  <a:srgbClr val="404040"/>
                </a:solidFill>
                <a:latin typeface="Meiryo UI" panose="020B0604030504040204" pitchFamily="50" charset="-128"/>
                <a:ea typeface="Meiryo UI" panose="020B0604030504040204" pitchFamily="50" charset="-128"/>
              </a:rPr>
              <a:t>〇</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43" name="正方形/長方形 42">
            <a:extLst>
              <a:ext uri="{FF2B5EF4-FFF2-40B4-BE49-F238E27FC236}">
                <a16:creationId xmlns:a16="http://schemas.microsoft.com/office/drawing/2014/main" id="{37A846FE-28A3-436B-0BDA-33AA0753ED36}"/>
              </a:ext>
            </a:extLst>
          </p:cNvPr>
          <p:cNvSpPr/>
          <p:nvPr/>
        </p:nvSpPr>
        <p:spPr>
          <a:xfrm>
            <a:off x="5647137" y="5551523"/>
            <a:ext cx="424800" cy="899353"/>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小</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44" name="正方形/長方形 43">
            <a:extLst>
              <a:ext uri="{FF2B5EF4-FFF2-40B4-BE49-F238E27FC236}">
                <a16:creationId xmlns:a16="http://schemas.microsoft.com/office/drawing/2014/main" id="{3302F62D-7381-F8FB-F74A-3C9FA2A11869}"/>
              </a:ext>
            </a:extLst>
          </p:cNvPr>
          <p:cNvSpPr/>
          <p:nvPr/>
        </p:nvSpPr>
        <p:spPr>
          <a:xfrm>
            <a:off x="6140568" y="5551523"/>
            <a:ext cx="3326400" cy="899353"/>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事業側（ペイマネ</a:t>
            </a:r>
            <a:r>
              <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G</a:t>
            </a: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）にて</a:t>
            </a:r>
            <a:r>
              <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NEXUS</a:t>
            </a: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が発番する支払先をとんぺいへ登録するための保守運用ルールを構築</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46" name="正方形/長方形 45">
            <a:extLst>
              <a:ext uri="{FF2B5EF4-FFF2-40B4-BE49-F238E27FC236}">
                <a16:creationId xmlns:a16="http://schemas.microsoft.com/office/drawing/2014/main" id="{F729F97E-37E1-BB68-7007-11976F7380C6}"/>
              </a:ext>
            </a:extLst>
          </p:cNvPr>
          <p:cNvSpPr/>
          <p:nvPr/>
        </p:nvSpPr>
        <p:spPr>
          <a:xfrm>
            <a:off x="9528618" y="5551523"/>
            <a:ext cx="2476800" cy="899353"/>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100" b="0" i="0" u="none" strike="noStrike" kern="1200" cap="none" spc="0" normalizeH="0" baseline="0" noProof="0">
                <a:ln>
                  <a:noFill/>
                </a:ln>
                <a:solidFill>
                  <a:srgbClr val="404040"/>
                </a:solidFill>
                <a:effectLst/>
                <a:uLnTx/>
                <a:uFillTx/>
                <a:latin typeface="Meiryo UI"/>
                <a:ea typeface="Meiryo UI"/>
                <a:cs typeface="+mn-cs"/>
              </a:rPr>
              <a:t>●ブレ要素</a:t>
            </a:r>
            <a:br>
              <a:rPr kumimoji="1" lang="en-US" altLang="ja-JP" sz="1100" b="0" i="0" u="none" strike="noStrike" kern="1200" cap="none" spc="0" normalizeH="0" baseline="0" noProof="0">
                <a:ln>
                  <a:noFill/>
                </a:ln>
                <a:solidFill>
                  <a:srgbClr val="404040"/>
                </a:solidFill>
                <a:effectLst/>
                <a:uLnTx/>
                <a:uFillTx/>
                <a:latin typeface="Meiryo UI"/>
                <a:ea typeface="Meiryo UI"/>
                <a:cs typeface="+mn-cs"/>
              </a:rPr>
            </a:br>
            <a:r>
              <a:rPr kumimoji="1" lang="ja-JP" altLang="en-US" sz="1100" b="0" i="0" u="none" strike="noStrike" kern="1200" cap="none" spc="0" normalizeH="0" baseline="0" noProof="0">
                <a:ln>
                  <a:noFill/>
                </a:ln>
                <a:solidFill>
                  <a:srgbClr val="404040"/>
                </a:solidFill>
                <a:effectLst/>
                <a:uLnTx/>
                <a:uFillTx/>
                <a:latin typeface="Meiryo UI"/>
                <a:ea typeface="Meiryo UI"/>
                <a:cs typeface="+mn-cs"/>
              </a:rPr>
              <a:t>・なし</a:t>
            </a:r>
            <a:br>
              <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b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　</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15" name="タイトル 2">
            <a:extLst>
              <a:ext uri="{FF2B5EF4-FFF2-40B4-BE49-F238E27FC236}">
                <a16:creationId xmlns:a16="http://schemas.microsoft.com/office/drawing/2014/main" id="{495EBED7-3E52-F9CB-8A5E-BB9FA7468D35}"/>
              </a:ext>
            </a:extLst>
          </p:cNvPr>
          <p:cNvSpPr>
            <a:spLocks noGrp="1"/>
          </p:cNvSpPr>
          <p:nvPr>
            <p:ph type="title"/>
          </p:nvPr>
        </p:nvSpPr>
        <p:spPr>
          <a:xfrm>
            <a:off x="203200" y="124971"/>
            <a:ext cx="11480800" cy="379413"/>
          </a:xfrm>
        </p:spPr>
        <p:txBody>
          <a:bodyPr/>
          <a:lstStyle/>
          <a:p>
            <a:r>
              <a:rPr lang="en-US" altLang="ja-JP" kern="0"/>
              <a:t>6. </a:t>
            </a:r>
            <a:r>
              <a:rPr lang="ja-JP" altLang="en-US" kern="0"/>
              <a:t>各システム対応内容（とんぺい）</a:t>
            </a:r>
          </a:p>
        </p:txBody>
      </p:sp>
      <p:sp>
        <p:nvSpPr>
          <p:cNvPr id="24" name="コンテンツ プレースホルダー 5">
            <a:extLst>
              <a:ext uri="{FF2B5EF4-FFF2-40B4-BE49-F238E27FC236}">
                <a16:creationId xmlns:a16="http://schemas.microsoft.com/office/drawing/2014/main" id="{877CFDBF-D6DC-9748-3E45-990439E053F8}"/>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a:t>とんぺいの各機能における改修内容と規模は以下。</a:t>
            </a:r>
            <a:endParaRPr lang="en-US" altLang="ja-JP" sz="1600"/>
          </a:p>
        </p:txBody>
      </p:sp>
      <p:grpSp>
        <p:nvGrpSpPr>
          <p:cNvPr id="2" name="グループ化 1">
            <a:extLst>
              <a:ext uri="{FF2B5EF4-FFF2-40B4-BE49-F238E27FC236}">
                <a16:creationId xmlns:a16="http://schemas.microsoft.com/office/drawing/2014/main" id="{F61950C3-9CEB-F2C3-046A-DC9E6DA3FB8A}"/>
              </a:ext>
            </a:extLst>
          </p:cNvPr>
          <p:cNvGrpSpPr/>
          <p:nvPr/>
        </p:nvGrpSpPr>
        <p:grpSpPr>
          <a:xfrm>
            <a:off x="954948" y="1770730"/>
            <a:ext cx="1576963" cy="212291"/>
            <a:chOff x="4709497" y="955750"/>
            <a:chExt cx="3307096" cy="243392"/>
          </a:xfrm>
          <a:effectLst/>
        </p:grpSpPr>
        <p:sp>
          <p:nvSpPr>
            <p:cNvPr id="3" name="テキスト ボックス 2">
              <a:extLst>
                <a:ext uri="{FF2B5EF4-FFF2-40B4-BE49-F238E27FC236}">
                  <a16:creationId xmlns:a16="http://schemas.microsoft.com/office/drawing/2014/main" id="{C0514892-F98D-F1BC-AFFD-C30AB8EB04C1}"/>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分類</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 name="直線コネクタ 5">
              <a:extLst>
                <a:ext uri="{FF2B5EF4-FFF2-40B4-BE49-F238E27FC236}">
                  <a16:creationId xmlns:a16="http://schemas.microsoft.com/office/drawing/2014/main" id="{1C7746DD-6102-D927-EA27-F8CD4C9E0519}"/>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14" name="グループ化 13">
            <a:extLst>
              <a:ext uri="{FF2B5EF4-FFF2-40B4-BE49-F238E27FC236}">
                <a16:creationId xmlns:a16="http://schemas.microsoft.com/office/drawing/2014/main" id="{5C96C1D3-EB0F-0BD8-8127-5551D33956C1}"/>
              </a:ext>
            </a:extLst>
          </p:cNvPr>
          <p:cNvGrpSpPr/>
          <p:nvPr/>
        </p:nvGrpSpPr>
        <p:grpSpPr>
          <a:xfrm>
            <a:off x="2602505" y="1770730"/>
            <a:ext cx="2477476" cy="212291"/>
            <a:chOff x="4709497" y="955750"/>
            <a:chExt cx="3307096" cy="243392"/>
          </a:xfrm>
          <a:effectLst/>
        </p:grpSpPr>
        <p:sp>
          <p:nvSpPr>
            <p:cNvPr id="32" name="テキスト ボックス 31">
              <a:extLst>
                <a:ext uri="{FF2B5EF4-FFF2-40B4-BE49-F238E27FC236}">
                  <a16:creationId xmlns:a16="http://schemas.microsoft.com/office/drawing/2014/main" id="{486E4BD2-BE66-218F-C41B-F77D8014821D}"/>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概要</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3" name="直線コネクタ 32">
              <a:extLst>
                <a:ext uri="{FF2B5EF4-FFF2-40B4-BE49-F238E27FC236}">
                  <a16:creationId xmlns:a16="http://schemas.microsoft.com/office/drawing/2014/main" id="{F8693066-F581-D7C2-02AC-E4FCD7D3E134}"/>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5" name="グループ化 34">
            <a:extLst>
              <a:ext uri="{FF2B5EF4-FFF2-40B4-BE49-F238E27FC236}">
                <a16:creationId xmlns:a16="http://schemas.microsoft.com/office/drawing/2014/main" id="{9339E5F9-6556-97DD-34D3-CFBCBA8CEBE4}"/>
              </a:ext>
            </a:extLst>
          </p:cNvPr>
          <p:cNvGrpSpPr/>
          <p:nvPr/>
        </p:nvGrpSpPr>
        <p:grpSpPr>
          <a:xfrm>
            <a:off x="5150573" y="1460389"/>
            <a:ext cx="6854845" cy="212291"/>
            <a:chOff x="4709497" y="955750"/>
            <a:chExt cx="3307096" cy="243392"/>
          </a:xfrm>
          <a:effectLst/>
        </p:grpSpPr>
        <p:sp>
          <p:nvSpPr>
            <p:cNvPr id="36" name="テキスト ボックス 35">
              <a:extLst>
                <a:ext uri="{FF2B5EF4-FFF2-40B4-BE49-F238E27FC236}">
                  <a16:creationId xmlns:a16="http://schemas.microsoft.com/office/drawing/2014/main" id="{90337393-50D8-ECC3-BFEE-C9E28843C84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8" name="直線コネクタ 37">
              <a:extLst>
                <a:ext uri="{FF2B5EF4-FFF2-40B4-BE49-F238E27FC236}">
                  <a16:creationId xmlns:a16="http://schemas.microsoft.com/office/drawing/2014/main" id="{6A7C2B9C-B0BC-ADC4-47A4-0FE43D2A133D}"/>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9" name="グループ化 38">
            <a:extLst>
              <a:ext uri="{FF2B5EF4-FFF2-40B4-BE49-F238E27FC236}">
                <a16:creationId xmlns:a16="http://schemas.microsoft.com/office/drawing/2014/main" id="{B419E585-C5C5-5476-BF6F-09DBA5860A9D}"/>
              </a:ext>
            </a:extLst>
          </p:cNvPr>
          <p:cNvGrpSpPr/>
          <p:nvPr/>
        </p:nvGrpSpPr>
        <p:grpSpPr>
          <a:xfrm>
            <a:off x="5646553" y="1770730"/>
            <a:ext cx="425384" cy="212291"/>
            <a:chOff x="4709497" y="955750"/>
            <a:chExt cx="3307096" cy="243392"/>
          </a:xfrm>
          <a:effectLst/>
        </p:grpSpPr>
        <p:sp>
          <p:nvSpPr>
            <p:cNvPr id="47" name="テキスト ボックス 46">
              <a:extLst>
                <a:ext uri="{FF2B5EF4-FFF2-40B4-BE49-F238E27FC236}">
                  <a16:creationId xmlns:a16="http://schemas.microsoft.com/office/drawing/2014/main" id="{FC15B5AD-96BC-3455-A350-302B1FE18B91}"/>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8" name="直線コネクタ 47">
              <a:extLst>
                <a:ext uri="{FF2B5EF4-FFF2-40B4-BE49-F238E27FC236}">
                  <a16:creationId xmlns:a16="http://schemas.microsoft.com/office/drawing/2014/main" id="{D097440C-626D-4EB7-456B-33E8AC2EBC37}"/>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49" name="グループ化 48">
            <a:extLst>
              <a:ext uri="{FF2B5EF4-FFF2-40B4-BE49-F238E27FC236}">
                <a16:creationId xmlns:a16="http://schemas.microsoft.com/office/drawing/2014/main" id="{6BED4083-E586-2589-06DF-99069CD61763}"/>
              </a:ext>
            </a:extLst>
          </p:cNvPr>
          <p:cNvGrpSpPr/>
          <p:nvPr/>
        </p:nvGrpSpPr>
        <p:grpSpPr>
          <a:xfrm>
            <a:off x="5150574" y="1766917"/>
            <a:ext cx="425384" cy="212291"/>
            <a:chOff x="4709497" y="955750"/>
            <a:chExt cx="3307096" cy="243392"/>
          </a:xfrm>
          <a:effectLst/>
        </p:grpSpPr>
        <p:sp>
          <p:nvSpPr>
            <p:cNvPr id="50" name="テキスト ボックス 49">
              <a:extLst>
                <a:ext uri="{FF2B5EF4-FFF2-40B4-BE49-F238E27FC236}">
                  <a16:creationId xmlns:a16="http://schemas.microsoft.com/office/drawing/2014/main" id="{EB23C48C-6BEF-B8D1-28EE-EB68C86C474F}"/>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1" name="直線コネクタ 50">
              <a:extLst>
                <a:ext uri="{FF2B5EF4-FFF2-40B4-BE49-F238E27FC236}">
                  <a16:creationId xmlns:a16="http://schemas.microsoft.com/office/drawing/2014/main" id="{AFE4DE0B-6105-2951-2AA0-1859EE9FB0A5}"/>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2" name="グループ化 51">
            <a:extLst>
              <a:ext uri="{FF2B5EF4-FFF2-40B4-BE49-F238E27FC236}">
                <a16:creationId xmlns:a16="http://schemas.microsoft.com/office/drawing/2014/main" id="{458DCE33-7995-4A43-986C-E72796E18B80}"/>
              </a:ext>
            </a:extLst>
          </p:cNvPr>
          <p:cNvGrpSpPr/>
          <p:nvPr/>
        </p:nvGrpSpPr>
        <p:grpSpPr>
          <a:xfrm>
            <a:off x="6142530" y="1766917"/>
            <a:ext cx="3324438" cy="212291"/>
            <a:chOff x="4709497" y="955750"/>
            <a:chExt cx="3307096" cy="243392"/>
          </a:xfrm>
          <a:effectLst/>
        </p:grpSpPr>
        <p:sp>
          <p:nvSpPr>
            <p:cNvPr id="53" name="テキスト ボックス 52">
              <a:extLst>
                <a:ext uri="{FF2B5EF4-FFF2-40B4-BE49-F238E27FC236}">
                  <a16:creationId xmlns:a16="http://schemas.microsoft.com/office/drawing/2014/main" id="{B41CEBA2-CD1B-E12C-1052-2314E4E4629F}"/>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4" name="直線コネクタ 53">
              <a:extLst>
                <a:ext uri="{FF2B5EF4-FFF2-40B4-BE49-F238E27FC236}">
                  <a16:creationId xmlns:a16="http://schemas.microsoft.com/office/drawing/2014/main" id="{C7E46A3C-8698-D33B-68C4-62F31F849CA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5" name="グループ化 54">
            <a:extLst>
              <a:ext uri="{FF2B5EF4-FFF2-40B4-BE49-F238E27FC236}">
                <a16:creationId xmlns:a16="http://schemas.microsoft.com/office/drawing/2014/main" id="{77777F50-752B-C4EF-D577-BEE56CA51074}"/>
              </a:ext>
            </a:extLst>
          </p:cNvPr>
          <p:cNvGrpSpPr/>
          <p:nvPr/>
        </p:nvGrpSpPr>
        <p:grpSpPr>
          <a:xfrm>
            <a:off x="9527942" y="1770730"/>
            <a:ext cx="2477476" cy="212291"/>
            <a:chOff x="4709497" y="955750"/>
            <a:chExt cx="3307096" cy="243392"/>
          </a:xfrm>
          <a:effectLst/>
        </p:grpSpPr>
        <p:sp>
          <p:nvSpPr>
            <p:cNvPr id="56" name="テキスト ボックス 55">
              <a:extLst>
                <a:ext uri="{FF2B5EF4-FFF2-40B4-BE49-F238E27FC236}">
                  <a16:creationId xmlns:a16="http://schemas.microsoft.com/office/drawing/2014/main" id="{F6B32686-9C2C-C9C4-A832-EB655D7F30C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要否判断とブレ要素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7" name="直線コネクタ 56">
              <a:extLst>
                <a:ext uri="{FF2B5EF4-FFF2-40B4-BE49-F238E27FC236}">
                  <a16:creationId xmlns:a16="http://schemas.microsoft.com/office/drawing/2014/main" id="{62CF7547-129F-9D13-4A53-C4D831455416}"/>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58" name="正方形/長方形 57">
            <a:extLst>
              <a:ext uri="{FF2B5EF4-FFF2-40B4-BE49-F238E27FC236}">
                <a16:creationId xmlns:a16="http://schemas.microsoft.com/office/drawing/2014/main" id="{4022FE5E-6527-7CEA-B26D-B3FC9F65D0A3}"/>
              </a:ext>
            </a:extLst>
          </p:cNvPr>
          <p:cNvSpPr/>
          <p:nvPr/>
        </p:nvSpPr>
        <p:spPr bwMode="auto">
          <a:xfrm>
            <a:off x="186827" y="2079576"/>
            <a:ext cx="697526" cy="4371300"/>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とんぺい</a:t>
            </a:r>
            <a:endParaRPr lang="en-US" altLang="ja-JP" sz="1000" b="1">
              <a:solidFill>
                <a:schemeClr val="bg1"/>
              </a:solidFill>
              <a:latin typeface="Meiryo UI" panose="020B0604030504040204" pitchFamily="50" charset="-128"/>
              <a:ea typeface="Meiryo UI" panose="020B0604030504040204" pitchFamily="50" charset="-128"/>
            </a:endParaRPr>
          </a:p>
        </p:txBody>
      </p:sp>
      <p:sp>
        <p:nvSpPr>
          <p:cNvPr id="76" name="スライド番号プレースホルダー 3">
            <a:extLst>
              <a:ext uri="{FF2B5EF4-FFF2-40B4-BE49-F238E27FC236}">
                <a16:creationId xmlns:a16="http://schemas.microsoft.com/office/drawing/2014/main" id="{253826D3-84A7-7B62-10E1-2B48ACC11223}"/>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32</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41319458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33</a:t>
            </a:fld>
            <a:endParaRPr lang="en-US" altLang="ja-JP"/>
          </a:p>
        </p:txBody>
      </p:sp>
      <p:grpSp>
        <p:nvGrpSpPr>
          <p:cNvPr id="99" name="グループ化 98">
            <a:extLst>
              <a:ext uri="{FF2B5EF4-FFF2-40B4-BE49-F238E27FC236}">
                <a16:creationId xmlns:a16="http://schemas.microsoft.com/office/drawing/2014/main" id="{0C1FCEE5-08FB-FAEF-B1B5-559E3684EEC1}"/>
              </a:ext>
            </a:extLst>
          </p:cNvPr>
          <p:cNvGrpSpPr/>
          <p:nvPr/>
        </p:nvGrpSpPr>
        <p:grpSpPr>
          <a:xfrm>
            <a:off x="954948" y="2711953"/>
            <a:ext cx="11049794" cy="576000"/>
            <a:chOff x="954948" y="2574821"/>
            <a:chExt cx="11049794" cy="576000"/>
          </a:xfrm>
        </p:grpSpPr>
        <p:sp>
          <p:nvSpPr>
            <p:cNvPr id="88" name="正方形/長方形 87">
              <a:extLst>
                <a:ext uri="{FF2B5EF4-FFF2-40B4-BE49-F238E27FC236}">
                  <a16:creationId xmlns:a16="http://schemas.microsoft.com/office/drawing/2014/main" id="{6C9C806A-1212-5714-3B4C-51F610412B37}"/>
                </a:ext>
              </a:extLst>
            </p:cNvPr>
            <p:cNvSpPr/>
            <p:nvPr/>
          </p:nvSpPr>
          <p:spPr>
            <a:xfrm>
              <a:off x="954948" y="2574821"/>
              <a:ext cx="1576800" cy="5760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請求情報</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9" name="正方形/長方形 88">
              <a:extLst>
                <a:ext uri="{FF2B5EF4-FFF2-40B4-BE49-F238E27FC236}">
                  <a16:creationId xmlns:a16="http://schemas.microsoft.com/office/drawing/2014/main" id="{B3879882-99CF-E254-2DE6-AA0D847F72FB}"/>
                </a:ext>
              </a:extLst>
            </p:cNvPr>
            <p:cNvSpPr/>
            <p:nvPr/>
          </p:nvSpPr>
          <p:spPr>
            <a:xfrm>
              <a:off x="2602505" y="2574821"/>
              <a:ext cx="2476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請求情報ビューに項目追加される可能性がある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FE6031BE-91BF-EFFA-6134-3115B2DC9FD6}"/>
                </a:ext>
              </a:extLst>
            </p:cNvPr>
            <p:cNvSpPr/>
            <p:nvPr/>
          </p:nvSpPr>
          <p:spPr>
            <a:xfrm>
              <a:off x="5150574" y="2574821"/>
              <a:ext cx="4248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0A80CF4C-7B30-34DD-279B-DAE1FB138391}"/>
                </a:ext>
              </a:extLst>
            </p:cNvPr>
            <p:cNvSpPr/>
            <p:nvPr/>
          </p:nvSpPr>
          <p:spPr>
            <a:xfrm>
              <a:off x="5646553" y="2574821"/>
              <a:ext cx="424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43EE0EA0-26E7-90EE-3653-3189DC386CDA}"/>
                </a:ext>
              </a:extLst>
            </p:cNvPr>
            <p:cNvSpPr/>
            <p:nvPr/>
          </p:nvSpPr>
          <p:spPr>
            <a:xfrm>
              <a:off x="6142530" y="2574821"/>
              <a:ext cx="33264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追加項目を考慮した、取込処理改修</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(Select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＊対応）</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ABFFBB38-1945-D27F-5448-31EB7EFE48B2}"/>
                </a:ext>
              </a:extLst>
            </p:cNvPr>
            <p:cNvSpPr/>
            <p:nvPr/>
          </p:nvSpPr>
          <p:spPr>
            <a:xfrm>
              <a:off x="9527942" y="2574821"/>
              <a:ext cx="24768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55" name="正方形/長方形 54">
            <a:extLst>
              <a:ext uri="{FF2B5EF4-FFF2-40B4-BE49-F238E27FC236}">
                <a16:creationId xmlns:a16="http://schemas.microsoft.com/office/drawing/2014/main" id="{8A9D92D9-EFB0-749B-CF82-ED888B85078B}"/>
              </a:ext>
            </a:extLst>
          </p:cNvPr>
          <p:cNvSpPr/>
          <p:nvPr/>
        </p:nvSpPr>
        <p:spPr>
          <a:xfrm>
            <a:off x="954948" y="3344329"/>
            <a:ext cx="1576800" cy="5760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RINDBERG</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ビューの</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参照機能</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（オンライン画面）</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5E44FDF6-A8B4-ADD0-2CE4-CF9C1A81267F}"/>
              </a:ext>
            </a:extLst>
          </p:cNvPr>
          <p:cNvSpPr/>
          <p:nvPr/>
        </p:nvSpPr>
        <p:spPr>
          <a:xfrm>
            <a:off x="2602505" y="3344329"/>
            <a:ext cx="2476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err="1">
                <a:solidFill>
                  <a:schemeClr val="tx1">
                    <a:lumMod val="75000"/>
                    <a:lumOff val="25000"/>
                  </a:schemeClr>
                </a:solidFill>
                <a:latin typeface="Meiryo UI" panose="020B0604030504040204" pitchFamily="50" charset="-128"/>
                <a:ea typeface="Meiryo UI" panose="020B0604030504040204" pitchFamily="50" charset="-128"/>
              </a:rPr>
              <a:t>MICOChaco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で参照しているビューに</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項目追加される可能性がある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71BE5D24-7798-0901-E278-EEC21734A48C}"/>
              </a:ext>
            </a:extLst>
          </p:cNvPr>
          <p:cNvSpPr/>
          <p:nvPr/>
        </p:nvSpPr>
        <p:spPr>
          <a:xfrm>
            <a:off x="5150574" y="3344329"/>
            <a:ext cx="424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82528AAD-2847-0D3C-BB2D-763529E801D3}"/>
              </a:ext>
            </a:extLst>
          </p:cNvPr>
          <p:cNvSpPr/>
          <p:nvPr/>
        </p:nvSpPr>
        <p:spPr>
          <a:xfrm>
            <a:off x="5646553" y="3344329"/>
            <a:ext cx="424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7B13D8EF-6341-C152-6767-D67C35A2FD2A}"/>
              </a:ext>
            </a:extLst>
          </p:cNvPr>
          <p:cNvSpPr/>
          <p:nvPr/>
        </p:nvSpPr>
        <p:spPr>
          <a:xfrm>
            <a:off x="6142530" y="3344329"/>
            <a:ext cx="33264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ビューの再リンク、再リンクした画面の基本的な</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動作検証</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73C96CEB-FAC9-BD26-7EF0-4C44C0160782}"/>
              </a:ext>
            </a:extLst>
          </p:cNvPr>
          <p:cNvSpPr/>
          <p:nvPr/>
        </p:nvSpPr>
        <p:spPr>
          <a:xfrm>
            <a:off x="9527942" y="3344329"/>
            <a:ext cx="2476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2" name="正方形/長方形 81">
            <a:extLst>
              <a:ext uri="{FF2B5EF4-FFF2-40B4-BE49-F238E27FC236}">
                <a16:creationId xmlns:a16="http://schemas.microsoft.com/office/drawing/2014/main" id="{3332EA76-8357-1C33-CC8B-9C6E11609D55}"/>
              </a:ext>
            </a:extLst>
          </p:cNvPr>
          <p:cNvSpPr/>
          <p:nvPr/>
        </p:nvSpPr>
        <p:spPr>
          <a:xfrm>
            <a:off x="954948" y="2079577"/>
            <a:ext cx="1576800" cy="5760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初期督促取込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3" name="正方形/長方形 82">
            <a:extLst>
              <a:ext uri="{FF2B5EF4-FFF2-40B4-BE49-F238E27FC236}">
                <a16:creationId xmlns:a16="http://schemas.microsoft.com/office/drawing/2014/main" id="{56ED9496-7245-2D8D-311F-5AF7768A2A3C}"/>
              </a:ext>
            </a:extLst>
          </p:cNvPr>
          <p:cNvSpPr/>
          <p:nvPr/>
        </p:nvSpPr>
        <p:spPr>
          <a:xfrm>
            <a:off x="2602505" y="2079577"/>
            <a:ext cx="2476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初期督促ビューに項目追加される可能性がある</a:t>
            </a:r>
          </a:p>
        </p:txBody>
      </p:sp>
      <p:sp>
        <p:nvSpPr>
          <p:cNvPr id="47" name="正方形/長方形 46">
            <a:extLst>
              <a:ext uri="{FF2B5EF4-FFF2-40B4-BE49-F238E27FC236}">
                <a16:creationId xmlns:a16="http://schemas.microsoft.com/office/drawing/2014/main" id="{5C961771-6E48-95C7-13A1-25E280D54564}"/>
              </a:ext>
            </a:extLst>
          </p:cNvPr>
          <p:cNvSpPr/>
          <p:nvPr/>
        </p:nvSpPr>
        <p:spPr>
          <a:xfrm>
            <a:off x="6142530" y="2079577"/>
            <a:ext cx="33264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追加項目を考慮した、取込処理改修</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(Select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＊対応）</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4" name="正方形/長方形 53">
            <a:extLst>
              <a:ext uri="{FF2B5EF4-FFF2-40B4-BE49-F238E27FC236}">
                <a16:creationId xmlns:a16="http://schemas.microsoft.com/office/drawing/2014/main" id="{882D3876-C834-7F58-B2DF-CBCE4AEA95BB}"/>
              </a:ext>
            </a:extLst>
          </p:cNvPr>
          <p:cNvSpPr/>
          <p:nvPr/>
        </p:nvSpPr>
        <p:spPr>
          <a:xfrm>
            <a:off x="9527942" y="2079577"/>
            <a:ext cx="24768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FD9C4CB2-4757-0A18-E760-578171A6CFDC}"/>
              </a:ext>
            </a:extLst>
          </p:cNvPr>
          <p:cNvSpPr/>
          <p:nvPr/>
        </p:nvSpPr>
        <p:spPr>
          <a:xfrm>
            <a:off x="5150574" y="2079577"/>
            <a:ext cx="4248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C0BFBA00-3449-F842-2BA1-E08968E4972C}"/>
              </a:ext>
            </a:extLst>
          </p:cNvPr>
          <p:cNvSpPr/>
          <p:nvPr/>
        </p:nvSpPr>
        <p:spPr>
          <a:xfrm>
            <a:off x="5646553" y="2079577"/>
            <a:ext cx="424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1DE4F22D-9681-E64D-E435-800DFA236575}"/>
              </a:ext>
            </a:extLst>
          </p:cNvPr>
          <p:cNvSpPr/>
          <p:nvPr/>
        </p:nvSpPr>
        <p:spPr>
          <a:xfrm>
            <a:off x="954948" y="3976705"/>
            <a:ext cx="1576800" cy="5760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JKK</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による追加項目の表示対応</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（オンライン画面）</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A98B3F63-E244-E3D3-B13E-E56206540D8C}"/>
              </a:ext>
            </a:extLst>
          </p:cNvPr>
          <p:cNvSpPr/>
          <p:nvPr/>
        </p:nvSpPr>
        <p:spPr>
          <a:xfrm>
            <a:off x="2602505" y="3976705"/>
            <a:ext cx="2476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上記追加した項目を画面上に表示する要件が、入金センターから出る可能性がある（業務フローの設計次第）　</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D0829A3F-8558-5EBB-1663-FEE5E54B544E}"/>
              </a:ext>
            </a:extLst>
          </p:cNvPr>
          <p:cNvSpPr/>
          <p:nvPr/>
        </p:nvSpPr>
        <p:spPr>
          <a:xfrm>
            <a:off x="5150574" y="3976705"/>
            <a:ext cx="424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36B4EBBA-78BB-BAE2-34BC-9A0A0DDE68D3}"/>
              </a:ext>
            </a:extLst>
          </p:cNvPr>
          <p:cNvSpPr/>
          <p:nvPr/>
        </p:nvSpPr>
        <p:spPr>
          <a:xfrm>
            <a:off x="5646553" y="3976705"/>
            <a:ext cx="424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BD42B24E-6663-B37F-E1AE-9FAE9D950874}"/>
              </a:ext>
            </a:extLst>
          </p:cNvPr>
          <p:cNvSpPr/>
          <p:nvPr/>
        </p:nvSpPr>
        <p:spPr>
          <a:xfrm>
            <a:off x="6142530" y="3976705"/>
            <a:ext cx="33264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画面項目の追加を想定</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D24841B7-735C-D2FA-BA61-0734B2BC3CCD}"/>
              </a:ext>
            </a:extLst>
          </p:cNvPr>
          <p:cNvSpPr/>
          <p:nvPr/>
        </p:nvSpPr>
        <p:spPr>
          <a:xfrm>
            <a:off x="9527942" y="3976705"/>
            <a:ext cx="2476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そもそも要望が出ない可能性がある。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タイトル 2">
            <a:extLst>
              <a:ext uri="{FF2B5EF4-FFF2-40B4-BE49-F238E27FC236}">
                <a16:creationId xmlns:a16="http://schemas.microsoft.com/office/drawing/2014/main" id="{5DB01A60-FE9B-A3D7-FB3B-4DE7E0AD2108}"/>
              </a:ext>
            </a:extLst>
          </p:cNvPr>
          <p:cNvSpPr>
            <a:spLocks noGrp="1"/>
          </p:cNvSpPr>
          <p:nvPr>
            <p:ph type="title"/>
          </p:nvPr>
        </p:nvSpPr>
        <p:spPr>
          <a:xfrm>
            <a:off x="203200" y="124971"/>
            <a:ext cx="11480800" cy="379413"/>
          </a:xfrm>
        </p:spPr>
        <p:txBody>
          <a:bodyPr/>
          <a:lstStyle/>
          <a:p>
            <a:r>
              <a:rPr lang="en-US" altLang="ja-JP" kern="0"/>
              <a:t>6. </a:t>
            </a:r>
            <a:r>
              <a:rPr lang="ja-JP" altLang="en-US" kern="0"/>
              <a:t>各システム対応内容（</a:t>
            </a:r>
            <a:r>
              <a:rPr lang="en-US" altLang="ja-JP" kern="0" err="1"/>
              <a:t>Mico</a:t>
            </a:r>
            <a:r>
              <a:rPr lang="en-US" altLang="ja-JP" kern="0"/>
              <a:t>/Chaco</a:t>
            </a:r>
            <a:r>
              <a:rPr lang="ja-JP" altLang="en-US" kern="0"/>
              <a:t>）</a:t>
            </a:r>
          </a:p>
        </p:txBody>
      </p:sp>
      <p:sp>
        <p:nvSpPr>
          <p:cNvPr id="34" name="コンテンツ プレースホルダー 5">
            <a:extLst>
              <a:ext uri="{FF2B5EF4-FFF2-40B4-BE49-F238E27FC236}">
                <a16:creationId xmlns:a16="http://schemas.microsoft.com/office/drawing/2014/main" id="{C26912F8-8220-9E20-136C-7A6E53629F5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err="1"/>
              <a:t>Mico</a:t>
            </a:r>
            <a:r>
              <a:rPr lang="en-US" altLang="ja-JP" sz="1600"/>
              <a:t>/Chaco</a:t>
            </a:r>
            <a:r>
              <a:rPr lang="ja-JP" altLang="en-US" sz="1600"/>
              <a:t>の各機能における改修内容と規模は以下。</a:t>
            </a:r>
            <a:endParaRPr lang="en-US" altLang="ja-JP" sz="1600"/>
          </a:p>
        </p:txBody>
      </p:sp>
      <p:sp>
        <p:nvSpPr>
          <p:cNvPr id="53" name="正方形/長方形 52">
            <a:extLst>
              <a:ext uri="{FF2B5EF4-FFF2-40B4-BE49-F238E27FC236}">
                <a16:creationId xmlns:a16="http://schemas.microsoft.com/office/drawing/2014/main" id="{97C7E667-0507-3FF8-E4F9-884C0CEF103E}"/>
              </a:ext>
            </a:extLst>
          </p:cNvPr>
          <p:cNvSpPr/>
          <p:nvPr/>
        </p:nvSpPr>
        <p:spPr bwMode="auto">
          <a:xfrm>
            <a:off x="186827" y="2079577"/>
            <a:ext cx="697526" cy="2473128"/>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err="1">
                <a:solidFill>
                  <a:schemeClr val="bg1"/>
                </a:solidFill>
                <a:latin typeface="Meiryo UI" panose="020B0604030504040204" pitchFamily="50" charset="-128"/>
                <a:ea typeface="Meiryo UI" panose="020B0604030504040204" pitchFamily="50" charset="-128"/>
              </a:rPr>
              <a:t>Mico</a:t>
            </a:r>
            <a:r>
              <a:rPr lang="en-US" altLang="ja-JP" sz="1000" b="1">
                <a:solidFill>
                  <a:schemeClr val="bg1"/>
                </a:solidFill>
                <a:latin typeface="Meiryo UI" panose="020B0604030504040204" pitchFamily="50" charset="-128"/>
                <a:ea typeface="Meiryo UI" panose="020B0604030504040204" pitchFamily="50" charset="-128"/>
              </a:rPr>
              <a:t>/</a:t>
            </a:r>
            <a:br>
              <a:rPr lang="en-US" altLang="ja-JP" sz="1000" b="1">
                <a:solidFill>
                  <a:schemeClr val="bg1"/>
                </a:solidFill>
                <a:latin typeface="Meiryo UI" panose="020B0604030504040204" pitchFamily="50" charset="-128"/>
                <a:ea typeface="Meiryo UI" panose="020B0604030504040204" pitchFamily="50" charset="-128"/>
              </a:rPr>
            </a:br>
            <a:r>
              <a:rPr lang="en-US" altLang="ja-JP" sz="1000" b="1">
                <a:solidFill>
                  <a:schemeClr val="bg1"/>
                </a:solidFill>
                <a:latin typeface="Meiryo UI" panose="020B0604030504040204" pitchFamily="50" charset="-128"/>
                <a:ea typeface="Meiryo UI" panose="020B0604030504040204" pitchFamily="50" charset="-128"/>
              </a:rPr>
              <a:t>Chaco</a:t>
            </a:r>
          </a:p>
        </p:txBody>
      </p:sp>
      <p:grpSp>
        <p:nvGrpSpPr>
          <p:cNvPr id="66" name="グループ化 65">
            <a:extLst>
              <a:ext uri="{FF2B5EF4-FFF2-40B4-BE49-F238E27FC236}">
                <a16:creationId xmlns:a16="http://schemas.microsoft.com/office/drawing/2014/main" id="{F99C9D3F-BBE0-73B2-F4EA-DC2E6508949A}"/>
              </a:ext>
            </a:extLst>
          </p:cNvPr>
          <p:cNvGrpSpPr/>
          <p:nvPr/>
        </p:nvGrpSpPr>
        <p:grpSpPr>
          <a:xfrm>
            <a:off x="954948" y="1770730"/>
            <a:ext cx="1576963" cy="212291"/>
            <a:chOff x="4709497" y="955750"/>
            <a:chExt cx="3307096" cy="243392"/>
          </a:xfrm>
          <a:effectLst/>
        </p:grpSpPr>
        <p:sp>
          <p:nvSpPr>
            <p:cNvPr id="67" name="テキスト ボックス 66">
              <a:extLst>
                <a:ext uri="{FF2B5EF4-FFF2-40B4-BE49-F238E27FC236}">
                  <a16:creationId xmlns:a16="http://schemas.microsoft.com/office/drawing/2014/main" id="{1D661017-A075-0766-FA34-53A50DD857B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8" name="直線コネクタ 67">
              <a:extLst>
                <a:ext uri="{FF2B5EF4-FFF2-40B4-BE49-F238E27FC236}">
                  <a16:creationId xmlns:a16="http://schemas.microsoft.com/office/drawing/2014/main" id="{57EAECB0-68FD-F166-308D-7CB1DADA8C3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4" name="グループ化 73">
            <a:extLst>
              <a:ext uri="{FF2B5EF4-FFF2-40B4-BE49-F238E27FC236}">
                <a16:creationId xmlns:a16="http://schemas.microsoft.com/office/drawing/2014/main" id="{F09D3F29-8318-8BA4-A929-4FD11E151D97}"/>
              </a:ext>
            </a:extLst>
          </p:cNvPr>
          <p:cNvGrpSpPr/>
          <p:nvPr/>
        </p:nvGrpSpPr>
        <p:grpSpPr>
          <a:xfrm>
            <a:off x="2602505" y="1770730"/>
            <a:ext cx="2477476" cy="212291"/>
            <a:chOff x="4709497" y="955750"/>
            <a:chExt cx="3307096" cy="243392"/>
          </a:xfrm>
          <a:effectLst/>
        </p:grpSpPr>
        <p:sp>
          <p:nvSpPr>
            <p:cNvPr id="75" name="テキスト ボックス 74">
              <a:extLst>
                <a:ext uri="{FF2B5EF4-FFF2-40B4-BE49-F238E27FC236}">
                  <a16:creationId xmlns:a16="http://schemas.microsoft.com/office/drawing/2014/main" id="{7156CF56-F399-B053-9A8F-18622DD3156D}"/>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6" name="直線コネクタ 75">
              <a:extLst>
                <a:ext uri="{FF2B5EF4-FFF2-40B4-BE49-F238E27FC236}">
                  <a16:creationId xmlns:a16="http://schemas.microsoft.com/office/drawing/2014/main" id="{D4A6152B-A089-3632-71F8-16A01ED351F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7" name="グループ化 76">
            <a:extLst>
              <a:ext uri="{FF2B5EF4-FFF2-40B4-BE49-F238E27FC236}">
                <a16:creationId xmlns:a16="http://schemas.microsoft.com/office/drawing/2014/main" id="{F9132DFB-9B28-508C-8C97-380A1ACED1FA}"/>
              </a:ext>
            </a:extLst>
          </p:cNvPr>
          <p:cNvGrpSpPr/>
          <p:nvPr/>
        </p:nvGrpSpPr>
        <p:grpSpPr>
          <a:xfrm>
            <a:off x="5150573" y="1460389"/>
            <a:ext cx="6854845" cy="212291"/>
            <a:chOff x="4709497" y="955750"/>
            <a:chExt cx="3307096" cy="243392"/>
          </a:xfrm>
          <a:effectLst/>
        </p:grpSpPr>
        <p:sp>
          <p:nvSpPr>
            <p:cNvPr id="79" name="テキスト ボックス 78">
              <a:extLst>
                <a:ext uri="{FF2B5EF4-FFF2-40B4-BE49-F238E27FC236}">
                  <a16:creationId xmlns:a16="http://schemas.microsoft.com/office/drawing/2014/main" id="{2B08BB11-1D2C-C6CC-D26B-647105FE8140}"/>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0" name="直線コネクタ 79">
              <a:extLst>
                <a:ext uri="{FF2B5EF4-FFF2-40B4-BE49-F238E27FC236}">
                  <a16:creationId xmlns:a16="http://schemas.microsoft.com/office/drawing/2014/main" id="{CEF33BCF-52A2-DBEC-CFB7-B814904E0B3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1" name="グループ化 80">
            <a:extLst>
              <a:ext uri="{FF2B5EF4-FFF2-40B4-BE49-F238E27FC236}">
                <a16:creationId xmlns:a16="http://schemas.microsoft.com/office/drawing/2014/main" id="{4E253EE6-5B27-E717-8441-09EA1B4D49E7}"/>
              </a:ext>
            </a:extLst>
          </p:cNvPr>
          <p:cNvGrpSpPr/>
          <p:nvPr/>
        </p:nvGrpSpPr>
        <p:grpSpPr>
          <a:xfrm>
            <a:off x="5646553" y="1770730"/>
            <a:ext cx="425384" cy="212291"/>
            <a:chOff x="4709497" y="955750"/>
            <a:chExt cx="3307096" cy="243392"/>
          </a:xfrm>
          <a:effectLst/>
        </p:grpSpPr>
        <p:sp>
          <p:nvSpPr>
            <p:cNvPr id="84" name="テキスト ボックス 83">
              <a:extLst>
                <a:ext uri="{FF2B5EF4-FFF2-40B4-BE49-F238E27FC236}">
                  <a16:creationId xmlns:a16="http://schemas.microsoft.com/office/drawing/2014/main" id="{FFB574EF-2073-ED48-B4D9-FF345B56143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5" name="直線コネクタ 84">
              <a:extLst>
                <a:ext uri="{FF2B5EF4-FFF2-40B4-BE49-F238E27FC236}">
                  <a16:creationId xmlns:a16="http://schemas.microsoft.com/office/drawing/2014/main" id="{045CFFB6-A370-711A-CC42-12BEFA5BB475}"/>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6" name="グループ化 85">
            <a:extLst>
              <a:ext uri="{FF2B5EF4-FFF2-40B4-BE49-F238E27FC236}">
                <a16:creationId xmlns:a16="http://schemas.microsoft.com/office/drawing/2014/main" id="{D7F21F00-E179-90EB-69DC-B7D0AB3610FC}"/>
              </a:ext>
            </a:extLst>
          </p:cNvPr>
          <p:cNvGrpSpPr/>
          <p:nvPr/>
        </p:nvGrpSpPr>
        <p:grpSpPr>
          <a:xfrm>
            <a:off x="5150574" y="1766917"/>
            <a:ext cx="425384" cy="212291"/>
            <a:chOff x="4709497" y="955750"/>
            <a:chExt cx="3307096" cy="243392"/>
          </a:xfrm>
          <a:effectLst/>
        </p:grpSpPr>
        <p:sp>
          <p:nvSpPr>
            <p:cNvPr id="87" name="テキスト ボックス 86">
              <a:extLst>
                <a:ext uri="{FF2B5EF4-FFF2-40B4-BE49-F238E27FC236}">
                  <a16:creationId xmlns:a16="http://schemas.microsoft.com/office/drawing/2014/main" id="{BDFAFED7-8B85-49E8-B764-48DD94A693D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0" name="直線コネクタ 89">
              <a:extLst>
                <a:ext uri="{FF2B5EF4-FFF2-40B4-BE49-F238E27FC236}">
                  <a16:creationId xmlns:a16="http://schemas.microsoft.com/office/drawing/2014/main" id="{995D1342-E450-3740-42DF-A64DAE1B1CC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1" name="グループ化 90">
            <a:extLst>
              <a:ext uri="{FF2B5EF4-FFF2-40B4-BE49-F238E27FC236}">
                <a16:creationId xmlns:a16="http://schemas.microsoft.com/office/drawing/2014/main" id="{B2842C72-2BF4-0BA5-8EEA-6B473F451991}"/>
              </a:ext>
            </a:extLst>
          </p:cNvPr>
          <p:cNvGrpSpPr/>
          <p:nvPr/>
        </p:nvGrpSpPr>
        <p:grpSpPr>
          <a:xfrm>
            <a:off x="6142530" y="1766917"/>
            <a:ext cx="3324438" cy="212291"/>
            <a:chOff x="4709497" y="955750"/>
            <a:chExt cx="3307096" cy="243392"/>
          </a:xfrm>
          <a:effectLst/>
        </p:grpSpPr>
        <p:sp>
          <p:nvSpPr>
            <p:cNvPr id="92" name="テキスト ボックス 91">
              <a:extLst>
                <a:ext uri="{FF2B5EF4-FFF2-40B4-BE49-F238E27FC236}">
                  <a16:creationId xmlns:a16="http://schemas.microsoft.com/office/drawing/2014/main" id="{72C015C4-FFBC-61F2-31D1-D530CBDECEF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3" name="直線コネクタ 92">
              <a:extLst>
                <a:ext uri="{FF2B5EF4-FFF2-40B4-BE49-F238E27FC236}">
                  <a16:creationId xmlns:a16="http://schemas.microsoft.com/office/drawing/2014/main" id="{E33B287B-7B73-73BF-A73F-22532ECEC207}"/>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4" name="グループ化 93">
            <a:extLst>
              <a:ext uri="{FF2B5EF4-FFF2-40B4-BE49-F238E27FC236}">
                <a16:creationId xmlns:a16="http://schemas.microsoft.com/office/drawing/2014/main" id="{D0083CA2-758C-88AC-2D67-C81FD223704F}"/>
              </a:ext>
            </a:extLst>
          </p:cNvPr>
          <p:cNvGrpSpPr/>
          <p:nvPr/>
        </p:nvGrpSpPr>
        <p:grpSpPr>
          <a:xfrm>
            <a:off x="9527942" y="1770730"/>
            <a:ext cx="2477476" cy="212291"/>
            <a:chOff x="4709497" y="955750"/>
            <a:chExt cx="3307096" cy="243392"/>
          </a:xfrm>
          <a:effectLst/>
        </p:grpSpPr>
        <p:sp>
          <p:nvSpPr>
            <p:cNvPr id="95" name="テキスト ボックス 94">
              <a:extLst>
                <a:ext uri="{FF2B5EF4-FFF2-40B4-BE49-F238E27FC236}">
                  <a16:creationId xmlns:a16="http://schemas.microsoft.com/office/drawing/2014/main" id="{A6746ACA-A85B-7283-0FB9-265BE92B7FB3}"/>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6" name="直線コネクタ 95">
              <a:extLst>
                <a:ext uri="{FF2B5EF4-FFF2-40B4-BE49-F238E27FC236}">
                  <a16:creationId xmlns:a16="http://schemas.microsoft.com/office/drawing/2014/main" id="{CF1863DF-F8B2-25E6-6E37-B7C1B0327004}"/>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Tree>
    <p:extLst>
      <p:ext uri="{BB962C8B-B14F-4D97-AF65-F5344CB8AC3E}">
        <p14:creationId xmlns:p14="http://schemas.microsoft.com/office/powerpoint/2010/main" val="21684204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34</a:t>
            </a:fld>
            <a:endParaRPr lang="en-US" altLang="ja-JP"/>
          </a:p>
        </p:txBody>
      </p:sp>
      <p:sp>
        <p:nvSpPr>
          <p:cNvPr id="33" name="タイトル 2">
            <a:extLst>
              <a:ext uri="{FF2B5EF4-FFF2-40B4-BE49-F238E27FC236}">
                <a16:creationId xmlns:a16="http://schemas.microsoft.com/office/drawing/2014/main" id="{5DB01A60-FE9B-A3D7-FB3B-4DE7E0AD2108}"/>
              </a:ext>
            </a:extLst>
          </p:cNvPr>
          <p:cNvSpPr>
            <a:spLocks noGrp="1"/>
          </p:cNvSpPr>
          <p:nvPr>
            <p:ph type="title"/>
          </p:nvPr>
        </p:nvSpPr>
        <p:spPr>
          <a:xfrm>
            <a:off x="203200" y="124971"/>
            <a:ext cx="11480800" cy="379413"/>
          </a:xfrm>
        </p:spPr>
        <p:txBody>
          <a:bodyPr/>
          <a:lstStyle/>
          <a:p>
            <a:r>
              <a:rPr lang="en-US" altLang="ja-JP" kern="0"/>
              <a:t>6. </a:t>
            </a:r>
            <a:r>
              <a:rPr lang="ja-JP" altLang="en-US" kern="0"/>
              <a:t>各システム対応内容（ミスギ）</a:t>
            </a:r>
          </a:p>
        </p:txBody>
      </p:sp>
      <p:sp>
        <p:nvSpPr>
          <p:cNvPr id="34" name="コンテンツ プレースホルダー 5">
            <a:extLst>
              <a:ext uri="{FF2B5EF4-FFF2-40B4-BE49-F238E27FC236}">
                <a16:creationId xmlns:a16="http://schemas.microsoft.com/office/drawing/2014/main" id="{C26912F8-8220-9E20-136C-7A6E53629F5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a:t>ミスギの各機能における改修内容と規模は以下。</a:t>
            </a:r>
            <a:endParaRPr lang="en-US" altLang="ja-JP" sz="1600"/>
          </a:p>
        </p:txBody>
      </p:sp>
      <p:sp>
        <p:nvSpPr>
          <p:cNvPr id="88" name="正方形/長方形 87">
            <a:extLst>
              <a:ext uri="{FF2B5EF4-FFF2-40B4-BE49-F238E27FC236}">
                <a16:creationId xmlns:a16="http://schemas.microsoft.com/office/drawing/2014/main" id="{6C9C806A-1212-5714-3B4C-51F610412B37}"/>
              </a:ext>
            </a:extLst>
          </p:cNvPr>
          <p:cNvSpPr/>
          <p:nvPr/>
        </p:nvSpPr>
        <p:spPr>
          <a:xfrm>
            <a:off x="954948" y="3228182"/>
            <a:ext cx="1576800" cy="1073117"/>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名寄せ</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9" name="正方形/長方形 88">
            <a:extLst>
              <a:ext uri="{FF2B5EF4-FFF2-40B4-BE49-F238E27FC236}">
                <a16:creationId xmlns:a16="http://schemas.microsoft.com/office/drawing/2014/main" id="{B3879882-99CF-E254-2DE6-AA0D847F72FB}"/>
              </a:ext>
            </a:extLst>
          </p:cNvPr>
          <p:cNvSpPr/>
          <p:nvPr/>
        </p:nvSpPr>
        <p:spPr>
          <a:xfrm>
            <a:off x="2602505" y="3228182"/>
            <a:ext cx="2476800" cy="1073117"/>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下請事業者フラグ</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消費税転嫁法</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フラグのクリーニング業務を継続</a:t>
            </a:r>
          </a:p>
        </p:txBody>
      </p:sp>
      <p:sp>
        <p:nvSpPr>
          <p:cNvPr id="18" name="正方形/長方形 17">
            <a:extLst>
              <a:ext uri="{FF2B5EF4-FFF2-40B4-BE49-F238E27FC236}">
                <a16:creationId xmlns:a16="http://schemas.microsoft.com/office/drawing/2014/main" id="{FE6031BE-91BF-EFFA-6134-3115B2DC9FD6}"/>
              </a:ext>
            </a:extLst>
          </p:cNvPr>
          <p:cNvSpPr/>
          <p:nvPr/>
        </p:nvSpPr>
        <p:spPr>
          <a:xfrm>
            <a:off x="5150574" y="3228182"/>
            <a:ext cx="4248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0A80CF4C-7B30-34DD-279B-DAE1FB138391}"/>
              </a:ext>
            </a:extLst>
          </p:cNvPr>
          <p:cNvSpPr/>
          <p:nvPr/>
        </p:nvSpPr>
        <p:spPr>
          <a:xfrm>
            <a:off x="5646553" y="3228182"/>
            <a:ext cx="424800" cy="1073117"/>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43EE0EA0-26E7-90EE-3653-3189DC386CDA}"/>
              </a:ext>
            </a:extLst>
          </p:cNvPr>
          <p:cNvSpPr/>
          <p:nvPr/>
        </p:nvSpPr>
        <p:spPr>
          <a:xfrm>
            <a:off x="6142530" y="3228182"/>
            <a:ext cx="33264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マスタ管理システムや</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から必要なデータを取込む機能の構築（パートナーマスタ等）</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名寄せ業者（リアライズ社）へ連携する、名寄せ</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対象ファイルを出力する機能の構築</a:t>
            </a: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名寄せ業者（リアライズ社）で名寄せした</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結果ファイルを取込む機能の構築</a:t>
            </a:r>
          </a:p>
        </p:txBody>
      </p:sp>
      <p:sp>
        <p:nvSpPr>
          <p:cNvPr id="21" name="正方形/長方形 20">
            <a:extLst>
              <a:ext uri="{FF2B5EF4-FFF2-40B4-BE49-F238E27FC236}">
                <a16:creationId xmlns:a16="http://schemas.microsoft.com/office/drawing/2014/main" id="{ABFFBB38-1945-D27F-5448-31EB7EFE48B2}"/>
              </a:ext>
            </a:extLst>
          </p:cNvPr>
          <p:cNvSpPr/>
          <p:nvPr/>
        </p:nvSpPr>
        <p:spPr>
          <a:xfrm>
            <a:off x="9527942" y="3228182"/>
            <a:ext cx="24768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8A9D92D9-EFB0-749B-CF82-ED888B85078B}"/>
              </a:ext>
            </a:extLst>
          </p:cNvPr>
          <p:cNvSpPr/>
          <p:nvPr/>
        </p:nvSpPr>
        <p:spPr>
          <a:xfrm>
            <a:off x="954948" y="4376787"/>
            <a:ext cx="1576800" cy="1073117"/>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資本金・下請</a:t>
            </a: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区分変更</a:t>
            </a:r>
          </a:p>
        </p:txBody>
      </p:sp>
      <p:sp>
        <p:nvSpPr>
          <p:cNvPr id="56" name="正方形/長方形 55">
            <a:extLst>
              <a:ext uri="{FF2B5EF4-FFF2-40B4-BE49-F238E27FC236}">
                <a16:creationId xmlns:a16="http://schemas.microsoft.com/office/drawing/2014/main" id="{5E44FDF6-A8B4-ADD0-2CE4-CF9C1A81267F}"/>
              </a:ext>
            </a:extLst>
          </p:cNvPr>
          <p:cNvSpPr/>
          <p:nvPr/>
        </p:nvSpPr>
        <p:spPr>
          <a:xfrm>
            <a:off x="2602505" y="4376787"/>
            <a:ext cx="2476800" cy="1073117"/>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下請事業者フラグ</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消費税転嫁法</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フラグのクリーニング業務を継続</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クリーニング後のフラグをマスタ管理</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システムへ連携</a:t>
            </a:r>
          </a:p>
        </p:txBody>
      </p:sp>
      <p:sp>
        <p:nvSpPr>
          <p:cNvPr id="57" name="正方形/長方形 56">
            <a:extLst>
              <a:ext uri="{FF2B5EF4-FFF2-40B4-BE49-F238E27FC236}">
                <a16:creationId xmlns:a16="http://schemas.microsoft.com/office/drawing/2014/main" id="{71BE5D24-7798-0901-E278-EEC21734A48C}"/>
              </a:ext>
            </a:extLst>
          </p:cNvPr>
          <p:cNvSpPr/>
          <p:nvPr/>
        </p:nvSpPr>
        <p:spPr>
          <a:xfrm>
            <a:off x="5150574" y="4376787"/>
            <a:ext cx="424800" cy="107311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82528AAD-2847-0D3C-BB2D-763529E801D3}"/>
              </a:ext>
            </a:extLst>
          </p:cNvPr>
          <p:cNvSpPr/>
          <p:nvPr/>
        </p:nvSpPr>
        <p:spPr>
          <a:xfrm>
            <a:off x="5646553" y="4376787"/>
            <a:ext cx="424800" cy="107311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7B13D8EF-6341-C152-6767-D67C35A2FD2A}"/>
              </a:ext>
            </a:extLst>
          </p:cNvPr>
          <p:cNvSpPr/>
          <p:nvPr/>
        </p:nvSpPr>
        <p:spPr>
          <a:xfrm>
            <a:off x="6142530" y="4376787"/>
            <a:ext cx="3326400" cy="107311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経理担当者がマスタ管理システムへアップロードする、</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フラグ更新ファイルを出力する機能の構築</a:t>
            </a:r>
          </a:p>
        </p:txBody>
      </p:sp>
      <p:sp>
        <p:nvSpPr>
          <p:cNvPr id="62" name="正方形/長方形 61">
            <a:extLst>
              <a:ext uri="{FF2B5EF4-FFF2-40B4-BE49-F238E27FC236}">
                <a16:creationId xmlns:a16="http://schemas.microsoft.com/office/drawing/2014/main" id="{73C96CEB-FAC9-BD26-7EF0-4C44C0160782}"/>
              </a:ext>
            </a:extLst>
          </p:cNvPr>
          <p:cNvSpPr/>
          <p:nvPr/>
        </p:nvSpPr>
        <p:spPr>
          <a:xfrm>
            <a:off x="9527942" y="4376787"/>
            <a:ext cx="2476800" cy="107311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2" name="正方形/長方形 81">
            <a:extLst>
              <a:ext uri="{FF2B5EF4-FFF2-40B4-BE49-F238E27FC236}">
                <a16:creationId xmlns:a16="http://schemas.microsoft.com/office/drawing/2014/main" id="{3332EA76-8357-1C33-CC8B-9C6E11609D55}"/>
              </a:ext>
            </a:extLst>
          </p:cNvPr>
          <p:cNvSpPr/>
          <p:nvPr/>
        </p:nvSpPr>
        <p:spPr>
          <a:xfrm>
            <a:off x="954948" y="2079577"/>
            <a:ext cx="1576800" cy="1073117"/>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支払予実</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3" name="正方形/長方形 82">
            <a:extLst>
              <a:ext uri="{FF2B5EF4-FFF2-40B4-BE49-F238E27FC236}">
                <a16:creationId xmlns:a16="http://schemas.microsoft.com/office/drawing/2014/main" id="{56ED9496-7245-2D8D-311F-5AF7768A2A3C}"/>
              </a:ext>
            </a:extLst>
          </p:cNvPr>
          <p:cNvSpPr/>
          <p:nvPr/>
        </p:nvSpPr>
        <p:spPr>
          <a:xfrm>
            <a:off x="2602505" y="2079577"/>
            <a:ext cx="2476800" cy="1073117"/>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消費税未払有無の事後チェックや、チェック結果のミスギ反映を継続</a:t>
            </a:r>
          </a:p>
        </p:txBody>
      </p:sp>
      <p:sp>
        <p:nvSpPr>
          <p:cNvPr id="47" name="正方形/長方形 46">
            <a:extLst>
              <a:ext uri="{FF2B5EF4-FFF2-40B4-BE49-F238E27FC236}">
                <a16:creationId xmlns:a16="http://schemas.microsoft.com/office/drawing/2014/main" id="{5C961771-6E48-95C7-13A1-25E280D54564}"/>
              </a:ext>
            </a:extLst>
          </p:cNvPr>
          <p:cNvSpPr/>
          <p:nvPr/>
        </p:nvSpPr>
        <p:spPr>
          <a:xfrm>
            <a:off x="6142530" y="2079577"/>
            <a:ext cx="33264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マスタ管理システムや</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から必要なデータを取込む機能の構築（支払予実など）</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未払有無チェックの対象ファイルを出力する機能構築</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チェック結果ファイルを取込む機能の構築</a:t>
            </a:r>
          </a:p>
        </p:txBody>
      </p:sp>
      <p:sp>
        <p:nvSpPr>
          <p:cNvPr id="54" name="正方形/長方形 53">
            <a:extLst>
              <a:ext uri="{FF2B5EF4-FFF2-40B4-BE49-F238E27FC236}">
                <a16:creationId xmlns:a16="http://schemas.microsoft.com/office/drawing/2014/main" id="{882D3876-C834-7F58-B2DF-CBCE4AEA95BB}"/>
              </a:ext>
            </a:extLst>
          </p:cNvPr>
          <p:cNvSpPr/>
          <p:nvPr/>
        </p:nvSpPr>
        <p:spPr>
          <a:xfrm>
            <a:off x="9527942" y="2079577"/>
            <a:ext cx="24768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FD9C4CB2-4757-0A18-E760-578171A6CFDC}"/>
              </a:ext>
            </a:extLst>
          </p:cNvPr>
          <p:cNvSpPr/>
          <p:nvPr/>
        </p:nvSpPr>
        <p:spPr>
          <a:xfrm>
            <a:off x="5150574" y="2079577"/>
            <a:ext cx="4248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C0BFBA00-3449-F842-2BA1-E08968E4972C}"/>
              </a:ext>
            </a:extLst>
          </p:cNvPr>
          <p:cNvSpPr/>
          <p:nvPr/>
        </p:nvSpPr>
        <p:spPr>
          <a:xfrm>
            <a:off x="5646553" y="2079577"/>
            <a:ext cx="424800" cy="1073117"/>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1DE4F22D-9681-E64D-E435-800DFA236575}"/>
              </a:ext>
            </a:extLst>
          </p:cNvPr>
          <p:cNvSpPr/>
          <p:nvPr/>
        </p:nvSpPr>
        <p:spPr>
          <a:xfrm>
            <a:off x="954948" y="5525392"/>
            <a:ext cx="1576800" cy="520299"/>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ID</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・権限管理</a:t>
            </a:r>
          </a:p>
        </p:txBody>
      </p:sp>
      <p:sp>
        <p:nvSpPr>
          <p:cNvPr id="14" name="正方形/長方形 13">
            <a:extLst>
              <a:ext uri="{FF2B5EF4-FFF2-40B4-BE49-F238E27FC236}">
                <a16:creationId xmlns:a16="http://schemas.microsoft.com/office/drawing/2014/main" id="{A98B3F63-E244-E3D3-B13E-E56206540D8C}"/>
              </a:ext>
            </a:extLst>
          </p:cNvPr>
          <p:cNvSpPr/>
          <p:nvPr/>
        </p:nvSpPr>
        <p:spPr>
          <a:xfrm>
            <a:off x="2602505" y="5525392"/>
            <a:ext cx="2476800" cy="520299"/>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D0829A3F-8558-5EBB-1663-FEE5E54B544E}"/>
              </a:ext>
            </a:extLst>
          </p:cNvPr>
          <p:cNvSpPr/>
          <p:nvPr/>
        </p:nvSpPr>
        <p:spPr>
          <a:xfrm>
            <a:off x="5150574" y="5525392"/>
            <a:ext cx="424800" cy="520299"/>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6" name="正方形/長方形 15">
            <a:extLst>
              <a:ext uri="{FF2B5EF4-FFF2-40B4-BE49-F238E27FC236}">
                <a16:creationId xmlns:a16="http://schemas.microsoft.com/office/drawing/2014/main" id="{36B4EBBA-78BB-BAE2-34BC-9A0A0DDE68D3}"/>
              </a:ext>
            </a:extLst>
          </p:cNvPr>
          <p:cNvSpPr/>
          <p:nvPr/>
        </p:nvSpPr>
        <p:spPr>
          <a:xfrm>
            <a:off x="5646553" y="5525392"/>
            <a:ext cx="424800" cy="520299"/>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7" name="正方形/長方形 16">
            <a:extLst>
              <a:ext uri="{FF2B5EF4-FFF2-40B4-BE49-F238E27FC236}">
                <a16:creationId xmlns:a16="http://schemas.microsoft.com/office/drawing/2014/main" id="{BD42B24E-6663-B37F-E1AE-9FAE9D950874}"/>
              </a:ext>
            </a:extLst>
          </p:cNvPr>
          <p:cNvSpPr/>
          <p:nvPr/>
        </p:nvSpPr>
        <p:spPr>
          <a:xfrm>
            <a:off x="6142530" y="5525392"/>
            <a:ext cx="3326400" cy="520299"/>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D24841B7-735C-D2FA-BA61-0734B2BC3CCD}"/>
              </a:ext>
            </a:extLst>
          </p:cNvPr>
          <p:cNvSpPr/>
          <p:nvPr/>
        </p:nvSpPr>
        <p:spPr>
          <a:xfrm>
            <a:off x="9527942" y="5525392"/>
            <a:ext cx="2476800" cy="520299"/>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97C7E667-0507-3FF8-E4F9-884C0CEF103E}"/>
              </a:ext>
            </a:extLst>
          </p:cNvPr>
          <p:cNvSpPr/>
          <p:nvPr/>
        </p:nvSpPr>
        <p:spPr bwMode="auto">
          <a:xfrm>
            <a:off x="186827" y="2079576"/>
            <a:ext cx="697526" cy="3966114"/>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ミスギ</a:t>
            </a:r>
            <a:endParaRPr lang="en-US" altLang="ja-JP" sz="1000" b="1">
              <a:solidFill>
                <a:schemeClr val="bg1"/>
              </a:solidFill>
              <a:latin typeface="Meiryo UI" panose="020B0604030504040204" pitchFamily="50" charset="-128"/>
              <a:ea typeface="Meiryo UI" panose="020B0604030504040204" pitchFamily="50" charset="-128"/>
            </a:endParaRPr>
          </a:p>
        </p:txBody>
      </p:sp>
      <p:grpSp>
        <p:nvGrpSpPr>
          <p:cNvPr id="66" name="グループ化 65">
            <a:extLst>
              <a:ext uri="{FF2B5EF4-FFF2-40B4-BE49-F238E27FC236}">
                <a16:creationId xmlns:a16="http://schemas.microsoft.com/office/drawing/2014/main" id="{F99C9D3F-BBE0-73B2-F4EA-DC2E6508949A}"/>
              </a:ext>
            </a:extLst>
          </p:cNvPr>
          <p:cNvGrpSpPr/>
          <p:nvPr/>
        </p:nvGrpSpPr>
        <p:grpSpPr>
          <a:xfrm>
            <a:off x="954948" y="1770730"/>
            <a:ext cx="1576963" cy="212291"/>
            <a:chOff x="4709497" y="955750"/>
            <a:chExt cx="3307096" cy="243392"/>
          </a:xfrm>
          <a:effectLst/>
        </p:grpSpPr>
        <p:sp>
          <p:nvSpPr>
            <p:cNvPr id="67" name="テキスト ボックス 66">
              <a:extLst>
                <a:ext uri="{FF2B5EF4-FFF2-40B4-BE49-F238E27FC236}">
                  <a16:creationId xmlns:a16="http://schemas.microsoft.com/office/drawing/2014/main" id="{1D661017-A075-0766-FA34-53A50DD857B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8" name="直線コネクタ 67">
              <a:extLst>
                <a:ext uri="{FF2B5EF4-FFF2-40B4-BE49-F238E27FC236}">
                  <a16:creationId xmlns:a16="http://schemas.microsoft.com/office/drawing/2014/main" id="{57EAECB0-68FD-F166-308D-7CB1DADA8C3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4" name="グループ化 73">
            <a:extLst>
              <a:ext uri="{FF2B5EF4-FFF2-40B4-BE49-F238E27FC236}">
                <a16:creationId xmlns:a16="http://schemas.microsoft.com/office/drawing/2014/main" id="{F09D3F29-8318-8BA4-A929-4FD11E151D97}"/>
              </a:ext>
            </a:extLst>
          </p:cNvPr>
          <p:cNvGrpSpPr/>
          <p:nvPr/>
        </p:nvGrpSpPr>
        <p:grpSpPr>
          <a:xfrm>
            <a:off x="2602505" y="1770730"/>
            <a:ext cx="2477476" cy="212291"/>
            <a:chOff x="4709497" y="955750"/>
            <a:chExt cx="3307096" cy="243392"/>
          </a:xfrm>
          <a:effectLst/>
        </p:grpSpPr>
        <p:sp>
          <p:nvSpPr>
            <p:cNvPr id="75" name="テキスト ボックス 74">
              <a:extLst>
                <a:ext uri="{FF2B5EF4-FFF2-40B4-BE49-F238E27FC236}">
                  <a16:creationId xmlns:a16="http://schemas.microsoft.com/office/drawing/2014/main" id="{7156CF56-F399-B053-9A8F-18622DD3156D}"/>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6" name="直線コネクタ 75">
              <a:extLst>
                <a:ext uri="{FF2B5EF4-FFF2-40B4-BE49-F238E27FC236}">
                  <a16:creationId xmlns:a16="http://schemas.microsoft.com/office/drawing/2014/main" id="{D4A6152B-A089-3632-71F8-16A01ED351F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7" name="グループ化 76">
            <a:extLst>
              <a:ext uri="{FF2B5EF4-FFF2-40B4-BE49-F238E27FC236}">
                <a16:creationId xmlns:a16="http://schemas.microsoft.com/office/drawing/2014/main" id="{F9132DFB-9B28-508C-8C97-380A1ACED1FA}"/>
              </a:ext>
            </a:extLst>
          </p:cNvPr>
          <p:cNvGrpSpPr/>
          <p:nvPr/>
        </p:nvGrpSpPr>
        <p:grpSpPr>
          <a:xfrm>
            <a:off x="5150573" y="1460389"/>
            <a:ext cx="6854845" cy="212291"/>
            <a:chOff x="4709497" y="955750"/>
            <a:chExt cx="3307096" cy="243392"/>
          </a:xfrm>
          <a:effectLst/>
        </p:grpSpPr>
        <p:sp>
          <p:nvSpPr>
            <p:cNvPr id="79" name="テキスト ボックス 78">
              <a:extLst>
                <a:ext uri="{FF2B5EF4-FFF2-40B4-BE49-F238E27FC236}">
                  <a16:creationId xmlns:a16="http://schemas.microsoft.com/office/drawing/2014/main" id="{2B08BB11-1D2C-C6CC-D26B-647105FE8140}"/>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0" name="直線コネクタ 79">
              <a:extLst>
                <a:ext uri="{FF2B5EF4-FFF2-40B4-BE49-F238E27FC236}">
                  <a16:creationId xmlns:a16="http://schemas.microsoft.com/office/drawing/2014/main" id="{CEF33BCF-52A2-DBEC-CFB7-B814904E0B3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1" name="グループ化 80">
            <a:extLst>
              <a:ext uri="{FF2B5EF4-FFF2-40B4-BE49-F238E27FC236}">
                <a16:creationId xmlns:a16="http://schemas.microsoft.com/office/drawing/2014/main" id="{4E253EE6-5B27-E717-8441-09EA1B4D49E7}"/>
              </a:ext>
            </a:extLst>
          </p:cNvPr>
          <p:cNvGrpSpPr/>
          <p:nvPr/>
        </p:nvGrpSpPr>
        <p:grpSpPr>
          <a:xfrm>
            <a:off x="5646553" y="1770730"/>
            <a:ext cx="425384" cy="212291"/>
            <a:chOff x="4709497" y="955750"/>
            <a:chExt cx="3307096" cy="243392"/>
          </a:xfrm>
          <a:effectLst/>
        </p:grpSpPr>
        <p:sp>
          <p:nvSpPr>
            <p:cNvPr id="84" name="テキスト ボックス 83">
              <a:extLst>
                <a:ext uri="{FF2B5EF4-FFF2-40B4-BE49-F238E27FC236}">
                  <a16:creationId xmlns:a16="http://schemas.microsoft.com/office/drawing/2014/main" id="{FFB574EF-2073-ED48-B4D9-FF345B56143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5" name="直線コネクタ 84">
              <a:extLst>
                <a:ext uri="{FF2B5EF4-FFF2-40B4-BE49-F238E27FC236}">
                  <a16:creationId xmlns:a16="http://schemas.microsoft.com/office/drawing/2014/main" id="{045CFFB6-A370-711A-CC42-12BEFA5BB475}"/>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6" name="グループ化 85">
            <a:extLst>
              <a:ext uri="{FF2B5EF4-FFF2-40B4-BE49-F238E27FC236}">
                <a16:creationId xmlns:a16="http://schemas.microsoft.com/office/drawing/2014/main" id="{D7F21F00-E179-90EB-69DC-B7D0AB3610FC}"/>
              </a:ext>
            </a:extLst>
          </p:cNvPr>
          <p:cNvGrpSpPr/>
          <p:nvPr/>
        </p:nvGrpSpPr>
        <p:grpSpPr>
          <a:xfrm>
            <a:off x="5150574" y="1766917"/>
            <a:ext cx="425384" cy="212291"/>
            <a:chOff x="4709497" y="955750"/>
            <a:chExt cx="3307096" cy="243392"/>
          </a:xfrm>
          <a:effectLst/>
        </p:grpSpPr>
        <p:sp>
          <p:nvSpPr>
            <p:cNvPr id="87" name="テキスト ボックス 86">
              <a:extLst>
                <a:ext uri="{FF2B5EF4-FFF2-40B4-BE49-F238E27FC236}">
                  <a16:creationId xmlns:a16="http://schemas.microsoft.com/office/drawing/2014/main" id="{BDFAFED7-8B85-49E8-B764-48DD94A693D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0" name="直線コネクタ 89">
              <a:extLst>
                <a:ext uri="{FF2B5EF4-FFF2-40B4-BE49-F238E27FC236}">
                  <a16:creationId xmlns:a16="http://schemas.microsoft.com/office/drawing/2014/main" id="{995D1342-E450-3740-42DF-A64DAE1B1CC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1" name="グループ化 90">
            <a:extLst>
              <a:ext uri="{FF2B5EF4-FFF2-40B4-BE49-F238E27FC236}">
                <a16:creationId xmlns:a16="http://schemas.microsoft.com/office/drawing/2014/main" id="{B2842C72-2BF4-0BA5-8EEA-6B473F451991}"/>
              </a:ext>
            </a:extLst>
          </p:cNvPr>
          <p:cNvGrpSpPr/>
          <p:nvPr/>
        </p:nvGrpSpPr>
        <p:grpSpPr>
          <a:xfrm>
            <a:off x="6142530" y="1766917"/>
            <a:ext cx="3324438" cy="212291"/>
            <a:chOff x="4709497" y="955750"/>
            <a:chExt cx="3307096" cy="243392"/>
          </a:xfrm>
          <a:effectLst/>
        </p:grpSpPr>
        <p:sp>
          <p:nvSpPr>
            <p:cNvPr id="92" name="テキスト ボックス 91">
              <a:extLst>
                <a:ext uri="{FF2B5EF4-FFF2-40B4-BE49-F238E27FC236}">
                  <a16:creationId xmlns:a16="http://schemas.microsoft.com/office/drawing/2014/main" id="{72C015C4-FFBC-61F2-31D1-D530CBDECEF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3" name="直線コネクタ 92">
              <a:extLst>
                <a:ext uri="{FF2B5EF4-FFF2-40B4-BE49-F238E27FC236}">
                  <a16:creationId xmlns:a16="http://schemas.microsoft.com/office/drawing/2014/main" id="{E33B287B-7B73-73BF-A73F-22532ECEC207}"/>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4" name="グループ化 93">
            <a:extLst>
              <a:ext uri="{FF2B5EF4-FFF2-40B4-BE49-F238E27FC236}">
                <a16:creationId xmlns:a16="http://schemas.microsoft.com/office/drawing/2014/main" id="{D0083CA2-758C-88AC-2D67-C81FD223704F}"/>
              </a:ext>
            </a:extLst>
          </p:cNvPr>
          <p:cNvGrpSpPr/>
          <p:nvPr/>
        </p:nvGrpSpPr>
        <p:grpSpPr>
          <a:xfrm>
            <a:off x="9527942" y="1770730"/>
            <a:ext cx="2477476" cy="212291"/>
            <a:chOff x="4709497" y="955750"/>
            <a:chExt cx="3307096" cy="243392"/>
          </a:xfrm>
          <a:effectLst/>
        </p:grpSpPr>
        <p:sp>
          <p:nvSpPr>
            <p:cNvPr id="95" name="テキスト ボックス 94">
              <a:extLst>
                <a:ext uri="{FF2B5EF4-FFF2-40B4-BE49-F238E27FC236}">
                  <a16:creationId xmlns:a16="http://schemas.microsoft.com/office/drawing/2014/main" id="{A6746ACA-A85B-7283-0FB9-265BE92B7FB3}"/>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6" name="直線コネクタ 95">
              <a:extLst>
                <a:ext uri="{FF2B5EF4-FFF2-40B4-BE49-F238E27FC236}">
                  <a16:creationId xmlns:a16="http://schemas.microsoft.com/office/drawing/2014/main" id="{CF1863DF-F8B2-25E6-6E37-B7C1B0327004}"/>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Tree>
    <p:extLst>
      <p:ext uri="{BB962C8B-B14F-4D97-AF65-F5344CB8AC3E}">
        <p14:creationId xmlns:p14="http://schemas.microsoft.com/office/powerpoint/2010/main" val="19325848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4" name="カギ線コネクタ 58">
            <a:extLst>
              <a:ext uri="{FF2B5EF4-FFF2-40B4-BE49-F238E27FC236}">
                <a16:creationId xmlns:a16="http://schemas.microsoft.com/office/drawing/2014/main" id="{5FA2C85B-65B3-ECFE-42AE-44CD295503F8}"/>
              </a:ext>
            </a:extLst>
          </p:cNvPr>
          <p:cNvCxnSpPr>
            <a:cxnSpLocks/>
            <a:stCxn id="190" idx="2"/>
            <a:endCxn id="227" idx="0"/>
          </p:cNvCxnSpPr>
          <p:nvPr/>
        </p:nvCxnSpPr>
        <p:spPr>
          <a:xfrm rot="16200000" flipH="1">
            <a:off x="5115069" y="916256"/>
            <a:ext cx="1649536" cy="5514611"/>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96" name="カギ線コネクタ 58">
            <a:extLst>
              <a:ext uri="{FF2B5EF4-FFF2-40B4-BE49-F238E27FC236}">
                <a16:creationId xmlns:a16="http://schemas.microsoft.com/office/drawing/2014/main" id="{7083564F-5AC0-5A6D-21A2-432F67847909}"/>
              </a:ext>
            </a:extLst>
          </p:cNvPr>
          <p:cNvCxnSpPr>
            <a:cxnSpLocks/>
            <a:stCxn id="190" idx="2"/>
            <a:endCxn id="233" idx="0"/>
          </p:cNvCxnSpPr>
          <p:nvPr/>
        </p:nvCxnSpPr>
        <p:spPr>
          <a:xfrm rot="16200000" flipH="1">
            <a:off x="6468571" y="-437246"/>
            <a:ext cx="1649536" cy="8221615"/>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98" name="カギ線コネクタ 58">
            <a:extLst>
              <a:ext uri="{FF2B5EF4-FFF2-40B4-BE49-F238E27FC236}">
                <a16:creationId xmlns:a16="http://schemas.microsoft.com/office/drawing/2014/main" id="{FC6F58AD-CFEE-9FB8-8DAC-2136815AA5CD}"/>
              </a:ext>
            </a:extLst>
          </p:cNvPr>
          <p:cNvCxnSpPr>
            <a:cxnSpLocks/>
            <a:stCxn id="190" idx="2"/>
            <a:endCxn id="274" idx="0"/>
          </p:cNvCxnSpPr>
          <p:nvPr/>
        </p:nvCxnSpPr>
        <p:spPr>
          <a:xfrm rot="16200000" flipH="1">
            <a:off x="3084815" y="2946511"/>
            <a:ext cx="1649536" cy="1454102"/>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99" name="カギ線コネクタ 58">
            <a:extLst>
              <a:ext uri="{FF2B5EF4-FFF2-40B4-BE49-F238E27FC236}">
                <a16:creationId xmlns:a16="http://schemas.microsoft.com/office/drawing/2014/main" id="{60FCDD4B-B6CE-C363-A0F3-AD926AA8AA75}"/>
              </a:ext>
            </a:extLst>
          </p:cNvPr>
          <p:cNvCxnSpPr>
            <a:cxnSpLocks/>
            <a:stCxn id="190" idx="2"/>
            <a:endCxn id="230" idx="0"/>
          </p:cNvCxnSpPr>
          <p:nvPr/>
        </p:nvCxnSpPr>
        <p:spPr>
          <a:xfrm rot="5400000">
            <a:off x="1449522" y="2765320"/>
            <a:ext cx="1649536" cy="1816484"/>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00" name="カギ線コネクタ 58">
            <a:extLst>
              <a:ext uri="{FF2B5EF4-FFF2-40B4-BE49-F238E27FC236}">
                <a16:creationId xmlns:a16="http://schemas.microsoft.com/office/drawing/2014/main" id="{D3E78C90-DC58-E15C-D534-58F129B529DB}"/>
              </a:ext>
            </a:extLst>
          </p:cNvPr>
          <p:cNvCxnSpPr>
            <a:cxnSpLocks/>
            <a:stCxn id="190" idx="2"/>
            <a:endCxn id="14" idx="0"/>
          </p:cNvCxnSpPr>
          <p:nvPr/>
        </p:nvCxnSpPr>
        <p:spPr>
          <a:xfrm rot="16200000" flipH="1">
            <a:off x="5791821" y="239505"/>
            <a:ext cx="1649536" cy="6868114"/>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90" name="正方形/長方形 189">
            <a:extLst>
              <a:ext uri="{FF2B5EF4-FFF2-40B4-BE49-F238E27FC236}">
                <a16:creationId xmlns:a16="http://schemas.microsoft.com/office/drawing/2014/main" id="{53384781-0D90-D07D-88C4-3B3C22309FBF}"/>
              </a:ext>
            </a:extLst>
          </p:cNvPr>
          <p:cNvSpPr/>
          <p:nvPr/>
        </p:nvSpPr>
        <p:spPr>
          <a:xfrm>
            <a:off x="2732532" y="2502077"/>
            <a:ext cx="900000" cy="346717"/>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勝美</a:t>
            </a:r>
          </a:p>
        </p:txBody>
      </p:sp>
      <p:sp>
        <p:nvSpPr>
          <p:cNvPr id="191" name="正方形/長方形 190">
            <a:extLst>
              <a:ext uri="{FF2B5EF4-FFF2-40B4-BE49-F238E27FC236}">
                <a16:creationId xmlns:a16="http://schemas.microsoft.com/office/drawing/2014/main" id="{79F3CB86-1CB6-0DFE-727C-5628CB7672BE}"/>
              </a:ext>
            </a:extLst>
          </p:cNvPr>
          <p:cNvSpPr/>
          <p:nvPr/>
        </p:nvSpPr>
        <p:spPr>
          <a:xfrm>
            <a:off x="2732532" y="1856492"/>
            <a:ext cx="900000" cy="262223"/>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赤塚</a:t>
            </a:r>
          </a:p>
        </p:txBody>
      </p:sp>
      <p:cxnSp>
        <p:nvCxnSpPr>
          <p:cNvPr id="192" name="直線矢印コネクタ 191">
            <a:extLst>
              <a:ext uri="{FF2B5EF4-FFF2-40B4-BE49-F238E27FC236}">
                <a16:creationId xmlns:a16="http://schemas.microsoft.com/office/drawing/2014/main" id="{03698AA5-7DA9-3972-A298-AE8FADF90C27}"/>
              </a:ext>
            </a:extLst>
          </p:cNvPr>
          <p:cNvCxnSpPr>
            <a:cxnSpLocks/>
            <a:stCxn id="191" idx="2"/>
            <a:endCxn id="207" idx="0"/>
          </p:cNvCxnSpPr>
          <p:nvPr/>
        </p:nvCxnSpPr>
        <p:spPr>
          <a:xfrm>
            <a:off x="3182532" y="2118715"/>
            <a:ext cx="0" cy="157107"/>
          </a:xfrm>
          <a:prstGeom prst="straightConnector1">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07" name="正方形/長方形 206">
            <a:extLst>
              <a:ext uri="{FF2B5EF4-FFF2-40B4-BE49-F238E27FC236}">
                <a16:creationId xmlns:a16="http://schemas.microsoft.com/office/drawing/2014/main" id="{86688C24-8043-45D6-4622-8E31C15C6C76}"/>
              </a:ext>
            </a:extLst>
          </p:cNvPr>
          <p:cNvSpPr/>
          <p:nvPr/>
        </p:nvSpPr>
        <p:spPr>
          <a:xfrm>
            <a:off x="2732532" y="2275822"/>
            <a:ext cx="900000" cy="224762"/>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50" b="1">
                <a:solidFill>
                  <a:schemeClr val="bg1"/>
                </a:solidFill>
                <a:latin typeface="Meiryo UI" panose="020B0604030504040204" pitchFamily="50" charset="-128"/>
                <a:ea typeface="Meiryo UI" panose="020B0604030504040204" pitchFamily="50" charset="-128"/>
              </a:rPr>
              <a:t>PL</a:t>
            </a:r>
          </a:p>
        </p:txBody>
      </p:sp>
      <p:sp>
        <p:nvSpPr>
          <p:cNvPr id="208" name="正方形/長方形 207">
            <a:extLst>
              <a:ext uri="{FF2B5EF4-FFF2-40B4-BE49-F238E27FC236}">
                <a16:creationId xmlns:a16="http://schemas.microsoft.com/office/drawing/2014/main" id="{97EF0664-DCE3-2912-99ED-094904289F40}"/>
              </a:ext>
            </a:extLst>
          </p:cNvPr>
          <p:cNvSpPr/>
          <p:nvPr/>
        </p:nvSpPr>
        <p:spPr>
          <a:xfrm>
            <a:off x="2732532" y="1630237"/>
            <a:ext cx="900000" cy="224762"/>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50" b="1" dirty="0">
                <a:solidFill>
                  <a:schemeClr val="bg1"/>
                </a:solidFill>
                <a:latin typeface="Meiryo UI" panose="020B0604030504040204" pitchFamily="50" charset="-128"/>
                <a:ea typeface="Meiryo UI" panose="020B0604030504040204" pitchFamily="50" charset="-128"/>
              </a:rPr>
              <a:t>PM</a:t>
            </a:r>
          </a:p>
        </p:txBody>
      </p:sp>
      <p:cxnSp>
        <p:nvCxnSpPr>
          <p:cNvPr id="232" name="カギ線コネクタ 58">
            <a:extLst>
              <a:ext uri="{FF2B5EF4-FFF2-40B4-BE49-F238E27FC236}">
                <a16:creationId xmlns:a16="http://schemas.microsoft.com/office/drawing/2014/main" id="{02D43466-092D-3AF1-4E80-D19C22D357B0}"/>
              </a:ext>
            </a:extLst>
          </p:cNvPr>
          <p:cNvCxnSpPr>
            <a:cxnSpLocks/>
            <a:stCxn id="236" idx="2"/>
            <a:endCxn id="240" idx="0"/>
          </p:cNvCxnSpPr>
          <p:nvPr/>
        </p:nvCxnSpPr>
        <p:spPr>
          <a:xfrm rot="16200000" flipH="1">
            <a:off x="1579825" y="5294937"/>
            <a:ext cx="449496" cy="879173"/>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34" name="カギ線コネクタ 58">
            <a:extLst>
              <a:ext uri="{FF2B5EF4-FFF2-40B4-BE49-F238E27FC236}">
                <a16:creationId xmlns:a16="http://schemas.microsoft.com/office/drawing/2014/main" id="{BBC63E82-3A61-92F1-55B0-63A84C9940C3}"/>
              </a:ext>
            </a:extLst>
          </p:cNvPr>
          <p:cNvCxnSpPr>
            <a:cxnSpLocks/>
            <a:stCxn id="236" idx="2"/>
            <a:endCxn id="241" idx="0"/>
          </p:cNvCxnSpPr>
          <p:nvPr/>
        </p:nvCxnSpPr>
        <p:spPr>
          <a:xfrm rot="16200000" flipH="1">
            <a:off x="1286967" y="5587796"/>
            <a:ext cx="449496" cy="293456"/>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35" name="カギ線コネクタ 58">
            <a:extLst>
              <a:ext uri="{FF2B5EF4-FFF2-40B4-BE49-F238E27FC236}">
                <a16:creationId xmlns:a16="http://schemas.microsoft.com/office/drawing/2014/main" id="{33F7C109-2D91-7961-4195-BF5F9815B401}"/>
              </a:ext>
            </a:extLst>
          </p:cNvPr>
          <p:cNvCxnSpPr>
            <a:cxnSpLocks/>
            <a:stCxn id="236" idx="2"/>
            <a:endCxn id="239" idx="0"/>
          </p:cNvCxnSpPr>
          <p:nvPr/>
        </p:nvCxnSpPr>
        <p:spPr>
          <a:xfrm rot="5400000">
            <a:off x="994108" y="5588393"/>
            <a:ext cx="449496" cy="292262"/>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36" name="正方形/長方形 235">
            <a:extLst>
              <a:ext uri="{FF2B5EF4-FFF2-40B4-BE49-F238E27FC236}">
                <a16:creationId xmlns:a16="http://schemas.microsoft.com/office/drawing/2014/main" id="{E9B5564C-D94D-7D66-4E25-FC682C849BD1}"/>
              </a:ext>
            </a:extLst>
          </p:cNvPr>
          <p:cNvSpPr/>
          <p:nvPr/>
        </p:nvSpPr>
        <p:spPr>
          <a:xfrm>
            <a:off x="1022459" y="5135172"/>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 </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勝美</a:t>
            </a:r>
            <a:b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b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宇都宮</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46" name="グループ化 245">
            <a:extLst>
              <a:ext uri="{FF2B5EF4-FFF2-40B4-BE49-F238E27FC236}">
                <a16:creationId xmlns:a16="http://schemas.microsoft.com/office/drawing/2014/main" id="{F57BB302-0A93-B72B-C9EB-3CD8FF4872BE}"/>
              </a:ext>
            </a:extLst>
          </p:cNvPr>
          <p:cNvGrpSpPr/>
          <p:nvPr/>
        </p:nvGrpSpPr>
        <p:grpSpPr>
          <a:xfrm>
            <a:off x="166168" y="4498330"/>
            <a:ext cx="2399760" cy="1943730"/>
            <a:chOff x="362173" y="4328398"/>
            <a:chExt cx="2639736" cy="1943730"/>
          </a:xfrm>
        </p:grpSpPr>
        <p:sp>
          <p:nvSpPr>
            <p:cNvPr id="231" name="正方形/長方形 230">
              <a:extLst>
                <a:ext uri="{FF2B5EF4-FFF2-40B4-BE49-F238E27FC236}">
                  <a16:creationId xmlns:a16="http://schemas.microsoft.com/office/drawing/2014/main" id="{E7C0DB65-733F-A7EA-40B8-2FBE69BAFF5A}"/>
                </a:ext>
              </a:extLst>
            </p:cNvPr>
            <p:cNvSpPr/>
            <p:nvPr/>
          </p:nvSpPr>
          <p:spPr>
            <a:xfrm>
              <a:off x="362173" y="4848634"/>
              <a:ext cx="2639736" cy="1423494"/>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30" name="正方形/長方形 229">
              <a:extLst>
                <a:ext uri="{FF2B5EF4-FFF2-40B4-BE49-F238E27FC236}">
                  <a16:creationId xmlns:a16="http://schemas.microsoft.com/office/drawing/2014/main" id="{335C8224-9A09-1188-791F-234014318287}"/>
                </a:ext>
              </a:extLst>
            </p:cNvPr>
            <p:cNvSpPr/>
            <p:nvPr/>
          </p:nvSpPr>
          <p:spPr>
            <a:xfrm>
              <a:off x="362173" y="4328398"/>
              <a:ext cx="2639736" cy="524446"/>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Concur Invoice</a:t>
              </a:r>
              <a:r>
                <a:rPr kumimoji="1" lang="en-US" altLang="ja-JP" sz="1050" b="1" baseline="3000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ロコン購買</a:t>
              </a: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HUB(Concur)</a:t>
              </a:r>
            </a:p>
            <a:p>
              <a:pPr algn="r"/>
              <a:r>
                <a:rPr kumimoji="1" lang="en-US" altLang="ja-JP" sz="800" b="1" baseline="3000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1" err="1">
                  <a:solidFill>
                    <a:schemeClr val="bg1"/>
                  </a:solidFill>
                  <a:latin typeface="Meiryo UI" panose="020B0604030504040204" pitchFamily="50" charset="-128"/>
                  <a:ea typeface="Meiryo UI" panose="020B0604030504040204" pitchFamily="50" charset="-128"/>
                  <a:cs typeface="Meiryo UI" panose="020B0604030504040204" pitchFamily="50" charset="-128"/>
                </a:rPr>
                <a:t>BtoB</a:t>
              </a:r>
              <a:r>
                <a:rPr kumimoji="1"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活文</a:t>
              </a:r>
              <a:r>
                <a:rPr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00" b="1" err="1">
                  <a:solidFill>
                    <a:schemeClr val="bg1"/>
                  </a:solidFill>
                  <a:latin typeface="Meiryo UI" panose="020B0604030504040204" pitchFamily="50" charset="-128"/>
                  <a:ea typeface="Meiryo UI" panose="020B0604030504040204" pitchFamily="50" charset="-128"/>
                  <a:cs typeface="Meiryo UI" panose="020B0604030504040204" pitchFamily="50" charset="-128"/>
                </a:rPr>
                <a:t>Walkme</a:t>
              </a:r>
              <a:r>
                <a:rPr lang="ja-JP" altLang="en-US"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含</a:t>
              </a:r>
              <a:endParaRPr kumimoji="1"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239" name="Rectangle 101">
            <a:extLst>
              <a:ext uri="{FF2B5EF4-FFF2-40B4-BE49-F238E27FC236}">
                <a16:creationId xmlns:a16="http://schemas.microsoft.com/office/drawing/2014/main" id="{0E923F7E-D988-2454-1348-C6EAAD03CC81}"/>
              </a:ext>
            </a:extLst>
          </p:cNvPr>
          <p:cNvSpPr>
            <a:spLocks noChangeArrowheads="1"/>
          </p:cNvSpPr>
          <p:nvPr/>
        </p:nvSpPr>
        <p:spPr bwMode="auto">
          <a:xfrm>
            <a:off x="802252" y="5959272"/>
            <a:ext cx="540946" cy="374604"/>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Concur</a:t>
            </a:r>
          </a:p>
        </p:txBody>
      </p:sp>
      <p:sp>
        <p:nvSpPr>
          <p:cNvPr id="240" name="Rectangle 101">
            <a:extLst>
              <a:ext uri="{FF2B5EF4-FFF2-40B4-BE49-F238E27FC236}">
                <a16:creationId xmlns:a16="http://schemas.microsoft.com/office/drawing/2014/main" id="{404597F4-A557-A4B4-5317-8C088168BF14}"/>
              </a:ext>
            </a:extLst>
          </p:cNvPr>
          <p:cNvSpPr>
            <a:spLocks noChangeArrowheads="1"/>
          </p:cNvSpPr>
          <p:nvPr/>
        </p:nvSpPr>
        <p:spPr bwMode="auto">
          <a:xfrm>
            <a:off x="1973687" y="5959272"/>
            <a:ext cx="540946" cy="374604"/>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lIns="0" rIns="0" anchor="ctr"/>
          <a:lstStyle/>
          <a:p>
            <a:pPr marL="180975" indent="-180975" algn="ctr" eaLnBrk="0" hangingPunct="0"/>
            <a:r>
              <a:rPr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IM</a:t>
            </a:r>
            <a:r>
              <a:rPr lang="ja-JP" altLang="en-US"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社</a:t>
            </a:r>
            <a:endParaRPr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marL="180975" indent="-180975" algn="ctr" eaLnBrk="0" hangingPunct="0"/>
            <a:r>
              <a:rPr lang="en-US" altLang="ja-JP" sz="800" b="1" err="1">
                <a:solidFill>
                  <a:schemeClr val="bg1"/>
                </a:solidFill>
                <a:latin typeface="Meiryo UI" panose="020B0604030504040204" pitchFamily="50" charset="-128"/>
                <a:ea typeface="Meiryo UI" panose="020B0604030504040204" pitchFamily="50" charset="-128"/>
                <a:cs typeface="Meiryo UI" panose="020B0604030504040204" pitchFamily="50" charset="-128"/>
              </a:rPr>
              <a:t>Walkme</a:t>
            </a:r>
            <a:r>
              <a:rPr lang="ja-JP" altLang="en-US"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社</a:t>
            </a:r>
            <a:endParaRPr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41" name="Rectangle 101">
            <a:extLst>
              <a:ext uri="{FF2B5EF4-FFF2-40B4-BE49-F238E27FC236}">
                <a16:creationId xmlns:a16="http://schemas.microsoft.com/office/drawing/2014/main" id="{38FDAC5C-ABF7-BF94-F071-FACF5D5E95A6}"/>
              </a:ext>
            </a:extLst>
          </p:cNvPr>
          <p:cNvSpPr>
            <a:spLocks noChangeArrowheads="1"/>
          </p:cNvSpPr>
          <p:nvPr/>
        </p:nvSpPr>
        <p:spPr bwMode="auto">
          <a:xfrm>
            <a:off x="1387970" y="5959272"/>
            <a:ext cx="540946" cy="374604"/>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ARK</a:t>
            </a:r>
          </a:p>
        </p:txBody>
      </p:sp>
      <p:sp>
        <p:nvSpPr>
          <p:cNvPr id="5" name="Rectangle 101">
            <a:extLst>
              <a:ext uri="{FF2B5EF4-FFF2-40B4-BE49-F238E27FC236}">
                <a16:creationId xmlns:a16="http://schemas.microsoft.com/office/drawing/2014/main" id="{72C68893-1643-A8C0-E052-51202F842F0E}"/>
              </a:ext>
            </a:extLst>
          </p:cNvPr>
          <p:cNvSpPr>
            <a:spLocks noChangeArrowheads="1"/>
          </p:cNvSpPr>
          <p:nvPr/>
        </p:nvSpPr>
        <p:spPr bwMode="auto">
          <a:xfrm>
            <a:off x="216534" y="5959272"/>
            <a:ext cx="540946" cy="374604"/>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12" name="カギ線コネクタ 58">
            <a:extLst>
              <a:ext uri="{FF2B5EF4-FFF2-40B4-BE49-F238E27FC236}">
                <a16:creationId xmlns:a16="http://schemas.microsoft.com/office/drawing/2014/main" id="{DBCE3C82-63BD-3DF0-299F-49FC13706D7F}"/>
              </a:ext>
            </a:extLst>
          </p:cNvPr>
          <p:cNvCxnSpPr>
            <a:cxnSpLocks/>
            <a:stCxn id="236" idx="2"/>
            <a:endCxn id="5" idx="0"/>
          </p:cNvCxnSpPr>
          <p:nvPr/>
        </p:nvCxnSpPr>
        <p:spPr>
          <a:xfrm rot="5400000">
            <a:off x="701249" y="5295534"/>
            <a:ext cx="449496" cy="877980"/>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256" name="グループ化 255">
            <a:extLst>
              <a:ext uri="{FF2B5EF4-FFF2-40B4-BE49-F238E27FC236}">
                <a16:creationId xmlns:a16="http://schemas.microsoft.com/office/drawing/2014/main" id="{C3B5583C-7C9D-EFEA-075B-45AD9DF04E9D}"/>
              </a:ext>
            </a:extLst>
          </p:cNvPr>
          <p:cNvGrpSpPr/>
          <p:nvPr/>
        </p:nvGrpSpPr>
        <p:grpSpPr>
          <a:xfrm>
            <a:off x="6707339" y="4498330"/>
            <a:ext cx="1272601" cy="1943731"/>
            <a:chOff x="6621281" y="4328398"/>
            <a:chExt cx="1272601" cy="1943731"/>
          </a:xfrm>
        </p:grpSpPr>
        <p:sp>
          <p:nvSpPr>
            <p:cNvPr id="253" name="正方形/長方形 252">
              <a:extLst>
                <a:ext uri="{FF2B5EF4-FFF2-40B4-BE49-F238E27FC236}">
                  <a16:creationId xmlns:a16="http://schemas.microsoft.com/office/drawing/2014/main" id="{9233E8B4-DF29-0D8D-7E18-066D9841535E}"/>
                </a:ext>
              </a:extLst>
            </p:cNvPr>
            <p:cNvSpPr/>
            <p:nvPr/>
          </p:nvSpPr>
          <p:spPr>
            <a:xfrm>
              <a:off x="6907196" y="4961030"/>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佐々木</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57" name="カギ線コネクタ 58">
              <a:extLst>
                <a:ext uri="{FF2B5EF4-FFF2-40B4-BE49-F238E27FC236}">
                  <a16:creationId xmlns:a16="http://schemas.microsoft.com/office/drawing/2014/main" id="{4CCC8E6F-CCB2-6FE3-2092-0A2912A3CB28}"/>
                </a:ext>
              </a:extLst>
            </p:cNvPr>
            <p:cNvCxnSpPr>
              <a:cxnSpLocks/>
              <a:stCxn id="253" idx="2"/>
              <a:endCxn id="20" idx="0"/>
            </p:cNvCxnSpPr>
            <p:nvPr/>
          </p:nvCxnSpPr>
          <p:spPr>
            <a:xfrm rot="5400000">
              <a:off x="6875949" y="5411353"/>
              <a:ext cx="449495" cy="298057"/>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58" name="正方形/長方形 257">
              <a:extLst>
                <a:ext uri="{FF2B5EF4-FFF2-40B4-BE49-F238E27FC236}">
                  <a16:creationId xmlns:a16="http://schemas.microsoft.com/office/drawing/2014/main" id="{76AA75B2-2080-2CFC-58EC-90A70191EF9D}"/>
                </a:ext>
              </a:extLst>
            </p:cNvPr>
            <p:cNvSpPr/>
            <p:nvPr/>
          </p:nvSpPr>
          <p:spPr>
            <a:xfrm>
              <a:off x="6621281" y="4848634"/>
              <a:ext cx="1272601" cy="1423495"/>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28" name="正方形/長方形 227">
              <a:extLst>
                <a:ext uri="{FF2B5EF4-FFF2-40B4-BE49-F238E27FC236}">
                  <a16:creationId xmlns:a16="http://schemas.microsoft.com/office/drawing/2014/main" id="{904B18ED-BFD6-DB74-DC65-EAFA4861A86F}"/>
                </a:ext>
              </a:extLst>
            </p:cNvPr>
            <p:cNvSpPr/>
            <p:nvPr/>
          </p:nvSpPr>
          <p:spPr>
            <a:xfrm>
              <a:off x="6621281" y="4328398"/>
              <a:ext cx="1272601" cy="524445"/>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ロコン銀行</a:t>
              </a: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HUB</a:t>
              </a:r>
            </a:p>
          </p:txBody>
        </p:sp>
        <p:grpSp>
          <p:nvGrpSpPr>
            <p:cNvPr id="296" name="グループ化 295">
              <a:extLst>
                <a:ext uri="{FF2B5EF4-FFF2-40B4-BE49-F238E27FC236}">
                  <a16:creationId xmlns:a16="http://schemas.microsoft.com/office/drawing/2014/main" id="{15359D4D-1C83-D920-FD97-DDD8EB18E33A}"/>
                </a:ext>
              </a:extLst>
            </p:cNvPr>
            <p:cNvGrpSpPr/>
            <p:nvPr/>
          </p:nvGrpSpPr>
          <p:grpSpPr>
            <a:xfrm>
              <a:off x="6681194" y="5785129"/>
              <a:ext cx="1137058" cy="374604"/>
              <a:chOff x="5195421" y="5951131"/>
              <a:chExt cx="1137058" cy="360000"/>
            </a:xfrm>
          </p:grpSpPr>
          <p:sp>
            <p:nvSpPr>
              <p:cNvPr id="255" name="Rectangle 101">
                <a:extLst>
                  <a:ext uri="{FF2B5EF4-FFF2-40B4-BE49-F238E27FC236}">
                    <a16:creationId xmlns:a16="http://schemas.microsoft.com/office/drawing/2014/main" id="{BB781C56-C610-9AC9-C13A-6D732E0F9A3A}"/>
                  </a:ext>
                </a:extLst>
              </p:cNvPr>
              <p:cNvSpPr>
                <a:spLocks noChangeArrowheads="1"/>
              </p:cNvSpPr>
              <p:nvPr/>
            </p:nvSpPr>
            <p:spPr bwMode="auto">
              <a:xfrm>
                <a:off x="5791533"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ARK</a:t>
                </a:r>
              </a:p>
            </p:txBody>
          </p:sp>
          <p:sp>
            <p:nvSpPr>
              <p:cNvPr id="20" name="Rectangle 101">
                <a:extLst>
                  <a:ext uri="{FF2B5EF4-FFF2-40B4-BE49-F238E27FC236}">
                    <a16:creationId xmlns:a16="http://schemas.microsoft.com/office/drawing/2014/main" id="{C905ECD2-7AE5-6464-D05C-0FF9F0642446}"/>
                  </a:ext>
                </a:extLst>
              </p:cNvPr>
              <p:cNvSpPr>
                <a:spLocks noChangeArrowheads="1"/>
              </p:cNvSpPr>
              <p:nvPr/>
            </p:nvSpPr>
            <p:spPr bwMode="auto">
              <a:xfrm>
                <a:off x="5195421"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cxnSp>
          <p:nvCxnSpPr>
            <p:cNvPr id="307" name="カギ線コネクタ 58">
              <a:extLst>
                <a:ext uri="{FF2B5EF4-FFF2-40B4-BE49-F238E27FC236}">
                  <a16:creationId xmlns:a16="http://schemas.microsoft.com/office/drawing/2014/main" id="{3C5B051F-DDFC-F1D6-BC7E-5CA100396475}"/>
                </a:ext>
              </a:extLst>
            </p:cNvPr>
            <p:cNvCxnSpPr>
              <a:cxnSpLocks/>
              <a:stCxn id="253" idx="2"/>
              <a:endCxn id="255" idx="0"/>
            </p:cNvCxnSpPr>
            <p:nvPr/>
          </p:nvCxnSpPr>
          <p:spPr>
            <a:xfrm rot="16200000" flipH="1">
              <a:off x="7174004" y="5411353"/>
              <a:ext cx="449495" cy="298055"/>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272" name="グループ化 271">
            <a:extLst>
              <a:ext uri="{FF2B5EF4-FFF2-40B4-BE49-F238E27FC236}">
                <a16:creationId xmlns:a16="http://schemas.microsoft.com/office/drawing/2014/main" id="{03A8EBCB-F5BD-819A-A78D-FD9685D4A2E6}"/>
              </a:ext>
            </a:extLst>
          </p:cNvPr>
          <p:cNvGrpSpPr/>
          <p:nvPr/>
        </p:nvGrpSpPr>
        <p:grpSpPr>
          <a:xfrm>
            <a:off x="8060842" y="4498330"/>
            <a:ext cx="1272601" cy="1943731"/>
            <a:chOff x="8011562" y="4328398"/>
            <a:chExt cx="1272601" cy="1943731"/>
          </a:xfrm>
        </p:grpSpPr>
        <p:sp>
          <p:nvSpPr>
            <p:cNvPr id="259" name="正方形/長方形 258">
              <a:extLst>
                <a:ext uri="{FF2B5EF4-FFF2-40B4-BE49-F238E27FC236}">
                  <a16:creationId xmlns:a16="http://schemas.microsoft.com/office/drawing/2014/main" id="{D73EFF27-602C-C462-7234-8B113C4BB8DB}"/>
                </a:ext>
              </a:extLst>
            </p:cNvPr>
            <p:cNvSpPr/>
            <p:nvPr/>
          </p:nvSpPr>
          <p:spPr>
            <a:xfrm>
              <a:off x="8299085" y="4961030"/>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丸田</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90" name="グループ化 289">
              <a:extLst>
                <a:ext uri="{FF2B5EF4-FFF2-40B4-BE49-F238E27FC236}">
                  <a16:creationId xmlns:a16="http://schemas.microsoft.com/office/drawing/2014/main" id="{BA70CA84-83CE-0037-F861-4D36E61324D5}"/>
                </a:ext>
              </a:extLst>
            </p:cNvPr>
            <p:cNvGrpSpPr/>
            <p:nvPr/>
          </p:nvGrpSpPr>
          <p:grpSpPr>
            <a:xfrm>
              <a:off x="8011562" y="4328398"/>
              <a:ext cx="1272601" cy="1943731"/>
              <a:chOff x="6267429" y="4551190"/>
              <a:chExt cx="1260000" cy="1867955"/>
            </a:xfrm>
          </p:grpSpPr>
          <p:sp>
            <p:nvSpPr>
              <p:cNvPr id="264" name="正方形/長方形 263">
                <a:extLst>
                  <a:ext uri="{FF2B5EF4-FFF2-40B4-BE49-F238E27FC236}">
                    <a16:creationId xmlns:a16="http://schemas.microsoft.com/office/drawing/2014/main" id="{DA21AC15-DBB8-7859-D319-74DAE3316C95}"/>
                  </a:ext>
                </a:extLst>
              </p:cNvPr>
              <p:cNvSpPr/>
              <p:nvPr/>
            </p:nvSpPr>
            <p:spPr>
              <a:xfrm>
                <a:off x="6267429" y="5051145"/>
                <a:ext cx="1260000" cy="1368000"/>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27" name="正方形/長方形 226">
                <a:extLst>
                  <a:ext uri="{FF2B5EF4-FFF2-40B4-BE49-F238E27FC236}">
                    <a16:creationId xmlns:a16="http://schemas.microsoft.com/office/drawing/2014/main" id="{08784AC3-97AE-E00D-5FC3-8C728441E7C4}"/>
                  </a:ext>
                </a:extLst>
              </p:cNvPr>
              <p:cNvSpPr/>
              <p:nvPr/>
            </p:nvSpPr>
            <p:spPr>
              <a:xfrm>
                <a:off x="6267429" y="4551190"/>
                <a:ext cx="1260000" cy="504000"/>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RETMAS</a:t>
                </a:r>
              </a:p>
            </p:txBody>
          </p:sp>
        </p:grpSp>
        <p:grpSp>
          <p:nvGrpSpPr>
            <p:cNvPr id="297" name="グループ化 296">
              <a:extLst>
                <a:ext uri="{FF2B5EF4-FFF2-40B4-BE49-F238E27FC236}">
                  <a16:creationId xmlns:a16="http://schemas.microsoft.com/office/drawing/2014/main" id="{1CFFB345-ABEF-599C-C488-7873A4DFFB06}"/>
                </a:ext>
              </a:extLst>
            </p:cNvPr>
            <p:cNvGrpSpPr/>
            <p:nvPr/>
          </p:nvGrpSpPr>
          <p:grpSpPr>
            <a:xfrm>
              <a:off x="8071249" y="5785129"/>
              <a:ext cx="1140726" cy="374604"/>
              <a:chOff x="6515632" y="5951131"/>
              <a:chExt cx="1140726" cy="360000"/>
            </a:xfrm>
          </p:grpSpPr>
          <p:sp>
            <p:nvSpPr>
              <p:cNvPr id="261" name="Rectangle 101">
                <a:extLst>
                  <a:ext uri="{FF2B5EF4-FFF2-40B4-BE49-F238E27FC236}">
                    <a16:creationId xmlns:a16="http://schemas.microsoft.com/office/drawing/2014/main" id="{4006C861-D211-9365-64EF-7310FAAA93D9}"/>
                  </a:ext>
                </a:extLst>
              </p:cNvPr>
              <p:cNvSpPr>
                <a:spLocks noChangeArrowheads="1"/>
              </p:cNvSpPr>
              <p:nvPr/>
            </p:nvSpPr>
            <p:spPr bwMode="auto">
              <a:xfrm>
                <a:off x="711541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ARK</a:t>
                </a:r>
              </a:p>
            </p:txBody>
          </p:sp>
          <p:sp>
            <p:nvSpPr>
              <p:cNvPr id="18" name="Rectangle 101">
                <a:extLst>
                  <a:ext uri="{FF2B5EF4-FFF2-40B4-BE49-F238E27FC236}">
                    <a16:creationId xmlns:a16="http://schemas.microsoft.com/office/drawing/2014/main" id="{6AE7E56F-7DCC-5C04-D9AD-0DA1A2D6E789}"/>
                  </a:ext>
                </a:extLst>
              </p:cNvPr>
              <p:cNvSpPr>
                <a:spLocks noChangeArrowheads="1"/>
              </p:cNvSpPr>
              <p:nvPr/>
            </p:nvSpPr>
            <p:spPr bwMode="auto">
              <a:xfrm>
                <a:off x="651563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cxnSp>
          <p:nvCxnSpPr>
            <p:cNvPr id="310" name="カギ線コネクタ 58">
              <a:extLst>
                <a:ext uri="{FF2B5EF4-FFF2-40B4-BE49-F238E27FC236}">
                  <a16:creationId xmlns:a16="http://schemas.microsoft.com/office/drawing/2014/main" id="{8E850FE9-D4A2-8020-A4F6-4C3E572302B7}"/>
                </a:ext>
              </a:extLst>
            </p:cNvPr>
            <p:cNvCxnSpPr>
              <a:cxnSpLocks/>
              <a:stCxn id="259" idx="2"/>
              <a:endCxn id="261" idx="0"/>
            </p:cNvCxnSpPr>
            <p:nvPr/>
          </p:nvCxnSpPr>
          <p:spPr>
            <a:xfrm rot="16200000" flipH="1">
              <a:off x="8566810" y="5410436"/>
              <a:ext cx="449495" cy="299889"/>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312" name="カギ線コネクタ 58">
              <a:extLst>
                <a:ext uri="{FF2B5EF4-FFF2-40B4-BE49-F238E27FC236}">
                  <a16:creationId xmlns:a16="http://schemas.microsoft.com/office/drawing/2014/main" id="{0C5BD127-9D1E-7B93-CD87-88E1C7DA5C3B}"/>
                </a:ext>
              </a:extLst>
            </p:cNvPr>
            <p:cNvCxnSpPr>
              <a:cxnSpLocks/>
              <a:stCxn id="259" idx="2"/>
              <a:endCxn id="18" idx="0"/>
            </p:cNvCxnSpPr>
            <p:nvPr/>
          </p:nvCxnSpPr>
          <p:spPr>
            <a:xfrm rot="5400000">
              <a:off x="8266921" y="5410436"/>
              <a:ext cx="449495" cy="299891"/>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279" name="グループ化 278">
            <a:extLst>
              <a:ext uri="{FF2B5EF4-FFF2-40B4-BE49-F238E27FC236}">
                <a16:creationId xmlns:a16="http://schemas.microsoft.com/office/drawing/2014/main" id="{5C39FF81-6BAD-F0BD-DFB4-E06689BDA270}"/>
              </a:ext>
            </a:extLst>
          </p:cNvPr>
          <p:cNvGrpSpPr/>
          <p:nvPr/>
        </p:nvGrpSpPr>
        <p:grpSpPr>
          <a:xfrm>
            <a:off x="9414345" y="4498330"/>
            <a:ext cx="1272601" cy="1943731"/>
            <a:chOff x="9401843" y="4328398"/>
            <a:chExt cx="1272601" cy="1943731"/>
          </a:xfrm>
        </p:grpSpPr>
        <p:sp>
          <p:nvSpPr>
            <p:cNvPr id="4" name="正方形/長方形 3">
              <a:extLst>
                <a:ext uri="{FF2B5EF4-FFF2-40B4-BE49-F238E27FC236}">
                  <a16:creationId xmlns:a16="http://schemas.microsoft.com/office/drawing/2014/main" id="{F2A68A77-79E4-0578-3821-D5FF9338D853}"/>
                </a:ext>
              </a:extLst>
            </p:cNvPr>
            <p:cNvSpPr/>
            <p:nvPr/>
          </p:nvSpPr>
          <p:spPr>
            <a:xfrm>
              <a:off x="9695617" y="4961030"/>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坂口</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6" name="グループ化 5">
              <a:extLst>
                <a:ext uri="{FF2B5EF4-FFF2-40B4-BE49-F238E27FC236}">
                  <a16:creationId xmlns:a16="http://schemas.microsoft.com/office/drawing/2014/main" id="{49E0010B-1315-2392-5F7D-4785683E0A7C}"/>
                </a:ext>
              </a:extLst>
            </p:cNvPr>
            <p:cNvGrpSpPr/>
            <p:nvPr/>
          </p:nvGrpSpPr>
          <p:grpSpPr>
            <a:xfrm>
              <a:off x="9401843" y="4328398"/>
              <a:ext cx="1272601" cy="1943731"/>
              <a:chOff x="6267429" y="4551190"/>
              <a:chExt cx="1260000" cy="1867955"/>
            </a:xfrm>
          </p:grpSpPr>
          <p:sp>
            <p:nvSpPr>
              <p:cNvPr id="13" name="正方形/長方形 12">
                <a:extLst>
                  <a:ext uri="{FF2B5EF4-FFF2-40B4-BE49-F238E27FC236}">
                    <a16:creationId xmlns:a16="http://schemas.microsoft.com/office/drawing/2014/main" id="{3CEA019B-B8E4-9B04-FCDB-638B56E6C86F}"/>
                  </a:ext>
                </a:extLst>
              </p:cNvPr>
              <p:cNvSpPr/>
              <p:nvPr/>
            </p:nvSpPr>
            <p:spPr>
              <a:xfrm>
                <a:off x="6267429" y="5051145"/>
                <a:ext cx="1260000" cy="1368000"/>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正方形/長方形 13">
                <a:extLst>
                  <a:ext uri="{FF2B5EF4-FFF2-40B4-BE49-F238E27FC236}">
                    <a16:creationId xmlns:a16="http://schemas.microsoft.com/office/drawing/2014/main" id="{A085C93A-6C4B-9598-5B01-9F6359A2708A}"/>
                  </a:ext>
                </a:extLst>
              </p:cNvPr>
              <p:cNvSpPr/>
              <p:nvPr/>
            </p:nvSpPr>
            <p:spPr>
              <a:xfrm>
                <a:off x="6267429" y="4551190"/>
                <a:ext cx="1260000" cy="504000"/>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とんぺい</a:t>
                </a:r>
              </a:p>
            </p:txBody>
          </p:sp>
        </p:grpSp>
        <p:grpSp>
          <p:nvGrpSpPr>
            <p:cNvPr id="7" name="グループ化 6">
              <a:extLst>
                <a:ext uri="{FF2B5EF4-FFF2-40B4-BE49-F238E27FC236}">
                  <a16:creationId xmlns:a16="http://schemas.microsoft.com/office/drawing/2014/main" id="{A2F88D36-3D9D-7988-E867-2F008F769FAC}"/>
                </a:ext>
              </a:extLst>
            </p:cNvPr>
            <p:cNvGrpSpPr/>
            <p:nvPr/>
          </p:nvGrpSpPr>
          <p:grpSpPr>
            <a:xfrm>
              <a:off x="9467781" y="5785129"/>
              <a:ext cx="1140726" cy="374604"/>
              <a:chOff x="6515632" y="5951131"/>
              <a:chExt cx="1140726" cy="360000"/>
            </a:xfrm>
          </p:grpSpPr>
          <p:sp>
            <p:nvSpPr>
              <p:cNvPr id="11" name="Rectangle 101">
                <a:extLst>
                  <a:ext uri="{FF2B5EF4-FFF2-40B4-BE49-F238E27FC236}">
                    <a16:creationId xmlns:a16="http://schemas.microsoft.com/office/drawing/2014/main" id="{773F06EE-53F2-646F-B189-E83668601ADF}"/>
                  </a:ext>
                </a:extLst>
              </p:cNvPr>
              <p:cNvSpPr>
                <a:spLocks noChangeArrowheads="1"/>
              </p:cNvSpPr>
              <p:nvPr/>
            </p:nvSpPr>
            <p:spPr bwMode="auto">
              <a:xfrm>
                <a:off x="711541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TIS</a:t>
                </a:r>
              </a:p>
            </p:txBody>
          </p:sp>
          <p:sp>
            <p:nvSpPr>
              <p:cNvPr id="12" name="Rectangle 101">
                <a:extLst>
                  <a:ext uri="{FF2B5EF4-FFF2-40B4-BE49-F238E27FC236}">
                    <a16:creationId xmlns:a16="http://schemas.microsoft.com/office/drawing/2014/main" id="{FD3770AE-F9EA-A1CE-2E34-918BCFE43087}"/>
                  </a:ext>
                </a:extLst>
              </p:cNvPr>
              <p:cNvSpPr>
                <a:spLocks noChangeArrowheads="1"/>
              </p:cNvSpPr>
              <p:nvPr/>
            </p:nvSpPr>
            <p:spPr bwMode="auto">
              <a:xfrm>
                <a:off x="651563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cxnSp>
          <p:nvCxnSpPr>
            <p:cNvPr id="8" name="カギ線コネクタ 58">
              <a:extLst>
                <a:ext uri="{FF2B5EF4-FFF2-40B4-BE49-F238E27FC236}">
                  <a16:creationId xmlns:a16="http://schemas.microsoft.com/office/drawing/2014/main" id="{CA60BCC7-4185-9BE7-4CCA-7648017A6BC6}"/>
                </a:ext>
              </a:extLst>
            </p:cNvPr>
            <p:cNvCxnSpPr>
              <a:cxnSpLocks/>
              <a:stCxn id="4" idx="2"/>
              <a:endCxn id="11" idx="0"/>
            </p:cNvCxnSpPr>
            <p:nvPr/>
          </p:nvCxnSpPr>
          <p:spPr>
            <a:xfrm rot="16200000" flipH="1">
              <a:off x="9963342" y="5410436"/>
              <a:ext cx="449495" cy="299889"/>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 name="カギ線コネクタ 58">
              <a:extLst>
                <a:ext uri="{FF2B5EF4-FFF2-40B4-BE49-F238E27FC236}">
                  <a16:creationId xmlns:a16="http://schemas.microsoft.com/office/drawing/2014/main" id="{8CE8CE2D-52E9-8466-5CED-8F480B23F478}"/>
                </a:ext>
              </a:extLst>
            </p:cNvPr>
            <p:cNvCxnSpPr>
              <a:cxnSpLocks/>
              <a:stCxn id="4" idx="2"/>
              <a:endCxn id="12" idx="0"/>
            </p:cNvCxnSpPr>
            <p:nvPr/>
          </p:nvCxnSpPr>
          <p:spPr>
            <a:xfrm rot="5400000">
              <a:off x="9663453" y="5410436"/>
              <a:ext cx="449495" cy="299891"/>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280" name="グループ化 279">
            <a:extLst>
              <a:ext uri="{FF2B5EF4-FFF2-40B4-BE49-F238E27FC236}">
                <a16:creationId xmlns:a16="http://schemas.microsoft.com/office/drawing/2014/main" id="{2B81ADE8-55EE-D69F-1353-3485E7B587E4}"/>
              </a:ext>
            </a:extLst>
          </p:cNvPr>
          <p:cNvGrpSpPr/>
          <p:nvPr/>
        </p:nvGrpSpPr>
        <p:grpSpPr>
          <a:xfrm>
            <a:off x="10767846" y="4498330"/>
            <a:ext cx="1272601" cy="1943731"/>
            <a:chOff x="10792122" y="4328398"/>
            <a:chExt cx="1272601" cy="1943731"/>
          </a:xfrm>
        </p:grpSpPr>
        <p:sp>
          <p:nvSpPr>
            <p:cNvPr id="224" name="正方形/長方形 223">
              <a:extLst>
                <a:ext uri="{FF2B5EF4-FFF2-40B4-BE49-F238E27FC236}">
                  <a16:creationId xmlns:a16="http://schemas.microsoft.com/office/drawing/2014/main" id="{72C7E230-A61B-29AE-4210-FF023DDDD9E9}"/>
                </a:ext>
              </a:extLst>
            </p:cNvPr>
            <p:cNvSpPr/>
            <p:nvPr/>
          </p:nvSpPr>
          <p:spPr>
            <a:xfrm>
              <a:off x="10792122" y="4848634"/>
              <a:ext cx="1272601" cy="1423495"/>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33" name="正方形/長方形 232">
              <a:extLst>
                <a:ext uri="{FF2B5EF4-FFF2-40B4-BE49-F238E27FC236}">
                  <a16:creationId xmlns:a16="http://schemas.microsoft.com/office/drawing/2014/main" id="{83C60205-AF70-51ED-6BD0-280354FFA340}"/>
                </a:ext>
              </a:extLst>
            </p:cNvPr>
            <p:cNvSpPr/>
            <p:nvPr/>
          </p:nvSpPr>
          <p:spPr>
            <a:xfrm>
              <a:off x="10792122" y="4328398"/>
              <a:ext cx="1272601" cy="524445"/>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en-US" altLang="ja-JP" sz="1050" b="1" err="1">
                  <a:solidFill>
                    <a:schemeClr val="bg1"/>
                  </a:solidFill>
                  <a:latin typeface="Meiryo UI" panose="020B0604030504040204" pitchFamily="50" charset="-128"/>
                  <a:ea typeface="Meiryo UI" panose="020B0604030504040204" pitchFamily="50" charset="-128"/>
                  <a:cs typeface="Meiryo UI" panose="020B0604030504040204" pitchFamily="50" charset="-128"/>
                </a:rPr>
                <a:t>Mico</a:t>
              </a: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/Chaco</a:t>
              </a:r>
            </a:p>
          </p:txBody>
        </p:sp>
        <p:sp>
          <p:nvSpPr>
            <p:cNvPr id="16" name="正方形/長方形 15">
              <a:extLst>
                <a:ext uri="{FF2B5EF4-FFF2-40B4-BE49-F238E27FC236}">
                  <a16:creationId xmlns:a16="http://schemas.microsoft.com/office/drawing/2014/main" id="{3C20E51E-6F0A-D6CD-311F-1B58CBB97EB4}"/>
                </a:ext>
              </a:extLst>
            </p:cNvPr>
            <p:cNvSpPr/>
            <p:nvPr/>
          </p:nvSpPr>
          <p:spPr>
            <a:xfrm>
              <a:off x="11085895" y="4961030"/>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木村</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19" name="グループ化 18">
              <a:extLst>
                <a:ext uri="{FF2B5EF4-FFF2-40B4-BE49-F238E27FC236}">
                  <a16:creationId xmlns:a16="http://schemas.microsoft.com/office/drawing/2014/main" id="{6FE2348B-0D4D-5DDF-A7AC-A1870115C644}"/>
                </a:ext>
              </a:extLst>
            </p:cNvPr>
            <p:cNvGrpSpPr/>
            <p:nvPr/>
          </p:nvGrpSpPr>
          <p:grpSpPr>
            <a:xfrm>
              <a:off x="10858059" y="5785129"/>
              <a:ext cx="1140726" cy="374604"/>
              <a:chOff x="6515632" y="5951131"/>
              <a:chExt cx="1140726" cy="360000"/>
            </a:xfrm>
          </p:grpSpPr>
          <p:sp>
            <p:nvSpPr>
              <p:cNvPr id="23" name="Rectangle 101">
                <a:extLst>
                  <a:ext uri="{FF2B5EF4-FFF2-40B4-BE49-F238E27FC236}">
                    <a16:creationId xmlns:a16="http://schemas.microsoft.com/office/drawing/2014/main" id="{A0E28BEF-68F8-201E-33A0-7E0F41042F88}"/>
                  </a:ext>
                </a:extLst>
              </p:cNvPr>
              <p:cNvSpPr>
                <a:spLocks noChangeArrowheads="1"/>
              </p:cNvSpPr>
              <p:nvPr/>
            </p:nvSpPr>
            <p:spPr bwMode="auto">
              <a:xfrm>
                <a:off x="711541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NST</a:t>
                </a:r>
              </a:p>
            </p:txBody>
          </p:sp>
          <p:sp>
            <p:nvSpPr>
              <p:cNvPr id="30" name="Rectangle 101">
                <a:extLst>
                  <a:ext uri="{FF2B5EF4-FFF2-40B4-BE49-F238E27FC236}">
                    <a16:creationId xmlns:a16="http://schemas.microsoft.com/office/drawing/2014/main" id="{E9A23FA8-D7AA-6DB9-B37B-C06836298249}"/>
                  </a:ext>
                </a:extLst>
              </p:cNvPr>
              <p:cNvSpPr>
                <a:spLocks noChangeArrowheads="1"/>
              </p:cNvSpPr>
              <p:nvPr/>
            </p:nvSpPr>
            <p:spPr bwMode="auto">
              <a:xfrm>
                <a:off x="651563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cxnSp>
          <p:nvCxnSpPr>
            <p:cNvPr id="21" name="カギ線コネクタ 58">
              <a:extLst>
                <a:ext uri="{FF2B5EF4-FFF2-40B4-BE49-F238E27FC236}">
                  <a16:creationId xmlns:a16="http://schemas.microsoft.com/office/drawing/2014/main" id="{8FCE8865-097F-B4EB-E2E5-224493A8B876}"/>
                </a:ext>
              </a:extLst>
            </p:cNvPr>
            <p:cNvCxnSpPr>
              <a:cxnSpLocks/>
              <a:stCxn id="16" idx="2"/>
              <a:endCxn id="23" idx="0"/>
            </p:cNvCxnSpPr>
            <p:nvPr/>
          </p:nvCxnSpPr>
          <p:spPr>
            <a:xfrm rot="16200000" flipH="1">
              <a:off x="11353620" y="5410436"/>
              <a:ext cx="449495" cy="299889"/>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2" name="カギ線コネクタ 58">
              <a:extLst>
                <a:ext uri="{FF2B5EF4-FFF2-40B4-BE49-F238E27FC236}">
                  <a16:creationId xmlns:a16="http://schemas.microsoft.com/office/drawing/2014/main" id="{783F0803-2792-DABC-A5C4-27EC7603261E}"/>
                </a:ext>
              </a:extLst>
            </p:cNvPr>
            <p:cNvCxnSpPr>
              <a:cxnSpLocks/>
              <a:stCxn id="16" idx="2"/>
              <a:endCxn id="30" idx="0"/>
            </p:cNvCxnSpPr>
            <p:nvPr/>
          </p:nvCxnSpPr>
          <p:spPr>
            <a:xfrm rot="5400000">
              <a:off x="11053731" y="5410436"/>
              <a:ext cx="449495" cy="299891"/>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sp>
        <p:nvSpPr>
          <p:cNvPr id="267" name="正方形/長方形 266">
            <a:extLst>
              <a:ext uri="{FF2B5EF4-FFF2-40B4-BE49-F238E27FC236}">
                <a16:creationId xmlns:a16="http://schemas.microsoft.com/office/drawing/2014/main" id="{35F5504E-D1B7-BB9C-12D5-8F6AFEC2D1AD}"/>
              </a:ext>
            </a:extLst>
          </p:cNvPr>
          <p:cNvSpPr/>
          <p:nvPr/>
        </p:nvSpPr>
        <p:spPr>
          <a:xfrm>
            <a:off x="5644677" y="5130962"/>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山形</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8" name="グループ化 267">
            <a:extLst>
              <a:ext uri="{FF2B5EF4-FFF2-40B4-BE49-F238E27FC236}">
                <a16:creationId xmlns:a16="http://schemas.microsoft.com/office/drawing/2014/main" id="{F9CE31A5-660F-709C-4917-9D8660DDE40C}"/>
              </a:ext>
            </a:extLst>
          </p:cNvPr>
          <p:cNvGrpSpPr/>
          <p:nvPr/>
        </p:nvGrpSpPr>
        <p:grpSpPr>
          <a:xfrm>
            <a:off x="5418675" y="5955061"/>
            <a:ext cx="1137058" cy="374604"/>
            <a:chOff x="5195421" y="5951131"/>
            <a:chExt cx="1137058" cy="360000"/>
          </a:xfrm>
        </p:grpSpPr>
        <p:sp>
          <p:nvSpPr>
            <p:cNvPr id="269" name="Rectangle 101">
              <a:extLst>
                <a:ext uri="{FF2B5EF4-FFF2-40B4-BE49-F238E27FC236}">
                  <a16:creationId xmlns:a16="http://schemas.microsoft.com/office/drawing/2014/main" id="{23FE56C4-F0BF-91FD-6585-A192E316DE35}"/>
                </a:ext>
              </a:extLst>
            </p:cNvPr>
            <p:cNvSpPr>
              <a:spLocks noChangeArrowheads="1"/>
            </p:cNvSpPr>
            <p:nvPr/>
          </p:nvSpPr>
          <p:spPr bwMode="auto">
            <a:xfrm>
              <a:off x="5791533"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ARK</a:t>
              </a:r>
            </a:p>
          </p:txBody>
        </p:sp>
        <p:sp>
          <p:nvSpPr>
            <p:cNvPr id="270" name="Rectangle 101">
              <a:extLst>
                <a:ext uri="{FF2B5EF4-FFF2-40B4-BE49-F238E27FC236}">
                  <a16:creationId xmlns:a16="http://schemas.microsoft.com/office/drawing/2014/main" id="{A4315869-9DD7-8E8D-FBEC-019AF78F84B9}"/>
                </a:ext>
              </a:extLst>
            </p:cNvPr>
            <p:cNvSpPr>
              <a:spLocks noChangeArrowheads="1"/>
            </p:cNvSpPr>
            <p:nvPr/>
          </p:nvSpPr>
          <p:spPr bwMode="auto">
            <a:xfrm>
              <a:off x="5195421"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275" name="正方形/長方形 274">
            <a:extLst>
              <a:ext uri="{FF2B5EF4-FFF2-40B4-BE49-F238E27FC236}">
                <a16:creationId xmlns:a16="http://schemas.microsoft.com/office/drawing/2014/main" id="{2A2C447A-7555-3CDD-44F1-8DE19E4C1D00}"/>
              </a:ext>
            </a:extLst>
          </p:cNvPr>
          <p:cNvSpPr/>
          <p:nvPr/>
        </p:nvSpPr>
        <p:spPr>
          <a:xfrm>
            <a:off x="5353836" y="5018566"/>
            <a:ext cx="1272601" cy="1423495"/>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76" name="正方形/長方形 275">
            <a:extLst>
              <a:ext uri="{FF2B5EF4-FFF2-40B4-BE49-F238E27FC236}">
                <a16:creationId xmlns:a16="http://schemas.microsoft.com/office/drawing/2014/main" id="{1F3392B6-2D71-6BDC-147E-C49891FB4F00}"/>
              </a:ext>
            </a:extLst>
          </p:cNvPr>
          <p:cNvSpPr/>
          <p:nvPr/>
        </p:nvSpPr>
        <p:spPr>
          <a:xfrm>
            <a:off x="5353836" y="4498330"/>
            <a:ext cx="1272601" cy="524445"/>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ミスギくん</a:t>
            </a:r>
            <a:endPar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77" name="カギ線コネクタ 58">
            <a:extLst>
              <a:ext uri="{FF2B5EF4-FFF2-40B4-BE49-F238E27FC236}">
                <a16:creationId xmlns:a16="http://schemas.microsoft.com/office/drawing/2014/main" id="{62E9766A-02B8-FFDC-D597-19B951ED4225}"/>
              </a:ext>
            </a:extLst>
          </p:cNvPr>
          <p:cNvCxnSpPr>
            <a:cxnSpLocks/>
            <a:stCxn id="267" idx="2"/>
            <a:endCxn id="269" idx="0"/>
          </p:cNvCxnSpPr>
          <p:nvPr/>
        </p:nvCxnSpPr>
        <p:spPr>
          <a:xfrm rot="16200000" flipH="1">
            <a:off x="5911485" y="5581285"/>
            <a:ext cx="449495" cy="298055"/>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81" name="カギ線コネクタ 58">
            <a:extLst>
              <a:ext uri="{FF2B5EF4-FFF2-40B4-BE49-F238E27FC236}">
                <a16:creationId xmlns:a16="http://schemas.microsoft.com/office/drawing/2014/main" id="{BE58D390-5A00-565E-953D-B3E1CFDD2E9E}"/>
              </a:ext>
            </a:extLst>
          </p:cNvPr>
          <p:cNvCxnSpPr>
            <a:cxnSpLocks/>
            <a:stCxn id="267" idx="2"/>
            <a:endCxn id="270" idx="0"/>
          </p:cNvCxnSpPr>
          <p:nvPr/>
        </p:nvCxnSpPr>
        <p:spPr>
          <a:xfrm rot="5400000">
            <a:off x="5613430" y="5581285"/>
            <a:ext cx="449495" cy="298057"/>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60" name="正方形/長方形 259">
            <a:extLst>
              <a:ext uri="{FF2B5EF4-FFF2-40B4-BE49-F238E27FC236}">
                <a16:creationId xmlns:a16="http://schemas.microsoft.com/office/drawing/2014/main" id="{AC015BA5-C5F0-D47E-B658-8ACD3858D073}"/>
              </a:ext>
            </a:extLst>
          </p:cNvPr>
          <p:cNvSpPr/>
          <p:nvPr/>
        </p:nvSpPr>
        <p:spPr>
          <a:xfrm>
            <a:off x="4290826" y="5130962"/>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山形</a:t>
            </a:r>
            <a:endPar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2" name="グループ化 261">
            <a:extLst>
              <a:ext uri="{FF2B5EF4-FFF2-40B4-BE49-F238E27FC236}">
                <a16:creationId xmlns:a16="http://schemas.microsoft.com/office/drawing/2014/main" id="{9F392A20-91C6-B668-E678-89A5FBA0D7B8}"/>
              </a:ext>
            </a:extLst>
          </p:cNvPr>
          <p:cNvGrpSpPr/>
          <p:nvPr/>
        </p:nvGrpSpPr>
        <p:grpSpPr>
          <a:xfrm>
            <a:off x="4064824" y="5955061"/>
            <a:ext cx="1137058" cy="374604"/>
            <a:chOff x="5195421" y="5951131"/>
            <a:chExt cx="1137058" cy="360000"/>
          </a:xfrm>
        </p:grpSpPr>
        <p:sp>
          <p:nvSpPr>
            <p:cNvPr id="263" name="Rectangle 101">
              <a:extLst>
                <a:ext uri="{FF2B5EF4-FFF2-40B4-BE49-F238E27FC236}">
                  <a16:creationId xmlns:a16="http://schemas.microsoft.com/office/drawing/2014/main" id="{7542829B-6C79-C703-B5AD-5F42AE950557}"/>
                </a:ext>
              </a:extLst>
            </p:cNvPr>
            <p:cNvSpPr>
              <a:spLocks noChangeArrowheads="1"/>
            </p:cNvSpPr>
            <p:nvPr/>
          </p:nvSpPr>
          <p:spPr bwMode="auto">
            <a:xfrm>
              <a:off x="5791533"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Concur</a:t>
              </a:r>
            </a:p>
          </p:txBody>
        </p:sp>
        <p:sp>
          <p:nvSpPr>
            <p:cNvPr id="265" name="Rectangle 101">
              <a:extLst>
                <a:ext uri="{FF2B5EF4-FFF2-40B4-BE49-F238E27FC236}">
                  <a16:creationId xmlns:a16="http://schemas.microsoft.com/office/drawing/2014/main" id="{02EDD6DC-474E-951E-BD18-D97ED398DEB7}"/>
                </a:ext>
              </a:extLst>
            </p:cNvPr>
            <p:cNvSpPr>
              <a:spLocks noChangeArrowheads="1"/>
            </p:cNvSpPr>
            <p:nvPr/>
          </p:nvSpPr>
          <p:spPr bwMode="auto">
            <a:xfrm>
              <a:off x="5195421"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273" name="正方形/長方形 272">
            <a:extLst>
              <a:ext uri="{FF2B5EF4-FFF2-40B4-BE49-F238E27FC236}">
                <a16:creationId xmlns:a16="http://schemas.microsoft.com/office/drawing/2014/main" id="{2EDC5E7F-2849-0E62-F26F-79ED97C733E3}"/>
              </a:ext>
            </a:extLst>
          </p:cNvPr>
          <p:cNvSpPr/>
          <p:nvPr/>
        </p:nvSpPr>
        <p:spPr>
          <a:xfrm>
            <a:off x="4000333" y="5018566"/>
            <a:ext cx="1272601" cy="1423495"/>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74" name="正方形/長方形 273">
            <a:extLst>
              <a:ext uri="{FF2B5EF4-FFF2-40B4-BE49-F238E27FC236}">
                <a16:creationId xmlns:a16="http://schemas.microsoft.com/office/drawing/2014/main" id="{C052929F-392F-39D2-41AB-154E5F3F743E}"/>
              </a:ext>
            </a:extLst>
          </p:cNvPr>
          <p:cNvSpPr/>
          <p:nvPr/>
        </p:nvSpPr>
        <p:spPr>
          <a:xfrm>
            <a:off x="4000333" y="4498330"/>
            <a:ext cx="1272601" cy="524445"/>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Concur </a:t>
            </a:r>
            <a:b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b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Expense</a:t>
            </a:r>
          </a:p>
        </p:txBody>
      </p:sp>
      <p:cxnSp>
        <p:nvCxnSpPr>
          <p:cNvPr id="284" name="カギ線コネクタ 58">
            <a:extLst>
              <a:ext uri="{FF2B5EF4-FFF2-40B4-BE49-F238E27FC236}">
                <a16:creationId xmlns:a16="http://schemas.microsoft.com/office/drawing/2014/main" id="{03269005-CA63-A897-D2DE-F964F2154F7A}"/>
              </a:ext>
            </a:extLst>
          </p:cNvPr>
          <p:cNvCxnSpPr>
            <a:cxnSpLocks/>
            <a:stCxn id="260" idx="2"/>
            <a:endCxn id="265" idx="0"/>
          </p:cNvCxnSpPr>
          <p:nvPr/>
        </p:nvCxnSpPr>
        <p:spPr>
          <a:xfrm rot="5400000">
            <a:off x="4259579" y="5581285"/>
            <a:ext cx="449495" cy="298057"/>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87" name="カギ線コネクタ 58">
            <a:extLst>
              <a:ext uri="{FF2B5EF4-FFF2-40B4-BE49-F238E27FC236}">
                <a16:creationId xmlns:a16="http://schemas.microsoft.com/office/drawing/2014/main" id="{43B68CB0-5179-6CEF-045F-80B10C36C4C8}"/>
              </a:ext>
            </a:extLst>
          </p:cNvPr>
          <p:cNvCxnSpPr>
            <a:cxnSpLocks/>
            <a:stCxn id="260" idx="2"/>
            <a:endCxn id="263" idx="0"/>
          </p:cNvCxnSpPr>
          <p:nvPr/>
        </p:nvCxnSpPr>
        <p:spPr>
          <a:xfrm rot="16200000" flipH="1">
            <a:off x="4557634" y="5581285"/>
            <a:ext cx="449495" cy="298055"/>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27" name="グループ化 26">
            <a:extLst>
              <a:ext uri="{FF2B5EF4-FFF2-40B4-BE49-F238E27FC236}">
                <a16:creationId xmlns:a16="http://schemas.microsoft.com/office/drawing/2014/main" id="{4D34D63B-BF21-075F-5B55-967A11662881}"/>
              </a:ext>
            </a:extLst>
          </p:cNvPr>
          <p:cNvGrpSpPr/>
          <p:nvPr/>
        </p:nvGrpSpPr>
        <p:grpSpPr>
          <a:xfrm>
            <a:off x="2646830" y="4498330"/>
            <a:ext cx="1272601" cy="1943731"/>
            <a:chOff x="3329469" y="4328398"/>
            <a:chExt cx="1272601" cy="1943731"/>
          </a:xfrm>
        </p:grpSpPr>
        <p:sp>
          <p:nvSpPr>
            <p:cNvPr id="28" name="正方形/長方形 27">
              <a:extLst>
                <a:ext uri="{FF2B5EF4-FFF2-40B4-BE49-F238E27FC236}">
                  <a16:creationId xmlns:a16="http://schemas.microsoft.com/office/drawing/2014/main" id="{C416CCA2-E990-3D16-6FA6-CAC27A9C5553}"/>
                </a:ext>
              </a:extLst>
            </p:cNvPr>
            <p:cNvSpPr/>
            <p:nvPr/>
          </p:nvSpPr>
          <p:spPr>
            <a:xfrm>
              <a:off x="3619962" y="4961030"/>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勝美</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9" name="グループ化 28">
              <a:extLst>
                <a:ext uri="{FF2B5EF4-FFF2-40B4-BE49-F238E27FC236}">
                  <a16:creationId xmlns:a16="http://schemas.microsoft.com/office/drawing/2014/main" id="{928209AB-4F93-C88D-D3F3-C5E45EA3F0D0}"/>
                </a:ext>
              </a:extLst>
            </p:cNvPr>
            <p:cNvGrpSpPr/>
            <p:nvPr/>
          </p:nvGrpSpPr>
          <p:grpSpPr>
            <a:xfrm>
              <a:off x="3393960" y="5785129"/>
              <a:ext cx="1137058" cy="374604"/>
              <a:chOff x="5195421" y="5951131"/>
              <a:chExt cx="1137058" cy="360000"/>
            </a:xfrm>
          </p:grpSpPr>
          <p:sp>
            <p:nvSpPr>
              <p:cNvPr id="248" name="Rectangle 101">
                <a:extLst>
                  <a:ext uri="{FF2B5EF4-FFF2-40B4-BE49-F238E27FC236}">
                    <a16:creationId xmlns:a16="http://schemas.microsoft.com/office/drawing/2014/main" id="{AAF849BF-632E-81A5-AEF7-875914E6A15C}"/>
                  </a:ext>
                </a:extLst>
              </p:cNvPr>
              <p:cNvSpPr>
                <a:spLocks noChangeArrowheads="1"/>
              </p:cNvSpPr>
              <p:nvPr/>
            </p:nvSpPr>
            <p:spPr bwMode="auto">
              <a:xfrm>
                <a:off x="5791533"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ARK</a:t>
                </a:r>
              </a:p>
            </p:txBody>
          </p:sp>
          <p:sp>
            <p:nvSpPr>
              <p:cNvPr id="251" name="Rectangle 101">
                <a:extLst>
                  <a:ext uri="{FF2B5EF4-FFF2-40B4-BE49-F238E27FC236}">
                    <a16:creationId xmlns:a16="http://schemas.microsoft.com/office/drawing/2014/main" id="{CDB09FB9-DB4C-4425-8FB3-2D3919327911}"/>
                  </a:ext>
                </a:extLst>
              </p:cNvPr>
              <p:cNvSpPr>
                <a:spLocks noChangeArrowheads="1"/>
              </p:cNvSpPr>
              <p:nvPr/>
            </p:nvSpPr>
            <p:spPr bwMode="auto">
              <a:xfrm>
                <a:off x="5195421"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242" name="正方形/長方形 241">
              <a:extLst>
                <a:ext uri="{FF2B5EF4-FFF2-40B4-BE49-F238E27FC236}">
                  <a16:creationId xmlns:a16="http://schemas.microsoft.com/office/drawing/2014/main" id="{37896779-4C25-1F2B-0B5C-19EE35E693B5}"/>
                </a:ext>
              </a:extLst>
            </p:cNvPr>
            <p:cNvSpPr/>
            <p:nvPr/>
          </p:nvSpPr>
          <p:spPr>
            <a:xfrm>
              <a:off x="3329469" y="4848634"/>
              <a:ext cx="1272601" cy="1423495"/>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44" name="正方形/長方形 243">
              <a:extLst>
                <a:ext uri="{FF2B5EF4-FFF2-40B4-BE49-F238E27FC236}">
                  <a16:creationId xmlns:a16="http://schemas.microsoft.com/office/drawing/2014/main" id="{7F64431E-A234-F596-9828-0511EBFD430B}"/>
                </a:ext>
              </a:extLst>
            </p:cNvPr>
            <p:cNvSpPr/>
            <p:nvPr/>
          </p:nvSpPr>
          <p:spPr>
            <a:xfrm>
              <a:off x="3329469" y="4328398"/>
              <a:ext cx="1272601" cy="524445"/>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ロコン購買</a:t>
              </a: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HUB</a:t>
              </a:r>
              <a:b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b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伝</a:t>
              </a: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p>
          </p:txBody>
        </p:sp>
        <p:cxnSp>
          <p:nvCxnSpPr>
            <p:cNvPr id="245" name="カギ線コネクタ 58">
              <a:extLst>
                <a:ext uri="{FF2B5EF4-FFF2-40B4-BE49-F238E27FC236}">
                  <a16:creationId xmlns:a16="http://schemas.microsoft.com/office/drawing/2014/main" id="{FBD8C4F2-396B-FBE8-05C0-11727CE22F91}"/>
                </a:ext>
              </a:extLst>
            </p:cNvPr>
            <p:cNvCxnSpPr>
              <a:cxnSpLocks/>
              <a:stCxn id="28" idx="2"/>
              <a:endCxn id="251" idx="0"/>
            </p:cNvCxnSpPr>
            <p:nvPr/>
          </p:nvCxnSpPr>
          <p:spPr>
            <a:xfrm rot="5400000">
              <a:off x="3588715" y="5411353"/>
              <a:ext cx="449495" cy="298057"/>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47" name="カギ線コネクタ 58">
              <a:extLst>
                <a:ext uri="{FF2B5EF4-FFF2-40B4-BE49-F238E27FC236}">
                  <a16:creationId xmlns:a16="http://schemas.microsoft.com/office/drawing/2014/main" id="{4669F8E9-BACD-E50E-7727-8FEE1128CD86}"/>
                </a:ext>
              </a:extLst>
            </p:cNvPr>
            <p:cNvCxnSpPr>
              <a:cxnSpLocks/>
              <a:stCxn id="28" idx="2"/>
              <a:endCxn id="248" idx="0"/>
            </p:cNvCxnSpPr>
            <p:nvPr/>
          </p:nvCxnSpPr>
          <p:spPr>
            <a:xfrm rot="16200000" flipH="1">
              <a:off x="3886770" y="5411353"/>
              <a:ext cx="449495" cy="298055"/>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cxnSp>
        <p:nvCxnSpPr>
          <p:cNvPr id="289" name="カギ線コネクタ 58">
            <a:extLst>
              <a:ext uri="{FF2B5EF4-FFF2-40B4-BE49-F238E27FC236}">
                <a16:creationId xmlns:a16="http://schemas.microsoft.com/office/drawing/2014/main" id="{D1B381F9-C23E-5C49-CFF7-AEF9E4348EE1}"/>
              </a:ext>
            </a:extLst>
          </p:cNvPr>
          <p:cNvCxnSpPr>
            <a:cxnSpLocks/>
            <a:stCxn id="190" idx="2"/>
            <a:endCxn id="228" idx="0"/>
          </p:cNvCxnSpPr>
          <p:nvPr/>
        </p:nvCxnSpPr>
        <p:spPr>
          <a:xfrm rot="16200000" flipH="1">
            <a:off x="4438318" y="1593008"/>
            <a:ext cx="1649536" cy="4161108"/>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95" name="カギ線コネクタ 58">
            <a:extLst>
              <a:ext uri="{FF2B5EF4-FFF2-40B4-BE49-F238E27FC236}">
                <a16:creationId xmlns:a16="http://schemas.microsoft.com/office/drawing/2014/main" id="{86B608C5-FCFD-1165-8654-282B8DB0C144}"/>
              </a:ext>
            </a:extLst>
          </p:cNvPr>
          <p:cNvCxnSpPr>
            <a:cxnSpLocks/>
            <a:stCxn id="190" idx="2"/>
            <a:endCxn id="276" idx="0"/>
          </p:cNvCxnSpPr>
          <p:nvPr/>
        </p:nvCxnSpPr>
        <p:spPr>
          <a:xfrm rot="16200000" flipH="1">
            <a:off x="3761566" y="2269759"/>
            <a:ext cx="1649536" cy="2807605"/>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5" name="カギ線コネクタ 58">
            <a:extLst>
              <a:ext uri="{FF2B5EF4-FFF2-40B4-BE49-F238E27FC236}">
                <a16:creationId xmlns:a16="http://schemas.microsoft.com/office/drawing/2014/main" id="{DFCFA724-704E-943F-5794-78CC5857E49B}"/>
              </a:ext>
            </a:extLst>
          </p:cNvPr>
          <p:cNvCxnSpPr>
            <a:cxnSpLocks/>
            <a:stCxn id="190" idx="2"/>
            <a:endCxn id="244" idx="0"/>
          </p:cNvCxnSpPr>
          <p:nvPr/>
        </p:nvCxnSpPr>
        <p:spPr>
          <a:xfrm rot="16200000" flipH="1">
            <a:off x="2408063" y="3623262"/>
            <a:ext cx="1649536" cy="100599"/>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 name="タイトル 2">
            <a:extLst>
              <a:ext uri="{FF2B5EF4-FFF2-40B4-BE49-F238E27FC236}">
                <a16:creationId xmlns:a16="http://schemas.microsoft.com/office/drawing/2014/main" id="{5D17F79B-299A-112A-8D33-8ADB830CF5B5}"/>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a:solidFill>
                  <a:srgbClr val="000000">
                    <a:lumMod val="65000"/>
                    <a:lumOff val="35000"/>
                  </a:srgbClr>
                </a:solidFill>
              </a:rPr>
              <a:t>7.</a:t>
            </a:r>
            <a:r>
              <a:rPr lang="ja-JP" altLang="en-US" kern="0">
                <a:solidFill>
                  <a:srgbClr val="000000">
                    <a:lumMod val="65000"/>
                    <a:lumOff val="35000"/>
                  </a:srgbClr>
                </a:solidFill>
              </a:rPr>
              <a:t> </a:t>
            </a:r>
            <a:r>
              <a:rPr kumimoji="1" lang="ja-JP" altLang="en-US" sz="18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体制</a:t>
            </a:r>
            <a:endParaRPr lang="ja-JP" altLang="en-US" kern="0"/>
          </a:p>
        </p:txBody>
      </p:sp>
      <p:sp>
        <p:nvSpPr>
          <p:cNvPr id="10" name="コンテンツ プレースホルダー 5">
            <a:extLst>
              <a:ext uri="{FF2B5EF4-FFF2-40B4-BE49-F238E27FC236}">
                <a16:creationId xmlns:a16="http://schemas.microsoft.com/office/drawing/2014/main" id="{41A4511F-8ED2-A2F9-5822-2C813E7CA0E3}"/>
              </a:ext>
            </a:extLst>
          </p:cNvPr>
          <p:cNvSpPr>
            <a:spLocks noGrp="1"/>
          </p:cNvSpPr>
          <p:nvPr>
            <p:ph idx="1"/>
          </p:nvPr>
        </p:nvSpPr>
        <p:spPr>
          <a:xfrm>
            <a:off x="211394" y="614837"/>
            <a:ext cx="11525251" cy="716050"/>
          </a:xfrm>
        </p:spPr>
        <p:txBody>
          <a:bodyPr/>
          <a:lstStyle/>
          <a:p>
            <a:pPr marL="285750" indent="-285750">
              <a:buFont typeface="Arial" panose="020B0604020202020204" pitchFamily="34" charset="0"/>
              <a:buChar char="•"/>
            </a:pPr>
            <a:r>
              <a:rPr lang="ja-JP" altLang="en-US" sz="1600" dirty="0"/>
              <a:t>各システムにおいて、</a:t>
            </a:r>
            <a:r>
              <a:rPr lang="en-US" altLang="ja-JP" sz="1600" dirty="0"/>
              <a:t> JKK</a:t>
            </a:r>
            <a:r>
              <a:rPr lang="ja-JP" altLang="en-US" sz="1600" dirty="0"/>
              <a:t>本線の各領域に対して適宜要件等の連携を行う</a:t>
            </a:r>
            <a:endParaRPr lang="en-US" altLang="ja-JP" sz="1200" dirty="0">
              <a:solidFill>
                <a:srgbClr val="FF0000"/>
              </a:solidFill>
            </a:endParaRPr>
          </a:p>
        </p:txBody>
      </p:sp>
      <p:grpSp>
        <p:nvGrpSpPr>
          <p:cNvPr id="182" name="グループ化 181">
            <a:extLst>
              <a:ext uri="{FF2B5EF4-FFF2-40B4-BE49-F238E27FC236}">
                <a16:creationId xmlns:a16="http://schemas.microsoft.com/office/drawing/2014/main" id="{6FBE4685-62B2-511B-79FA-DA02EA9156D1}"/>
              </a:ext>
            </a:extLst>
          </p:cNvPr>
          <p:cNvGrpSpPr/>
          <p:nvPr/>
        </p:nvGrpSpPr>
        <p:grpSpPr>
          <a:xfrm>
            <a:off x="193667" y="2762866"/>
            <a:ext cx="2259703" cy="1179614"/>
            <a:chOff x="193667" y="2690038"/>
            <a:chExt cx="2259703" cy="1179614"/>
          </a:xfrm>
        </p:grpSpPr>
        <p:sp>
          <p:nvSpPr>
            <p:cNvPr id="189" name="正方形/長方形 188">
              <a:extLst>
                <a:ext uri="{FF2B5EF4-FFF2-40B4-BE49-F238E27FC236}">
                  <a16:creationId xmlns:a16="http://schemas.microsoft.com/office/drawing/2014/main" id="{DC4EEC2E-17BD-D478-B694-4189361BE5F7}"/>
                </a:ext>
              </a:extLst>
            </p:cNvPr>
            <p:cNvSpPr/>
            <p:nvPr/>
          </p:nvSpPr>
          <p:spPr>
            <a:xfrm>
              <a:off x="193667" y="2690038"/>
              <a:ext cx="2259703" cy="1179614"/>
            </a:xfrm>
            <a:prstGeom prst="rect">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t"/>
            <a:lstStyle/>
            <a:p>
              <a:endParaRPr kumimoji="1" lang="ja-JP" altLang="en-US" sz="1050">
                <a:solidFill>
                  <a:schemeClr val="tx1"/>
                </a:solidFill>
                <a:latin typeface="Meiryo UI" panose="020B0604030504040204" pitchFamily="50" charset="-128"/>
                <a:ea typeface="Meiryo UI" panose="020B0604030504040204" pitchFamily="50" charset="-128"/>
                <a:cs typeface="Hiragino Kaku Gothic Pro W3" charset="-128"/>
              </a:endParaRPr>
            </a:p>
          </p:txBody>
        </p:sp>
        <p:sp>
          <p:nvSpPr>
            <p:cNvPr id="209" name="正方形/長方形 208">
              <a:extLst>
                <a:ext uri="{FF2B5EF4-FFF2-40B4-BE49-F238E27FC236}">
                  <a16:creationId xmlns:a16="http://schemas.microsoft.com/office/drawing/2014/main" id="{3DBED260-156B-9F15-73AA-84D00748CB43}"/>
                </a:ext>
              </a:extLst>
            </p:cNvPr>
            <p:cNvSpPr/>
            <p:nvPr/>
          </p:nvSpPr>
          <p:spPr>
            <a:xfrm>
              <a:off x="356155" y="3539720"/>
              <a:ext cx="900000" cy="262223"/>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dirty="0">
                  <a:solidFill>
                    <a:schemeClr val="tx1">
                      <a:lumMod val="65000"/>
                      <a:lumOff val="35000"/>
                    </a:schemeClr>
                  </a:solidFill>
                  <a:latin typeface="Meiryo UI" panose="020B0604030504040204" pitchFamily="50" charset="-128"/>
                  <a:ea typeface="Meiryo UI" panose="020B0604030504040204" pitchFamily="50" charset="-128"/>
                </a:rPr>
                <a:t>BCC</a:t>
              </a:r>
              <a:endParaRPr lang="ja-JP" altLang="en-US" sz="1000" dirty="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10" name="正方形/長方形 209">
              <a:extLst>
                <a:ext uri="{FF2B5EF4-FFF2-40B4-BE49-F238E27FC236}">
                  <a16:creationId xmlns:a16="http://schemas.microsoft.com/office/drawing/2014/main" id="{E4155323-08BB-850A-ADAA-F71245D0EF8D}"/>
                </a:ext>
              </a:extLst>
            </p:cNvPr>
            <p:cNvSpPr/>
            <p:nvPr/>
          </p:nvSpPr>
          <p:spPr>
            <a:xfrm>
              <a:off x="1390882" y="3539720"/>
              <a:ext cx="900000" cy="262223"/>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dirty="0">
                  <a:solidFill>
                    <a:schemeClr val="tx1">
                      <a:lumMod val="65000"/>
                      <a:lumOff val="35000"/>
                    </a:schemeClr>
                  </a:solidFill>
                  <a:latin typeface="Meiryo UI" panose="020B0604030504040204" pitchFamily="50" charset="-128"/>
                  <a:ea typeface="Meiryo UI" panose="020B0604030504040204" pitchFamily="50" charset="-128"/>
                </a:rPr>
                <a:t>BCC</a:t>
              </a:r>
              <a:endParaRPr lang="ja-JP" altLang="en-US" sz="1000" dirty="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12" name="正方形/長方形 211">
              <a:extLst>
                <a:ext uri="{FF2B5EF4-FFF2-40B4-BE49-F238E27FC236}">
                  <a16:creationId xmlns:a16="http://schemas.microsoft.com/office/drawing/2014/main" id="{F8352177-66D0-D933-1E61-B707C372DA94}"/>
                </a:ext>
              </a:extLst>
            </p:cNvPr>
            <p:cNvSpPr/>
            <p:nvPr/>
          </p:nvSpPr>
          <p:spPr>
            <a:xfrm>
              <a:off x="356155" y="3313466"/>
              <a:ext cx="900000" cy="224762"/>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00" b="1" dirty="0">
                  <a:solidFill>
                    <a:schemeClr val="bg1"/>
                  </a:solidFill>
                  <a:latin typeface="Meiryo UI" panose="020B0604030504040204" pitchFamily="50" charset="-128"/>
                  <a:ea typeface="Meiryo UI" panose="020B0604030504040204" pitchFamily="50" charset="-128"/>
                </a:rPr>
                <a:t>テスト計画検討</a:t>
              </a:r>
            </a:p>
          </p:txBody>
        </p:sp>
        <p:sp>
          <p:nvSpPr>
            <p:cNvPr id="213" name="正方形/長方形 212">
              <a:extLst>
                <a:ext uri="{FF2B5EF4-FFF2-40B4-BE49-F238E27FC236}">
                  <a16:creationId xmlns:a16="http://schemas.microsoft.com/office/drawing/2014/main" id="{1E91B799-E4C9-758E-B9D3-37BB04A7BA2A}"/>
                </a:ext>
              </a:extLst>
            </p:cNvPr>
            <p:cNvSpPr/>
            <p:nvPr/>
          </p:nvSpPr>
          <p:spPr>
            <a:xfrm>
              <a:off x="1390882" y="3313466"/>
              <a:ext cx="900000" cy="224762"/>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00" b="1" dirty="0">
                  <a:solidFill>
                    <a:schemeClr val="bg1"/>
                  </a:solidFill>
                  <a:latin typeface="Meiryo UI" panose="020B0604030504040204" pitchFamily="50" charset="-128"/>
                  <a:ea typeface="Meiryo UI" panose="020B0604030504040204" pitchFamily="50" charset="-128"/>
                </a:rPr>
                <a:t>移行計画検討</a:t>
              </a:r>
            </a:p>
          </p:txBody>
        </p:sp>
        <p:grpSp>
          <p:nvGrpSpPr>
            <p:cNvPr id="225" name="グループ化 224">
              <a:extLst>
                <a:ext uri="{FF2B5EF4-FFF2-40B4-BE49-F238E27FC236}">
                  <a16:creationId xmlns:a16="http://schemas.microsoft.com/office/drawing/2014/main" id="{51EC628B-14E1-84C4-5FF0-1F449D433C06}"/>
                </a:ext>
              </a:extLst>
            </p:cNvPr>
            <p:cNvGrpSpPr/>
            <p:nvPr/>
          </p:nvGrpSpPr>
          <p:grpSpPr>
            <a:xfrm>
              <a:off x="873518" y="2754443"/>
              <a:ext cx="900000" cy="488477"/>
              <a:chOff x="2972851" y="2796388"/>
              <a:chExt cx="1089000" cy="488477"/>
            </a:xfrm>
          </p:grpSpPr>
          <p:sp>
            <p:nvSpPr>
              <p:cNvPr id="26" name="正方形/長方形 25">
                <a:extLst>
                  <a:ext uri="{FF2B5EF4-FFF2-40B4-BE49-F238E27FC236}">
                    <a16:creationId xmlns:a16="http://schemas.microsoft.com/office/drawing/2014/main" id="{3026306A-119B-155D-C7B3-A45763EAA413}"/>
                  </a:ext>
                </a:extLst>
              </p:cNvPr>
              <p:cNvSpPr/>
              <p:nvPr/>
            </p:nvSpPr>
            <p:spPr>
              <a:xfrm>
                <a:off x="2972851" y="3022642"/>
                <a:ext cx="1089000" cy="262223"/>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00" dirty="0">
                    <a:solidFill>
                      <a:schemeClr val="tx1">
                        <a:lumMod val="65000"/>
                        <a:lumOff val="35000"/>
                      </a:schemeClr>
                    </a:solidFill>
                    <a:latin typeface="Meiryo UI" panose="020B0604030504040204" pitchFamily="50" charset="-128"/>
                    <a:ea typeface="Meiryo UI" panose="020B0604030504040204" pitchFamily="50" charset="-128"/>
                  </a:rPr>
                  <a:t>小高</a:t>
                </a:r>
              </a:p>
            </p:txBody>
          </p:sp>
          <p:sp>
            <p:nvSpPr>
              <p:cNvPr id="31" name="正方形/長方形 30">
                <a:extLst>
                  <a:ext uri="{FF2B5EF4-FFF2-40B4-BE49-F238E27FC236}">
                    <a16:creationId xmlns:a16="http://schemas.microsoft.com/office/drawing/2014/main" id="{443D590F-2D21-072A-20DA-98D4B84437B7}"/>
                  </a:ext>
                </a:extLst>
              </p:cNvPr>
              <p:cNvSpPr/>
              <p:nvPr/>
            </p:nvSpPr>
            <p:spPr>
              <a:xfrm>
                <a:off x="2972851" y="2796388"/>
                <a:ext cx="1089000" cy="224762"/>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b="1">
                    <a:solidFill>
                      <a:schemeClr val="bg1"/>
                    </a:solidFill>
                    <a:latin typeface="Meiryo UI" panose="020B0604030504040204" pitchFamily="50" charset="-128"/>
                    <a:ea typeface="Meiryo UI" panose="020B0604030504040204" pitchFamily="50" charset="-128"/>
                  </a:rPr>
                  <a:t>PMO</a:t>
                </a:r>
                <a:endParaRPr lang="ja-JP" altLang="en-US" sz="1000" b="1">
                  <a:solidFill>
                    <a:schemeClr val="bg1"/>
                  </a:solidFill>
                  <a:latin typeface="Meiryo UI" panose="020B0604030504040204" pitchFamily="50" charset="-128"/>
                  <a:ea typeface="Meiryo UI" panose="020B0604030504040204" pitchFamily="50" charset="-128"/>
                </a:endParaRPr>
              </a:p>
            </p:txBody>
          </p:sp>
        </p:grpSp>
      </p:grpSp>
      <p:sp>
        <p:nvSpPr>
          <p:cNvPr id="17" name="スライド番号プレースホルダー 3">
            <a:extLst>
              <a:ext uri="{FF2B5EF4-FFF2-40B4-BE49-F238E27FC236}">
                <a16:creationId xmlns:a16="http://schemas.microsoft.com/office/drawing/2014/main" id="{23C0CFCF-A48E-CA89-7263-C8668D513DB5}"/>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35</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cxnSp>
        <p:nvCxnSpPr>
          <p:cNvPr id="184" name="カギ線コネクタ 58">
            <a:extLst>
              <a:ext uri="{FF2B5EF4-FFF2-40B4-BE49-F238E27FC236}">
                <a16:creationId xmlns:a16="http://schemas.microsoft.com/office/drawing/2014/main" id="{D653E6C3-A9C3-D486-57B5-F20BE361544C}"/>
              </a:ext>
            </a:extLst>
          </p:cNvPr>
          <p:cNvCxnSpPr>
            <a:cxnSpLocks/>
            <a:stCxn id="190" idx="2"/>
            <a:endCxn id="189" idx="3"/>
          </p:cNvCxnSpPr>
          <p:nvPr/>
        </p:nvCxnSpPr>
        <p:spPr>
          <a:xfrm rot="5400000">
            <a:off x="2566012" y="2736152"/>
            <a:ext cx="503879" cy="729162"/>
          </a:xfrm>
          <a:prstGeom prst="bentConnector2">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02" name="フリーフォーム: 図形 201">
            <a:extLst>
              <a:ext uri="{FF2B5EF4-FFF2-40B4-BE49-F238E27FC236}">
                <a16:creationId xmlns:a16="http://schemas.microsoft.com/office/drawing/2014/main" id="{5F5CFC12-120F-4A13-F889-8694F32B6483}"/>
              </a:ext>
            </a:extLst>
          </p:cNvPr>
          <p:cNvSpPr/>
          <p:nvPr/>
        </p:nvSpPr>
        <p:spPr>
          <a:xfrm>
            <a:off x="101110" y="1308883"/>
            <a:ext cx="12004645" cy="5263979"/>
          </a:xfrm>
          <a:custGeom>
            <a:avLst/>
            <a:gdLst>
              <a:gd name="connsiteX0" fmla="*/ 1 w 11877775"/>
              <a:gd name="connsiteY0" fmla="*/ 0 h 5106446"/>
              <a:gd name="connsiteX1" fmla="*/ 3350768 w 11877775"/>
              <a:gd name="connsiteY1" fmla="*/ 0 h 5106446"/>
              <a:gd name="connsiteX2" fmla="*/ 3350768 w 11877775"/>
              <a:gd name="connsiteY2" fmla="*/ 2853038 h 5106446"/>
              <a:gd name="connsiteX3" fmla="*/ 11877775 w 11877775"/>
              <a:gd name="connsiteY3" fmla="*/ 2853038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0" fmla="*/ 1 w 11877775"/>
              <a:gd name="connsiteY0" fmla="*/ 0 h 5106446"/>
              <a:gd name="connsiteX1" fmla="*/ 3823471 w 11877775"/>
              <a:gd name="connsiteY1" fmla="*/ 7850 h 5106446"/>
              <a:gd name="connsiteX2" fmla="*/ 3350768 w 11877775"/>
              <a:gd name="connsiteY2" fmla="*/ 2853038 h 5106446"/>
              <a:gd name="connsiteX3" fmla="*/ 11877775 w 11877775"/>
              <a:gd name="connsiteY3" fmla="*/ 2853038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12" fmla="*/ 1 w 11877775"/>
              <a:gd name="connsiteY12" fmla="*/ 0 h 5106446"/>
              <a:gd name="connsiteX0" fmla="*/ 1 w 11877775"/>
              <a:gd name="connsiteY0" fmla="*/ 0 h 5106446"/>
              <a:gd name="connsiteX1" fmla="*/ 3823471 w 11877775"/>
              <a:gd name="connsiteY1" fmla="*/ 7850 h 5106446"/>
              <a:gd name="connsiteX2" fmla="*/ 3823471 w 11877775"/>
              <a:gd name="connsiteY2" fmla="*/ 2633242 h 5106446"/>
              <a:gd name="connsiteX3" fmla="*/ 11877775 w 11877775"/>
              <a:gd name="connsiteY3" fmla="*/ 2853038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12" fmla="*/ 1 w 11877775"/>
              <a:gd name="connsiteY12" fmla="*/ 0 h 5106446"/>
              <a:gd name="connsiteX0" fmla="*/ 1 w 11877775"/>
              <a:gd name="connsiteY0" fmla="*/ 0 h 5106446"/>
              <a:gd name="connsiteX1" fmla="*/ 3823471 w 11877775"/>
              <a:gd name="connsiteY1" fmla="*/ 7850 h 5106446"/>
              <a:gd name="connsiteX2" fmla="*/ 3823471 w 11877775"/>
              <a:gd name="connsiteY2" fmla="*/ 2633242 h 5106446"/>
              <a:gd name="connsiteX3" fmla="*/ 11877775 w 11877775"/>
              <a:gd name="connsiteY3" fmla="*/ 2617541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12" fmla="*/ 1 w 11877775"/>
              <a:gd name="connsiteY12" fmla="*/ 0 h 5106446"/>
              <a:gd name="connsiteX0" fmla="*/ 1 w 11877775"/>
              <a:gd name="connsiteY0" fmla="*/ 0 h 5106446"/>
              <a:gd name="connsiteX1" fmla="*/ 3823471 w 11877775"/>
              <a:gd name="connsiteY1" fmla="*/ 7850 h 5106446"/>
              <a:gd name="connsiteX2" fmla="*/ 3823471 w 11877775"/>
              <a:gd name="connsiteY2" fmla="*/ 2633242 h 5106446"/>
              <a:gd name="connsiteX3" fmla="*/ 11877775 w 11877775"/>
              <a:gd name="connsiteY3" fmla="*/ 2656790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12" fmla="*/ 1 w 11877775"/>
              <a:gd name="connsiteY12" fmla="*/ 0 h 5106446"/>
              <a:gd name="connsiteX0" fmla="*/ 1 w 11877775"/>
              <a:gd name="connsiteY0" fmla="*/ 0 h 5106446"/>
              <a:gd name="connsiteX1" fmla="*/ 3823471 w 11877775"/>
              <a:gd name="connsiteY1" fmla="*/ 7850 h 5106446"/>
              <a:gd name="connsiteX2" fmla="*/ 3815459 w 11877775"/>
              <a:gd name="connsiteY2" fmla="*/ 2813788 h 5106446"/>
              <a:gd name="connsiteX3" fmla="*/ 11877775 w 11877775"/>
              <a:gd name="connsiteY3" fmla="*/ 2656790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12" fmla="*/ 1 w 11877775"/>
              <a:gd name="connsiteY12" fmla="*/ 0 h 5106446"/>
              <a:gd name="connsiteX0" fmla="*/ 1 w 11885787"/>
              <a:gd name="connsiteY0" fmla="*/ 0 h 5106446"/>
              <a:gd name="connsiteX1" fmla="*/ 3823471 w 11885787"/>
              <a:gd name="connsiteY1" fmla="*/ 7850 h 5106446"/>
              <a:gd name="connsiteX2" fmla="*/ 3815459 w 11885787"/>
              <a:gd name="connsiteY2" fmla="*/ 2813788 h 5106446"/>
              <a:gd name="connsiteX3" fmla="*/ 11885787 w 11885787"/>
              <a:gd name="connsiteY3" fmla="*/ 2805937 h 5106446"/>
              <a:gd name="connsiteX4" fmla="*/ 11877775 w 11885787"/>
              <a:gd name="connsiteY4" fmla="*/ 5106445 h 5106446"/>
              <a:gd name="connsiteX5" fmla="*/ 3350768 w 11885787"/>
              <a:gd name="connsiteY5" fmla="*/ 5106445 h 5106446"/>
              <a:gd name="connsiteX6" fmla="*/ 3350768 w 11885787"/>
              <a:gd name="connsiteY6" fmla="*/ 5106446 h 5106446"/>
              <a:gd name="connsiteX7" fmla="*/ 1 w 11885787"/>
              <a:gd name="connsiteY7" fmla="*/ 5106446 h 5106446"/>
              <a:gd name="connsiteX8" fmla="*/ 1 w 11885787"/>
              <a:gd name="connsiteY8" fmla="*/ 5106445 h 5106446"/>
              <a:gd name="connsiteX9" fmla="*/ 0 w 11885787"/>
              <a:gd name="connsiteY9" fmla="*/ 5106445 h 5106446"/>
              <a:gd name="connsiteX10" fmla="*/ 0 w 11885787"/>
              <a:gd name="connsiteY10" fmla="*/ 2853038 h 5106446"/>
              <a:gd name="connsiteX11" fmla="*/ 1 w 11885787"/>
              <a:gd name="connsiteY11" fmla="*/ 2853038 h 5106446"/>
              <a:gd name="connsiteX12" fmla="*/ 1 w 11885787"/>
              <a:gd name="connsiteY12" fmla="*/ 0 h 5106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85787" h="5106446">
                <a:moveTo>
                  <a:pt x="1" y="0"/>
                </a:moveTo>
                <a:lnTo>
                  <a:pt x="3823471" y="7850"/>
                </a:lnTo>
                <a:cubicBezTo>
                  <a:pt x="3820800" y="943163"/>
                  <a:pt x="3818130" y="1878475"/>
                  <a:pt x="3815459" y="2813788"/>
                </a:cubicBezTo>
                <a:lnTo>
                  <a:pt x="11885787" y="2805937"/>
                </a:lnTo>
                <a:cubicBezTo>
                  <a:pt x="11883116" y="3572773"/>
                  <a:pt x="11880446" y="4339609"/>
                  <a:pt x="11877775" y="5106445"/>
                </a:cubicBezTo>
                <a:lnTo>
                  <a:pt x="3350768" y="5106445"/>
                </a:lnTo>
                <a:lnTo>
                  <a:pt x="3350768" y="5106446"/>
                </a:lnTo>
                <a:lnTo>
                  <a:pt x="1" y="5106446"/>
                </a:lnTo>
                <a:lnTo>
                  <a:pt x="1" y="5106445"/>
                </a:lnTo>
                <a:lnTo>
                  <a:pt x="0" y="5106445"/>
                </a:lnTo>
                <a:lnTo>
                  <a:pt x="0" y="2853038"/>
                </a:lnTo>
                <a:lnTo>
                  <a:pt x="1" y="2853038"/>
                </a:lnTo>
                <a:lnTo>
                  <a:pt x="1" y="0"/>
                </a:lnTo>
                <a:close/>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t"/>
          <a:lstStyle/>
          <a:p>
            <a:r>
              <a:rPr lang="ja-JP" altLang="en-US" sz="1600" b="1">
                <a:solidFill>
                  <a:schemeClr val="tx1">
                    <a:lumMod val="65000"/>
                    <a:lumOff val="35000"/>
                  </a:schemeClr>
                </a:solidFill>
                <a:latin typeface="Meiryo UI" panose="020B0604030504040204" pitchFamily="50" charset="-128"/>
                <a:ea typeface="Meiryo UI" panose="020B0604030504040204" pitchFamily="50" charset="-128"/>
              </a:rPr>
              <a:t>　</a:t>
            </a:r>
            <a:r>
              <a:rPr lang="en-US" altLang="ja-JP" sz="1600" b="1">
                <a:solidFill>
                  <a:schemeClr val="tx1">
                    <a:lumMod val="65000"/>
                    <a:lumOff val="35000"/>
                  </a:schemeClr>
                </a:solidFill>
                <a:latin typeface="Meiryo UI" panose="020B0604030504040204" pitchFamily="50" charset="-128"/>
                <a:ea typeface="Meiryo UI" panose="020B0604030504040204" pitchFamily="50" charset="-128"/>
              </a:rPr>
              <a:t>JKK</a:t>
            </a:r>
            <a:r>
              <a:rPr lang="ja-JP" altLang="en-US" sz="1600" b="1">
                <a:solidFill>
                  <a:schemeClr val="tx1">
                    <a:lumMod val="65000"/>
                    <a:lumOff val="35000"/>
                  </a:schemeClr>
                </a:solidFill>
                <a:latin typeface="Meiryo UI" panose="020B0604030504040204" pitchFamily="50" charset="-128"/>
                <a:ea typeface="Meiryo UI" panose="020B0604030504040204" pitchFamily="50" charset="-128"/>
              </a:rPr>
              <a:t>基シス周辺対応</a:t>
            </a:r>
          </a:p>
        </p:txBody>
      </p:sp>
      <p:grpSp>
        <p:nvGrpSpPr>
          <p:cNvPr id="443" name="グループ化 442">
            <a:extLst>
              <a:ext uri="{FF2B5EF4-FFF2-40B4-BE49-F238E27FC236}">
                <a16:creationId xmlns:a16="http://schemas.microsoft.com/office/drawing/2014/main" id="{9342133F-10EA-38F3-D189-68ADB1992BCD}"/>
              </a:ext>
            </a:extLst>
          </p:cNvPr>
          <p:cNvGrpSpPr/>
          <p:nvPr/>
        </p:nvGrpSpPr>
        <p:grpSpPr>
          <a:xfrm>
            <a:off x="5227323" y="1308883"/>
            <a:ext cx="6009755" cy="2416828"/>
            <a:chOff x="6096000" y="1308883"/>
            <a:chExt cx="6009755" cy="2416828"/>
          </a:xfrm>
        </p:grpSpPr>
        <p:sp>
          <p:nvSpPr>
            <p:cNvPr id="206" name="テキスト ボックス 205">
              <a:extLst>
                <a:ext uri="{FF2B5EF4-FFF2-40B4-BE49-F238E27FC236}">
                  <a16:creationId xmlns:a16="http://schemas.microsoft.com/office/drawing/2014/main" id="{7BBBEC53-3B00-B9A2-093A-098B0EF45640}"/>
                </a:ext>
              </a:extLst>
            </p:cNvPr>
            <p:cNvSpPr txBox="1"/>
            <p:nvPr/>
          </p:nvSpPr>
          <p:spPr bwMode="auto">
            <a:xfrm>
              <a:off x="9011891" y="3440467"/>
              <a:ext cx="1235035" cy="284933"/>
            </a:xfrm>
            <a:prstGeom prst="rect">
              <a:avLst/>
            </a:prstGeom>
            <a:noFill/>
            <a:ln w="9525">
              <a:noFill/>
              <a:miter lim="800000"/>
              <a:headEnd/>
              <a:tailEnd/>
            </a:ln>
          </p:spPr>
          <p:txBody>
            <a:bodyPr wrap="square" rtlCol="0">
              <a:spAutoFit/>
            </a:bodyPr>
            <a:lstStyle/>
            <a:p>
              <a:pPr algn="ctr"/>
              <a:r>
                <a:rPr kumimoji="1" lang="en-US" altLang="ja-JP" sz="1400" b="1">
                  <a:solidFill>
                    <a:schemeClr val="accent4">
                      <a:lumMod val="65000"/>
                      <a:lumOff val="35000"/>
                    </a:schemeClr>
                  </a:solidFill>
                  <a:latin typeface="Meiryo UI" panose="020B0604030504040204" pitchFamily="50" charset="-128"/>
                  <a:ea typeface="Meiryo UI" panose="020B0604030504040204" pitchFamily="50" charset="-128"/>
                  <a:cs typeface="メイリオ"/>
                </a:rPr>
                <a:t>:</a:t>
              </a:r>
              <a:endParaRPr kumimoji="1" lang="ja-JP" altLang="en-US" sz="1400" b="1">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sp>
          <p:nvSpPr>
            <p:cNvPr id="211" name="正方形/長方形 210">
              <a:extLst>
                <a:ext uri="{FF2B5EF4-FFF2-40B4-BE49-F238E27FC236}">
                  <a16:creationId xmlns:a16="http://schemas.microsoft.com/office/drawing/2014/main" id="{16645F13-D5EC-5784-3545-8D5A36BF0DCD}"/>
                </a:ext>
              </a:extLst>
            </p:cNvPr>
            <p:cNvSpPr/>
            <p:nvPr/>
          </p:nvSpPr>
          <p:spPr>
            <a:xfrm>
              <a:off x="6548916" y="2902320"/>
              <a:ext cx="5160450" cy="575915"/>
            </a:xfrm>
            <a:prstGeom prst="rect">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r>
                <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アプリ</a:t>
              </a:r>
              <a:r>
                <a:rPr lang="en-US" altLang="ja-JP"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U</a:t>
              </a:r>
              <a:endPar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grpSp>
          <p:nvGrpSpPr>
            <p:cNvPr id="214" name="グループ化 213">
              <a:extLst>
                <a:ext uri="{FF2B5EF4-FFF2-40B4-BE49-F238E27FC236}">
                  <a16:creationId xmlns:a16="http://schemas.microsoft.com/office/drawing/2014/main" id="{2BC1C485-86F6-2A55-949F-C42BBAA49DC9}"/>
                </a:ext>
              </a:extLst>
            </p:cNvPr>
            <p:cNvGrpSpPr/>
            <p:nvPr/>
          </p:nvGrpSpPr>
          <p:grpSpPr>
            <a:xfrm>
              <a:off x="7448223" y="2972982"/>
              <a:ext cx="4146444" cy="434592"/>
              <a:chOff x="5194483" y="2733577"/>
              <a:chExt cx="4146444" cy="469434"/>
            </a:xfrm>
          </p:grpSpPr>
          <p:grpSp>
            <p:nvGrpSpPr>
              <p:cNvPr id="361" name="グループ化 360">
                <a:extLst>
                  <a:ext uri="{FF2B5EF4-FFF2-40B4-BE49-F238E27FC236}">
                    <a16:creationId xmlns:a16="http://schemas.microsoft.com/office/drawing/2014/main" id="{2C32869F-27BF-5783-0A46-99928BA04911}"/>
                  </a:ext>
                </a:extLst>
              </p:cNvPr>
              <p:cNvGrpSpPr/>
              <p:nvPr/>
            </p:nvGrpSpPr>
            <p:grpSpPr>
              <a:xfrm>
                <a:off x="5194483" y="2733577"/>
                <a:ext cx="3797591" cy="469434"/>
                <a:chOff x="4537701" y="3066710"/>
                <a:chExt cx="3797591" cy="469434"/>
              </a:xfrm>
            </p:grpSpPr>
            <p:sp>
              <p:nvSpPr>
                <p:cNvPr id="363" name="正方形/長方形 362">
                  <a:extLst>
                    <a:ext uri="{FF2B5EF4-FFF2-40B4-BE49-F238E27FC236}">
                      <a16:creationId xmlns:a16="http://schemas.microsoft.com/office/drawing/2014/main" id="{E4497DE6-F088-8EF7-88F9-404E792EC8CD}"/>
                    </a:ext>
                  </a:extLst>
                </p:cNvPr>
                <p:cNvSpPr/>
                <p:nvPr/>
              </p:nvSpPr>
              <p:spPr>
                <a:xfrm>
                  <a:off x="4537701" y="3284144"/>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富田</a:t>
                  </a:r>
                </a:p>
              </p:txBody>
            </p:sp>
            <p:sp>
              <p:nvSpPr>
                <p:cNvPr id="364" name="正方形/長方形 363">
                  <a:extLst>
                    <a:ext uri="{FF2B5EF4-FFF2-40B4-BE49-F238E27FC236}">
                      <a16:creationId xmlns:a16="http://schemas.microsoft.com/office/drawing/2014/main" id="{820CB544-D5C0-2AFA-2426-ED4584659B79}"/>
                    </a:ext>
                  </a:extLst>
                </p:cNvPr>
                <p:cNvSpPr/>
                <p:nvPr/>
              </p:nvSpPr>
              <p:spPr>
                <a:xfrm>
                  <a:off x="5503565" y="3284144"/>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勝美</a:t>
                  </a:r>
                </a:p>
              </p:txBody>
            </p:sp>
            <p:sp>
              <p:nvSpPr>
                <p:cNvPr id="365" name="正方形/長方形 364">
                  <a:extLst>
                    <a:ext uri="{FF2B5EF4-FFF2-40B4-BE49-F238E27FC236}">
                      <a16:creationId xmlns:a16="http://schemas.microsoft.com/office/drawing/2014/main" id="{E0C25893-F7CD-D67C-27CE-666BA45041AA}"/>
                    </a:ext>
                  </a:extLst>
                </p:cNvPr>
                <p:cNvSpPr/>
                <p:nvPr/>
              </p:nvSpPr>
              <p:spPr>
                <a:xfrm>
                  <a:off x="7435292" y="3284144"/>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宮野</a:t>
                  </a:r>
                </a:p>
              </p:txBody>
            </p:sp>
            <p:sp>
              <p:nvSpPr>
                <p:cNvPr id="366" name="正方形/長方形 365">
                  <a:extLst>
                    <a:ext uri="{FF2B5EF4-FFF2-40B4-BE49-F238E27FC236}">
                      <a16:creationId xmlns:a16="http://schemas.microsoft.com/office/drawing/2014/main" id="{222F203B-E252-0290-6952-27B3003C28A0}"/>
                    </a:ext>
                  </a:extLst>
                </p:cNvPr>
                <p:cNvSpPr/>
                <p:nvPr/>
              </p:nvSpPr>
              <p:spPr>
                <a:xfrm>
                  <a:off x="6469429" y="3284144"/>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高久</a:t>
                  </a:r>
                </a:p>
              </p:txBody>
            </p:sp>
            <p:sp>
              <p:nvSpPr>
                <p:cNvPr id="367" name="正方形/長方形 366">
                  <a:extLst>
                    <a:ext uri="{FF2B5EF4-FFF2-40B4-BE49-F238E27FC236}">
                      <a16:creationId xmlns:a16="http://schemas.microsoft.com/office/drawing/2014/main" id="{5E5FDCD3-9FA9-ED9C-A9AA-C09B3B49A094}"/>
                    </a:ext>
                  </a:extLst>
                </p:cNvPr>
                <p:cNvSpPr/>
                <p:nvPr/>
              </p:nvSpPr>
              <p:spPr>
                <a:xfrm>
                  <a:off x="4537701" y="3066710"/>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債権・販売</a:t>
                  </a:r>
                </a:p>
              </p:txBody>
            </p:sp>
            <p:sp>
              <p:nvSpPr>
                <p:cNvPr id="368" name="正方形/長方形 367">
                  <a:extLst>
                    <a:ext uri="{FF2B5EF4-FFF2-40B4-BE49-F238E27FC236}">
                      <a16:creationId xmlns:a16="http://schemas.microsoft.com/office/drawing/2014/main" id="{348E427E-59E9-DE0F-6369-9B52B6ED05AC}"/>
                    </a:ext>
                  </a:extLst>
                </p:cNvPr>
                <p:cNvSpPr/>
                <p:nvPr/>
              </p:nvSpPr>
              <p:spPr>
                <a:xfrm>
                  <a:off x="5503565" y="3066710"/>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債務・販売</a:t>
                  </a:r>
                </a:p>
              </p:txBody>
            </p:sp>
            <p:sp>
              <p:nvSpPr>
                <p:cNvPr id="369" name="正方形/長方形 368">
                  <a:extLst>
                    <a:ext uri="{FF2B5EF4-FFF2-40B4-BE49-F238E27FC236}">
                      <a16:creationId xmlns:a16="http://schemas.microsoft.com/office/drawing/2014/main" id="{8FEA816E-7466-D016-AA25-F34FDCB8B66E}"/>
                    </a:ext>
                  </a:extLst>
                </p:cNvPr>
                <p:cNvSpPr/>
                <p:nvPr/>
              </p:nvSpPr>
              <p:spPr>
                <a:xfrm>
                  <a:off x="7435292" y="3066710"/>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仕訳・共通</a:t>
                  </a:r>
                </a:p>
              </p:txBody>
            </p:sp>
            <p:sp>
              <p:nvSpPr>
                <p:cNvPr id="370" name="正方形/長方形 369">
                  <a:extLst>
                    <a:ext uri="{FF2B5EF4-FFF2-40B4-BE49-F238E27FC236}">
                      <a16:creationId xmlns:a16="http://schemas.microsoft.com/office/drawing/2014/main" id="{BE525ACA-42FB-BD2A-8BDC-741DC1B1A8A9}"/>
                    </a:ext>
                  </a:extLst>
                </p:cNvPr>
                <p:cNvSpPr/>
                <p:nvPr/>
              </p:nvSpPr>
              <p:spPr>
                <a:xfrm>
                  <a:off x="6469429" y="3066710"/>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マスタ管理</a:t>
                  </a:r>
                </a:p>
              </p:txBody>
            </p:sp>
          </p:grpSp>
          <p:sp>
            <p:nvSpPr>
              <p:cNvPr id="362" name="テキスト ボックス 361">
                <a:extLst>
                  <a:ext uri="{FF2B5EF4-FFF2-40B4-BE49-F238E27FC236}">
                    <a16:creationId xmlns:a16="http://schemas.microsoft.com/office/drawing/2014/main" id="{4DC36629-0AE6-E8A7-89A2-68F325AB41CF}"/>
                  </a:ext>
                </a:extLst>
              </p:cNvPr>
              <p:cNvSpPr txBox="1"/>
              <p:nvPr/>
            </p:nvSpPr>
            <p:spPr bwMode="auto">
              <a:xfrm rot="16200000">
                <a:off x="8970603" y="2814406"/>
                <a:ext cx="432872" cy="307777"/>
              </a:xfrm>
              <a:prstGeom prst="rect">
                <a:avLst/>
              </a:prstGeom>
              <a:noFill/>
              <a:ln w="9525">
                <a:noFill/>
                <a:miter lim="800000"/>
                <a:headEnd/>
                <a:tailEnd/>
              </a:ln>
            </p:spPr>
            <p:txBody>
              <a:bodyPr wrap="square" rtlCol="0">
                <a:spAutoFit/>
              </a:bodyPr>
              <a:lstStyle/>
              <a:p>
                <a:pPr algn="ctr"/>
                <a:r>
                  <a:rPr kumimoji="1" lang="en-US" altLang="ja-JP" sz="1400" b="1">
                    <a:solidFill>
                      <a:schemeClr val="accent4">
                        <a:lumMod val="65000"/>
                        <a:lumOff val="35000"/>
                      </a:schemeClr>
                    </a:solidFill>
                    <a:latin typeface="Meiryo UI" panose="020B0604030504040204" pitchFamily="50" charset="-128"/>
                    <a:ea typeface="Meiryo UI" panose="020B0604030504040204" pitchFamily="50" charset="-128"/>
                    <a:cs typeface="メイリオ"/>
                  </a:rPr>
                  <a:t>:</a:t>
                </a:r>
                <a:endParaRPr kumimoji="1" lang="ja-JP" altLang="en-US" sz="1400" b="1">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grpSp>
        <p:grpSp>
          <p:nvGrpSpPr>
            <p:cNvPr id="215" name="グループ化 214">
              <a:extLst>
                <a:ext uri="{FF2B5EF4-FFF2-40B4-BE49-F238E27FC236}">
                  <a16:creationId xmlns:a16="http://schemas.microsoft.com/office/drawing/2014/main" id="{DFEB6616-343F-7FFD-9660-26C06ED72D60}"/>
                </a:ext>
              </a:extLst>
            </p:cNvPr>
            <p:cNvGrpSpPr/>
            <p:nvPr/>
          </p:nvGrpSpPr>
          <p:grpSpPr>
            <a:xfrm>
              <a:off x="7448223" y="2317264"/>
              <a:ext cx="4146443" cy="434592"/>
              <a:chOff x="4525170" y="1922686"/>
              <a:chExt cx="4146443" cy="469434"/>
            </a:xfrm>
          </p:grpSpPr>
          <p:grpSp>
            <p:nvGrpSpPr>
              <p:cNvPr id="223" name="グループ化 222">
                <a:extLst>
                  <a:ext uri="{FF2B5EF4-FFF2-40B4-BE49-F238E27FC236}">
                    <a16:creationId xmlns:a16="http://schemas.microsoft.com/office/drawing/2014/main" id="{DDB57950-781F-ECC4-C644-0686B0332F61}"/>
                  </a:ext>
                </a:extLst>
              </p:cNvPr>
              <p:cNvGrpSpPr/>
              <p:nvPr/>
            </p:nvGrpSpPr>
            <p:grpSpPr>
              <a:xfrm>
                <a:off x="4525170" y="1922686"/>
                <a:ext cx="3797591" cy="469434"/>
                <a:chOff x="4537701" y="2176497"/>
                <a:chExt cx="3797591" cy="469434"/>
              </a:xfrm>
            </p:grpSpPr>
            <p:sp>
              <p:nvSpPr>
                <p:cNvPr id="353" name="正方形/長方形 352">
                  <a:extLst>
                    <a:ext uri="{FF2B5EF4-FFF2-40B4-BE49-F238E27FC236}">
                      <a16:creationId xmlns:a16="http://schemas.microsoft.com/office/drawing/2014/main" id="{34A7A3B5-9E45-6C5D-E5BA-0333CCCB3F9F}"/>
                    </a:ext>
                  </a:extLst>
                </p:cNvPr>
                <p:cNvSpPr/>
                <p:nvPr/>
              </p:nvSpPr>
              <p:spPr>
                <a:xfrm>
                  <a:off x="4537701" y="2393931"/>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田原・大内</a:t>
                  </a:r>
                </a:p>
              </p:txBody>
            </p:sp>
            <p:sp>
              <p:nvSpPr>
                <p:cNvPr id="354" name="正方形/長方形 353">
                  <a:extLst>
                    <a:ext uri="{FF2B5EF4-FFF2-40B4-BE49-F238E27FC236}">
                      <a16:creationId xmlns:a16="http://schemas.microsoft.com/office/drawing/2014/main" id="{27DB3541-7EC8-EAC9-3FD5-E0C607BDE964}"/>
                    </a:ext>
                  </a:extLst>
                </p:cNvPr>
                <p:cNvSpPr/>
                <p:nvPr/>
              </p:nvSpPr>
              <p:spPr>
                <a:xfrm>
                  <a:off x="5503565" y="2393931"/>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柴谷</a:t>
                  </a:r>
                </a:p>
              </p:txBody>
            </p:sp>
            <p:sp>
              <p:nvSpPr>
                <p:cNvPr id="355" name="正方形/長方形 354">
                  <a:extLst>
                    <a:ext uri="{FF2B5EF4-FFF2-40B4-BE49-F238E27FC236}">
                      <a16:creationId xmlns:a16="http://schemas.microsoft.com/office/drawing/2014/main" id="{71A81B42-7CC0-79EA-EEA0-D4A0BF51610F}"/>
                    </a:ext>
                  </a:extLst>
                </p:cNvPr>
                <p:cNvSpPr/>
                <p:nvPr/>
              </p:nvSpPr>
              <p:spPr>
                <a:xfrm>
                  <a:off x="7435292" y="2393931"/>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中村・尾田</a:t>
                  </a:r>
                </a:p>
              </p:txBody>
            </p:sp>
            <p:sp>
              <p:nvSpPr>
                <p:cNvPr id="356" name="正方形/長方形 355">
                  <a:extLst>
                    <a:ext uri="{FF2B5EF4-FFF2-40B4-BE49-F238E27FC236}">
                      <a16:creationId xmlns:a16="http://schemas.microsoft.com/office/drawing/2014/main" id="{4E22D5AB-4C34-B492-0655-981808ED2C61}"/>
                    </a:ext>
                  </a:extLst>
                </p:cNvPr>
                <p:cNvSpPr/>
                <p:nvPr/>
              </p:nvSpPr>
              <p:spPr>
                <a:xfrm>
                  <a:off x="6469429" y="2393931"/>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笹木</a:t>
                  </a:r>
                </a:p>
              </p:txBody>
            </p:sp>
            <p:sp>
              <p:nvSpPr>
                <p:cNvPr id="357" name="正方形/長方形 356">
                  <a:extLst>
                    <a:ext uri="{FF2B5EF4-FFF2-40B4-BE49-F238E27FC236}">
                      <a16:creationId xmlns:a16="http://schemas.microsoft.com/office/drawing/2014/main" id="{C0E4CBB0-EC6C-53DC-2BC1-22D1BDA9FD18}"/>
                    </a:ext>
                  </a:extLst>
                </p:cNvPr>
                <p:cNvSpPr/>
                <p:nvPr/>
              </p:nvSpPr>
              <p:spPr>
                <a:xfrm>
                  <a:off x="4537701" y="2176497"/>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債務</a:t>
                  </a:r>
                </a:p>
              </p:txBody>
            </p:sp>
            <p:sp>
              <p:nvSpPr>
                <p:cNvPr id="358" name="正方形/長方形 357">
                  <a:extLst>
                    <a:ext uri="{FF2B5EF4-FFF2-40B4-BE49-F238E27FC236}">
                      <a16:creationId xmlns:a16="http://schemas.microsoft.com/office/drawing/2014/main" id="{DFF3165E-5BF0-4044-B022-5A0DAE4F4F59}"/>
                    </a:ext>
                  </a:extLst>
                </p:cNvPr>
                <p:cNvSpPr/>
                <p:nvPr/>
              </p:nvSpPr>
              <p:spPr>
                <a:xfrm>
                  <a:off x="5503565" y="2176497"/>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購買</a:t>
                  </a:r>
                </a:p>
              </p:txBody>
            </p:sp>
            <p:sp>
              <p:nvSpPr>
                <p:cNvPr id="359" name="正方形/長方形 358">
                  <a:extLst>
                    <a:ext uri="{FF2B5EF4-FFF2-40B4-BE49-F238E27FC236}">
                      <a16:creationId xmlns:a16="http://schemas.microsoft.com/office/drawing/2014/main" id="{FBC273C9-ACCB-0A32-4F1C-6B84AF77CC1F}"/>
                    </a:ext>
                  </a:extLst>
                </p:cNvPr>
                <p:cNvSpPr/>
                <p:nvPr/>
              </p:nvSpPr>
              <p:spPr>
                <a:xfrm>
                  <a:off x="7435292" y="2176497"/>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管理会計</a:t>
                  </a:r>
                </a:p>
              </p:txBody>
            </p:sp>
            <p:sp>
              <p:nvSpPr>
                <p:cNvPr id="360" name="正方形/長方形 359">
                  <a:extLst>
                    <a:ext uri="{FF2B5EF4-FFF2-40B4-BE49-F238E27FC236}">
                      <a16:creationId xmlns:a16="http://schemas.microsoft.com/office/drawing/2014/main" id="{C6214356-81DE-C4EB-1C53-46DA071CC916}"/>
                    </a:ext>
                  </a:extLst>
                </p:cNvPr>
                <p:cNvSpPr/>
                <p:nvPr/>
              </p:nvSpPr>
              <p:spPr>
                <a:xfrm>
                  <a:off x="6469429" y="2176497"/>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債権</a:t>
                  </a:r>
                </a:p>
              </p:txBody>
            </p:sp>
          </p:grpSp>
          <p:sp>
            <p:nvSpPr>
              <p:cNvPr id="352" name="テキスト ボックス 351">
                <a:extLst>
                  <a:ext uri="{FF2B5EF4-FFF2-40B4-BE49-F238E27FC236}">
                    <a16:creationId xmlns:a16="http://schemas.microsoft.com/office/drawing/2014/main" id="{64000E11-3CC8-BEAD-C114-D7E54FD00E9B}"/>
                  </a:ext>
                </a:extLst>
              </p:cNvPr>
              <p:cNvSpPr txBox="1"/>
              <p:nvPr/>
            </p:nvSpPr>
            <p:spPr bwMode="auto">
              <a:xfrm rot="16200000">
                <a:off x="8301289" y="2003515"/>
                <a:ext cx="432872" cy="307777"/>
              </a:xfrm>
              <a:prstGeom prst="rect">
                <a:avLst/>
              </a:prstGeom>
              <a:noFill/>
              <a:ln w="9525">
                <a:noFill/>
                <a:miter lim="800000"/>
                <a:headEnd/>
                <a:tailEnd/>
              </a:ln>
            </p:spPr>
            <p:txBody>
              <a:bodyPr wrap="square" rtlCol="0">
                <a:spAutoFit/>
              </a:bodyPr>
              <a:lstStyle/>
              <a:p>
                <a:pPr algn="ctr"/>
                <a:r>
                  <a:rPr kumimoji="1" lang="en-US" altLang="ja-JP" sz="1400" b="1">
                    <a:solidFill>
                      <a:schemeClr val="accent4">
                        <a:lumMod val="65000"/>
                        <a:lumOff val="35000"/>
                      </a:schemeClr>
                    </a:solidFill>
                    <a:latin typeface="Meiryo UI" panose="020B0604030504040204" pitchFamily="50" charset="-128"/>
                    <a:ea typeface="Meiryo UI" panose="020B0604030504040204" pitchFamily="50" charset="-128"/>
                    <a:cs typeface="メイリオ"/>
                  </a:rPr>
                  <a:t>:</a:t>
                </a:r>
                <a:endParaRPr kumimoji="1" lang="ja-JP" altLang="en-US" sz="1400" b="1">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grpSp>
        <p:sp>
          <p:nvSpPr>
            <p:cNvPr id="216" name="正方形/長方形 215">
              <a:extLst>
                <a:ext uri="{FF2B5EF4-FFF2-40B4-BE49-F238E27FC236}">
                  <a16:creationId xmlns:a16="http://schemas.microsoft.com/office/drawing/2014/main" id="{C5BE80DF-C2B8-5E39-F816-EE46A5FD969F}"/>
                </a:ext>
              </a:extLst>
            </p:cNvPr>
            <p:cNvSpPr/>
            <p:nvPr/>
          </p:nvSpPr>
          <p:spPr>
            <a:xfrm>
              <a:off x="6548916" y="2246602"/>
              <a:ext cx="5160450" cy="575915"/>
            </a:xfrm>
            <a:prstGeom prst="rect">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r>
                <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ファイナンス</a:t>
              </a:r>
              <a:r>
                <a:rPr kumimoji="1" lang="en-US" altLang="ja-JP"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U</a:t>
              </a:r>
              <a:endPar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sp>
          <p:nvSpPr>
            <p:cNvPr id="217" name="正方形/長方形 216">
              <a:extLst>
                <a:ext uri="{FF2B5EF4-FFF2-40B4-BE49-F238E27FC236}">
                  <a16:creationId xmlns:a16="http://schemas.microsoft.com/office/drawing/2014/main" id="{CA1744E5-1B17-C224-8AF4-D8474F9587A3}"/>
                </a:ext>
              </a:extLst>
            </p:cNvPr>
            <p:cNvSpPr/>
            <p:nvPr/>
          </p:nvSpPr>
          <p:spPr>
            <a:xfrm>
              <a:off x="6548916" y="1590884"/>
              <a:ext cx="5160450" cy="575915"/>
            </a:xfrm>
            <a:prstGeom prst="rect">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r>
                <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販売管理</a:t>
              </a:r>
              <a:r>
                <a:rPr kumimoji="1" lang="en-US" altLang="ja-JP"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U</a:t>
              </a:r>
              <a:endPar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sp>
          <p:nvSpPr>
            <p:cNvPr id="218" name="正方形/長方形 217">
              <a:extLst>
                <a:ext uri="{FF2B5EF4-FFF2-40B4-BE49-F238E27FC236}">
                  <a16:creationId xmlns:a16="http://schemas.microsoft.com/office/drawing/2014/main" id="{3764ACA2-F6F0-AD1C-364B-C2B6FDF09F8B}"/>
                </a:ext>
              </a:extLst>
            </p:cNvPr>
            <p:cNvSpPr/>
            <p:nvPr/>
          </p:nvSpPr>
          <p:spPr>
            <a:xfrm>
              <a:off x="7448223" y="1862842"/>
              <a:ext cx="900000" cy="233296"/>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毛阪</a:t>
              </a:r>
            </a:p>
          </p:txBody>
        </p:sp>
        <p:sp>
          <p:nvSpPr>
            <p:cNvPr id="219" name="正方形/長方形 218">
              <a:extLst>
                <a:ext uri="{FF2B5EF4-FFF2-40B4-BE49-F238E27FC236}">
                  <a16:creationId xmlns:a16="http://schemas.microsoft.com/office/drawing/2014/main" id="{BCBBFA9E-5F08-9D4B-C0F3-457516B40E96}"/>
                </a:ext>
              </a:extLst>
            </p:cNvPr>
            <p:cNvSpPr/>
            <p:nvPr/>
          </p:nvSpPr>
          <p:spPr>
            <a:xfrm>
              <a:off x="8414087" y="1862842"/>
              <a:ext cx="900000" cy="233296"/>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風間</a:t>
              </a:r>
            </a:p>
          </p:txBody>
        </p:sp>
        <p:sp>
          <p:nvSpPr>
            <p:cNvPr id="220" name="正方形/長方形 219">
              <a:extLst>
                <a:ext uri="{FF2B5EF4-FFF2-40B4-BE49-F238E27FC236}">
                  <a16:creationId xmlns:a16="http://schemas.microsoft.com/office/drawing/2014/main" id="{F03618C8-6388-D445-777C-29C49DF1AA82}"/>
                </a:ext>
              </a:extLst>
            </p:cNvPr>
            <p:cNvSpPr/>
            <p:nvPr/>
          </p:nvSpPr>
          <p:spPr>
            <a:xfrm>
              <a:off x="7448223" y="1661546"/>
              <a:ext cx="900000" cy="199968"/>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800" b="1">
                  <a:solidFill>
                    <a:schemeClr val="bg1"/>
                  </a:solidFill>
                  <a:latin typeface="Meiryo UI" panose="020B0604030504040204" pitchFamily="50" charset="-128"/>
                  <a:ea typeface="Meiryo UI" panose="020B0604030504040204" pitchFamily="50" charset="-128"/>
                </a:rPr>
                <a:t>事業コミュ統括</a:t>
              </a:r>
              <a:r>
                <a:rPr lang="en-US" altLang="ja-JP" sz="800" b="1">
                  <a:solidFill>
                    <a:schemeClr val="bg1"/>
                  </a:solidFill>
                  <a:latin typeface="Meiryo UI" panose="020B0604030504040204" pitchFamily="50" charset="-128"/>
                  <a:ea typeface="Meiryo UI" panose="020B0604030504040204" pitchFamily="50" charset="-128"/>
                </a:rPr>
                <a:t>/</a:t>
              </a:r>
            </a:p>
            <a:p>
              <a:pPr algn="ctr"/>
              <a:r>
                <a:rPr lang="ja-JP" altLang="en-US" sz="800" b="1">
                  <a:solidFill>
                    <a:schemeClr val="bg1"/>
                  </a:solidFill>
                  <a:latin typeface="Meiryo UI" panose="020B0604030504040204" pitchFamily="50" charset="-128"/>
                  <a:ea typeface="Meiryo UI" panose="020B0604030504040204" pitchFamily="50" charset="-128"/>
                </a:rPr>
                <a:t>事業共通</a:t>
              </a:r>
            </a:p>
          </p:txBody>
        </p:sp>
        <p:sp>
          <p:nvSpPr>
            <p:cNvPr id="221" name="正方形/長方形 220">
              <a:extLst>
                <a:ext uri="{FF2B5EF4-FFF2-40B4-BE49-F238E27FC236}">
                  <a16:creationId xmlns:a16="http://schemas.microsoft.com/office/drawing/2014/main" id="{E68D354E-9F53-4FDB-7614-D7F517DAF1C5}"/>
                </a:ext>
              </a:extLst>
            </p:cNvPr>
            <p:cNvSpPr/>
            <p:nvPr/>
          </p:nvSpPr>
          <p:spPr>
            <a:xfrm>
              <a:off x="8414087" y="1661546"/>
              <a:ext cx="900000" cy="199968"/>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50" b="1">
                  <a:solidFill>
                    <a:schemeClr val="bg1"/>
                  </a:solidFill>
                  <a:latin typeface="Meiryo UI" panose="020B0604030504040204" pitchFamily="50" charset="-128"/>
                  <a:ea typeface="Meiryo UI" panose="020B0604030504040204" pitchFamily="50" charset="-128"/>
                </a:rPr>
                <a:t>HR</a:t>
              </a:r>
              <a:endParaRPr lang="ja-JP" altLang="en-US" sz="1050" b="1">
                <a:solidFill>
                  <a:schemeClr val="bg1"/>
                </a:solidFill>
                <a:latin typeface="Meiryo UI" panose="020B0604030504040204" pitchFamily="50" charset="-128"/>
                <a:ea typeface="Meiryo UI" panose="020B0604030504040204" pitchFamily="50" charset="-128"/>
              </a:endParaRPr>
            </a:p>
          </p:txBody>
        </p:sp>
        <p:sp>
          <p:nvSpPr>
            <p:cNvPr id="222" name="テキスト ボックス 221">
              <a:extLst>
                <a:ext uri="{FF2B5EF4-FFF2-40B4-BE49-F238E27FC236}">
                  <a16:creationId xmlns:a16="http://schemas.microsoft.com/office/drawing/2014/main" id="{9743FA73-C466-2B63-91C0-DE9D0275D271}"/>
                </a:ext>
              </a:extLst>
            </p:cNvPr>
            <p:cNvSpPr txBox="1"/>
            <p:nvPr/>
          </p:nvSpPr>
          <p:spPr bwMode="auto">
            <a:xfrm rot="16200000">
              <a:off x="9273930" y="1724954"/>
              <a:ext cx="400743" cy="307777"/>
            </a:xfrm>
            <a:prstGeom prst="rect">
              <a:avLst/>
            </a:prstGeom>
            <a:noFill/>
            <a:ln w="9525">
              <a:noFill/>
              <a:miter lim="800000"/>
              <a:headEnd/>
              <a:tailEnd/>
            </a:ln>
          </p:spPr>
          <p:txBody>
            <a:bodyPr wrap="square" rtlCol="0">
              <a:spAutoFit/>
            </a:bodyPr>
            <a:lstStyle/>
            <a:p>
              <a:pPr algn="ctr"/>
              <a:r>
                <a:rPr kumimoji="1" lang="en-US" altLang="ja-JP" sz="1400" b="1">
                  <a:solidFill>
                    <a:schemeClr val="accent4">
                      <a:lumMod val="65000"/>
                      <a:lumOff val="35000"/>
                    </a:schemeClr>
                  </a:solidFill>
                  <a:latin typeface="Meiryo UI" panose="020B0604030504040204" pitchFamily="50" charset="-128"/>
                  <a:ea typeface="Meiryo UI" panose="020B0604030504040204" pitchFamily="50" charset="-128"/>
                  <a:cs typeface="メイリオ"/>
                </a:rPr>
                <a:t>:</a:t>
              </a:r>
              <a:endParaRPr kumimoji="1" lang="ja-JP" altLang="en-US" sz="1400" b="1">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sp>
          <p:nvSpPr>
            <p:cNvPr id="205" name="正方形/長方形 204">
              <a:extLst>
                <a:ext uri="{FF2B5EF4-FFF2-40B4-BE49-F238E27FC236}">
                  <a16:creationId xmlns:a16="http://schemas.microsoft.com/office/drawing/2014/main" id="{20F01182-9729-60D0-8130-BAF440FC5113}"/>
                </a:ext>
              </a:extLst>
            </p:cNvPr>
            <p:cNvSpPr/>
            <p:nvPr/>
          </p:nvSpPr>
          <p:spPr>
            <a:xfrm>
              <a:off x="6096000" y="1308883"/>
              <a:ext cx="6009755" cy="2416828"/>
            </a:xfrm>
            <a:prstGeom prst="rect">
              <a:avLst/>
            </a:pr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t"/>
            <a:lstStyle/>
            <a:p>
              <a:r>
                <a:rPr kumimoji="1" lang="ja-JP" altLang="en-US" sz="1600" b="1" dirty="0">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　</a:t>
              </a:r>
              <a:r>
                <a:rPr kumimoji="1" lang="en-US" altLang="ja-JP" sz="1600" b="1" dirty="0">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JKK</a:t>
              </a:r>
              <a:r>
                <a:rPr lang="ja-JP" altLang="en-US" sz="1600" b="1" dirty="0">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本線</a:t>
              </a:r>
              <a:endParaRPr kumimoji="1" lang="ja-JP" altLang="en-US" sz="1600" b="1" dirty="0">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grpSp>
      <p:sp>
        <p:nvSpPr>
          <p:cNvPr id="410" name="矢印: 上 409">
            <a:extLst>
              <a:ext uri="{FF2B5EF4-FFF2-40B4-BE49-F238E27FC236}">
                <a16:creationId xmlns:a16="http://schemas.microsoft.com/office/drawing/2014/main" id="{A36C9406-D11D-AC37-E353-F3BBAF140E80}"/>
              </a:ext>
            </a:extLst>
          </p:cNvPr>
          <p:cNvSpPr/>
          <p:nvPr/>
        </p:nvSpPr>
        <p:spPr>
          <a:xfrm>
            <a:off x="7272867" y="3819958"/>
            <a:ext cx="1918666" cy="285994"/>
          </a:xfrm>
          <a:prstGeom prst="upArrow">
            <a:avLst>
              <a:gd name="adj1" fmla="val 48313"/>
              <a:gd name="adj2" fmla="val 5000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36000" rIns="0" bIns="36000" rtlCol="0" anchor="ctr"/>
          <a:lstStyle/>
          <a:p>
            <a:pPr algn="ctr"/>
            <a:r>
              <a:rPr kumimoji="1"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システム毎に</a:t>
            </a:r>
            <a:r>
              <a:rPr kumimoji="1"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JKK</a:t>
            </a:r>
            <a:r>
              <a:rPr kumimoji="1"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本線の各領域と連携</a:t>
            </a:r>
          </a:p>
        </p:txBody>
      </p:sp>
    </p:spTree>
    <p:extLst>
      <p:ext uri="{BB962C8B-B14F-4D97-AF65-F5344CB8AC3E}">
        <p14:creationId xmlns:p14="http://schemas.microsoft.com/office/powerpoint/2010/main" val="10033501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 name="表 192">
            <a:extLst>
              <a:ext uri="{FF2B5EF4-FFF2-40B4-BE49-F238E27FC236}">
                <a16:creationId xmlns:a16="http://schemas.microsoft.com/office/drawing/2014/main" id="{F38BB6AA-2511-C6A2-B7C9-1C55BCE01878}"/>
              </a:ext>
            </a:extLst>
          </p:cNvPr>
          <p:cNvGraphicFramePr>
            <a:graphicFrameLocks noGrp="1"/>
          </p:cNvGraphicFramePr>
          <p:nvPr>
            <p:extLst>
              <p:ext uri="{D42A27DB-BD31-4B8C-83A1-F6EECF244321}">
                <p14:modId xmlns:p14="http://schemas.microsoft.com/office/powerpoint/2010/main" val="3760709004"/>
              </p:ext>
            </p:extLst>
          </p:nvPr>
        </p:nvGraphicFramePr>
        <p:xfrm>
          <a:off x="104273" y="1656378"/>
          <a:ext cx="11962266" cy="4762276"/>
        </p:xfrm>
        <a:graphic>
          <a:graphicData uri="http://schemas.openxmlformats.org/drawingml/2006/table">
            <a:tbl>
              <a:tblPr firstRow="1" bandRow="1"/>
              <a:tblGrid>
                <a:gridCol w="576000">
                  <a:extLst>
                    <a:ext uri="{9D8B030D-6E8A-4147-A177-3AD203B41FA5}">
                      <a16:colId xmlns:a16="http://schemas.microsoft.com/office/drawing/2014/main" val="328636416"/>
                    </a:ext>
                  </a:extLst>
                </a:gridCol>
                <a:gridCol w="894945">
                  <a:extLst>
                    <a:ext uri="{9D8B030D-6E8A-4147-A177-3AD203B41FA5}">
                      <a16:colId xmlns:a16="http://schemas.microsoft.com/office/drawing/2014/main" val="2548670735"/>
                    </a:ext>
                  </a:extLst>
                </a:gridCol>
                <a:gridCol w="317991">
                  <a:extLst>
                    <a:ext uri="{9D8B030D-6E8A-4147-A177-3AD203B41FA5}">
                      <a16:colId xmlns:a16="http://schemas.microsoft.com/office/drawing/2014/main" val="2227129836"/>
                    </a:ext>
                  </a:extLst>
                </a:gridCol>
                <a:gridCol w="317991">
                  <a:extLst>
                    <a:ext uri="{9D8B030D-6E8A-4147-A177-3AD203B41FA5}">
                      <a16:colId xmlns:a16="http://schemas.microsoft.com/office/drawing/2014/main" val="1710056431"/>
                    </a:ext>
                  </a:extLst>
                </a:gridCol>
                <a:gridCol w="317991">
                  <a:extLst>
                    <a:ext uri="{9D8B030D-6E8A-4147-A177-3AD203B41FA5}">
                      <a16:colId xmlns:a16="http://schemas.microsoft.com/office/drawing/2014/main" val="2713850188"/>
                    </a:ext>
                  </a:extLst>
                </a:gridCol>
                <a:gridCol w="317991">
                  <a:extLst>
                    <a:ext uri="{9D8B030D-6E8A-4147-A177-3AD203B41FA5}">
                      <a16:colId xmlns:a16="http://schemas.microsoft.com/office/drawing/2014/main" val="90571657"/>
                    </a:ext>
                  </a:extLst>
                </a:gridCol>
                <a:gridCol w="317991">
                  <a:extLst>
                    <a:ext uri="{9D8B030D-6E8A-4147-A177-3AD203B41FA5}">
                      <a16:colId xmlns:a16="http://schemas.microsoft.com/office/drawing/2014/main" val="3505637488"/>
                    </a:ext>
                  </a:extLst>
                </a:gridCol>
                <a:gridCol w="317991">
                  <a:extLst>
                    <a:ext uri="{9D8B030D-6E8A-4147-A177-3AD203B41FA5}">
                      <a16:colId xmlns:a16="http://schemas.microsoft.com/office/drawing/2014/main" val="3791895175"/>
                    </a:ext>
                  </a:extLst>
                </a:gridCol>
                <a:gridCol w="317991">
                  <a:extLst>
                    <a:ext uri="{9D8B030D-6E8A-4147-A177-3AD203B41FA5}">
                      <a16:colId xmlns:a16="http://schemas.microsoft.com/office/drawing/2014/main" val="615996977"/>
                    </a:ext>
                  </a:extLst>
                </a:gridCol>
                <a:gridCol w="317991">
                  <a:extLst>
                    <a:ext uri="{9D8B030D-6E8A-4147-A177-3AD203B41FA5}">
                      <a16:colId xmlns:a16="http://schemas.microsoft.com/office/drawing/2014/main" val="4233606659"/>
                    </a:ext>
                  </a:extLst>
                </a:gridCol>
                <a:gridCol w="317991">
                  <a:extLst>
                    <a:ext uri="{9D8B030D-6E8A-4147-A177-3AD203B41FA5}">
                      <a16:colId xmlns:a16="http://schemas.microsoft.com/office/drawing/2014/main" val="4207615158"/>
                    </a:ext>
                  </a:extLst>
                </a:gridCol>
                <a:gridCol w="317991">
                  <a:extLst>
                    <a:ext uri="{9D8B030D-6E8A-4147-A177-3AD203B41FA5}">
                      <a16:colId xmlns:a16="http://schemas.microsoft.com/office/drawing/2014/main" val="196255444"/>
                    </a:ext>
                  </a:extLst>
                </a:gridCol>
                <a:gridCol w="317991">
                  <a:extLst>
                    <a:ext uri="{9D8B030D-6E8A-4147-A177-3AD203B41FA5}">
                      <a16:colId xmlns:a16="http://schemas.microsoft.com/office/drawing/2014/main" val="714548466"/>
                    </a:ext>
                  </a:extLst>
                </a:gridCol>
                <a:gridCol w="317991">
                  <a:extLst>
                    <a:ext uri="{9D8B030D-6E8A-4147-A177-3AD203B41FA5}">
                      <a16:colId xmlns:a16="http://schemas.microsoft.com/office/drawing/2014/main" val="1311646976"/>
                    </a:ext>
                  </a:extLst>
                </a:gridCol>
                <a:gridCol w="317991">
                  <a:extLst>
                    <a:ext uri="{9D8B030D-6E8A-4147-A177-3AD203B41FA5}">
                      <a16:colId xmlns:a16="http://schemas.microsoft.com/office/drawing/2014/main" val="2607792329"/>
                    </a:ext>
                  </a:extLst>
                </a:gridCol>
                <a:gridCol w="317991">
                  <a:extLst>
                    <a:ext uri="{9D8B030D-6E8A-4147-A177-3AD203B41FA5}">
                      <a16:colId xmlns:a16="http://schemas.microsoft.com/office/drawing/2014/main" val="286756328"/>
                    </a:ext>
                  </a:extLst>
                </a:gridCol>
                <a:gridCol w="317991">
                  <a:extLst>
                    <a:ext uri="{9D8B030D-6E8A-4147-A177-3AD203B41FA5}">
                      <a16:colId xmlns:a16="http://schemas.microsoft.com/office/drawing/2014/main" val="2578057673"/>
                    </a:ext>
                  </a:extLst>
                </a:gridCol>
                <a:gridCol w="317991">
                  <a:extLst>
                    <a:ext uri="{9D8B030D-6E8A-4147-A177-3AD203B41FA5}">
                      <a16:colId xmlns:a16="http://schemas.microsoft.com/office/drawing/2014/main" val="1595624872"/>
                    </a:ext>
                  </a:extLst>
                </a:gridCol>
                <a:gridCol w="317991">
                  <a:extLst>
                    <a:ext uri="{9D8B030D-6E8A-4147-A177-3AD203B41FA5}">
                      <a16:colId xmlns:a16="http://schemas.microsoft.com/office/drawing/2014/main" val="83575609"/>
                    </a:ext>
                  </a:extLst>
                </a:gridCol>
                <a:gridCol w="317991">
                  <a:extLst>
                    <a:ext uri="{9D8B030D-6E8A-4147-A177-3AD203B41FA5}">
                      <a16:colId xmlns:a16="http://schemas.microsoft.com/office/drawing/2014/main" val="37031227"/>
                    </a:ext>
                  </a:extLst>
                </a:gridCol>
                <a:gridCol w="317991">
                  <a:extLst>
                    <a:ext uri="{9D8B030D-6E8A-4147-A177-3AD203B41FA5}">
                      <a16:colId xmlns:a16="http://schemas.microsoft.com/office/drawing/2014/main" val="1298082697"/>
                    </a:ext>
                  </a:extLst>
                </a:gridCol>
                <a:gridCol w="317991">
                  <a:extLst>
                    <a:ext uri="{9D8B030D-6E8A-4147-A177-3AD203B41FA5}">
                      <a16:colId xmlns:a16="http://schemas.microsoft.com/office/drawing/2014/main" val="802604937"/>
                    </a:ext>
                  </a:extLst>
                </a:gridCol>
                <a:gridCol w="317991">
                  <a:extLst>
                    <a:ext uri="{9D8B030D-6E8A-4147-A177-3AD203B41FA5}">
                      <a16:colId xmlns:a16="http://schemas.microsoft.com/office/drawing/2014/main" val="1721858414"/>
                    </a:ext>
                  </a:extLst>
                </a:gridCol>
                <a:gridCol w="317991">
                  <a:extLst>
                    <a:ext uri="{9D8B030D-6E8A-4147-A177-3AD203B41FA5}">
                      <a16:colId xmlns:a16="http://schemas.microsoft.com/office/drawing/2014/main" val="1088783211"/>
                    </a:ext>
                  </a:extLst>
                </a:gridCol>
                <a:gridCol w="317991">
                  <a:extLst>
                    <a:ext uri="{9D8B030D-6E8A-4147-A177-3AD203B41FA5}">
                      <a16:colId xmlns:a16="http://schemas.microsoft.com/office/drawing/2014/main" val="4168810224"/>
                    </a:ext>
                  </a:extLst>
                </a:gridCol>
                <a:gridCol w="317991">
                  <a:extLst>
                    <a:ext uri="{9D8B030D-6E8A-4147-A177-3AD203B41FA5}">
                      <a16:colId xmlns:a16="http://schemas.microsoft.com/office/drawing/2014/main" val="920316526"/>
                    </a:ext>
                  </a:extLst>
                </a:gridCol>
                <a:gridCol w="317991">
                  <a:extLst>
                    <a:ext uri="{9D8B030D-6E8A-4147-A177-3AD203B41FA5}">
                      <a16:colId xmlns:a16="http://schemas.microsoft.com/office/drawing/2014/main" val="2116427398"/>
                    </a:ext>
                  </a:extLst>
                </a:gridCol>
                <a:gridCol w="317991">
                  <a:extLst>
                    <a:ext uri="{9D8B030D-6E8A-4147-A177-3AD203B41FA5}">
                      <a16:colId xmlns:a16="http://schemas.microsoft.com/office/drawing/2014/main" val="2093487871"/>
                    </a:ext>
                  </a:extLst>
                </a:gridCol>
                <a:gridCol w="317991">
                  <a:extLst>
                    <a:ext uri="{9D8B030D-6E8A-4147-A177-3AD203B41FA5}">
                      <a16:colId xmlns:a16="http://schemas.microsoft.com/office/drawing/2014/main" val="385400311"/>
                    </a:ext>
                  </a:extLst>
                </a:gridCol>
                <a:gridCol w="317991">
                  <a:extLst>
                    <a:ext uri="{9D8B030D-6E8A-4147-A177-3AD203B41FA5}">
                      <a16:colId xmlns:a16="http://schemas.microsoft.com/office/drawing/2014/main" val="2662399481"/>
                    </a:ext>
                  </a:extLst>
                </a:gridCol>
                <a:gridCol w="317991">
                  <a:extLst>
                    <a:ext uri="{9D8B030D-6E8A-4147-A177-3AD203B41FA5}">
                      <a16:colId xmlns:a16="http://schemas.microsoft.com/office/drawing/2014/main" val="13025136"/>
                    </a:ext>
                  </a:extLst>
                </a:gridCol>
                <a:gridCol w="316800">
                  <a:extLst>
                    <a:ext uri="{9D8B030D-6E8A-4147-A177-3AD203B41FA5}">
                      <a16:colId xmlns:a16="http://schemas.microsoft.com/office/drawing/2014/main" val="4060005968"/>
                    </a:ext>
                  </a:extLst>
                </a:gridCol>
                <a:gridCol w="316800">
                  <a:extLst>
                    <a:ext uri="{9D8B030D-6E8A-4147-A177-3AD203B41FA5}">
                      <a16:colId xmlns:a16="http://schemas.microsoft.com/office/drawing/2014/main" val="2414493858"/>
                    </a:ext>
                  </a:extLst>
                </a:gridCol>
                <a:gridCol w="317991">
                  <a:extLst>
                    <a:ext uri="{9D8B030D-6E8A-4147-A177-3AD203B41FA5}">
                      <a16:colId xmlns:a16="http://schemas.microsoft.com/office/drawing/2014/main" val="2728527904"/>
                    </a:ext>
                  </a:extLst>
                </a:gridCol>
                <a:gridCol w="317991">
                  <a:extLst>
                    <a:ext uri="{9D8B030D-6E8A-4147-A177-3AD203B41FA5}">
                      <a16:colId xmlns:a16="http://schemas.microsoft.com/office/drawing/2014/main" val="3323643050"/>
                    </a:ext>
                  </a:extLst>
                </a:gridCol>
              </a:tblGrid>
              <a:tr h="179191">
                <a:tc rowSpan="3">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en-US" altLang="ja-JP" sz="1100" b="1" dirty="0"/>
                        <a:t>1</a:t>
                      </a:r>
                      <a:r>
                        <a:rPr kumimoji="1" lang="ja-JP" altLang="en-US" sz="1100" b="1" dirty="0"/>
                        <a:t>群</a:t>
                      </a:r>
                      <a:r>
                        <a:rPr kumimoji="1" lang="en-US" altLang="ja-JP" sz="1100" b="1" dirty="0"/>
                        <a:t>/2</a:t>
                      </a:r>
                      <a:r>
                        <a:rPr kumimoji="1" lang="ja-JP" altLang="en-US" sz="1100" b="1" dirty="0"/>
                        <a:t>群</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rowSpan="3">
                  <a:txBody>
                    <a:bodyPr/>
                    <a:lstStyle/>
                    <a:p>
                      <a:pPr algn="ctr"/>
                      <a:r>
                        <a:rPr kumimoji="1" lang="ja-JP" altLang="en-US" sz="1100" b="1" kern="1200">
                          <a:solidFill>
                            <a:schemeClr val="lt1"/>
                          </a:solidFill>
                          <a:latin typeface="Meiryo UI"/>
                          <a:ea typeface="Meiryo UI"/>
                          <a:cs typeface="+mn-cs"/>
                        </a:rPr>
                        <a:t>システム名</a:t>
                      </a: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FYE03/2024</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hMerge="1">
                  <a:txBody>
                    <a:bodyPr/>
                    <a:lstStyle/>
                    <a:p>
                      <a:endParaRPr kumimoji="1" lang="ja-JP" altLang="en-US"/>
                    </a:p>
                  </a:txBody>
                  <a:tcPr/>
                </a:tc>
                <a:tc hMerge="1">
                  <a:txBody>
                    <a:bodyPr/>
                    <a:lstStyle/>
                    <a:p>
                      <a:endParaRPr kumimoji="1" lang="ja-JP" altLang="en-US"/>
                    </a:p>
                  </a:txBody>
                  <a:tcPr/>
                </a:tc>
                <a:tc hMerge="1">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2024</a:t>
                      </a:r>
                      <a:r>
                        <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年</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3175" cap="flat" cmpd="sng" algn="ctr">
                      <a:solidFill>
                        <a:schemeClr val="tx1"/>
                      </a:solidFill>
                      <a:prstDash val="solid"/>
                      <a:round/>
                      <a:headEnd type="none" w="med" len="med"/>
                      <a:tailEnd type="none" w="med" len="med"/>
                    </a:lnL>
                  </a:tcPr>
                </a:tc>
                <a:tc hMerge="1">
                  <a:txBody>
                    <a:bodyPr/>
                    <a:lstStyle/>
                    <a:p>
                      <a:endParaRPr kumimoji="1" lang="ja-JP" altLang="en-US"/>
                    </a:p>
                  </a:txBody>
                  <a:tcPr/>
                </a:tc>
                <a:tc gridSpan="1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FYE03/2025</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1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FYE03/2026</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FYE03/2027</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489573908"/>
                  </a:ext>
                </a:extLst>
              </a:tr>
              <a:tr h="179191">
                <a:tc vMerge="1">
                  <a:txBody>
                    <a:bodyPr/>
                    <a:lstStyle/>
                    <a:p>
                      <a:endParaRPr kumimoji="1" lang="ja-JP" altLang="en-US"/>
                    </a:p>
                  </a:txBody>
                  <a:tcPr/>
                </a:tc>
                <a:tc vMerge="1">
                  <a:txBody>
                    <a:bodyPr/>
                    <a:lstStyle/>
                    <a:p>
                      <a:endParaRPr kumimoji="1" lang="ja-JP" altLang="en-US"/>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3Q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4Q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1Q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2Q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3Q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4Q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1Q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2Q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3Q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4Q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1Q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801247108"/>
                  </a:ext>
                </a:extLst>
              </a:tr>
              <a:tr h="179191">
                <a:tc vMerge="1">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vMerge="1">
                  <a:txBody>
                    <a:bodyPr/>
                    <a:lstStyle/>
                    <a:p>
                      <a:endParaRPr kumimoji="1" lang="ja-JP" altLang="en-US"/>
                    </a:p>
                  </a:txBody>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10</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11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12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3</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4</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5</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6</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7</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8</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9</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10</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3</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4</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5</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6</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7</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8</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9</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10</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3</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en-US" altLang="ja-JP" sz="1100" b="1">
                          <a:solidFill>
                            <a:schemeClr val="bg1"/>
                          </a:solidFill>
                          <a:latin typeface="Meiryo UI" panose="020B0604030504040204" pitchFamily="50" charset="-128"/>
                          <a:ea typeface="Meiryo UI" panose="020B0604030504040204" pitchFamily="50" charset="-128"/>
                        </a:rPr>
                        <a:t>4</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en-US" altLang="ja-JP" sz="1100" b="1">
                          <a:solidFill>
                            <a:schemeClr val="bg1"/>
                          </a:solidFill>
                          <a:latin typeface="Meiryo UI" panose="020B0604030504040204" pitchFamily="50" charset="-128"/>
                          <a:ea typeface="Meiryo UI" panose="020B0604030504040204" pitchFamily="50" charset="-128"/>
                        </a:rPr>
                        <a:t>5</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en-US" altLang="ja-JP" sz="1100" b="1">
                          <a:solidFill>
                            <a:schemeClr val="bg1"/>
                          </a:solidFill>
                          <a:latin typeface="Meiryo UI" panose="020B0604030504040204" pitchFamily="50" charset="-128"/>
                          <a:ea typeface="Meiryo UI" panose="020B0604030504040204" pitchFamily="50" charset="-128"/>
                        </a:rPr>
                        <a:t>6</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4059291213"/>
                  </a:ext>
                </a:extLst>
              </a:tr>
              <a:tr h="1092703">
                <a:tc gridSpan="2">
                  <a:txBody>
                    <a:bodyPr/>
                    <a:lstStyle/>
                    <a:p>
                      <a:r>
                        <a:rPr kumimoji="1" lang="en-US" altLang="ja-JP" sz="1200" b="0">
                          <a:latin typeface="Meiryo UI" panose="020B0604030504040204" pitchFamily="50" charset="-128"/>
                          <a:ea typeface="Meiryo UI" panose="020B0604030504040204" pitchFamily="50" charset="-128"/>
                        </a:rPr>
                        <a:t>JKK</a:t>
                      </a:r>
                      <a:r>
                        <a:rPr kumimoji="1" lang="ja-JP" altLang="en-US" sz="1200" b="0">
                          <a:latin typeface="Meiryo UI" panose="020B0604030504040204" pitchFamily="50" charset="-128"/>
                          <a:ea typeface="Meiryo UI" panose="020B0604030504040204" pitchFamily="50" charset="-128"/>
                        </a:rPr>
                        <a:t>本線</a:t>
                      </a:r>
                      <a:br>
                        <a:rPr kumimoji="1" lang="en-US" altLang="ja-JP" sz="1200" b="0">
                          <a:latin typeface="Meiryo UI" panose="020B0604030504040204" pitchFamily="50" charset="-128"/>
                          <a:ea typeface="Meiryo UI" panose="020B0604030504040204" pitchFamily="50" charset="-128"/>
                        </a:rPr>
                      </a:br>
                      <a:r>
                        <a:rPr kumimoji="1" lang="en-US" altLang="ja-JP" sz="900" b="0">
                          <a:latin typeface="Meiryo UI" panose="020B0604030504040204" pitchFamily="50" charset="-128"/>
                          <a:ea typeface="Meiryo UI" panose="020B0604030504040204" pitchFamily="50" charset="-128"/>
                        </a:rPr>
                        <a:t>(</a:t>
                      </a:r>
                      <a:r>
                        <a:rPr kumimoji="1" lang="ja-JP" altLang="en-US" sz="900" b="0">
                          <a:latin typeface="Meiryo UI" panose="020B0604030504040204" pitchFamily="50" charset="-128"/>
                          <a:ea typeface="Meiryo UI" panose="020B0604030504040204" pitchFamily="50" charset="-128"/>
                        </a:rPr>
                        <a:t>新規、</a:t>
                      </a:r>
                      <a:br>
                        <a:rPr kumimoji="1" lang="en-US" altLang="ja-JP" sz="900" b="0">
                          <a:latin typeface="Meiryo UI" panose="020B0604030504040204" pitchFamily="50" charset="-128"/>
                          <a:ea typeface="Meiryo UI" panose="020B0604030504040204" pitchFamily="50" charset="-128"/>
                        </a:rPr>
                      </a:br>
                      <a:r>
                        <a:rPr kumimoji="1" lang="ja-JP" altLang="en-US" sz="900" b="0">
                          <a:latin typeface="Meiryo UI" panose="020B0604030504040204" pitchFamily="50" charset="-128"/>
                          <a:ea typeface="Meiryo UI" panose="020B0604030504040204" pitchFamily="50" charset="-128"/>
                        </a:rPr>
                        <a:t> </a:t>
                      </a:r>
                      <a:r>
                        <a:rPr kumimoji="1" lang="en-US" altLang="ja-JP" sz="900" b="0">
                          <a:latin typeface="Meiryo UI" panose="020B0604030504040204" pitchFamily="50" charset="-128"/>
                          <a:ea typeface="Meiryo UI" panose="020B0604030504040204" pitchFamily="50" charset="-128"/>
                        </a:rPr>
                        <a:t>SAP/Nexus</a:t>
                      </a:r>
                      <a:r>
                        <a:rPr kumimoji="1" lang="ja-JP" altLang="en-US" sz="900" b="0">
                          <a:latin typeface="Meiryo UI" panose="020B0604030504040204" pitchFamily="50" charset="-128"/>
                          <a:ea typeface="Meiryo UI" panose="020B0604030504040204" pitchFamily="50" charset="-128"/>
                        </a:rPr>
                        <a:t>、</a:t>
                      </a:r>
                      <a:br>
                        <a:rPr kumimoji="1" lang="en-US" altLang="ja-JP" sz="900" b="0">
                          <a:latin typeface="Meiryo UI" panose="020B0604030504040204" pitchFamily="50" charset="-128"/>
                          <a:ea typeface="Meiryo UI" panose="020B0604030504040204" pitchFamily="50" charset="-128"/>
                        </a:rPr>
                      </a:br>
                      <a:r>
                        <a:rPr kumimoji="1" lang="en-US" altLang="ja-JP" sz="900" b="0">
                          <a:latin typeface="Meiryo UI" panose="020B0604030504040204" pitchFamily="50" charset="-128"/>
                          <a:ea typeface="Meiryo UI" panose="020B0604030504040204" pitchFamily="50" charset="-128"/>
                        </a:rPr>
                        <a:t> </a:t>
                      </a:r>
                      <a:r>
                        <a:rPr kumimoji="1" lang="ja-JP" altLang="en-US" sz="900" b="0">
                          <a:latin typeface="Meiryo UI" panose="020B0604030504040204" pitchFamily="50" charset="-128"/>
                          <a:ea typeface="Meiryo UI" panose="020B0604030504040204" pitchFamily="50" charset="-128"/>
                        </a:rPr>
                        <a:t>業務</a:t>
                      </a:r>
                      <a:r>
                        <a:rPr kumimoji="1" lang="en-US" altLang="ja-JP" sz="900" b="0">
                          <a:latin typeface="Meiryo UI" panose="020B0604030504040204" pitchFamily="50" charset="-128"/>
                          <a:ea typeface="Meiryo UI" panose="020B0604030504040204" pitchFamily="50" charset="-128"/>
                        </a:rPr>
                        <a:t>)</a:t>
                      </a:r>
                    </a:p>
                  </a:txBody>
                  <a:tcPr marL="36000" marR="36000">
                    <a:lnL w="6350" cap="flat" cmpd="sng" algn="ctr">
                      <a:solidFill>
                        <a:schemeClr val="tx1">
                          <a:lumMod val="65000"/>
                          <a:lumOff val="3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7054844"/>
                  </a:ext>
                </a:extLst>
              </a:tr>
              <a:tr h="1116000">
                <a:tc rowSpan="3">
                  <a:txBody>
                    <a:bodyPr/>
                    <a:lstStyle/>
                    <a:p>
                      <a:pPr marL="0" algn="l"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2</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群</a:t>
                      </a:r>
                      <a:br>
                        <a:rPr kumimoji="1" lang="en-US" altLang="ja-JP" sz="1200" b="0" kern="1200" dirty="0">
                          <a:solidFill>
                            <a:schemeClr val="tx1"/>
                          </a:solidFill>
                          <a:latin typeface="Meiryo UI" panose="020B0604030504040204" pitchFamily="50" charset="-128"/>
                          <a:ea typeface="Meiryo UI" panose="020B0604030504040204" pitchFamily="50" charset="-128"/>
                          <a:cs typeface="+mn-cs"/>
                        </a:rPr>
                      </a:br>
                      <a:r>
                        <a:rPr kumimoji="1" lang="en-US" altLang="ja-JP" sz="900" b="0" kern="1200" dirty="0">
                          <a:solidFill>
                            <a:schemeClr val="tx1"/>
                          </a:solidFill>
                          <a:latin typeface="Meiryo UI" panose="020B0604030504040204" pitchFamily="50" charset="-128"/>
                          <a:ea typeface="Meiryo UI" panose="020B0604030504040204" pitchFamily="50" charset="-128"/>
                          <a:cs typeface="+mn-cs"/>
                        </a:rPr>
                        <a:t>(</a:t>
                      </a:r>
                      <a:r>
                        <a:rPr kumimoji="1" lang="ja-JP" altLang="en-US" sz="900" b="0" kern="1200" dirty="0">
                          <a:solidFill>
                            <a:schemeClr val="tx1"/>
                          </a:solidFill>
                          <a:latin typeface="Meiryo UI" panose="020B0604030504040204" pitchFamily="50" charset="-128"/>
                          <a:ea typeface="Meiryo UI" panose="020B0604030504040204" pitchFamily="50" charset="-128"/>
                          <a:cs typeface="+mn-cs"/>
                        </a:rPr>
                        <a:t>購買</a:t>
                      </a:r>
                      <a:br>
                        <a:rPr kumimoji="1" lang="en-US" altLang="ja-JP" sz="900" b="0" kern="1200" dirty="0">
                          <a:solidFill>
                            <a:schemeClr val="tx1"/>
                          </a:solidFill>
                          <a:latin typeface="Meiryo UI" panose="020B0604030504040204" pitchFamily="50" charset="-128"/>
                          <a:ea typeface="Meiryo UI" panose="020B0604030504040204" pitchFamily="50" charset="-128"/>
                          <a:cs typeface="+mn-cs"/>
                        </a:rPr>
                      </a:br>
                      <a:r>
                        <a:rPr kumimoji="1" lang="en-US" altLang="ja-JP" sz="900" b="0" kern="1200" dirty="0">
                          <a:solidFill>
                            <a:schemeClr val="tx1"/>
                          </a:solidFill>
                          <a:latin typeface="Meiryo UI" panose="020B0604030504040204" pitchFamily="50" charset="-128"/>
                          <a:ea typeface="Meiryo UI" panose="020B0604030504040204" pitchFamily="50" charset="-128"/>
                          <a:cs typeface="+mn-cs"/>
                        </a:rPr>
                        <a:t> </a:t>
                      </a:r>
                      <a:r>
                        <a:rPr kumimoji="1" lang="ja-JP" altLang="en-US" sz="900" b="0" kern="1200" dirty="0">
                          <a:solidFill>
                            <a:schemeClr val="tx1"/>
                          </a:solidFill>
                          <a:latin typeface="Meiryo UI" panose="020B0604030504040204" pitchFamily="50" charset="-128"/>
                          <a:ea typeface="Meiryo UI" panose="020B0604030504040204" pitchFamily="50" charset="-128"/>
                          <a:cs typeface="+mn-cs"/>
                        </a:rPr>
                        <a:t>管理領域</a:t>
                      </a:r>
                      <a:r>
                        <a:rPr kumimoji="1" lang="en-US" altLang="ja-JP" sz="900" b="0" kern="1200" dirty="0">
                          <a:solidFill>
                            <a:schemeClr val="tx1"/>
                          </a:solidFill>
                          <a:latin typeface="Meiryo UI" panose="020B0604030504040204" pitchFamily="50" charset="-128"/>
                          <a:ea typeface="Meiryo UI" panose="020B0604030504040204" pitchFamily="50" charset="-128"/>
                          <a:cs typeface="+mn-cs"/>
                        </a:rPr>
                        <a:t>)</a:t>
                      </a:r>
                    </a:p>
                  </a:txBody>
                  <a:tcPr marL="0" marR="0">
                    <a:lnL w="3175" cap="flat" cmpd="sng" algn="ctr">
                      <a:solidFill>
                        <a:srgbClr val="00000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Concur </a:t>
                      </a:r>
                      <a:b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Inv</a:t>
                      </a:r>
                      <a:r>
                        <a:rPr kumimoji="1" lang="en-US" altLang="ja-JP" sz="1000" b="0" i="0" u="none" strike="noStrike" kern="1200" cap="none" spc="0" normalizeH="0" baseline="30000" noProof="0">
                          <a:ln>
                            <a:noFill/>
                          </a:ln>
                          <a:solidFill>
                            <a:srgbClr val="000000"/>
                          </a:solidFill>
                          <a:effectLst/>
                          <a:uLnTx/>
                          <a:uFillTx/>
                          <a:latin typeface="Meiryo UI" panose="020B0604030504040204" pitchFamily="50" charset="-128"/>
                          <a:ea typeface="Meiryo UI" panose="020B0604030504040204" pitchFamily="50" charset="-128"/>
                          <a:cs typeface="+mn-cs"/>
                        </a:rPr>
                        <a:t>*1</a:t>
                      </a: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/Exp</a:t>
                      </a:r>
                      <a:b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ロコン購買</a:t>
                      </a: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HUB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(Concur/A</a:t>
                      </a:r>
                      <a:r>
                        <a:rPr kumimoji="1" lang="ja-JP" altLang="en-US"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伝</a:t>
                      </a: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*1:BtoB,</a:t>
                      </a:r>
                      <a:r>
                        <a:rPr kumimoji="1" lang="ja-JP" altLang="en-US"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活文</a:t>
                      </a:r>
                      <a:r>
                        <a:rPr kumimoji="1" lang="en-US" altLang="ja-JP"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t>
                      </a:r>
                      <a:br>
                        <a:rPr kumimoji="1" lang="en-US" altLang="ja-JP"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en-US" altLang="ja-JP"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Walkme</a:t>
                      </a:r>
                      <a:r>
                        <a:rPr kumimoji="1" lang="ja-JP" altLang="en-US"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含</a:t>
                      </a:r>
                      <a:endParaRPr kumimoji="1" lang="en-US" altLang="ja-JP"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56023882"/>
                  </a:ext>
                </a:extLst>
              </a:tr>
              <a:tr h="576000">
                <a:tc vMerge="1">
                  <a:txBody>
                    <a:bodyPr/>
                    <a:lstStyle/>
                    <a:p>
                      <a:endParaRPr kumimoji="1" lang="en-US" altLang="ja-JP" sz="1100" b="0"/>
                    </a:p>
                  </a:txBody>
                  <a:tcP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ミスギくん</a:t>
                      </a:r>
                      <a:br>
                        <a:rPr kumimoji="1" lang="en-US" altLang="ja-JP"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とんぺいくん</a:t>
                      </a:r>
                      <a:br>
                        <a:rPr kumimoji="1" lang="en-US" altLang="ja-JP"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en-US" altLang="ja-JP" sz="1000" b="0" i="0" u="none" strike="noStrike" kern="1200" cap="none" spc="0" normalizeH="0" baseline="0" noProof="0" dirty="0" err="1">
                          <a:ln>
                            <a:noFill/>
                          </a:ln>
                          <a:solidFill>
                            <a:srgbClr val="000000"/>
                          </a:solidFill>
                          <a:effectLst/>
                          <a:uLnTx/>
                          <a:uFillTx/>
                          <a:latin typeface="Meiryo UI" panose="020B0604030504040204" pitchFamily="50" charset="-128"/>
                          <a:ea typeface="Meiryo UI" panose="020B0604030504040204" pitchFamily="50" charset="-128"/>
                          <a:cs typeface="+mn-cs"/>
                        </a:rPr>
                        <a:t>Mico</a:t>
                      </a:r>
                      <a:r>
                        <a:rPr kumimoji="1" lang="en-US" altLang="ja-JP"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/Chaco</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58569846"/>
                  </a:ext>
                </a:extLst>
              </a:tr>
              <a:tr h="720000">
                <a:tc vMerge="1">
                  <a:txBody>
                    <a:bodyPr/>
                    <a:lstStyle/>
                    <a:p>
                      <a:endParaRPr kumimoji="1" lang="en-US" altLang="ja-JP" sz="1100" b="0"/>
                    </a:p>
                  </a:txBody>
                  <a:tcP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RETMAS</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96185886"/>
                  </a:ext>
                </a:extLst>
              </a:tr>
              <a:tr h="720000">
                <a:tc>
                  <a:txBody>
                    <a:bodyPr/>
                    <a:lstStyle/>
                    <a:p>
                      <a:pPr marL="0" algn="l" defTabSz="914400" rtl="0" eaLnBrk="1" latinLnBrk="0" hangingPunct="1"/>
                      <a:r>
                        <a:rPr kumimoji="1" lang="en-US" altLang="ja-JP" sz="1200" b="0" kern="1200">
                          <a:solidFill>
                            <a:schemeClr val="tx1"/>
                          </a:solidFill>
                          <a:latin typeface="Meiryo UI" panose="020B0604030504040204" pitchFamily="50" charset="-128"/>
                          <a:ea typeface="Meiryo UI" panose="020B0604030504040204" pitchFamily="50" charset="-128"/>
                          <a:cs typeface="+mn-cs"/>
                        </a:rPr>
                        <a:t>1</a:t>
                      </a:r>
                      <a:r>
                        <a:rPr kumimoji="1" lang="ja-JP" altLang="en-US" sz="1200" b="0" kern="1200">
                          <a:solidFill>
                            <a:schemeClr val="tx1"/>
                          </a:solidFill>
                          <a:latin typeface="Meiryo UI" panose="020B0604030504040204" pitchFamily="50" charset="-128"/>
                          <a:ea typeface="Meiryo UI" panose="020B0604030504040204" pitchFamily="50" charset="-128"/>
                          <a:cs typeface="+mn-cs"/>
                        </a:rPr>
                        <a:t>＆</a:t>
                      </a:r>
                      <a:r>
                        <a:rPr kumimoji="1" lang="en-US" altLang="ja-JP" sz="1200" b="0" kern="1200">
                          <a:solidFill>
                            <a:schemeClr val="tx1"/>
                          </a:solidFill>
                          <a:latin typeface="Meiryo UI" panose="020B0604030504040204" pitchFamily="50" charset="-128"/>
                          <a:ea typeface="Meiryo UI" panose="020B0604030504040204" pitchFamily="50" charset="-128"/>
                          <a:cs typeface="+mn-cs"/>
                        </a:rPr>
                        <a:t>2</a:t>
                      </a:r>
                      <a:r>
                        <a:rPr kumimoji="1" lang="ja-JP" altLang="en-US" sz="1200" b="0" kern="1200">
                          <a:solidFill>
                            <a:schemeClr val="tx1"/>
                          </a:solidFill>
                          <a:latin typeface="Meiryo UI" panose="020B0604030504040204" pitchFamily="50" charset="-128"/>
                          <a:ea typeface="Meiryo UI" panose="020B0604030504040204" pitchFamily="50" charset="-128"/>
                          <a:cs typeface="+mn-cs"/>
                        </a:rPr>
                        <a:t>群</a:t>
                      </a:r>
                      <a:endParaRPr kumimoji="1" lang="en-US" altLang="ja-JP" sz="1200" b="0" kern="1200">
                        <a:solidFill>
                          <a:schemeClr val="tx1"/>
                        </a:solidFill>
                        <a:latin typeface="Meiryo UI" panose="020B0604030504040204" pitchFamily="50" charset="-128"/>
                        <a:ea typeface="Meiryo UI" panose="020B0604030504040204" pitchFamily="50" charset="-128"/>
                        <a:cs typeface="+mn-cs"/>
                      </a:endParaRPr>
                    </a:p>
                  </a:txBody>
                  <a:tcPr marL="0" marR="0">
                    <a:lnL w="3175" cap="flat" cmpd="sng" algn="ctr">
                      <a:solidFill>
                        <a:srgbClr val="00000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ロコン銀行</a:t>
                      </a:r>
                      <a:r>
                        <a:rPr kumimoji="1" lang="en-US" altLang="ja-JP"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HUB</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dirty="0"/>
                    </a:p>
                  </a:txBody>
                  <a:tcPr>
                    <a:lnL w="12700" cap="flat" cmpd="sng" algn="ctr">
                      <a:solidFill>
                        <a:schemeClr val="bg1">
                          <a:lumMod val="7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10560074"/>
                  </a:ext>
                </a:extLst>
              </a:tr>
            </a:tbl>
          </a:graphicData>
        </a:graphic>
      </p:graphicFrame>
      <p:sp>
        <p:nvSpPr>
          <p:cNvPr id="5" name="タイトル 2">
            <a:extLst>
              <a:ext uri="{FF2B5EF4-FFF2-40B4-BE49-F238E27FC236}">
                <a16:creationId xmlns:a16="http://schemas.microsoft.com/office/drawing/2014/main" id="{2BF6583A-CC21-4982-A39E-85FCD6AF2419}"/>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a:t>8. </a:t>
            </a:r>
            <a:r>
              <a:rPr lang="ja-JP" altLang="en-US" kern="0"/>
              <a:t>スケジュール</a:t>
            </a:r>
          </a:p>
        </p:txBody>
      </p:sp>
      <p:sp>
        <p:nvSpPr>
          <p:cNvPr id="19" name="矢印: 五方向 18">
            <a:extLst>
              <a:ext uri="{FF2B5EF4-FFF2-40B4-BE49-F238E27FC236}">
                <a16:creationId xmlns:a16="http://schemas.microsoft.com/office/drawing/2014/main" id="{1CD24E18-202A-CB7C-03D0-9EE998F6F829}"/>
              </a:ext>
            </a:extLst>
          </p:cNvPr>
          <p:cNvSpPr/>
          <p:nvPr/>
        </p:nvSpPr>
        <p:spPr>
          <a:xfrm>
            <a:off x="2850495" y="3357047"/>
            <a:ext cx="1908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20" name="矢印: 五方向 19">
            <a:extLst>
              <a:ext uri="{FF2B5EF4-FFF2-40B4-BE49-F238E27FC236}">
                <a16:creationId xmlns:a16="http://schemas.microsoft.com/office/drawing/2014/main" id="{1D9F0F66-9458-81F8-97F4-759789EAA12B}"/>
              </a:ext>
            </a:extLst>
          </p:cNvPr>
          <p:cNvSpPr/>
          <p:nvPr/>
        </p:nvSpPr>
        <p:spPr>
          <a:xfrm>
            <a:off x="1571914" y="3357047"/>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要件定義</a:t>
            </a:r>
          </a:p>
        </p:txBody>
      </p:sp>
      <p:sp>
        <p:nvSpPr>
          <p:cNvPr id="26" name="矢印: 五方向 25">
            <a:extLst>
              <a:ext uri="{FF2B5EF4-FFF2-40B4-BE49-F238E27FC236}">
                <a16:creationId xmlns:a16="http://schemas.microsoft.com/office/drawing/2014/main" id="{D6053675-8250-2DE2-62ED-7F4DD93D7C35}"/>
              </a:ext>
            </a:extLst>
          </p:cNvPr>
          <p:cNvSpPr/>
          <p:nvPr/>
        </p:nvSpPr>
        <p:spPr>
          <a:xfrm>
            <a:off x="4755600" y="3357047"/>
            <a:ext cx="316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外結テスト、システムテスト</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27" name="矢印: 五方向 26">
            <a:extLst>
              <a:ext uri="{FF2B5EF4-FFF2-40B4-BE49-F238E27FC236}">
                <a16:creationId xmlns:a16="http://schemas.microsoft.com/office/drawing/2014/main" id="{3F580BF3-396A-C852-FA36-FEC4D5C83585}"/>
              </a:ext>
            </a:extLst>
          </p:cNvPr>
          <p:cNvSpPr/>
          <p:nvPr/>
        </p:nvSpPr>
        <p:spPr>
          <a:xfrm>
            <a:off x="10485573" y="3357047"/>
            <a:ext cx="612000" cy="252000"/>
          </a:xfrm>
          <a:prstGeom prst="homePlate">
            <a:avLst>
              <a:gd name="adj" fmla="val 20720"/>
            </a:avLst>
          </a:prstGeom>
          <a:solidFill>
            <a:schemeClr val="bg1">
              <a:lumMod val="95000"/>
            </a:schemeClr>
          </a:solidFill>
          <a:ln w="9525" cap="flat" cmpd="sng" algn="ctr">
            <a:solidFill>
              <a:srgbClr val="FFFFFF">
                <a:lumMod val="50000"/>
              </a:srgbClr>
            </a:solidFill>
            <a:prstDash val="lgDash"/>
          </a:ln>
          <a:effectLst/>
        </p:spPr>
        <p:txBody>
          <a:bodyPr vert="horz" wrap="none" lIns="3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移行準備</a:t>
            </a:r>
          </a:p>
        </p:txBody>
      </p:sp>
      <p:sp>
        <p:nvSpPr>
          <p:cNvPr id="28" name="矢印: 五方向 27">
            <a:extLst>
              <a:ext uri="{FF2B5EF4-FFF2-40B4-BE49-F238E27FC236}">
                <a16:creationId xmlns:a16="http://schemas.microsoft.com/office/drawing/2014/main" id="{0C69113B-E3E1-F338-DCB0-E9BFEFD0C719}"/>
              </a:ext>
            </a:extLst>
          </p:cNvPr>
          <p:cNvSpPr/>
          <p:nvPr/>
        </p:nvSpPr>
        <p:spPr>
          <a:xfrm>
            <a:off x="7940593" y="3357047"/>
            <a:ext cx="190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marL="0" marR="0" lvl="0" indent="0" defTabSz="914400" eaLnBrk="1" fontAlgn="auto" latinLnBrk="0" hangingPunct="1">
              <a:lnSpc>
                <a:spcPts val="1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外結テスト、システムテスト</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29" name="矢印: 五方向 28">
            <a:extLst>
              <a:ext uri="{FF2B5EF4-FFF2-40B4-BE49-F238E27FC236}">
                <a16:creationId xmlns:a16="http://schemas.microsoft.com/office/drawing/2014/main" id="{3D74BE7C-9B52-F67A-1C75-B5D89F410E37}"/>
              </a:ext>
            </a:extLst>
          </p:cNvPr>
          <p:cNvSpPr/>
          <p:nvPr/>
        </p:nvSpPr>
        <p:spPr>
          <a:xfrm>
            <a:off x="2850495" y="4443821"/>
            <a:ext cx="252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30" name="矢印: 五方向 29">
            <a:extLst>
              <a:ext uri="{FF2B5EF4-FFF2-40B4-BE49-F238E27FC236}">
                <a16:creationId xmlns:a16="http://schemas.microsoft.com/office/drawing/2014/main" id="{27EA3AA3-FE14-CB0B-75BB-395BD0DE3C9C}"/>
              </a:ext>
            </a:extLst>
          </p:cNvPr>
          <p:cNvSpPr/>
          <p:nvPr/>
        </p:nvSpPr>
        <p:spPr>
          <a:xfrm>
            <a:off x="1571914" y="4443821"/>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要件定義</a:t>
            </a:r>
          </a:p>
        </p:txBody>
      </p:sp>
      <p:sp>
        <p:nvSpPr>
          <p:cNvPr id="31" name="矢印: 五方向 30">
            <a:extLst>
              <a:ext uri="{FF2B5EF4-FFF2-40B4-BE49-F238E27FC236}">
                <a16:creationId xmlns:a16="http://schemas.microsoft.com/office/drawing/2014/main" id="{5A4FEEAE-6FE3-68AD-7DA2-5455CE36309B}"/>
              </a:ext>
            </a:extLst>
          </p:cNvPr>
          <p:cNvSpPr/>
          <p:nvPr/>
        </p:nvSpPr>
        <p:spPr>
          <a:xfrm>
            <a:off x="5393112" y="4443821"/>
            <a:ext cx="2520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r>
              <a:rPr kumimoji="0" lang="ja-JP" altLang="en-US" sz="900" kern="0">
                <a:solidFill>
                  <a:srgbClr val="000000">
                    <a:lumMod val="65000"/>
                    <a:lumOff val="35000"/>
                  </a:srgbClr>
                </a:solidFill>
                <a:latin typeface="Meiryo UI"/>
                <a:ea typeface="Meiryo UI"/>
              </a:rPr>
              <a:t>外結テスト、システムテスト</a:t>
            </a:r>
          </a:p>
        </p:txBody>
      </p:sp>
      <p:sp>
        <p:nvSpPr>
          <p:cNvPr id="32" name="矢印: 五方向 31">
            <a:extLst>
              <a:ext uri="{FF2B5EF4-FFF2-40B4-BE49-F238E27FC236}">
                <a16:creationId xmlns:a16="http://schemas.microsoft.com/office/drawing/2014/main" id="{3875CCE0-239F-08F0-5F32-F9FE65B4FD86}"/>
              </a:ext>
            </a:extLst>
          </p:cNvPr>
          <p:cNvSpPr/>
          <p:nvPr/>
        </p:nvSpPr>
        <p:spPr>
          <a:xfrm>
            <a:off x="10485573" y="4443821"/>
            <a:ext cx="612000" cy="252000"/>
          </a:xfrm>
          <a:prstGeom prst="homePlate">
            <a:avLst>
              <a:gd name="adj" fmla="val 20720"/>
            </a:avLst>
          </a:prstGeom>
          <a:solidFill>
            <a:schemeClr val="bg1">
              <a:lumMod val="95000"/>
            </a:schemeClr>
          </a:solidFill>
          <a:ln w="9525" cap="flat" cmpd="sng" algn="ctr">
            <a:solidFill>
              <a:srgbClr val="FFFFFF">
                <a:lumMod val="50000"/>
              </a:srgbClr>
            </a:solidFill>
            <a:prstDash val="lgDash"/>
          </a:ln>
          <a:effectLst/>
        </p:spPr>
        <p:txBody>
          <a:bodyPr vert="horz" wrap="none" lIns="3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移行準備</a:t>
            </a:r>
          </a:p>
        </p:txBody>
      </p:sp>
      <p:sp>
        <p:nvSpPr>
          <p:cNvPr id="33" name="矢印: 五方向 32">
            <a:extLst>
              <a:ext uri="{FF2B5EF4-FFF2-40B4-BE49-F238E27FC236}">
                <a16:creationId xmlns:a16="http://schemas.microsoft.com/office/drawing/2014/main" id="{31B21588-DE36-0307-0E52-9E11462CF993}"/>
              </a:ext>
            </a:extLst>
          </p:cNvPr>
          <p:cNvSpPr/>
          <p:nvPr/>
        </p:nvSpPr>
        <p:spPr>
          <a:xfrm>
            <a:off x="7940593" y="4443821"/>
            <a:ext cx="190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fontAlgn="auto">
              <a:lnSpc>
                <a:spcPts val="1000"/>
              </a:lnSpc>
              <a:spcBef>
                <a:spcPts val="0"/>
              </a:spcBef>
              <a:spcAft>
                <a:spcPts val="0"/>
              </a:spcAft>
              <a:defRPr/>
            </a:pPr>
            <a:r>
              <a:rPr kumimoji="0" lang="ja-JP" altLang="en-US" sz="900" kern="0">
                <a:solidFill>
                  <a:srgbClr val="000000">
                    <a:lumMod val="65000"/>
                    <a:lumOff val="35000"/>
                  </a:srgbClr>
                </a:solidFill>
                <a:latin typeface="Meiryo UI"/>
                <a:ea typeface="Meiryo UI"/>
              </a:rPr>
              <a:t>外結テスト、システムテスト</a:t>
            </a:r>
          </a:p>
        </p:txBody>
      </p:sp>
      <p:sp>
        <p:nvSpPr>
          <p:cNvPr id="35" name="コンテンツ プレースホルダー 1">
            <a:extLst>
              <a:ext uri="{FF2B5EF4-FFF2-40B4-BE49-F238E27FC236}">
                <a16:creationId xmlns:a16="http://schemas.microsoft.com/office/drawing/2014/main" id="{522D06FF-E99F-F025-652D-86EBF8A54458}"/>
              </a:ext>
            </a:extLst>
          </p:cNvPr>
          <p:cNvSpPr txBox="1">
            <a:spLocks/>
          </p:cNvSpPr>
          <p:nvPr/>
        </p:nvSpPr>
        <p:spPr bwMode="auto">
          <a:xfrm>
            <a:off x="9159689" y="2221419"/>
            <a:ext cx="1742400" cy="3430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’25/10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41" name="正方形/長方形 40">
            <a:extLst>
              <a:ext uri="{FF2B5EF4-FFF2-40B4-BE49-F238E27FC236}">
                <a16:creationId xmlns:a16="http://schemas.microsoft.com/office/drawing/2014/main" id="{B2024141-AAAA-16B6-9BD3-F88BCD733946}"/>
              </a:ext>
            </a:extLst>
          </p:cNvPr>
          <p:cNvSpPr/>
          <p:nvPr/>
        </p:nvSpPr>
        <p:spPr>
          <a:xfrm>
            <a:off x="4730056" y="6076073"/>
            <a:ext cx="7200000" cy="345953"/>
          </a:xfrm>
          <a:prstGeom prst="rect">
            <a:avLst/>
          </a:prstGeom>
          <a:pattFill prst="pct60">
            <a:fgClr>
              <a:schemeClr val="accent5">
                <a:lumMod val="40000"/>
                <a:lumOff val="60000"/>
              </a:schemeClr>
            </a:fgClr>
            <a:bgClr>
              <a:schemeClr val="bg1"/>
            </a:bgClr>
          </a:pattFill>
          <a:ln w="15875">
            <a:solidFill>
              <a:schemeClr val="accent5">
                <a:lumMod val="50000"/>
              </a:schemeClr>
            </a:solidFill>
            <a:tailEnd type="oval"/>
          </a:ln>
        </p:spPr>
        <p:style>
          <a:lnRef idx="2">
            <a:schemeClr val="accent1">
              <a:shade val="50000"/>
            </a:schemeClr>
          </a:lnRef>
          <a:fillRef idx="1">
            <a:schemeClr val="accent1"/>
          </a:fillRef>
          <a:effectRef idx="0">
            <a:schemeClr val="accent1"/>
          </a:effectRef>
          <a:fontRef idx="minor">
            <a:schemeClr val="lt1"/>
          </a:fontRef>
        </p:style>
        <p:txBody>
          <a:bodyPr vert="horz" tIns="0" bIns="0" rtlCol="0" anchor="b"/>
          <a:lstStyle/>
          <a:p>
            <a:pPr algn="r"/>
            <a:r>
              <a:rPr lang="ja-JP" altLang="en-US" sz="1200" b="1" u="sng">
                <a:solidFill>
                  <a:schemeClr val="accent1">
                    <a:lumMod val="50000"/>
                  </a:schemeClr>
                </a:solidFill>
                <a:latin typeface="Meiryo UI" panose="020B0604030504040204" pitchFamily="50" charset="-128"/>
                <a:ea typeface="Meiryo UI" panose="020B0604030504040204" pitchFamily="50" charset="-128"/>
                <a:cs typeface="Hiragino Kaku Gothic Pro W3" charset="-128"/>
              </a:rPr>
              <a:t>購買観点</a:t>
            </a:r>
            <a:endParaRPr lang="en-US" altLang="ja-JP" sz="1200" b="1" u="sng">
              <a:solidFill>
                <a:schemeClr val="accent1">
                  <a:lumMod val="50000"/>
                </a:schemeClr>
              </a:solidFill>
              <a:latin typeface="Meiryo UI" panose="020B0604030504040204" pitchFamily="50" charset="-128"/>
              <a:ea typeface="Meiryo UI" panose="020B0604030504040204" pitchFamily="50" charset="-128"/>
              <a:cs typeface="Hiragino Kaku Gothic Pro W3" charset="-128"/>
            </a:endParaRPr>
          </a:p>
        </p:txBody>
      </p:sp>
      <p:sp>
        <p:nvSpPr>
          <p:cNvPr id="39" name="正方形/長方形 38">
            <a:extLst>
              <a:ext uri="{FF2B5EF4-FFF2-40B4-BE49-F238E27FC236}">
                <a16:creationId xmlns:a16="http://schemas.microsoft.com/office/drawing/2014/main" id="{9D7233E0-96D9-9B75-8C03-4F1C95BCCC65}"/>
              </a:ext>
            </a:extLst>
          </p:cNvPr>
          <p:cNvSpPr/>
          <p:nvPr/>
        </p:nvSpPr>
        <p:spPr>
          <a:xfrm>
            <a:off x="4730056" y="5703707"/>
            <a:ext cx="7200000" cy="347434"/>
          </a:xfrm>
          <a:prstGeom prst="rect">
            <a:avLst/>
          </a:prstGeom>
          <a:pattFill prst="pct60">
            <a:fgClr>
              <a:schemeClr val="accent6">
                <a:lumMod val="20000"/>
                <a:lumOff val="80000"/>
              </a:schemeClr>
            </a:fgClr>
            <a:bgClr>
              <a:schemeClr val="bg1"/>
            </a:bgClr>
          </a:pattFill>
          <a:ln w="15875">
            <a:solidFill>
              <a:srgbClr val="002060"/>
            </a:solidFill>
            <a:tailEnd type="oval"/>
          </a:ln>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p>
            <a:pPr algn="r"/>
            <a:r>
              <a:rPr lang="ja-JP" altLang="en-US" sz="1200" b="1" u="sng">
                <a:solidFill>
                  <a:schemeClr val="accent6">
                    <a:lumMod val="50000"/>
                  </a:schemeClr>
                </a:solidFill>
                <a:latin typeface="Meiryo UI" panose="020B0604030504040204" pitchFamily="50" charset="-128"/>
                <a:ea typeface="Meiryo UI" panose="020B0604030504040204" pitchFamily="50" charset="-128"/>
                <a:cs typeface="Hiragino Kaku Gothic Pro W3" charset="-128"/>
              </a:rPr>
              <a:t>販売観点</a:t>
            </a:r>
            <a:endParaRPr lang="en-US" altLang="ja-JP" sz="1200" b="1" u="sng">
              <a:solidFill>
                <a:schemeClr val="accent6">
                  <a:lumMod val="50000"/>
                </a:schemeClr>
              </a:solidFill>
              <a:latin typeface="Meiryo UI" panose="020B0604030504040204" pitchFamily="50" charset="-128"/>
              <a:ea typeface="Meiryo UI" panose="020B0604030504040204" pitchFamily="50" charset="-128"/>
              <a:cs typeface="Hiragino Kaku Gothic Pro W3" charset="-128"/>
            </a:endParaRPr>
          </a:p>
        </p:txBody>
      </p:sp>
      <p:sp>
        <p:nvSpPr>
          <p:cNvPr id="54" name="矢印: 五方向 53">
            <a:extLst>
              <a:ext uri="{FF2B5EF4-FFF2-40B4-BE49-F238E27FC236}">
                <a16:creationId xmlns:a16="http://schemas.microsoft.com/office/drawing/2014/main" id="{8771CA0F-624E-EA3A-E0B7-044D0F0A6B13}"/>
              </a:ext>
            </a:extLst>
          </p:cNvPr>
          <p:cNvSpPr/>
          <p:nvPr/>
        </p:nvSpPr>
        <p:spPr>
          <a:xfrm>
            <a:off x="1571914" y="5013729"/>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lIns="0" r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lumMod val="65000"/>
                    <a:lumOff val="35000"/>
                  </a:srgbClr>
                </a:solidFill>
                <a:effectLst/>
                <a:uLnTx/>
                <a:uFillTx/>
                <a:latin typeface="Meiryo UI"/>
                <a:ea typeface="Meiryo UI"/>
                <a:cs typeface="Hiragino Kaku Gothic Pro W3" charset="-128"/>
              </a:rPr>
              <a:t>要件定義</a:t>
            </a:r>
            <a:br>
              <a:rPr kumimoji="0" lang="en-US" altLang="ja-JP" sz="900" kern="0" dirty="0">
                <a:solidFill>
                  <a:srgbClr val="000000">
                    <a:lumMod val="65000"/>
                    <a:lumOff val="35000"/>
                  </a:srgbClr>
                </a:solidFill>
                <a:latin typeface="Meiryo UI"/>
                <a:ea typeface="Meiryo UI"/>
                <a:cs typeface="Hiragino Kaku Gothic Pro W3" charset="-128"/>
              </a:rPr>
            </a:br>
            <a:r>
              <a:rPr kumimoji="0" lang="en-US" altLang="ja-JP" sz="900" b="1" i="0" u="none" strike="noStrike" kern="0" cap="none" spc="0" normalizeH="0" baseline="0" noProof="0" dirty="0">
                <a:ln>
                  <a:noFill/>
                </a:ln>
                <a:solidFill>
                  <a:srgbClr val="000000">
                    <a:lumMod val="65000"/>
                    <a:lumOff val="35000"/>
                  </a:srgbClr>
                </a:solidFill>
                <a:effectLst/>
                <a:uLnTx/>
                <a:uFillTx/>
                <a:latin typeface="Meiryo UI"/>
                <a:ea typeface="Meiryo UI"/>
                <a:cs typeface="Hiragino Kaku Gothic Pro W3" charset="-128"/>
              </a:rPr>
              <a:t>(RIND</a:t>
            </a:r>
            <a:r>
              <a:rPr kumimoji="0" lang="ja-JP" altLang="en-US" sz="900" b="1" i="0" u="none" strike="noStrike" kern="0" cap="none" spc="0" normalizeH="0" baseline="0" noProof="0" dirty="0">
                <a:ln>
                  <a:noFill/>
                </a:ln>
                <a:solidFill>
                  <a:srgbClr val="000000">
                    <a:lumMod val="65000"/>
                    <a:lumOff val="35000"/>
                  </a:srgbClr>
                </a:solidFill>
                <a:effectLst/>
                <a:uLnTx/>
                <a:uFillTx/>
                <a:latin typeface="Meiryo UI"/>
                <a:ea typeface="Meiryo UI"/>
                <a:cs typeface="Hiragino Kaku Gothic Pro W3" charset="-128"/>
              </a:rPr>
              <a:t>影響しない箇所</a:t>
            </a:r>
            <a:r>
              <a:rPr kumimoji="0" lang="en-US" altLang="ja-JP" sz="900" b="1" i="0" u="none" strike="noStrike" kern="0" cap="none" spc="0" normalizeH="0" baseline="0" noProof="0" dirty="0">
                <a:ln>
                  <a:noFill/>
                </a:ln>
                <a:solidFill>
                  <a:srgbClr val="000000">
                    <a:lumMod val="65000"/>
                    <a:lumOff val="35000"/>
                  </a:srgbClr>
                </a:solidFill>
                <a:effectLst/>
                <a:uLnTx/>
                <a:uFillTx/>
                <a:latin typeface="Meiryo UI"/>
                <a:ea typeface="Meiryo UI"/>
                <a:cs typeface="Hiragino Kaku Gothic Pro W3" charset="-128"/>
              </a:rPr>
              <a:t>)</a:t>
            </a:r>
            <a:endParaRPr kumimoji="0" lang="ja-JP" altLang="en-US" sz="900" b="1" i="0" u="none" strike="noStrike" kern="0" cap="none" spc="0" normalizeH="0" baseline="0" noProof="0" dirty="0">
              <a:ln>
                <a:noFill/>
              </a:ln>
              <a:solidFill>
                <a:srgbClr val="000000">
                  <a:lumMod val="65000"/>
                  <a:lumOff val="35000"/>
                </a:srgbClr>
              </a:solidFill>
              <a:effectLst/>
              <a:uLnTx/>
              <a:uFillTx/>
              <a:latin typeface="Meiryo UI"/>
              <a:ea typeface="Meiryo UI"/>
              <a:cs typeface="Hiragino Kaku Gothic Pro W3" charset="-128"/>
            </a:endParaRPr>
          </a:p>
        </p:txBody>
      </p:sp>
      <p:sp>
        <p:nvSpPr>
          <p:cNvPr id="57" name="矢印: 五方向 56">
            <a:extLst>
              <a:ext uri="{FF2B5EF4-FFF2-40B4-BE49-F238E27FC236}">
                <a16:creationId xmlns:a16="http://schemas.microsoft.com/office/drawing/2014/main" id="{514D6B31-99F4-246E-3761-070AFF4F230B}"/>
              </a:ext>
            </a:extLst>
          </p:cNvPr>
          <p:cNvSpPr/>
          <p:nvPr/>
        </p:nvSpPr>
        <p:spPr>
          <a:xfrm>
            <a:off x="5386581" y="5013729"/>
            <a:ext cx="2520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fontAlgn="auto">
              <a:lnSpc>
                <a:spcPts val="1000"/>
              </a:lnSpc>
              <a:spcBef>
                <a:spcPts val="0"/>
              </a:spcBef>
              <a:spcAft>
                <a:spcPts val="0"/>
              </a:spcAft>
              <a:defRPr/>
            </a:pPr>
            <a:r>
              <a:rPr kumimoji="0" lang="ja-JP" altLang="en-US" sz="900" kern="0">
                <a:solidFill>
                  <a:srgbClr val="000000">
                    <a:lumMod val="65000"/>
                    <a:lumOff val="35000"/>
                  </a:srgbClr>
                </a:solidFill>
                <a:latin typeface="Meiryo UI"/>
                <a:ea typeface="Meiryo UI"/>
              </a:rPr>
              <a:t>外結テスト、システムテスト</a:t>
            </a:r>
          </a:p>
        </p:txBody>
      </p:sp>
      <p:sp>
        <p:nvSpPr>
          <p:cNvPr id="60" name="矢印: 五方向 59">
            <a:extLst>
              <a:ext uri="{FF2B5EF4-FFF2-40B4-BE49-F238E27FC236}">
                <a16:creationId xmlns:a16="http://schemas.microsoft.com/office/drawing/2014/main" id="{B96A680F-D84E-D60D-04FC-000A1B40A5DE}"/>
              </a:ext>
            </a:extLst>
          </p:cNvPr>
          <p:cNvSpPr/>
          <p:nvPr/>
        </p:nvSpPr>
        <p:spPr>
          <a:xfrm>
            <a:off x="2848036" y="5413831"/>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lIns="0" r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要件定義</a:t>
            </a:r>
            <a:b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r>
              <a:rPr kumimoji="0" lang="en-US" altLang="ja-JP" sz="900" b="1"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(RIND</a:t>
            </a:r>
            <a:r>
              <a:rPr kumimoji="0" lang="ja-JP" altLang="en-US" sz="900" b="1"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仕様関連箇所</a:t>
            </a:r>
            <a:r>
              <a:rPr kumimoji="0" lang="en-US" altLang="ja-JP" sz="900" b="1"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a:t>
            </a:r>
            <a:endParaRPr kumimoji="0" lang="ja-JP" altLang="en-US" sz="900" b="1"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2" name="四角形: 角を丸くする 1">
            <a:extLst>
              <a:ext uri="{FF2B5EF4-FFF2-40B4-BE49-F238E27FC236}">
                <a16:creationId xmlns:a16="http://schemas.microsoft.com/office/drawing/2014/main" id="{B6D8D882-1B46-E5BA-03AA-2A0336261D42}"/>
              </a:ext>
            </a:extLst>
          </p:cNvPr>
          <p:cNvSpPr/>
          <p:nvPr/>
        </p:nvSpPr>
        <p:spPr>
          <a:xfrm>
            <a:off x="692824" y="4189710"/>
            <a:ext cx="864653" cy="164550"/>
          </a:xfrm>
          <a:prstGeom prst="roundRect">
            <a:avLst/>
          </a:prstGeom>
          <a:solidFill>
            <a:srgbClr val="FFFF99"/>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‘24/8</a:t>
            </a:r>
            <a:r>
              <a:rPr kumimoji="1" lang="ja-JP" altLang="en-US"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外結合流</a:t>
            </a:r>
            <a:endParaRPr kumimoji="1" lang="en-US" altLang="ja-JP"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4" name="四角形: 角を丸くする 13">
            <a:extLst>
              <a:ext uri="{FF2B5EF4-FFF2-40B4-BE49-F238E27FC236}">
                <a16:creationId xmlns:a16="http://schemas.microsoft.com/office/drawing/2014/main" id="{9E52F64C-4F21-449A-D0A8-7152AA4E6544}"/>
              </a:ext>
            </a:extLst>
          </p:cNvPr>
          <p:cNvSpPr/>
          <p:nvPr/>
        </p:nvSpPr>
        <p:spPr>
          <a:xfrm>
            <a:off x="692824" y="4776708"/>
            <a:ext cx="864653" cy="164550"/>
          </a:xfrm>
          <a:prstGeom prst="roundRect">
            <a:avLst/>
          </a:prstGeom>
          <a:solidFill>
            <a:srgbClr val="FFFF99"/>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‘24/10</a:t>
            </a:r>
            <a:r>
              <a:rPr kumimoji="1" lang="ja-JP" altLang="en-US"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外結合流</a:t>
            </a:r>
            <a:endParaRPr kumimoji="1" lang="en-US" altLang="ja-JP"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cxnSp>
        <p:nvCxnSpPr>
          <p:cNvPr id="34" name="コネクタ: カギ線 33">
            <a:extLst>
              <a:ext uri="{FF2B5EF4-FFF2-40B4-BE49-F238E27FC236}">
                <a16:creationId xmlns:a16="http://schemas.microsoft.com/office/drawing/2014/main" id="{63FD1660-4E97-D34A-38B2-17D4030E8B5A}"/>
              </a:ext>
            </a:extLst>
          </p:cNvPr>
          <p:cNvCxnSpPr>
            <a:cxnSpLocks/>
            <a:stCxn id="77" idx="3"/>
            <a:endCxn id="57" idx="2"/>
          </p:cNvCxnSpPr>
          <p:nvPr/>
        </p:nvCxnSpPr>
        <p:spPr>
          <a:xfrm flipV="1">
            <a:off x="6351867" y="5265729"/>
            <a:ext cx="231714" cy="274102"/>
          </a:xfrm>
          <a:prstGeom prst="bentConnector2">
            <a:avLst/>
          </a:prstGeom>
          <a:ln>
            <a:solidFill>
              <a:schemeClr val="tx2">
                <a:lumMod val="50000"/>
                <a:lumOff val="50000"/>
              </a:schemeClr>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7" name="コンテンツ プレースホルダー 5">
            <a:extLst>
              <a:ext uri="{FF2B5EF4-FFF2-40B4-BE49-F238E27FC236}">
                <a16:creationId xmlns:a16="http://schemas.microsoft.com/office/drawing/2014/main" id="{08F5E738-E221-0DC6-D90F-464A00A6D124}"/>
              </a:ext>
            </a:extLst>
          </p:cNvPr>
          <p:cNvSpPr txBox="1">
            <a:spLocks/>
          </p:cNvSpPr>
          <p:nvPr/>
        </p:nvSpPr>
        <p:spPr>
          <a:xfrm>
            <a:off x="211394" y="614837"/>
            <a:ext cx="11525251" cy="716050"/>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基シス周辺システム対応は、</a:t>
            </a:r>
            <a:r>
              <a:rPr lang="en-US" altLang="ja-JP" sz="1600" kern="0"/>
              <a:t> </a:t>
            </a:r>
            <a:r>
              <a:rPr lang="ja-JP" altLang="en-US" sz="1600">
                <a:cs typeface="Hiragino Kaku Gothic Pro W3" charset="-128"/>
              </a:rPr>
              <a:t>販売管理領域は</a:t>
            </a:r>
            <a:r>
              <a:rPr lang="en-US" altLang="ja-JP" sz="1600">
                <a:cs typeface="Hiragino Kaku Gothic Pro W3" charset="-128"/>
              </a:rPr>
              <a:t>2025</a:t>
            </a:r>
            <a:r>
              <a:rPr lang="ja-JP" altLang="en-US" sz="1600">
                <a:cs typeface="Hiragino Kaku Gothic Pro W3" charset="-128"/>
              </a:rPr>
              <a:t>年</a:t>
            </a:r>
            <a:r>
              <a:rPr lang="en-US" altLang="ja-JP" sz="1600">
                <a:cs typeface="Hiragino Kaku Gothic Pro W3" charset="-128"/>
              </a:rPr>
              <a:t>10</a:t>
            </a:r>
            <a:r>
              <a:rPr lang="ja-JP" altLang="en-US" sz="1600">
                <a:cs typeface="Hiragino Kaku Gothic Pro W3" charset="-128"/>
              </a:rPr>
              <a:t>月 </a:t>
            </a:r>
            <a:r>
              <a:rPr lang="en-US" altLang="ja-JP" sz="1600">
                <a:cs typeface="Hiragino Kaku Gothic Pro W3" charset="-128"/>
              </a:rPr>
              <a:t>C/O</a:t>
            </a:r>
            <a:r>
              <a:rPr lang="ja-JP" altLang="en-US" sz="1600">
                <a:cs typeface="Hiragino Kaku Gothic Pro W3" charset="-128"/>
              </a:rPr>
              <a:t>、購買管理領域は</a:t>
            </a:r>
            <a:r>
              <a:rPr lang="en-US" altLang="ja-JP" sz="1600">
                <a:cs typeface="Hiragino Kaku Gothic Pro W3" charset="-128"/>
              </a:rPr>
              <a:t>2026</a:t>
            </a:r>
            <a:r>
              <a:rPr lang="ja-JP" altLang="en-US" sz="1600">
                <a:cs typeface="Hiragino Kaku Gothic Pro W3" charset="-128"/>
              </a:rPr>
              <a:t>年</a:t>
            </a:r>
            <a:r>
              <a:rPr lang="en-US" altLang="ja-JP" sz="1600">
                <a:cs typeface="Hiragino Kaku Gothic Pro W3" charset="-128"/>
              </a:rPr>
              <a:t>4</a:t>
            </a:r>
            <a:r>
              <a:rPr lang="ja-JP" altLang="en-US" sz="1600">
                <a:cs typeface="Hiragino Kaku Gothic Pro W3" charset="-128"/>
              </a:rPr>
              <a:t>月</a:t>
            </a:r>
            <a:r>
              <a:rPr lang="en-US" altLang="ja-JP" sz="1600">
                <a:cs typeface="Hiragino Kaku Gothic Pro W3" charset="-128"/>
              </a:rPr>
              <a:t> C/O</a:t>
            </a:r>
            <a:r>
              <a:rPr lang="ja-JP" altLang="en-US" sz="1600">
                <a:cs typeface="Hiragino Kaku Gothic Pro W3" charset="-128"/>
              </a:rPr>
              <a:t>を目指す</a:t>
            </a:r>
            <a:endParaRPr lang="en-US" altLang="ja-JP" sz="1200" kern="0">
              <a:solidFill>
                <a:srgbClr val="FF0000"/>
              </a:solidFill>
            </a:endParaRPr>
          </a:p>
        </p:txBody>
      </p:sp>
      <p:sp>
        <p:nvSpPr>
          <p:cNvPr id="13" name="コンテンツ プレースホルダー 1">
            <a:extLst>
              <a:ext uri="{FF2B5EF4-FFF2-40B4-BE49-F238E27FC236}">
                <a16:creationId xmlns:a16="http://schemas.microsoft.com/office/drawing/2014/main" id="{D05A1274-4502-831C-5F46-90CBD07B5E84}"/>
              </a:ext>
            </a:extLst>
          </p:cNvPr>
          <p:cNvSpPr txBox="1">
            <a:spLocks/>
          </p:cNvSpPr>
          <p:nvPr/>
        </p:nvSpPr>
        <p:spPr bwMode="auto">
          <a:xfrm>
            <a:off x="6564089" y="5478164"/>
            <a:ext cx="2550427" cy="17208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800"/>
              </a:lnSpc>
              <a:buClr>
                <a:srgbClr val="3333CC"/>
              </a:buClr>
              <a:buFont typeface="Arial" charset="0"/>
              <a:buNone/>
              <a:defRPr/>
            </a:pPr>
            <a:r>
              <a:rPr lang="en-US" altLang="ja-JP" sz="1000" b="1" kern="0">
                <a:solidFill>
                  <a:schemeClr val="tx2">
                    <a:lumMod val="65000"/>
                    <a:lumOff val="35000"/>
                  </a:schemeClr>
                </a:solidFill>
                <a:latin typeface="Meiryo UI"/>
                <a:ea typeface="Meiryo UI"/>
                <a:cs typeface="Arial"/>
              </a:rPr>
              <a:t>’25/1</a:t>
            </a:r>
            <a:r>
              <a:rPr lang="ja-JP" altLang="en-US" sz="1000" b="1" kern="0">
                <a:solidFill>
                  <a:schemeClr val="tx2">
                    <a:lumMod val="65000"/>
                    <a:lumOff val="35000"/>
                  </a:schemeClr>
                </a:solidFill>
                <a:latin typeface="Meiryo UI"/>
                <a:ea typeface="Meiryo UI"/>
                <a:cs typeface="Arial"/>
              </a:rPr>
              <a:t>開始のシステムテストにて合流予定</a:t>
            </a:r>
            <a:endParaRPr lang="en-US" altLang="ja-JP" sz="1000" b="1" kern="0">
              <a:solidFill>
                <a:schemeClr val="tx2">
                  <a:lumMod val="65000"/>
                  <a:lumOff val="35000"/>
                </a:schemeClr>
              </a:solidFill>
              <a:latin typeface="Meiryo UI"/>
              <a:ea typeface="Meiryo UI"/>
              <a:cs typeface="Arial"/>
            </a:endParaRPr>
          </a:p>
        </p:txBody>
      </p:sp>
      <p:sp>
        <p:nvSpPr>
          <p:cNvPr id="3" name="矢印: 五方向 2">
            <a:extLst>
              <a:ext uri="{FF2B5EF4-FFF2-40B4-BE49-F238E27FC236}">
                <a16:creationId xmlns:a16="http://schemas.microsoft.com/office/drawing/2014/main" id="{5D6A5441-FA99-9703-4853-BE2C1D835FE9}"/>
              </a:ext>
            </a:extLst>
          </p:cNvPr>
          <p:cNvSpPr/>
          <p:nvPr/>
        </p:nvSpPr>
        <p:spPr>
          <a:xfrm>
            <a:off x="2218036" y="2246921"/>
            <a:ext cx="1260000" cy="252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標準機能動作確認、</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アドオン詳設・開発・単体</a:t>
            </a:r>
          </a:p>
        </p:txBody>
      </p:sp>
      <p:sp>
        <p:nvSpPr>
          <p:cNvPr id="6" name="矢印: 五方向 5">
            <a:extLst>
              <a:ext uri="{FF2B5EF4-FFF2-40B4-BE49-F238E27FC236}">
                <a16:creationId xmlns:a16="http://schemas.microsoft.com/office/drawing/2014/main" id="{FD5530A2-A6A3-6FCC-33B6-0095E2B0FA10}"/>
              </a:ext>
            </a:extLst>
          </p:cNvPr>
          <p:cNvSpPr/>
          <p:nvPr/>
        </p:nvSpPr>
        <p:spPr>
          <a:xfrm>
            <a:off x="2218036" y="2631780"/>
            <a:ext cx="1260000" cy="252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詳設・開発・単体</a:t>
            </a:r>
          </a:p>
        </p:txBody>
      </p:sp>
      <p:sp>
        <p:nvSpPr>
          <p:cNvPr id="8" name="矢印: 五方向 7">
            <a:extLst>
              <a:ext uri="{FF2B5EF4-FFF2-40B4-BE49-F238E27FC236}">
                <a16:creationId xmlns:a16="http://schemas.microsoft.com/office/drawing/2014/main" id="{34152D57-222B-76DC-037B-5DE4B33A4BE5}"/>
              </a:ext>
            </a:extLst>
          </p:cNvPr>
          <p:cNvSpPr/>
          <p:nvPr/>
        </p:nvSpPr>
        <p:spPr>
          <a:xfrm>
            <a:off x="3484564" y="2957761"/>
            <a:ext cx="972000" cy="252000"/>
          </a:xfrm>
          <a:prstGeom prst="homePlate">
            <a:avLst>
              <a:gd name="adj" fmla="val 33437"/>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追付き開発</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9" name="矢印: 五方向 8">
            <a:extLst>
              <a:ext uri="{FF2B5EF4-FFF2-40B4-BE49-F238E27FC236}">
                <a16:creationId xmlns:a16="http://schemas.microsoft.com/office/drawing/2014/main" id="{A61DF5E6-9858-D7C0-DE12-D63F26D9DE1E}"/>
              </a:ext>
            </a:extLst>
          </p:cNvPr>
          <p:cNvSpPr/>
          <p:nvPr/>
        </p:nvSpPr>
        <p:spPr>
          <a:xfrm>
            <a:off x="3488538" y="2631780"/>
            <a:ext cx="1260000" cy="252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サブ内</a:t>
            </a:r>
            <a:r>
              <a:rPr lang="en-US" altLang="ja-JP" sz="900">
                <a:solidFill>
                  <a:srgbClr val="000000">
                    <a:lumMod val="65000"/>
                    <a:lumOff val="35000"/>
                  </a:srgbClr>
                </a:solidFill>
                <a:latin typeface="Meiryo UI" panose="020B0604030504040204" pitchFamily="50" charset="-128"/>
                <a:ea typeface="Meiryo UI" panose="020B0604030504040204" pitchFamily="50" charset="-128"/>
              </a:rPr>
              <a:t>/</a:t>
            </a: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サブ間</a:t>
            </a:r>
          </a:p>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結合テスト</a:t>
            </a:r>
          </a:p>
        </p:txBody>
      </p:sp>
      <p:sp>
        <p:nvSpPr>
          <p:cNvPr id="10" name="矢印: 五方向 9">
            <a:extLst>
              <a:ext uri="{FF2B5EF4-FFF2-40B4-BE49-F238E27FC236}">
                <a16:creationId xmlns:a16="http://schemas.microsoft.com/office/drawing/2014/main" id="{D147598E-D6D5-E5B0-A310-E6FE6307658A}"/>
              </a:ext>
            </a:extLst>
          </p:cNvPr>
          <p:cNvSpPr/>
          <p:nvPr/>
        </p:nvSpPr>
        <p:spPr>
          <a:xfrm>
            <a:off x="3488538" y="2246921"/>
            <a:ext cx="1260000" cy="252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サブ内</a:t>
            </a:r>
            <a:r>
              <a:rPr lang="en-US" altLang="ja-JP" sz="900">
                <a:solidFill>
                  <a:srgbClr val="000000">
                    <a:lumMod val="65000"/>
                    <a:lumOff val="35000"/>
                  </a:srgbClr>
                </a:solidFill>
                <a:latin typeface="Meiryo UI" panose="020B0604030504040204" pitchFamily="50" charset="-128"/>
                <a:ea typeface="Meiryo UI" panose="020B0604030504040204" pitchFamily="50" charset="-128"/>
              </a:rPr>
              <a:t>/</a:t>
            </a: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サブ間</a:t>
            </a:r>
            <a:endParaRPr lang="en-US" altLang="ja-JP" sz="900">
              <a:solidFill>
                <a:srgbClr val="000000">
                  <a:lumMod val="65000"/>
                  <a:lumOff val="35000"/>
                </a:srgbClr>
              </a:solidFill>
              <a:latin typeface="Meiryo UI" panose="020B0604030504040204" pitchFamily="50" charset="-128"/>
              <a:ea typeface="Meiryo UI" panose="020B0604030504040204" pitchFamily="50" charset="-128"/>
            </a:endParaRPr>
          </a:p>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結合テスト</a:t>
            </a:r>
            <a:endParaRPr lang="en-US" altLang="ja-JP" sz="90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11" name="矢印: 五方向 10">
            <a:extLst>
              <a:ext uri="{FF2B5EF4-FFF2-40B4-BE49-F238E27FC236}">
                <a16:creationId xmlns:a16="http://schemas.microsoft.com/office/drawing/2014/main" id="{5DAADE4F-EDBB-808B-AEC0-AEB9D47EC4E4}"/>
              </a:ext>
            </a:extLst>
          </p:cNvPr>
          <p:cNvSpPr/>
          <p:nvPr/>
        </p:nvSpPr>
        <p:spPr>
          <a:xfrm>
            <a:off x="4767867" y="2246921"/>
            <a:ext cx="602627" cy="2520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外結</a:t>
            </a:r>
            <a:br>
              <a:rPr lang="en-US" altLang="ja-JP" sz="900">
                <a:solidFill>
                  <a:srgbClr val="000000">
                    <a:lumMod val="65000"/>
                    <a:lumOff val="35000"/>
                  </a:srgbClr>
                </a:solidFill>
                <a:latin typeface="Meiryo UI" panose="020B0604030504040204" pitchFamily="50" charset="-128"/>
                <a:ea typeface="Meiryo UI" panose="020B0604030504040204" pitchFamily="50" charset="-128"/>
              </a:rPr>
            </a:b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テスト</a:t>
            </a:r>
            <a:r>
              <a:rPr lang="en-US" altLang="ja-JP" sz="900">
                <a:solidFill>
                  <a:srgbClr val="000000">
                    <a:lumMod val="65000"/>
                    <a:lumOff val="35000"/>
                  </a:srgbClr>
                </a:solidFill>
                <a:latin typeface="Meiryo UI" panose="020B0604030504040204" pitchFamily="50" charset="-128"/>
                <a:ea typeface="Meiryo UI" panose="020B0604030504040204" pitchFamily="50" charset="-128"/>
              </a:rPr>
              <a:t>1</a:t>
            </a:r>
          </a:p>
        </p:txBody>
      </p:sp>
      <p:sp>
        <p:nvSpPr>
          <p:cNvPr id="12" name="矢印: 五方向 11">
            <a:extLst>
              <a:ext uri="{FF2B5EF4-FFF2-40B4-BE49-F238E27FC236}">
                <a16:creationId xmlns:a16="http://schemas.microsoft.com/office/drawing/2014/main" id="{6A325220-81BB-16BD-BA8D-F86EBE21824D}"/>
              </a:ext>
            </a:extLst>
          </p:cNvPr>
          <p:cNvSpPr/>
          <p:nvPr/>
        </p:nvSpPr>
        <p:spPr>
          <a:xfrm>
            <a:off x="5370494" y="2246921"/>
            <a:ext cx="953540" cy="252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外部結合</a:t>
            </a:r>
            <a:endParaRPr lang="en-US" altLang="ja-JP" sz="900">
              <a:solidFill>
                <a:srgbClr val="000000">
                  <a:lumMod val="65000"/>
                  <a:lumOff val="35000"/>
                </a:srgbClr>
              </a:solidFill>
              <a:latin typeface="Meiryo UI" panose="020B0604030504040204" pitchFamily="50" charset="-128"/>
              <a:ea typeface="Meiryo UI" panose="020B0604030504040204" pitchFamily="50" charset="-128"/>
            </a:endParaRPr>
          </a:p>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テスト</a:t>
            </a:r>
            <a:r>
              <a:rPr lang="en-US" altLang="ja-JP" sz="900">
                <a:solidFill>
                  <a:srgbClr val="000000">
                    <a:lumMod val="65000"/>
                    <a:lumOff val="35000"/>
                  </a:srgbClr>
                </a:solidFill>
                <a:latin typeface="Meiryo UI" panose="020B0604030504040204" pitchFamily="50" charset="-128"/>
                <a:ea typeface="Meiryo UI" panose="020B0604030504040204" pitchFamily="50" charset="-128"/>
              </a:rPr>
              <a:t>2</a:t>
            </a:r>
            <a:endParaRPr lang="ja-JP" altLang="en-US" sz="90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15" name="矢印: 五方向 14">
            <a:extLst>
              <a:ext uri="{FF2B5EF4-FFF2-40B4-BE49-F238E27FC236}">
                <a16:creationId xmlns:a16="http://schemas.microsoft.com/office/drawing/2014/main" id="{D02E32E7-BAEF-05CA-35E3-A69BF8224C21}"/>
              </a:ext>
            </a:extLst>
          </p:cNvPr>
          <p:cNvSpPr/>
          <p:nvPr/>
        </p:nvSpPr>
        <p:spPr>
          <a:xfrm>
            <a:off x="4767867" y="2602341"/>
            <a:ext cx="3168000" cy="2520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7" name="矢印: 五方向 16">
            <a:extLst>
              <a:ext uri="{FF2B5EF4-FFF2-40B4-BE49-F238E27FC236}">
                <a16:creationId xmlns:a16="http://schemas.microsoft.com/office/drawing/2014/main" id="{B819FC64-BCD4-BB5E-AE2C-4501EB0A5CE3}"/>
              </a:ext>
            </a:extLst>
          </p:cNvPr>
          <p:cNvSpPr/>
          <p:nvPr/>
        </p:nvSpPr>
        <p:spPr>
          <a:xfrm>
            <a:off x="6351867" y="2246921"/>
            <a:ext cx="1571733" cy="252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システムテスト、</a:t>
            </a:r>
            <a:endParaRPr lang="en-US" altLang="ja-JP" sz="900">
              <a:solidFill>
                <a:srgbClr val="000000">
                  <a:lumMod val="65000"/>
                  <a:lumOff val="35000"/>
                </a:srgbClr>
              </a:solidFill>
              <a:latin typeface="Meiryo UI" panose="020B0604030504040204" pitchFamily="50" charset="-128"/>
              <a:ea typeface="Meiryo UI" panose="020B0604030504040204" pitchFamily="50" charset="-128"/>
            </a:endParaRPr>
          </a:p>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移行リハ</a:t>
            </a:r>
          </a:p>
        </p:txBody>
      </p:sp>
      <p:sp>
        <p:nvSpPr>
          <p:cNvPr id="46" name="矢印: 五方向 45">
            <a:extLst>
              <a:ext uri="{FF2B5EF4-FFF2-40B4-BE49-F238E27FC236}">
                <a16:creationId xmlns:a16="http://schemas.microsoft.com/office/drawing/2014/main" id="{145D620C-2D8F-717B-376D-2D2F6AE97154}"/>
              </a:ext>
            </a:extLst>
          </p:cNvPr>
          <p:cNvSpPr/>
          <p:nvPr/>
        </p:nvSpPr>
        <p:spPr>
          <a:xfrm>
            <a:off x="7302318" y="2957761"/>
            <a:ext cx="936000" cy="252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UAT</a:t>
            </a:r>
            <a:endPar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48" name="矢印: 五方向 47">
            <a:extLst>
              <a:ext uri="{FF2B5EF4-FFF2-40B4-BE49-F238E27FC236}">
                <a16:creationId xmlns:a16="http://schemas.microsoft.com/office/drawing/2014/main" id="{D51DC171-5FAF-E856-522F-90F0FB446A84}"/>
              </a:ext>
            </a:extLst>
          </p:cNvPr>
          <p:cNvSpPr/>
          <p:nvPr/>
        </p:nvSpPr>
        <p:spPr>
          <a:xfrm>
            <a:off x="7935867" y="2602341"/>
            <a:ext cx="1908000" cy="2520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49" name="矢印: 五方向 48">
            <a:extLst>
              <a:ext uri="{FF2B5EF4-FFF2-40B4-BE49-F238E27FC236}">
                <a16:creationId xmlns:a16="http://schemas.microsoft.com/office/drawing/2014/main" id="{C7C694D6-0A19-762A-1294-EBC3598068EE}"/>
              </a:ext>
            </a:extLst>
          </p:cNvPr>
          <p:cNvSpPr/>
          <p:nvPr/>
        </p:nvSpPr>
        <p:spPr>
          <a:xfrm>
            <a:off x="8248607" y="2246921"/>
            <a:ext cx="636928" cy="2520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バッファ</a:t>
            </a:r>
            <a:endParaRPr lang="en-US" altLang="ja-JP" sz="90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50" name="矢印: 五方向 49">
            <a:extLst>
              <a:ext uri="{FF2B5EF4-FFF2-40B4-BE49-F238E27FC236}">
                <a16:creationId xmlns:a16="http://schemas.microsoft.com/office/drawing/2014/main" id="{A3E1A48C-C349-8736-CDAD-403228A6880F}"/>
              </a:ext>
            </a:extLst>
          </p:cNvPr>
          <p:cNvSpPr/>
          <p:nvPr/>
        </p:nvSpPr>
        <p:spPr>
          <a:xfrm>
            <a:off x="8885534" y="2246921"/>
            <a:ext cx="324000" cy="252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切替</a:t>
            </a:r>
            <a:br>
              <a:rPr lang="en-US" altLang="ja-JP" sz="900">
                <a:solidFill>
                  <a:srgbClr val="000000">
                    <a:lumMod val="65000"/>
                    <a:lumOff val="35000"/>
                  </a:srgbClr>
                </a:solidFill>
                <a:latin typeface="Meiryo UI" panose="020B0604030504040204" pitchFamily="50" charset="-128"/>
                <a:ea typeface="Meiryo UI" panose="020B0604030504040204" pitchFamily="50" charset="-128"/>
              </a:rPr>
            </a:br>
            <a:r>
              <a:rPr lang="ja-JP" altLang="en-US" sz="900">
                <a:solidFill>
                  <a:srgbClr val="000000">
                    <a:lumMod val="65000"/>
                    <a:lumOff val="35000"/>
                  </a:srgbClr>
                </a:solidFill>
                <a:latin typeface="Meiryo UI" panose="020B0604030504040204" pitchFamily="50" charset="-128"/>
                <a:ea typeface="Meiryo UI" panose="020B0604030504040204" pitchFamily="50" charset="-128"/>
              </a:rPr>
              <a:t>準備</a:t>
            </a:r>
          </a:p>
        </p:txBody>
      </p:sp>
      <p:sp>
        <p:nvSpPr>
          <p:cNvPr id="52" name="矢印: 五方向 51">
            <a:extLst>
              <a:ext uri="{FF2B5EF4-FFF2-40B4-BE49-F238E27FC236}">
                <a16:creationId xmlns:a16="http://schemas.microsoft.com/office/drawing/2014/main" id="{3594500A-5CC5-E7F0-DC4F-EA7B33EF3214}"/>
              </a:ext>
            </a:extLst>
          </p:cNvPr>
          <p:cNvSpPr/>
          <p:nvPr/>
        </p:nvSpPr>
        <p:spPr>
          <a:xfrm>
            <a:off x="9198201" y="2957761"/>
            <a:ext cx="1908000" cy="252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業務習熟期間</a:t>
            </a:r>
          </a:p>
        </p:txBody>
      </p:sp>
      <p:sp>
        <p:nvSpPr>
          <p:cNvPr id="53" name="矢印: 五方向 52">
            <a:extLst>
              <a:ext uri="{FF2B5EF4-FFF2-40B4-BE49-F238E27FC236}">
                <a16:creationId xmlns:a16="http://schemas.microsoft.com/office/drawing/2014/main" id="{4F8E48F6-8D35-B2C7-0D5D-C3DFD5D22E54}"/>
              </a:ext>
            </a:extLst>
          </p:cNvPr>
          <p:cNvSpPr/>
          <p:nvPr/>
        </p:nvSpPr>
        <p:spPr>
          <a:xfrm>
            <a:off x="10490717" y="2246921"/>
            <a:ext cx="606339" cy="64342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切替準備</a:t>
            </a:r>
          </a:p>
        </p:txBody>
      </p:sp>
      <p:sp>
        <p:nvSpPr>
          <p:cNvPr id="64" name="矢印: 五方向 63">
            <a:extLst>
              <a:ext uri="{FF2B5EF4-FFF2-40B4-BE49-F238E27FC236}">
                <a16:creationId xmlns:a16="http://schemas.microsoft.com/office/drawing/2014/main" id="{22639720-24AB-398D-0068-025A3C5A9105}"/>
              </a:ext>
            </a:extLst>
          </p:cNvPr>
          <p:cNvSpPr/>
          <p:nvPr/>
        </p:nvSpPr>
        <p:spPr>
          <a:xfrm>
            <a:off x="11106202" y="2566341"/>
            <a:ext cx="317468" cy="64342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900">
                <a:solidFill>
                  <a:srgbClr val="000000">
                    <a:lumMod val="65000"/>
                    <a:lumOff val="35000"/>
                  </a:srgbClr>
                </a:solidFill>
                <a:latin typeface="Meiryo UI" panose="020B0604030504040204" pitchFamily="50" charset="-128"/>
                <a:ea typeface="Meiryo UI" panose="020B0604030504040204" pitchFamily="50" charset="-128"/>
                <a:cs typeface="Hiragino Kaku Gothic Pro W3" charset="-128"/>
              </a:rPr>
              <a:t>期首残高移行</a:t>
            </a:r>
            <a:endPar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cxnSp>
        <p:nvCxnSpPr>
          <p:cNvPr id="66" name="コネクタ: カギ線 65">
            <a:extLst>
              <a:ext uri="{FF2B5EF4-FFF2-40B4-BE49-F238E27FC236}">
                <a16:creationId xmlns:a16="http://schemas.microsoft.com/office/drawing/2014/main" id="{32061003-DF68-218D-7672-B18DEC36F5C5}"/>
              </a:ext>
            </a:extLst>
          </p:cNvPr>
          <p:cNvCxnSpPr>
            <a:cxnSpLocks/>
          </p:cNvCxnSpPr>
          <p:nvPr/>
        </p:nvCxnSpPr>
        <p:spPr>
          <a:xfrm flipV="1">
            <a:off x="4456563" y="2662937"/>
            <a:ext cx="324000" cy="432000"/>
          </a:xfrm>
          <a:prstGeom prst="bentConnector2">
            <a:avLst/>
          </a:prstGeom>
          <a:ln>
            <a:solidFill>
              <a:schemeClr val="tx2">
                <a:lumMod val="50000"/>
                <a:lumOff val="50000"/>
              </a:schemeClr>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69" name="コンテンツ プレースホルダー 1">
            <a:extLst>
              <a:ext uri="{FF2B5EF4-FFF2-40B4-BE49-F238E27FC236}">
                <a16:creationId xmlns:a16="http://schemas.microsoft.com/office/drawing/2014/main" id="{0D5BC9F4-9A38-5339-ABD3-4569063B3415}"/>
              </a:ext>
            </a:extLst>
          </p:cNvPr>
          <p:cNvSpPr txBox="1">
            <a:spLocks/>
          </p:cNvSpPr>
          <p:nvPr/>
        </p:nvSpPr>
        <p:spPr bwMode="auto">
          <a:xfrm>
            <a:off x="11054216" y="2230732"/>
            <a:ext cx="1073638" cy="33378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’26/4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72" name="矢印: 五方向 71">
            <a:extLst>
              <a:ext uri="{FF2B5EF4-FFF2-40B4-BE49-F238E27FC236}">
                <a16:creationId xmlns:a16="http://schemas.microsoft.com/office/drawing/2014/main" id="{726447AE-BA09-085A-E5B2-DDFC898E44A9}"/>
              </a:ext>
            </a:extLst>
          </p:cNvPr>
          <p:cNvSpPr/>
          <p:nvPr/>
        </p:nvSpPr>
        <p:spPr>
          <a:xfrm>
            <a:off x="2850495" y="5013729"/>
            <a:ext cx="252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73" name="矢印: 五方向 72">
            <a:extLst>
              <a:ext uri="{FF2B5EF4-FFF2-40B4-BE49-F238E27FC236}">
                <a16:creationId xmlns:a16="http://schemas.microsoft.com/office/drawing/2014/main" id="{4C90906F-3EF4-C9E2-21D7-389605ACC4C8}"/>
              </a:ext>
            </a:extLst>
          </p:cNvPr>
          <p:cNvSpPr/>
          <p:nvPr/>
        </p:nvSpPr>
        <p:spPr>
          <a:xfrm>
            <a:off x="4128034" y="5413831"/>
            <a:ext cx="1908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75" name="矢印: 五方向 74">
            <a:extLst>
              <a:ext uri="{FF2B5EF4-FFF2-40B4-BE49-F238E27FC236}">
                <a16:creationId xmlns:a16="http://schemas.microsoft.com/office/drawing/2014/main" id="{D911266E-79C1-E2DF-A939-2420DEC395EF}"/>
              </a:ext>
            </a:extLst>
          </p:cNvPr>
          <p:cNvSpPr/>
          <p:nvPr/>
        </p:nvSpPr>
        <p:spPr>
          <a:xfrm>
            <a:off x="10485573" y="5013729"/>
            <a:ext cx="612000" cy="252000"/>
          </a:xfrm>
          <a:prstGeom prst="homePlate">
            <a:avLst>
              <a:gd name="adj" fmla="val 20720"/>
            </a:avLst>
          </a:prstGeom>
          <a:solidFill>
            <a:schemeClr val="bg1">
              <a:lumMod val="95000"/>
            </a:schemeClr>
          </a:solidFill>
          <a:ln w="9525" cap="flat" cmpd="sng" algn="ctr">
            <a:solidFill>
              <a:srgbClr val="FFFFFF">
                <a:lumMod val="50000"/>
              </a:srgbClr>
            </a:solidFill>
            <a:prstDash val="lgDash"/>
          </a:ln>
          <a:effectLst/>
        </p:spPr>
        <p:txBody>
          <a:bodyPr vert="horz" wrap="none" lIns="3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移行準備</a:t>
            </a:r>
          </a:p>
        </p:txBody>
      </p:sp>
      <p:sp>
        <p:nvSpPr>
          <p:cNvPr id="76" name="矢印: 五方向 75">
            <a:extLst>
              <a:ext uri="{FF2B5EF4-FFF2-40B4-BE49-F238E27FC236}">
                <a16:creationId xmlns:a16="http://schemas.microsoft.com/office/drawing/2014/main" id="{4A66097B-6179-B319-1448-695E32F868ED}"/>
              </a:ext>
            </a:extLst>
          </p:cNvPr>
          <p:cNvSpPr/>
          <p:nvPr/>
        </p:nvSpPr>
        <p:spPr>
          <a:xfrm>
            <a:off x="7940593" y="5013729"/>
            <a:ext cx="190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fontAlgn="auto">
              <a:lnSpc>
                <a:spcPts val="1000"/>
              </a:lnSpc>
              <a:spcBef>
                <a:spcPts val="0"/>
              </a:spcBef>
              <a:spcAft>
                <a:spcPts val="0"/>
              </a:spcAft>
              <a:defRPr/>
            </a:pPr>
            <a:r>
              <a:rPr kumimoji="0" lang="ja-JP" altLang="en-US" sz="900" kern="0">
                <a:solidFill>
                  <a:srgbClr val="000000">
                    <a:lumMod val="65000"/>
                    <a:lumOff val="35000"/>
                  </a:srgbClr>
                </a:solidFill>
                <a:latin typeface="Meiryo UI"/>
                <a:ea typeface="Meiryo UI"/>
              </a:rPr>
              <a:t>外結テスト、システムテスト</a:t>
            </a:r>
          </a:p>
        </p:txBody>
      </p:sp>
      <p:sp>
        <p:nvSpPr>
          <p:cNvPr id="77" name="矢印: 五方向 76">
            <a:extLst>
              <a:ext uri="{FF2B5EF4-FFF2-40B4-BE49-F238E27FC236}">
                <a16:creationId xmlns:a16="http://schemas.microsoft.com/office/drawing/2014/main" id="{37E5CB06-3EAD-FC4A-1AF3-829A309A5802}"/>
              </a:ext>
            </a:extLst>
          </p:cNvPr>
          <p:cNvSpPr/>
          <p:nvPr/>
        </p:nvSpPr>
        <p:spPr>
          <a:xfrm>
            <a:off x="6027867" y="5413831"/>
            <a:ext cx="324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lIns="0" r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外結</a:t>
            </a:r>
          </a:p>
        </p:txBody>
      </p:sp>
      <p:sp>
        <p:nvSpPr>
          <p:cNvPr id="79" name="矢印: 五方向 78">
            <a:extLst>
              <a:ext uri="{FF2B5EF4-FFF2-40B4-BE49-F238E27FC236}">
                <a16:creationId xmlns:a16="http://schemas.microsoft.com/office/drawing/2014/main" id="{0F0F96B0-0B7C-96AE-2C41-EA857AE66D22}"/>
              </a:ext>
            </a:extLst>
          </p:cNvPr>
          <p:cNvSpPr/>
          <p:nvPr/>
        </p:nvSpPr>
        <p:spPr>
          <a:xfrm>
            <a:off x="2850495" y="6120214"/>
            <a:ext cx="1908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80" name="矢印: 五方向 79">
            <a:extLst>
              <a:ext uri="{FF2B5EF4-FFF2-40B4-BE49-F238E27FC236}">
                <a16:creationId xmlns:a16="http://schemas.microsoft.com/office/drawing/2014/main" id="{3700B6BC-6121-2C89-C29B-2E4BB053E06D}"/>
              </a:ext>
            </a:extLst>
          </p:cNvPr>
          <p:cNvSpPr/>
          <p:nvPr/>
        </p:nvSpPr>
        <p:spPr>
          <a:xfrm>
            <a:off x="1571914" y="6120214"/>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要件定義</a:t>
            </a:r>
          </a:p>
        </p:txBody>
      </p:sp>
      <p:sp>
        <p:nvSpPr>
          <p:cNvPr id="81" name="矢印: 五方向 80">
            <a:extLst>
              <a:ext uri="{FF2B5EF4-FFF2-40B4-BE49-F238E27FC236}">
                <a16:creationId xmlns:a16="http://schemas.microsoft.com/office/drawing/2014/main" id="{E010356A-2B37-DF79-6C9A-ABBCEF41BD0C}"/>
              </a:ext>
            </a:extLst>
          </p:cNvPr>
          <p:cNvSpPr/>
          <p:nvPr/>
        </p:nvSpPr>
        <p:spPr>
          <a:xfrm>
            <a:off x="4755600" y="6120214"/>
            <a:ext cx="316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外結テスト、システムテスト</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82" name="矢印: 五方向 81">
            <a:extLst>
              <a:ext uri="{FF2B5EF4-FFF2-40B4-BE49-F238E27FC236}">
                <a16:creationId xmlns:a16="http://schemas.microsoft.com/office/drawing/2014/main" id="{785C7691-60B4-35A3-AA78-A43E6A9A161B}"/>
              </a:ext>
            </a:extLst>
          </p:cNvPr>
          <p:cNvSpPr/>
          <p:nvPr/>
        </p:nvSpPr>
        <p:spPr>
          <a:xfrm>
            <a:off x="10485573" y="6120214"/>
            <a:ext cx="612000" cy="252000"/>
          </a:xfrm>
          <a:prstGeom prst="homePlate">
            <a:avLst>
              <a:gd name="adj" fmla="val 20720"/>
            </a:avLst>
          </a:prstGeom>
          <a:solidFill>
            <a:schemeClr val="bg1">
              <a:lumMod val="95000"/>
            </a:schemeClr>
          </a:solidFill>
          <a:ln w="9525" cap="flat" cmpd="sng" algn="ctr">
            <a:solidFill>
              <a:srgbClr val="FFFFFF">
                <a:lumMod val="50000"/>
              </a:srgbClr>
            </a:solidFill>
            <a:prstDash val="lgDash"/>
          </a:ln>
          <a:effectLst/>
        </p:spPr>
        <p:txBody>
          <a:bodyPr vert="horz" wrap="none" lIns="3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移行準備</a:t>
            </a:r>
          </a:p>
        </p:txBody>
      </p:sp>
      <p:sp>
        <p:nvSpPr>
          <p:cNvPr id="83" name="矢印: 五方向 82">
            <a:extLst>
              <a:ext uri="{FF2B5EF4-FFF2-40B4-BE49-F238E27FC236}">
                <a16:creationId xmlns:a16="http://schemas.microsoft.com/office/drawing/2014/main" id="{26A210C3-655F-89D2-157D-6A73BD4A566A}"/>
              </a:ext>
            </a:extLst>
          </p:cNvPr>
          <p:cNvSpPr/>
          <p:nvPr/>
        </p:nvSpPr>
        <p:spPr>
          <a:xfrm>
            <a:off x="7940593" y="6120214"/>
            <a:ext cx="190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marL="0" marR="0" lvl="0" indent="0" defTabSz="914400" eaLnBrk="1" fontAlgn="auto" latinLnBrk="0" hangingPunct="1">
              <a:lnSpc>
                <a:spcPts val="1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外結テスト、システムテスト</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84" name="矢印: 五方向 83">
            <a:extLst>
              <a:ext uri="{FF2B5EF4-FFF2-40B4-BE49-F238E27FC236}">
                <a16:creationId xmlns:a16="http://schemas.microsoft.com/office/drawing/2014/main" id="{741B52E9-8607-3E1C-832B-02A08A9C0748}"/>
              </a:ext>
            </a:extLst>
          </p:cNvPr>
          <p:cNvSpPr/>
          <p:nvPr/>
        </p:nvSpPr>
        <p:spPr>
          <a:xfrm>
            <a:off x="5388034" y="5744853"/>
            <a:ext cx="936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0" r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外結テスト</a:t>
            </a:r>
            <a: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2</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85" name="矢印: 五方向 61">
            <a:extLst>
              <a:ext uri="{FF2B5EF4-FFF2-40B4-BE49-F238E27FC236}">
                <a16:creationId xmlns:a16="http://schemas.microsoft.com/office/drawing/2014/main" id="{7E94D4C7-6643-1EB7-94C7-14E407C10DC8}"/>
              </a:ext>
            </a:extLst>
          </p:cNvPr>
          <p:cNvSpPr/>
          <p:nvPr/>
        </p:nvSpPr>
        <p:spPr>
          <a:xfrm>
            <a:off x="7940593" y="5744853"/>
            <a:ext cx="936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3600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mn-cs"/>
              </a:rPr>
              <a:t>バッファ</a:t>
            </a:r>
          </a:p>
        </p:txBody>
      </p:sp>
      <p:sp>
        <p:nvSpPr>
          <p:cNvPr id="86" name="矢印: 五方向 61">
            <a:extLst>
              <a:ext uri="{FF2B5EF4-FFF2-40B4-BE49-F238E27FC236}">
                <a16:creationId xmlns:a16="http://schemas.microsoft.com/office/drawing/2014/main" id="{ACCEA91B-B66D-3DDC-376B-95CED14DFAF1}"/>
              </a:ext>
            </a:extLst>
          </p:cNvPr>
          <p:cNvSpPr/>
          <p:nvPr/>
        </p:nvSpPr>
        <p:spPr>
          <a:xfrm>
            <a:off x="8885535" y="5744853"/>
            <a:ext cx="324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3600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切替</a:t>
            </a:r>
            <a:b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準備</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p:txBody>
      </p:sp>
      <p:sp>
        <p:nvSpPr>
          <p:cNvPr id="87" name="矢印: 五方向 86">
            <a:extLst>
              <a:ext uri="{FF2B5EF4-FFF2-40B4-BE49-F238E27FC236}">
                <a16:creationId xmlns:a16="http://schemas.microsoft.com/office/drawing/2014/main" id="{17B5EB75-9555-DA31-F032-8BE2536614B3}"/>
              </a:ext>
            </a:extLst>
          </p:cNvPr>
          <p:cNvSpPr/>
          <p:nvPr/>
        </p:nvSpPr>
        <p:spPr>
          <a:xfrm>
            <a:off x="6356593" y="5744853"/>
            <a:ext cx="1584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0" rIns="0" rtlCol="0" anchor="ctr"/>
          <a:lstStyle/>
          <a:p>
            <a:pPr fontAlgn="auto">
              <a:lnSpc>
                <a:spcPts val="1000"/>
              </a:lnSpc>
              <a:spcBef>
                <a:spcPts val="0"/>
              </a:spcBef>
              <a:spcAft>
                <a:spcPts val="0"/>
              </a:spcAft>
              <a:defRPr/>
            </a:pPr>
            <a:r>
              <a:rPr kumimoji="0" lang="ja-JP" altLang="en-US" sz="900" kern="0">
                <a:solidFill>
                  <a:srgbClr val="000000">
                    <a:lumMod val="65000"/>
                    <a:lumOff val="35000"/>
                  </a:srgbClr>
                </a:solidFill>
                <a:latin typeface="Meiryo UI"/>
                <a:ea typeface="Meiryo UI"/>
              </a:rPr>
              <a:t>システムテスト、</a:t>
            </a:r>
            <a:br>
              <a:rPr kumimoji="0" lang="en-US" altLang="ja-JP" sz="900" kern="0">
                <a:solidFill>
                  <a:srgbClr val="000000">
                    <a:lumMod val="65000"/>
                    <a:lumOff val="35000"/>
                  </a:srgbClr>
                </a:solidFill>
                <a:latin typeface="Meiryo UI"/>
                <a:ea typeface="Meiryo UI"/>
              </a:rPr>
            </a:br>
            <a:r>
              <a:rPr kumimoji="0" lang="ja-JP" altLang="en-US" sz="900" kern="0">
                <a:solidFill>
                  <a:srgbClr val="000000">
                    <a:lumMod val="65000"/>
                    <a:lumOff val="35000"/>
                  </a:srgbClr>
                </a:solidFill>
                <a:latin typeface="Meiryo UI"/>
                <a:ea typeface="Meiryo UI"/>
              </a:rPr>
              <a:t>移行リハ</a:t>
            </a:r>
            <a:endParaRPr kumimoji="0" lang="en-US" altLang="ja-JP" sz="900" kern="0">
              <a:solidFill>
                <a:srgbClr val="000000">
                  <a:lumMod val="65000"/>
                  <a:lumOff val="35000"/>
                </a:srgbClr>
              </a:solidFill>
              <a:latin typeface="Meiryo UI"/>
              <a:ea typeface="Meiryo UI"/>
            </a:endParaRPr>
          </a:p>
        </p:txBody>
      </p:sp>
      <p:sp>
        <p:nvSpPr>
          <p:cNvPr id="88" name="矢印: 五方向 87">
            <a:extLst>
              <a:ext uri="{FF2B5EF4-FFF2-40B4-BE49-F238E27FC236}">
                <a16:creationId xmlns:a16="http://schemas.microsoft.com/office/drawing/2014/main" id="{4F50A223-ED26-C03C-917E-8145CEE1E0EC}"/>
              </a:ext>
            </a:extLst>
          </p:cNvPr>
          <p:cNvSpPr/>
          <p:nvPr/>
        </p:nvSpPr>
        <p:spPr>
          <a:xfrm>
            <a:off x="4755600" y="5744853"/>
            <a:ext cx="612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0" r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外結</a:t>
            </a:r>
            <a:r>
              <a:rPr kumimoji="0" lang="ja-JP" altLang="en-US" sz="900" kern="0">
                <a:solidFill>
                  <a:srgbClr val="000000">
                    <a:lumMod val="65000"/>
                    <a:lumOff val="35000"/>
                  </a:srgbClr>
                </a:solidFill>
                <a:latin typeface="Meiryo UI"/>
                <a:ea typeface="Meiryo UI"/>
                <a:cs typeface="Hiragino Kaku Gothic Pro W3" charset="-128"/>
              </a:rPr>
              <a:t>テスト</a:t>
            </a:r>
            <a: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1</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89" name="スライド番号プレースホルダー 3">
            <a:extLst>
              <a:ext uri="{FF2B5EF4-FFF2-40B4-BE49-F238E27FC236}">
                <a16:creationId xmlns:a16="http://schemas.microsoft.com/office/drawing/2014/main" id="{714F76E0-B4CF-19BC-AA92-2D0FF9028695}"/>
              </a:ext>
            </a:extLst>
          </p:cNvPr>
          <p:cNvSpPr>
            <a:spLocks noGrp="1"/>
          </p:cNvSpPr>
          <p:nvPr>
            <p:ph type="sldNum" sz="quarter" idx="10"/>
          </p:nvPr>
        </p:nvSpPr>
        <p:spPr>
          <a:xfrm>
            <a:off x="4804833" y="6627168"/>
            <a:ext cx="2540000" cy="230832"/>
          </a:xfrm>
        </p:spPr>
        <p:txBody>
          <a:bodyPr/>
          <a:lstStyle/>
          <a:p>
            <a:pPr>
              <a:defRPr/>
            </a:pPr>
            <a:fld id="{EB72A429-DDC7-41CC-AC2C-79132BE59620}" type="slidenum">
              <a:rPr lang="en-US" altLang="ja-JP" smtClean="0"/>
              <a:pPr>
                <a:defRPr/>
              </a:pPr>
              <a:t>36</a:t>
            </a:fld>
            <a:endParaRPr lang="en-US" altLang="ja-JP"/>
          </a:p>
        </p:txBody>
      </p:sp>
      <p:sp>
        <p:nvSpPr>
          <p:cNvPr id="91" name="正方形/長方形 90">
            <a:extLst>
              <a:ext uri="{FF2B5EF4-FFF2-40B4-BE49-F238E27FC236}">
                <a16:creationId xmlns:a16="http://schemas.microsoft.com/office/drawing/2014/main" id="{C911A8E3-BB6F-CFDF-CDF1-0F6D43BD20B6}"/>
              </a:ext>
            </a:extLst>
          </p:cNvPr>
          <p:cNvSpPr/>
          <p:nvPr/>
        </p:nvSpPr>
        <p:spPr>
          <a:xfrm>
            <a:off x="84324" y="3238685"/>
            <a:ext cx="11992711" cy="3255613"/>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lIns="44308" tIns="44308" rIns="44308" bIns="44308" rtlCol="0" anchor="ctr"/>
          <a:lstStyle/>
          <a:p>
            <a:pPr algn="l"/>
            <a:endParaRPr kumimoji="1" lang="ja-JP" altLang="en-US" sz="1000">
              <a:solidFill>
                <a:prstClr val="black"/>
              </a:solidFill>
              <a:latin typeface="MS UI Gothic" panose="020B0600070205080204" pitchFamily="34" charset="-128"/>
              <a:ea typeface="MS UI Gothic" panose="020B0600070205080204" pitchFamily="34" charset="-128"/>
              <a:sym typeface="MS UI Gothic" panose="020B0600070205080204" pitchFamily="34" charset="-128"/>
            </a:endParaRPr>
          </a:p>
        </p:txBody>
      </p:sp>
      <p:sp>
        <p:nvSpPr>
          <p:cNvPr id="25" name="コンテンツ プレースホルダー 1">
            <a:extLst>
              <a:ext uri="{FF2B5EF4-FFF2-40B4-BE49-F238E27FC236}">
                <a16:creationId xmlns:a16="http://schemas.microsoft.com/office/drawing/2014/main" id="{7C869EE5-7B22-A8D5-B93C-BBF35FC8EEB1}"/>
              </a:ext>
            </a:extLst>
          </p:cNvPr>
          <p:cNvSpPr txBox="1">
            <a:spLocks/>
          </p:cNvSpPr>
          <p:nvPr/>
        </p:nvSpPr>
        <p:spPr bwMode="auto">
          <a:xfrm>
            <a:off x="9159689" y="5729010"/>
            <a:ext cx="1742400" cy="31417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’25/10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36" name="コンテンツ プレースホルダー 1">
            <a:extLst>
              <a:ext uri="{FF2B5EF4-FFF2-40B4-BE49-F238E27FC236}">
                <a16:creationId xmlns:a16="http://schemas.microsoft.com/office/drawing/2014/main" id="{F986EF59-EED1-2FDF-6131-D77ED7623276}"/>
              </a:ext>
            </a:extLst>
          </p:cNvPr>
          <p:cNvSpPr txBox="1">
            <a:spLocks/>
          </p:cNvSpPr>
          <p:nvPr/>
        </p:nvSpPr>
        <p:spPr bwMode="auto">
          <a:xfrm>
            <a:off x="11054216" y="3326521"/>
            <a:ext cx="1073638" cy="33378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’26/4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37" name="コンテンツ プレースホルダー 1">
            <a:extLst>
              <a:ext uri="{FF2B5EF4-FFF2-40B4-BE49-F238E27FC236}">
                <a16:creationId xmlns:a16="http://schemas.microsoft.com/office/drawing/2014/main" id="{E011D5CB-AF3F-33F9-B7F4-6803C650F5F2}"/>
              </a:ext>
            </a:extLst>
          </p:cNvPr>
          <p:cNvSpPr txBox="1">
            <a:spLocks/>
          </p:cNvSpPr>
          <p:nvPr/>
        </p:nvSpPr>
        <p:spPr bwMode="auto">
          <a:xfrm>
            <a:off x="11054216" y="4409652"/>
            <a:ext cx="1073638" cy="33378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’26/4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38" name="コンテンツ プレースホルダー 1">
            <a:extLst>
              <a:ext uri="{FF2B5EF4-FFF2-40B4-BE49-F238E27FC236}">
                <a16:creationId xmlns:a16="http://schemas.microsoft.com/office/drawing/2014/main" id="{31AF8AA1-A4EA-F808-8791-78D4029293E5}"/>
              </a:ext>
            </a:extLst>
          </p:cNvPr>
          <p:cNvSpPr txBox="1">
            <a:spLocks/>
          </p:cNvSpPr>
          <p:nvPr/>
        </p:nvSpPr>
        <p:spPr bwMode="auto">
          <a:xfrm>
            <a:off x="11054216" y="4963622"/>
            <a:ext cx="1073638" cy="33378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’26/4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40" name="コンテンツ プレースホルダー 1">
            <a:extLst>
              <a:ext uri="{FF2B5EF4-FFF2-40B4-BE49-F238E27FC236}">
                <a16:creationId xmlns:a16="http://schemas.microsoft.com/office/drawing/2014/main" id="{344F1357-13AF-969C-E1D2-D5989C0234FB}"/>
              </a:ext>
            </a:extLst>
          </p:cNvPr>
          <p:cNvSpPr txBox="1">
            <a:spLocks/>
          </p:cNvSpPr>
          <p:nvPr/>
        </p:nvSpPr>
        <p:spPr bwMode="auto">
          <a:xfrm>
            <a:off x="11067688" y="6053999"/>
            <a:ext cx="1080000" cy="24925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’26/4  </a:t>
            </a:r>
            <a:br>
              <a:rPr lang="en-US" altLang="ja-JP" sz="1000" b="1" kern="0">
                <a:solidFill>
                  <a:srgbClr val="C00000"/>
                </a:solidFill>
                <a:latin typeface="Meiryo UI"/>
                <a:ea typeface="Meiryo UI"/>
                <a:cs typeface="Arial"/>
              </a:rPr>
            </a:br>
            <a:r>
              <a:rPr lang="ja-JP" altLang="en-US" sz="1000" b="1" kern="0">
                <a:solidFill>
                  <a:srgbClr val="C00000"/>
                </a:solidFill>
                <a:latin typeface="Meiryo UI"/>
                <a:ea typeface="Meiryo UI"/>
                <a:cs typeface="Arial"/>
              </a:rPr>
              <a:t>　　リリース・移行</a:t>
            </a:r>
            <a:endParaRPr lang="en-US" altLang="ja-JP" sz="1000" b="1" kern="0">
              <a:solidFill>
                <a:srgbClr val="C00000"/>
              </a:solidFill>
              <a:latin typeface="Meiryo UI"/>
              <a:ea typeface="Meiryo UI"/>
              <a:cs typeface="Arial"/>
            </a:endParaRPr>
          </a:p>
        </p:txBody>
      </p:sp>
      <p:grpSp>
        <p:nvGrpSpPr>
          <p:cNvPr id="62" name="グループ化 61">
            <a:extLst>
              <a:ext uri="{FF2B5EF4-FFF2-40B4-BE49-F238E27FC236}">
                <a16:creationId xmlns:a16="http://schemas.microsoft.com/office/drawing/2014/main" id="{B2FD7975-9CEE-921D-34C1-021D30B4048F}"/>
              </a:ext>
            </a:extLst>
          </p:cNvPr>
          <p:cNvGrpSpPr/>
          <p:nvPr/>
        </p:nvGrpSpPr>
        <p:grpSpPr>
          <a:xfrm>
            <a:off x="10030889" y="841633"/>
            <a:ext cx="2053223" cy="752115"/>
            <a:chOff x="9540361" y="1606878"/>
            <a:chExt cx="2053223" cy="752115"/>
          </a:xfrm>
        </p:grpSpPr>
        <p:grpSp>
          <p:nvGrpSpPr>
            <p:cNvPr id="51" name="グループ化 50">
              <a:extLst>
                <a:ext uri="{FF2B5EF4-FFF2-40B4-BE49-F238E27FC236}">
                  <a16:creationId xmlns:a16="http://schemas.microsoft.com/office/drawing/2014/main" id="{0D342B3D-5CCE-E24C-511A-4F8A3F0153A5}"/>
                </a:ext>
              </a:extLst>
            </p:cNvPr>
            <p:cNvGrpSpPr/>
            <p:nvPr/>
          </p:nvGrpSpPr>
          <p:grpSpPr>
            <a:xfrm>
              <a:off x="9540361" y="1606878"/>
              <a:ext cx="2053223" cy="752115"/>
              <a:chOff x="9726478" y="1493590"/>
              <a:chExt cx="1826626" cy="752115"/>
            </a:xfrm>
          </p:grpSpPr>
          <p:sp>
            <p:nvSpPr>
              <p:cNvPr id="55" name="正方形/長方形 54">
                <a:extLst>
                  <a:ext uri="{FF2B5EF4-FFF2-40B4-BE49-F238E27FC236}">
                    <a16:creationId xmlns:a16="http://schemas.microsoft.com/office/drawing/2014/main" id="{F145E720-E70D-9611-DCA8-B71ED0826E2C}"/>
                  </a:ext>
                </a:extLst>
              </p:cNvPr>
              <p:cNvSpPr/>
              <p:nvPr/>
            </p:nvSpPr>
            <p:spPr>
              <a:xfrm>
                <a:off x="9726478" y="1493590"/>
                <a:ext cx="1826626" cy="752115"/>
              </a:xfrm>
              <a:prstGeom prst="rect">
                <a:avLst/>
              </a:prstGeom>
              <a:solidFill>
                <a:schemeClr val="bg1"/>
              </a:solid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t"/>
              <a:lstStyle/>
              <a:p>
                <a:r>
                  <a:rPr lang="en-US" altLang="ja-JP" sz="1050" b="1">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a:t>
                </a:r>
                <a:r>
                  <a:rPr lang="ja-JP" altLang="en-US" sz="1050" b="1">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凡例</a:t>
                </a:r>
                <a:r>
                  <a:rPr lang="en-US" altLang="ja-JP" sz="1050" b="1">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a:t>
                </a:r>
                <a:endParaRPr kumimoji="1" lang="ja-JP" altLang="en-US" sz="1050" b="1">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sp>
            <p:nvSpPr>
              <p:cNvPr id="56" name="正方形/長方形 55">
                <a:extLst>
                  <a:ext uri="{FF2B5EF4-FFF2-40B4-BE49-F238E27FC236}">
                    <a16:creationId xmlns:a16="http://schemas.microsoft.com/office/drawing/2014/main" id="{61DCD7C3-7B3F-4FF0-B4F9-B238AB7E4028}"/>
                  </a:ext>
                </a:extLst>
              </p:cNvPr>
              <p:cNvSpPr/>
              <p:nvPr/>
            </p:nvSpPr>
            <p:spPr>
              <a:xfrm>
                <a:off x="9820421" y="1681762"/>
                <a:ext cx="1687654" cy="532697"/>
              </a:xfrm>
              <a:prstGeom prst="rect">
                <a:avLst/>
              </a:prstGeom>
              <a:no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000" kern="0">
                    <a:solidFill>
                      <a:schemeClr val="accent2"/>
                    </a:solidFill>
                    <a:latin typeface="Meiryo UI" panose="020B0604030504040204" pitchFamily="50" charset="-128"/>
                    <a:ea typeface="Meiryo UI" panose="020B0604030504040204" pitchFamily="50" charset="-128"/>
                  </a:rPr>
                  <a:t>　　　</a:t>
                </a:r>
                <a:r>
                  <a:rPr kumimoji="0" lang="ja-JP" altLang="en-US" sz="1000" b="0" i="0" u="none" strike="noStrike" kern="0" cap="none" spc="0" normalizeH="0" baseline="0" noProof="0">
                    <a:ln>
                      <a:noFill/>
                    </a:ln>
                    <a:solidFill>
                      <a:schemeClr val="tx1">
                        <a:lumMod val="65000"/>
                        <a:lumOff val="35000"/>
                      </a:schemeClr>
                    </a:solidFill>
                    <a:effectLst/>
                    <a:uLnTx/>
                    <a:uFillTx/>
                    <a:latin typeface="Meiryo UI" panose="020B0604030504040204" pitchFamily="50" charset="-128"/>
                    <a:ea typeface="Meiryo UI" panose="020B0604030504040204" pitchFamily="50" charset="-128"/>
                  </a:rPr>
                  <a:t>：確定スケジュール</a:t>
                </a:r>
                <a:endParaRPr kumimoji="0" lang="en-US" altLang="ja-JP" sz="1000" kern="0">
                  <a:solidFill>
                    <a:schemeClr val="tx1">
                      <a:lumMod val="65000"/>
                      <a:lumOff val="35000"/>
                    </a:schemeClr>
                  </a:solidFill>
                  <a:latin typeface="Meiryo UI" panose="020B0604030504040204" pitchFamily="50" charset="-128"/>
                  <a:ea typeface="Meiryo UI" panose="020B0604030504040204" pitchFamily="50" charset="-128"/>
                </a:endParaRPr>
              </a:p>
              <a:p>
                <a:pPr marR="0" lvl="0" algn="l" defTabSz="914400" rtl="0" eaLnBrk="1" fontAlgn="auto" latinLnBrk="0" hangingPunct="1">
                  <a:lnSpc>
                    <a:spcPct val="100000"/>
                  </a:lnSpc>
                  <a:spcBef>
                    <a:spcPts val="0"/>
                  </a:spcBef>
                  <a:spcAft>
                    <a:spcPts val="0"/>
                  </a:spcAft>
                  <a:buClrTx/>
                  <a:buSzTx/>
                  <a:tabLst/>
                  <a:defRPr/>
                </a:pPr>
                <a:r>
                  <a:rPr kumimoji="0" lang="ja-JP" altLang="en-US" sz="1000" kern="0">
                    <a:solidFill>
                      <a:schemeClr val="tx1">
                        <a:lumMod val="65000"/>
                        <a:lumOff val="35000"/>
                      </a:schemeClr>
                    </a:solidFill>
                    <a:latin typeface="Meiryo UI" panose="020B0604030504040204" pitchFamily="50" charset="-128"/>
                    <a:ea typeface="Meiryo UI" panose="020B0604030504040204" pitchFamily="50" charset="-128"/>
                  </a:rPr>
                  <a:t>　　　：仮のスケジュール</a:t>
                </a:r>
                <a:br>
                  <a:rPr kumimoji="0" lang="en-US" altLang="ja-JP" sz="1000" kern="0">
                    <a:solidFill>
                      <a:schemeClr val="tx1">
                        <a:lumMod val="65000"/>
                        <a:lumOff val="35000"/>
                      </a:schemeClr>
                    </a:solidFill>
                    <a:latin typeface="Meiryo UI" panose="020B0604030504040204" pitchFamily="50" charset="-128"/>
                    <a:ea typeface="Meiryo UI" panose="020B0604030504040204" pitchFamily="50" charset="-128"/>
                  </a:rPr>
                </a:br>
                <a:r>
                  <a:rPr kumimoji="0" lang="ja-JP" altLang="en-US" sz="1000" kern="0">
                    <a:solidFill>
                      <a:schemeClr val="tx1">
                        <a:lumMod val="65000"/>
                        <a:lumOff val="35000"/>
                      </a:schemeClr>
                    </a:solidFill>
                    <a:latin typeface="Meiryo UI" panose="020B0604030504040204" pitchFamily="50" charset="-128"/>
                    <a:ea typeface="Meiryo UI" panose="020B0604030504040204" pitchFamily="50" charset="-128"/>
                  </a:rPr>
                  <a:t>　　　　 </a:t>
                </a:r>
                <a:r>
                  <a:rPr kumimoji="0" lang="en-US" altLang="ja-JP" sz="1000" kern="0">
                    <a:solidFill>
                      <a:schemeClr val="tx1">
                        <a:lumMod val="65000"/>
                        <a:lumOff val="35000"/>
                      </a:schemeClr>
                    </a:solidFill>
                    <a:latin typeface="Meiryo UI" panose="020B0604030504040204" pitchFamily="50" charset="-128"/>
                    <a:ea typeface="Meiryo UI" panose="020B0604030504040204" pitchFamily="50" charset="-128"/>
                  </a:rPr>
                  <a:t>(</a:t>
                </a:r>
                <a:r>
                  <a:rPr kumimoji="0" lang="ja-JP" altLang="en-US" sz="1000" kern="0">
                    <a:solidFill>
                      <a:schemeClr val="tx1">
                        <a:lumMod val="65000"/>
                        <a:lumOff val="35000"/>
                      </a:schemeClr>
                    </a:solidFill>
                    <a:latin typeface="Meiryo UI" panose="020B0604030504040204" pitchFamily="50" charset="-128"/>
                    <a:ea typeface="Meiryo UI" panose="020B0604030504040204" pitchFamily="50" charset="-128"/>
                  </a:rPr>
                  <a:t>本線の計画次第のため</a:t>
                </a:r>
                <a:r>
                  <a:rPr kumimoji="0" lang="en-US" altLang="ja-JP" sz="1000" kern="0">
                    <a:solidFill>
                      <a:schemeClr val="tx1">
                        <a:lumMod val="65000"/>
                        <a:lumOff val="35000"/>
                      </a:schemeClr>
                    </a:solidFill>
                    <a:latin typeface="Meiryo UI" panose="020B0604030504040204" pitchFamily="50" charset="-128"/>
                    <a:ea typeface="Meiryo UI" panose="020B0604030504040204" pitchFamily="50" charset="-128"/>
                  </a:rPr>
                  <a:t>)</a:t>
                </a:r>
                <a:endParaRPr kumimoji="0" lang="ja-JP" altLang="en-US" sz="800" b="0" i="0" u="none" strike="noStrike" kern="0" cap="none" spc="0" normalizeH="0" baseline="0" noProof="0">
                  <a:ln>
                    <a:noFill/>
                  </a:ln>
                  <a:solidFill>
                    <a:schemeClr val="tx1">
                      <a:lumMod val="65000"/>
                      <a:lumOff val="35000"/>
                    </a:schemeClr>
                  </a:solidFill>
                  <a:effectLst/>
                  <a:uLnTx/>
                  <a:uFillTx/>
                  <a:latin typeface="Meiryo UI" panose="020B0604030504040204" pitchFamily="50" charset="-128"/>
                  <a:ea typeface="Meiryo UI" panose="020B0604030504040204" pitchFamily="50" charset="-128"/>
                </a:endParaRPr>
              </a:p>
            </p:txBody>
          </p:sp>
        </p:grpSp>
        <p:sp>
          <p:nvSpPr>
            <p:cNvPr id="59" name="矢印: 五方向 61">
              <a:extLst>
                <a:ext uri="{FF2B5EF4-FFF2-40B4-BE49-F238E27FC236}">
                  <a16:creationId xmlns:a16="http://schemas.microsoft.com/office/drawing/2014/main" id="{D31ADC27-FBB6-EE28-9926-9E2CE503C70D}"/>
                </a:ext>
              </a:extLst>
            </p:cNvPr>
            <p:cNvSpPr/>
            <p:nvPr/>
          </p:nvSpPr>
          <p:spPr>
            <a:xfrm>
              <a:off x="9588267" y="1990098"/>
              <a:ext cx="410829" cy="130547"/>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3600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mn-cs"/>
                </a:rPr>
                <a:t>XXXX</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p:txBody>
        </p:sp>
        <p:sp>
          <p:nvSpPr>
            <p:cNvPr id="61" name="矢印: 五方向 61">
              <a:extLst>
                <a:ext uri="{FF2B5EF4-FFF2-40B4-BE49-F238E27FC236}">
                  <a16:creationId xmlns:a16="http://schemas.microsoft.com/office/drawing/2014/main" id="{B49ED98C-7157-B7D2-69E4-25A85B109580}"/>
                </a:ext>
              </a:extLst>
            </p:cNvPr>
            <p:cNvSpPr/>
            <p:nvPr/>
          </p:nvSpPr>
          <p:spPr>
            <a:xfrm>
              <a:off x="9588267" y="1832822"/>
              <a:ext cx="410829" cy="130547"/>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lIns="3600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mn-cs"/>
                </a:rPr>
                <a:t>XXXX</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p:txBody>
        </p:sp>
      </p:grpSp>
      <p:sp>
        <p:nvSpPr>
          <p:cNvPr id="63" name="矢印: 五方向 62">
            <a:extLst>
              <a:ext uri="{FF2B5EF4-FFF2-40B4-BE49-F238E27FC236}">
                <a16:creationId xmlns:a16="http://schemas.microsoft.com/office/drawing/2014/main" id="{8D6B915C-DCC4-80C3-6D46-55D453509F6F}"/>
              </a:ext>
            </a:extLst>
          </p:cNvPr>
          <p:cNvSpPr/>
          <p:nvPr/>
        </p:nvSpPr>
        <p:spPr>
          <a:xfrm>
            <a:off x="2850495" y="5744853"/>
            <a:ext cx="1908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65" name="矢印: 五方向 64">
            <a:extLst>
              <a:ext uri="{FF2B5EF4-FFF2-40B4-BE49-F238E27FC236}">
                <a16:creationId xmlns:a16="http://schemas.microsoft.com/office/drawing/2014/main" id="{55C0B820-925F-688E-7578-79AD8982190D}"/>
              </a:ext>
            </a:extLst>
          </p:cNvPr>
          <p:cNvSpPr/>
          <p:nvPr/>
        </p:nvSpPr>
        <p:spPr>
          <a:xfrm>
            <a:off x="1571914" y="5744853"/>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要件定義</a:t>
            </a:r>
          </a:p>
        </p:txBody>
      </p:sp>
    </p:spTree>
    <p:extLst>
      <p:ext uri="{BB962C8B-B14F-4D97-AF65-F5344CB8AC3E}">
        <p14:creationId xmlns:p14="http://schemas.microsoft.com/office/powerpoint/2010/main" val="29451645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2">
            <a:extLst>
              <a:ext uri="{FF2B5EF4-FFF2-40B4-BE49-F238E27FC236}">
                <a16:creationId xmlns:a16="http://schemas.microsoft.com/office/drawing/2014/main" id="{A6A317FC-FECA-3BA3-E306-4E48E1A90067}"/>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a:t>8. (</a:t>
            </a:r>
            <a:r>
              <a:rPr lang="ja-JP" altLang="en-US" kern="0"/>
              <a:t>参考</a:t>
            </a:r>
            <a:r>
              <a:rPr lang="en-US" altLang="ja-JP" kern="0"/>
              <a:t>) </a:t>
            </a:r>
            <a:r>
              <a:rPr lang="ja-JP" altLang="en-US" kern="0"/>
              <a:t>スケジュール</a:t>
            </a:r>
            <a:r>
              <a:rPr lang="en-US" altLang="ja-JP" kern="0"/>
              <a:t>_JKK</a:t>
            </a:r>
            <a:r>
              <a:rPr lang="ja-JP" altLang="en-US" kern="0"/>
              <a:t>マスタスケジュール</a:t>
            </a:r>
          </a:p>
        </p:txBody>
      </p:sp>
      <p:graphicFrame>
        <p:nvGraphicFramePr>
          <p:cNvPr id="7" name="表 5">
            <a:extLst>
              <a:ext uri="{FF2B5EF4-FFF2-40B4-BE49-F238E27FC236}">
                <a16:creationId xmlns:a16="http://schemas.microsoft.com/office/drawing/2014/main" id="{DA002B45-F5C0-6AE8-F0A1-CE0C6554D711}"/>
              </a:ext>
            </a:extLst>
          </p:cNvPr>
          <p:cNvGraphicFramePr>
            <a:graphicFrameLocks noGrp="1"/>
          </p:cNvGraphicFramePr>
          <p:nvPr>
            <p:extLst>
              <p:ext uri="{D42A27DB-BD31-4B8C-83A1-F6EECF244321}">
                <p14:modId xmlns:p14="http://schemas.microsoft.com/office/powerpoint/2010/main" val="2569445230"/>
              </p:ext>
            </p:extLst>
          </p:nvPr>
        </p:nvGraphicFramePr>
        <p:xfrm>
          <a:off x="44097" y="1324803"/>
          <a:ext cx="11993588" cy="5113924"/>
        </p:xfrm>
        <a:graphic>
          <a:graphicData uri="http://schemas.openxmlformats.org/drawingml/2006/table">
            <a:tbl>
              <a:tblPr firstRow="1" bandRow="1"/>
              <a:tblGrid>
                <a:gridCol w="298107">
                  <a:extLst>
                    <a:ext uri="{9D8B030D-6E8A-4147-A177-3AD203B41FA5}">
                      <a16:colId xmlns:a16="http://schemas.microsoft.com/office/drawing/2014/main" val="2534054548"/>
                    </a:ext>
                  </a:extLst>
                </a:gridCol>
                <a:gridCol w="954161">
                  <a:extLst>
                    <a:ext uri="{9D8B030D-6E8A-4147-A177-3AD203B41FA5}">
                      <a16:colId xmlns:a16="http://schemas.microsoft.com/office/drawing/2014/main" val="705536200"/>
                    </a:ext>
                  </a:extLst>
                </a:gridCol>
                <a:gridCol w="268533">
                  <a:extLst>
                    <a:ext uri="{9D8B030D-6E8A-4147-A177-3AD203B41FA5}">
                      <a16:colId xmlns:a16="http://schemas.microsoft.com/office/drawing/2014/main" val="3935197191"/>
                    </a:ext>
                  </a:extLst>
                </a:gridCol>
                <a:gridCol w="268533">
                  <a:extLst>
                    <a:ext uri="{9D8B030D-6E8A-4147-A177-3AD203B41FA5}">
                      <a16:colId xmlns:a16="http://schemas.microsoft.com/office/drawing/2014/main" val="161070980"/>
                    </a:ext>
                  </a:extLst>
                </a:gridCol>
                <a:gridCol w="268533">
                  <a:extLst>
                    <a:ext uri="{9D8B030D-6E8A-4147-A177-3AD203B41FA5}">
                      <a16:colId xmlns:a16="http://schemas.microsoft.com/office/drawing/2014/main" val="3548723656"/>
                    </a:ext>
                  </a:extLst>
                </a:gridCol>
                <a:gridCol w="268533">
                  <a:extLst>
                    <a:ext uri="{9D8B030D-6E8A-4147-A177-3AD203B41FA5}">
                      <a16:colId xmlns:a16="http://schemas.microsoft.com/office/drawing/2014/main" val="2747429713"/>
                    </a:ext>
                  </a:extLst>
                </a:gridCol>
                <a:gridCol w="268533">
                  <a:extLst>
                    <a:ext uri="{9D8B030D-6E8A-4147-A177-3AD203B41FA5}">
                      <a16:colId xmlns:a16="http://schemas.microsoft.com/office/drawing/2014/main" val="661181746"/>
                    </a:ext>
                  </a:extLst>
                </a:gridCol>
                <a:gridCol w="268533">
                  <a:extLst>
                    <a:ext uri="{9D8B030D-6E8A-4147-A177-3AD203B41FA5}">
                      <a16:colId xmlns:a16="http://schemas.microsoft.com/office/drawing/2014/main" val="3677444092"/>
                    </a:ext>
                  </a:extLst>
                </a:gridCol>
                <a:gridCol w="268533">
                  <a:extLst>
                    <a:ext uri="{9D8B030D-6E8A-4147-A177-3AD203B41FA5}">
                      <a16:colId xmlns:a16="http://schemas.microsoft.com/office/drawing/2014/main" val="3940988855"/>
                    </a:ext>
                  </a:extLst>
                </a:gridCol>
                <a:gridCol w="268533">
                  <a:extLst>
                    <a:ext uri="{9D8B030D-6E8A-4147-A177-3AD203B41FA5}">
                      <a16:colId xmlns:a16="http://schemas.microsoft.com/office/drawing/2014/main" val="641236475"/>
                    </a:ext>
                  </a:extLst>
                </a:gridCol>
                <a:gridCol w="268533">
                  <a:extLst>
                    <a:ext uri="{9D8B030D-6E8A-4147-A177-3AD203B41FA5}">
                      <a16:colId xmlns:a16="http://schemas.microsoft.com/office/drawing/2014/main" val="1290992920"/>
                    </a:ext>
                  </a:extLst>
                </a:gridCol>
                <a:gridCol w="268533">
                  <a:extLst>
                    <a:ext uri="{9D8B030D-6E8A-4147-A177-3AD203B41FA5}">
                      <a16:colId xmlns:a16="http://schemas.microsoft.com/office/drawing/2014/main" val="782156798"/>
                    </a:ext>
                  </a:extLst>
                </a:gridCol>
                <a:gridCol w="268533">
                  <a:extLst>
                    <a:ext uri="{9D8B030D-6E8A-4147-A177-3AD203B41FA5}">
                      <a16:colId xmlns:a16="http://schemas.microsoft.com/office/drawing/2014/main" val="2021920197"/>
                    </a:ext>
                  </a:extLst>
                </a:gridCol>
                <a:gridCol w="268533">
                  <a:extLst>
                    <a:ext uri="{9D8B030D-6E8A-4147-A177-3AD203B41FA5}">
                      <a16:colId xmlns:a16="http://schemas.microsoft.com/office/drawing/2014/main" val="2760214284"/>
                    </a:ext>
                  </a:extLst>
                </a:gridCol>
                <a:gridCol w="268533">
                  <a:extLst>
                    <a:ext uri="{9D8B030D-6E8A-4147-A177-3AD203B41FA5}">
                      <a16:colId xmlns:a16="http://schemas.microsoft.com/office/drawing/2014/main" val="1108861709"/>
                    </a:ext>
                  </a:extLst>
                </a:gridCol>
                <a:gridCol w="268533">
                  <a:extLst>
                    <a:ext uri="{9D8B030D-6E8A-4147-A177-3AD203B41FA5}">
                      <a16:colId xmlns:a16="http://schemas.microsoft.com/office/drawing/2014/main" val="2731444392"/>
                    </a:ext>
                  </a:extLst>
                </a:gridCol>
                <a:gridCol w="268533">
                  <a:extLst>
                    <a:ext uri="{9D8B030D-6E8A-4147-A177-3AD203B41FA5}">
                      <a16:colId xmlns:a16="http://schemas.microsoft.com/office/drawing/2014/main" val="1689319307"/>
                    </a:ext>
                  </a:extLst>
                </a:gridCol>
                <a:gridCol w="268533">
                  <a:extLst>
                    <a:ext uri="{9D8B030D-6E8A-4147-A177-3AD203B41FA5}">
                      <a16:colId xmlns:a16="http://schemas.microsoft.com/office/drawing/2014/main" val="2786333281"/>
                    </a:ext>
                  </a:extLst>
                </a:gridCol>
                <a:gridCol w="268533">
                  <a:extLst>
                    <a:ext uri="{9D8B030D-6E8A-4147-A177-3AD203B41FA5}">
                      <a16:colId xmlns:a16="http://schemas.microsoft.com/office/drawing/2014/main" val="3580202480"/>
                    </a:ext>
                  </a:extLst>
                </a:gridCol>
                <a:gridCol w="268533">
                  <a:extLst>
                    <a:ext uri="{9D8B030D-6E8A-4147-A177-3AD203B41FA5}">
                      <a16:colId xmlns:a16="http://schemas.microsoft.com/office/drawing/2014/main" val="3369388580"/>
                    </a:ext>
                  </a:extLst>
                </a:gridCol>
                <a:gridCol w="268533">
                  <a:extLst>
                    <a:ext uri="{9D8B030D-6E8A-4147-A177-3AD203B41FA5}">
                      <a16:colId xmlns:a16="http://schemas.microsoft.com/office/drawing/2014/main" val="627348548"/>
                    </a:ext>
                  </a:extLst>
                </a:gridCol>
                <a:gridCol w="268533">
                  <a:extLst>
                    <a:ext uri="{9D8B030D-6E8A-4147-A177-3AD203B41FA5}">
                      <a16:colId xmlns:a16="http://schemas.microsoft.com/office/drawing/2014/main" val="1649766933"/>
                    </a:ext>
                  </a:extLst>
                </a:gridCol>
                <a:gridCol w="268533">
                  <a:extLst>
                    <a:ext uri="{9D8B030D-6E8A-4147-A177-3AD203B41FA5}">
                      <a16:colId xmlns:a16="http://schemas.microsoft.com/office/drawing/2014/main" val="2377825884"/>
                    </a:ext>
                  </a:extLst>
                </a:gridCol>
                <a:gridCol w="268533">
                  <a:extLst>
                    <a:ext uri="{9D8B030D-6E8A-4147-A177-3AD203B41FA5}">
                      <a16:colId xmlns:a16="http://schemas.microsoft.com/office/drawing/2014/main" val="1533874096"/>
                    </a:ext>
                  </a:extLst>
                </a:gridCol>
                <a:gridCol w="268533">
                  <a:extLst>
                    <a:ext uri="{9D8B030D-6E8A-4147-A177-3AD203B41FA5}">
                      <a16:colId xmlns:a16="http://schemas.microsoft.com/office/drawing/2014/main" val="3950849816"/>
                    </a:ext>
                  </a:extLst>
                </a:gridCol>
                <a:gridCol w="268533">
                  <a:extLst>
                    <a:ext uri="{9D8B030D-6E8A-4147-A177-3AD203B41FA5}">
                      <a16:colId xmlns:a16="http://schemas.microsoft.com/office/drawing/2014/main" val="3941893658"/>
                    </a:ext>
                  </a:extLst>
                </a:gridCol>
                <a:gridCol w="268533">
                  <a:extLst>
                    <a:ext uri="{9D8B030D-6E8A-4147-A177-3AD203B41FA5}">
                      <a16:colId xmlns:a16="http://schemas.microsoft.com/office/drawing/2014/main" val="2608949121"/>
                    </a:ext>
                  </a:extLst>
                </a:gridCol>
                <a:gridCol w="268533">
                  <a:extLst>
                    <a:ext uri="{9D8B030D-6E8A-4147-A177-3AD203B41FA5}">
                      <a16:colId xmlns:a16="http://schemas.microsoft.com/office/drawing/2014/main" val="1626571456"/>
                    </a:ext>
                  </a:extLst>
                </a:gridCol>
                <a:gridCol w="268533">
                  <a:extLst>
                    <a:ext uri="{9D8B030D-6E8A-4147-A177-3AD203B41FA5}">
                      <a16:colId xmlns:a16="http://schemas.microsoft.com/office/drawing/2014/main" val="628626061"/>
                    </a:ext>
                  </a:extLst>
                </a:gridCol>
                <a:gridCol w="268533">
                  <a:extLst>
                    <a:ext uri="{9D8B030D-6E8A-4147-A177-3AD203B41FA5}">
                      <a16:colId xmlns:a16="http://schemas.microsoft.com/office/drawing/2014/main" val="1178182007"/>
                    </a:ext>
                  </a:extLst>
                </a:gridCol>
                <a:gridCol w="268533">
                  <a:extLst>
                    <a:ext uri="{9D8B030D-6E8A-4147-A177-3AD203B41FA5}">
                      <a16:colId xmlns:a16="http://schemas.microsoft.com/office/drawing/2014/main" val="1695331825"/>
                    </a:ext>
                  </a:extLst>
                </a:gridCol>
                <a:gridCol w="268533">
                  <a:extLst>
                    <a:ext uri="{9D8B030D-6E8A-4147-A177-3AD203B41FA5}">
                      <a16:colId xmlns:a16="http://schemas.microsoft.com/office/drawing/2014/main" val="2020676501"/>
                    </a:ext>
                  </a:extLst>
                </a:gridCol>
                <a:gridCol w="268533">
                  <a:extLst>
                    <a:ext uri="{9D8B030D-6E8A-4147-A177-3AD203B41FA5}">
                      <a16:colId xmlns:a16="http://schemas.microsoft.com/office/drawing/2014/main" val="429847747"/>
                    </a:ext>
                  </a:extLst>
                </a:gridCol>
                <a:gridCol w="268533">
                  <a:extLst>
                    <a:ext uri="{9D8B030D-6E8A-4147-A177-3AD203B41FA5}">
                      <a16:colId xmlns:a16="http://schemas.microsoft.com/office/drawing/2014/main" val="276721505"/>
                    </a:ext>
                  </a:extLst>
                </a:gridCol>
                <a:gridCol w="268533">
                  <a:extLst>
                    <a:ext uri="{9D8B030D-6E8A-4147-A177-3AD203B41FA5}">
                      <a16:colId xmlns:a16="http://schemas.microsoft.com/office/drawing/2014/main" val="3953889387"/>
                    </a:ext>
                  </a:extLst>
                </a:gridCol>
                <a:gridCol w="268533">
                  <a:extLst>
                    <a:ext uri="{9D8B030D-6E8A-4147-A177-3AD203B41FA5}">
                      <a16:colId xmlns:a16="http://schemas.microsoft.com/office/drawing/2014/main" val="3309726367"/>
                    </a:ext>
                  </a:extLst>
                </a:gridCol>
                <a:gridCol w="268533">
                  <a:extLst>
                    <a:ext uri="{9D8B030D-6E8A-4147-A177-3AD203B41FA5}">
                      <a16:colId xmlns:a16="http://schemas.microsoft.com/office/drawing/2014/main" val="3367066732"/>
                    </a:ext>
                  </a:extLst>
                </a:gridCol>
                <a:gridCol w="268533">
                  <a:extLst>
                    <a:ext uri="{9D8B030D-6E8A-4147-A177-3AD203B41FA5}">
                      <a16:colId xmlns:a16="http://schemas.microsoft.com/office/drawing/2014/main" val="3402181998"/>
                    </a:ext>
                  </a:extLst>
                </a:gridCol>
                <a:gridCol w="268533">
                  <a:extLst>
                    <a:ext uri="{9D8B030D-6E8A-4147-A177-3AD203B41FA5}">
                      <a16:colId xmlns:a16="http://schemas.microsoft.com/office/drawing/2014/main" val="912149945"/>
                    </a:ext>
                  </a:extLst>
                </a:gridCol>
                <a:gridCol w="268533">
                  <a:extLst>
                    <a:ext uri="{9D8B030D-6E8A-4147-A177-3AD203B41FA5}">
                      <a16:colId xmlns:a16="http://schemas.microsoft.com/office/drawing/2014/main" val="1646586721"/>
                    </a:ext>
                  </a:extLst>
                </a:gridCol>
                <a:gridCol w="268533">
                  <a:extLst>
                    <a:ext uri="{9D8B030D-6E8A-4147-A177-3AD203B41FA5}">
                      <a16:colId xmlns:a16="http://schemas.microsoft.com/office/drawing/2014/main" val="2591866539"/>
                    </a:ext>
                  </a:extLst>
                </a:gridCol>
                <a:gridCol w="268533">
                  <a:extLst>
                    <a:ext uri="{9D8B030D-6E8A-4147-A177-3AD203B41FA5}">
                      <a16:colId xmlns:a16="http://schemas.microsoft.com/office/drawing/2014/main" val="2085696625"/>
                    </a:ext>
                  </a:extLst>
                </a:gridCol>
              </a:tblGrid>
              <a:tr h="255701">
                <a:tc gridSpan="2">
                  <a:txBody>
                    <a:bodyPr/>
                    <a:lstStyle>
                      <a:lvl1pPr marL="0" algn="l" defTabSz="1125444" rtl="0" eaLnBrk="1" latinLnBrk="0" hangingPunct="1">
                        <a:defRPr kumimoji="1" sz="2215" b="1" kern="1200">
                          <a:solidFill>
                            <a:schemeClr val="lt1"/>
                          </a:solidFill>
                          <a:latin typeface="Meiryo UI"/>
                          <a:ea typeface="Meiryo UI"/>
                        </a:defRPr>
                      </a:lvl1pPr>
                      <a:lvl2pPr marL="562722" algn="l" defTabSz="1125444" rtl="0" eaLnBrk="1" latinLnBrk="0" hangingPunct="1">
                        <a:defRPr kumimoji="1" sz="2215" b="1" kern="1200">
                          <a:solidFill>
                            <a:schemeClr val="lt1"/>
                          </a:solidFill>
                          <a:latin typeface="Meiryo UI"/>
                          <a:ea typeface="Meiryo UI"/>
                        </a:defRPr>
                      </a:lvl2pPr>
                      <a:lvl3pPr marL="1125444" algn="l" defTabSz="1125444" rtl="0" eaLnBrk="1" latinLnBrk="0" hangingPunct="1">
                        <a:defRPr kumimoji="1" sz="2215" b="1" kern="1200">
                          <a:solidFill>
                            <a:schemeClr val="lt1"/>
                          </a:solidFill>
                          <a:latin typeface="Meiryo UI"/>
                          <a:ea typeface="Meiryo UI"/>
                        </a:defRPr>
                      </a:lvl3pPr>
                      <a:lvl4pPr marL="1688165" algn="l" defTabSz="1125444" rtl="0" eaLnBrk="1" latinLnBrk="0" hangingPunct="1">
                        <a:defRPr kumimoji="1" sz="2215" b="1" kern="1200">
                          <a:solidFill>
                            <a:schemeClr val="lt1"/>
                          </a:solidFill>
                          <a:latin typeface="Meiryo UI"/>
                          <a:ea typeface="Meiryo UI"/>
                        </a:defRPr>
                      </a:lvl4pPr>
                      <a:lvl5pPr marL="2250887" algn="l" defTabSz="1125444" rtl="0" eaLnBrk="1" latinLnBrk="0" hangingPunct="1">
                        <a:defRPr kumimoji="1" sz="2215" b="1" kern="1200">
                          <a:solidFill>
                            <a:schemeClr val="lt1"/>
                          </a:solidFill>
                          <a:latin typeface="Meiryo UI"/>
                          <a:ea typeface="Meiryo UI"/>
                        </a:defRPr>
                      </a:lvl5pPr>
                      <a:lvl6pPr marL="2813609" algn="l" defTabSz="1125444" rtl="0" eaLnBrk="1" latinLnBrk="0" hangingPunct="1">
                        <a:defRPr kumimoji="1" sz="2215" b="1" kern="1200">
                          <a:solidFill>
                            <a:schemeClr val="lt1"/>
                          </a:solidFill>
                          <a:latin typeface="Meiryo UI"/>
                          <a:ea typeface="Meiryo UI"/>
                        </a:defRPr>
                      </a:lvl6pPr>
                      <a:lvl7pPr marL="3376331" algn="l" defTabSz="1125444" rtl="0" eaLnBrk="1" latinLnBrk="0" hangingPunct="1">
                        <a:defRPr kumimoji="1" sz="2215" b="1" kern="1200">
                          <a:solidFill>
                            <a:schemeClr val="lt1"/>
                          </a:solidFill>
                          <a:latin typeface="Meiryo UI"/>
                          <a:ea typeface="Meiryo UI"/>
                        </a:defRPr>
                      </a:lvl7pPr>
                      <a:lvl8pPr marL="3939052" algn="l" defTabSz="1125444" rtl="0" eaLnBrk="1" latinLnBrk="0" hangingPunct="1">
                        <a:defRPr kumimoji="1" sz="2215" b="1" kern="1200">
                          <a:solidFill>
                            <a:schemeClr val="lt1"/>
                          </a:solidFill>
                          <a:latin typeface="Meiryo UI"/>
                          <a:ea typeface="Meiryo UI"/>
                        </a:defRPr>
                      </a:lvl8pPr>
                      <a:lvl9pPr marL="4501774" algn="l" defTabSz="1125444" rtl="0" eaLnBrk="1" latinLnBrk="0" hangingPunct="1">
                        <a:defRPr kumimoji="1" sz="2215" b="1" kern="1200">
                          <a:solidFill>
                            <a:schemeClr val="lt1"/>
                          </a:solidFill>
                          <a:latin typeface="Meiryo UI"/>
                          <a:ea typeface="Meiryo UI"/>
                        </a:defRPr>
                      </a:lvl9pPr>
                    </a:lstStyle>
                    <a:p>
                      <a:pPr algn="l"/>
                      <a:r>
                        <a:rPr kumimoji="1" lang="ja-JP" altLang="en-US" sz="1200" b="0">
                          <a:solidFill>
                            <a:schemeClr val="tx1">
                              <a:lumMod val="65000"/>
                              <a:lumOff val="35000"/>
                            </a:schemeClr>
                          </a:solidFill>
                        </a:rPr>
                        <a:t>年度</a:t>
                      </a:r>
                    </a:p>
                  </a:txBody>
                  <a:tcPr marL="36000" marR="36000" marT="36000" marB="36000" anchor="ctr">
                    <a:lnL w="6350" cap="flat" cmpd="sng" algn="ctr">
                      <a:solidFill>
                        <a:schemeClr val="tx1"/>
                      </a:solidFill>
                      <a:prstDash val="solid"/>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endParaRPr kumimoji="1" lang="ja-JP" altLang="en-US"/>
                    </a:p>
                  </a:txBody>
                  <a:tcPr/>
                </a:tc>
                <a:tc gridSpan="12">
                  <a:txBody>
                    <a:bodyPr/>
                    <a:lstStyle>
                      <a:lvl1pPr marL="0" algn="l" defTabSz="1125444" rtl="0" eaLnBrk="1" latinLnBrk="0" hangingPunct="1">
                        <a:defRPr kumimoji="1" sz="2215" b="1" kern="1200">
                          <a:solidFill>
                            <a:schemeClr val="lt1"/>
                          </a:solidFill>
                          <a:latin typeface="Meiryo UI"/>
                          <a:ea typeface="Meiryo UI"/>
                        </a:defRPr>
                      </a:lvl1pPr>
                      <a:lvl2pPr marL="562722" algn="l" defTabSz="1125444" rtl="0" eaLnBrk="1" latinLnBrk="0" hangingPunct="1">
                        <a:defRPr kumimoji="1" sz="2215" b="1" kern="1200">
                          <a:solidFill>
                            <a:schemeClr val="lt1"/>
                          </a:solidFill>
                          <a:latin typeface="Meiryo UI"/>
                          <a:ea typeface="Meiryo UI"/>
                        </a:defRPr>
                      </a:lvl2pPr>
                      <a:lvl3pPr marL="1125444" algn="l" defTabSz="1125444" rtl="0" eaLnBrk="1" latinLnBrk="0" hangingPunct="1">
                        <a:defRPr kumimoji="1" sz="2215" b="1" kern="1200">
                          <a:solidFill>
                            <a:schemeClr val="lt1"/>
                          </a:solidFill>
                          <a:latin typeface="Meiryo UI"/>
                          <a:ea typeface="Meiryo UI"/>
                        </a:defRPr>
                      </a:lvl3pPr>
                      <a:lvl4pPr marL="1688165" algn="l" defTabSz="1125444" rtl="0" eaLnBrk="1" latinLnBrk="0" hangingPunct="1">
                        <a:defRPr kumimoji="1" sz="2215" b="1" kern="1200">
                          <a:solidFill>
                            <a:schemeClr val="lt1"/>
                          </a:solidFill>
                          <a:latin typeface="Meiryo UI"/>
                          <a:ea typeface="Meiryo UI"/>
                        </a:defRPr>
                      </a:lvl4pPr>
                      <a:lvl5pPr marL="2250887" algn="l" defTabSz="1125444" rtl="0" eaLnBrk="1" latinLnBrk="0" hangingPunct="1">
                        <a:defRPr kumimoji="1" sz="2215" b="1" kern="1200">
                          <a:solidFill>
                            <a:schemeClr val="lt1"/>
                          </a:solidFill>
                          <a:latin typeface="Meiryo UI"/>
                          <a:ea typeface="Meiryo UI"/>
                        </a:defRPr>
                      </a:lvl5pPr>
                      <a:lvl6pPr marL="2813609" algn="l" defTabSz="1125444" rtl="0" eaLnBrk="1" latinLnBrk="0" hangingPunct="1">
                        <a:defRPr kumimoji="1" sz="2215" b="1" kern="1200">
                          <a:solidFill>
                            <a:schemeClr val="lt1"/>
                          </a:solidFill>
                          <a:latin typeface="Meiryo UI"/>
                          <a:ea typeface="Meiryo UI"/>
                        </a:defRPr>
                      </a:lvl6pPr>
                      <a:lvl7pPr marL="3376331" algn="l" defTabSz="1125444" rtl="0" eaLnBrk="1" latinLnBrk="0" hangingPunct="1">
                        <a:defRPr kumimoji="1" sz="2215" b="1" kern="1200">
                          <a:solidFill>
                            <a:schemeClr val="lt1"/>
                          </a:solidFill>
                          <a:latin typeface="Meiryo UI"/>
                          <a:ea typeface="Meiryo UI"/>
                        </a:defRPr>
                      </a:lvl7pPr>
                      <a:lvl8pPr marL="3939052" algn="l" defTabSz="1125444" rtl="0" eaLnBrk="1" latinLnBrk="0" hangingPunct="1">
                        <a:defRPr kumimoji="1" sz="2215" b="1" kern="1200">
                          <a:solidFill>
                            <a:schemeClr val="lt1"/>
                          </a:solidFill>
                          <a:latin typeface="Meiryo UI"/>
                          <a:ea typeface="Meiryo UI"/>
                        </a:defRPr>
                      </a:lvl8pPr>
                      <a:lvl9pPr marL="4501774" algn="l" defTabSz="1125444" rtl="0" eaLnBrk="1" latinLnBrk="0" hangingPunct="1">
                        <a:defRPr kumimoji="1" sz="2215" b="1" kern="1200">
                          <a:solidFill>
                            <a:schemeClr val="lt1"/>
                          </a:solidFill>
                          <a:latin typeface="Meiryo UI"/>
                          <a:ea typeface="Meiryo UI"/>
                        </a:defRPr>
                      </a:lvl9pPr>
                    </a:lstStyle>
                    <a:p>
                      <a:pPr algn="r"/>
                      <a:r>
                        <a:rPr kumimoji="1" lang="en-US" altLang="ja-JP" sz="1200" b="0">
                          <a:solidFill>
                            <a:schemeClr val="tx1">
                              <a:lumMod val="65000"/>
                              <a:lumOff val="35000"/>
                            </a:schemeClr>
                          </a:solidFill>
                        </a:rPr>
                        <a:t>FYE03/24</a:t>
                      </a:r>
                      <a:endParaRPr kumimoji="1" lang="ja-JP" altLang="en-US" sz="1200" b="0">
                        <a:solidFill>
                          <a:schemeClr val="tx1">
                            <a:lumMod val="65000"/>
                            <a:lumOff val="35000"/>
                          </a:schemeClr>
                        </a:solidFill>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gridSpan="12">
                  <a:txBody>
                    <a:bodyPr/>
                    <a:lstStyle>
                      <a:lvl1pPr marL="0" algn="l" defTabSz="1125444" rtl="0" eaLnBrk="1" latinLnBrk="0" hangingPunct="1">
                        <a:defRPr kumimoji="1" sz="2215" b="1" kern="1200">
                          <a:solidFill>
                            <a:schemeClr val="lt1"/>
                          </a:solidFill>
                          <a:latin typeface="Meiryo UI"/>
                          <a:ea typeface="Meiryo UI"/>
                        </a:defRPr>
                      </a:lvl1pPr>
                      <a:lvl2pPr marL="562722" algn="l" defTabSz="1125444" rtl="0" eaLnBrk="1" latinLnBrk="0" hangingPunct="1">
                        <a:defRPr kumimoji="1" sz="2215" b="1" kern="1200">
                          <a:solidFill>
                            <a:schemeClr val="lt1"/>
                          </a:solidFill>
                          <a:latin typeface="Meiryo UI"/>
                          <a:ea typeface="Meiryo UI"/>
                        </a:defRPr>
                      </a:lvl2pPr>
                      <a:lvl3pPr marL="1125444" algn="l" defTabSz="1125444" rtl="0" eaLnBrk="1" latinLnBrk="0" hangingPunct="1">
                        <a:defRPr kumimoji="1" sz="2215" b="1" kern="1200">
                          <a:solidFill>
                            <a:schemeClr val="lt1"/>
                          </a:solidFill>
                          <a:latin typeface="Meiryo UI"/>
                          <a:ea typeface="Meiryo UI"/>
                        </a:defRPr>
                      </a:lvl3pPr>
                      <a:lvl4pPr marL="1688165" algn="l" defTabSz="1125444" rtl="0" eaLnBrk="1" latinLnBrk="0" hangingPunct="1">
                        <a:defRPr kumimoji="1" sz="2215" b="1" kern="1200">
                          <a:solidFill>
                            <a:schemeClr val="lt1"/>
                          </a:solidFill>
                          <a:latin typeface="Meiryo UI"/>
                          <a:ea typeface="Meiryo UI"/>
                        </a:defRPr>
                      </a:lvl4pPr>
                      <a:lvl5pPr marL="2250887" algn="l" defTabSz="1125444" rtl="0" eaLnBrk="1" latinLnBrk="0" hangingPunct="1">
                        <a:defRPr kumimoji="1" sz="2215" b="1" kern="1200">
                          <a:solidFill>
                            <a:schemeClr val="lt1"/>
                          </a:solidFill>
                          <a:latin typeface="Meiryo UI"/>
                          <a:ea typeface="Meiryo UI"/>
                        </a:defRPr>
                      </a:lvl5pPr>
                      <a:lvl6pPr marL="2813609" algn="l" defTabSz="1125444" rtl="0" eaLnBrk="1" latinLnBrk="0" hangingPunct="1">
                        <a:defRPr kumimoji="1" sz="2215" b="1" kern="1200">
                          <a:solidFill>
                            <a:schemeClr val="lt1"/>
                          </a:solidFill>
                          <a:latin typeface="Meiryo UI"/>
                          <a:ea typeface="Meiryo UI"/>
                        </a:defRPr>
                      </a:lvl6pPr>
                      <a:lvl7pPr marL="3376331" algn="l" defTabSz="1125444" rtl="0" eaLnBrk="1" latinLnBrk="0" hangingPunct="1">
                        <a:defRPr kumimoji="1" sz="2215" b="1" kern="1200">
                          <a:solidFill>
                            <a:schemeClr val="lt1"/>
                          </a:solidFill>
                          <a:latin typeface="Meiryo UI"/>
                          <a:ea typeface="Meiryo UI"/>
                        </a:defRPr>
                      </a:lvl7pPr>
                      <a:lvl8pPr marL="3939052" algn="l" defTabSz="1125444" rtl="0" eaLnBrk="1" latinLnBrk="0" hangingPunct="1">
                        <a:defRPr kumimoji="1" sz="2215" b="1" kern="1200">
                          <a:solidFill>
                            <a:schemeClr val="lt1"/>
                          </a:solidFill>
                          <a:latin typeface="Meiryo UI"/>
                          <a:ea typeface="Meiryo UI"/>
                        </a:defRPr>
                      </a:lvl8pPr>
                      <a:lvl9pPr marL="4501774" algn="l" defTabSz="1125444" rtl="0" eaLnBrk="1" latinLnBrk="0" hangingPunct="1">
                        <a:defRPr kumimoji="1" sz="2215" b="1" kern="1200">
                          <a:solidFill>
                            <a:schemeClr val="lt1"/>
                          </a:solidFill>
                          <a:latin typeface="Meiryo UI"/>
                          <a:ea typeface="Meiryo UI"/>
                        </a:defRPr>
                      </a:lvl9pPr>
                    </a:lstStyle>
                    <a:p>
                      <a:pPr algn="r"/>
                      <a:r>
                        <a:rPr kumimoji="1" lang="en-US" altLang="ja-JP" sz="1200" b="0">
                          <a:solidFill>
                            <a:schemeClr val="tx1">
                              <a:lumMod val="65000"/>
                              <a:lumOff val="35000"/>
                            </a:schemeClr>
                          </a:solidFill>
                        </a:rPr>
                        <a:t>FYE03/25</a:t>
                      </a:r>
                      <a:endParaRPr kumimoji="1" lang="ja-JP" altLang="en-US" sz="1200" b="0">
                        <a:solidFill>
                          <a:schemeClr val="tx1">
                            <a:lumMod val="65000"/>
                            <a:lumOff val="35000"/>
                          </a:schemeClr>
                        </a:solidFill>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gridSpan="12">
                  <a:txBody>
                    <a:bodyPr/>
                    <a:lstStyle>
                      <a:lvl1pPr marL="0" algn="l" defTabSz="1125444" rtl="0" eaLnBrk="1" latinLnBrk="0" hangingPunct="1">
                        <a:defRPr kumimoji="1" sz="2215" b="1" kern="1200">
                          <a:solidFill>
                            <a:schemeClr val="lt1"/>
                          </a:solidFill>
                          <a:latin typeface="Meiryo UI"/>
                          <a:ea typeface="Meiryo UI"/>
                        </a:defRPr>
                      </a:lvl1pPr>
                      <a:lvl2pPr marL="562722" algn="l" defTabSz="1125444" rtl="0" eaLnBrk="1" latinLnBrk="0" hangingPunct="1">
                        <a:defRPr kumimoji="1" sz="2215" b="1" kern="1200">
                          <a:solidFill>
                            <a:schemeClr val="lt1"/>
                          </a:solidFill>
                          <a:latin typeface="Meiryo UI"/>
                          <a:ea typeface="Meiryo UI"/>
                        </a:defRPr>
                      </a:lvl2pPr>
                      <a:lvl3pPr marL="1125444" algn="l" defTabSz="1125444" rtl="0" eaLnBrk="1" latinLnBrk="0" hangingPunct="1">
                        <a:defRPr kumimoji="1" sz="2215" b="1" kern="1200">
                          <a:solidFill>
                            <a:schemeClr val="lt1"/>
                          </a:solidFill>
                          <a:latin typeface="Meiryo UI"/>
                          <a:ea typeface="Meiryo UI"/>
                        </a:defRPr>
                      </a:lvl3pPr>
                      <a:lvl4pPr marL="1688165" algn="l" defTabSz="1125444" rtl="0" eaLnBrk="1" latinLnBrk="0" hangingPunct="1">
                        <a:defRPr kumimoji="1" sz="2215" b="1" kern="1200">
                          <a:solidFill>
                            <a:schemeClr val="lt1"/>
                          </a:solidFill>
                          <a:latin typeface="Meiryo UI"/>
                          <a:ea typeface="Meiryo UI"/>
                        </a:defRPr>
                      </a:lvl4pPr>
                      <a:lvl5pPr marL="2250887" algn="l" defTabSz="1125444" rtl="0" eaLnBrk="1" latinLnBrk="0" hangingPunct="1">
                        <a:defRPr kumimoji="1" sz="2215" b="1" kern="1200">
                          <a:solidFill>
                            <a:schemeClr val="lt1"/>
                          </a:solidFill>
                          <a:latin typeface="Meiryo UI"/>
                          <a:ea typeface="Meiryo UI"/>
                        </a:defRPr>
                      </a:lvl5pPr>
                      <a:lvl6pPr marL="2813609" algn="l" defTabSz="1125444" rtl="0" eaLnBrk="1" latinLnBrk="0" hangingPunct="1">
                        <a:defRPr kumimoji="1" sz="2215" b="1" kern="1200">
                          <a:solidFill>
                            <a:schemeClr val="lt1"/>
                          </a:solidFill>
                          <a:latin typeface="Meiryo UI"/>
                          <a:ea typeface="Meiryo UI"/>
                        </a:defRPr>
                      </a:lvl6pPr>
                      <a:lvl7pPr marL="3376331" algn="l" defTabSz="1125444" rtl="0" eaLnBrk="1" latinLnBrk="0" hangingPunct="1">
                        <a:defRPr kumimoji="1" sz="2215" b="1" kern="1200">
                          <a:solidFill>
                            <a:schemeClr val="lt1"/>
                          </a:solidFill>
                          <a:latin typeface="Meiryo UI"/>
                          <a:ea typeface="Meiryo UI"/>
                        </a:defRPr>
                      </a:lvl7pPr>
                      <a:lvl8pPr marL="3939052" algn="l" defTabSz="1125444" rtl="0" eaLnBrk="1" latinLnBrk="0" hangingPunct="1">
                        <a:defRPr kumimoji="1" sz="2215" b="1" kern="1200">
                          <a:solidFill>
                            <a:schemeClr val="lt1"/>
                          </a:solidFill>
                          <a:latin typeface="Meiryo UI"/>
                          <a:ea typeface="Meiryo UI"/>
                        </a:defRPr>
                      </a:lvl8pPr>
                      <a:lvl9pPr marL="4501774" algn="l" defTabSz="1125444" rtl="0" eaLnBrk="1" latinLnBrk="0" hangingPunct="1">
                        <a:defRPr kumimoji="1" sz="2215" b="1" kern="1200">
                          <a:solidFill>
                            <a:schemeClr val="lt1"/>
                          </a:solidFill>
                          <a:latin typeface="Meiryo UI"/>
                          <a:ea typeface="Meiryo UI"/>
                        </a:defRPr>
                      </a:lvl9pPr>
                    </a:lstStyle>
                    <a:p>
                      <a:pPr marL="0" algn="r" defTabSz="1125444" rtl="0" eaLnBrk="1" latinLnBrk="0" hangingPunct="1"/>
                      <a:r>
                        <a:rPr kumimoji="1" lang="en-US" altLang="ja-JP" sz="1200" b="0" kern="1200">
                          <a:solidFill>
                            <a:schemeClr val="tx1">
                              <a:lumMod val="65000"/>
                              <a:lumOff val="35000"/>
                            </a:schemeClr>
                          </a:solidFill>
                          <a:latin typeface="Meiryo UI"/>
                          <a:ea typeface="Meiryo UI"/>
                          <a:cs typeface="+mn-cs"/>
                        </a:rPr>
                        <a:t>FYE03/26</a:t>
                      </a:r>
                      <a:endParaRPr kumimoji="1" lang="ja-JP" altLang="en-US" sz="1200" b="0" kern="1200">
                        <a:solidFill>
                          <a:schemeClr val="tx1">
                            <a:lumMod val="65000"/>
                            <a:lumOff val="35000"/>
                          </a:schemeClr>
                        </a:solidFill>
                        <a:latin typeface="Meiryo UI"/>
                        <a:ea typeface="Meiryo UI"/>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gridSpan="4">
                  <a:txBody>
                    <a:bodyPr/>
                    <a:lstStyle/>
                    <a:p>
                      <a:pPr marL="0" marR="0" lvl="0" indent="0" algn="r" defTabSz="1125444" rtl="0" eaLnBrk="1" fontAlgn="auto" latinLnBrk="0" hangingPunct="1">
                        <a:lnSpc>
                          <a:spcPct val="100000"/>
                        </a:lnSpc>
                        <a:spcBef>
                          <a:spcPts val="0"/>
                        </a:spcBef>
                        <a:spcAft>
                          <a:spcPts val="0"/>
                        </a:spcAft>
                        <a:buClrTx/>
                        <a:buSzTx/>
                        <a:buFontTx/>
                        <a:buNone/>
                        <a:tabLst/>
                        <a:defRPr/>
                      </a:pPr>
                      <a:r>
                        <a:rPr kumimoji="1" lang="en-US" altLang="ja-JP" sz="1200" b="0" kern="1200">
                          <a:solidFill>
                            <a:schemeClr val="tx1">
                              <a:lumMod val="65000"/>
                              <a:lumOff val="35000"/>
                            </a:schemeClr>
                          </a:solidFill>
                          <a:latin typeface="+mn-lt"/>
                          <a:ea typeface="+mn-ea"/>
                          <a:cs typeface="+mn-cs"/>
                        </a:rPr>
                        <a:t>FYE03/27</a:t>
                      </a:r>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algn="r" defTabSz="1125444" rtl="0" eaLnBrk="1" latinLnBrk="0" hangingPunct="1"/>
                      <a:endParaRPr kumimoji="1" lang="ja-JP" altLang="en-US" sz="1200" b="0" kern="1200">
                        <a:solidFill>
                          <a:schemeClr val="tx1">
                            <a:lumMod val="65000"/>
                            <a:lumOff val="35000"/>
                          </a:schemeClr>
                        </a:solidFill>
                        <a:latin typeface="Meiryo UI"/>
                        <a:ea typeface="Meiryo UI"/>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kumimoji="1" lang="ja-JP" altLang="en-US"/>
                    </a:p>
                  </a:txBody>
                  <a:tcPr/>
                </a:tc>
                <a:tc hMerge="1">
                  <a:txBody>
                    <a:bodyPr/>
                    <a:lstStyle/>
                    <a:p>
                      <a:pPr marL="0" algn="r" defTabSz="1125444" rtl="0" eaLnBrk="1" latinLnBrk="0" hangingPunct="1"/>
                      <a:endParaRPr kumimoji="1" lang="ja-JP" altLang="en-US" sz="1200" b="0" kern="1200">
                        <a:solidFill>
                          <a:schemeClr val="tx1">
                            <a:lumMod val="65000"/>
                            <a:lumOff val="35000"/>
                          </a:schemeClr>
                        </a:solidFill>
                        <a:latin typeface="Meiryo UI"/>
                        <a:ea typeface="Meiryo UI"/>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46492343"/>
                  </a:ext>
                </a:extLst>
              </a:tr>
              <a:tr h="255701">
                <a:tc gridSpan="2">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algn="l"/>
                      <a:endParaRPr kumimoji="1" lang="ja-JP" altLang="en-US" sz="1200" b="0">
                        <a:solidFill>
                          <a:schemeClr val="tx1">
                            <a:lumMod val="65000"/>
                            <a:lumOff val="35000"/>
                          </a:schemeClr>
                        </a:solidFill>
                      </a:endParaRPr>
                    </a:p>
                  </a:txBody>
                  <a:tcPr marL="36000" marR="36000" marT="36000" marB="36000" anchor="ctr">
                    <a:lnL w="6350" cap="flat" cmpd="sng" algn="ctr">
                      <a:solidFill>
                        <a:schemeClr val="tx1"/>
                      </a:solidFill>
                      <a:prstDash val="solid"/>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endParaRPr kumimoji="1" lang="ja-JP" altLang="en-US"/>
                    </a:p>
                  </a:txBody>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4</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5</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6</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7</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8</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9</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10</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3</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4</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5</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6</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7</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8</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9</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10</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3</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4</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5</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6</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7</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8</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9</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10</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3</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4</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5</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6</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7</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3584711858"/>
                  </a:ext>
                </a:extLst>
              </a:tr>
              <a:tr h="702561">
                <a:tc gridSpan="2">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algn="l"/>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マイルストン</a:t>
                      </a:r>
                    </a:p>
                  </a:txBody>
                  <a:tcPr marL="36000" marR="36000" marT="36000" marB="36000" anchor="ctr">
                    <a:lnL w="6350" cap="flat" cmpd="sng" algn="ctr">
                      <a:solidFill>
                        <a:schemeClr val="tx1"/>
                      </a:solidFill>
                      <a:prstDash val="solid"/>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endParaRPr kumimoji="1" lang="ja-JP" altLang="en-US"/>
                    </a:p>
                  </a:txBody>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76286459"/>
                  </a:ext>
                </a:extLst>
              </a:tr>
              <a:tr h="498842">
                <a:tc gridSpan="2">
                  <a:txBody>
                    <a:bodyPr/>
                    <a:lstStyle/>
                    <a:p>
                      <a:pPr algn="l"/>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業務</a:t>
                      </a:r>
                      <a:endParaRPr kumimoji="1" lang="en-US" altLang="ja-JP" sz="1100" b="0">
                        <a:solidFill>
                          <a:schemeClr val="tx1">
                            <a:lumMod val="65000"/>
                            <a:lumOff val="35000"/>
                          </a:schemeClr>
                        </a:solidFill>
                        <a:latin typeface="Meiryo UI" panose="020B0604030504040204" pitchFamily="50" charset="-128"/>
                        <a:ea typeface="Meiryo UI" panose="020B0604030504040204" pitchFamily="50" charset="-128"/>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pPr algn="l"/>
                      <a:r>
                        <a:rPr kumimoji="1" lang="ja-JP" altLang="en-US" sz="1100" b="0">
                          <a:solidFill>
                            <a:schemeClr val="tx1">
                              <a:lumMod val="65000"/>
                              <a:lumOff val="35000"/>
                            </a:schemeClr>
                          </a:solidFill>
                        </a:rPr>
                        <a:t>業務</a:t>
                      </a:r>
                      <a:endParaRPr kumimoji="1" lang="en-US" altLang="ja-JP" sz="1100" b="0">
                        <a:solidFill>
                          <a:schemeClr val="tx1">
                            <a:lumMod val="65000"/>
                            <a:lumOff val="35000"/>
                          </a:schemeClr>
                        </a:solidFill>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97379601"/>
                  </a:ext>
                </a:extLst>
              </a:tr>
              <a:tr h="1315548">
                <a:tc gridSpan="2">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algn="l"/>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新規</a:t>
                      </a:r>
                      <a:endParaRPr kumimoji="1" lang="en-US" altLang="ja-JP" sz="1100" b="0">
                        <a:solidFill>
                          <a:schemeClr val="tx1">
                            <a:lumMod val="65000"/>
                            <a:lumOff val="35000"/>
                          </a:schemeClr>
                        </a:solidFill>
                        <a:latin typeface="Meiryo UI" panose="020B0604030504040204" pitchFamily="50" charset="-128"/>
                        <a:ea typeface="Meiryo UI" panose="020B0604030504040204" pitchFamily="50" charset="-128"/>
                      </a:endParaRPr>
                    </a:p>
                    <a:p>
                      <a:pPr algn="l"/>
                      <a:r>
                        <a:rPr kumimoji="1" lang="en-US" altLang="ja-JP" sz="1100" b="0">
                          <a:solidFill>
                            <a:schemeClr val="tx1">
                              <a:lumMod val="65000"/>
                              <a:lumOff val="35000"/>
                            </a:schemeClr>
                          </a:solidFill>
                          <a:latin typeface="Meiryo UI" panose="020B0604030504040204" pitchFamily="50" charset="-128"/>
                          <a:ea typeface="Meiryo UI" panose="020B0604030504040204" pitchFamily="50" charset="-128"/>
                        </a:rPr>
                        <a:t>SAP/Nexus</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algn="l"/>
                      <a:r>
                        <a:rPr kumimoji="1" lang="ja-JP" altLang="en-US" sz="1100" b="0">
                          <a:solidFill>
                            <a:schemeClr val="tx1">
                              <a:lumMod val="65000"/>
                              <a:lumOff val="35000"/>
                            </a:schemeClr>
                          </a:solidFill>
                        </a:rPr>
                        <a:t>新規</a:t>
                      </a:r>
                      <a:endParaRPr kumimoji="1" lang="en-US" altLang="ja-JP" sz="1100" b="0">
                        <a:solidFill>
                          <a:schemeClr val="tx1">
                            <a:lumMod val="65000"/>
                            <a:lumOff val="35000"/>
                          </a:schemeClr>
                        </a:solidFill>
                      </a:endParaRPr>
                    </a:p>
                    <a:p>
                      <a:pPr algn="l"/>
                      <a:r>
                        <a:rPr kumimoji="1" lang="en-US" altLang="ja-JP" sz="1100" b="0">
                          <a:solidFill>
                            <a:schemeClr val="tx1">
                              <a:lumMod val="65000"/>
                              <a:lumOff val="35000"/>
                            </a:schemeClr>
                          </a:solidFill>
                        </a:rPr>
                        <a:t>SAP/Nexus</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25637352"/>
                  </a:ext>
                </a:extLst>
              </a:tr>
              <a:tr h="518474">
                <a:tc rowSpan="2">
                  <a:txBody>
                    <a:bodyPr/>
                    <a:lstStyle/>
                    <a:p>
                      <a:pPr algn="ctr"/>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周辺</a:t>
                      </a:r>
                      <a:r>
                        <a:rPr kumimoji="1" lang="en-US" altLang="ja-JP" sz="1100" b="0">
                          <a:solidFill>
                            <a:schemeClr val="tx1">
                              <a:lumMod val="65000"/>
                              <a:lumOff val="35000"/>
                            </a:schemeClr>
                          </a:solidFill>
                          <a:latin typeface="Meiryo UI" panose="020B0604030504040204" pitchFamily="50" charset="-128"/>
                          <a:ea typeface="Meiryo UI" panose="020B0604030504040204" pitchFamily="50" charset="-128"/>
                        </a:rPr>
                        <a:t>1</a:t>
                      </a:r>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群</a:t>
                      </a:r>
                      <a:endParaRPr kumimoji="1" lang="ja-JP" altLang="en-US" sz="1200" b="0">
                        <a:solidFill>
                          <a:schemeClr val="tx1">
                            <a:lumMod val="65000"/>
                            <a:lumOff val="35000"/>
                          </a:schemeClr>
                        </a:solidFill>
                        <a:latin typeface="Meiryo UI" panose="020B0604030504040204" pitchFamily="50" charset="-128"/>
                        <a:ea typeface="Meiryo UI" panose="020B0604030504040204" pitchFamily="50" charset="-128"/>
                      </a:endParaRPr>
                    </a:p>
                  </a:txBody>
                  <a:tcPr marL="36000" marR="36000" marT="36000" marB="36000" vert="eaVert"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事業</a:t>
                      </a:r>
                      <a:r>
                        <a:rPr kumimoji="1" lang="en-US" altLang="ja-JP"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Neo/</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共用</a:t>
                      </a:r>
                      <a:r>
                        <a:rPr kumimoji="1" lang="en-US" altLang="ja-JP"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Neo</a:t>
                      </a:r>
                      <a:endPar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36631063"/>
                  </a:ext>
                </a:extLst>
              </a:tr>
              <a:tr h="523388">
                <a:tc vMerge="1">
                  <a:txBody>
                    <a:bodyPr/>
                    <a:lstStyle/>
                    <a:p>
                      <a:endParaRPr kumimoji="1" lang="ja-JP" altLang="en-US" sz="1200" b="0">
                        <a:solidFill>
                          <a:schemeClr val="tx1">
                            <a:lumMod val="65000"/>
                            <a:lumOff val="35000"/>
                          </a:schemeClr>
                        </a:solidFill>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l"/>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周辺</a:t>
                      </a: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68682285"/>
                  </a:ext>
                </a:extLst>
              </a:tr>
              <a:tr h="433366">
                <a:tc rowSpan="2">
                  <a:txBody>
                    <a:bodyPr/>
                    <a:lstStyle/>
                    <a:p>
                      <a:pPr algn="ctr"/>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周辺</a:t>
                      </a:r>
                      <a:r>
                        <a:rPr kumimoji="1" lang="en-US" altLang="ja-JP" sz="1100" b="0">
                          <a:solidFill>
                            <a:schemeClr val="tx1">
                              <a:lumMod val="65000"/>
                              <a:lumOff val="35000"/>
                            </a:schemeClr>
                          </a:solidFill>
                          <a:latin typeface="Meiryo UI" panose="020B0604030504040204" pitchFamily="50" charset="-128"/>
                          <a:ea typeface="Meiryo UI" panose="020B0604030504040204" pitchFamily="50" charset="-128"/>
                        </a:rPr>
                        <a:t>2</a:t>
                      </a:r>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群</a:t>
                      </a:r>
                    </a:p>
                  </a:txBody>
                  <a:tcPr marL="36000" marR="36000" marT="36000" marB="36000" vert="eaVert"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事業</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Neo</a:t>
                      </a:r>
                      <a:r>
                        <a:rPr kumimoji="1" lang="en-US" altLang="ja-JP" sz="105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(JJ,</a:t>
                      </a:r>
                      <a:r>
                        <a:rPr kumimoji="1" lang="ja-JP" altLang="en-US" sz="105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学び</a:t>
                      </a:r>
                      <a:r>
                        <a:rPr kumimoji="1" lang="en-US" altLang="ja-JP" sz="105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92269558"/>
                  </a:ext>
                </a:extLst>
              </a:tr>
              <a:tr h="610343">
                <a:tc vMerge="1">
                  <a:txBody>
                    <a:bodyPr/>
                    <a:lstStyle/>
                    <a:p>
                      <a:pPr algn="ctr"/>
                      <a:endParaRPr kumimoji="1" lang="ja-JP" altLang="en-US" sz="1100" b="0">
                        <a:solidFill>
                          <a:schemeClr val="tx1">
                            <a:lumMod val="65000"/>
                            <a:lumOff val="35000"/>
                          </a:schemeClr>
                        </a:solidFill>
                      </a:endParaRPr>
                    </a:p>
                  </a:txBody>
                  <a:tcPr marL="36000" marR="36000" marT="36000" marB="36000" vert="eaVert" anchor="ctr">
                    <a:lnL w="12700"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l"/>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周辺</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35584661"/>
                  </a:ext>
                </a:extLst>
              </a:tr>
            </a:tbl>
          </a:graphicData>
        </a:graphic>
      </p:graphicFrame>
      <p:sp>
        <p:nvSpPr>
          <p:cNvPr id="59" name="テキスト ボックス 58">
            <a:extLst>
              <a:ext uri="{FF2B5EF4-FFF2-40B4-BE49-F238E27FC236}">
                <a16:creationId xmlns:a16="http://schemas.microsoft.com/office/drawing/2014/main" id="{6EB54FC1-86F2-CE13-9699-0754B392B65E}"/>
              </a:ext>
            </a:extLst>
          </p:cNvPr>
          <p:cNvSpPr txBox="1"/>
          <p:nvPr/>
        </p:nvSpPr>
        <p:spPr bwMode="auto">
          <a:xfrm>
            <a:off x="9304515" y="1815484"/>
            <a:ext cx="1777342" cy="338554"/>
          </a:xfrm>
          <a:prstGeom prst="rect">
            <a:avLst/>
          </a:prstGeom>
          <a:noFill/>
          <a:ln w="28575">
            <a:noFill/>
            <a:miter lim="800000"/>
            <a:headEnd/>
            <a:tailEnd/>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メイリオ"/>
              </a:rPr>
              <a:t>▼システム</a:t>
            </a:r>
            <a:r>
              <a:rPr kumimoji="1" lang="en-US" altLang="ja-JP" sz="16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メイリオ"/>
              </a:rPr>
              <a:t>C/O</a:t>
            </a:r>
            <a:endParaRPr kumimoji="1" lang="ja-JP" altLang="en-US" sz="16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メイリオ"/>
            </a:endParaRPr>
          </a:p>
        </p:txBody>
      </p:sp>
      <p:sp>
        <p:nvSpPr>
          <p:cNvPr id="60" name="矢印: 五方向 59">
            <a:extLst>
              <a:ext uri="{FF2B5EF4-FFF2-40B4-BE49-F238E27FC236}">
                <a16:creationId xmlns:a16="http://schemas.microsoft.com/office/drawing/2014/main" id="{3B29BC4E-E519-328F-4C52-6E2E59D7AC66}"/>
              </a:ext>
            </a:extLst>
          </p:cNvPr>
          <p:cNvSpPr/>
          <p:nvPr/>
        </p:nvSpPr>
        <p:spPr>
          <a:xfrm>
            <a:off x="8328509" y="5443870"/>
            <a:ext cx="1501350" cy="468453"/>
          </a:xfrm>
          <a:prstGeom prst="homePlate">
            <a:avLst>
              <a:gd name="adj" fmla="val 7486"/>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外結テスト、システムテスト、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移行リハ</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61" name="矢印: 五方向 60">
            <a:extLst>
              <a:ext uri="{FF2B5EF4-FFF2-40B4-BE49-F238E27FC236}">
                <a16:creationId xmlns:a16="http://schemas.microsoft.com/office/drawing/2014/main" id="{11D41FE8-C7E2-8D07-03E3-F6A08270C3C1}"/>
              </a:ext>
            </a:extLst>
          </p:cNvPr>
          <p:cNvSpPr/>
          <p:nvPr/>
        </p:nvSpPr>
        <p:spPr>
          <a:xfrm>
            <a:off x="4560374" y="5445389"/>
            <a:ext cx="747912"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要件定義</a:t>
            </a:r>
          </a:p>
        </p:txBody>
      </p:sp>
      <p:sp>
        <p:nvSpPr>
          <p:cNvPr id="62" name="矢印: 五方向 61">
            <a:extLst>
              <a:ext uri="{FF2B5EF4-FFF2-40B4-BE49-F238E27FC236}">
                <a16:creationId xmlns:a16="http://schemas.microsoft.com/office/drawing/2014/main" id="{0E9C15AD-5F74-E032-DE58-0DCD7938863D}"/>
              </a:ext>
            </a:extLst>
          </p:cNvPr>
          <p:cNvSpPr/>
          <p:nvPr/>
        </p:nvSpPr>
        <p:spPr>
          <a:xfrm>
            <a:off x="5354548" y="5445389"/>
            <a:ext cx="2108136"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開発～サブ内サブ間結合テスト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65" name="矢印: 五方向 64">
            <a:extLst>
              <a:ext uri="{FF2B5EF4-FFF2-40B4-BE49-F238E27FC236}">
                <a16:creationId xmlns:a16="http://schemas.microsoft.com/office/drawing/2014/main" id="{55485D08-3C87-0560-BE7C-8AF387C88E2C}"/>
              </a:ext>
            </a:extLst>
          </p:cNvPr>
          <p:cNvSpPr/>
          <p:nvPr/>
        </p:nvSpPr>
        <p:spPr>
          <a:xfrm>
            <a:off x="3768596" y="5445388"/>
            <a:ext cx="717692" cy="324000"/>
          </a:xfrm>
          <a:prstGeom prst="homePlate">
            <a:avLst>
              <a:gd name="adj" fmla="val 17186"/>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ビジ検</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66" name="矢印: 五方向 65">
            <a:extLst>
              <a:ext uri="{FF2B5EF4-FFF2-40B4-BE49-F238E27FC236}">
                <a16:creationId xmlns:a16="http://schemas.microsoft.com/office/drawing/2014/main" id="{D6832C72-A40C-2488-A0B3-0B7E45CA4FF8}"/>
              </a:ext>
            </a:extLst>
          </p:cNvPr>
          <p:cNvSpPr/>
          <p:nvPr/>
        </p:nvSpPr>
        <p:spPr>
          <a:xfrm>
            <a:off x="4604566" y="5960260"/>
            <a:ext cx="694293" cy="1908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ビジ検</a:t>
            </a:r>
          </a:p>
        </p:txBody>
      </p:sp>
      <p:sp>
        <p:nvSpPr>
          <p:cNvPr id="69" name="矢印: 五方向 68">
            <a:extLst>
              <a:ext uri="{FF2B5EF4-FFF2-40B4-BE49-F238E27FC236}">
                <a16:creationId xmlns:a16="http://schemas.microsoft.com/office/drawing/2014/main" id="{CD87EF52-57C3-FCEC-5F82-655F0C73ADC4}"/>
              </a:ext>
            </a:extLst>
          </p:cNvPr>
          <p:cNvSpPr/>
          <p:nvPr/>
        </p:nvSpPr>
        <p:spPr>
          <a:xfrm>
            <a:off x="5367098" y="5960260"/>
            <a:ext cx="2885863" cy="190800"/>
          </a:xfrm>
          <a:prstGeom prst="homePlate">
            <a:avLst>
              <a:gd name="adj" fmla="val 33437"/>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要件定義～内結</a:t>
            </a:r>
          </a:p>
        </p:txBody>
      </p:sp>
      <p:cxnSp>
        <p:nvCxnSpPr>
          <p:cNvPr id="70" name="カギ線コネクタ 43">
            <a:extLst>
              <a:ext uri="{FF2B5EF4-FFF2-40B4-BE49-F238E27FC236}">
                <a16:creationId xmlns:a16="http://schemas.microsoft.com/office/drawing/2014/main" id="{7DBFD9D6-0180-4C6A-0DB6-53160BAFCA20}"/>
              </a:ext>
            </a:extLst>
          </p:cNvPr>
          <p:cNvCxnSpPr>
            <a:cxnSpLocks/>
            <a:endCxn id="69" idx="3"/>
          </p:cNvCxnSpPr>
          <p:nvPr/>
        </p:nvCxnSpPr>
        <p:spPr>
          <a:xfrm rot="5400000">
            <a:off x="8227401" y="5940080"/>
            <a:ext cx="141141" cy="90019"/>
          </a:xfrm>
          <a:prstGeom prst="bentConnector2">
            <a:avLst/>
          </a:prstGeom>
          <a:ln w="25400">
            <a:solidFill>
              <a:schemeClr val="accent4">
                <a:lumMod val="65000"/>
                <a:lumOff val="35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71" name="矢印: 五方向 70">
            <a:extLst>
              <a:ext uri="{FF2B5EF4-FFF2-40B4-BE49-F238E27FC236}">
                <a16:creationId xmlns:a16="http://schemas.microsoft.com/office/drawing/2014/main" id="{0F61827E-B4D2-3B66-4E3B-992B7171F861}"/>
              </a:ext>
            </a:extLst>
          </p:cNvPr>
          <p:cNvSpPr/>
          <p:nvPr/>
        </p:nvSpPr>
        <p:spPr>
          <a:xfrm>
            <a:off x="3231143" y="5443282"/>
            <a:ext cx="481500"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ビジ検</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準備</a:t>
            </a:r>
          </a:p>
        </p:txBody>
      </p:sp>
      <p:cxnSp>
        <p:nvCxnSpPr>
          <p:cNvPr id="72" name="カギ線コネクタ 43">
            <a:extLst>
              <a:ext uri="{FF2B5EF4-FFF2-40B4-BE49-F238E27FC236}">
                <a16:creationId xmlns:a16="http://schemas.microsoft.com/office/drawing/2014/main" id="{1101F734-EB9A-567C-6AB6-A0EB80793CB8}"/>
              </a:ext>
            </a:extLst>
          </p:cNvPr>
          <p:cNvCxnSpPr>
            <a:cxnSpLocks/>
            <a:stCxn id="66" idx="1"/>
            <a:endCxn id="65" idx="3"/>
          </p:cNvCxnSpPr>
          <p:nvPr/>
        </p:nvCxnSpPr>
        <p:spPr>
          <a:xfrm rot="10800000">
            <a:off x="4486288" y="5607388"/>
            <a:ext cx="118278" cy="448272"/>
          </a:xfrm>
          <a:prstGeom prst="bentConnector3">
            <a:avLst>
              <a:gd name="adj1" fmla="val 50000"/>
            </a:avLst>
          </a:prstGeom>
          <a:ln w="25400">
            <a:solidFill>
              <a:schemeClr val="accent4">
                <a:lumMod val="65000"/>
                <a:lumOff val="35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73" name="矢印: 五方向 72">
            <a:extLst>
              <a:ext uri="{FF2B5EF4-FFF2-40B4-BE49-F238E27FC236}">
                <a16:creationId xmlns:a16="http://schemas.microsoft.com/office/drawing/2014/main" id="{F61A5F59-A3CF-E327-FF80-31468D769646}"/>
              </a:ext>
            </a:extLst>
          </p:cNvPr>
          <p:cNvSpPr/>
          <p:nvPr/>
        </p:nvSpPr>
        <p:spPr>
          <a:xfrm>
            <a:off x="10753446" y="5440793"/>
            <a:ext cx="156623" cy="710424"/>
          </a:xfrm>
          <a:prstGeom prst="homePlate">
            <a:avLst>
              <a:gd name="adj" fmla="val 7486"/>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eaVert"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切替準備</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74" name="矢印: 五方向 73">
            <a:extLst>
              <a:ext uri="{FF2B5EF4-FFF2-40B4-BE49-F238E27FC236}">
                <a16:creationId xmlns:a16="http://schemas.microsoft.com/office/drawing/2014/main" id="{28208B9A-BE7B-FAA2-9331-7CAC4C31352E}"/>
              </a:ext>
            </a:extLst>
          </p:cNvPr>
          <p:cNvSpPr/>
          <p:nvPr/>
        </p:nvSpPr>
        <p:spPr>
          <a:xfrm>
            <a:off x="4540494" y="4147036"/>
            <a:ext cx="762048" cy="190800"/>
          </a:xfrm>
          <a:prstGeom prst="homePlate">
            <a:avLst>
              <a:gd name="adj" fmla="val 33437"/>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追付き開発</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75" name="矢印: 五方向 74">
            <a:extLst>
              <a:ext uri="{FF2B5EF4-FFF2-40B4-BE49-F238E27FC236}">
                <a16:creationId xmlns:a16="http://schemas.microsoft.com/office/drawing/2014/main" id="{BCAA1918-D5C4-CEEB-2C3F-97F2CAB5414D}"/>
              </a:ext>
            </a:extLst>
          </p:cNvPr>
          <p:cNvSpPr/>
          <p:nvPr/>
        </p:nvSpPr>
        <p:spPr>
          <a:xfrm>
            <a:off x="1376671" y="3071687"/>
            <a:ext cx="696005"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CRP2</a:t>
            </a: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ｱﾄﾞｵﾝ基設</a:t>
            </a:r>
          </a:p>
        </p:txBody>
      </p:sp>
      <p:sp>
        <p:nvSpPr>
          <p:cNvPr id="76" name="矢印: 五方向 75">
            <a:extLst>
              <a:ext uri="{FF2B5EF4-FFF2-40B4-BE49-F238E27FC236}">
                <a16:creationId xmlns:a16="http://schemas.microsoft.com/office/drawing/2014/main" id="{B2A3BCCE-44DC-8E1A-CFFD-8F7AA3FE03C7}"/>
              </a:ext>
            </a:extLst>
          </p:cNvPr>
          <p:cNvSpPr/>
          <p:nvPr/>
        </p:nvSpPr>
        <p:spPr>
          <a:xfrm>
            <a:off x="2145076" y="3071687"/>
            <a:ext cx="1260174"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ｱﾄﾞｵﾝ基設</a:t>
            </a:r>
          </a:p>
        </p:txBody>
      </p:sp>
      <p:sp>
        <p:nvSpPr>
          <p:cNvPr id="77" name="矢印: 五方向 76">
            <a:extLst>
              <a:ext uri="{FF2B5EF4-FFF2-40B4-BE49-F238E27FC236}">
                <a16:creationId xmlns:a16="http://schemas.microsoft.com/office/drawing/2014/main" id="{882B49DC-3FD9-7323-00B8-9B405797D027}"/>
              </a:ext>
            </a:extLst>
          </p:cNvPr>
          <p:cNvSpPr/>
          <p:nvPr/>
        </p:nvSpPr>
        <p:spPr>
          <a:xfrm>
            <a:off x="1376671" y="3499794"/>
            <a:ext cx="696005" cy="559246"/>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要件定義</a:t>
            </a:r>
          </a:p>
        </p:txBody>
      </p:sp>
      <p:sp>
        <p:nvSpPr>
          <p:cNvPr id="78" name="矢印: 五方向 77">
            <a:extLst>
              <a:ext uri="{FF2B5EF4-FFF2-40B4-BE49-F238E27FC236}">
                <a16:creationId xmlns:a16="http://schemas.microsoft.com/office/drawing/2014/main" id="{3B357DA8-311C-F38F-BBA0-086E42622748}"/>
              </a:ext>
            </a:extLst>
          </p:cNvPr>
          <p:cNvSpPr/>
          <p:nvPr/>
        </p:nvSpPr>
        <p:spPr>
          <a:xfrm>
            <a:off x="4544468" y="3512236"/>
            <a:ext cx="1011350" cy="546804"/>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サブ内</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a:t>
            </a: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サブ間</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結合テスト</a:t>
            </a:r>
          </a:p>
        </p:txBody>
      </p:sp>
      <p:sp>
        <p:nvSpPr>
          <p:cNvPr id="79" name="矢印: 五方向 78">
            <a:extLst>
              <a:ext uri="{FF2B5EF4-FFF2-40B4-BE49-F238E27FC236}">
                <a16:creationId xmlns:a16="http://schemas.microsoft.com/office/drawing/2014/main" id="{1048F200-FAF7-24D1-9D60-0A757EEACE5D}"/>
              </a:ext>
            </a:extLst>
          </p:cNvPr>
          <p:cNvSpPr/>
          <p:nvPr/>
        </p:nvSpPr>
        <p:spPr>
          <a:xfrm>
            <a:off x="4544468" y="3071687"/>
            <a:ext cx="1011350"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サブ内</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a:t>
            </a: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サブ間</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結合テスト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80" name="矢印: 五方向 79">
            <a:extLst>
              <a:ext uri="{FF2B5EF4-FFF2-40B4-BE49-F238E27FC236}">
                <a16:creationId xmlns:a16="http://schemas.microsoft.com/office/drawing/2014/main" id="{BC4BFCB1-7B2A-6A54-1915-D8347AEE7419}"/>
              </a:ext>
            </a:extLst>
          </p:cNvPr>
          <p:cNvSpPr/>
          <p:nvPr/>
        </p:nvSpPr>
        <p:spPr>
          <a:xfrm>
            <a:off x="5637654" y="4427482"/>
            <a:ext cx="461238" cy="383421"/>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外結</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1</a:t>
            </a:r>
          </a:p>
        </p:txBody>
      </p:sp>
      <p:sp>
        <p:nvSpPr>
          <p:cNvPr id="81" name="矢印: 五方向 80">
            <a:extLst>
              <a:ext uri="{FF2B5EF4-FFF2-40B4-BE49-F238E27FC236}">
                <a16:creationId xmlns:a16="http://schemas.microsoft.com/office/drawing/2014/main" id="{0FBFDF25-ABB6-33A8-2F5E-97B8F0C239D2}"/>
              </a:ext>
            </a:extLst>
          </p:cNvPr>
          <p:cNvSpPr/>
          <p:nvPr/>
        </p:nvSpPr>
        <p:spPr>
          <a:xfrm>
            <a:off x="1376671" y="4486905"/>
            <a:ext cx="683391"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ｲﾝﾊﾟｸﾄ</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分析概要</a:t>
            </a:r>
          </a:p>
        </p:txBody>
      </p:sp>
      <p:sp>
        <p:nvSpPr>
          <p:cNvPr id="82" name="矢印: 五方向 81">
            <a:extLst>
              <a:ext uri="{FF2B5EF4-FFF2-40B4-BE49-F238E27FC236}">
                <a16:creationId xmlns:a16="http://schemas.microsoft.com/office/drawing/2014/main" id="{616B0B5D-279C-BF88-ACF4-4FB7F13B61BE}"/>
              </a:ext>
            </a:extLst>
          </p:cNvPr>
          <p:cNvSpPr/>
          <p:nvPr/>
        </p:nvSpPr>
        <p:spPr>
          <a:xfrm>
            <a:off x="1577685" y="4905648"/>
            <a:ext cx="497949" cy="1908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影響調査</a:t>
            </a:r>
          </a:p>
        </p:txBody>
      </p:sp>
      <p:sp>
        <p:nvSpPr>
          <p:cNvPr id="83" name="矢印: 五方向 82">
            <a:extLst>
              <a:ext uri="{FF2B5EF4-FFF2-40B4-BE49-F238E27FC236}">
                <a16:creationId xmlns:a16="http://schemas.microsoft.com/office/drawing/2014/main" id="{80FD6ADB-CA55-14F1-68E7-6F52D79AA7A6}"/>
              </a:ext>
            </a:extLst>
          </p:cNvPr>
          <p:cNvSpPr/>
          <p:nvPr/>
        </p:nvSpPr>
        <p:spPr>
          <a:xfrm>
            <a:off x="2960393" y="5153880"/>
            <a:ext cx="3143956" cy="190800"/>
          </a:xfrm>
          <a:prstGeom prst="homePlate">
            <a:avLst>
              <a:gd name="adj" fmla="val 20905"/>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要件定義～内部結合テスト</a:t>
            </a:r>
          </a:p>
        </p:txBody>
      </p:sp>
      <p:sp>
        <p:nvSpPr>
          <p:cNvPr id="84" name="矢印: 五方向 83">
            <a:extLst>
              <a:ext uri="{FF2B5EF4-FFF2-40B4-BE49-F238E27FC236}">
                <a16:creationId xmlns:a16="http://schemas.microsoft.com/office/drawing/2014/main" id="{3192BEB2-0EB1-E09C-F37B-E81279D17F23}"/>
              </a:ext>
            </a:extLst>
          </p:cNvPr>
          <p:cNvSpPr/>
          <p:nvPr/>
        </p:nvSpPr>
        <p:spPr>
          <a:xfrm>
            <a:off x="6173347" y="4427483"/>
            <a:ext cx="739088" cy="917197"/>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外部結合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テスト</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2</a:t>
            </a:r>
            <a:endPar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85" name="矢印: 五方向 84">
            <a:extLst>
              <a:ext uri="{FF2B5EF4-FFF2-40B4-BE49-F238E27FC236}">
                <a16:creationId xmlns:a16="http://schemas.microsoft.com/office/drawing/2014/main" id="{96871FEC-77C4-D9D7-E0C0-C463A2FAE31B}"/>
              </a:ext>
            </a:extLst>
          </p:cNvPr>
          <p:cNvSpPr/>
          <p:nvPr/>
        </p:nvSpPr>
        <p:spPr>
          <a:xfrm>
            <a:off x="6986890" y="4427483"/>
            <a:ext cx="1250271" cy="917197"/>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システムテスト、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移行リハ</a:t>
            </a:r>
          </a:p>
        </p:txBody>
      </p:sp>
      <p:sp>
        <p:nvSpPr>
          <p:cNvPr id="86" name="矢印: 五方向 85">
            <a:extLst>
              <a:ext uri="{FF2B5EF4-FFF2-40B4-BE49-F238E27FC236}">
                <a16:creationId xmlns:a16="http://schemas.microsoft.com/office/drawing/2014/main" id="{1BCFE63D-CE6D-A0BD-CB3C-1164FFAEA9B6}"/>
              </a:ext>
            </a:extLst>
          </p:cNvPr>
          <p:cNvSpPr/>
          <p:nvPr/>
        </p:nvSpPr>
        <p:spPr>
          <a:xfrm>
            <a:off x="2139797" y="4905648"/>
            <a:ext cx="974943" cy="1908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ビジ検</a:t>
            </a:r>
          </a:p>
        </p:txBody>
      </p:sp>
      <p:sp>
        <p:nvSpPr>
          <p:cNvPr id="87" name="矢印: 五方向 86">
            <a:extLst>
              <a:ext uri="{FF2B5EF4-FFF2-40B4-BE49-F238E27FC236}">
                <a16:creationId xmlns:a16="http://schemas.microsoft.com/office/drawing/2014/main" id="{8D37DC01-CD2A-757D-14F7-A85260F4F69C}"/>
              </a:ext>
            </a:extLst>
          </p:cNvPr>
          <p:cNvSpPr/>
          <p:nvPr/>
        </p:nvSpPr>
        <p:spPr>
          <a:xfrm>
            <a:off x="2145075" y="4427483"/>
            <a:ext cx="683391" cy="189182"/>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要件定義</a:t>
            </a:r>
          </a:p>
        </p:txBody>
      </p:sp>
      <p:sp>
        <p:nvSpPr>
          <p:cNvPr id="88" name="テキスト ボックス 87">
            <a:extLst>
              <a:ext uri="{FF2B5EF4-FFF2-40B4-BE49-F238E27FC236}">
                <a16:creationId xmlns:a16="http://schemas.microsoft.com/office/drawing/2014/main" id="{2037B3D5-6BC2-0601-2081-A696E7CCE0D7}"/>
              </a:ext>
            </a:extLst>
          </p:cNvPr>
          <p:cNvSpPr txBox="1"/>
          <p:nvPr/>
        </p:nvSpPr>
        <p:spPr bwMode="auto">
          <a:xfrm>
            <a:off x="3288292" y="4136603"/>
            <a:ext cx="1068151" cy="230832"/>
          </a:xfrm>
          <a:prstGeom prst="rect">
            <a:avLst/>
          </a:prstGeom>
          <a:noFill/>
          <a:ln w="9525">
            <a:noFill/>
            <a:miter lim="800000"/>
            <a:headEnd/>
            <a:tailEnd/>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追加開発判断▼</a:t>
            </a:r>
          </a:p>
        </p:txBody>
      </p:sp>
      <p:sp>
        <p:nvSpPr>
          <p:cNvPr id="89" name="矢印: 五方向 88">
            <a:extLst>
              <a:ext uri="{FF2B5EF4-FFF2-40B4-BE49-F238E27FC236}">
                <a16:creationId xmlns:a16="http://schemas.microsoft.com/office/drawing/2014/main" id="{762E8813-CBAA-2C90-413A-9DC2B8726752}"/>
              </a:ext>
            </a:extLst>
          </p:cNvPr>
          <p:cNvSpPr/>
          <p:nvPr/>
        </p:nvSpPr>
        <p:spPr>
          <a:xfrm>
            <a:off x="3507340" y="3071687"/>
            <a:ext cx="974944"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標準機能動作確認、</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アドオン詳設・開発・単体</a:t>
            </a:r>
          </a:p>
        </p:txBody>
      </p:sp>
      <p:sp>
        <p:nvSpPr>
          <p:cNvPr id="90" name="矢印: 五方向 89">
            <a:extLst>
              <a:ext uri="{FF2B5EF4-FFF2-40B4-BE49-F238E27FC236}">
                <a16:creationId xmlns:a16="http://schemas.microsoft.com/office/drawing/2014/main" id="{D59D1012-100C-627D-53D2-E1A95AB4B211}"/>
              </a:ext>
            </a:extLst>
          </p:cNvPr>
          <p:cNvSpPr/>
          <p:nvPr/>
        </p:nvSpPr>
        <p:spPr>
          <a:xfrm>
            <a:off x="9107131" y="3093276"/>
            <a:ext cx="202731" cy="772444"/>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切替準備</a:t>
            </a:r>
          </a:p>
        </p:txBody>
      </p:sp>
      <p:sp>
        <p:nvSpPr>
          <p:cNvPr id="91" name="矢印: 五方向 90">
            <a:extLst>
              <a:ext uri="{FF2B5EF4-FFF2-40B4-BE49-F238E27FC236}">
                <a16:creationId xmlns:a16="http://schemas.microsoft.com/office/drawing/2014/main" id="{56A63CAA-7866-C68B-D8B8-68077CEEFB56}"/>
              </a:ext>
            </a:extLst>
          </p:cNvPr>
          <p:cNvSpPr/>
          <p:nvPr/>
        </p:nvSpPr>
        <p:spPr>
          <a:xfrm>
            <a:off x="8568087" y="3108038"/>
            <a:ext cx="444551" cy="749529"/>
          </a:xfrm>
          <a:prstGeom prst="homePlate">
            <a:avLst>
              <a:gd name="adj" fmla="val 15849"/>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バッファ</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2" name="矢印: 五方向 91">
            <a:extLst>
              <a:ext uri="{FF2B5EF4-FFF2-40B4-BE49-F238E27FC236}">
                <a16:creationId xmlns:a16="http://schemas.microsoft.com/office/drawing/2014/main" id="{23BB43AD-05D5-6073-3833-28D995A09E8F}"/>
              </a:ext>
            </a:extLst>
          </p:cNvPr>
          <p:cNvSpPr/>
          <p:nvPr/>
        </p:nvSpPr>
        <p:spPr>
          <a:xfrm>
            <a:off x="9418352" y="2655330"/>
            <a:ext cx="1454557" cy="324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業務習熟期間</a:t>
            </a:r>
          </a:p>
        </p:txBody>
      </p:sp>
      <p:sp>
        <p:nvSpPr>
          <p:cNvPr id="93" name="矢印: 五方向 92">
            <a:extLst>
              <a:ext uri="{FF2B5EF4-FFF2-40B4-BE49-F238E27FC236}">
                <a16:creationId xmlns:a16="http://schemas.microsoft.com/office/drawing/2014/main" id="{B829E76D-61DC-2176-7391-51C7A7D846C3}"/>
              </a:ext>
            </a:extLst>
          </p:cNvPr>
          <p:cNvSpPr/>
          <p:nvPr/>
        </p:nvSpPr>
        <p:spPr>
          <a:xfrm>
            <a:off x="10470025" y="3123087"/>
            <a:ext cx="444551" cy="2218519"/>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移行</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準備</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4" name="矢印: 五方向 93">
            <a:extLst>
              <a:ext uri="{FF2B5EF4-FFF2-40B4-BE49-F238E27FC236}">
                <a16:creationId xmlns:a16="http://schemas.microsoft.com/office/drawing/2014/main" id="{6919AF82-C989-B086-2482-DF8671F02359}"/>
              </a:ext>
            </a:extLst>
          </p:cNvPr>
          <p:cNvSpPr/>
          <p:nvPr/>
        </p:nvSpPr>
        <p:spPr>
          <a:xfrm>
            <a:off x="10996412" y="3123087"/>
            <a:ext cx="202731" cy="2229881"/>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期首残高移行</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5" name="矢印: 五方向 94">
            <a:extLst>
              <a:ext uri="{FF2B5EF4-FFF2-40B4-BE49-F238E27FC236}">
                <a16:creationId xmlns:a16="http://schemas.microsoft.com/office/drawing/2014/main" id="{94DC38D9-56F4-D2A0-5011-E257FD6A4695}"/>
              </a:ext>
            </a:extLst>
          </p:cNvPr>
          <p:cNvSpPr/>
          <p:nvPr/>
        </p:nvSpPr>
        <p:spPr>
          <a:xfrm>
            <a:off x="7503611" y="5458377"/>
            <a:ext cx="724204" cy="324000"/>
          </a:xfrm>
          <a:prstGeom prst="homePlate">
            <a:avLst>
              <a:gd name="adj" fmla="val 15849"/>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バッファ</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6" name="矢印: 五方向 95">
            <a:extLst>
              <a:ext uri="{FF2B5EF4-FFF2-40B4-BE49-F238E27FC236}">
                <a16:creationId xmlns:a16="http://schemas.microsoft.com/office/drawing/2014/main" id="{6CB5E71F-12DE-874D-2DC7-A621BDCDA0D9}"/>
              </a:ext>
            </a:extLst>
          </p:cNvPr>
          <p:cNvSpPr/>
          <p:nvPr/>
        </p:nvSpPr>
        <p:spPr>
          <a:xfrm>
            <a:off x="9924152" y="5440793"/>
            <a:ext cx="732437" cy="706841"/>
          </a:xfrm>
          <a:prstGeom prst="homePlate">
            <a:avLst>
              <a:gd name="adj" fmla="val 15849"/>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バッファ</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7" name="矢印: 五方向 96">
            <a:extLst>
              <a:ext uri="{FF2B5EF4-FFF2-40B4-BE49-F238E27FC236}">
                <a16:creationId xmlns:a16="http://schemas.microsoft.com/office/drawing/2014/main" id="{251B81C4-7021-527A-95D7-0538EC8215D8}"/>
              </a:ext>
            </a:extLst>
          </p:cNvPr>
          <p:cNvSpPr/>
          <p:nvPr/>
        </p:nvSpPr>
        <p:spPr>
          <a:xfrm>
            <a:off x="7765222" y="2655330"/>
            <a:ext cx="744793" cy="324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UAT</a:t>
            </a:r>
            <a:endPar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8" name="矢印: 五方向 97">
            <a:extLst>
              <a:ext uri="{FF2B5EF4-FFF2-40B4-BE49-F238E27FC236}">
                <a16:creationId xmlns:a16="http://schemas.microsoft.com/office/drawing/2014/main" id="{CB9C0C8D-0788-50C8-6304-A9D70C67AB3E}"/>
              </a:ext>
            </a:extLst>
          </p:cNvPr>
          <p:cNvSpPr/>
          <p:nvPr/>
        </p:nvSpPr>
        <p:spPr>
          <a:xfrm>
            <a:off x="2682043" y="4635592"/>
            <a:ext cx="996789" cy="189182"/>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基本設計</a:t>
            </a:r>
          </a:p>
        </p:txBody>
      </p:sp>
      <p:sp>
        <p:nvSpPr>
          <p:cNvPr id="99" name="矢印: 五方向 98">
            <a:extLst>
              <a:ext uri="{FF2B5EF4-FFF2-40B4-BE49-F238E27FC236}">
                <a16:creationId xmlns:a16="http://schemas.microsoft.com/office/drawing/2014/main" id="{0F96CBC7-6E1C-6A8E-4C80-06B2A967C1DB}"/>
              </a:ext>
            </a:extLst>
          </p:cNvPr>
          <p:cNvSpPr/>
          <p:nvPr/>
        </p:nvSpPr>
        <p:spPr>
          <a:xfrm>
            <a:off x="3712643" y="4427483"/>
            <a:ext cx="1859852" cy="189182"/>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詳設・開発・単体・</a:t>
            </a: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サブ内</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a:t>
            </a: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サブ間結合</a:t>
            </a:r>
          </a:p>
        </p:txBody>
      </p:sp>
      <p:sp>
        <p:nvSpPr>
          <p:cNvPr id="100" name="矢印: 五方向 99">
            <a:extLst>
              <a:ext uri="{FF2B5EF4-FFF2-40B4-BE49-F238E27FC236}">
                <a16:creationId xmlns:a16="http://schemas.microsoft.com/office/drawing/2014/main" id="{6ABA2951-E563-4E35-BFEB-87F75FAD84A6}"/>
              </a:ext>
            </a:extLst>
          </p:cNvPr>
          <p:cNvSpPr/>
          <p:nvPr/>
        </p:nvSpPr>
        <p:spPr>
          <a:xfrm>
            <a:off x="2174766" y="3438582"/>
            <a:ext cx="1479545" cy="112256"/>
          </a:xfrm>
          <a:prstGeom prst="homePlate">
            <a:avLst>
              <a:gd name="adj" fmla="val 33437"/>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スクラッチ販管　基本設計</a:t>
            </a:r>
          </a:p>
        </p:txBody>
      </p:sp>
      <p:sp>
        <p:nvSpPr>
          <p:cNvPr id="101" name="矢印: 五方向 100">
            <a:extLst>
              <a:ext uri="{FF2B5EF4-FFF2-40B4-BE49-F238E27FC236}">
                <a16:creationId xmlns:a16="http://schemas.microsoft.com/office/drawing/2014/main" id="{625CDB21-88EA-54AC-BCE5-ABA2D0379DEA}"/>
              </a:ext>
            </a:extLst>
          </p:cNvPr>
          <p:cNvSpPr/>
          <p:nvPr/>
        </p:nvSpPr>
        <p:spPr>
          <a:xfrm>
            <a:off x="3507340" y="3499794"/>
            <a:ext cx="974944" cy="559246"/>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詳設・開発・単体</a:t>
            </a:r>
          </a:p>
        </p:txBody>
      </p:sp>
      <p:sp>
        <p:nvSpPr>
          <p:cNvPr id="102" name="矢印: 五方向 101">
            <a:extLst>
              <a:ext uri="{FF2B5EF4-FFF2-40B4-BE49-F238E27FC236}">
                <a16:creationId xmlns:a16="http://schemas.microsoft.com/office/drawing/2014/main" id="{215140F1-0285-2C49-54AF-63E907DFD5CB}"/>
              </a:ext>
            </a:extLst>
          </p:cNvPr>
          <p:cNvSpPr/>
          <p:nvPr/>
        </p:nvSpPr>
        <p:spPr>
          <a:xfrm>
            <a:off x="2145076" y="3542917"/>
            <a:ext cx="1260174" cy="516123"/>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基本設計</a:t>
            </a:r>
          </a:p>
        </p:txBody>
      </p:sp>
      <p:sp>
        <p:nvSpPr>
          <p:cNvPr id="103" name="矢印: 五方向 102">
            <a:extLst>
              <a:ext uri="{FF2B5EF4-FFF2-40B4-BE49-F238E27FC236}">
                <a16:creationId xmlns:a16="http://schemas.microsoft.com/office/drawing/2014/main" id="{C84DD558-1B3F-216B-A5B8-13E55DAF6475}"/>
              </a:ext>
            </a:extLst>
          </p:cNvPr>
          <p:cNvSpPr/>
          <p:nvPr/>
        </p:nvSpPr>
        <p:spPr>
          <a:xfrm>
            <a:off x="5621448" y="3108039"/>
            <a:ext cx="461238" cy="735195"/>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外結</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1</a:t>
            </a:r>
          </a:p>
        </p:txBody>
      </p:sp>
      <p:sp>
        <p:nvSpPr>
          <p:cNvPr id="104" name="矢印: 五方向 103">
            <a:extLst>
              <a:ext uri="{FF2B5EF4-FFF2-40B4-BE49-F238E27FC236}">
                <a16:creationId xmlns:a16="http://schemas.microsoft.com/office/drawing/2014/main" id="{4C64DE81-6403-D57E-8F1E-58050B92A156}"/>
              </a:ext>
            </a:extLst>
          </p:cNvPr>
          <p:cNvSpPr/>
          <p:nvPr/>
        </p:nvSpPr>
        <p:spPr>
          <a:xfrm>
            <a:off x="6157141" y="3108040"/>
            <a:ext cx="739088" cy="749527"/>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外部結合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テスト</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2</a:t>
            </a:r>
            <a:endPar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05" name="矢印: 五方向 104">
            <a:extLst>
              <a:ext uri="{FF2B5EF4-FFF2-40B4-BE49-F238E27FC236}">
                <a16:creationId xmlns:a16="http://schemas.microsoft.com/office/drawing/2014/main" id="{36192E57-DC79-1FB6-F9C9-DFAACAB215F7}"/>
              </a:ext>
            </a:extLst>
          </p:cNvPr>
          <p:cNvSpPr/>
          <p:nvPr/>
        </p:nvSpPr>
        <p:spPr>
          <a:xfrm>
            <a:off x="6970684" y="3108040"/>
            <a:ext cx="1250271" cy="749527"/>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システムテスト、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移行リハ</a:t>
            </a:r>
          </a:p>
        </p:txBody>
      </p:sp>
      <p:sp>
        <p:nvSpPr>
          <p:cNvPr id="106" name="矢印: 五方向 105">
            <a:extLst>
              <a:ext uri="{FF2B5EF4-FFF2-40B4-BE49-F238E27FC236}">
                <a16:creationId xmlns:a16="http://schemas.microsoft.com/office/drawing/2014/main" id="{5ED8DBF7-BF5F-BEAC-89F9-01FF6376EA04}"/>
              </a:ext>
            </a:extLst>
          </p:cNvPr>
          <p:cNvSpPr/>
          <p:nvPr/>
        </p:nvSpPr>
        <p:spPr>
          <a:xfrm>
            <a:off x="5590095" y="3911899"/>
            <a:ext cx="2666754" cy="1908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07" name="矢印: 五方向 106">
            <a:extLst>
              <a:ext uri="{FF2B5EF4-FFF2-40B4-BE49-F238E27FC236}">
                <a16:creationId xmlns:a16="http://schemas.microsoft.com/office/drawing/2014/main" id="{2983E51D-6BE9-5EC8-C537-8116CA69195F}"/>
              </a:ext>
            </a:extLst>
          </p:cNvPr>
          <p:cNvSpPr/>
          <p:nvPr/>
        </p:nvSpPr>
        <p:spPr>
          <a:xfrm>
            <a:off x="9128658" y="4438551"/>
            <a:ext cx="202731" cy="903055"/>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切替準備</a:t>
            </a:r>
          </a:p>
        </p:txBody>
      </p:sp>
      <p:sp>
        <p:nvSpPr>
          <p:cNvPr id="108" name="矢印: 五方向 107">
            <a:extLst>
              <a:ext uri="{FF2B5EF4-FFF2-40B4-BE49-F238E27FC236}">
                <a16:creationId xmlns:a16="http://schemas.microsoft.com/office/drawing/2014/main" id="{846A3E7C-4D44-B8CA-25D5-672355D8CB7D}"/>
              </a:ext>
            </a:extLst>
          </p:cNvPr>
          <p:cNvSpPr/>
          <p:nvPr/>
        </p:nvSpPr>
        <p:spPr>
          <a:xfrm>
            <a:off x="6157141" y="6200565"/>
            <a:ext cx="2080020" cy="1908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09" name="矢印: 五方向 108">
            <a:extLst>
              <a:ext uri="{FF2B5EF4-FFF2-40B4-BE49-F238E27FC236}">
                <a16:creationId xmlns:a16="http://schemas.microsoft.com/office/drawing/2014/main" id="{1C3EE2DB-B21C-9FEC-B2BD-6C1CE924C7BE}"/>
              </a:ext>
            </a:extLst>
          </p:cNvPr>
          <p:cNvSpPr/>
          <p:nvPr/>
        </p:nvSpPr>
        <p:spPr>
          <a:xfrm>
            <a:off x="8568087" y="4425559"/>
            <a:ext cx="444551" cy="916047"/>
          </a:xfrm>
          <a:prstGeom prst="homePlate">
            <a:avLst>
              <a:gd name="adj" fmla="val 15849"/>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バッファ</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cxnSp>
        <p:nvCxnSpPr>
          <p:cNvPr id="110" name="カギ線コネクタ 43">
            <a:extLst>
              <a:ext uri="{FF2B5EF4-FFF2-40B4-BE49-F238E27FC236}">
                <a16:creationId xmlns:a16="http://schemas.microsoft.com/office/drawing/2014/main" id="{AE9774CB-40FE-E4A0-6515-38D0225D3147}"/>
              </a:ext>
            </a:extLst>
          </p:cNvPr>
          <p:cNvCxnSpPr>
            <a:cxnSpLocks/>
            <a:endCxn id="74" idx="3"/>
          </p:cNvCxnSpPr>
          <p:nvPr/>
        </p:nvCxnSpPr>
        <p:spPr>
          <a:xfrm rot="5400000">
            <a:off x="5252536" y="3989519"/>
            <a:ext cx="302924" cy="202911"/>
          </a:xfrm>
          <a:prstGeom prst="bentConnector2">
            <a:avLst/>
          </a:prstGeom>
          <a:ln w="25400">
            <a:solidFill>
              <a:schemeClr val="accent4">
                <a:lumMod val="65000"/>
                <a:lumOff val="35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111" name="矢印: 五方向 110">
            <a:extLst>
              <a:ext uri="{FF2B5EF4-FFF2-40B4-BE49-F238E27FC236}">
                <a16:creationId xmlns:a16="http://schemas.microsoft.com/office/drawing/2014/main" id="{80B461E7-ACAB-0F36-A732-D62B6F506C3A}"/>
              </a:ext>
            </a:extLst>
          </p:cNvPr>
          <p:cNvSpPr/>
          <p:nvPr/>
        </p:nvSpPr>
        <p:spPr>
          <a:xfrm>
            <a:off x="8323675" y="6200565"/>
            <a:ext cx="1501350" cy="1908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12" name="矢印: 五方向 111">
            <a:extLst>
              <a:ext uri="{FF2B5EF4-FFF2-40B4-BE49-F238E27FC236}">
                <a16:creationId xmlns:a16="http://schemas.microsoft.com/office/drawing/2014/main" id="{75AB33BC-E752-347E-0E64-1F1B85F70DF8}"/>
              </a:ext>
            </a:extLst>
          </p:cNvPr>
          <p:cNvSpPr/>
          <p:nvPr/>
        </p:nvSpPr>
        <p:spPr>
          <a:xfrm>
            <a:off x="8323675" y="3911899"/>
            <a:ext cx="1501350" cy="1908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13" name="四角形: 角を丸くする 112">
            <a:extLst>
              <a:ext uri="{FF2B5EF4-FFF2-40B4-BE49-F238E27FC236}">
                <a16:creationId xmlns:a16="http://schemas.microsoft.com/office/drawing/2014/main" id="{4F0947A4-7157-E4A9-E4FD-F8B05EF4D07A}"/>
              </a:ext>
            </a:extLst>
          </p:cNvPr>
          <p:cNvSpPr/>
          <p:nvPr/>
        </p:nvSpPr>
        <p:spPr>
          <a:xfrm>
            <a:off x="6057195" y="2953955"/>
            <a:ext cx="165955" cy="2450717"/>
          </a:xfrm>
          <a:prstGeom prst="roundRect">
            <a:avLst/>
          </a:prstGeom>
          <a:noFill/>
          <a:ln w="38100">
            <a:solidFill>
              <a:schemeClr val="accent6">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cxnSp>
        <p:nvCxnSpPr>
          <p:cNvPr id="118" name="直線コネクタ 117">
            <a:extLst>
              <a:ext uri="{FF2B5EF4-FFF2-40B4-BE49-F238E27FC236}">
                <a16:creationId xmlns:a16="http://schemas.microsoft.com/office/drawing/2014/main" id="{FC34CD80-804A-71E7-A623-B3F130212A23}"/>
              </a:ext>
            </a:extLst>
          </p:cNvPr>
          <p:cNvCxnSpPr>
            <a:cxnSpLocks/>
          </p:cNvCxnSpPr>
          <p:nvPr/>
        </p:nvCxnSpPr>
        <p:spPr>
          <a:xfrm>
            <a:off x="8568087" y="2532807"/>
            <a:ext cx="539044" cy="1373435"/>
          </a:xfrm>
          <a:prstGeom prst="line">
            <a:avLst/>
          </a:prstGeom>
          <a:ln w="28575">
            <a:solidFill>
              <a:schemeClr val="accent6">
                <a:lumMod val="60000"/>
                <a:lumOff val="40000"/>
              </a:schemeClr>
            </a:solidFill>
            <a:headEnd w="lg" len="lg"/>
            <a:tailEnd type="oval"/>
          </a:ln>
        </p:spPr>
        <p:style>
          <a:lnRef idx="1">
            <a:schemeClr val="accent1"/>
          </a:lnRef>
          <a:fillRef idx="0">
            <a:schemeClr val="accent1"/>
          </a:fillRef>
          <a:effectRef idx="0">
            <a:schemeClr val="accent1"/>
          </a:effectRef>
          <a:fontRef idx="minor">
            <a:schemeClr val="tx1"/>
          </a:fontRef>
        </p:style>
      </p:cxnSp>
      <p:sp>
        <p:nvSpPr>
          <p:cNvPr id="119" name="テキスト ボックス 118">
            <a:extLst>
              <a:ext uri="{FF2B5EF4-FFF2-40B4-BE49-F238E27FC236}">
                <a16:creationId xmlns:a16="http://schemas.microsoft.com/office/drawing/2014/main" id="{AE34B55C-59F2-3B65-EB6D-BF08BF8FF1BB}"/>
              </a:ext>
            </a:extLst>
          </p:cNvPr>
          <p:cNvSpPr txBox="1"/>
          <p:nvPr/>
        </p:nvSpPr>
        <p:spPr bwMode="auto">
          <a:xfrm>
            <a:off x="10846036" y="2319684"/>
            <a:ext cx="1274993" cy="276999"/>
          </a:xfrm>
          <a:prstGeom prst="rect">
            <a:avLst/>
          </a:prstGeom>
          <a:noFill/>
          <a:ln w="9525">
            <a:noFill/>
            <a:miter lim="800000"/>
            <a:headEnd/>
            <a:tailEnd/>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▼周辺</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2</a:t>
            </a: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群</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C/O</a:t>
            </a:r>
            <a:endPar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endParaRPr>
          </a:p>
        </p:txBody>
      </p:sp>
      <p:sp>
        <p:nvSpPr>
          <p:cNvPr id="120" name="テキスト ボックス 119">
            <a:extLst>
              <a:ext uri="{FF2B5EF4-FFF2-40B4-BE49-F238E27FC236}">
                <a16:creationId xmlns:a16="http://schemas.microsoft.com/office/drawing/2014/main" id="{94511591-BB5F-A65B-7D7F-6EAF3239CEC5}"/>
              </a:ext>
            </a:extLst>
          </p:cNvPr>
          <p:cNvSpPr txBox="1"/>
          <p:nvPr/>
        </p:nvSpPr>
        <p:spPr bwMode="auto">
          <a:xfrm>
            <a:off x="9293204" y="2327199"/>
            <a:ext cx="1274993" cy="276999"/>
          </a:xfrm>
          <a:prstGeom prst="rect">
            <a:avLst/>
          </a:prstGeom>
          <a:noFill/>
          <a:ln w="9525">
            <a:noFill/>
            <a:miter lim="800000"/>
            <a:headEnd/>
            <a:tailEnd/>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▼周辺</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1</a:t>
            </a: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群</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C/O</a:t>
            </a:r>
            <a:endPar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endParaRPr>
          </a:p>
        </p:txBody>
      </p:sp>
      <p:cxnSp>
        <p:nvCxnSpPr>
          <p:cNvPr id="121" name="直線矢印コネクタ 120">
            <a:extLst>
              <a:ext uri="{FF2B5EF4-FFF2-40B4-BE49-F238E27FC236}">
                <a16:creationId xmlns:a16="http://schemas.microsoft.com/office/drawing/2014/main" id="{CAE95B1F-6EF8-7308-E1B9-536E6FC24A41}"/>
              </a:ext>
            </a:extLst>
          </p:cNvPr>
          <p:cNvCxnSpPr>
            <a:cxnSpLocks/>
          </p:cNvCxnSpPr>
          <p:nvPr/>
        </p:nvCxnSpPr>
        <p:spPr>
          <a:xfrm>
            <a:off x="9396575" y="2953955"/>
            <a:ext cx="1599837" cy="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2" name="テキスト ボックス 121">
            <a:extLst>
              <a:ext uri="{FF2B5EF4-FFF2-40B4-BE49-F238E27FC236}">
                <a16:creationId xmlns:a16="http://schemas.microsoft.com/office/drawing/2014/main" id="{85636B06-7656-2BB5-8CD6-30883A1C375C}"/>
              </a:ext>
            </a:extLst>
          </p:cNvPr>
          <p:cNvSpPr txBox="1"/>
          <p:nvPr/>
        </p:nvSpPr>
        <p:spPr bwMode="auto">
          <a:xfrm>
            <a:off x="9791615" y="2975582"/>
            <a:ext cx="716550" cy="276999"/>
          </a:xfrm>
          <a:prstGeom prst="rect">
            <a:avLst/>
          </a:prstGeom>
          <a:noFill/>
          <a:ln w="28575">
            <a:noFill/>
            <a:miter lim="800000"/>
            <a:headEnd/>
            <a:tailEnd/>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メイリオ"/>
              </a:rPr>
              <a:t>6</a:t>
            </a:r>
            <a:r>
              <a:rPr kumimoji="1" lang="ja-JP" altLang="en-US" sz="12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メイリオ"/>
              </a:rPr>
              <a:t>か月</a:t>
            </a:r>
          </a:p>
        </p:txBody>
      </p:sp>
      <p:sp>
        <p:nvSpPr>
          <p:cNvPr id="123" name="テキスト ボックス 122">
            <a:extLst>
              <a:ext uri="{FF2B5EF4-FFF2-40B4-BE49-F238E27FC236}">
                <a16:creationId xmlns:a16="http://schemas.microsoft.com/office/drawing/2014/main" id="{A15A89C0-1227-0FE5-AF0B-8FB8AB153A6A}"/>
              </a:ext>
            </a:extLst>
          </p:cNvPr>
          <p:cNvSpPr txBox="1"/>
          <p:nvPr/>
        </p:nvSpPr>
        <p:spPr bwMode="auto">
          <a:xfrm>
            <a:off x="10949296" y="3303713"/>
            <a:ext cx="987010" cy="461665"/>
          </a:xfrm>
          <a:prstGeom prst="rect">
            <a:avLst/>
          </a:prstGeom>
          <a:noFill/>
          <a:ln w="9525">
            <a:noFill/>
            <a:miter lim="800000"/>
            <a:headEnd/>
            <a:tailEnd/>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▼購買</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C/O</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　業務切替</a:t>
            </a:r>
          </a:p>
        </p:txBody>
      </p:sp>
      <p:sp>
        <p:nvSpPr>
          <p:cNvPr id="68" name="正方形/長方形 67">
            <a:extLst>
              <a:ext uri="{FF2B5EF4-FFF2-40B4-BE49-F238E27FC236}">
                <a16:creationId xmlns:a16="http://schemas.microsoft.com/office/drawing/2014/main" id="{0E1A37B3-F179-9272-05E3-AEDF7EFEAB21}"/>
              </a:ext>
            </a:extLst>
          </p:cNvPr>
          <p:cNvSpPr/>
          <p:nvPr/>
        </p:nvSpPr>
        <p:spPr>
          <a:xfrm>
            <a:off x="339865" y="4862395"/>
            <a:ext cx="11681636" cy="544400"/>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lIns="44308" tIns="44308" rIns="44308" bIns="44308" rtlCol="0" anchor="ctr"/>
          <a:lstStyle/>
          <a:p>
            <a:pPr algn="l"/>
            <a:endParaRPr kumimoji="1" lang="ja-JP" altLang="en-US" sz="1000">
              <a:solidFill>
                <a:prstClr val="black"/>
              </a:solidFill>
              <a:latin typeface="MS UI Gothic" panose="020B0600070205080204" pitchFamily="34" charset="-128"/>
              <a:ea typeface="MS UI Gothic" panose="020B0600070205080204" pitchFamily="34" charset="-128"/>
              <a:sym typeface="MS UI Gothic" panose="020B0600070205080204" pitchFamily="34" charset="-128"/>
            </a:endParaRPr>
          </a:p>
        </p:txBody>
      </p:sp>
      <p:sp>
        <p:nvSpPr>
          <p:cNvPr id="124" name="コンテンツ プレースホルダー 5">
            <a:extLst>
              <a:ext uri="{FF2B5EF4-FFF2-40B4-BE49-F238E27FC236}">
                <a16:creationId xmlns:a16="http://schemas.microsoft.com/office/drawing/2014/main" id="{9142F696-F6F6-00C0-3ED8-A6662756D2F9}"/>
              </a:ext>
            </a:extLst>
          </p:cNvPr>
          <p:cNvSpPr txBox="1">
            <a:spLocks/>
          </p:cNvSpPr>
          <p:nvPr/>
        </p:nvSpPr>
        <p:spPr>
          <a:xfrm>
            <a:off x="211394" y="614837"/>
            <a:ext cx="11525251" cy="716050"/>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基シス周辺システム対応は、</a:t>
            </a:r>
            <a:r>
              <a:rPr lang="en-US" altLang="ja-JP" sz="1600" kern="0"/>
              <a:t> JKK</a:t>
            </a:r>
            <a:r>
              <a:rPr lang="ja-JP" altLang="en-US" sz="1600" kern="0"/>
              <a:t>全体スケジュールの「周辺</a:t>
            </a:r>
            <a:r>
              <a:rPr lang="en-US" altLang="ja-JP" sz="1600" kern="0"/>
              <a:t>1</a:t>
            </a:r>
            <a:r>
              <a:rPr lang="ja-JP" altLang="en-US" sz="1600" kern="0"/>
              <a:t>群</a:t>
            </a:r>
            <a:r>
              <a:rPr lang="en-US" altLang="ja-JP" sz="1600" kern="0"/>
              <a:t>,2</a:t>
            </a:r>
            <a:r>
              <a:rPr lang="ja-JP" altLang="en-US" sz="1600" kern="0"/>
              <a:t>郡の周辺」として対応を進め、</a:t>
            </a:r>
            <a:br>
              <a:rPr lang="en-US" altLang="ja-JP" sz="1600" kern="0"/>
            </a:br>
            <a:r>
              <a:rPr lang="ja-JP" altLang="en-US" sz="1600">
                <a:cs typeface="Hiragino Kaku Gothic Pro W3" charset="-128"/>
              </a:rPr>
              <a:t>販売管理領域は</a:t>
            </a:r>
            <a:r>
              <a:rPr lang="en-US" altLang="ja-JP" sz="1600">
                <a:cs typeface="Hiragino Kaku Gothic Pro W3" charset="-128"/>
              </a:rPr>
              <a:t>2025</a:t>
            </a:r>
            <a:r>
              <a:rPr lang="ja-JP" altLang="en-US" sz="1600">
                <a:cs typeface="Hiragino Kaku Gothic Pro W3" charset="-128"/>
              </a:rPr>
              <a:t>年</a:t>
            </a:r>
            <a:r>
              <a:rPr lang="en-US" altLang="ja-JP" sz="1600">
                <a:cs typeface="Hiragino Kaku Gothic Pro W3" charset="-128"/>
              </a:rPr>
              <a:t>10</a:t>
            </a:r>
            <a:r>
              <a:rPr lang="ja-JP" altLang="en-US" sz="1600">
                <a:cs typeface="Hiragino Kaku Gothic Pro W3" charset="-128"/>
              </a:rPr>
              <a:t>月 </a:t>
            </a:r>
            <a:r>
              <a:rPr lang="en-US" altLang="ja-JP" sz="1600">
                <a:cs typeface="Hiragino Kaku Gothic Pro W3" charset="-128"/>
              </a:rPr>
              <a:t>C/O</a:t>
            </a:r>
            <a:r>
              <a:rPr lang="ja-JP" altLang="en-US" sz="1600">
                <a:cs typeface="Hiragino Kaku Gothic Pro W3" charset="-128"/>
              </a:rPr>
              <a:t>、購買管理領域は</a:t>
            </a:r>
            <a:r>
              <a:rPr lang="en-US" altLang="ja-JP" sz="1600">
                <a:cs typeface="Hiragino Kaku Gothic Pro W3" charset="-128"/>
              </a:rPr>
              <a:t>2026</a:t>
            </a:r>
            <a:r>
              <a:rPr lang="ja-JP" altLang="en-US" sz="1600">
                <a:cs typeface="Hiragino Kaku Gothic Pro W3" charset="-128"/>
              </a:rPr>
              <a:t>年</a:t>
            </a:r>
            <a:r>
              <a:rPr lang="en-US" altLang="ja-JP" sz="1600">
                <a:cs typeface="Hiragino Kaku Gothic Pro W3" charset="-128"/>
              </a:rPr>
              <a:t>4</a:t>
            </a:r>
            <a:r>
              <a:rPr lang="ja-JP" altLang="en-US" sz="1600">
                <a:cs typeface="Hiragino Kaku Gothic Pro W3" charset="-128"/>
              </a:rPr>
              <a:t>月</a:t>
            </a:r>
            <a:r>
              <a:rPr lang="en-US" altLang="ja-JP" sz="1600">
                <a:cs typeface="Hiragino Kaku Gothic Pro W3" charset="-128"/>
              </a:rPr>
              <a:t> C/O</a:t>
            </a:r>
            <a:r>
              <a:rPr lang="ja-JP" altLang="en-US" sz="1600">
                <a:cs typeface="Hiragino Kaku Gothic Pro W3" charset="-128"/>
              </a:rPr>
              <a:t>を目指す</a:t>
            </a:r>
            <a:endParaRPr lang="en-US" altLang="ja-JP" sz="1200" kern="0">
              <a:solidFill>
                <a:srgbClr val="FF0000"/>
              </a:solidFill>
            </a:endParaRPr>
          </a:p>
        </p:txBody>
      </p:sp>
      <p:sp>
        <p:nvSpPr>
          <p:cNvPr id="4" name="コンテンツ プレースホルダー 5">
            <a:extLst>
              <a:ext uri="{FF2B5EF4-FFF2-40B4-BE49-F238E27FC236}">
                <a16:creationId xmlns:a16="http://schemas.microsoft.com/office/drawing/2014/main" id="{6FBA060E-3DED-6B7D-CFDA-D3216994B335}"/>
              </a:ext>
            </a:extLst>
          </p:cNvPr>
          <p:cNvSpPr txBox="1">
            <a:spLocks/>
          </p:cNvSpPr>
          <p:nvPr/>
        </p:nvSpPr>
        <p:spPr bwMode="auto">
          <a:xfrm>
            <a:off x="153091" y="6429535"/>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 JKK</a:t>
            </a:r>
            <a:r>
              <a:rPr lang="ja-JP" altLang="en-US" sz="900" kern="0"/>
              <a:t>本線の「</a:t>
            </a:r>
            <a:r>
              <a:rPr lang="en-US" altLang="ja-JP" sz="900" kern="0"/>
              <a:t>20230906_</a:t>
            </a:r>
            <a:r>
              <a:rPr lang="ja-JP" altLang="en-US" sz="900" kern="0"/>
              <a:t>マスタスケジュール見直し（</a:t>
            </a:r>
            <a:r>
              <a:rPr lang="en-US" altLang="ja-JP" sz="900" kern="0"/>
              <a:t>CO</a:t>
            </a:r>
            <a:r>
              <a:rPr lang="ja-JP" altLang="en-US" sz="900" kern="0"/>
              <a:t>時期変更）」より、抜粋</a:t>
            </a:r>
            <a:endParaRPr kumimoji="1" lang="en-US" altLang="ja-JP" sz="90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
        <p:nvSpPr>
          <p:cNvPr id="5" name="正方形/長方形 4">
            <a:extLst>
              <a:ext uri="{FF2B5EF4-FFF2-40B4-BE49-F238E27FC236}">
                <a16:creationId xmlns:a16="http://schemas.microsoft.com/office/drawing/2014/main" id="{C939A374-174C-124B-25F1-1A77C060E867}"/>
              </a:ext>
            </a:extLst>
          </p:cNvPr>
          <p:cNvSpPr/>
          <p:nvPr/>
        </p:nvSpPr>
        <p:spPr>
          <a:xfrm>
            <a:off x="339865" y="5833079"/>
            <a:ext cx="11681636" cy="598561"/>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lIns="44308" tIns="44308" rIns="44308" bIns="44308" rtlCol="0" anchor="ctr"/>
          <a:lstStyle/>
          <a:p>
            <a:pPr algn="l"/>
            <a:endParaRPr kumimoji="1" lang="ja-JP" altLang="en-US" sz="1000">
              <a:solidFill>
                <a:prstClr val="black"/>
              </a:solidFill>
              <a:latin typeface="MS UI Gothic" panose="020B0600070205080204" pitchFamily="34" charset="-128"/>
              <a:ea typeface="MS UI Gothic" panose="020B0600070205080204" pitchFamily="34" charset="-128"/>
              <a:sym typeface="MS UI Gothic" panose="020B0600070205080204" pitchFamily="34" charset="-128"/>
            </a:endParaRPr>
          </a:p>
        </p:txBody>
      </p:sp>
      <p:sp>
        <p:nvSpPr>
          <p:cNvPr id="115" name="吹き出し: 四角形 114">
            <a:extLst>
              <a:ext uri="{FF2B5EF4-FFF2-40B4-BE49-F238E27FC236}">
                <a16:creationId xmlns:a16="http://schemas.microsoft.com/office/drawing/2014/main" id="{E06FEEAB-7AA9-D5D9-7EDB-F0357F699A54}"/>
              </a:ext>
            </a:extLst>
          </p:cNvPr>
          <p:cNvSpPr/>
          <p:nvPr/>
        </p:nvSpPr>
        <p:spPr>
          <a:xfrm>
            <a:off x="7067863" y="1809373"/>
            <a:ext cx="1798771" cy="794375"/>
          </a:xfrm>
          <a:prstGeom prst="wedgeRectCallout">
            <a:avLst>
              <a:gd name="adj1" fmla="val -16083"/>
              <a:gd name="adj2" fmla="val 43982"/>
            </a:avLst>
          </a:prstGeom>
          <a:solidFill>
            <a:schemeClr val="accent5">
              <a:lumMod val="20000"/>
              <a:lumOff val="8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購買管理は</a:t>
            </a:r>
            <a:r>
              <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2</a:t>
            </a:r>
            <a:r>
              <a:rPr kumimoji="1" lang="ja-JP" altLang="en-US"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群</a:t>
            </a:r>
            <a:r>
              <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C/O</a:t>
            </a:r>
            <a:r>
              <a:rPr kumimoji="1" lang="ja-JP" altLang="en-US"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と同時に業務切替だが</a:t>
            </a:r>
            <a:endPar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1</a:t>
            </a:r>
            <a:r>
              <a:rPr kumimoji="1" lang="ja-JP" altLang="en-US"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群スケジュールで開発をし</a:t>
            </a:r>
            <a:endPar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テストも先行着手する</a:t>
            </a:r>
            <a:endPar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 name="スライド番号プレースホルダー 3">
            <a:extLst>
              <a:ext uri="{FF2B5EF4-FFF2-40B4-BE49-F238E27FC236}">
                <a16:creationId xmlns:a16="http://schemas.microsoft.com/office/drawing/2014/main" id="{25265069-DEF3-15A1-896B-A2C65403D7EB}"/>
              </a:ext>
            </a:extLst>
          </p:cNvPr>
          <p:cNvSpPr txBox="1">
            <a:spLocks/>
          </p:cNvSpPr>
          <p:nvPr/>
        </p:nvSpPr>
        <p:spPr bwMode="gray">
          <a:xfrm>
            <a:off x="4804833" y="6627168"/>
            <a:ext cx="2540000" cy="2308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fld id="{EB72A429-DDC7-41CC-AC2C-79132BE59620}" type="slidenum">
              <a:rPr lang="en-US" altLang="ja-JP" smtClean="0"/>
              <a:pPr/>
              <a:t>37</a:t>
            </a:fld>
            <a:endParaRPr lang="en-US" altLang="ja-JP"/>
          </a:p>
        </p:txBody>
      </p:sp>
    </p:spTree>
    <p:extLst>
      <p:ext uri="{BB962C8B-B14F-4D97-AF65-F5344CB8AC3E}">
        <p14:creationId xmlns:p14="http://schemas.microsoft.com/office/powerpoint/2010/main" val="33422462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コンテンツ プレースホルダー 7">
            <a:extLst>
              <a:ext uri="{FF2B5EF4-FFF2-40B4-BE49-F238E27FC236}">
                <a16:creationId xmlns:a16="http://schemas.microsoft.com/office/drawing/2014/main" id="{1D1D9F27-96F4-4E6E-B022-4995C5151F98}"/>
              </a:ext>
            </a:extLst>
          </p:cNvPr>
          <p:cNvGraphicFramePr>
            <a:graphicFrameLocks/>
          </p:cNvGraphicFramePr>
          <p:nvPr>
            <p:extLst>
              <p:ext uri="{D42A27DB-BD31-4B8C-83A1-F6EECF244321}">
                <p14:modId xmlns:p14="http://schemas.microsoft.com/office/powerpoint/2010/main" val="3628914773"/>
              </p:ext>
            </p:extLst>
          </p:nvPr>
        </p:nvGraphicFramePr>
        <p:xfrm>
          <a:off x="593433" y="1244674"/>
          <a:ext cx="11437441" cy="5296361"/>
        </p:xfrm>
        <a:graphic>
          <a:graphicData uri="http://schemas.openxmlformats.org/drawingml/2006/table">
            <a:tbl>
              <a:tblPr>
                <a:effectLst/>
              </a:tblPr>
              <a:tblGrid>
                <a:gridCol w="349441">
                  <a:extLst>
                    <a:ext uri="{9D8B030D-6E8A-4147-A177-3AD203B41FA5}">
                      <a16:colId xmlns:a16="http://schemas.microsoft.com/office/drawing/2014/main" val="2593656750"/>
                    </a:ext>
                  </a:extLst>
                </a:gridCol>
                <a:gridCol w="4320000">
                  <a:extLst>
                    <a:ext uri="{9D8B030D-6E8A-4147-A177-3AD203B41FA5}">
                      <a16:colId xmlns:a16="http://schemas.microsoft.com/office/drawing/2014/main" val="3695485094"/>
                    </a:ext>
                  </a:extLst>
                </a:gridCol>
                <a:gridCol w="648000">
                  <a:extLst>
                    <a:ext uri="{9D8B030D-6E8A-4147-A177-3AD203B41FA5}">
                      <a16:colId xmlns:a16="http://schemas.microsoft.com/office/drawing/2014/main" val="4021386683"/>
                    </a:ext>
                  </a:extLst>
                </a:gridCol>
                <a:gridCol w="3096000">
                  <a:extLst>
                    <a:ext uri="{9D8B030D-6E8A-4147-A177-3AD203B41FA5}">
                      <a16:colId xmlns:a16="http://schemas.microsoft.com/office/drawing/2014/main" val="4059480865"/>
                    </a:ext>
                  </a:extLst>
                </a:gridCol>
                <a:gridCol w="3024000">
                  <a:extLst>
                    <a:ext uri="{9D8B030D-6E8A-4147-A177-3AD203B41FA5}">
                      <a16:colId xmlns:a16="http://schemas.microsoft.com/office/drawing/2014/main" val="3585951611"/>
                    </a:ext>
                  </a:extLst>
                </a:gridCol>
              </a:tblGrid>
              <a:tr h="254267">
                <a:tc rowSpan="2">
                  <a:txBody>
                    <a:bodyPr/>
                    <a:lstStyle/>
                    <a:p>
                      <a:pPr algn="ctr" fontAlgn="t"/>
                      <a:r>
                        <a:rPr lang="en-US" altLang="ja-JP" sz="1600" b="1" i="0" u="none" strike="noStrike">
                          <a:solidFill>
                            <a:schemeClr val="bg1"/>
                          </a:solidFill>
                          <a:effectLst/>
                          <a:latin typeface="Meiryo UI" panose="020B0604030504040204" pitchFamily="50" charset="-128"/>
                          <a:ea typeface="Meiryo UI" panose="020B0604030504040204" pitchFamily="50" charset="-128"/>
                        </a:rPr>
                        <a:t>#</a:t>
                      </a:r>
                      <a:endParaRPr lang="ja-JP" altLang="en-US" sz="1600" b="1" i="0" u="none" strike="noStrike">
                        <a:solidFill>
                          <a:schemeClr val="bg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rowSpan="2">
                  <a:txBody>
                    <a:bodyPr/>
                    <a:lstStyle/>
                    <a:p>
                      <a:pPr marL="0" algn="ctr" defTabSz="685800" rtl="0" eaLnBrk="1" fontAlgn="t" latinLnBrk="0" hangingPunct="1"/>
                      <a:r>
                        <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リスク</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gridSpan="2">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algn="ctr" defTabSz="685800" rtl="0" eaLnBrk="1" fontAlgn="t" latinLnBrk="0" hangingPunct="1"/>
                      <a:r>
                        <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事前対策</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hMerge="1">
                  <a:txBody>
                    <a:bodyPr/>
                    <a:lstStyle/>
                    <a:p>
                      <a:endParaRPr kumimoji="1" lang="ja-JP" altLang="en-US"/>
                    </a:p>
                  </a:txBody>
                  <a:tcPr/>
                </a:tc>
                <a:tc rowSpan="2">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1" lang="zh-TW"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顕在化時対策</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extLst>
                  <a:ext uri="{0D108BD9-81ED-4DB2-BD59-A6C34878D82A}">
                    <a16:rowId xmlns:a16="http://schemas.microsoft.com/office/drawing/2014/main" val="274583076"/>
                  </a:ext>
                </a:extLst>
              </a:tr>
              <a:tr h="254267">
                <a:tc v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algn="ctr" fontAlgn="t"/>
                      <a:r>
                        <a:rPr lang="en-US" altLang="ja-JP" sz="1600" b="1" i="0" u="none" strike="noStrike">
                          <a:solidFill>
                            <a:schemeClr val="bg1"/>
                          </a:solidFill>
                          <a:effectLst/>
                          <a:latin typeface="Meiryo UI" panose="020B0604030504040204" pitchFamily="50" charset="-128"/>
                          <a:ea typeface="Meiryo UI" panose="020B0604030504040204" pitchFamily="50" charset="-128"/>
                        </a:rPr>
                        <a:t>#</a:t>
                      </a:r>
                      <a:endParaRPr lang="ja-JP" altLang="en-US" sz="1600" b="1" i="0" u="none" strike="noStrike">
                        <a:solidFill>
                          <a:schemeClr val="bg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v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algn="ctr" defTabSz="685800" rtl="0" eaLnBrk="1" fontAlgn="t" latinLnBrk="0" hangingPunct="1"/>
                      <a:r>
                        <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リスク</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algn="ctr" defTabSz="685800" rtl="0" eaLnBrk="1" fontAlgn="t" latinLnBrk="0" hangingPunct="1"/>
                      <a:r>
                        <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分類</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a:txBody>
                    <a:bodyPr/>
                    <a:lstStyle/>
                    <a:p>
                      <a:pPr marL="0" algn="ctr" defTabSz="685800" rtl="0" eaLnBrk="1" fontAlgn="t" latinLnBrk="0" hangingPunct="1"/>
                      <a:r>
                        <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対応内容</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vMerge="1">
                  <a:txBody>
                    <a:bodyPr/>
                    <a:lstStyle/>
                    <a:p>
                      <a:pPr marL="0" algn="ctr" defTabSz="685800" rtl="0" eaLnBrk="1" fontAlgn="t" latinLnBrk="0" hangingPunct="1"/>
                      <a:endPar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extLst>
                  <a:ext uri="{0D108BD9-81ED-4DB2-BD59-A6C34878D82A}">
                    <a16:rowId xmlns:a16="http://schemas.microsoft.com/office/drawing/2014/main" val="857333376"/>
                  </a:ext>
                </a:extLst>
              </a:tr>
              <a:tr h="1311307">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ctr" defTabSz="685800" rtl="0" eaLnBrk="1" fontAlgn="t" latinLnBrk="0" hangingPunct="1">
                        <a:lnSpc>
                          <a:spcPct val="100000"/>
                        </a:lnSpc>
                        <a:spcBef>
                          <a:spcPts val="0"/>
                        </a:spcBef>
                        <a:spcAft>
                          <a:spcPts val="0"/>
                        </a:spcAft>
                        <a:buClrTx/>
                        <a:buSzTx/>
                        <a:buFontTx/>
                        <a:buNone/>
                        <a:tabLst/>
                        <a:defRPr/>
                      </a:pP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1</a:t>
                      </a:r>
                      <a:endPar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本線と基シス周辺システムで要件定義待ち</a:t>
                      </a: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b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endPar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本線側（</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SAP</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／データ連携／</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RIND</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等）と基シス周辺システム</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の双方が仕様決定待ち（お見合い状態）となり、システム改修範囲</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が決まらない</a:t>
                      </a:r>
                      <a:endParaRPr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①回避</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②軽減</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①双方で確認しないと進めない事項を定義し、</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要件定義の先延ばしを防止</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②定例会議の場を設け、双方に影響がある</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箇所について適宜情報連携</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MUST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であれば期間バッファを活用し、</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C/O</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でリリース</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WANT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であれば納期調整</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lvl="0" indent="0" algn="l" defTabSz="685800" rtl="0" eaLnBrk="1" fontAlgn="t" latinLnBrk="0" hangingPunct="1">
                        <a:lnSpc>
                          <a:spcPct val="100000"/>
                        </a:lnSpc>
                        <a:spcBef>
                          <a:spcPts val="0"/>
                        </a:spcBef>
                        <a:spcAft>
                          <a:spcPts val="600"/>
                        </a:spcAft>
                        <a:buClrTx/>
                        <a:buSzTx/>
                        <a:buFontTx/>
                        <a:buNone/>
                        <a:tabLst/>
                        <a:defRPr/>
                      </a:pP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rgbClr val="FF0000"/>
                          </a:solidFill>
                          <a:effectLst/>
                          <a:latin typeface="Meiryo UI" panose="020B0604030504040204" pitchFamily="50" charset="-128"/>
                          <a:ea typeface="Meiryo UI" panose="020B0604030504040204" pitchFamily="50" charset="-128"/>
                          <a:cs typeface="+mn-cs"/>
                        </a:rPr>
                        <a:t>⇒要件定義工程におけるリスクのため、</a:t>
                      </a:r>
                      <a:br>
                        <a:rPr kumimoji="1" lang="en-US" altLang="ja-JP" sz="1200" b="0" i="0" u="none" strike="noStrike" kern="1200">
                          <a:solidFill>
                            <a:srgbClr val="FF0000"/>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rgbClr val="FF0000"/>
                          </a:solidFill>
                          <a:effectLst/>
                          <a:latin typeface="Meiryo UI" panose="020B0604030504040204" pitchFamily="50" charset="-128"/>
                          <a:ea typeface="Meiryo UI" panose="020B0604030504040204" pitchFamily="50" charset="-128"/>
                          <a:cs typeface="+mn-cs"/>
                        </a:rPr>
                        <a:t>　 基本設計工程以降では考慮不要</a:t>
                      </a: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83520381"/>
                  </a:ext>
                </a:extLst>
              </a:tr>
              <a:tr h="1311307">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ctr" defTabSz="685800" rtl="0" eaLnBrk="1" fontAlgn="t" latinLnBrk="0" hangingPunct="1">
                        <a:lnSpc>
                          <a:spcPct val="100000"/>
                        </a:lnSpc>
                        <a:spcBef>
                          <a:spcPts val="0"/>
                        </a:spcBef>
                        <a:spcAft>
                          <a:spcPts val="0"/>
                        </a:spcAft>
                        <a:buClrTx/>
                        <a:buSzTx/>
                        <a:buFontTx/>
                        <a:buNone/>
                        <a:tabLst/>
                        <a:defRPr/>
                      </a:pP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2</a:t>
                      </a:r>
                      <a:endPar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本線／基シス外周辺システム要件の追加に伴う影響</a:t>
                      </a: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b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endPar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indent="0" algn="l" defTabSz="685800" rtl="0" eaLnBrk="1" fontAlgn="t" latinLnBrk="0" hangingPunct="1">
                        <a:lnSpc>
                          <a:spcPct val="100000"/>
                        </a:lnSpc>
                        <a:spcBef>
                          <a:spcPts val="0"/>
                        </a:spcBef>
                        <a:spcAft>
                          <a:spcPts val="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基シス周辺の要件定義後に</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本線や基シス以外の周辺システム（</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Oz/OASYS</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など）からの要件追加・変更が発生し、基シス側へも</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影響が発生する</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t>①軽減</a:t>
                      </a:r>
                      <a:br>
                        <a:rPr kumimoji="1" lang="en-US" altLang="ja-JP"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br>
                      <a:r>
                        <a:rPr kumimoji="1" lang="ja-JP" altLang="en-US"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t>②受容</a:t>
                      </a:r>
                      <a:endParaRPr kumimoji="1" lang="en-US" altLang="ja-JP"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①</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本線側の会議体にも参加し、要件追加・</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変更の発生を早めにキャッチできるようにする</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②見積もりに対してリスクバッファを設ける</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開発</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P</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工数の</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10%)</a:t>
                      </a: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MUST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であればバッファを活用し</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C/O</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でリリース</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WANT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であれば納期調整</a:t>
                      </a: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935371081"/>
                  </a:ext>
                </a:extLst>
              </a:tr>
              <a:tr h="1071212">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ctr" defTabSz="685800" rtl="0" eaLnBrk="1" fontAlgn="t" latinLnBrk="0" hangingPunct="1">
                        <a:lnSpc>
                          <a:spcPct val="100000"/>
                        </a:lnSpc>
                        <a:spcBef>
                          <a:spcPts val="0"/>
                        </a:spcBef>
                        <a:spcAft>
                          <a:spcPts val="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３</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ja-JP" altLang="en-US"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プロジェクト並走に伴う社員工数不足</a:t>
                      </a: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b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endPar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EOSL</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対応や</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Durandal</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移行など</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MUST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対応の保守案件に工数が</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割かれ、本対応に割ける工数が確保できない</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t>①軽減</a:t>
                      </a:r>
                      <a:endParaRPr kumimoji="1" lang="en-US" altLang="ja-JP"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①保守案件の対応工数が増加した際の優先</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順位を関係者とすり合わせておく</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・パートナーを追加して負荷を分散</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・外結テストスケジュールを変更</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後ろ倒し</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できるか等のスケジュール調整</a:t>
                      </a: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28874678"/>
                  </a:ext>
                </a:extLst>
              </a:tr>
              <a:tr h="1071212">
                <a:tc>
                  <a:txBody>
                    <a:bodyPr/>
                    <a:lstStyle/>
                    <a:p>
                      <a:pPr marL="0" marR="0" indent="0" algn="ctr" defTabSz="685800" rtl="0" eaLnBrk="1" fontAlgn="t" latinLnBrk="0" hangingPunct="1">
                        <a:lnSpc>
                          <a:spcPct val="100000"/>
                        </a:lnSpc>
                        <a:spcBef>
                          <a:spcPts val="0"/>
                        </a:spcBef>
                        <a:spcAft>
                          <a:spcPts val="0"/>
                        </a:spcAft>
                        <a:buClrTx/>
                        <a:buSzTx/>
                        <a:buFontTx/>
                        <a:buNone/>
                        <a:tabLst/>
                        <a:defRPr/>
                      </a:pP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4</a:t>
                      </a:r>
                      <a:endPar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ja-JP" altLang="en-US"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テスト環境の不足</a:t>
                      </a: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p>
                    <a:p>
                      <a:pPr marL="0" marR="0" indent="0" algn="l" defTabSz="685800" rtl="0" eaLnBrk="1" fontAlgn="t" latinLnBrk="0" hangingPunct="1">
                        <a:lnSpc>
                          <a:spcPct val="100000"/>
                        </a:lnSpc>
                        <a:spcBef>
                          <a:spcPts val="0"/>
                        </a:spcBef>
                        <a:spcAft>
                          <a:spcPts val="0"/>
                        </a:spcAft>
                        <a:buClrTx/>
                        <a:buSzTx/>
                        <a:buFontTx/>
                        <a:buNone/>
                        <a:tabLst/>
                        <a:defRPr/>
                      </a:pP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indent="0" algn="l" defTabSz="685800" rtl="0" eaLnBrk="1" fontAlgn="t" latinLnBrk="0" hangingPunct="1">
                        <a:lnSpc>
                          <a:spcPct val="100000"/>
                        </a:lnSpc>
                        <a:spcBef>
                          <a:spcPts val="0"/>
                        </a:spcBef>
                        <a:spcAft>
                          <a:spcPts val="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テスト環境を保守等でも利用していて</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対応専用の環境でない</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システムについて、保守側での利用等により、テストが進められない</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t>①軽減</a:t>
                      </a:r>
                      <a:br>
                        <a:rPr kumimoji="1" lang="en-US" altLang="ja-JP"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br>
                      <a:r>
                        <a:rPr kumimoji="1" lang="ja-JP" altLang="en-US"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t>②軽減</a:t>
                      </a:r>
                      <a:endParaRPr kumimoji="1" lang="en-US" altLang="ja-JP"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①</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対応中は基本凍結とし、</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MUST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の保守</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案件以外は実施しないよう調整する</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②保守での利用想定を整理し、環境が不足する</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可能性が高いシステムについては、環境を</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追加で用意する</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・他システムのテストケースと実施順を入替るなど</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テストスケジュールの組み換えを調整</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・期間バッファを活用し、テストを実施</a:t>
                      </a: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416474334"/>
                  </a:ext>
                </a:extLst>
              </a:tr>
            </a:tbl>
          </a:graphicData>
        </a:graphic>
      </p:graphicFrame>
      <p:sp>
        <p:nvSpPr>
          <p:cNvPr id="8" name="スライド番号プレースホルダー 3">
            <a:extLst>
              <a:ext uri="{FF2B5EF4-FFF2-40B4-BE49-F238E27FC236}">
                <a16:creationId xmlns:a16="http://schemas.microsoft.com/office/drawing/2014/main" id="{ACD7092E-9CE2-4F49-A5C0-CEA50C5BA5AE}"/>
              </a:ext>
            </a:extLst>
          </p:cNvPr>
          <p:cNvSpPr>
            <a:spLocks noGrp="1"/>
          </p:cNvSpPr>
          <p:nvPr>
            <p:ph type="sldNum" sz="quarter" idx="10"/>
          </p:nvPr>
        </p:nvSpPr>
        <p:spPr>
          <a:xfrm>
            <a:off x="4804833" y="6627168"/>
            <a:ext cx="2540000" cy="230832"/>
          </a:xfrm>
        </p:spPr>
        <p:txBody>
          <a:bodyPr/>
          <a:lstStyle/>
          <a:p>
            <a:pPr>
              <a:defRPr/>
            </a:pPr>
            <a:fld id="{EB72A429-DDC7-41CC-AC2C-79132BE59620}" type="slidenum">
              <a:rPr lang="en-US" altLang="ja-JP" smtClean="0"/>
              <a:pPr>
                <a:defRPr/>
              </a:pPr>
              <a:t>38</a:t>
            </a:fld>
            <a:endParaRPr lang="en-US" altLang="ja-JP"/>
          </a:p>
        </p:txBody>
      </p:sp>
      <p:sp>
        <p:nvSpPr>
          <p:cNvPr id="6" name="タイトル 2">
            <a:extLst>
              <a:ext uri="{FF2B5EF4-FFF2-40B4-BE49-F238E27FC236}">
                <a16:creationId xmlns:a16="http://schemas.microsoft.com/office/drawing/2014/main" id="{168DA8ED-D318-9FB3-6F5F-C0C2401B513C}"/>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a:solidFill>
                  <a:srgbClr val="000000">
                    <a:lumMod val="65000"/>
                    <a:lumOff val="35000"/>
                  </a:srgbClr>
                </a:solidFill>
              </a:rPr>
              <a:t>9</a:t>
            </a:r>
            <a:r>
              <a:rPr kumimoji="1" lang="en-US" altLang="ja-JP" sz="18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 </a:t>
            </a:r>
            <a:r>
              <a:rPr kumimoji="1" lang="ja-JP" altLang="en-US" sz="18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リスクと対応</a:t>
            </a:r>
            <a:r>
              <a:rPr lang="ja-JP" altLang="en-US" kern="0">
                <a:solidFill>
                  <a:srgbClr val="000000">
                    <a:lumMod val="65000"/>
                    <a:lumOff val="35000"/>
                  </a:srgbClr>
                </a:solidFill>
              </a:rPr>
              <a:t>方針</a:t>
            </a:r>
            <a:endParaRPr lang="ja-JP" altLang="en-US" kern="0"/>
          </a:p>
        </p:txBody>
      </p:sp>
      <p:sp>
        <p:nvSpPr>
          <p:cNvPr id="2" name="コンテンツ プレースホルダー 5">
            <a:extLst>
              <a:ext uri="{FF2B5EF4-FFF2-40B4-BE49-F238E27FC236}">
                <a16:creationId xmlns:a16="http://schemas.microsoft.com/office/drawing/2014/main" id="{F4276C7C-CD49-7EF5-FFF1-CA2663B2D07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latin typeface="Meiryo UI"/>
                <a:cs typeface="Hiragino Kaku Gothic Pro W3" charset="-128"/>
              </a:rPr>
              <a:t>JKK</a:t>
            </a:r>
            <a:r>
              <a:rPr lang="ja-JP" altLang="en-US" sz="1600">
                <a:latin typeface="Meiryo UI"/>
                <a:cs typeface="Hiragino Kaku Gothic Pro W3" charset="-128"/>
              </a:rPr>
              <a:t>周辺システム対応においての想定リスクと対応方針は以下の通り</a:t>
            </a:r>
            <a:endParaRPr lang="en-US" altLang="ja-JP" sz="1600">
              <a:latin typeface="Meiryo UI"/>
              <a:cs typeface="Hiragino Kaku Gothic Pro W3" charset="-128"/>
            </a:endParaRPr>
          </a:p>
        </p:txBody>
      </p:sp>
    </p:spTree>
    <p:extLst>
      <p:ext uri="{BB962C8B-B14F-4D97-AF65-F5344CB8AC3E}">
        <p14:creationId xmlns:p14="http://schemas.microsoft.com/office/powerpoint/2010/main" val="37596314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39</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5" name="正方形/長方形 4"/>
          <p:cNvSpPr/>
          <p:nvPr/>
        </p:nvSpPr>
        <p:spPr bwMode="auto">
          <a:xfrm>
            <a:off x="0" y="2917766"/>
            <a:ext cx="12192000" cy="801841"/>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3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APPENDIX</a:t>
            </a:r>
          </a:p>
        </p:txBody>
      </p:sp>
    </p:spTree>
    <p:extLst>
      <p:ext uri="{BB962C8B-B14F-4D97-AF65-F5344CB8AC3E}">
        <p14:creationId xmlns:p14="http://schemas.microsoft.com/office/powerpoint/2010/main" val="33071781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775A8045-321B-45EC-B930-A533F7078F1B}"/>
              </a:ext>
            </a:extLst>
          </p:cNvPr>
          <p:cNvSpPr>
            <a:spLocks noGrp="1"/>
          </p:cNvSpPr>
          <p:nvPr>
            <p:ph type="title"/>
          </p:nvPr>
        </p:nvSpPr>
        <p:spPr/>
        <p:txBody>
          <a:bodyPr/>
          <a:lstStyle/>
          <a:p>
            <a:r>
              <a:rPr kumimoji="1" lang="ja-JP" altLang="en-US"/>
              <a:t>検討工程でコンサルを入れる理由</a:t>
            </a:r>
          </a:p>
        </p:txBody>
      </p:sp>
      <p:sp>
        <p:nvSpPr>
          <p:cNvPr id="4" name="スライド番号プレースホルダー 3">
            <a:extLst>
              <a:ext uri="{FF2B5EF4-FFF2-40B4-BE49-F238E27FC236}">
                <a16:creationId xmlns:a16="http://schemas.microsoft.com/office/drawing/2014/main" id="{655B1F91-DDAA-453D-9458-6FDE15F70F43}"/>
              </a:ext>
            </a:extLst>
          </p:cNvPr>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40</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grpSp>
        <p:nvGrpSpPr>
          <p:cNvPr id="13" name="グループ化 12">
            <a:extLst>
              <a:ext uri="{FF2B5EF4-FFF2-40B4-BE49-F238E27FC236}">
                <a16:creationId xmlns:a16="http://schemas.microsoft.com/office/drawing/2014/main" id="{4B759D48-4189-4E68-8B52-C6F8AF100473}"/>
              </a:ext>
            </a:extLst>
          </p:cNvPr>
          <p:cNvGrpSpPr/>
          <p:nvPr/>
        </p:nvGrpSpPr>
        <p:grpSpPr>
          <a:xfrm>
            <a:off x="270377" y="650987"/>
            <a:ext cx="11651246" cy="580229"/>
            <a:chOff x="270377" y="781676"/>
            <a:chExt cx="11651246" cy="1727152"/>
          </a:xfrm>
        </p:grpSpPr>
        <p:sp>
          <p:nvSpPr>
            <p:cNvPr id="5" name="正方形/長方形 4">
              <a:extLst>
                <a:ext uri="{FF2B5EF4-FFF2-40B4-BE49-F238E27FC236}">
                  <a16:creationId xmlns:a16="http://schemas.microsoft.com/office/drawing/2014/main" id="{1A15E974-916C-42EF-A0F3-8F2D558B08CC}"/>
                </a:ext>
              </a:extLst>
            </p:cNvPr>
            <p:cNvSpPr/>
            <p:nvPr/>
          </p:nvSpPr>
          <p:spPr>
            <a:xfrm>
              <a:off x="270377" y="781676"/>
              <a:ext cx="1063882" cy="1727148"/>
            </a:xfrm>
            <a:prstGeom prst="rect">
              <a:avLst/>
            </a:prstGeom>
            <a:solidFill>
              <a:schemeClr val="accent5">
                <a:lumMod val="50000"/>
              </a:schemeClr>
            </a:solid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報告</a:t>
              </a:r>
              <a:endParaRPr kumimoji="1" lang="en-US" altLang="ja-JP"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事項</a:t>
              </a:r>
              <a:endParaRPr kumimoji="1" lang="en-US" altLang="ja-JP"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6" name="正方形/長方形 5">
              <a:extLst>
                <a:ext uri="{FF2B5EF4-FFF2-40B4-BE49-F238E27FC236}">
                  <a16:creationId xmlns:a16="http://schemas.microsoft.com/office/drawing/2014/main" id="{0B856CD7-5E65-427C-9E6C-17E51DD9E769}"/>
                </a:ext>
              </a:extLst>
            </p:cNvPr>
            <p:cNvSpPr/>
            <p:nvPr/>
          </p:nvSpPr>
          <p:spPr>
            <a:xfrm>
              <a:off x="1391831" y="781679"/>
              <a:ext cx="10529792" cy="1727149"/>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0000" tIns="45720" rIns="0" bIns="45720" rtlCol="0" anchor="ctr"/>
            <a:lstStyle/>
            <a:p>
              <a:pPr marL="285750" marR="0" lvl="0" indent="-2857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周辺システム（基シス）対応について、ベイカレ社</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以下、</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BCC)</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が必要な理由を報告する</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p:txBody>
        </p:sp>
      </p:grpSp>
      <p:grpSp>
        <p:nvGrpSpPr>
          <p:cNvPr id="12" name="グループ化 11">
            <a:extLst>
              <a:ext uri="{FF2B5EF4-FFF2-40B4-BE49-F238E27FC236}">
                <a16:creationId xmlns:a16="http://schemas.microsoft.com/office/drawing/2014/main" id="{91117AEB-794E-49F5-BC57-C39932FB14DB}"/>
              </a:ext>
            </a:extLst>
          </p:cNvPr>
          <p:cNvGrpSpPr/>
          <p:nvPr/>
        </p:nvGrpSpPr>
        <p:grpSpPr>
          <a:xfrm>
            <a:off x="270377" y="1298111"/>
            <a:ext cx="11651246" cy="2895198"/>
            <a:chOff x="270377" y="2332595"/>
            <a:chExt cx="11651246" cy="2248919"/>
          </a:xfrm>
        </p:grpSpPr>
        <p:sp>
          <p:nvSpPr>
            <p:cNvPr id="8" name="正方形/長方形 7">
              <a:extLst>
                <a:ext uri="{FF2B5EF4-FFF2-40B4-BE49-F238E27FC236}">
                  <a16:creationId xmlns:a16="http://schemas.microsoft.com/office/drawing/2014/main" id="{C4BECE6E-D3BF-48B8-99DA-4345C30A1162}"/>
                </a:ext>
              </a:extLst>
            </p:cNvPr>
            <p:cNvSpPr/>
            <p:nvPr/>
          </p:nvSpPr>
          <p:spPr>
            <a:xfrm>
              <a:off x="270377" y="2334160"/>
              <a:ext cx="1063882" cy="2247354"/>
            </a:xfrm>
            <a:prstGeom prst="rect">
              <a:avLst/>
            </a:prstGeom>
            <a:solidFill>
              <a:schemeClr val="accent5">
                <a:lumMod val="50000"/>
              </a:schemeClr>
            </a:solid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背景</a:t>
              </a:r>
              <a:endParaRPr kumimoji="1" lang="en-US" altLang="ja-JP" sz="18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 name="正方形/長方形 8">
              <a:extLst>
                <a:ext uri="{FF2B5EF4-FFF2-40B4-BE49-F238E27FC236}">
                  <a16:creationId xmlns:a16="http://schemas.microsoft.com/office/drawing/2014/main" id="{4C8EC950-7E57-43C8-A621-FBE47E90C95E}"/>
                </a:ext>
              </a:extLst>
            </p:cNvPr>
            <p:cNvSpPr/>
            <p:nvPr/>
          </p:nvSpPr>
          <p:spPr>
            <a:xfrm>
              <a:off x="1391831" y="2332595"/>
              <a:ext cx="10529792" cy="2247356"/>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0000" tIns="45720" rIns="0" bIns="45720" rtlCol="0" anchor="ctr"/>
            <a:lstStyle/>
            <a:p>
              <a:pPr marL="285750" marR="0" lvl="0" indent="-2857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11/16</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の</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ICT</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戦略会において、</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BCC</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の必要性を説明する宿題をいただいた</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285750" marR="0" lvl="0" indent="-2857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周辺システム（基シス）対応の概観</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システム数は要件定義で詰めた結果、</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19</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12</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システムへ絞り込みした（</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Concur</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、ロコン、</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RETMAS</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、とんぺいくん等）</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Tx/>
                <a:buAutoNum type="arabicPeriod"/>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開発規模は、要件定義途中の</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11</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末時点で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318</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人月、</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35,657</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万円の見立て</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Tx/>
                <a:buAutoNum type="arabicPeriod"/>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月末まで要件定義を実施。</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Concur</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関連の</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6</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システムは</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NEXUS</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のテストに必要なため、８月の外結１に合流する計画</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Tx/>
                <a:buAutoNum type="arabicPeriod"/>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2</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月からの設計・開発工程では、並行してテスト</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移行計画の検討が本格化</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Tx/>
                <a:buAutoNum type="arabicPeriod"/>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既存保守を守りつつ、</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システム毎の制約</a:t>
              </a:r>
              <a:r>
                <a:rPr kumimoji="1" lang="en-US" altLang="ja-JP" sz="1400" b="1" i="0" u="sng" strike="noStrike" kern="1200" cap="none" spc="0" normalizeH="0" baseline="0" noProof="0">
                  <a:ln>
                    <a:noFill/>
                  </a:ln>
                  <a:solidFill>
                    <a:srgbClr val="FF0000"/>
                  </a:solidFill>
                  <a:effectLst/>
                  <a:uLnTx/>
                  <a:uFillTx/>
                  <a:latin typeface="Meiryo UI"/>
                  <a:ea typeface="Meiryo UI"/>
                  <a:cs typeface="+mn-cs"/>
                </a:rPr>
                <a:t>(Concur</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の環境数など</a:t>
              </a:r>
              <a:r>
                <a:rPr kumimoji="1" lang="en-US" altLang="ja-JP" sz="1400" b="1" i="0" u="sng" strike="noStrike" kern="1200" cap="none" spc="0" normalizeH="0" baseline="0" noProof="0">
                  <a:ln>
                    <a:noFill/>
                  </a:ln>
                  <a:solidFill>
                    <a:srgbClr val="FF0000"/>
                  </a:solidFill>
                  <a:effectLst/>
                  <a:uLnTx/>
                  <a:uFillTx/>
                  <a:latin typeface="Meiryo UI"/>
                  <a:ea typeface="Meiryo UI"/>
                  <a:cs typeface="+mn-cs"/>
                </a:rPr>
                <a:t>)</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を考慮した、テストや移行の検討が必要（難易度高い）</a:t>
              </a:r>
              <a:endParaRPr kumimoji="1" lang="en-US" altLang="ja-JP" sz="1400" b="1" i="0" u="sng" strike="noStrike" kern="1200" cap="none" spc="0" normalizeH="0" baseline="0" noProof="0">
                <a:ln>
                  <a:noFill/>
                </a:ln>
                <a:solidFill>
                  <a:srgbClr val="FF0000"/>
                </a:solidFill>
                <a:effectLst/>
                <a:uLnTx/>
                <a:uFillTx/>
                <a:latin typeface="Meiryo UI"/>
                <a:ea typeface="Meiryo UI"/>
                <a:cs typeface="+mn-cs"/>
              </a:endParaRPr>
            </a:p>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と保守を兼務しているメンバーが多く、社員リソースだけでは推進が困難なため、パートナーをアサインする必要がある</a:t>
              </a:r>
              <a:endParaRPr kumimoji="1" lang="en-US" altLang="ja-JP" sz="1400" b="1" i="0" u="sng"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 typeface="Meiryo UI" panose="020B0604030504040204" pitchFamily="50" charset="-128"/>
                <a:buChar char="‒"/>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要件定義以降も社員によるディレクションが必要だが、</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と保守を兼務しているメンバーも多く、</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EOSL</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対応や</a:t>
              </a:r>
              <a:r>
                <a:rPr kumimoji="1" lang="en-US" altLang="ja-JP" sz="1400" b="0" i="0" u="none" strike="noStrike" kern="1200" cap="none" spc="0" normalizeH="0" baseline="0" noProof="0" err="1">
                  <a:ln>
                    <a:noFill/>
                  </a:ln>
                  <a:solidFill>
                    <a:srgbClr val="000000">
                      <a:lumMod val="75000"/>
                      <a:lumOff val="25000"/>
                    </a:srgbClr>
                  </a:solidFill>
                  <a:effectLst/>
                  <a:uLnTx/>
                  <a:uFillTx/>
                  <a:latin typeface="Meiryo UI"/>
                  <a:ea typeface="Meiryo UI"/>
                  <a:cs typeface="+mn-cs"/>
                </a:rPr>
                <a:t>Durandal</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移行など、マスト対応の保守案件がある。</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対応と輻輳することで工数が逼迫しており、工数不足分をカバーするためにパートナーのアサインが必要</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grpSp>
      <p:grpSp>
        <p:nvGrpSpPr>
          <p:cNvPr id="2" name="グループ化 1">
            <a:extLst>
              <a:ext uri="{FF2B5EF4-FFF2-40B4-BE49-F238E27FC236}">
                <a16:creationId xmlns:a16="http://schemas.microsoft.com/office/drawing/2014/main" id="{2200F8F3-D627-4818-8280-69B4A60AE2F1}"/>
              </a:ext>
            </a:extLst>
          </p:cNvPr>
          <p:cNvGrpSpPr/>
          <p:nvPr/>
        </p:nvGrpSpPr>
        <p:grpSpPr>
          <a:xfrm>
            <a:off x="270377" y="4258944"/>
            <a:ext cx="11651246" cy="1587674"/>
            <a:chOff x="270377" y="5091193"/>
            <a:chExt cx="11651246" cy="1419081"/>
          </a:xfrm>
        </p:grpSpPr>
        <p:sp>
          <p:nvSpPr>
            <p:cNvPr id="10" name="正方形/長方形 9">
              <a:extLst>
                <a:ext uri="{FF2B5EF4-FFF2-40B4-BE49-F238E27FC236}">
                  <a16:creationId xmlns:a16="http://schemas.microsoft.com/office/drawing/2014/main" id="{AD9263DB-8610-4208-AE91-0D1A43421621}"/>
                </a:ext>
              </a:extLst>
            </p:cNvPr>
            <p:cNvSpPr/>
            <p:nvPr/>
          </p:nvSpPr>
          <p:spPr>
            <a:xfrm>
              <a:off x="270377" y="5091193"/>
              <a:ext cx="1063882" cy="1419076"/>
            </a:xfrm>
            <a:prstGeom prst="rect">
              <a:avLst/>
            </a:prstGeom>
            <a:solidFill>
              <a:schemeClr val="accent5">
                <a:lumMod val="50000"/>
              </a:schemeClr>
            </a:solid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論点</a:t>
              </a:r>
              <a:endParaRPr kumimoji="1" lang="en-US" altLang="ja-JP" sz="18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1" name="正方形/長方形 10">
              <a:extLst>
                <a:ext uri="{FF2B5EF4-FFF2-40B4-BE49-F238E27FC236}">
                  <a16:creationId xmlns:a16="http://schemas.microsoft.com/office/drawing/2014/main" id="{26864C46-1836-4206-8E6B-6BA8CA69DCE4}"/>
                </a:ext>
              </a:extLst>
            </p:cNvPr>
            <p:cNvSpPr/>
            <p:nvPr/>
          </p:nvSpPr>
          <p:spPr>
            <a:xfrm>
              <a:off x="1391831" y="5091195"/>
              <a:ext cx="10529792" cy="1419079"/>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0000" tIns="45720" rIns="0" bIns="45720" rtlCol="0" anchor="ctr"/>
            <a:lstStyle/>
            <a:p>
              <a:pPr marL="0" marR="0" lvl="0" indent="0" algn="l" defTabSz="914400" rtl="0" eaLnBrk="1" fontAlgn="base" latinLnBrk="0" hangingPunct="1">
                <a:lnSpc>
                  <a:spcPct val="100000"/>
                </a:lnSpc>
                <a:spcBef>
                  <a:spcPts val="600"/>
                </a:spcBef>
                <a:spcAft>
                  <a:spcPct val="0"/>
                </a:spcAft>
                <a:buClrTx/>
                <a:buSzTx/>
                <a:buFontTx/>
                <a:buNone/>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今回、パートナーに求める条件は以下２点。</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BCC</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であれば両方を満たすことができ、品質・コスト両面を踏まえて最善と想定</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外結１（</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8</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月）までに</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本線へ合流する必要があり、キャッチアップにかけられる時間がなく、</a:t>
              </a:r>
              <a:r>
                <a:rPr kumimoji="1" lang="en-US" altLang="ja-JP" sz="1400" b="1" i="0" u="sng" strike="noStrike" kern="1200" cap="none" spc="0" normalizeH="0" baseline="0" noProof="0">
                  <a:ln>
                    <a:noFill/>
                  </a:ln>
                  <a:solidFill>
                    <a:srgbClr val="FF0000"/>
                  </a:solidFill>
                  <a:effectLst/>
                  <a:uLnTx/>
                  <a:uFillTx/>
                  <a:latin typeface="Meiryo UI"/>
                  <a:ea typeface="Meiryo UI"/>
                  <a:cs typeface="+mn-cs"/>
                </a:rPr>
                <a:t>JKK</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と基シス周辺システム双方の知見</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が必要</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関連システム数が</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12</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と多く、</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リクルートで複数システムに跨る案件での関係者調整や、テスト／移行計画の経験</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が必要</a:t>
              </a:r>
              <a:b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b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本線、インボイス制度対応プロジェクトへの参画経験</a:t>
              </a:r>
              <a:b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b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インボイス制度対応プロジェクトにて基シス内の複数システムに跨るテスト／移行を推進した経験</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p:txBody>
        </p:sp>
      </p:grpSp>
      <p:grpSp>
        <p:nvGrpSpPr>
          <p:cNvPr id="16" name="グループ化 15">
            <a:extLst>
              <a:ext uri="{FF2B5EF4-FFF2-40B4-BE49-F238E27FC236}">
                <a16:creationId xmlns:a16="http://schemas.microsoft.com/office/drawing/2014/main" id="{D7BAC0E4-EE29-4C7E-3F2A-2640A687AFF2}"/>
              </a:ext>
            </a:extLst>
          </p:cNvPr>
          <p:cNvGrpSpPr/>
          <p:nvPr/>
        </p:nvGrpSpPr>
        <p:grpSpPr>
          <a:xfrm>
            <a:off x="270377" y="5912247"/>
            <a:ext cx="11651246" cy="580229"/>
            <a:chOff x="270377" y="781676"/>
            <a:chExt cx="11651246" cy="1727152"/>
          </a:xfrm>
        </p:grpSpPr>
        <p:sp>
          <p:nvSpPr>
            <p:cNvPr id="17" name="正方形/長方形 16">
              <a:extLst>
                <a:ext uri="{FF2B5EF4-FFF2-40B4-BE49-F238E27FC236}">
                  <a16:creationId xmlns:a16="http://schemas.microsoft.com/office/drawing/2014/main" id="{92115CAD-BBD4-FE30-CD90-ABD1CB2316F1}"/>
                </a:ext>
              </a:extLst>
            </p:cNvPr>
            <p:cNvSpPr/>
            <p:nvPr/>
          </p:nvSpPr>
          <p:spPr>
            <a:xfrm>
              <a:off x="270377" y="781676"/>
              <a:ext cx="1063882" cy="1727148"/>
            </a:xfrm>
            <a:prstGeom prst="rect">
              <a:avLst/>
            </a:prstGeom>
            <a:solidFill>
              <a:schemeClr val="accent5">
                <a:lumMod val="50000"/>
              </a:schemeClr>
            </a:solid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今後の</a:t>
              </a:r>
              <a:endParaRPr kumimoji="1" lang="en-US" altLang="ja-JP"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動き</a:t>
              </a:r>
              <a:endParaRPr kumimoji="1" lang="en-US" altLang="ja-JP"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8" name="正方形/長方形 17">
              <a:extLst>
                <a:ext uri="{FF2B5EF4-FFF2-40B4-BE49-F238E27FC236}">
                  <a16:creationId xmlns:a16="http://schemas.microsoft.com/office/drawing/2014/main" id="{703647FE-C5A9-856E-EE17-3F200B75F6AA}"/>
                </a:ext>
              </a:extLst>
            </p:cNvPr>
            <p:cNvSpPr/>
            <p:nvPr/>
          </p:nvSpPr>
          <p:spPr>
            <a:xfrm>
              <a:off x="1391831" y="781679"/>
              <a:ext cx="10529792" cy="1727149"/>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0000" tIns="45720" rIns="0" bIns="45720" rtlCol="0" anchor="ctr"/>
            <a:lstStyle/>
            <a:p>
              <a:pPr marL="285750" marR="0" lvl="0" indent="-2857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段階的に支援体制を縮小し、</a:t>
              </a:r>
              <a:r>
                <a:rPr kumimoji="1" lang="en-US" altLang="ja-JP" sz="1400" b="1" i="0" u="sng" strike="noStrike" kern="1200" cap="none" spc="0" normalizeH="0" baseline="0" noProof="0">
                  <a:ln>
                    <a:noFill/>
                  </a:ln>
                  <a:solidFill>
                    <a:srgbClr val="FF0000"/>
                  </a:solidFill>
                  <a:effectLst/>
                  <a:uLnTx/>
                  <a:uFillTx/>
                  <a:latin typeface="Meiryo UI"/>
                  <a:ea typeface="Meiryo UI"/>
                  <a:cs typeface="+mn-cs"/>
                </a:rPr>
                <a:t>2024</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年</a:t>
              </a:r>
              <a:r>
                <a:rPr kumimoji="1" lang="en-US" altLang="ja-JP" sz="1400" b="1" i="0" u="sng" strike="noStrike" kern="1200" cap="none" spc="0" normalizeH="0" baseline="0" noProof="0">
                  <a:ln>
                    <a:noFill/>
                  </a:ln>
                  <a:solidFill>
                    <a:srgbClr val="FF0000"/>
                  </a:solidFill>
                  <a:effectLst/>
                  <a:uLnTx/>
                  <a:uFillTx/>
                  <a:latin typeface="Meiryo UI"/>
                  <a:ea typeface="Meiryo UI"/>
                  <a:cs typeface="+mn-cs"/>
                </a:rPr>
                <a:t>6</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末で支援終了</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する</a:t>
              </a:r>
              <a:b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b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10-12</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3.5MM</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1-3</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2.5MM</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4-6</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2.0MM</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7</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月～：なし</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p:txBody>
        </p:sp>
      </p:grpSp>
    </p:spTree>
    <p:extLst>
      <p:ext uri="{BB962C8B-B14F-4D97-AF65-F5344CB8AC3E}">
        <p14:creationId xmlns:p14="http://schemas.microsoft.com/office/powerpoint/2010/main" val="25581408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7D4D193B-CBC6-13F3-02E3-EF281029FCC7}"/>
              </a:ext>
            </a:extLst>
          </p:cNvPr>
          <p:cNvSpPr>
            <a:spLocks noGrp="1"/>
          </p:cNvSpPr>
          <p:nvPr>
            <p:ph type="title"/>
          </p:nvPr>
        </p:nvSpPr>
        <p:spPr/>
        <p:txBody>
          <a:bodyPr/>
          <a:lstStyle/>
          <a:p>
            <a:r>
              <a:rPr kumimoji="1" lang="en-US" altLang="ja-JP"/>
              <a:t>BCC</a:t>
            </a:r>
            <a:r>
              <a:rPr lang="ja-JP" altLang="en-US"/>
              <a:t>の支援内容 </a:t>
            </a:r>
            <a:r>
              <a:rPr lang="en-US" altLang="ja-JP"/>
              <a:t>(2</a:t>
            </a:r>
            <a:r>
              <a:rPr lang="ja-JP" altLang="en-US"/>
              <a:t>月以降～</a:t>
            </a:r>
            <a:r>
              <a:rPr lang="en-US" altLang="ja-JP"/>
              <a:t>)</a:t>
            </a:r>
            <a:endParaRPr kumimoji="1" lang="ja-JP" altLang="en-US"/>
          </a:p>
        </p:txBody>
      </p:sp>
      <p:sp>
        <p:nvSpPr>
          <p:cNvPr id="4" name="スライド番号プレースホルダー 3">
            <a:extLst>
              <a:ext uri="{FF2B5EF4-FFF2-40B4-BE49-F238E27FC236}">
                <a16:creationId xmlns:a16="http://schemas.microsoft.com/office/drawing/2014/main" id="{FA6B12A4-4227-5716-926F-C1B270D986A3}"/>
              </a:ext>
            </a:extLst>
          </p:cNvPr>
          <p:cNvSpPr>
            <a:spLocks noGrp="1"/>
          </p:cNvSpPr>
          <p:nvPr>
            <p:ph type="sldNum"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41</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7" name="コンテンツ プレースホルダー 1">
            <a:extLst>
              <a:ext uri="{FF2B5EF4-FFF2-40B4-BE49-F238E27FC236}">
                <a16:creationId xmlns:a16="http://schemas.microsoft.com/office/drawing/2014/main" id="{0E1B5E84-1F44-B303-C09F-CF1A27CE5078}"/>
              </a:ext>
            </a:extLst>
          </p:cNvPr>
          <p:cNvSpPr>
            <a:spLocks noGrp="1"/>
          </p:cNvSpPr>
          <p:nvPr>
            <p:ph idx="1"/>
          </p:nvPr>
        </p:nvSpPr>
        <p:spPr>
          <a:xfrm>
            <a:off x="336521" y="692699"/>
            <a:ext cx="11525251" cy="526501"/>
          </a:xfrm>
          <a:noFill/>
          <a:ln w="9525">
            <a:noFill/>
            <a:miter lim="800000"/>
            <a:headEnd/>
            <a:tailEnd/>
          </a:ln>
        </p:spPr>
        <p:txBody>
          <a:bodyPr vert="horz" wrap="square" lIns="91440" tIns="45720" rIns="91440" bIns="45720" numCol="1" anchor="t" anchorCtr="0" compatLnSpc="1">
            <a:prstTxWarp prst="textNoShape">
              <a:avLst/>
            </a:prstTxWarp>
          </a:bodyPr>
          <a:lstStyle/>
          <a:p>
            <a:pPr marL="285750" indent="-285750">
              <a:spcBef>
                <a:spcPct val="0"/>
              </a:spcBef>
              <a:buFont typeface="Arial" panose="020B0604020202020204" pitchFamily="34" charset="0"/>
              <a:buChar char="•"/>
            </a:pPr>
            <a:r>
              <a:rPr lang="ja-JP" altLang="en-US" b="1">
                <a:latin typeface="+mn-ea"/>
                <a:ea typeface="+mn-ea"/>
              </a:rPr>
              <a:t>基シス</a:t>
            </a:r>
            <a:r>
              <a:rPr lang="en-US" altLang="ja-JP" b="1">
                <a:latin typeface="+mn-ea"/>
                <a:ea typeface="+mn-ea"/>
              </a:rPr>
              <a:t>U</a:t>
            </a:r>
            <a:r>
              <a:rPr lang="ja-JP" altLang="en-US" sz="1800" b="1">
                <a:latin typeface="+mn-ea"/>
                <a:ea typeface="+mn-ea"/>
              </a:rPr>
              <a:t>の</a:t>
            </a:r>
            <a:r>
              <a:rPr lang="en-US" altLang="ja-JP" sz="1800" b="1">
                <a:latin typeface="+mn-ea"/>
                <a:ea typeface="+mn-ea"/>
              </a:rPr>
              <a:t>R</a:t>
            </a:r>
            <a:r>
              <a:rPr lang="ja-JP" altLang="en-US" sz="1800" b="1">
                <a:latin typeface="+mn-ea"/>
                <a:ea typeface="+mn-ea"/>
              </a:rPr>
              <a:t>社員が主導すべきタスクについて、リソース不足を</a:t>
            </a:r>
            <a:r>
              <a:rPr lang="en-US" altLang="ja-JP" sz="1800" b="1">
                <a:latin typeface="+mn-ea"/>
                <a:ea typeface="+mn-ea"/>
              </a:rPr>
              <a:t>BCC</a:t>
            </a:r>
            <a:r>
              <a:rPr lang="ja-JP" altLang="en-US" sz="1800" b="1">
                <a:latin typeface="+mn-ea"/>
                <a:ea typeface="+mn-ea"/>
              </a:rPr>
              <a:t>にて補填頂く。</a:t>
            </a:r>
            <a:endParaRPr lang="en-US" altLang="ja-JP" b="1">
              <a:latin typeface="+mn-ea"/>
              <a:ea typeface="+mn-ea"/>
            </a:endParaRPr>
          </a:p>
        </p:txBody>
      </p:sp>
      <p:grpSp>
        <p:nvGrpSpPr>
          <p:cNvPr id="27" name="グループ化 26">
            <a:extLst>
              <a:ext uri="{FF2B5EF4-FFF2-40B4-BE49-F238E27FC236}">
                <a16:creationId xmlns:a16="http://schemas.microsoft.com/office/drawing/2014/main" id="{4F828AA7-DA36-BF4C-E120-420051A00916}"/>
              </a:ext>
            </a:extLst>
          </p:cNvPr>
          <p:cNvGrpSpPr/>
          <p:nvPr/>
        </p:nvGrpSpPr>
        <p:grpSpPr>
          <a:xfrm>
            <a:off x="1217126" y="1487340"/>
            <a:ext cx="2146741" cy="256381"/>
            <a:chOff x="203200" y="956315"/>
            <a:chExt cx="2406647" cy="352519"/>
          </a:xfrm>
        </p:grpSpPr>
        <p:sp>
          <p:nvSpPr>
            <p:cNvPr id="28" name="正方形/長方形 27">
              <a:extLst>
                <a:ext uri="{FF2B5EF4-FFF2-40B4-BE49-F238E27FC236}">
                  <a16:creationId xmlns:a16="http://schemas.microsoft.com/office/drawing/2014/main" id="{B4C469DF-EF0E-2CD3-06F1-B5FC6944E0D3}"/>
                </a:ext>
              </a:extLst>
            </p:cNvPr>
            <p:cNvSpPr/>
            <p:nvPr/>
          </p:nvSpPr>
          <p:spPr>
            <a:xfrm>
              <a:off x="203200" y="956315"/>
              <a:ext cx="2406647" cy="352519"/>
            </a:xfrm>
            <a:prstGeom prst="rect">
              <a:avLst/>
            </a:prstGeom>
            <a:noFill/>
            <a:ln w="9525" cap="flat" cmpd="sng" algn="ctr">
              <a:noFill/>
              <a:prstDash val="solid"/>
            </a:ln>
            <a:effectLst/>
          </p:spPr>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ja-JP" altLang="en-US" sz="14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領域</a:t>
              </a:r>
            </a:p>
          </p:txBody>
        </p:sp>
        <p:cxnSp>
          <p:nvCxnSpPr>
            <p:cNvPr id="29" name="直線コネクタ 28">
              <a:extLst>
                <a:ext uri="{FF2B5EF4-FFF2-40B4-BE49-F238E27FC236}">
                  <a16:creationId xmlns:a16="http://schemas.microsoft.com/office/drawing/2014/main" id="{9B0C9860-2134-5283-25FB-0CBAD08F13EF}"/>
                </a:ext>
              </a:extLst>
            </p:cNvPr>
            <p:cNvCxnSpPr>
              <a:cxnSpLocks/>
            </p:cNvCxnSpPr>
            <p:nvPr/>
          </p:nvCxnSpPr>
          <p:spPr>
            <a:xfrm>
              <a:off x="203200" y="1308198"/>
              <a:ext cx="2406647" cy="636"/>
            </a:xfrm>
            <a:prstGeom prst="line">
              <a:avLst/>
            </a:prstGeom>
            <a:noFill/>
            <a:ln w="9525" cap="flat" cmpd="sng" algn="ctr">
              <a:solidFill>
                <a:srgbClr val="FFFFFF">
                  <a:lumMod val="65000"/>
                </a:srgbClr>
              </a:solidFill>
              <a:prstDash val="solid"/>
            </a:ln>
            <a:effectLst/>
          </p:spPr>
        </p:cxnSp>
      </p:grpSp>
      <p:grpSp>
        <p:nvGrpSpPr>
          <p:cNvPr id="30" name="グループ化 29">
            <a:extLst>
              <a:ext uri="{FF2B5EF4-FFF2-40B4-BE49-F238E27FC236}">
                <a16:creationId xmlns:a16="http://schemas.microsoft.com/office/drawing/2014/main" id="{094C5C0D-6753-F810-44E8-F14C98654109}"/>
              </a:ext>
            </a:extLst>
          </p:cNvPr>
          <p:cNvGrpSpPr/>
          <p:nvPr/>
        </p:nvGrpSpPr>
        <p:grpSpPr>
          <a:xfrm>
            <a:off x="3405746" y="1488295"/>
            <a:ext cx="6587999" cy="256381"/>
            <a:chOff x="203200" y="956315"/>
            <a:chExt cx="2406647" cy="352519"/>
          </a:xfrm>
        </p:grpSpPr>
        <p:sp>
          <p:nvSpPr>
            <p:cNvPr id="31" name="正方形/長方形 30">
              <a:extLst>
                <a:ext uri="{FF2B5EF4-FFF2-40B4-BE49-F238E27FC236}">
                  <a16:creationId xmlns:a16="http://schemas.microsoft.com/office/drawing/2014/main" id="{304E0996-978C-95E9-7287-2979B9D86265}"/>
                </a:ext>
              </a:extLst>
            </p:cNvPr>
            <p:cNvSpPr/>
            <p:nvPr/>
          </p:nvSpPr>
          <p:spPr>
            <a:xfrm>
              <a:off x="203200" y="956315"/>
              <a:ext cx="2406647" cy="352519"/>
            </a:xfrm>
            <a:prstGeom prst="rect">
              <a:avLst/>
            </a:prstGeom>
            <a:noFill/>
            <a:ln w="9525" cap="flat" cmpd="sng" algn="ctr">
              <a:noFill/>
              <a:prstDash val="solid"/>
            </a:ln>
            <a:effectLst/>
          </p:spPr>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14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BCC</a:t>
              </a:r>
              <a:r>
                <a:rPr kumimoji="0" lang="ja-JP" altLang="en-US" sz="14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に支援を求める</a:t>
              </a:r>
              <a:r>
                <a:rPr kumimoji="0" lang="en-US" altLang="ja-JP" sz="14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R</a:t>
              </a:r>
              <a:r>
                <a:rPr kumimoji="0" lang="ja-JP" altLang="en-US" sz="14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社員主導タスク</a:t>
              </a:r>
            </a:p>
          </p:txBody>
        </p:sp>
        <p:cxnSp>
          <p:nvCxnSpPr>
            <p:cNvPr id="32" name="直線コネクタ 31">
              <a:extLst>
                <a:ext uri="{FF2B5EF4-FFF2-40B4-BE49-F238E27FC236}">
                  <a16:creationId xmlns:a16="http://schemas.microsoft.com/office/drawing/2014/main" id="{C53CD204-8690-6A22-1A30-E8C22A22EE31}"/>
                </a:ext>
              </a:extLst>
            </p:cNvPr>
            <p:cNvCxnSpPr>
              <a:cxnSpLocks/>
            </p:cNvCxnSpPr>
            <p:nvPr/>
          </p:nvCxnSpPr>
          <p:spPr>
            <a:xfrm>
              <a:off x="203200" y="1308198"/>
              <a:ext cx="2406647" cy="636"/>
            </a:xfrm>
            <a:prstGeom prst="line">
              <a:avLst/>
            </a:prstGeom>
            <a:noFill/>
            <a:ln w="9525" cap="flat" cmpd="sng" algn="ctr">
              <a:solidFill>
                <a:srgbClr val="FFFFFF">
                  <a:lumMod val="65000"/>
                </a:srgbClr>
              </a:solidFill>
              <a:prstDash val="solid"/>
            </a:ln>
            <a:effectLst/>
          </p:spPr>
        </p:cxnSp>
      </p:grpSp>
      <p:grpSp>
        <p:nvGrpSpPr>
          <p:cNvPr id="52" name="グループ化 51">
            <a:extLst>
              <a:ext uri="{FF2B5EF4-FFF2-40B4-BE49-F238E27FC236}">
                <a16:creationId xmlns:a16="http://schemas.microsoft.com/office/drawing/2014/main" id="{2264D38E-5B3A-AD67-8C27-6E5B2528EB62}"/>
              </a:ext>
            </a:extLst>
          </p:cNvPr>
          <p:cNvGrpSpPr/>
          <p:nvPr/>
        </p:nvGrpSpPr>
        <p:grpSpPr>
          <a:xfrm>
            <a:off x="1217125" y="2226221"/>
            <a:ext cx="8776620" cy="1754189"/>
            <a:chOff x="1217125" y="1995312"/>
            <a:chExt cx="8776620" cy="1332001"/>
          </a:xfrm>
        </p:grpSpPr>
        <p:sp>
          <p:nvSpPr>
            <p:cNvPr id="35" name="正方形/長方形 34">
              <a:extLst>
                <a:ext uri="{FF2B5EF4-FFF2-40B4-BE49-F238E27FC236}">
                  <a16:creationId xmlns:a16="http://schemas.microsoft.com/office/drawing/2014/main" id="{9E98D218-9BD6-AFC0-63A1-0781750AC71F}"/>
                </a:ext>
              </a:extLst>
            </p:cNvPr>
            <p:cNvSpPr/>
            <p:nvPr/>
          </p:nvSpPr>
          <p:spPr>
            <a:xfrm>
              <a:off x="3405746" y="1995312"/>
              <a:ext cx="6587999" cy="1332001"/>
            </a:xfrm>
            <a:prstGeom prst="rect">
              <a:avLst/>
            </a:prstGeom>
            <a:solidFill>
              <a:srgbClr val="FFFFFF"/>
            </a:solidFill>
            <a:ln w="9525" cap="flat" cmpd="sng" algn="ctr">
              <a:solidFill>
                <a:srgbClr val="FFFFFF">
                  <a:lumMod val="85000"/>
                </a:srgbClr>
              </a:solidFill>
              <a:prstDash val="solid"/>
            </a:ln>
            <a:effectLst/>
          </p:spPr>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l"/>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システム毎</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(12</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システム</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の必要なテスト論点整理、横断論点の整理と推進</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Concur</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系</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6</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システムは外結１から合流、</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RETMAS</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など全</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RIND</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が揃わないとテストできないシステムは</a:t>
              </a:r>
              <a:b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どう接続して検証する仕立てにするか？などの個別整理、課題シューティング</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保守環境と</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JKK</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用環境をどう分けるか、分けられない場合どのように保守品質を維持するか？の検討</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テストデータの作成手法や制約確認等の前提事項整理　など</a:t>
              </a:r>
              <a:b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l"/>
                <a:tabLst/>
                <a:defRPr/>
              </a:pP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JKK </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テスト</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U</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、アプリ</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U</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等の</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JKK</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本線との連携窓口機能</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mn-cs"/>
                </a:rPr>
                <a:t>各ユニットへの質問振り出し、回答結果の吸い上げ、整理</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AC421886-DA22-C02E-797E-CC93826FE360}"/>
                </a:ext>
              </a:extLst>
            </p:cNvPr>
            <p:cNvSpPr/>
            <p:nvPr/>
          </p:nvSpPr>
          <p:spPr>
            <a:xfrm>
              <a:off x="1217125" y="1995312"/>
              <a:ext cx="1498366" cy="1332001"/>
            </a:xfrm>
            <a:prstGeom prst="rect">
              <a:avLst/>
            </a:prstGeom>
            <a:solidFill>
              <a:schemeClr val="accent5">
                <a:lumMod val="40000"/>
                <a:lumOff val="60000"/>
              </a:schemeClr>
            </a:solidFill>
            <a:ln w="9525" cap="flat" cmpd="sng" algn="ctr">
              <a:solidFill>
                <a:srgbClr val="FFFFFF">
                  <a:lumMod val="50000"/>
                </a:srgbClr>
              </a:solidFill>
              <a:prstDash val="solid"/>
            </a:ln>
            <a:effectLst/>
          </p:spPr>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ja-JP" altLang="en-US" sz="2000" b="1" i="0" u="none" strike="noStrike" kern="0" cap="none" spc="0" normalizeH="0" baseline="0" noProof="0">
                  <a:ln>
                    <a:noFill/>
                  </a:ln>
                  <a:solidFill>
                    <a:srgbClr val="000000">
                      <a:lumMod val="75000"/>
                      <a:lumOff val="25000"/>
                    </a:srgbClr>
                  </a:solidFill>
                  <a:effectLst/>
                  <a:uLnTx/>
                  <a:uFillTx/>
                  <a:latin typeface="Meiryo UI"/>
                  <a:ea typeface="Meiryo UI"/>
                  <a:cs typeface="+mn-cs"/>
                </a:rPr>
                <a:t>テスト</a:t>
              </a:r>
            </a:p>
          </p:txBody>
        </p:sp>
        <p:sp>
          <p:nvSpPr>
            <p:cNvPr id="41" name="正方形/長方形 40">
              <a:extLst>
                <a:ext uri="{FF2B5EF4-FFF2-40B4-BE49-F238E27FC236}">
                  <a16:creationId xmlns:a16="http://schemas.microsoft.com/office/drawing/2014/main" id="{623B88A4-1D65-1018-DCFE-13CD24484DE5}"/>
                </a:ext>
              </a:extLst>
            </p:cNvPr>
            <p:cNvSpPr/>
            <p:nvPr/>
          </p:nvSpPr>
          <p:spPr>
            <a:xfrm>
              <a:off x="2715491" y="1995312"/>
              <a:ext cx="648376" cy="1332001"/>
            </a:xfrm>
            <a:prstGeom prst="rect">
              <a:avLst/>
            </a:prstGeom>
            <a:solidFill>
              <a:srgbClr val="FFFFFF"/>
            </a:solidFill>
            <a:ln w="9525" cap="flat" cmpd="sng" algn="ctr">
              <a:solidFill>
                <a:srgbClr val="FFFFFF">
                  <a:lumMod val="50000"/>
                </a:srgbClr>
              </a:solidFill>
              <a:prstDash val="solid"/>
            </a:ln>
            <a:effectLst/>
          </p:spPr>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1400" b="0" i="0" u="none" strike="noStrike" kern="0" cap="none" spc="0" normalizeH="0" baseline="0" noProof="0">
                  <a:ln>
                    <a:noFill/>
                  </a:ln>
                  <a:solidFill>
                    <a:srgbClr val="000000">
                      <a:lumMod val="65000"/>
                      <a:lumOff val="35000"/>
                    </a:srgbClr>
                  </a:solidFill>
                  <a:effectLst/>
                  <a:uLnTx/>
                  <a:uFillTx/>
                  <a:latin typeface="Meiryo UI"/>
                  <a:ea typeface="Meiryo UI"/>
                  <a:cs typeface="+mn-cs"/>
                </a:rPr>
                <a:t>1.5</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ja-JP" sz="10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800" b="0" i="0" u="none" strike="noStrike" kern="0" cap="none" spc="0" normalizeH="0" baseline="0" noProof="0">
                  <a:ln>
                    <a:noFill/>
                  </a:ln>
                  <a:solidFill>
                    <a:srgbClr val="000000">
                      <a:lumMod val="65000"/>
                      <a:lumOff val="35000"/>
                    </a:srgbClr>
                  </a:solidFill>
                  <a:effectLst/>
                  <a:uLnTx/>
                  <a:uFillTx/>
                  <a:latin typeface="Meiryo UI"/>
                  <a:ea typeface="Meiryo UI"/>
                  <a:cs typeface="+mn-cs"/>
                </a:rPr>
                <a:t>※4</a:t>
              </a:r>
              <a:r>
                <a:rPr kumimoji="0" lang="ja-JP" altLang="en-US" sz="800" b="0" i="0" u="none" strike="noStrike" kern="0" cap="none" spc="0" normalizeH="0" baseline="0" noProof="0">
                  <a:ln>
                    <a:noFill/>
                  </a:ln>
                  <a:solidFill>
                    <a:srgbClr val="000000">
                      <a:lumMod val="65000"/>
                      <a:lumOff val="35000"/>
                    </a:srgbClr>
                  </a:solidFill>
                  <a:effectLst/>
                  <a:uLnTx/>
                  <a:uFillTx/>
                  <a:latin typeface="Meiryo UI"/>
                  <a:ea typeface="Meiryo UI"/>
                  <a:cs typeface="+mn-cs"/>
                </a:rPr>
                <a:t>月から</a:t>
              </a:r>
              <a:endParaRPr kumimoji="0" lang="en-US" altLang="ja-JP" sz="8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800" b="0" i="0" u="none" strike="noStrike" kern="0" cap="none" spc="0" normalizeH="0" baseline="0" noProof="0">
                  <a:ln>
                    <a:noFill/>
                  </a:ln>
                  <a:solidFill>
                    <a:srgbClr val="000000">
                      <a:lumMod val="65000"/>
                      <a:lumOff val="35000"/>
                    </a:srgbClr>
                  </a:solidFill>
                  <a:effectLst/>
                  <a:uLnTx/>
                  <a:uFillTx/>
                  <a:latin typeface="Meiryo UI"/>
                  <a:ea typeface="Meiryo UI"/>
                  <a:cs typeface="+mn-cs"/>
                </a:rPr>
                <a:t>1.0</a:t>
              </a:r>
            </a:p>
          </p:txBody>
        </p:sp>
      </p:grpSp>
      <p:grpSp>
        <p:nvGrpSpPr>
          <p:cNvPr id="53" name="グループ化 52">
            <a:extLst>
              <a:ext uri="{FF2B5EF4-FFF2-40B4-BE49-F238E27FC236}">
                <a16:creationId xmlns:a16="http://schemas.microsoft.com/office/drawing/2014/main" id="{28E01EB4-95FE-71B8-FEE3-E1907F8E15FB}"/>
              </a:ext>
            </a:extLst>
          </p:cNvPr>
          <p:cNvGrpSpPr/>
          <p:nvPr/>
        </p:nvGrpSpPr>
        <p:grpSpPr>
          <a:xfrm>
            <a:off x="1217125" y="4077334"/>
            <a:ext cx="8776620" cy="1754189"/>
            <a:chOff x="1217125" y="3424728"/>
            <a:chExt cx="8776620" cy="1332001"/>
          </a:xfrm>
        </p:grpSpPr>
        <p:sp>
          <p:nvSpPr>
            <p:cNvPr id="37" name="正方形/長方形 36">
              <a:extLst>
                <a:ext uri="{FF2B5EF4-FFF2-40B4-BE49-F238E27FC236}">
                  <a16:creationId xmlns:a16="http://schemas.microsoft.com/office/drawing/2014/main" id="{0D92E01B-4F44-91D8-97ED-071DD14D9145}"/>
                </a:ext>
              </a:extLst>
            </p:cNvPr>
            <p:cNvSpPr/>
            <p:nvPr/>
          </p:nvSpPr>
          <p:spPr>
            <a:xfrm>
              <a:off x="1217125" y="3424728"/>
              <a:ext cx="1498366" cy="1332001"/>
            </a:xfrm>
            <a:prstGeom prst="rect">
              <a:avLst/>
            </a:prstGeom>
            <a:solidFill>
              <a:schemeClr val="accent5">
                <a:lumMod val="40000"/>
                <a:lumOff val="60000"/>
              </a:schemeClr>
            </a:solidFill>
            <a:ln w="9525" cap="flat" cmpd="sng" algn="ctr">
              <a:solidFill>
                <a:srgbClr val="FFFFFF">
                  <a:lumMod val="50000"/>
                </a:srgbClr>
              </a:solidFill>
              <a:prstDash val="solid"/>
            </a:ln>
            <a:effectLst/>
          </p:spPr>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ja-JP" altLang="en-US" sz="2000" b="1" i="0" u="none" strike="noStrike" kern="0" cap="none" spc="0" normalizeH="0" baseline="0" noProof="0">
                  <a:ln>
                    <a:noFill/>
                  </a:ln>
                  <a:solidFill>
                    <a:srgbClr val="000000">
                      <a:lumMod val="75000"/>
                      <a:lumOff val="25000"/>
                    </a:srgbClr>
                  </a:solidFill>
                  <a:effectLst/>
                  <a:uLnTx/>
                  <a:uFillTx/>
                  <a:latin typeface="Meiryo UI"/>
                  <a:ea typeface="Meiryo UI"/>
                  <a:cs typeface="+mn-cs"/>
                </a:rPr>
                <a:t>移行</a:t>
              </a:r>
            </a:p>
          </p:txBody>
        </p:sp>
        <p:sp>
          <p:nvSpPr>
            <p:cNvPr id="39" name="正方形/長方形 38">
              <a:extLst>
                <a:ext uri="{FF2B5EF4-FFF2-40B4-BE49-F238E27FC236}">
                  <a16:creationId xmlns:a16="http://schemas.microsoft.com/office/drawing/2014/main" id="{7BC38BD2-4141-EAD1-56E0-866CA89AC1A0}"/>
                </a:ext>
              </a:extLst>
            </p:cNvPr>
            <p:cNvSpPr/>
            <p:nvPr/>
          </p:nvSpPr>
          <p:spPr>
            <a:xfrm>
              <a:off x="3405746" y="3424728"/>
              <a:ext cx="6587999" cy="1332001"/>
            </a:xfrm>
            <a:prstGeom prst="rect">
              <a:avLst/>
            </a:prstGeom>
            <a:solidFill>
              <a:srgbClr val="FFFFFF"/>
            </a:solidFill>
            <a:ln w="9525" cap="flat" cmpd="sng" algn="ctr">
              <a:solidFill>
                <a:srgbClr val="FFFFFF">
                  <a:lumMod val="85000"/>
                </a:srgbClr>
              </a:solidFill>
              <a:prstDash val="solid"/>
            </a:ln>
            <a:effectLst/>
          </p:spPr>
          <p:txBody>
            <a:bodyPr vert="horz" rtlCol="0" anchor="ctr"/>
            <a:lstStyle/>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altLang="ja-JP" sz="5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l"/>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システム単位で推進が必要な移行論点、横断論点の整理と推進</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マスタ設定値の変更によるシステム毎の環境影響の整理、移行方式の検討（マスタ、トラン）、</a:t>
              </a:r>
              <a:b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業務切り替え時の運用検討、などの論点整理、課題シューティング</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移行対象の識別と役割分担、ツール要否の整理　など</a:t>
              </a:r>
              <a:b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l"/>
                <a:tabLst/>
                <a:defRPr/>
              </a:pP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JKK </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U</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、アプリ</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U</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等の</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JKK</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本線との連携窓口機能</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mn-cs"/>
                </a:rPr>
                <a:t>各ユニットへの質問振り出し、回答結果の吸い上げ、整理</a:t>
              </a:r>
            </a:p>
          </p:txBody>
        </p:sp>
        <p:sp>
          <p:nvSpPr>
            <p:cNvPr id="42" name="正方形/長方形 41">
              <a:extLst>
                <a:ext uri="{FF2B5EF4-FFF2-40B4-BE49-F238E27FC236}">
                  <a16:creationId xmlns:a16="http://schemas.microsoft.com/office/drawing/2014/main" id="{665AF2F5-B3CE-0DBA-1E38-56184D58DD1D}"/>
                </a:ext>
              </a:extLst>
            </p:cNvPr>
            <p:cNvSpPr/>
            <p:nvPr/>
          </p:nvSpPr>
          <p:spPr>
            <a:xfrm>
              <a:off x="2715491" y="3424728"/>
              <a:ext cx="648376" cy="1332001"/>
            </a:xfrm>
            <a:prstGeom prst="rect">
              <a:avLst/>
            </a:prstGeom>
            <a:solidFill>
              <a:srgbClr val="FFFFFF"/>
            </a:solidFill>
            <a:ln w="9525" cap="flat" cmpd="sng" algn="ctr">
              <a:solidFill>
                <a:srgbClr val="FFFFFF">
                  <a:lumMod val="50000"/>
                </a:srgbClr>
              </a:solidFill>
              <a:prstDash val="solid"/>
            </a:ln>
            <a:effectLst/>
          </p:spPr>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1400" b="0" i="0" u="none" strike="noStrike" kern="0" cap="none" spc="0" normalizeH="0" baseline="0" noProof="0">
                  <a:ln>
                    <a:noFill/>
                  </a:ln>
                  <a:solidFill>
                    <a:srgbClr val="000000">
                      <a:lumMod val="65000"/>
                      <a:lumOff val="35000"/>
                    </a:srgbClr>
                  </a:solidFill>
                  <a:effectLst/>
                  <a:uLnTx/>
                  <a:uFillTx/>
                  <a:latin typeface="Meiryo UI"/>
                  <a:ea typeface="Meiryo UI"/>
                  <a:cs typeface="+mn-cs"/>
                </a:rPr>
                <a:t>1.0</a:t>
              </a:r>
            </a:p>
          </p:txBody>
        </p:sp>
      </p:grpSp>
      <p:sp>
        <p:nvSpPr>
          <p:cNvPr id="45" name="正方形/長方形 44">
            <a:extLst>
              <a:ext uri="{FF2B5EF4-FFF2-40B4-BE49-F238E27FC236}">
                <a16:creationId xmlns:a16="http://schemas.microsoft.com/office/drawing/2014/main" id="{48C1778C-3E88-233E-8AEB-A178BB2A1BD6}"/>
              </a:ext>
            </a:extLst>
          </p:cNvPr>
          <p:cNvSpPr/>
          <p:nvPr/>
        </p:nvSpPr>
        <p:spPr>
          <a:xfrm>
            <a:off x="1217125" y="1837671"/>
            <a:ext cx="2146741" cy="339838"/>
          </a:xfrm>
          <a:prstGeom prst="rect">
            <a:avLst/>
          </a:prstGeom>
          <a:solidFill>
            <a:schemeClr val="accent5">
              <a:lumMod val="50000"/>
            </a:schemeClr>
          </a:solidFill>
          <a:ln w="9525" cap="flat" cmpd="sng" algn="ctr">
            <a:solidFill>
              <a:srgbClr val="FFFFFF">
                <a:lumMod val="50000"/>
              </a:srgbClr>
            </a:solidFill>
            <a:prstDash val="solid"/>
          </a:ln>
          <a:effectLst/>
        </p:spPr>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1400" b="0" i="0" u="none" strike="noStrike" kern="0" cap="none" spc="0" normalizeH="0" baseline="0" noProof="0">
                <a:ln>
                  <a:noFill/>
                </a:ln>
                <a:solidFill>
                  <a:srgbClr val="FFFFFF"/>
                </a:solidFill>
                <a:effectLst/>
                <a:uLnTx/>
                <a:uFillTx/>
                <a:latin typeface="Meiryo UI"/>
                <a:ea typeface="Meiryo UI"/>
                <a:cs typeface="Hiragino Kaku Gothic Pro W3" charset="-128"/>
              </a:rPr>
              <a:t>2.5MM</a:t>
            </a:r>
            <a:r>
              <a:rPr kumimoji="0" lang="ja-JP" altLang="en-US" sz="1400" b="0" i="0" u="none" strike="noStrike" kern="0" cap="none" spc="0" normalizeH="0" baseline="0" noProof="0">
                <a:ln>
                  <a:noFill/>
                </a:ln>
                <a:solidFill>
                  <a:srgbClr val="FFFFFF"/>
                </a:solidFill>
                <a:effectLst/>
                <a:uLnTx/>
                <a:uFillTx/>
                <a:latin typeface="Meiryo UI"/>
                <a:ea typeface="Meiryo UI"/>
                <a:cs typeface="Hiragino Kaku Gothic Pro W3" charset="-128"/>
              </a:rPr>
              <a:t> </a:t>
            </a:r>
            <a:r>
              <a:rPr kumimoji="0" lang="en-US" altLang="ja-JP" sz="800" b="0" i="0" u="none" strike="noStrike" kern="0" cap="none" spc="0" normalizeH="0" baseline="0" noProof="0">
                <a:ln>
                  <a:noFill/>
                </a:ln>
                <a:solidFill>
                  <a:srgbClr val="FFFFFF"/>
                </a:solidFill>
                <a:effectLst/>
                <a:uLnTx/>
                <a:uFillTx/>
                <a:latin typeface="Meiryo UI"/>
                <a:ea typeface="Meiryo UI"/>
                <a:cs typeface="Hiragino Kaku Gothic Pro W3" charset="-128"/>
              </a:rPr>
              <a:t>※4</a:t>
            </a:r>
            <a:r>
              <a:rPr kumimoji="0" lang="ja-JP" altLang="en-US" sz="800" b="0" i="0" u="none" strike="noStrike" kern="0" cap="none" spc="0" normalizeH="0" baseline="0" noProof="0">
                <a:ln>
                  <a:noFill/>
                </a:ln>
                <a:solidFill>
                  <a:srgbClr val="FFFFFF"/>
                </a:solidFill>
                <a:effectLst/>
                <a:uLnTx/>
                <a:uFillTx/>
                <a:latin typeface="Meiryo UI"/>
                <a:ea typeface="Meiryo UI"/>
                <a:cs typeface="Hiragino Kaku Gothic Pro W3" charset="-128"/>
              </a:rPr>
              <a:t>月から</a:t>
            </a:r>
            <a:r>
              <a:rPr kumimoji="0" lang="en-US" altLang="ja-JP" sz="800" b="0" i="0" u="none" strike="noStrike" kern="0" cap="none" spc="0" normalizeH="0" baseline="0" noProof="0">
                <a:ln>
                  <a:noFill/>
                </a:ln>
                <a:solidFill>
                  <a:srgbClr val="FFFFFF"/>
                </a:solidFill>
                <a:effectLst/>
                <a:uLnTx/>
                <a:uFillTx/>
                <a:latin typeface="Meiryo UI"/>
                <a:ea typeface="Meiryo UI"/>
                <a:cs typeface="Hiragino Kaku Gothic Pro W3" charset="-128"/>
              </a:rPr>
              <a:t>2MM</a:t>
            </a:r>
            <a:endParaRPr kumimoji="0" lang="ja-JP" altLang="en-US" sz="1050" b="0" i="0" u="none" strike="noStrike" kern="0" cap="none" spc="0" normalizeH="0" baseline="0" noProof="0">
              <a:ln>
                <a:noFill/>
              </a:ln>
              <a:solidFill>
                <a:srgbClr val="FFFFFF"/>
              </a:solidFill>
              <a:effectLst/>
              <a:uLnTx/>
              <a:uFillTx/>
              <a:latin typeface="Meiryo UI"/>
              <a:ea typeface="Meiryo UI"/>
              <a:cs typeface="+mn-cs"/>
            </a:endParaRPr>
          </a:p>
        </p:txBody>
      </p:sp>
    </p:spTree>
    <p:extLst>
      <p:ext uri="{BB962C8B-B14F-4D97-AF65-F5344CB8AC3E}">
        <p14:creationId xmlns:p14="http://schemas.microsoft.com/office/powerpoint/2010/main" val="40174540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企画書テンプレートRLS14ver">
  <a:themeElements>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lIns="36000" tIns="36000" rIns="36000" bIns="36000" rtlCol="0" anchor="ctr"/>
      <a:lstStyle>
        <a:defPPr algn="ctr">
          <a:defRPr kumimoji="1" sz="1400" dirty="0">
            <a:solidFill>
              <a:schemeClr val="accent4">
                <a:lumMod val="65000"/>
                <a:lumOff val="35000"/>
              </a:schemeClr>
            </a:solidFill>
            <a:latin typeface="+mn-ea"/>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企画書テンプレートRLS14ver">
  <a:themeElements>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n-ea"/>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デザインの設定">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企画書テンプレートRLS14ver">
  <a:themeElements>
    <a:clrScheme name="ユーザー定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資料フォーマット.pptx" id="{A07E70FC-B80E-48CD-A117-A47FB0E8A70F}" vid="{D0203C7F-9D8B-48F9-B083-DE4B79D92818}"/>
    </a:ext>
  </a:extLst>
</a:theme>
</file>

<file path=ppt/theme/theme5.xml><?xml version="1.0" encoding="utf-8"?>
<a:theme xmlns:a="http://schemas.openxmlformats.org/drawingml/2006/main" name="5_企画書テンプレートRLS14ver">
  <a:themeElements>
    <a:clrScheme name="ユーザー定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資料フォーマット.pptx" id="{A07E70FC-B80E-48CD-A117-A47FB0E8A70F}" vid="{D0203C7F-9D8B-48F9-B083-DE4B79D92818}"/>
    </a:ext>
  </a:ext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f52ec0e6-5720-4074-b74f-ed0a3473655d">
      <UserInfo>
        <DisplayName>木村 茂史</DisplayName>
        <AccountId>15</AccountId>
        <AccountType/>
      </UserInfo>
      <UserInfo>
        <DisplayName>山形 舞</DisplayName>
        <AccountId>16</AccountId>
        <AccountType/>
      </UserInfo>
      <UserInfo>
        <DisplayName>佐々木 愛</DisplayName>
        <AccountId>17</AccountId>
        <AccountType/>
      </UserInfo>
      <UserInfo>
        <DisplayName>丸田 志穂</DisplayName>
        <AccountId>18</AccountId>
        <AccountType/>
      </UserInfo>
      <UserInfo>
        <DisplayName>坂口 諒</DisplayName>
        <AccountId>19</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6BC7193C5000614D902DFE8DB2D504A0" ma:contentTypeVersion="10" ma:contentTypeDescription="新しいドキュメントを作成します。" ma:contentTypeScope="" ma:versionID="5bdfb082c6b5f485876ed098d1aba435">
  <xsd:schema xmlns:xsd="http://www.w3.org/2001/XMLSchema" xmlns:xs="http://www.w3.org/2001/XMLSchema" xmlns:p="http://schemas.microsoft.com/office/2006/metadata/properties" xmlns:ns2="6d1bb7b3-1a78-4edb-9d24-6d6293c5661b" xmlns:ns3="f52ec0e6-5720-4074-b74f-ed0a3473655d" targetNamespace="http://schemas.microsoft.com/office/2006/metadata/properties" ma:root="true" ma:fieldsID="f9a05aec5cbd8dcc8973064e25e971cd" ns2:_="" ns3:_="">
    <xsd:import namespace="6d1bb7b3-1a78-4edb-9d24-6d6293c5661b"/>
    <xsd:import namespace="f52ec0e6-5720-4074-b74f-ed0a3473655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1bb7b3-1a78-4edb-9d24-6d6293c566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52ec0e6-5720-4074-b74f-ed0a3473655d"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412C807-2F06-4126-A938-618AA2560249}">
  <ds:schemaRefs>
    <ds:schemaRef ds:uri="http://schemas.microsoft.com/office/infopath/2007/PartnerControls"/>
    <ds:schemaRef ds:uri="95670f31-b13c-4631-9652-d49cf141d6c8"/>
    <ds:schemaRef ds:uri="http://purl.org/dc/terms/"/>
    <ds:schemaRef ds:uri="c5c3b17e-7e15-4423-952c-b54f49294368"/>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http://www.w3.org/XML/1998/namespace"/>
    <ds:schemaRef ds:uri="http://purl.org/dc/dcmitype/"/>
    <ds:schemaRef ds:uri="ba719917-70bb-4a4b-8475-53935d678f0b"/>
    <ds:schemaRef ds:uri="cb179e9c-c8c9-4517-ab57-212c427650ba"/>
    <ds:schemaRef ds:uri="f52ec0e6-5720-4074-b74f-ed0a3473655d"/>
  </ds:schemaRefs>
</ds:datastoreItem>
</file>

<file path=customXml/itemProps2.xml><?xml version="1.0" encoding="utf-8"?>
<ds:datastoreItem xmlns:ds="http://schemas.openxmlformats.org/officeDocument/2006/customXml" ds:itemID="{4DEF686A-51F8-4D09-A86E-1ADB230C38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1bb7b3-1a78-4edb-9d24-6d6293c5661b"/>
    <ds:schemaRef ds:uri="f52ec0e6-5720-4074-b74f-ed0a347365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1141BD7-758F-4617-9716-1DCB9409EBD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3201</TotalTime>
  <Words>10852</Words>
  <Application>Microsoft Office PowerPoint</Application>
  <PresentationFormat>ワイド画面</PresentationFormat>
  <Paragraphs>2280</Paragraphs>
  <Slides>41</Slides>
  <Notes>9</Notes>
  <HiddenSlides>0</HiddenSlides>
  <MMClips>0</MMClips>
  <ScaleCrop>false</ScaleCrop>
  <HeadingPairs>
    <vt:vector size="8" baseType="variant">
      <vt:variant>
        <vt:lpstr>使用されているフォント</vt:lpstr>
      </vt:variant>
      <vt:variant>
        <vt:i4>11</vt:i4>
      </vt:variant>
      <vt:variant>
        <vt:lpstr>テーマ</vt:lpstr>
      </vt:variant>
      <vt:variant>
        <vt:i4>5</vt:i4>
      </vt:variant>
      <vt:variant>
        <vt:lpstr>埋め込まれた OLE サーバー</vt:lpstr>
      </vt:variant>
      <vt:variant>
        <vt:i4>1</vt:i4>
      </vt:variant>
      <vt:variant>
        <vt:lpstr>スライド タイトル</vt:lpstr>
      </vt:variant>
      <vt:variant>
        <vt:i4>41</vt:i4>
      </vt:variant>
    </vt:vector>
  </HeadingPairs>
  <TitlesOfParts>
    <vt:vector size="58" baseType="lpstr">
      <vt:lpstr>HG丸ｺﾞｼｯｸM-PRO</vt:lpstr>
      <vt:lpstr>Hiragino Kaku Gothic Pro W3</vt:lpstr>
      <vt:lpstr>Meiryo UI</vt:lpstr>
      <vt:lpstr>MS UI Gothic</vt:lpstr>
      <vt:lpstr>メイリオ</vt:lpstr>
      <vt:lpstr>メイリオ</vt:lpstr>
      <vt:lpstr>游ゴシック</vt:lpstr>
      <vt:lpstr>Arial</vt:lpstr>
      <vt:lpstr>Calibri</vt:lpstr>
      <vt:lpstr>Calibri Light</vt:lpstr>
      <vt:lpstr>Wingdings</vt:lpstr>
      <vt:lpstr>企画書テンプレートRLS14ver</vt:lpstr>
      <vt:lpstr>3_企画書テンプレートRLS14ver</vt:lpstr>
      <vt:lpstr>1_デザインの設定</vt:lpstr>
      <vt:lpstr>4_企画書テンプレートRLS14ver</vt:lpstr>
      <vt:lpstr>5_企画書テンプレートRLS14ver</vt:lpstr>
      <vt:lpstr>think-cell スライド</vt:lpstr>
      <vt:lpstr>PowerPoint プレゼンテーション</vt:lpstr>
      <vt:lpstr>PowerPoint プレゼンテーション</vt:lpstr>
      <vt:lpstr>アジェンダ</vt:lpstr>
      <vt:lpstr>背景・目的</vt:lpstr>
      <vt:lpstr>前提</vt:lpstr>
      <vt:lpstr>プロジェクトスコープ</vt:lpstr>
      <vt:lpstr>施策①：ソリューションの検討</vt:lpstr>
      <vt:lpstr>施策②：担当領域の検討</vt:lpstr>
      <vt:lpstr>本施策のコストと工数</vt:lpstr>
      <vt:lpstr>本施策の効果</vt:lpstr>
      <vt:lpstr>体制</vt:lpstr>
      <vt:lpstr>スケジュール</vt:lpstr>
      <vt:lpstr>リスクと対応方針</vt:lpstr>
      <vt:lpstr>（Appendix）スプシ化の設計思想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6. 各システム対応内容（Concur系）②</vt:lpstr>
      <vt:lpstr>PowerPoint プレゼンテーション</vt:lpstr>
      <vt:lpstr>6. 各システム対応内容（Concur系）③</vt:lpstr>
      <vt:lpstr>6. 各システム対応内容（Concur系）④</vt:lpstr>
      <vt:lpstr>6. 各システム対応内容（Concur系）⑤</vt:lpstr>
      <vt:lpstr>6. 各システム対応内容（ロコン購買HUB）</vt:lpstr>
      <vt:lpstr>6. 各システム対応内容（ロコン銀行HUB）</vt:lpstr>
      <vt:lpstr>6. 各システム対応内容（RETMAS）①</vt:lpstr>
      <vt:lpstr>6. 各システム対応内容（RETMAS）②</vt:lpstr>
      <vt:lpstr>6. 各システム対応内容（RETMAS）③</vt:lpstr>
      <vt:lpstr>6. 各システム対応内容（とんぺい）</vt:lpstr>
      <vt:lpstr>6. 各システム対応内容（Mico/Chaco）</vt:lpstr>
      <vt:lpstr>6. 各システム対応内容（ミスギ）</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検討工程でコンサルを入れる理由</vt:lpstr>
      <vt:lpstr>BCCの支援内容 (2月以降～)</vt:lpstr>
    </vt:vector>
  </TitlesOfParts>
  <Company>RECRUIT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【前提】売上・債権の仕訳データ作成までのデータ流入経路</dc:title>
  <dc:creator>佐伯 奈々</dc:creator>
  <cp:lastModifiedBy>越智 啓人</cp:lastModifiedBy>
  <cp:revision>29</cp:revision>
  <dcterms:created xsi:type="dcterms:W3CDTF">2022-12-19T07:46:21Z</dcterms:created>
  <dcterms:modified xsi:type="dcterms:W3CDTF">2026-02-20T05:59:03Z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0x0101006BC7193C5000614D902DFE8DB2D504A0</vt:lpwstr>
  </property>
  <property fmtid="{D5CDD505-2E9C-101B-9397-08002B2CF9AE}" pid="3" name="MediaServiceImageTags">
    <vt:lpwstr/>
  </property>
</Properties>
</file>