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649" r:id="rId1"/>
  </p:sldMasterIdLst>
  <p:notesMasterIdLst>
    <p:notesMasterId r:id="rId23"/>
  </p:notesMasterIdLst>
  <p:handoutMasterIdLst>
    <p:handoutMasterId r:id="rId24"/>
  </p:handoutMasterIdLst>
  <p:sldIdLst>
    <p:sldId id="2288" r:id="rId2"/>
    <p:sldId id="2296" r:id="rId3"/>
    <p:sldId id="2445" r:id="rId4"/>
    <p:sldId id="2459" r:id="rId5"/>
    <p:sldId id="2452" r:id="rId6"/>
    <p:sldId id="2462" r:id="rId7"/>
    <p:sldId id="2461" r:id="rId8"/>
    <p:sldId id="2455" r:id="rId9"/>
    <p:sldId id="2447" r:id="rId10"/>
    <p:sldId id="2443" r:id="rId11"/>
    <p:sldId id="2446" r:id="rId12"/>
    <p:sldId id="2448" r:id="rId13"/>
    <p:sldId id="2449" r:id="rId14"/>
    <p:sldId id="2453" r:id="rId15"/>
    <p:sldId id="2463" r:id="rId16"/>
    <p:sldId id="2460" r:id="rId17"/>
    <p:sldId id="2456" r:id="rId18"/>
    <p:sldId id="2457" r:id="rId19"/>
    <p:sldId id="2458" r:id="rId20"/>
    <p:sldId id="2450" r:id="rId21"/>
    <p:sldId id="2451" r:id="rId22"/>
  </p:sldIdLst>
  <p:sldSz cx="12192000" cy="6858000"/>
  <p:notesSz cx="6794500" cy="9931400"/>
  <p:custDataLst>
    <p:tags r:id="rId25"/>
  </p:custDataLst>
  <p:defaultTex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表紙＆はじめに" id="{B223363F-AAD0-4374-8941-7C1723D212A2}">
          <p14:sldIdLst>
            <p14:sldId id="2288"/>
          </p14:sldIdLst>
        </p14:section>
        <p14:section name="本編" id="{C5C892AD-0486-4E46-8C1F-1E147ECC7FD9}">
          <p14:sldIdLst>
            <p14:sldId id="2296"/>
            <p14:sldId id="2445"/>
            <p14:sldId id="2459"/>
            <p14:sldId id="2452"/>
            <p14:sldId id="2462"/>
            <p14:sldId id="2461"/>
            <p14:sldId id="2455"/>
            <p14:sldId id="2447"/>
            <p14:sldId id="2443"/>
            <p14:sldId id="2446"/>
            <p14:sldId id="2448"/>
            <p14:sldId id="2449"/>
            <p14:sldId id="2453"/>
            <p14:sldId id="2463"/>
            <p14:sldId id="2460"/>
            <p14:sldId id="2456"/>
            <p14:sldId id="2457"/>
            <p14:sldId id="2458"/>
            <p14:sldId id="2450"/>
            <p14:sldId id="2451"/>
          </p14:sldIdLst>
        </p14:section>
        <p14:section name="参考" id="{0E6609F3-372F-4CB6-8E62-D7806DD1C080}">
          <p14:sldIdLst/>
        </p14:section>
      </p14:sectionLst>
    </p:ext>
    <p:ext uri="{EFAFB233-063F-42B5-8137-9DF3F51BA10A}">
      <p15:sldGuideLst xmlns:p15="http://schemas.microsoft.com/office/powerpoint/2012/main">
        <p15:guide id="1" orient="horz" pos="1094" userDrawn="1">
          <p15:clr>
            <a:srgbClr val="A4A3A4"/>
          </p15:clr>
        </p15:guide>
        <p15:guide id="2" pos="3840" userDrawn="1">
          <p15:clr>
            <a:srgbClr val="A4A3A4"/>
          </p15:clr>
        </p15:guide>
        <p15:guide id="3" pos="302" userDrawn="1">
          <p15:clr>
            <a:srgbClr val="A4A3A4"/>
          </p15:clr>
        </p15:guide>
        <p15:guide id="4" pos="737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8" name="作成者" initials="A" lastIdx="0" clrIdx="19"/>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5BD"/>
    <a:srgbClr val="7F7F7F"/>
    <a:srgbClr val="FFFFFF"/>
    <a:srgbClr val="D4EAF7"/>
    <a:srgbClr val="DEEBF7"/>
    <a:srgbClr val="A6A6A6"/>
    <a:srgbClr val="DADADA"/>
    <a:srgbClr val="F2F2F2"/>
    <a:srgbClr val="A5A5A5"/>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ABFCF23-3B69-468F-B69F-88F6DE6A72F2}" styleName="中間スタイル 1 - アクセント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中間スタイル 1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505E3EF-67EA-436B-97B2-0124C06EBD24}" styleName="中間スタイル 4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B9631B5-78F2-41C9-869B-9F39066F8104}" styleName="中間スタイル 3 - アクセント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D5ABB26-0587-4C30-8999-92F81FD0307C}" styleName="スタイル/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EBBBCC-DAD2-459C-BE2E-F6DE35CF9A28}" styleName="濃色スタイル 2 - アクセント 3/アクセント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2308" autoAdjust="0"/>
  </p:normalViewPr>
  <p:slideViewPr>
    <p:cSldViewPr snapToGrid="0">
      <p:cViewPr varScale="1">
        <p:scale>
          <a:sx n="97" d="100"/>
          <a:sy n="97" d="100"/>
        </p:scale>
        <p:origin x="240" y="72"/>
      </p:cViewPr>
      <p:guideLst>
        <p:guide orient="horz" pos="1094"/>
        <p:guide pos="3840"/>
        <p:guide pos="302"/>
        <p:guide pos="7378"/>
      </p:guideLst>
    </p:cSldViewPr>
  </p:slideViewPr>
  <p:notesTextViewPr>
    <p:cViewPr>
      <p:scale>
        <a:sx n="1" d="1"/>
        <a:sy n="1" d="1"/>
      </p:scale>
      <p:origin x="0" y="0"/>
    </p:cViewPr>
  </p:notesTextViewPr>
  <p:notesViewPr>
    <p:cSldViewPr snapToGrid="0">
      <p:cViewPr varScale="1">
        <p:scale>
          <a:sx n="107" d="100"/>
          <a:sy n="107" d="100"/>
        </p:scale>
        <p:origin x="5272"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46A3DD7F-997D-D412-5843-9A65F876888E}"/>
              </a:ext>
            </a:extLst>
          </p:cNvPr>
          <p:cNvSpPr>
            <a:spLocks noGrp="1"/>
          </p:cNvSpPr>
          <p:nvPr>
            <p:ph type="hdr" sz="quarter"/>
          </p:nvPr>
        </p:nvSpPr>
        <p:spPr>
          <a:xfrm>
            <a:off x="0" y="0"/>
            <a:ext cx="2944813" cy="49847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5EBCAC06-EDD0-51A3-C54B-EDF26FDBD514}"/>
              </a:ext>
            </a:extLst>
          </p:cNvPr>
          <p:cNvSpPr>
            <a:spLocks noGrp="1"/>
          </p:cNvSpPr>
          <p:nvPr>
            <p:ph type="dt" sz="quarter" idx="1"/>
          </p:nvPr>
        </p:nvSpPr>
        <p:spPr>
          <a:xfrm>
            <a:off x="3848100" y="0"/>
            <a:ext cx="2944813" cy="498475"/>
          </a:xfrm>
          <a:prstGeom prst="rect">
            <a:avLst/>
          </a:prstGeom>
        </p:spPr>
        <p:txBody>
          <a:bodyPr vert="horz" lIns="91440" tIns="45720" rIns="91440" bIns="45720" rtlCol="0"/>
          <a:lstStyle>
            <a:lvl1pPr algn="r">
              <a:defRPr sz="1200"/>
            </a:lvl1pPr>
          </a:lstStyle>
          <a:p>
            <a:fld id="{B30D93A3-C890-4699-AC68-B22E5ACAADEF}" type="datetimeFigureOut">
              <a:rPr kumimoji="1" lang="ja-JP" altLang="en-US" smtClean="0"/>
              <a:t>2025/11/29</a:t>
            </a:fld>
            <a:endParaRPr kumimoji="1" lang="ja-JP" altLang="en-US"/>
          </a:p>
        </p:txBody>
      </p:sp>
      <p:sp>
        <p:nvSpPr>
          <p:cNvPr id="4" name="フッター プレースホルダー 3">
            <a:extLst>
              <a:ext uri="{FF2B5EF4-FFF2-40B4-BE49-F238E27FC236}">
                <a16:creationId xmlns:a16="http://schemas.microsoft.com/office/drawing/2014/main" id="{8EBA20E4-E5EF-80DC-183F-DEEC93EEDCF7}"/>
              </a:ext>
            </a:extLst>
          </p:cNvPr>
          <p:cNvSpPr>
            <a:spLocks noGrp="1"/>
          </p:cNvSpPr>
          <p:nvPr>
            <p:ph type="ftr" sz="quarter" idx="2"/>
          </p:nvPr>
        </p:nvSpPr>
        <p:spPr>
          <a:xfrm>
            <a:off x="0" y="9432925"/>
            <a:ext cx="2944813" cy="498475"/>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3902E077-5A40-A477-FF87-FDED6F735EA2}"/>
              </a:ext>
            </a:extLst>
          </p:cNvPr>
          <p:cNvSpPr>
            <a:spLocks noGrp="1"/>
          </p:cNvSpPr>
          <p:nvPr>
            <p:ph type="sldNum" sz="quarter" idx="3"/>
          </p:nvPr>
        </p:nvSpPr>
        <p:spPr>
          <a:xfrm>
            <a:off x="3848100" y="9432925"/>
            <a:ext cx="2944813" cy="498475"/>
          </a:xfrm>
          <a:prstGeom prst="rect">
            <a:avLst/>
          </a:prstGeom>
        </p:spPr>
        <p:txBody>
          <a:bodyPr vert="horz" lIns="91440" tIns="45720" rIns="91440" bIns="45720" rtlCol="0" anchor="b"/>
          <a:lstStyle>
            <a:lvl1pPr algn="r">
              <a:defRPr sz="1200"/>
            </a:lvl1pPr>
          </a:lstStyle>
          <a:p>
            <a:fld id="{1E41DE19-9B90-42AF-8896-EF3739682C6F}" type="slidenum">
              <a:rPr kumimoji="1" lang="ja-JP" altLang="en-US" smtClean="0"/>
              <a:t>‹#›</a:t>
            </a:fld>
            <a:endParaRPr kumimoji="1" lang="ja-JP" altLang="en-US"/>
          </a:p>
        </p:txBody>
      </p:sp>
    </p:spTree>
    <p:extLst>
      <p:ext uri="{BB962C8B-B14F-4D97-AF65-F5344CB8AC3E}">
        <p14:creationId xmlns:p14="http://schemas.microsoft.com/office/powerpoint/2010/main" val="30605276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44813" cy="496888"/>
          </a:xfrm>
          <a:prstGeom prst="rect">
            <a:avLst/>
          </a:prstGeom>
        </p:spPr>
        <p:txBody>
          <a:bodyPr vert="horz" lIns="91440" tIns="45720" rIns="91440" bIns="45720" rtlCol="0"/>
          <a:lstStyle>
            <a:lvl1pPr algn="l">
              <a:defRPr sz="1200" b="0" i="0">
                <a:latin typeface="Meiryo UI" panose="020B0604030504040204" pitchFamily="50" charset="-128"/>
                <a:ea typeface="Meiryo UI" panose="020B0604030504040204" pitchFamily="50" charset="-128"/>
                <a:sym typeface="MS UI Gothic" panose="020B0600070205080204" pitchFamily="34" charset="-128"/>
              </a:defRPr>
            </a:lvl1pPr>
          </a:lstStyle>
          <a:p>
            <a:pPr>
              <a:defRPr/>
            </a:pPr>
            <a:endParaRPr lang="ja-JP" altLang="en-US"/>
          </a:p>
        </p:txBody>
      </p:sp>
      <p:sp>
        <p:nvSpPr>
          <p:cNvPr id="3" name="日付プレースホルダ 2"/>
          <p:cNvSpPr>
            <a:spLocks noGrp="1"/>
          </p:cNvSpPr>
          <p:nvPr>
            <p:ph type="dt" idx="1"/>
          </p:nvPr>
        </p:nvSpPr>
        <p:spPr>
          <a:xfrm>
            <a:off x="3848100" y="0"/>
            <a:ext cx="2944813" cy="496888"/>
          </a:xfrm>
          <a:prstGeom prst="rect">
            <a:avLst/>
          </a:prstGeom>
        </p:spPr>
        <p:txBody>
          <a:bodyPr vert="horz" lIns="91440" tIns="45720" rIns="91440" bIns="45720" rtlCol="0"/>
          <a:lstStyle>
            <a:lvl1pPr algn="r">
              <a:defRPr sz="1200" b="0" i="0">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15BF457-9B3F-4CCE-BE76-BABC711300F6}" type="datetimeFigureOut">
              <a:rPr lang="ja-JP" altLang="en-US" smtClean="0"/>
              <a:pPr>
                <a:defRPr/>
              </a:pPr>
              <a:t>2025/11/29</a:t>
            </a:fld>
            <a:endParaRPr lang="ja-JP" altLang="en-US"/>
          </a:p>
        </p:txBody>
      </p:sp>
      <p:sp>
        <p:nvSpPr>
          <p:cNvPr id="4" name="スライド イメージ プレースホルダ 3"/>
          <p:cNvSpPr>
            <a:spLocks noGrp="1" noRot="1" noChangeAspect="1"/>
          </p:cNvSpPr>
          <p:nvPr>
            <p:ph type="sldImg" idx="2"/>
          </p:nvPr>
        </p:nvSpPr>
        <p:spPr>
          <a:xfrm>
            <a:off x="87313" y="744538"/>
            <a:ext cx="6619875" cy="3724275"/>
          </a:xfrm>
          <a:prstGeom prst="rect">
            <a:avLst/>
          </a:prstGeom>
          <a:noFill/>
          <a:ln w="12700">
            <a:solidFill>
              <a:prstClr val="black"/>
            </a:solidFill>
          </a:ln>
        </p:spPr>
        <p:txBody>
          <a:bodyPr vert="horz" lIns="91440" tIns="45720" rIns="91440" bIns="45720" rtlCol="0" anchor="ctr"/>
          <a:lstStyle/>
          <a:p>
            <a:pPr lvl="0"/>
            <a:endParaRPr lang="ja-JP" altLang="en-US" noProof="0"/>
          </a:p>
        </p:txBody>
      </p:sp>
      <p:sp>
        <p:nvSpPr>
          <p:cNvPr id="5" name="ノート プレースホルダ 4"/>
          <p:cNvSpPr>
            <a:spLocks noGrp="1"/>
          </p:cNvSpPr>
          <p:nvPr>
            <p:ph type="body" sz="quarter" idx="3"/>
          </p:nvPr>
        </p:nvSpPr>
        <p:spPr>
          <a:xfrm>
            <a:off x="679450" y="4718050"/>
            <a:ext cx="5435600" cy="4468813"/>
          </a:xfrm>
          <a:prstGeom prst="rect">
            <a:avLst/>
          </a:prstGeom>
        </p:spPr>
        <p:txBody>
          <a:bodyPr vert="horz" lIns="91440" tIns="45720" rIns="91440" bIns="45720" rtlCol="0">
            <a:normAutofit/>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 5"/>
          <p:cNvSpPr>
            <a:spLocks noGrp="1"/>
          </p:cNvSpPr>
          <p:nvPr>
            <p:ph type="ftr" sz="quarter" idx="4"/>
          </p:nvPr>
        </p:nvSpPr>
        <p:spPr>
          <a:xfrm>
            <a:off x="0" y="9432925"/>
            <a:ext cx="2944813" cy="496888"/>
          </a:xfrm>
          <a:prstGeom prst="rect">
            <a:avLst/>
          </a:prstGeom>
        </p:spPr>
        <p:txBody>
          <a:bodyPr vert="horz" lIns="91440" tIns="45720" rIns="91440" bIns="45720" rtlCol="0" anchor="b"/>
          <a:lstStyle>
            <a:lvl1pPr algn="l">
              <a:defRPr sz="1200" b="0" i="0">
                <a:latin typeface="Meiryo UI" panose="020B0604030504040204" pitchFamily="50" charset="-128"/>
                <a:ea typeface="Meiryo UI" panose="020B0604030504040204" pitchFamily="50" charset="-128"/>
                <a:sym typeface="MS UI Gothic" panose="020B0600070205080204" pitchFamily="34" charset="-128"/>
              </a:defRPr>
            </a:lvl1pPr>
          </a:lstStyle>
          <a:p>
            <a:pPr>
              <a:defRPr/>
            </a:pPr>
            <a:endParaRPr lang="ja-JP" altLang="en-US"/>
          </a:p>
        </p:txBody>
      </p:sp>
      <p:sp>
        <p:nvSpPr>
          <p:cNvPr id="7" name="スライド番号プレースホルダ 6"/>
          <p:cNvSpPr>
            <a:spLocks noGrp="1"/>
          </p:cNvSpPr>
          <p:nvPr>
            <p:ph type="sldNum" sz="quarter" idx="5"/>
          </p:nvPr>
        </p:nvSpPr>
        <p:spPr>
          <a:xfrm>
            <a:off x="3848100" y="9432925"/>
            <a:ext cx="2944813" cy="496888"/>
          </a:xfrm>
          <a:prstGeom prst="rect">
            <a:avLst/>
          </a:prstGeom>
        </p:spPr>
        <p:txBody>
          <a:bodyPr vert="horz" lIns="91440" tIns="45720" rIns="91440" bIns="45720" rtlCol="0" anchor="b"/>
          <a:lstStyle>
            <a:lvl1pPr algn="r">
              <a:defRPr sz="1200" b="0" i="0">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FBF1EA7-1322-4E8A-8143-24868A27BA7C}" type="slidenum">
              <a:rPr lang="ja-JP" altLang="en-US" smtClean="0"/>
              <a:pPr>
                <a:defRPr/>
              </a:pPr>
              <a:t>‹#›</a:t>
            </a:fld>
            <a:endParaRPr lang="ja-JP" altLang="en-US"/>
          </a:p>
        </p:txBody>
      </p:sp>
    </p:spTree>
    <p:extLst>
      <p:ext uri="{BB962C8B-B14F-4D97-AF65-F5344CB8AC3E}">
        <p14:creationId xmlns:p14="http://schemas.microsoft.com/office/powerpoint/2010/main" val="170343620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b="0" i="0" kern="1200">
        <a:solidFill>
          <a:schemeClr val="tx1"/>
        </a:solidFill>
        <a:latin typeface="Meiryo UI" panose="020B0604030504040204" pitchFamily="50" charset="-128"/>
        <a:ea typeface="Meiryo UI" panose="020B0604030504040204" pitchFamily="50" charset="-128"/>
        <a:cs typeface="+mn-cs"/>
        <a:sym typeface="MS UI Gothic" panose="020B0600070205080204" pitchFamily="34" charset="-128"/>
      </a:defRPr>
    </a:lvl1pPr>
    <a:lvl2pPr marL="457200" algn="l" rtl="0" eaLnBrk="0" fontAlgn="base" hangingPunct="0">
      <a:spcBef>
        <a:spcPct val="30000"/>
      </a:spcBef>
      <a:spcAft>
        <a:spcPct val="0"/>
      </a:spcAft>
      <a:defRPr kumimoji="1" sz="1200" b="0" i="0" kern="1200">
        <a:solidFill>
          <a:schemeClr val="tx1"/>
        </a:solidFill>
        <a:latin typeface="Meiryo UI" panose="020B0604030504040204" pitchFamily="50" charset="-128"/>
        <a:ea typeface="Meiryo UI" panose="020B0604030504040204" pitchFamily="50" charset="-128"/>
        <a:cs typeface="+mn-cs"/>
        <a:sym typeface="MS UI Gothic" panose="020B0600070205080204" pitchFamily="34" charset="-128"/>
      </a:defRPr>
    </a:lvl2pPr>
    <a:lvl3pPr marL="914400" algn="l" rtl="0" eaLnBrk="0" fontAlgn="base" hangingPunct="0">
      <a:spcBef>
        <a:spcPct val="30000"/>
      </a:spcBef>
      <a:spcAft>
        <a:spcPct val="0"/>
      </a:spcAft>
      <a:defRPr kumimoji="1" sz="1200" b="0" i="0" kern="1200">
        <a:solidFill>
          <a:schemeClr val="tx1"/>
        </a:solidFill>
        <a:latin typeface="Meiryo UI" panose="020B0604030504040204" pitchFamily="50" charset="-128"/>
        <a:ea typeface="Meiryo UI" panose="020B0604030504040204" pitchFamily="50" charset="-128"/>
        <a:cs typeface="+mn-cs"/>
        <a:sym typeface="MS UI Gothic" panose="020B0600070205080204" pitchFamily="34" charset="-128"/>
      </a:defRPr>
    </a:lvl3pPr>
    <a:lvl4pPr marL="1371600" algn="l" rtl="0" eaLnBrk="0" fontAlgn="base" hangingPunct="0">
      <a:spcBef>
        <a:spcPct val="30000"/>
      </a:spcBef>
      <a:spcAft>
        <a:spcPct val="0"/>
      </a:spcAft>
      <a:defRPr kumimoji="1" sz="1200" b="0" i="0" kern="1200">
        <a:solidFill>
          <a:schemeClr val="tx1"/>
        </a:solidFill>
        <a:latin typeface="Meiryo UI" panose="020B0604030504040204" pitchFamily="50" charset="-128"/>
        <a:ea typeface="Meiryo UI" panose="020B0604030504040204" pitchFamily="50" charset="-128"/>
        <a:cs typeface="+mn-cs"/>
        <a:sym typeface="MS UI Gothic" panose="020B0600070205080204" pitchFamily="34" charset="-128"/>
      </a:defRPr>
    </a:lvl4pPr>
    <a:lvl5pPr marL="1828800" algn="l" rtl="0" eaLnBrk="0" fontAlgn="base" hangingPunct="0">
      <a:spcBef>
        <a:spcPct val="30000"/>
      </a:spcBef>
      <a:spcAft>
        <a:spcPct val="0"/>
      </a:spcAft>
      <a:defRPr kumimoji="1" sz="1200" b="0" i="0" kern="1200">
        <a:solidFill>
          <a:schemeClr val="tx1"/>
        </a:solidFill>
        <a:latin typeface="Meiryo UI" panose="020B0604030504040204" pitchFamily="50" charset="-128"/>
        <a:ea typeface="Meiryo UI" panose="020B0604030504040204" pitchFamily="50" charset="-128"/>
        <a:cs typeface="+mn-cs"/>
        <a:sym typeface="MS UI Gothic" panose="020B0600070205080204" pitchFamily="34" charset="-128"/>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1FBF1EA7-1322-4E8A-8143-24868A27BA7C}" type="slidenum">
              <a:rPr lang="ja-JP" altLang="en-US" smtClean="0"/>
              <a:pPr>
                <a:defRPr/>
              </a:pPr>
              <a:t>0</a:t>
            </a:fld>
            <a:endParaRPr lang="ja-JP" altLang="en-US"/>
          </a:p>
        </p:txBody>
      </p:sp>
    </p:spTree>
    <p:extLst>
      <p:ext uri="{BB962C8B-B14F-4D97-AF65-F5344CB8AC3E}">
        <p14:creationId xmlns:p14="http://schemas.microsoft.com/office/powerpoint/2010/main" val="1394778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E9830-E127-9222-E729-76489F374A6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4F94533-D67A-4728-BCFA-10DBDF68717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58EE7A6-3327-FD29-B264-A99021B53182}"/>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3A61B08C-E7D1-E5B9-E635-F8B158ADB5CB}"/>
              </a:ext>
            </a:extLst>
          </p:cNvPr>
          <p:cNvSpPr>
            <a:spLocks noGrp="1"/>
          </p:cNvSpPr>
          <p:nvPr>
            <p:ph type="sldNum" sz="quarter" idx="10"/>
          </p:nvPr>
        </p:nvSpPr>
        <p:spPr/>
        <p:txBody>
          <a:bodyPr/>
          <a:lstStyle/>
          <a:p>
            <a:pPr>
              <a:defRPr/>
            </a:pPr>
            <a:fld id="{1FBF1EA7-1322-4E8A-8143-24868A27BA7C}" type="slidenum">
              <a:rPr lang="ja-JP" altLang="en-US" smtClean="0"/>
              <a:pPr>
                <a:defRPr/>
              </a:pPr>
              <a:t>2</a:t>
            </a:fld>
            <a:endParaRPr lang="ja-JP" altLang="en-US"/>
          </a:p>
        </p:txBody>
      </p:sp>
    </p:spTree>
    <p:extLst>
      <p:ext uri="{BB962C8B-B14F-4D97-AF65-F5344CB8AC3E}">
        <p14:creationId xmlns:p14="http://schemas.microsoft.com/office/powerpoint/2010/main" val="32896931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A0D25-0C42-05BB-2B4E-480ECD21153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F8B6C89-7DE4-6407-B98C-67A72271130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E47C18-087D-6AE1-387C-3AA8CBE56BD1}"/>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A099F669-F5A3-584B-0D20-480B1F523BA1}"/>
              </a:ext>
            </a:extLst>
          </p:cNvPr>
          <p:cNvSpPr>
            <a:spLocks noGrp="1"/>
          </p:cNvSpPr>
          <p:nvPr>
            <p:ph type="sldNum" sz="quarter" idx="10"/>
          </p:nvPr>
        </p:nvSpPr>
        <p:spPr/>
        <p:txBody>
          <a:bodyPr/>
          <a:lstStyle/>
          <a:p>
            <a:pPr>
              <a:defRPr/>
            </a:pPr>
            <a:fld id="{1FBF1EA7-1322-4E8A-8143-24868A27BA7C}" type="slidenum">
              <a:rPr lang="ja-JP" altLang="en-US" smtClean="0"/>
              <a:pPr>
                <a:defRPr/>
              </a:pPr>
              <a:t>3</a:t>
            </a:fld>
            <a:endParaRPr lang="ja-JP" altLang="en-US"/>
          </a:p>
        </p:txBody>
      </p:sp>
    </p:spTree>
    <p:extLst>
      <p:ext uri="{BB962C8B-B14F-4D97-AF65-F5344CB8AC3E}">
        <p14:creationId xmlns:p14="http://schemas.microsoft.com/office/powerpoint/2010/main" val="2803979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0D819-39C0-D57F-33BB-73056FB3CA9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917D2BC-D05D-508D-4124-638DEA4261F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EC5574A-C772-4AB4-E0C3-4D0658409DFD}"/>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717A5CBC-3CB5-2754-A608-F3E3798F2DCB}"/>
              </a:ext>
            </a:extLst>
          </p:cNvPr>
          <p:cNvSpPr>
            <a:spLocks noGrp="1"/>
          </p:cNvSpPr>
          <p:nvPr>
            <p:ph type="sldNum" sz="quarter" idx="10"/>
          </p:nvPr>
        </p:nvSpPr>
        <p:spPr/>
        <p:txBody>
          <a:bodyPr/>
          <a:lstStyle/>
          <a:p>
            <a:pPr>
              <a:defRPr/>
            </a:pPr>
            <a:fld id="{1FBF1EA7-1322-4E8A-8143-24868A27BA7C}" type="slidenum">
              <a:rPr lang="ja-JP" altLang="en-US" smtClean="0"/>
              <a:pPr>
                <a:defRPr/>
              </a:pPr>
              <a:t>4</a:t>
            </a:fld>
            <a:endParaRPr lang="ja-JP" altLang="en-US"/>
          </a:p>
        </p:txBody>
      </p:sp>
    </p:spTree>
    <p:extLst>
      <p:ext uri="{BB962C8B-B14F-4D97-AF65-F5344CB8AC3E}">
        <p14:creationId xmlns:p14="http://schemas.microsoft.com/office/powerpoint/2010/main" val="3173927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EFB30-3985-A3D3-1056-C422833371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16FEF3F-D058-462D-3D3F-AA48347FB68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E99B5E4-1396-3134-6481-160D4A473BF4}"/>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E1004490-B368-E60F-5ED9-434FB36D9082}"/>
              </a:ext>
            </a:extLst>
          </p:cNvPr>
          <p:cNvSpPr>
            <a:spLocks noGrp="1"/>
          </p:cNvSpPr>
          <p:nvPr>
            <p:ph type="sldNum" sz="quarter" idx="10"/>
          </p:nvPr>
        </p:nvSpPr>
        <p:spPr/>
        <p:txBody>
          <a:bodyPr/>
          <a:lstStyle/>
          <a:p>
            <a:pPr>
              <a:defRPr/>
            </a:pPr>
            <a:fld id="{1FBF1EA7-1322-4E8A-8143-24868A27BA7C}" type="slidenum">
              <a:rPr lang="ja-JP" altLang="en-US" smtClean="0"/>
              <a:pPr>
                <a:defRPr/>
              </a:pPr>
              <a:t>5</a:t>
            </a:fld>
            <a:endParaRPr lang="ja-JP" altLang="en-US"/>
          </a:p>
        </p:txBody>
      </p:sp>
    </p:spTree>
    <p:extLst>
      <p:ext uri="{BB962C8B-B14F-4D97-AF65-F5344CB8AC3E}">
        <p14:creationId xmlns:p14="http://schemas.microsoft.com/office/powerpoint/2010/main" val="2116225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7515F-9947-EBB2-5843-E66376E010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E52397-4D77-CF0D-66E4-BE0CF2F8E1F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198BA3-7AA3-BACF-3C97-C37CD28FBBEB}"/>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49D5D45B-BC0B-C6B3-5ECA-623641FDEFB7}"/>
              </a:ext>
            </a:extLst>
          </p:cNvPr>
          <p:cNvSpPr>
            <a:spLocks noGrp="1"/>
          </p:cNvSpPr>
          <p:nvPr>
            <p:ph type="sldNum" sz="quarter" idx="10"/>
          </p:nvPr>
        </p:nvSpPr>
        <p:spPr/>
        <p:txBody>
          <a:bodyPr/>
          <a:lstStyle/>
          <a:p>
            <a:pPr>
              <a:defRPr/>
            </a:pPr>
            <a:fld id="{1FBF1EA7-1322-4E8A-8143-24868A27BA7C}" type="slidenum">
              <a:rPr lang="ja-JP" altLang="en-US" smtClean="0"/>
              <a:pPr>
                <a:defRPr/>
              </a:pPr>
              <a:t>6</a:t>
            </a:fld>
            <a:endParaRPr lang="ja-JP" altLang="en-US"/>
          </a:p>
        </p:txBody>
      </p:sp>
    </p:spTree>
    <p:extLst>
      <p:ext uri="{BB962C8B-B14F-4D97-AF65-F5344CB8AC3E}">
        <p14:creationId xmlns:p14="http://schemas.microsoft.com/office/powerpoint/2010/main" val="28414594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D4985-2FE5-2AC4-A004-3700B13D688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3B2950-9DAB-1076-3152-4E60BAD8D0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B71DC14-CD17-C254-75C3-E36F2EDF357A}"/>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AC856808-2B56-8157-77F1-A574F0A55E74}"/>
              </a:ext>
            </a:extLst>
          </p:cNvPr>
          <p:cNvSpPr>
            <a:spLocks noGrp="1"/>
          </p:cNvSpPr>
          <p:nvPr>
            <p:ph type="sldNum" sz="quarter" idx="10"/>
          </p:nvPr>
        </p:nvSpPr>
        <p:spPr/>
        <p:txBody>
          <a:bodyPr/>
          <a:lstStyle/>
          <a:p>
            <a:pPr>
              <a:defRPr/>
            </a:pPr>
            <a:fld id="{1FBF1EA7-1322-4E8A-8143-24868A27BA7C}" type="slidenum">
              <a:rPr lang="ja-JP" altLang="en-US" smtClean="0"/>
              <a:pPr>
                <a:defRPr/>
              </a:pPr>
              <a:t>7</a:t>
            </a:fld>
            <a:endParaRPr lang="ja-JP" altLang="en-US"/>
          </a:p>
        </p:txBody>
      </p:sp>
    </p:spTree>
    <p:extLst>
      <p:ext uri="{BB962C8B-B14F-4D97-AF65-F5344CB8AC3E}">
        <p14:creationId xmlns:p14="http://schemas.microsoft.com/office/powerpoint/2010/main" val="840769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E0544-15F9-2AFB-F86C-8E32F6491F4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5B611C-155A-54A7-C622-4D28A78F497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3D801DE-29CB-4935-9785-17FF15279FD1}"/>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8F8F7D69-D911-A5A7-FEC2-DD01C1575D89}"/>
              </a:ext>
            </a:extLst>
          </p:cNvPr>
          <p:cNvSpPr>
            <a:spLocks noGrp="1"/>
          </p:cNvSpPr>
          <p:nvPr>
            <p:ph type="sldNum" sz="quarter" idx="10"/>
          </p:nvPr>
        </p:nvSpPr>
        <p:spPr/>
        <p:txBody>
          <a:bodyPr/>
          <a:lstStyle/>
          <a:p>
            <a:pPr>
              <a:defRPr/>
            </a:pPr>
            <a:fld id="{1FBF1EA7-1322-4E8A-8143-24868A27BA7C}" type="slidenum">
              <a:rPr lang="ja-JP" altLang="en-US" smtClean="0"/>
              <a:pPr>
                <a:defRPr/>
              </a:pPr>
              <a:t>8</a:t>
            </a:fld>
            <a:endParaRPr lang="ja-JP" altLang="en-US"/>
          </a:p>
        </p:txBody>
      </p:sp>
    </p:spTree>
    <p:extLst>
      <p:ext uri="{BB962C8B-B14F-4D97-AF65-F5344CB8AC3E}">
        <p14:creationId xmlns:p14="http://schemas.microsoft.com/office/powerpoint/2010/main" val="1865316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4A127-2F84-B698-0C70-3C85127F80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F6DAB10-1C6D-8264-7BD4-C08C809A025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44DD903-903C-EB23-CF6C-64DDBECBACD4}"/>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A85E67A8-B509-D23A-AEF3-A2BDB48EDE61}"/>
              </a:ext>
            </a:extLst>
          </p:cNvPr>
          <p:cNvSpPr>
            <a:spLocks noGrp="1"/>
          </p:cNvSpPr>
          <p:nvPr>
            <p:ph type="sldNum" sz="quarter" idx="10"/>
          </p:nvPr>
        </p:nvSpPr>
        <p:spPr/>
        <p:txBody>
          <a:bodyPr/>
          <a:lstStyle/>
          <a:p>
            <a:pPr>
              <a:defRPr/>
            </a:pPr>
            <a:fld id="{1FBF1EA7-1322-4E8A-8143-24868A27BA7C}" type="slidenum">
              <a:rPr lang="ja-JP" altLang="en-US" smtClean="0"/>
              <a:pPr>
                <a:defRPr/>
              </a:pPr>
              <a:t>9</a:t>
            </a:fld>
            <a:endParaRPr lang="ja-JP" altLang="en-US"/>
          </a:p>
        </p:txBody>
      </p:sp>
    </p:spTree>
    <p:extLst>
      <p:ext uri="{BB962C8B-B14F-4D97-AF65-F5344CB8AC3E}">
        <p14:creationId xmlns:p14="http://schemas.microsoft.com/office/powerpoint/2010/main" val="1962932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3BC6C-7B36-D778-2B9A-4026D057B15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05C734A-CC1C-8A11-A7B0-90672AEFCB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F5BC1A1-FD2B-7FBF-D085-EB273C306116}"/>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FB48D25F-030E-A315-FBDA-872035A58C1E}"/>
              </a:ext>
            </a:extLst>
          </p:cNvPr>
          <p:cNvSpPr>
            <a:spLocks noGrp="1"/>
          </p:cNvSpPr>
          <p:nvPr>
            <p:ph type="sldNum" sz="quarter" idx="10"/>
          </p:nvPr>
        </p:nvSpPr>
        <p:spPr/>
        <p:txBody>
          <a:bodyPr/>
          <a:lstStyle/>
          <a:p>
            <a:pPr>
              <a:defRPr/>
            </a:pPr>
            <a:fld id="{1FBF1EA7-1322-4E8A-8143-24868A27BA7C}" type="slidenum">
              <a:rPr lang="ja-JP" altLang="en-US" smtClean="0"/>
              <a:pPr>
                <a:defRPr/>
              </a:pPr>
              <a:t>10</a:t>
            </a:fld>
            <a:endParaRPr lang="ja-JP" altLang="en-US"/>
          </a:p>
        </p:txBody>
      </p:sp>
    </p:spTree>
    <p:extLst>
      <p:ext uri="{BB962C8B-B14F-4D97-AF65-F5344CB8AC3E}">
        <p14:creationId xmlns:p14="http://schemas.microsoft.com/office/powerpoint/2010/main" val="19942688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B5B5F-81C7-16A6-0D46-72DF4E8D69A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7362570-5D79-B552-6448-8F65AB10546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369971B-D562-2114-D1B2-06CD85E1F93A}"/>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E4FD24D2-7A6D-768E-639C-9FCD4E4E081D}"/>
              </a:ext>
            </a:extLst>
          </p:cNvPr>
          <p:cNvSpPr>
            <a:spLocks noGrp="1"/>
          </p:cNvSpPr>
          <p:nvPr>
            <p:ph type="sldNum" sz="quarter" idx="10"/>
          </p:nvPr>
        </p:nvSpPr>
        <p:spPr/>
        <p:txBody>
          <a:bodyPr/>
          <a:lstStyle/>
          <a:p>
            <a:pPr>
              <a:defRPr/>
            </a:pPr>
            <a:fld id="{1FBF1EA7-1322-4E8A-8143-24868A27BA7C}" type="slidenum">
              <a:rPr lang="ja-JP" altLang="en-US" smtClean="0"/>
              <a:pPr>
                <a:defRPr/>
              </a:pPr>
              <a:t>11</a:t>
            </a:fld>
            <a:endParaRPr lang="ja-JP" altLang="en-US"/>
          </a:p>
        </p:txBody>
      </p:sp>
    </p:spTree>
    <p:extLst>
      <p:ext uri="{BB962C8B-B14F-4D97-AF65-F5344CB8AC3E}">
        <p14:creationId xmlns:p14="http://schemas.microsoft.com/office/powerpoint/2010/main" val="25156478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5DAD0-28BB-6EAC-20DB-64B88D6F27C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2CE33FF-8796-C222-5434-41F37293D17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FBEEEC-8313-3B24-EC3D-072C1B748A2F}"/>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14E0D1E1-648F-020C-36B7-AE36557B8CA6}"/>
              </a:ext>
            </a:extLst>
          </p:cNvPr>
          <p:cNvSpPr>
            <a:spLocks noGrp="1"/>
          </p:cNvSpPr>
          <p:nvPr>
            <p:ph type="sldNum" sz="quarter" idx="10"/>
          </p:nvPr>
        </p:nvSpPr>
        <p:spPr/>
        <p:txBody>
          <a:bodyPr/>
          <a:lstStyle/>
          <a:p>
            <a:pPr>
              <a:defRPr/>
            </a:pPr>
            <a:fld id="{1FBF1EA7-1322-4E8A-8143-24868A27BA7C}" type="slidenum">
              <a:rPr lang="ja-JP" altLang="en-US" smtClean="0"/>
              <a:pPr>
                <a:defRPr/>
              </a:pPr>
              <a:t>12</a:t>
            </a:fld>
            <a:endParaRPr lang="ja-JP" altLang="en-US"/>
          </a:p>
        </p:txBody>
      </p:sp>
    </p:spTree>
    <p:extLst>
      <p:ext uri="{BB962C8B-B14F-4D97-AF65-F5344CB8AC3E}">
        <p14:creationId xmlns:p14="http://schemas.microsoft.com/office/powerpoint/2010/main" val="8141442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5620-7038-BB52-0473-24BDE149F0C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784E39-0A7F-B2B5-D7CB-2340ABFD889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5ED2DB8-CC9B-C497-06A5-C08C1CDA6819}"/>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2A737AC2-A0C9-9BFD-C7D1-45FC2E4D4438}"/>
              </a:ext>
            </a:extLst>
          </p:cNvPr>
          <p:cNvSpPr>
            <a:spLocks noGrp="1"/>
          </p:cNvSpPr>
          <p:nvPr>
            <p:ph type="sldNum" sz="quarter" idx="10"/>
          </p:nvPr>
        </p:nvSpPr>
        <p:spPr/>
        <p:txBody>
          <a:bodyPr/>
          <a:lstStyle/>
          <a:p>
            <a:pPr>
              <a:defRPr/>
            </a:pPr>
            <a:fld id="{1FBF1EA7-1322-4E8A-8143-24868A27BA7C}" type="slidenum">
              <a:rPr lang="ja-JP" altLang="en-US" smtClean="0"/>
              <a:pPr>
                <a:defRPr/>
              </a:pPr>
              <a:t>13</a:t>
            </a:fld>
            <a:endParaRPr lang="ja-JP" altLang="en-US"/>
          </a:p>
        </p:txBody>
      </p:sp>
    </p:spTree>
    <p:extLst>
      <p:ext uri="{BB962C8B-B14F-4D97-AF65-F5344CB8AC3E}">
        <p14:creationId xmlns:p14="http://schemas.microsoft.com/office/powerpoint/2010/main" val="27728306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E8E9F-1C17-A619-EB5E-4C8D5B029E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3652DA-AD3D-8BC4-C818-719DDE09B9B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2652C23-02B4-0AE9-1511-7154D838D403}"/>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F074611E-38C9-5DB6-6CEA-E4F2F44217C0}"/>
              </a:ext>
            </a:extLst>
          </p:cNvPr>
          <p:cNvSpPr>
            <a:spLocks noGrp="1"/>
          </p:cNvSpPr>
          <p:nvPr>
            <p:ph type="sldNum" sz="quarter" idx="10"/>
          </p:nvPr>
        </p:nvSpPr>
        <p:spPr/>
        <p:txBody>
          <a:bodyPr/>
          <a:lstStyle/>
          <a:p>
            <a:pPr>
              <a:defRPr/>
            </a:pPr>
            <a:fld id="{1FBF1EA7-1322-4E8A-8143-24868A27BA7C}" type="slidenum">
              <a:rPr lang="ja-JP" altLang="en-US" smtClean="0"/>
              <a:pPr>
                <a:defRPr/>
              </a:pPr>
              <a:t>14</a:t>
            </a:fld>
            <a:endParaRPr lang="ja-JP" altLang="en-US"/>
          </a:p>
        </p:txBody>
      </p:sp>
    </p:spTree>
    <p:extLst>
      <p:ext uri="{BB962C8B-B14F-4D97-AF65-F5344CB8AC3E}">
        <p14:creationId xmlns:p14="http://schemas.microsoft.com/office/powerpoint/2010/main" val="633620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5F5D0-5073-1236-48B9-AE37FEACA5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867B3A6-D8AD-BDC3-4AA5-E7F81740292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9ECB6E1-1E7A-D2FD-38BE-DBEA04DDE66D}"/>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2899D0C1-0B99-45A7-DF19-D6B4D08B1350}"/>
              </a:ext>
            </a:extLst>
          </p:cNvPr>
          <p:cNvSpPr>
            <a:spLocks noGrp="1"/>
          </p:cNvSpPr>
          <p:nvPr>
            <p:ph type="sldNum" sz="quarter" idx="10"/>
          </p:nvPr>
        </p:nvSpPr>
        <p:spPr/>
        <p:txBody>
          <a:bodyPr/>
          <a:lstStyle/>
          <a:p>
            <a:pPr>
              <a:defRPr/>
            </a:pPr>
            <a:fld id="{1FBF1EA7-1322-4E8A-8143-24868A27BA7C}" type="slidenum">
              <a:rPr lang="ja-JP" altLang="en-US" smtClean="0"/>
              <a:pPr>
                <a:defRPr/>
              </a:pPr>
              <a:t>15</a:t>
            </a:fld>
            <a:endParaRPr lang="ja-JP" altLang="en-US"/>
          </a:p>
        </p:txBody>
      </p:sp>
    </p:spTree>
    <p:extLst>
      <p:ext uri="{BB962C8B-B14F-4D97-AF65-F5344CB8AC3E}">
        <p14:creationId xmlns:p14="http://schemas.microsoft.com/office/powerpoint/2010/main" val="11707318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F92E8-221C-1D5C-3AEE-ACEAF0A6129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EBF5E6-FCD7-58C7-FA0B-8740B783F5B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346BD4C-9B29-973E-2710-076AB6930B3B}"/>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91B06AF6-323E-B623-892D-3F7F807F3326}"/>
              </a:ext>
            </a:extLst>
          </p:cNvPr>
          <p:cNvSpPr>
            <a:spLocks noGrp="1"/>
          </p:cNvSpPr>
          <p:nvPr>
            <p:ph type="sldNum" sz="quarter" idx="10"/>
          </p:nvPr>
        </p:nvSpPr>
        <p:spPr/>
        <p:txBody>
          <a:bodyPr/>
          <a:lstStyle/>
          <a:p>
            <a:pPr>
              <a:defRPr/>
            </a:pPr>
            <a:fld id="{1FBF1EA7-1322-4E8A-8143-24868A27BA7C}" type="slidenum">
              <a:rPr lang="ja-JP" altLang="en-US" smtClean="0"/>
              <a:pPr>
                <a:defRPr/>
              </a:pPr>
              <a:t>16</a:t>
            </a:fld>
            <a:endParaRPr lang="ja-JP" altLang="en-US"/>
          </a:p>
        </p:txBody>
      </p:sp>
    </p:spTree>
    <p:extLst>
      <p:ext uri="{BB962C8B-B14F-4D97-AF65-F5344CB8AC3E}">
        <p14:creationId xmlns:p14="http://schemas.microsoft.com/office/powerpoint/2010/main" val="10394377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42C8F-9995-D761-C922-0201972E2A0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853B7F4-AECD-BC6C-48B0-AB01C07163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3FA644F-9E99-6922-5BFE-F86264813911}"/>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3ED9D68D-AAD2-FB4E-4A77-213C50ACBCE9}"/>
              </a:ext>
            </a:extLst>
          </p:cNvPr>
          <p:cNvSpPr>
            <a:spLocks noGrp="1"/>
          </p:cNvSpPr>
          <p:nvPr>
            <p:ph type="sldNum" sz="quarter" idx="10"/>
          </p:nvPr>
        </p:nvSpPr>
        <p:spPr/>
        <p:txBody>
          <a:bodyPr/>
          <a:lstStyle/>
          <a:p>
            <a:pPr>
              <a:defRPr/>
            </a:pPr>
            <a:fld id="{1FBF1EA7-1322-4E8A-8143-24868A27BA7C}" type="slidenum">
              <a:rPr lang="ja-JP" altLang="en-US" smtClean="0"/>
              <a:pPr>
                <a:defRPr/>
              </a:pPr>
              <a:t>17</a:t>
            </a:fld>
            <a:endParaRPr lang="ja-JP" altLang="en-US"/>
          </a:p>
        </p:txBody>
      </p:sp>
    </p:spTree>
    <p:extLst>
      <p:ext uri="{BB962C8B-B14F-4D97-AF65-F5344CB8AC3E}">
        <p14:creationId xmlns:p14="http://schemas.microsoft.com/office/powerpoint/2010/main" val="19014648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068F6-40C4-5D43-63D0-1569A71B8A4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25E285-19B5-9A73-CFA1-D308E338BB5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36A09D4-7F00-38F9-CF4F-635434A4CA37}"/>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C209A582-81E9-9DC4-61A4-286BF0F3A823}"/>
              </a:ext>
            </a:extLst>
          </p:cNvPr>
          <p:cNvSpPr>
            <a:spLocks noGrp="1"/>
          </p:cNvSpPr>
          <p:nvPr>
            <p:ph type="sldNum" sz="quarter" idx="10"/>
          </p:nvPr>
        </p:nvSpPr>
        <p:spPr/>
        <p:txBody>
          <a:bodyPr/>
          <a:lstStyle/>
          <a:p>
            <a:pPr>
              <a:defRPr/>
            </a:pPr>
            <a:fld id="{1FBF1EA7-1322-4E8A-8143-24868A27BA7C}" type="slidenum">
              <a:rPr lang="ja-JP" altLang="en-US" smtClean="0"/>
              <a:pPr>
                <a:defRPr/>
              </a:pPr>
              <a:t>18</a:t>
            </a:fld>
            <a:endParaRPr lang="ja-JP" altLang="en-US"/>
          </a:p>
        </p:txBody>
      </p:sp>
    </p:spTree>
    <p:extLst>
      <p:ext uri="{BB962C8B-B14F-4D97-AF65-F5344CB8AC3E}">
        <p14:creationId xmlns:p14="http://schemas.microsoft.com/office/powerpoint/2010/main" val="20246031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59C7A-50DE-5CD1-9A23-6D7F8C198F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02F83E3-84B6-DA96-BF18-81AE359A66A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3591E4B-9261-97B7-95F4-88F7C9A59581}"/>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7DA4DB67-3F67-E56B-480F-7EF586475E03}"/>
              </a:ext>
            </a:extLst>
          </p:cNvPr>
          <p:cNvSpPr>
            <a:spLocks noGrp="1"/>
          </p:cNvSpPr>
          <p:nvPr>
            <p:ph type="sldNum" sz="quarter" idx="10"/>
          </p:nvPr>
        </p:nvSpPr>
        <p:spPr/>
        <p:txBody>
          <a:bodyPr/>
          <a:lstStyle/>
          <a:p>
            <a:pPr>
              <a:defRPr/>
            </a:pPr>
            <a:fld id="{1FBF1EA7-1322-4E8A-8143-24868A27BA7C}" type="slidenum">
              <a:rPr lang="ja-JP" altLang="en-US" smtClean="0"/>
              <a:pPr>
                <a:defRPr/>
              </a:pPr>
              <a:t>19</a:t>
            </a:fld>
            <a:endParaRPr lang="ja-JP" altLang="en-US"/>
          </a:p>
        </p:txBody>
      </p:sp>
    </p:spTree>
    <p:extLst>
      <p:ext uri="{BB962C8B-B14F-4D97-AF65-F5344CB8AC3E}">
        <p14:creationId xmlns:p14="http://schemas.microsoft.com/office/powerpoint/2010/main" val="38415918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42C8F-9995-D761-C922-0201972E2A0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853B7F4-AECD-BC6C-48B0-AB01C07163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3FA644F-9E99-6922-5BFE-F86264813911}"/>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sz="1200">
              <a:solidFill>
                <a:srgbClr val="595959"/>
              </a:solidFill>
              <a:latin typeface="Meiryo UI" panose="020B0604030504040204" pitchFamily="50" charset="-128"/>
              <a:ea typeface="Meiryo UI" panose="020B0604030504040204" pitchFamily="50" charset="-128"/>
              <a:cs typeface="Hiragino Kaku Gothic Pro W3" charset="-128"/>
            </a:endParaRPr>
          </a:p>
        </p:txBody>
      </p:sp>
      <p:sp>
        <p:nvSpPr>
          <p:cNvPr id="4" name="スライド番号プレースホルダー 3">
            <a:extLst>
              <a:ext uri="{FF2B5EF4-FFF2-40B4-BE49-F238E27FC236}">
                <a16:creationId xmlns:a16="http://schemas.microsoft.com/office/drawing/2014/main" id="{3ED9D68D-AAD2-FB4E-4A77-213C50ACBCE9}"/>
              </a:ext>
            </a:extLst>
          </p:cNvPr>
          <p:cNvSpPr>
            <a:spLocks noGrp="1"/>
          </p:cNvSpPr>
          <p:nvPr>
            <p:ph type="sldNum" sz="quarter" idx="10"/>
          </p:nvPr>
        </p:nvSpPr>
        <p:spPr/>
        <p:txBody>
          <a:bodyPr/>
          <a:lstStyle/>
          <a:p>
            <a:pPr>
              <a:defRPr/>
            </a:pPr>
            <a:fld id="{1FBF1EA7-1322-4E8A-8143-24868A27BA7C}" type="slidenum">
              <a:rPr lang="ja-JP" altLang="en-US" smtClean="0"/>
              <a:pPr>
                <a:defRPr/>
              </a:pPr>
              <a:t>20</a:t>
            </a:fld>
            <a:endParaRPr lang="ja-JP" altLang="en-US"/>
          </a:p>
        </p:txBody>
      </p:sp>
    </p:spTree>
    <p:extLst>
      <p:ext uri="{BB962C8B-B14F-4D97-AF65-F5344CB8AC3E}">
        <p14:creationId xmlns:p14="http://schemas.microsoft.com/office/powerpoint/2010/main" val="19014648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5.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7.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8.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0.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extLst>
              <p:ext uri="{D42A27DB-BD31-4B8C-83A1-F6EECF244321}">
                <p14:modId xmlns:p14="http://schemas.microsoft.com/office/powerpoint/2010/main" val="81305754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extLst>
              <p:ext uri="{D42A27DB-BD31-4B8C-83A1-F6EECF244321}">
                <p14:modId xmlns:p14="http://schemas.microsoft.com/office/powerpoint/2010/main" val="15750971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2" name="テキスト ボックス 1">
            <a:extLst>
              <a:ext uri="{FF2B5EF4-FFF2-40B4-BE49-F238E27FC236}">
                <a16:creationId xmlns:a16="http://schemas.microsoft.com/office/drawing/2014/main" id="{D1CFF65B-A8B2-A742-960E-AEE2B0C95AC6}"/>
              </a:ext>
            </a:extLst>
          </p:cNvPr>
          <p:cNvSpPr txBox="1"/>
          <p:nvPr userDrawn="1"/>
        </p:nvSpPr>
        <p:spPr bwMode="auto">
          <a:xfrm>
            <a:off x="1" y="6629400"/>
            <a:ext cx="1276311" cy="230832"/>
          </a:xfrm>
          <a:prstGeom prst="rect">
            <a:avLst/>
          </a:prstGeom>
          <a:noFill/>
          <a:ln w="9525">
            <a:noFill/>
            <a:miter lim="800000"/>
            <a:headEnd/>
            <a:tailEnd/>
          </a:ln>
        </p:spPr>
        <p:txBody>
          <a:bodyPr wrap="none" rtlCol="0">
            <a:spAutoFit/>
          </a:bodyPr>
          <a:lstStyle/>
          <a:p>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Strictly Confidential</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
        <p:nvSpPr>
          <p:cNvPr id="6" name="テキスト ボックス 5">
            <a:extLst>
              <a:ext uri="{FF2B5EF4-FFF2-40B4-BE49-F238E27FC236}">
                <a16:creationId xmlns:a16="http://schemas.microsoft.com/office/drawing/2014/main" id="{BE61E06D-0804-AA4D-AD56-81FE58AB9EB9}"/>
              </a:ext>
            </a:extLst>
          </p:cNvPr>
          <p:cNvSpPr txBox="1"/>
          <p:nvPr userDrawn="1"/>
        </p:nvSpPr>
        <p:spPr bwMode="auto">
          <a:xfrm>
            <a:off x="9713699" y="6629400"/>
            <a:ext cx="2473755" cy="230832"/>
          </a:xfrm>
          <a:prstGeom prst="rect">
            <a:avLst/>
          </a:prstGeom>
          <a:noFill/>
          <a:ln w="9525">
            <a:noFill/>
            <a:miter lim="800000"/>
            <a:headEnd/>
            <a:tailEnd/>
          </a:ln>
        </p:spPr>
        <p:txBody>
          <a:bodyPr wrap="none" rtlCol="0">
            <a:spAutoFit/>
          </a:bodyPr>
          <a:lstStyle/>
          <a:p>
            <a:pPr algn="r"/>
            <a:r>
              <a:rPr kumimoji="1" lang="en-US" altLang="ja-JP" sz="900" b="0" i="0" dirty="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All Rights Reserved Recruit Co, Ltd 2025</a:t>
            </a:r>
            <a:endParaRPr kumimoji="1" lang="ja-JP" altLang="en-US" sz="900" b="0" i="0" dirty="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extLst>
              <p:ext uri="{D42A27DB-BD31-4B8C-83A1-F6EECF244321}">
                <p14:modId xmlns:p14="http://schemas.microsoft.com/office/powerpoint/2010/main" val="74311113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extLst>
              <p:ext uri="{D42A27DB-BD31-4B8C-83A1-F6EECF244321}">
                <p14:modId xmlns:p14="http://schemas.microsoft.com/office/powerpoint/2010/main" val="36497893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extLst>
              <p:ext uri="{D42A27DB-BD31-4B8C-83A1-F6EECF244321}">
                <p14:modId xmlns:p14="http://schemas.microsoft.com/office/powerpoint/2010/main" val="289478608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extLst>
              <p:ext uri="{D42A27DB-BD31-4B8C-83A1-F6EECF244321}">
                <p14:modId xmlns:p14="http://schemas.microsoft.com/office/powerpoint/2010/main" val="332615255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extLst>
              <p:ext uri="{D42A27DB-BD31-4B8C-83A1-F6EECF244321}">
                <p14:modId xmlns:p14="http://schemas.microsoft.com/office/powerpoint/2010/main" val="184315357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extLst>
              <p:ext uri="{D42A27DB-BD31-4B8C-83A1-F6EECF244321}">
                <p14:modId xmlns:p14="http://schemas.microsoft.com/office/powerpoint/2010/main" val="239561022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extLst>
              <p:ext uri="{D42A27DB-BD31-4B8C-83A1-F6EECF244321}">
                <p14:modId xmlns:p14="http://schemas.microsoft.com/office/powerpoint/2010/main" val="136765933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extLst>
              <p:ext uri="{D42A27DB-BD31-4B8C-83A1-F6EECF244321}">
                <p14:modId xmlns:p14="http://schemas.microsoft.com/office/powerpoint/2010/main" val="202315972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extLst>
              <p:ext uri="{D42A27DB-BD31-4B8C-83A1-F6EECF244321}">
                <p14:modId xmlns:p14="http://schemas.microsoft.com/office/powerpoint/2010/main" val="238007288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NULL"/><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3"/>
            </p:custDataLst>
            <p:extLst>
              <p:ext uri="{D42A27DB-BD31-4B8C-83A1-F6EECF244321}">
                <p14:modId xmlns:p14="http://schemas.microsoft.com/office/powerpoint/2010/main" val="54955940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4" name="正方形/長方形 3" hidden="1"/>
          <p:cNvSpPr/>
          <p:nvPr userDrawn="1">
            <p:custDataLst>
              <p:tags r:id="rId14"/>
            </p:custDataLst>
          </p:nvPr>
        </p:nvSpPr>
        <p:spPr>
          <a:xfrm>
            <a:off x="0" y="0"/>
            <a:ext cx="158750"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marL="0" lvl="0" indent="0" algn="ctr" eaLnBrk="1"/>
            <a:endParaRPr kumimoji="1" lang="ja-JP" altLang="en-US" sz="1800" b="0" i="0" baseline="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sym typeface="Meiryo UI" panose="020B0604030504040204" pitchFamily="50" charset="-128"/>
            </a:endParaRPr>
          </a:p>
        </p:txBody>
      </p:sp>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cSld>
  <p:clrMap bg1="lt1" tx1="dk1" bg2="lt2" tx2="dk2" accent1="accent1" accent2="accent2" accent3="accent3" accent4="accent4" accent5="accent5" accent6="accent6" hlink="hlink" folHlink="folHlink"/>
  <p:sldLayoutIdLst>
    <p:sldLayoutId id="2147485270" r:id="rId1"/>
    <p:sldLayoutId id="2147485260" r:id="rId2"/>
    <p:sldLayoutId id="2147485261" r:id="rId3"/>
    <p:sldLayoutId id="2147485262" r:id="rId4"/>
    <p:sldLayoutId id="2147485263" r:id="rId5"/>
    <p:sldLayoutId id="2147485264" r:id="rId6"/>
    <p:sldLayoutId id="2147485265" r:id="rId7"/>
    <p:sldLayoutId id="2147485266" r:id="rId8"/>
    <p:sldLayoutId id="2147485267" r:id="rId9"/>
    <p:sldLayoutId id="2147485268" r:id="rId10"/>
    <p:sldLayoutId id="2147485269" r:id="rId11"/>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hyperlink" Target="https://www.mizuhobank.co.jp/corporate/account/stories/customer_01.ht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slide" Target="slide9.xml"/><Relationship Id="rId4" Type="http://schemas.openxmlformats.org/officeDocument/2006/relationships/hyperlink" Target="https://mvp.microsoft.com/en-US/MVP/profile/83a1b700-0b96-4015-aa5a-e82471e6b083"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2.png"/><Relationship Id="rId7"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hyperlink" Target="https://www.linkx-group.com/" TargetMode="External"/><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5.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9.sv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en-US" altLang="ja-JP" sz="3600" b="1" dirty="0"/>
              <a:t>AI</a:t>
            </a:r>
            <a:r>
              <a:rPr kumimoji="1" lang="ja-JP" altLang="en-US" sz="3600" b="1" dirty="0"/>
              <a:t>エージェント導入進捗状況について</a:t>
            </a:r>
            <a:endParaRPr kumimoji="1" lang="ja-JP" altLang="en-US" dirty="0"/>
          </a:p>
        </p:txBody>
      </p:sp>
      <p:sp>
        <p:nvSpPr>
          <p:cNvPr id="3" name="サブタイトル 2"/>
          <p:cNvSpPr>
            <a:spLocks noGrp="1"/>
          </p:cNvSpPr>
          <p:nvPr>
            <p:ph type="subTitle" sz="quarter" idx="1"/>
          </p:nvPr>
        </p:nvSpPr>
        <p:spPr/>
        <p:txBody>
          <a:bodyPr/>
          <a:lstStyle/>
          <a:p>
            <a:r>
              <a:rPr kumimoji="1" lang="en-US" altLang="ja-JP" sz="1600" dirty="0"/>
              <a:t>2025/10</a:t>
            </a:r>
            <a:r>
              <a:rPr lang="en-US" altLang="ja-JP" sz="1600" dirty="0"/>
              <a:t> </a:t>
            </a:r>
            <a:r>
              <a:rPr lang="ja-JP" altLang="en-US" sz="1600" dirty="0"/>
              <a:t>基シス</a:t>
            </a:r>
            <a:r>
              <a:rPr lang="en-US" altLang="ja-JP" sz="1600" dirty="0"/>
              <a:t>1G</a:t>
            </a:r>
            <a:endParaRPr kumimoji="1" lang="ja-JP" altLang="en-US" sz="1600" dirty="0"/>
          </a:p>
        </p:txBody>
      </p:sp>
      <p:sp>
        <p:nvSpPr>
          <p:cNvPr id="4" name="スライド番号プレースホルダー 3"/>
          <p:cNvSpPr>
            <a:spLocks noGrp="1"/>
          </p:cNvSpPr>
          <p:nvPr>
            <p:ph type="sldNum" sz="quarter" idx="10"/>
          </p:nvPr>
        </p:nvSpPr>
        <p:spPr/>
        <p:txBody>
          <a:bodyPr/>
          <a:lstStyle/>
          <a:p>
            <a:pPr>
              <a:defRPr/>
            </a:pPr>
            <a:fld id="{323E333F-0F6C-4FC7-A7F3-F21A7CDFE59D}" type="slidenum">
              <a:rPr lang="en-US" altLang="ja-JP" smtClean="0"/>
              <a:pPr>
                <a:defRPr/>
              </a:pPr>
              <a:t>0</a:t>
            </a:fld>
            <a:endParaRPr lang="en-US" altLang="ja-JP"/>
          </a:p>
        </p:txBody>
      </p:sp>
    </p:spTree>
    <p:extLst>
      <p:ext uri="{BB962C8B-B14F-4D97-AF65-F5344CB8AC3E}">
        <p14:creationId xmlns:p14="http://schemas.microsoft.com/office/powerpoint/2010/main" val="3351912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p:cNvSpPr>
            <a:spLocks noGrp="1"/>
          </p:cNvSpPr>
          <p:nvPr>
            <p:ph idx="1"/>
          </p:nvPr>
        </p:nvSpPr>
        <p:spPr>
          <a:xfrm>
            <a:off x="716693" y="692698"/>
            <a:ext cx="10659761" cy="3941920"/>
          </a:xfrm>
          <a:solidFill>
            <a:schemeClr val="bg1"/>
          </a:solidFill>
        </p:spPr>
        <p:txBody>
          <a:bodyPr numCol="2"/>
          <a:lstStyle/>
          <a:p>
            <a:pPr marL="342900" indent="-342900">
              <a:buFont typeface="+mj-lt"/>
              <a:buAutoNum type="arabicPeriod"/>
            </a:pPr>
            <a:r>
              <a:rPr lang="en-US" altLang="ja-JP" dirty="0">
                <a:solidFill>
                  <a:schemeClr val="tx1">
                    <a:lumMod val="65000"/>
                    <a:lumOff val="35000"/>
                  </a:schemeClr>
                </a:solidFill>
              </a:rPr>
              <a:t>n8n</a:t>
            </a:r>
            <a:r>
              <a:rPr lang="ja-JP" altLang="en-US" dirty="0">
                <a:solidFill>
                  <a:schemeClr val="tx1">
                    <a:lumMod val="65000"/>
                    <a:lumOff val="35000"/>
                  </a:schemeClr>
                </a:solidFill>
              </a:rPr>
              <a:t>の</a:t>
            </a:r>
            <a:r>
              <a:rPr lang="en-US" altLang="ja-JP" dirty="0">
                <a:solidFill>
                  <a:schemeClr val="tx1">
                    <a:lumMod val="65000"/>
                    <a:lumOff val="35000"/>
                  </a:schemeClr>
                </a:solidFill>
              </a:rPr>
              <a:t>BPS</a:t>
            </a:r>
            <a:r>
              <a:rPr lang="ja-JP" altLang="en-US" dirty="0">
                <a:solidFill>
                  <a:schemeClr val="tx1">
                    <a:lumMod val="65000"/>
                    <a:lumOff val="35000"/>
                  </a:schemeClr>
                </a:solidFill>
              </a:rPr>
              <a:t>導入状況について（１</a:t>
            </a:r>
            <a:r>
              <a:rPr lang="en-US" altLang="ja-JP" dirty="0">
                <a:solidFill>
                  <a:schemeClr val="tx1">
                    <a:lumMod val="65000"/>
                    <a:lumOff val="35000"/>
                  </a:schemeClr>
                </a:solidFill>
              </a:rPr>
              <a:t>/</a:t>
            </a:r>
            <a:r>
              <a:rPr lang="ja-JP" altLang="en-US" dirty="0">
                <a:solidFill>
                  <a:schemeClr val="tx1">
                    <a:lumMod val="65000"/>
                    <a:lumOff val="35000"/>
                  </a:schemeClr>
                </a:solidFill>
              </a:rPr>
              <a:t>２）</a:t>
            </a:r>
            <a:endParaRPr lang="en-US" altLang="ja-JP" dirty="0">
              <a:solidFill>
                <a:schemeClr val="tx1">
                  <a:lumMod val="65000"/>
                  <a:lumOff val="35000"/>
                </a:schemeClr>
              </a:solidFill>
            </a:endParaRPr>
          </a:p>
          <a:p>
            <a:pPr marL="342900" indent="-342900">
              <a:buFont typeface="+mj-lt"/>
              <a:buAutoNum type="arabicPeriod"/>
            </a:pPr>
            <a:r>
              <a:rPr lang="en-US" altLang="ja-JP" dirty="0">
                <a:solidFill>
                  <a:schemeClr val="tx1">
                    <a:lumMod val="65000"/>
                    <a:lumOff val="35000"/>
                  </a:schemeClr>
                </a:solidFill>
              </a:rPr>
              <a:t>n8n</a:t>
            </a:r>
            <a:r>
              <a:rPr lang="ja-JP" altLang="en-US" dirty="0">
                <a:solidFill>
                  <a:schemeClr val="tx1">
                    <a:lumMod val="65000"/>
                    <a:lumOff val="35000"/>
                  </a:schemeClr>
                </a:solidFill>
              </a:rPr>
              <a:t>の</a:t>
            </a:r>
            <a:r>
              <a:rPr lang="en-US" altLang="ja-JP" dirty="0">
                <a:solidFill>
                  <a:schemeClr val="tx1">
                    <a:lumMod val="65000"/>
                    <a:lumOff val="35000"/>
                  </a:schemeClr>
                </a:solidFill>
              </a:rPr>
              <a:t>BPS</a:t>
            </a:r>
            <a:r>
              <a:rPr lang="ja-JP" altLang="en-US" dirty="0">
                <a:solidFill>
                  <a:schemeClr val="tx1">
                    <a:lumMod val="65000"/>
                    <a:lumOff val="35000"/>
                  </a:schemeClr>
                </a:solidFill>
              </a:rPr>
              <a:t>導入状況について（２</a:t>
            </a:r>
            <a:r>
              <a:rPr lang="en-US" altLang="ja-JP" dirty="0">
                <a:solidFill>
                  <a:schemeClr val="tx1">
                    <a:lumMod val="65000"/>
                    <a:lumOff val="35000"/>
                  </a:schemeClr>
                </a:solidFill>
              </a:rPr>
              <a:t>/</a:t>
            </a:r>
            <a:r>
              <a:rPr lang="ja-JP" altLang="en-US" dirty="0">
                <a:solidFill>
                  <a:schemeClr val="tx1">
                    <a:lumMod val="65000"/>
                    <a:lumOff val="35000"/>
                  </a:schemeClr>
                </a:solidFill>
              </a:rPr>
              <a:t>２）</a:t>
            </a:r>
            <a:endParaRPr lang="en-US" altLang="ja-JP" dirty="0">
              <a:solidFill>
                <a:schemeClr val="tx1">
                  <a:lumMod val="65000"/>
                  <a:lumOff val="35000"/>
                </a:schemeClr>
              </a:solidFill>
            </a:endParaRPr>
          </a:p>
          <a:p>
            <a:pPr marL="342900" indent="-342900">
              <a:buFont typeface="+mj-lt"/>
              <a:buAutoNum type="arabicPeriod"/>
            </a:pPr>
            <a:r>
              <a:rPr lang="en-US" altLang="ja-JP" dirty="0">
                <a:solidFill>
                  <a:schemeClr val="tx1">
                    <a:lumMod val="65000"/>
                    <a:lumOff val="35000"/>
                  </a:schemeClr>
                </a:solidFill>
              </a:rPr>
              <a:t>AI</a:t>
            </a:r>
            <a:r>
              <a:rPr lang="ja-JP" altLang="en-US" dirty="0">
                <a:solidFill>
                  <a:schemeClr val="tx1">
                    <a:lumMod val="65000"/>
                    <a:lumOff val="35000"/>
                  </a:schemeClr>
                </a:solidFill>
              </a:rPr>
              <a:t>エージェントの目指すべきエコシステムについて</a:t>
            </a:r>
            <a:endParaRPr lang="en-US" altLang="ja-JP" dirty="0">
              <a:solidFill>
                <a:schemeClr val="tx1">
                  <a:lumMod val="65000"/>
                  <a:lumOff val="35000"/>
                </a:schemeClr>
              </a:solidFill>
            </a:endParaRPr>
          </a:p>
          <a:p>
            <a:pPr marL="342900" indent="-342900">
              <a:buFont typeface="+mj-lt"/>
              <a:buAutoNum type="arabicPeriod"/>
            </a:pPr>
            <a:r>
              <a:rPr lang="ja-JP" altLang="en-US" dirty="0">
                <a:solidFill>
                  <a:schemeClr val="tx1">
                    <a:lumMod val="65000"/>
                    <a:lumOff val="35000"/>
                  </a:schemeClr>
                </a:solidFill>
              </a:rPr>
              <a:t>必要な技術について</a:t>
            </a:r>
            <a:endParaRPr lang="en-US" altLang="ja-JP" dirty="0">
              <a:solidFill>
                <a:schemeClr val="tx1">
                  <a:lumMod val="65000"/>
                  <a:lumOff val="35000"/>
                </a:schemeClr>
              </a:solidFill>
            </a:endParaRPr>
          </a:p>
          <a:p>
            <a:pPr marL="342900" indent="-342900">
              <a:buFont typeface="+mj-lt"/>
              <a:buAutoNum type="arabicPeriod"/>
            </a:pPr>
            <a:r>
              <a:rPr lang="en-US" altLang="ja-JP" dirty="0">
                <a:solidFill>
                  <a:schemeClr val="tx1">
                    <a:lumMod val="65000"/>
                    <a:lumOff val="35000"/>
                  </a:schemeClr>
                </a:solidFill>
              </a:rPr>
              <a:t>AI</a:t>
            </a:r>
            <a:r>
              <a:rPr lang="ja-JP" altLang="en-US" dirty="0">
                <a:solidFill>
                  <a:schemeClr val="tx1">
                    <a:lumMod val="65000"/>
                    <a:lumOff val="35000"/>
                  </a:schemeClr>
                </a:solidFill>
              </a:rPr>
              <a:t>エージェントのパートナー戦略のご相談（１</a:t>
            </a:r>
            <a:r>
              <a:rPr lang="en-US" altLang="ja-JP" dirty="0">
                <a:solidFill>
                  <a:schemeClr val="tx1">
                    <a:lumMod val="65000"/>
                    <a:lumOff val="35000"/>
                  </a:schemeClr>
                </a:solidFill>
              </a:rPr>
              <a:t>/</a:t>
            </a:r>
            <a:r>
              <a:rPr lang="ja-JP" altLang="en-US" dirty="0">
                <a:solidFill>
                  <a:schemeClr val="tx1">
                    <a:lumMod val="65000"/>
                    <a:lumOff val="35000"/>
                  </a:schemeClr>
                </a:solidFill>
              </a:rPr>
              <a:t>２）</a:t>
            </a:r>
            <a:endParaRPr lang="en-US" altLang="ja-JP" dirty="0">
              <a:solidFill>
                <a:schemeClr val="tx1">
                  <a:lumMod val="65000"/>
                  <a:lumOff val="35000"/>
                </a:schemeClr>
              </a:solidFill>
            </a:endParaRPr>
          </a:p>
          <a:p>
            <a:pPr marL="342900" indent="-342900">
              <a:buFont typeface="+mj-lt"/>
              <a:buAutoNum type="arabicPeriod"/>
            </a:pPr>
            <a:r>
              <a:rPr lang="en-US" altLang="ja-JP" dirty="0">
                <a:solidFill>
                  <a:schemeClr val="tx1">
                    <a:lumMod val="65000"/>
                    <a:lumOff val="35000"/>
                  </a:schemeClr>
                </a:solidFill>
              </a:rPr>
              <a:t>AI</a:t>
            </a:r>
            <a:r>
              <a:rPr lang="ja-JP" altLang="en-US" dirty="0">
                <a:solidFill>
                  <a:schemeClr val="tx1">
                    <a:lumMod val="65000"/>
                    <a:lumOff val="35000"/>
                  </a:schemeClr>
                </a:solidFill>
              </a:rPr>
              <a:t>エージェントのパートナー戦略のご相談（２</a:t>
            </a:r>
            <a:r>
              <a:rPr lang="en-US" altLang="ja-JP" dirty="0">
                <a:solidFill>
                  <a:schemeClr val="tx1">
                    <a:lumMod val="65000"/>
                    <a:lumOff val="35000"/>
                  </a:schemeClr>
                </a:solidFill>
              </a:rPr>
              <a:t>/</a:t>
            </a:r>
            <a:r>
              <a:rPr lang="ja-JP" altLang="en-US" dirty="0">
                <a:solidFill>
                  <a:schemeClr val="tx1">
                    <a:lumMod val="65000"/>
                    <a:lumOff val="35000"/>
                  </a:schemeClr>
                </a:solidFill>
              </a:rPr>
              <a:t>２）</a:t>
            </a:r>
            <a:endParaRPr lang="en-US" altLang="ja-JP" dirty="0">
              <a:solidFill>
                <a:schemeClr val="tx1">
                  <a:lumMod val="65000"/>
                  <a:lumOff val="35000"/>
                </a:schemeClr>
              </a:solidFill>
            </a:endParaRPr>
          </a:p>
          <a:p>
            <a:pPr marL="342900" indent="-342900">
              <a:buFont typeface="+mj-lt"/>
              <a:buAutoNum type="arabicPeriod"/>
            </a:pPr>
            <a:endParaRPr lang="en-US" altLang="ja-JP" dirty="0">
              <a:solidFill>
                <a:schemeClr val="tx1">
                  <a:lumMod val="65000"/>
                  <a:lumOff val="35000"/>
                </a:schemeClr>
              </a:solidFill>
            </a:endParaRPr>
          </a:p>
        </p:txBody>
      </p:sp>
      <p:sp>
        <p:nvSpPr>
          <p:cNvPr id="3" name="タイトル 2"/>
          <p:cNvSpPr>
            <a:spLocks noGrp="1"/>
          </p:cNvSpPr>
          <p:nvPr>
            <p:ph type="title"/>
          </p:nvPr>
        </p:nvSpPr>
        <p:spPr/>
        <p:txBody>
          <a:bodyPr/>
          <a:lstStyle/>
          <a:p>
            <a:r>
              <a:rPr kumimoji="1" lang="en-US" altLang="ja-JP"/>
              <a:t>Agenda</a:t>
            </a:r>
            <a:endParaRPr kumimoji="1" lang="ja-JP" altLang="en-US"/>
          </a:p>
        </p:txBody>
      </p:sp>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1</a:t>
            </a:fld>
            <a:endParaRPr lang="en-US" altLang="ja-JP"/>
          </a:p>
        </p:txBody>
      </p:sp>
    </p:spTree>
    <p:extLst>
      <p:ext uri="{BB962C8B-B14F-4D97-AF65-F5344CB8AC3E}">
        <p14:creationId xmlns:p14="http://schemas.microsoft.com/office/powerpoint/2010/main" val="2598359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BA3C3-52EB-4B7D-29A0-FE065492670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726AD591-EAF0-61FC-A77D-08792862677E}"/>
              </a:ext>
            </a:extLst>
          </p:cNvPr>
          <p:cNvSpPr>
            <a:spLocks noGrp="1"/>
          </p:cNvSpPr>
          <p:nvPr>
            <p:ph type="title"/>
          </p:nvPr>
        </p:nvSpPr>
        <p:spPr/>
        <p:txBody>
          <a:bodyPr/>
          <a:lstStyle/>
          <a:p>
            <a:r>
              <a:rPr lang="en-US" altLang="ja-JP" dirty="0">
                <a:solidFill>
                  <a:schemeClr val="tx1">
                    <a:lumMod val="65000"/>
                    <a:lumOff val="35000"/>
                  </a:schemeClr>
                </a:solidFill>
              </a:rPr>
              <a:t>n8n</a:t>
            </a:r>
            <a:r>
              <a:rPr lang="ja-JP" altLang="en-US" dirty="0">
                <a:solidFill>
                  <a:schemeClr val="tx1">
                    <a:lumMod val="65000"/>
                    <a:lumOff val="35000"/>
                  </a:schemeClr>
                </a:solidFill>
              </a:rPr>
              <a:t>の</a:t>
            </a:r>
            <a:r>
              <a:rPr lang="en-US" altLang="ja-JP" dirty="0">
                <a:solidFill>
                  <a:schemeClr val="tx1">
                    <a:lumMod val="65000"/>
                    <a:lumOff val="35000"/>
                  </a:schemeClr>
                </a:solidFill>
              </a:rPr>
              <a:t>BPS</a:t>
            </a:r>
            <a:r>
              <a:rPr lang="ja-JP" altLang="en-US" dirty="0">
                <a:solidFill>
                  <a:schemeClr val="tx1">
                    <a:lumMod val="65000"/>
                    <a:lumOff val="35000"/>
                  </a:schemeClr>
                </a:solidFill>
              </a:rPr>
              <a:t>導入状況について（１</a:t>
            </a:r>
            <a:r>
              <a:rPr lang="en-US" altLang="ja-JP" dirty="0">
                <a:solidFill>
                  <a:schemeClr val="tx1">
                    <a:lumMod val="65000"/>
                    <a:lumOff val="35000"/>
                  </a:schemeClr>
                </a:solidFill>
              </a:rPr>
              <a:t>/</a:t>
            </a:r>
            <a:r>
              <a:rPr lang="ja-JP" altLang="en-US" dirty="0">
                <a:solidFill>
                  <a:schemeClr val="tx1">
                    <a:lumMod val="65000"/>
                    <a:lumOff val="35000"/>
                  </a:schemeClr>
                </a:solidFill>
              </a:rPr>
              <a:t>２）</a:t>
            </a:r>
            <a:endParaRPr kumimoji="1" lang="ja-JP" altLang="en-US" dirty="0"/>
          </a:p>
        </p:txBody>
      </p:sp>
      <p:sp>
        <p:nvSpPr>
          <p:cNvPr id="4" name="スライド番号プレースホルダー 3">
            <a:extLst>
              <a:ext uri="{FF2B5EF4-FFF2-40B4-BE49-F238E27FC236}">
                <a16:creationId xmlns:a16="http://schemas.microsoft.com/office/drawing/2014/main" id="{B10C85B6-C789-CA25-04DF-6AA2546C3D17}"/>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2</a:t>
            </a:fld>
            <a:endParaRPr lang="en-US" altLang="ja-JP"/>
          </a:p>
        </p:txBody>
      </p:sp>
      <p:sp>
        <p:nvSpPr>
          <p:cNvPr id="2" name="コンテンツ プレースホルダー 5">
            <a:extLst>
              <a:ext uri="{FF2B5EF4-FFF2-40B4-BE49-F238E27FC236}">
                <a16:creationId xmlns:a16="http://schemas.microsoft.com/office/drawing/2014/main" id="{CCB4B3B2-3986-B74E-595B-0F461C75E469}"/>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BPS</a:t>
            </a:r>
            <a:r>
              <a:rPr lang="ja-JP" altLang="en-US" sz="1600" kern="0" dirty="0"/>
              <a:t>の請求・支払業務を分析した結果、“</a:t>
            </a:r>
            <a:r>
              <a:rPr lang="en-US" altLang="ja-JP" sz="1600" kern="0" dirty="0"/>
              <a:t>RPA</a:t>
            </a:r>
            <a:r>
              <a:rPr lang="ja-JP" altLang="en-US" sz="1600" kern="0" dirty="0"/>
              <a:t>処理準備・実行”フェーズの</a:t>
            </a:r>
            <a:r>
              <a:rPr lang="en-US" altLang="ja-JP" sz="1600" kern="0" dirty="0"/>
              <a:t>20</a:t>
            </a:r>
            <a:r>
              <a:rPr lang="ja-JP" altLang="en-US" sz="1600" kern="0" dirty="0"/>
              <a:t>件の請求処理において、</a:t>
            </a:r>
            <a:br>
              <a:rPr lang="en-US" altLang="ja-JP" sz="1600" kern="0" dirty="0"/>
            </a:br>
            <a:r>
              <a:rPr lang="en-US" altLang="ja-JP" sz="1600" kern="0" dirty="0"/>
              <a:t>20</a:t>
            </a:r>
            <a:r>
              <a:rPr lang="ja-JP" altLang="en-US" sz="1600" kern="0" dirty="0"/>
              <a:t>分の手作業（</a:t>
            </a:r>
            <a:r>
              <a:rPr lang="en-US" altLang="ja-JP" sz="1600" kern="0" dirty="0" err="1"/>
              <a:t>ExcelVBA</a:t>
            </a:r>
            <a:r>
              <a:rPr lang="ja-JP" altLang="en-US" sz="1600" kern="0" dirty="0"/>
              <a:t>や登録ファイル準備）＋</a:t>
            </a:r>
            <a:r>
              <a:rPr lang="en-US" altLang="ja-JP" sz="1600" kern="0" dirty="0"/>
              <a:t>30</a:t>
            </a:r>
            <a:r>
              <a:rPr lang="ja-JP" altLang="en-US" sz="1600" kern="0" dirty="0"/>
              <a:t>分の</a:t>
            </a:r>
            <a:r>
              <a:rPr lang="en-US" altLang="ja-JP" sz="1600" kern="0" dirty="0"/>
              <a:t>RPA</a:t>
            </a:r>
            <a:r>
              <a:rPr lang="ja-JP" altLang="en-US" sz="1600" kern="0" dirty="0"/>
              <a:t>処理</a:t>
            </a:r>
            <a:r>
              <a:rPr lang="en-US" altLang="ja-JP" sz="1600" kern="0" dirty="0"/>
              <a:t>(</a:t>
            </a:r>
            <a:r>
              <a:rPr lang="en-US" altLang="ja-JP" sz="1600" kern="0" dirty="0" err="1"/>
              <a:t>ConcurInvoice</a:t>
            </a:r>
            <a:r>
              <a:rPr lang="ja-JP" altLang="en-US" sz="1600" kern="0" dirty="0"/>
              <a:t>＋活文登録処理</a:t>
            </a:r>
            <a:r>
              <a:rPr lang="en-US" altLang="ja-JP" sz="1600" kern="0" dirty="0"/>
              <a:t>)</a:t>
            </a:r>
            <a:r>
              <a:rPr lang="ja-JP" altLang="en-US" sz="1600" kern="0" dirty="0"/>
              <a:t>がかかっていることが判明した。</a:t>
            </a:r>
            <a:endParaRPr lang="en-US" altLang="ja-JP" sz="1600" kern="0" dirty="0"/>
          </a:p>
          <a:p>
            <a:pPr marL="285750" indent="-285750">
              <a:buFont typeface="Arial" panose="020B0604020202020204" pitchFamily="34" charset="0"/>
              <a:buChar char="•"/>
            </a:pPr>
            <a:r>
              <a:rPr lang="ja-JP" altLang="en-US" sz="1600" kern="0" dirty="0"/>
              <a:t>上記に対し、</a:t>
            </a:r>
            <a:r>
              <a:rPr lang="en-US" altLang="ja-JP" sz="1600" kern="0" dirty="0"/>
              <a:t>n8n</a:t>
            </a:r>
            <a:r>
              <a:rPr lang="ja-JP" altLang="en-US" sz="1600" kern="0" dirty="0"/>
              <a:t>を導入することで、手作業の処理をなくし、最大</a:t>
            </a:r>
            <a:r>
              <a:rPr lang="en-US" altLang="ja-JP" sz="1600" kern="0" dirty="0"/>
              <a:t>500</a:t>
            </a:r>
            <a:r>
              <a:rPr lang="ja-JP" altLang="en-US" sz="1600" kern="0" dirty="0"/>
              <a:t>件の</a:t>
            </a:r>
            <a:r>
              <a:rPr lang="en-US" altLang="ja-JP" sz="1600" kern="0" dirty="0" err="1"/>
              <a:t>ConcurInvoice</a:t>
            </a:r>
            <a:r>
              <a:rPr lang="ja-JP" altLang="en-US" sz="1600" kern="0" dirty="0"/>
              <a:t>処理を約</a:t>
            </a:r>
            <a:r>
              <a:rPr lang="en-US" altLang="ja-JP" sz="1600" kern="0" dirty="0"/>
              <a:t>2</a:t>
            </a:r>
            <a:r>
              <a:rPr lang="ja-JP" altLang="en-US" sz="1600" kern="0" dirty="0"/>
              <a:t>～</a:t>
            </a:r>
            <a:r>
              <a:rPr lang="en-US" altLang="ja-JP" sz="1600" kern="0" dirty="0"/>
              <a:t>3</a:t>
            </a:r>
            <a:r>
              <a:rPr lang="ja-JP" altLang="en-US" sz="1600" kern="0" dirty="0"/>
              <a:t>分で完結できる見通しが立った。</a:t>
            </a:r>
            <a:br>
              <a:rPr lang="en-US" altLang="ja-JP" sz="1600" kern="0" dirty="0"/>
            </a:br>
            <a:r>
              <a:rPr lang="ja-JP" altLang="en-US" sz="1600" kern="0" dirty="0"/>
              <a:t>現在大規模な並列処理のテストを行いつつ、残課題である活文の連携（</a:t>
            </a:r>
            <a:r>
              <a:rPr lang="en-US" altLang="ja-JP" sz="1600" kern="0" dirty="0"/>
              <a:t>Azure</a:t>
            </a:r>
            <a:r>
              <a:rPr lang="ja-JP" altLang="en-US" sz="1600" kern="0" dirty="0"/>
              <a:t>⇔</a:t>
            </a:r>
            <a:r>
              <a:rPr lang="en-US" altLang="ja-JP" sz="1600" kern="0" dirty="0" err="1"/>
              <a:t>Durandal</a:t>
            </a:r>
            <a:r>
              <a:rPr lang="ja-JP" altLang="en-US" sz="1600" kern="0" dirty="0"/>
              <a:t>）を進めている。</a:t>
            </a:r>
            <a:endParaRPr lang="en-US" altLang="ja-JP" sz="1600" kern="0" dirty="0"/>
          </a:p>
        </p:txBody>
      </p:sp>
      <p:grpSp>
        <p:nvGrpSpPr>
          <p:cNvPr id="99" name="グループ化 98">
            <a:extLst>
              <a:ext uri="{FF2B5EF4-FFF2-40B4-BE49-F238E27FC236}">
                <a16:creationId xmlns:a16="http://schemas.microsoft.com/office/drawing/2014/main" id="{16F3176B-164C-1C13-C9F4-E7434C1369A3}"/>
              </a:ext>
            </a:extLst>
          </p:cNvPr>
          <p:cNvGrpSpPr/>
          <p:nvPr/>
        </p:nvGrpSpPr>
        <p:grpSpPr>
          <a:xfrm>
            <a:off x="121737" y="2711326"/>
            <a:ext cx="11994652" cy="2503470"/>
            <a:chOff x="121737" y="3281692"/>
            <a:chExt cx="11994652" cy="2503470"/>
          </a:xfrm>
        </p:grpSpPr>
        <p:grpSp>
          <p:nvGrpSpPr>
            <p:cNvPr id="97" name="グループ化 96">
              <a:extLst>
                <a:ext uri="{FF2B5EF4-FFF2-40B4-BE49-F238E27FC236}">
                  <a16:creationId xmlns:a16="http://schemas.microsoft.com/office/drawing/2014/main" id="{F70D7C4B-60DD-0ADC-879E-343C833EEEAD}"/>
                </a:ext>
              </a:extLst>
            </p:cNvPr>
            <p:cNvGrpSpPr/>
            <p:nvPr/>
          </p:nvGrpSpPr>
          <p:grpSpPr>
            <a:xfrm>
              <a:off x="760991" y="3281745"/>
              <a:ext cx="11355398" cy="2503417"/>
              <a:chOff x="75612" y="2702326"/>
              <a:chExt cx="12040777" cy="2654516"/>
            </a:xfrm>
          </p:grpSpPr>
          <p:cxnSp>
            <p:nvCxnSpPr>
              <p:cNvPr id="51" name="直線矢印コネクタ 41">
                <a:extLst>
                  <a:ext uri="{FF2B5EF4-FFF2-40B4-BE49-F238E27FC236}">
                    <a16:creationId xmlns:a16="http://schemas.microsoft.com/office/drawing/2014/main" id="{80407852-6F5A-CAA1-04E9-5D825F5F02A5}"/>
                  </a:ext>
                </a:extLst>
              </p:cNvPr>
              <p:cNvCxnSpPr>
                <a:cxnSpLocks/>
                <a:stCxn id="83" idx="2"/>
                <a:endCxn id="92" idx="0"/>
              </p:cNvCxnSpPr>
              <p:nvPr/>
            </p:nvCxnSpPr>
            <p:spPr>
              <a:xfrm rot="16200000" flipH="1" flipV="1">
                <a:off x="8030611" y="3426606"/>
                <a:ext cx="572546" cy="1175390"/>
              </a:xfrm>
              <a:prstGeom prst="bentConnector3">
                <a:avLst>
                  <a:gd name="adj1" fmla="val 52759"/>
                </a:avLst>
              </a:prstGeom>
              <a:noFill/>
              <a:ln w="19050" cap="flat" cmpd="sng" algn="ctr">
                <a:solidFill>
                  <a:srgbClr val="262699"/>
                </a:solidFill>
                <a:prstDash val="sysDash"/>
                <a:miter lim="800000"/>
                <a:tailEnd type="triangle"/>
              </a:ln>
              <a:effectLst/>
            </p:spPr>
          </p:cxnSp>
          <p:sp>
            <p:nvSpPr>
              <p:cNvPr id="52" name="正方形/長方形 51">
                <a:extLst>
                  <a:ext uri="{FF2B5EF4-FFF2-40B4-BE49-F238E27FC236}">
                    <a16:creationId xmlns:a16="http://schemas.microsoft.com/office/drawing/2014/main" id="{3FBB47C5-DBFC-FC94-B379-6FF49E22759E}"/>
                  </a:ext>
                </a:extLst>
              </p:cNvPr>
              <p:cNvSpPr/>
              <p:nvPr/>
            </p:nvSpPr>
            <p:spPr>
              <a:xfrm>
                <a:off x="75612" y="2702326"/>
                <a:ext cx="605000" cy="817761"/>
              </a:xfrm>
              <a:prstGeom prst="rect">
                <a:avLst/>
              </a:prstGeom>
              <a:solidFill>
                <a:srgbClr val="0065BD"/>
              </a:solidFill>
              <a:ln w="6350" cap="flat" cmpd="sng" algn="ctr">
                <a:solidFill>
                  <a:srgbClr val="4472C4">
                    <a:lumMod val="75000"/>
                  </a:srgbClr>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ASIS</a:t>
                </a:r>
                <a:endParaRPr kumimoji="0" lang="ja-JP" altLang="en-US" sz="12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53" name="正方形/長方形 52">
                <a:extLst>
                  <a:ext uri="{FF2B5EF4-FFF2-40B4-BE49-F238E27FC236}">
                    <a16:creationId xmlns:a16="http://schemas.microsoft.com/office/drawing/2014/main" id="{72191699-3ADD-FDC3-C1D9-36D0E953799E}"/>
                  </a:ext>
                </a:extLst>
              </p:cNvPr>
              <p:cNvSpPr/>
              <p:nvPr/>
            </p:nvSpPr>
            <p:spPr>
              <a:xfrm>
                <a:off x="733507" y="2702326"/>
                <a:ext cx="1102461"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請求書受領</a:t>
                </a:r>
              </a:p>
            </p:txBody>
          </p:sp>
          <p:sp>
            <p:nvSpPr>
              <p:cNvPr id="54" name="正方形/長方形 53">
                <a:extLst>
                  <a:ext uri="{FF2B5EF4-FFF2-40B4-BE49-F238E27FC236}">
                    <a16:creationId xmlns:a16="http://schemas.microsoft.com/office/drawing/2014/main" id="{0BE3AA7E-AFBF-BA9E-A794-75CD150703FC}"/>
                  </a:ext>
                </a:extLst>
              </p:cNvPr>
              <p:cNvSpPr/>
              <p:nvPr/>
            </p:nvSpPr>
            <p:spPr>
              <a:xfrm>
                <a:off x="733507"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請求書取得</a:t>
                </a:r>
                <a:r>
                  <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br>
                  <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9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共有フォルダ格納</a:t>
                </a:r>
              </a:p>
            </p:txBody>
          </p:sp>
          <p:sp>
            <p:nvSpPr>
              <p:cNvPr id="55" name="正方形/長方形 54">
                <a:extLst>
                  <a:ext uri="{FF2B5EF4-FFF2-40B4-BE49-F238E27FC236}">
                    <a16:creationId xmlns:a16="http://schemas.microsoft.com/office/drawing/2014/main" id="{FAF5D3FB-3A65-610C-6317-0FDFB847186E}"/>
                  </a:ext>
                </a:extLst>
              </p:cNvPr>
              <p:cNvSpPr/>
              <p:nvPr/>
            </p:nvSpPr>
            <p:spPr>
              <a:xfrm>
                <a:off x="1912616"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err="1">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AppSheet</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提出</a:t>
                </a:r>
              </a:p>
            </p:txBody>
          </p:sp>
          <p:sp>
            <p:nvSpPr>
              <p:cNvPr id="56" name="正方形/長方形 55">
                <a:extLst>
                  <a:ext uri="{FF2B5EF4-FFF2-40B4-BE49-F238E27FC236}">
                    <a16:creationId xmlns:a16="http://schemas.microsoft.com/office/drawing/2014/main" id="{52BD5F0E-918E-16B1-AC83-66D68239335A}"/>
                  </a:ext>
                </a:extLst>
              </p:cNvPr>
              <p:cNvSpPr/>
              <p:nvPr/>
            </p:nvSpPr>
            <p:spPr>
              <a:xfrm>
                <a:off x="3097713"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GAS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による</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スプシ書き込み</a:t>
                </a:r>
              </a:p>
            </p:txBody>
          </p:sp>
          <p:sp>
            <p:nvSpPr>
              <p:cNvPr id="57" name="正方形/長方形 56">
                <a:extLst>
                  <a:ext uri="{FF2B5EF4-FFF2-40B4-BE49-F238E27FC236}">
                    <a16:creationId xmlns:a16="http://schemas.microsoft.com/office/drawing/2014/main" id="{F602E288-F2CC-D10A-6275-7C8EF5ED3956}"/>
                  </a:ext>
                </a:extLst>
              </p:cNvPr>
              <p:cNvSpPr/>
              <p:nvPr/>
            </p:nvSpPr>
            <p:spPr>
              <a:xfrm>
                <a:off x="1912616" y="2702326"/>
                <a:ext cx="228945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請求書提出</a:t>
                </a:r>
              </a:p>
            </p:txBody>
          </p:sp>
          <p:sp>
            <p:nvSpPr>
              <p:cNvPr id="58" name="正方形/長方形 57">
                <a:extLst>
                  <a:ext uri="{FF2B5EF4-FFF2-40B4-BE49-F238E27FC236}">
                    <a16:creationId xmlns:a16="http://schemas.microsoft.com/office/drawing/2014/main" id="{838F7B49-1D4A-77A3-10FE-86D8A3DA0871}"/>
                  </a:ext>
                </a:extLst>
              </p:cNvPr>
              <p:cNvSpPr/>
              <p:nvPr/>
            </p:nvSpPr>
            <p:spPr>
              <a:xfrm>
                <a:off x="4237649"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一次チェック</a:t>
                </a:r>
              </a:p>
            </p:txBody>
          </p:sp>
          <p:sp>
            <p:nvSpPr>
              <p:cNvPr id="59" name="正方形/長方形 58">
                <a:extLst>
                  <a:ext uri="{FF2B5EF4-FFF2-40B4-BE49-F238E27FC236}">
                    <a16:creationId xmlns:a16="http://schemas.microsoft.com/office/drawing/2014/main" id="{40B249C3-33B5-AF13-D4C8-3135D26E2FAC}"/>
                  </a:ext>
                </a:extLst>
              </p:cNvPr>
              <p:cNvSpPr/>
              <p:nvPr/>
            </p:nvSpPr>
            <p:spPr>
              <a:xfrm>
                <a:off x="5422747"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二次チェック</a:t>
                </a:r>
              </a:p>
            </p:txBody>
          </p:sp>
          <p:sp>
            <p:nvSpPr>
              <p:cNvPr id="60" name="正方形/長方形 59">
                <a:extLst>
                  <a:ext uri="{FF2B5EF4-FFF2-40B4-BE49-F238E27FC236}">
                    <a16:creationId xmlns:a16="http://schemas.microsoft.com/office/drawing/2014/main" id="{26AD3A79-8756-B4B1-B06C-258BECB5ADF6}"/>
                  </a:ext>
                </a:extLst>
              </p:cNvPr>
              <p:cNvSpPr/>
              <p:nvPr/>
            </p:nvSpPr>
            <p:spPr>
              <a:xfrm>
                <a:off x="4237649" y="2702326"/>
                <a:ext cx="228945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請求書チェック・</a:t>
                </a:r>
                <a:r>
                  <a:rPr kumimoji="0" lang="en-US" altLang="ja-JP"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入力</a:t>
                </a:r>
              </a:p>
            </p:txBody>
          </p:sp>
          <p:sp>
            <p:nvSpPr>
              <p:cNvPr id="61" name="正方形/長方形 60">
                <a:extLst>
                  <a:ext uri="{FF2B5EF4-FFF2-40B4-BE49-F238E27FC236}">
                    <a16:creationId xmlns:a16="http://schemas.microsoft.com/office/drawing/2014/main" id="{74AC516F-9847-A5BB-F3BD-2AE02F6BB5A4}"/>
                  </a:ext>
                </a:extLst>
              </p:cNvPr>
              <p:cNvSpPr/>
              <p:nvPr/>
            </p:nvSpPr>
            <p:spPr>
              <a:xfrm>
                <a:off x="6575704" y="3095147"/>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RPA</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用前処理</a:t>
                </a:r>
              </a:p>
            </p:txBody>
          </p:sp>
          <p:sp>
            <p:nvSpPr>
              <p:cNvPr id="62" name="正方形/長方形 61">
                <a:extLst>
                  <a:ext uri="{FF2B5EF4-FFF2-40B4-BE49-F238E27FC236}">
                    <a16:creationId xmlns:a16="http://schemas.microsoft.com/office/drawing/2014/main" id="{569DD5CE-FBE3-A81E-3D12-11B053339A15}"/>
                  </a:ext>
                </a:extLst>
              </p:cNvPr>
              <p:cNvSpPr/>
              <p:nvPr/>
            </p:nvSpPr>
            <p:spPr>
              <a:xfrm>
                <a:off x="7760802" y="3095147"/>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ファイル移動</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en-US" altLang="ja-JP" sz="1000" b="0" i="0" u="none" strike="noStrike" kern="0" cap="none" spc="0" normalizeH="0" baseline="0" noProof="0" err="1">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ExcelVBA</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準備</a:t>
                </a:r>
              </a:p>
            </p:txBody>
          </p:sp>
          <p:sp>
            <p:nvSpPr>
              <p:cNvPr id="63" name="正方形/長方形 62">
                <a:extLst>
                  <a:ext uri="{FF2B5EF4-FFF2-40B4-BE49-F238E27FC236}">
                    <a16:creationId xmlns:a16="http://schemas.microsoft.com/office/drawing/2014/main" id="{D710C214-BC4F-209F-A126-A3B660D6F2C5}"/>
                  </a:ext>
                </a:extLst>
              </p:cNvPr>
              <p:cNvSpPr/>
              <p:nvPr/>
            </p:nvSpPr>
            <p:spPr>
              <a:xfrm>
                <a:off x="6575703" y="2702326"/>
                <a:ext cx="4657754" cy="273402"/>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Concur</a:t>
                </a:r>
                <a:r>
                  <a:rPr kumimoji="0" lang="ja-JP" altLang="en-US" sz="11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登録処理</a:t>
                </a:r>
              </a:p>
            </p:txBody>
          </p:sp>
          <p:sp>
            <p:nvSpPr>
              <p:cNvPr id="64" name="正方形/長方形 63">
                <a:extLst>
                  <a:ext uri="{FF2B5EF4-FFF2-40B4-BE49-F238E27FC236}">
                    <a16:creationId xmlns:a16="http://schemas.microsoft.com/office/drawing/2014/main" id="{E6196064-65F5-7D56-A5B9-C3C5A695BCCD}"/>
                  </a:ext>
                </a:extLst>
              </p:cNvPr>
              <p:cNvSpPr/>
              <p:nvPr/>
            </p:nvSpPr>
            <p:spPr>
              <a:xfrm>
                <a:off x="8945899" y="3095147"/>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RPA</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実行</a:t>
                </a:r>
              </a:p>
            </p:txBody>
          </p:sp>
          <p:sp>
            <p:nvSpPr>
              <p:cNvPr id="65" name="正方形/長方形 64">
                <a:extLst>
                  <a:ext uri="{FF2B5EF4-FFF2-40B4-BE49-F238E27FC236}">
                    <a16:creationId xmlns:a16="http://schemas.microsoft.com/office/drawing/2014/main" id="{0B746187-D10C-33CF-1934-0600D25D8091}"/>
                  </a:ext>
                </a:extLst>
              </p:cNvPr>
              <p:cNvSpPr/>
              <p:nvPr/>
            </p:nvSpPr>
            <p:spPr>
              <a:xfrm>
                <a:off x="10130997" y="3095147"/>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へ</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結果の転記</a:t>
                </a:r>
              </a:p>
            </p:txBody>
          </p:sp>
          <p:sp>
            <p:nvSpPr>
              <p:cNvPr id="66" name="四角形: 角を丸くする 65">
                <a:extLst>
                  <a:ext uri="{FF2B5EF4-FFF2-40B4-BE49-F238E27FC236}">
                    <a16:creationId xmlns:a16="http://schemas.microsoft.com/office/drawing/2014/main" id="{22FC3C6E-62C1-49F9-3069-57DD86EF0EC3}"/>
                  </a:ext>
                </a:extLst>
              </p:cNvPr>
              <p:cNvSpPr/>
              <p:nvPr/>
            </p:nvSpPr>
            <p:spPr>
              <a:xfrm>
                <a:off x="2499118" y="3470470"/>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システム化</a:t>
                </a:r>
              </a:p>
            </p:txBody>
          </p:sp>
          <p:sp>
            <p:nvSpPr>
              <p:cNvPr id="67" name="四角形: 角を丸くする 66">
                <a:extLst>
                  <a:ext uri="{FF2B5EF4-FFF2-40B4-BE49-F238E27FC236}">
                    <a16:creationId xmlns:a16="http://schemas.microsoft.com/office/drawing/2014/main" id="{60B85A9C-C564-3702-8773-E50B19368D2C}"/>
                  </a:ext>
                </a:extLst>
              </p:cNvPr>
              <p:cNvSpPr/>
              <p:nvPr/>
            </p:nvSpPr>
            <p:spPr>
              <a:xfrm>
                <a:off x="3686938" y="3470470"/>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68" name="四角形: 角を丸くする 67">
                <a:extLst>
                  <a:ext uri="{FF2B5EF4-FFF2-40B4-BE49-F238E27FC236}">
                    <a16:creationId xmlns:a16="http://schemas.microsoft.com/office/drawing/2014/main" id="{2BF0D25A-F8FA-0CBF-F7CC-33D0054C46EE}"/>
                  </a:ext>
                </a:extLst>
              </p:cNvPr>
              <p:cNvSpPr/>
              <p:nvPr/>
            </p:nvSpPr>
            <p:spPr>
              <a:xfrm>
                <a:off x="7162661" y="3470470"/>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69" name="四角形: 角を丸くする 68">
                <a:extLst>
                  <a:ext uri="{FF2B5EF4-FFF2-40B4-BE49-F238E27FC236}">
                    <a16:creationId xmlns:a16="http://schemas.microsoft.com/office/drawing/2014/main" id="{8F8E49A3-75BA-764E-BE68-D7AA111B5068}"/>
                  </a:ext>
                </a:extLst>
              </p:cNvPr>
              <p:cNvSpPr/>
              <p:nvPr/>
            </p:nvSpPr>
            <p:spPr>
              <a:xfrm>
                <a:off x="9539685" y="3470470"/>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70" name="正方形/長方形 69">
                <a:extLst>
                  <a:ext uri="{FF2B5EF4-FFF2-40B4-BE49-F238E27FC236}">
                    <a16:creationId xmlns:a16="http://schemas.microsoft.com/office/drawing/2014/main" id="{34F0F6E3-CCEA-B817-ECB8-0B9DB0443DCC}"/>
                  </a:ext>
                </a:extLst>
              </p:cNvPr>
              <p:cNvSpPr/>
              <p:nvPr/>
            </p:nvSpPr>
            <p:spPr>
              <a:xfrm>
                <a:off x="11305049" y="3095147"/>
                <a:ext cx="811340"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の確認</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endPar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71" name="正方形/長方形 70">
                <a:extLst>
                  <a:ext uri="{FF2B5EF4-FFF2-40B4-BE49-F238E27FC236}">
                    <a16:creationId xmlns:a16="http://schemas.microsoft.com/office/drawing/2014/main" id="{4E216448-DFF1-67CB-0E28-9613B739E370}"/>
                  </a:ext>
                </a:extLst>
              </p:cNvPr>
              <p:cNvSpPr/>
              <p:nvPr/>
            </p:nvSpPr>
            <p:spPr>
              <a:xfrm>
                <a:off x="11305049" y="2702326"/>
                <a:ext cx="81133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結果確認</a:t>
                </a:r>
              </a:p>
            </p:txBody>
          </p:sp>
          <p:sp>
            <p:nvSpPr>
              <p:cNvPr id="72" name="正方形/長方形 71">
                <a:extLst>
                  <a:ext uri="{FF2B5EF4-FFF2-40B4-BE49-F238E27FC236}">
                    <a16:creationId xmlns:a16="http://schemas.microsoft.com/office/drawing/2014/main" id="{6A12BAB2-6406-D622-5FAB-0792EB8F3986}"/>
                  </a:ext>
                </a:extLst>
              </p:cNvPr>
              <p:cNvSpPr/>
              <p:nvPr/>
            </p:nvSpPr>
            <p:spPr>
              <a:xfrm>
                <a:off x="87189" y="4340073"/>
                <a:ext cx="605000" cy="817761"/>
              </a:xfrm>
              <a:prstGeom prst="rect">
                <a:avLst/>
              </a:prstGeom>
              <a:solidFill>
                <a:srgbClr val="0065BD"/>
              </a:solidFill>
              <a:ln w="6350" cap="flat" cmpd="sng" algn="ctr">
                <a:solidFill>
                  <a:srgbClr val="4472C4">
                    <a:lumMod val="75000"/>
                  </a:srgbClr>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TOBE</a:t>
                </a:r>
                <a:endParaRPr kumimoji="0" lang="ja-JP" altLang="en-US"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73" name="正方形/長方形 72">
                <a:extLst>
                  <a:ext uri="{FF2B5EF4-FFF2-40B4-BE49-F238E27FC236}">
                    <a16:creationId xmlns:a16="http://schemas.microsoft.com/office/drawing/2014/main" id="{45F58BA5-6B2D-1998-E66B-FC5F746A891E}"/>
                  </a:ext>
                </a:extLst>
              </p:cNvPr>
              <p:cNvSpPr/>
              <p:nvPr/>
            </p:nvSpPr>
            <p:spPr>
              <a:xfrm>
                <a:off x="733507" y="4340073"/>
                <a:ext cx="1102461"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請求書受領</a:t>
                </a:r>
              </a:p>
            </p:txBody>
          </p:sp>
          <p:sp>
            <p:nvSpPr>
              <p:cNvPr id="74" name="正方形/長方形 73">
                <a:extLst>
                  <a:ext uri="{FF2B5EF4-FFF2-40B4-BE49-F238E27FC236}">
                    <a16:creationId xmlns:a16="http://schemas.microsoft.com/office/drawing/2014/main" id="{06BEB037-64B0-ED0C-5493-219999F05026}"/>
                  </a:ext>
                </a:extLst>
              </p:cNvPr>
              <p:cNvSpPr/>
              <p:nvPr/>
            </p:nvSpPr>
            <p:spPr>
              <a:xfrm>
                <a:off x="733507"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請求書取得</a:t>
                </a:r>
                <a:r>
                  <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br>
                  <a:rPr kumimoji="0" lang="en-US" altLang="ja-JP" sz="10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9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共有フォルダ格納</a:t>
                </a:r>
              </a:p>
            </p:txBody>
          </p:sp>
          <p:sp>
            <p:nvSpPr>
              <p:cNvPr id="75" name="正方形/長方形 74">
                <a:extLst>
                  <a:ext uri="{FF2B5EF4-FFF2-40B4-BE49-F238E27FC236}">
                    <a16:creationId xmlns:a16="http://schemas.microsoft.com/office/drawing/2014/main" id="{DBDA8D6F-897E-09D9-E02D-812A63BE55A9}"/>
                  </a:ext>
                </a:extLst>
              </p:cNvPr>
              <p:cNvSpPr/>
              <p:nvPr/>
            </p:nvSpPr>
            <p:spPr>
              <a:xfrm>
                <a:off x="1912616"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err="1">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AppSheet</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提出</a:t>
                </a:r>
              </a:p>
            </p:txBody>
          </p:sp>
          <p:sp>
            <p:nvSpPr>
              <p:cNvPr id="76" name="正方形/長方形 75">
                <a:extLst>
                  <a:ext uri="{FF2B5EF4-FFF2-40B4-BE49-F238E27FC236}">
                    <a16:creationId xmlns:a16="http://schemas.microsoft.com/office/drawing/2014/main" id="{3CDBCAE3-3550-D68B-4F33-D6F6D684145F}"/>
                  </a:ext>
                </a:extLst>
              </p:cNvPr>
              <p:cNvSpPr/>
              <p:nvPr/>
            </p:nvSpPr>
            <p:spPr>
              <a:xfrm>
                <a:off x="3097713"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GAS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による</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スプシ書き込み</a:t>
                </a:r>
              </a:p>
            </p:txBody>
          </p:sp>
          <p:sp>
            <p:nvSpPr>
              <p:cNvPr id="77" name="正方形/長方形 76">
                <a:extLst>
                  <a:ext uri="{FF2B5EF4-FFF2-40B4-BE49-F238E27FC236}">
                    <a16:creationId xmlns:a16="http://schemas.microsoft.com/office/drawing/2014/main" id="{62CA8F20-426A-34C0-11CB-B2B7B6758385}"/>
                  </a:ext>
                </a:extLst>
              </p:cNvPr>
              <p:cNvSpPr/>
              <p:nvPr/>
            </p:nvSpPr>
            <p:spPr>
              <a:xfrm>
                <a:off x="1912616" y="4340073"/>
                <a:ext cx="228945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請求書提出</a:t>
                </a:r>
              </a:p>
            </p:txBody>
          </p:sp>
          <p:sp>
            <p:nvSpPr>
              <p:cNvPr id="78" name="正方形/長方形 77">
                <a:extLst>
                  <a:ext uri="{FF2B5EF4-FFF2-40B4-BE49-F238E27FC236}">
                    <a16:creationId xmlns:a16="http://schemas.microsoft.com/office/drawing/2014/main" id="{6E7EF340-93F0-6A04-F15A-392930151B2A}"/>
                  </a:ext>
                </a:extLst>
              </p:cNvPr>
              <p:cNvSpPr/>
              <p:nvPr/>
            </p:nvSpPr>
            <p:spPr>
              <a:xfrm>
                <a:off x="4237649"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一次チェック</a:t>
                </a:r>
              </a:p>
            </p:txBody>
          </p:sp>
          <p:sp>
            <p:nvSpPr>
              <p:cNvPr id="79" name="正方形/長方形 78">
                <a:extLst>
                  <a:ext uri="{FF2B5EF4-FFF2-40B4-BE49-F238E27FC236}">
                    <a16:creationId xmlns:a16="http://schemas.microsoft.com/office/drawing/2014/main" id="{D0294B76-0D9B-DF59-036B-615C9F8CE57F}"/>
                  </a:ext>
                </a:extLst>
              </p:cNvPr>
              <p:cNvSpPr/>
              <p:nvPr/>
            </p:nvSpPr>
            <p:spPr>
              <a:xfrm>
                <a:off x="5422747"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二次チェック</a:t>
                </a:r>
              </a:p>
            </p:txBody>
          </p:sp>
          <p:sp>
            <p:nvSpPr>
              <p:cNvPr id="80" name="正方形/長方形 79">
                <a:extLst>
                  <a:ext uri="{FF2B5EF4-FFF2-40B4-BE49-F238E27FC236}">
                    <a16:creationId xmlns:a16="http://schemas.microsoft.com/office/drawing/2014/main" id="{02AA6A31-1AA7-50EE-A48B-F27B8388E4CD}"/>
                  </a:ext>
                </a:extLst>
              </p:cNvPr>
              <p:cNvSpPr/>
              <p:nvPr/>
            </p:nvSpPr>
            <p:spPr>
              <a:xfrm>
                <a:off x="4237649" y="4340073"/>
                <a:ext cx="228945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請求書チェック・</a:t>
                </a:r>
                <a:r>
                  <a:rPr kumimoji="0" lang="en-US" altLang="ja-JP"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入力</a:t>
                </a:r>
              </a:p>
            </p:txBody>
          </p:sp>
          <p:sp>
            <p:nvSpPr>
              <p:cNvPr id="81" name="四角形: 角を丸くする 80">
                <a:extLst>
                  <a:ext uri="{FF2B5EF4-FFF2-40B4-BE49-F238E27FC236}">
                    <a16:creationId xmlns:a16="http://schemas.microsoft.com/office/drawing/2014/main" id="{B58663E0-5E86-49F0-AA7A-A16EBD67F1A5}"/>
                  </a:ext>
                </a:extLst>
              </p:cNvPr>
              <p:cNvSpPr/>
              <p:nvPr/>
            </p:nvSpPr>
            <p:spPr>
              <a:xfrm>
                <a:off x="2499118" y="5108217"/>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システム化</a:t>
                </a:r>
              </a:p>
            </p:txBody>
          </p:sp>
          <p:sp>
            <p:nvSpPr>
              <p:cNvPr id="82" name="四角形: 角を丸くする 81">
                <a:extLst>
                  <a:ext uri="{FF2B5EF4-FFF2-40B4-BE49-F238E27FC236}">
                    <a16:creationId xmlns:a16="http://schemas.microsoft.com/office/drawing/2014/main" id="{98206D20-5AA7-BE7C-7F07-2D4C2FA44B55}"/>
                  </a:ext>
                </a:extLst>
              </p:cNvPr>
              <p:cNvSpPr/>
              <p:nvPr/>
            </p:nvSpPr>
            <p:spPr>
              <a:xfrm>
                <a:off x="3686938" y="5108217"/>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83" name="右大かっこ 82">
                <a:extLst>
                  <a:ext uri="{FF2B5EF4-FFF2-40B4-BE49-F238E27FC236}">
                    <a16:creationId xmlns:a16="http://schemas.microsoft.com/office/drawing/2014/main" id="{F3BFD30F-B235-7E98-1A44-C853B7D1F642}"/>
                  </a:ext>
                </a:extLst>
              </p:cNvPr>
              <p:cNvSpPr/>
              <p:nvPr/>
            </p:nvSpPr>
            <p:spPr>
              <a:xfrm rot="5400000">
                <a:off x="8845673" y="1340244"/>
                <a:ext cx="117812" cy="4657755"/>
              </a:xfrm>
              <a:prstGeom prst="rightBracket">
                <a:avLst/>
              </a:prstGeom>
              <a:noFill/>
              <a:ln w="19050" cap="flat" cmpd="sng" algn="ctr">
                <a:solidFill>
                  <a:srgbClr val="262699"/>
                </a:solidFill>
                <a:prstDash val="sysDash"/>
                <a:miter lim="800000"/>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84" name="正方形/長方形 83">
                <a:extLst>
                  <a:ext uri="{FF2B5EF4-FFF2-40B4-BE49-F238E27FC236}">
                    <a16:creationId xmlns:a16="http://schemas.microsoft.com/office/drawing/2014/main" id="{B064B149-D6FF-3CE0-BD18-A222C29B2ABC}"/>
                  </a:ext>
                </a:extLst>
              </p:cNvPr>
              <p:cNvSpPr/>
              <p:nvPr/>
            </p:nvSpPr>
            <p:spPr>
              <a:xfrm>
                <a:off x="6575704" y="4732894"/>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を基に処理実行</a:t>
                </a:r>
              </a:p>
            </p:txBody>
          </p:sp>
          <p:sp>
            <p:nvSpPr>
              <p:cNvPr id="85" name="正方形/長方形 84">
                <a:extLst>
                  <a:ext uri="{FF2B5EF4-FFF2-40B4-BE49-F238E27FC236}">
                    <a16:creationId xmlns:a16="http://schemas.microsoft.com/office/drawing/2014/main" id="{A4BE45A0-A0C3-2BCE-3787-21D5877834B6}"/>
                  </a:ext>
                </a:extLst>
              </p:cNvPr>
              <p:cNvSpPr/>
              <p:nvPr/>
            </p:nvSpPr>
            <p:spPr>
              <a:xfrm>
                <a:off x="6575702" y="4340073"/>
                <a:ext cx="2298607" cy="273402"/>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cs typeface="+mn-cs"/>
                  </a:rPr>
                  <a:t>AI</a:t>
                </a:r>
                <a:r>
                  <a:rPr kumimoji="0" lang="ja-JP" altLang="en-US" sz="11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cs typeface="+mn-cs"/>
                  </a:rPr>
                  <a:t>エージェントによる処理</a:t>
                </a:r>
              </a:p>
            </p:txBody>
          </p:sp>
          <p:sp>
            <p:nvSpPr>
              <p:cNvPr id="86" name="四角形: 角を丸くする 85">
                <a:extLst>
                  <a:ext uri="{FF2B5EF4-FFF2-40B4-BE49-F238E27FC236}">
                    <a16:creationId xmlns:a16="http://schemas.microsoft.com/office/drawing/2014/main" id="{7EAB94C1-EA2F-1FE2-9AD5-FC232635C556}"/>
                  </a:ext>
                </a:extLst>
              </p:cNvPr>
              <p:cNvSpPr/>
              <p:nvPr/>
            </p:nvSpPr>
            <p:spPr>
              <a:xfrm>
                <a:off x="7162661" y="5108217"/>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87" name="正方形/長方形 86">
                <a:extLst>
                  <a:ext uri="{FF2B5EF4-FFF2-40B4-BE49-F238E27FC236}">
                    <a16:creationId xmlns:a16="http://schemas.microsoft.com/office/drawing/2014/main" id="{E95C9BB5-1DBD-1AC1-9D78-B23BF968BE4E}"/>
                  </a:ext>
                </a:extLst>
              </p:cNvPr>
              <p:cNvSpPr/>
              <p:nvPr/>
            </p:nvSpPr>
            <p:spPr>
              <a:xfrm>
                <a:off x="7760802" y="4732894"/>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へ</a:t>
                </a:r>
                <a:b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結果の転記</a:t>
                </a:r>
              </a:p>
            </p:txBody>
          </p:sp>
          <p:sp>
            <p:nvSpPr>
              <p:cNvPr id="88" name="四角形: 角を丸くする 87">
                <a:extLst>
                  <a:ext uri="{FF2B5EF4-FFF2-40B4-BE49-F238E27FC236}">
                    <a16:creationId xmlns:a16="http://schemas.microsoft.com/office/drawing/2014/main" id="{008EE123-D70C-08E7-DA45-722AFC77E4F6}"/>
                  </a:ext>
                </a:extLst>
              </p:cNvPr>
              <p:cNvSpPr/>
              <p:nvPr/>
            </p:nvSpPr>
            <p:spPr>
              <a:xfrm>
                <a:off x="8354588" y="5108217"/>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grpSp>
            <p:nvGrpSpPr>
              <p:cNvPr id="89" name="グループ化 88">
                <a:extLst>
                  <a:ext uri="{FF2B5EF4-FFF2-40B4-BE49-F238E27FC236}">
                    <a16:creationId xmlns:a16="http://schemas.microsoft.com/office/drawing/2014/main" id="{5087CDFE-D69D-F96E-298D-0BED7D4C8F45}"/>
                  </a:ext>
                </a:extLst>
              </p:cNvPr>
              <p:cNvGrpSpPr/>
              <p:nvPr/>
            </p:nvGrpSpPr>
            <p:grpSpPr>
              <a:xfrm>
                <a:off x="8945899" y="4340073"/>
                <a:ext cx="811340" cy="817761"/>
                <a:chOff x="11305049" y="4025748"/>
                <a:chExt cx="811340" cy="817761"/>
              </a:xfrm>
            </p:grpSpPr>
            <p:sp>
              <p:nvSpPr>
                <p:cNvPr id="90" name="正方形/長方形 89">
                  <a:extLst>
                    <a:ext uri="{FF2B5EF4-FFF2-40B4-BE49-F238E27FC236}">
                      <a16:creationId xmlns:a16="http://schemas.microsoft.com/office/drawing/2014/main" id="{6773B122-F5BA-ECA0-15A7-B891E1933785}"/>
                    </a:ext>
                  </a:extLst>
                </p:cNvPr>
                <p:cNvSpPr/>
                <p:nvPr/>
              </p:nvSpPr>
              <p:spPr>
                <a:xfrm>
                  <a:off x="11305049" y="4418569"/>
                  <a:ext cx="811340"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の確認</a:t>
                  </a:r>
                  <a:r>
                    <a:rPr kumimoji="0" lang="en-US" altLang="ja-JP"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endParaRPr kumimoji="0" lang="ja-JP" altLang="en-US" sz="10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91" name="正方形/長方形 90">
                  <a:extLst>
                    <a:ext uri="{FF2B5EF4-FFF2-40B4-BE49-F238E27FC236}">
                      <a16:creationId xmlns:a16="http://schemas.microsoft.com/office/drawing/2014/main" id="{30EEA9F3-BDD5-0481-C78E-131C27C5C628}"/>
                    </a:ext>
                  </a:extLst>
                </p:cNvPr>
                <p:cNvSpPr/>
                <p:nvPr/>
              </p:nvSpPr>
              <p:spPr>
                <a:xfrm>
                  <a:off x="11305049" y="4025748"/>
                  <a:ext cx="81133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結果確認</a:t>
                  </a:r>
                </a:p>
              </p:txBody>
            </p:sp>
          </p:grpSp>
          <p:sp>
            <p:nvSpPr>
              <p:cNvPr id="92" name="正方形/長方形 91">
                <a:extLst>
                  <a:ext uri="{FF2B5EF4-FFF2-40B4-BE49-F238E27FC236}">
                    <a16:creationId xmlns:a16="http://schemas.microsoft.com/office/drawing/2014/main" id="{0799CDBB-BC61-D323-CB61-051E0AAF3580}"/>
                  </a:ext>
                </a:extLst>
              </p:cNvPr>
              <p:cNvSpPr/>
              <p:nvPr/>
            </p:nvSpPr>
            <p:spPr>
              <a:xfrm>
                <a:off x="6548262" y="4300574"/>
                <a:ext cx="2361854" cy="1056268"/>
              </a:xfrm>
              <a:prstGeom prst="rect">
                <a:avLst/>
              </a:prstGeom>
              <a:noFill/>
              <a:ln w="19050" cap="flat" cmpd="sng" algn="ctr">
                <a:solidFill>
                  <a:srgbClr val="262699"/>
                </a:solidFill>
                <a:prstDash val="sysDash"/>
                <a:miter lim="800000"/>
                <a:tailEnd type="none"/>
              </a:ln>
              <a:effectLst/>
            </p:spPr>
            <p:txBody>
              <a:bodyPr rtlCol="0" anchor="ctr"/>
              <a:lstStyle/>
              <a:p>
                <a:pPr algn="ctr" fontAlgn="auto">
                  <a:spcBef>
                    <a:spcPts val="0"/>
                  </a:spcBef>
                  <a:spcAft>
                    <a:spcPts val="0"/>
                  </a:spcAft>
                </a:pPr>
                <a:endParaRPr kumimoji="0" lang="ja-JP" altLang="en-US" sz="1600" kern="0">
                  <a:solidFill>
                    <a:prstClr val="black"/>
                  </a:solidFill>
                  <a:latin typeface="游ゴシック" panose="020F0502020204030204"/>
                  <a:ea typeface="游ゴシック" panose="020B0400000000000000" pitchFamily="50" charset="-128"/>
                </a:endParaRPr>
              </a:p>
            </p:txBody>
          </p:sp>
          <p:sp>
            <p:nvSpPr>
              <p:cNvPr id="93" name="テキスト ボックス 92">
                <a:extLst>
                  <a:ext uri="{FF2B5EF4-FFF2-40B4-BE49-F238E27FC236}">
                    <a16:creationId xmlns:a16="http://schemas.microsoft.com/office/drawing/2014/main" id="{FCC5020C-5451-A12D-B6F9-409B78FD2E93}"/>
                  </a:ext>
                </a:extLst>
              </p:cNvPr>
              <p:cNvSpPr txBox="1"/>
              <p:nvPr/>
            </p:nvSpPr>
            <p:spPr>
              <a:xfrm>
                <a:off x="7898020" y="3771270"/>
                <a:ext cx="885621" cy="514006"/>
              </a:xfrm>
              <a:prstGeom prst="rect">
                <a:avLst/>
              </a:prstGeom>
              <a:solidFill>
                <a:sysClr val="window" lastClr="FFFFFF"/>
              </a:solidFill>
              <a:ln w="12700" cap="flat">
                <a:noFill/>
                <a:miter lim="400000"/>
              </a:ln>
              <a:effectLst/>
            </p:spPr>
            <p:txBody>
              <a:bodyPr rot="0" spcFirstLastPara="1" vertOverflow="overflow" horzOverflow="overflow" vert="horz" wrap="square" lIns="0" tIns="0" rIns="0" bIns="0" numCol="1" spcCol="381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50" b="1" i="0" u="none" strike="noStrike" kern="0" cap="none" spc="0" normalizeH="0" baseline="0" noProof="0" dirty="0">
                    <a:ln>
                      <a:noFill/>
                    </a:ln>
                    <a:solidFill>
                      <a:srgbClr val="262699"/>
                    </a:solidFill>
                    <a:effectLst/>
                    <a:uLnTx/>
                    <a:uFillTx/>
                    <a:latin typeface="Meiryo UI" panose="020B0604030504040204" pitchFamily="50" charset="-128"/>
                    <a:ea typeface="Meiryo UI" panose="020B0604030504040204" pitchFamily="50" charset="-128"/>
                  </a:rPr>
                  <a:t>AI</a:t>
                </a:r>
                <a:br>
                  <a:rPr kumimoji="0" lang="en-US" altLang="ja-JP" sz="1050" b="1" i="0" u="none" strike="noStrike" kern="0" cap="none" spc="0" normalizeH="0" baseline="0" noProof="0" dirty="0">
                    <a:ln>
                      <a:noFill/>
                    </a:ln>
                    <a:solidFill>
                      <a:srgbClr val="262699"/>
                    </a:solidFill>
                    <a:effectLst/>
                    <a:uLnTx/>
                    <a:uFillTx/>
                    <a:latin typeface="Meiryo UI" panose="020B0604030504040204" pitchFamily="50" charset="-128"/>
                    <a:ea typeface="Meiryo UI" panose="020B0604030504040204" pitchFamily="50" charset="-128"/>
                  </a:rPr>
                </a:br>
                <a:r>
                  <a:rPr kumimoji="0" lang="ja-JP" altLang="en-US" sz="1050" b="1" i="0" u="none" strike="noStrike" kern="0" cap="none" spc="0" normalizeH="0" baseline="0" noProof="0" dirty="0">
                    <a:ln>
                      <a:noFill/>
                    </a:ln>
                    <a:solidFill>
                      <a:srgbClr val="262699"/>
                    </a:solidFill>
                    <a:effectLst/>
                    <a:uLnTx/>
                    <a:uFillTx/>
                    <a:latin typeface="Meiryo UI" panose="020B0604030504040204" pitchFamily="50" charset="-128"/>
                    <a:ea typeface="Meiryo UI" panose="020B0604030504040204" pitchFamily="50" charset="-128"/>
                  </a:rPr>
                  <a:t>エージェント化</a:t>
                </a:r>
                <a:endParaRPr kumimoji="0" lang="en-US" altLang="ja-JP" sz="1050" b="1" i="0" u="none" strike="noStrike" kern="0" cap="none" spc="0" normalizeH="0" baseline="0" noProof="0" dirty="0">
                  <a:ln>
                    <a:noFill/>
                  </a:ln>
                  <a:solidFill>
                    <a:srgbClr val="262699"/>
                  </a:solidFill>
                  <a:effectLst/>
                  <a:uLnTx/>
                  <a:uFillTx/>
                  <a:latin typeface="Meiryo UI" panose="020B0604030504040204" pitchFamily="50" charset="-128"/>
                  <a:ea typeface="Meiryo UI" panose="020B0604030504040204" pitchFamily="50" charset="-128"/>
                </a:endParaRPr>
              </a:p>
            </p:txBody>
          </p:sp>
          <p:cxnSp>
            <p:nvCxnSpPr>
              <p:cNvPr id="94" name="直線コネクタ 93">
                <a:extLst>
                  <a:ext uri="{FF2B5EF4-FFF2-40B4-BE49-F238E27FC236}">
                    <a16:creationId xmlns:a16="http://schemas.microsoft.com/office/drawing/2014/main" id="{9C1DB9F3-800E-D49C-8BEF-4E8A6F62280E}"/>
                  </a:ext>
                </a:extLst>
              </p:cNvPr>
              <p:cNvCxnSpPr>
                <a:cxnSpLocks/>
              </p:cNvCxnSpPr>
              <p:nvPr/>
            </p:nvCxnSpPr>
            <p:spPr>
              <a:xfrm flipH="1">
                <a:off x="9799546" y="4349598"/>
                <a:ext cx="2316842" cy="0"/>
              </a:xfrm>
              <a:prstGeom prst="line">
                <a:avLst/>
              </a:prstGeom>
              <a:noFill/>
              <a:ln w="19050" cap="flat" cmpd="sng" algn="ctr">
                <a:solidFill>
                  <a:srgbClr val="C00000"/>
                </a:solidFill>
                <a:prstDash val="sysDash"/>
                <a:miter lim="800000"/>
                <a:headEnd type="triangle"/>
                <a:tailEnd type="triangle"/>
              </a:ln>
              <a:effectLst/>
            </p:spPr>
          </p:cxnSp>
          <p:sp>
            <p:nvSpPr>
              <p:cNvPr id="95" name="テキスト ボックス 94">
                <a:extLst>
                  <a:ext uri="{FF2B5EF4-FFF2-40B4-BE49-F238E27FC236}">
                    <a16:creationId xmlns:a16="http://schemas.microsoft.com/office/drawing/2014/main" id="{BC206CB9-974D-D875-9123-FE46C05256CF}"/>
                  </a:ext>
                </a:extLst>
              </p:cNvPr>
              <p:cNvSpPr txBox="1"/>
              <p:nvPr/>
            </p:nvSpPr>
            <p:spPr>
              <a:xfrm>
                <a:off x="10545082" y="4263931"/>
                <a:ext cx="984727" cy="171336"/>
              </a:xfrm>
              <a:prstGeom prst="rect">
                <a:avLst/>
              </a:prstGeom>
              <a:solidFill>
                <a:sysClr val="window" lastClr="FFFFFF"/>
              </a:solidFill>
              <a:ln w="12700" cap="flat">
                <a:noFill/>
                <a:miter lim="400000"/>
              </a:ln>
              <a:effectLst/>
            </p:spPr>
            <p:txBody>
              <a:bodyPr rot="0" spcFirstLastPara="1" vertOverflow="overflow" horzOverflow="overflow" vert="horz" wrap="square" lIns="0" tIns="0" rIns="0" bIns="0" numCol="1" spcCol="381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050" b="1" i="0" u="none" strike="noStrike" kern="0" cap="none" spc="0" normalizeH="0" baseline="0" noProof="0" dirty="0">
                    <a:ln>
                      <a:noFill/>
                    </a:ln>
                    <a:solidFill>
                      <a:srgbClr val="C00000"/>
                    </a:solidFill>
                    <a:effectLst/>
                    <a:uLnTx/>
                    <a:uFillTx/>
                    <a:latin typeface="Meiryo UI" panose="020B0604030504040204" pitchFamily="50" charset="-128"/>
                    <a:ea typeface="Meiryo UI" panose="020B0604030504040204" pitchFamily="50" charset="-128"/>
                  </a:rPr>
                  <a:t>リードタイム短縮</a:t>
                </a:r>
                <a:endParaRPr kumimoji="0" lang="en-US" altLang="ja-JP" sz="1050" b="1" i="0" u="none" strike="noStrike" kern="0" cap="none" spc="0" normalizeH="0" baseline="0" noProof="0" dirty="0">
                  <a:ln>
                    <a:noFill/>
                  </a:ln>
                  <a:solidFill>
                    <a:srgbClr val="C00000"/>
                  </a:solidFill>
                  <a:effectLst/>
                  <a:uLnTx/>
                  <a:uFillTx/>
                  <a:latin typeface="Meiryo UI" panose="020B0604030504040204" pitchFamily="50" charset="-128"/>
                  <a:ea typeface="Meiryo UI" panose="020B0604030504040204" pitchFamily="50" charset="-128"/>
                </a:endParaRPr>
              </a:p>
            </p:txBody>
          </p:sp>
        </p:grpSp>
        <p:sp>
          <p:nvSpPr>
            <p:cNvPr id="98" name="正方形/長方形 97">
              <a:extLst>
                <a:ext uri="{FF2B5EF4-FFF2-40B4-BE49-F238E27FC236}">
                  <a16:creationId xmlns:a16="http://schemas.microsoft.com/office/drawing/2014/main" id="{6FB3A29F-4126-3E87-32A5-58CE8B29E5D1}"/>
                </a:ext>
              </a:extLst>
            </p:cNvPr>
            <p:cNvSpPr/>
            <p:nvPr/>
          </p:nvSpPr>
          <p:spPr>
            <a:xfrm>
              <a:off x="121737" y="3281692"/>
              <a:ext cx="570562" cy="231579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algn="ctr" fontAlgn="auto">
                <a:spcBef>
                  <a:spcPts val="0"/>
                </a:spcBef>
                <a:spcAft>
                  <a:spcPts val="0"/>
                </a:spcAft>
              </a:pPr>
              <a:r>
                <a:rPr kumimoji="0" lang="en-US" altLang="ja-JP" sz="1100" kern="0" dirty="0">
                  <a:solidFill>
                    <a:srgbClr val="E7E6E6">
                      <a:lumMod val="50000"/>
                    </a:srgbClr>
                  </a:solidFill>
                  <a:latin typeface="Meiryo UI" panose="020B0604030504040204" pitchFamily="50" charset="-128"/>
                  <a:ea typeface="Meiryo UI" panose="020B0604030504040204" pitchFamily="50" charset="-128"/>
                </a:rPr>
                <a:t>BPS</a:t>
              </a:r>
              <a:br>
                <a:rPr kumimoji="0" lang="en-US" altLang="ja-JP" sz="1100" kern="0" dirty="0">
                  <a:solidFill>
                    <a:srgbClr val="E7E6E6">
                      <a:lumMod val="50000"/>
                    </a:srgbClr>
                  </a:solidFill>
                  <a:latin typeface="Meiryo UI" panose="020B0604030504040204" pitchFamily="50" charset="-128"/>
                  <a:ea typeface="Meiryo UI" panose="020B0604030504040204" pitchFamily="50" charset="-128"/>
                </a:rPr>
              </a:br>
              <a:r>
                <a:rPr kumimoji="0" lang="ja-JP" altLang="en-US" sz="1100" kern="0" dirty="0">
                  <a:solidFill>
                    <a:srgbClr val="E7E6E6">
                      <a:lumMod val="50000"/>
                    </a:srgbClr>
                  </a:solidFill>
                  <a:latin typeface="Meiryo UI" panose="020B0604030504040204" pitchFamily="50" charset="-128"/>
                  <a:ea typeface="Meiryo UI" panose="020B0604030504040204" pitchFamily="50" charset="-128"/>
                </a:rPr>
                <a:t>業務</a:t>
              </a:r>
            </a:p>
          </p:txBody>
        </p:sp>
      </p:grpSp>
    </p:spTree>
    <p:extLst>
      <p:ext uri="{BB962C8B-B14F-4D97-AF65-F5344CB8AC3E}">
        <p14:creationId xmlns:p14="http://schemas.microsoft.com/office/powerpoint/2010/main" val="3967136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9B275-82E8-70CD-D61C-B6BBBAE47AF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471F86DA-2301-3482-D1FC-3B58753477F4}"/>
              </a:ext>
            </a:extLst>
          </p:cNvPr>
          <p:cNvSpPr>
            <a:spLocks noGrp="1"/>
          </p:cNvSpPr>
          <p:nvPr>
            <p:ph type="title"/>
          </p:nvPr>
        </p:nvSpPr>
        <p:spPr/>
        <p:txBody>
          <a:bodyPr/>
          <a:lstStyle/>
          <a:p>
            <a:r>
              <a:rPr lang="en-US" altLang="ja-JP" dirty="0">
                <a:solidFill>
                  <a:schemeClr val="tx1">
                    <a:lumMod val="65000"/>
                    <a:lumOff val="35000"/>
                  </a:schemeClr>
                </a:solidFill>
              </a:rPr>
              <a:t>n8n</a:t>
            </a:r>
            <a:r>
              <a:rPr lang="ja-JP" altLang="en-US" dirty="0">
                <a:solidFill>
                  <a:schemeClr val="tx1">
                    <a:lumMod val="65000"/>
                    <a:lumOff val="35000"/>
                  </a:schemeClr>
                </a:solidFill>
              </a:rPr>
              <a:t>の</a:t>
            </a:r>
            <a:r>
              <a:rPr lang="en-US" altLang="ja-JP" dirty="0">
                <a:solidFill>
                  <a:schemeClr val="tx1">
                    <a:lumMod val="65000"/>
                    <a:lumOff val="35000"/>
                  </a:schemeClr>
                </a:solidFill>
              </a:rPr>
              <a:t>BPS</a:t>
            </a:r>
            <a:r>
              <a:rPr lang="ja-JP" altLang="en-US" dirty="0">
                <a:solidFill>
                  <a:schemeClr val="tx1">
                    <a:lumMod val="65000"/>
                    <a:lumOff val="35000"/>
                  </a:schemeClr>
                </a:solidFill>
              </a:rPr>
              <a:t>導入状況について（２</a:t>
            </a:r>
            <a:r>
              <a:rPr lang="en-US" altLang="ja-JP" dirty="0">
                <a:solidFill>
                  <a:schemeClr val="tx1">
                    <a:lumMod val="65000"/>
                    <a:lumOff val="35000"/>
                  </a:schemeClr>
                </a:solidFill>
              </a:rPr>
              <a:t>/</a:t>
            </a:r>
            <a:r>
              <a:rPr lang="ja-JP" altLang="en-US" dirty="0">
                <a:solidFill>
                  <a:schemeClr val="tx1">
                    <a:lumMod val="65000"/>
                    <a:lumOff val="35000"/>
                  </a:schemeClr>
                </a:solidFill>
              </a:rPr>
              <a:t>２）</a:t>
            </a:r>
            <a:endParaRPr kumimoji="1" lang="ja-JP" altLang="en-US" dirty="0"/>
          </a:p>
        </p:txBody>
      </p:sp>
      <p:sp>
        <p:nvSpPr>
          <p:cNvPr id="4" name="スライド番号プレースホルダー 3">
            <a:extLst>
              <a:ext uri="{FF2B5EF4-FFF2-40B4-BE49-F238E27FC236}">
                <a16:creationId xmlns:a16="http://schemas.microsoft.com/office/drawing/2014/main" id="{B336443A-220B-8319-0315-2821B0930320}"/>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3</a:t>
            </a:fld>
            <a:endParaRPr lang="en-US" altLang="ja-JP"/>
          </a:p>
        </p:txBody>
      </p:sp>
      <p:sp>
        <p:nvSpPr>
          <p:cNvPr id="2" name="コンテンツ プレースホルダー 5">
            <a:extLst>
              <a:ext uri="{FF2B5EF4-FFF2-40B4-BE49-F238E27FC236}">
                <a16:creationId xmlns:a16="http://schemas.microsoft.com/office/drawing/2014/main" id="{FC08B6A9-BDF4-1121-E958-4F28E5C3C4FF}"/>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BPS</a:t>
            </a:r>
            <a:r>
              <a:rPr lang="ja-JP" altLang="en-US" sz="1600" kern="0" dirty="0"/>
              <a:t>の</a:t>
            </a:r>
            <a:r>
              <a:rPr lang="en-US" altLang="ja-JP" sz="1600" kern="0" dirty="0"/>
              <a:t>Concur</a:t>
            </a:r>
            <a:r>
              <a:rPr lang="ja-JP" altLang="en-US" sz="1600" kern="0" dirty="0"/>
              <a:t>登録において、</a:t>
            </a:r>
            <a:r>
              <a:rPr lang="en-US" altLang="ja-JP" sz="1600" kern="0" dirty="0"/>
              <a:t>n8n</a:t>
            </a:r>
            <a:r>
              <a:rPr lang="ja-JP" altLang="en-US" sz="1600" kern="0" dirty="0"/>
              <a:t>を導入し</a:t>
            </a:r>
            <a:r>
              <a:rPr lang="en-US" altLang="ja-JP" sz="1600" kern="0" dirty="0"/>
              <a:t>20</a:t>
            </a:r>
            <a:r>
              <a:rPr lang="ja-JP" altLang="en-US" sz="1600" kern="0" dirty="0"/>
              <a:t>件の請求処理約</a:t>
            </a:r>
            <a:r>
              <a:rPr lang="en-US" altLang="ja-JP" sz="1600" kern="0" dirty="0"/>
              <a:t>40</a:t>
            </a:r>
            <a:r>
              <a:rPr lang="ja-JP" altLang="en-US" sz="1600" kern="0" dirty="0"/>
              <a:t>～</a:t>
            </a:r>
            <a:r>
              <a:rPr lang="en-US" altLang="ja-JP" sz="1600" kern="0" dirty="0"/>
              <a:t>50</a:t>
            </a:r>
            <a:r>
              <a:rPr lang="ja-JP" altLang="en-US" sz="1600" kern="0" dirty="0"/>
              <a:t>分が</a:t>
            </a:r>
            <a:r>
              <a:rPr lang="en-US" altLang="ja-JP" sz="1600" kern="0" dirty="0"/>
              <a:t>500</a:t>
            </a:r>
            <a:r>
              <a:rPr lang="ja-JP" altLang="en-US" sz="1600" kern="0" dirty="0"/>
              <a:t>件で</a:t>
            </a:r>
            <a:r>
              <a:rPr lang="en-US" altLang="ja-JP" sz="1600" b="1" kern="0" dirty="0"/>
              <a:t>3</a:t>
            </a:r>
            <a:r>
              <a:rPr lang="ja-JP" altLang="en-US" sz="1600" b="1" kern="0" dirty="0"/>
              <a:t>分（完全自動化）</a:t>
            </a:r>
            <a:r>
              <a:rPr lang="ja-JP" altLang="en-US" sz="1600" kern="0" dirty="0"/>
              <a:t>にできた。</a:t>
            </a:r>
            <a:endParaRPr lang="en-US" altLang="ja-JP" sz="1600" kern="0" dirty="0"/>
          </a:p>
        </p:txBody>
      </p:sp>
      <p:grpSp>
        <p:nvGrpSpPr>
          <p:cNvPr id="121" name="グループ化 120">
            <a:extLst>
              <a:ext uri="{FF2B5EF4-FFF2-40B4-BE49-F238E27FC236}">
                <a16:creationId xmlns:a16="http://schemas.microsoft.com/office/drawing/2014/main" id="{540B9FCF-5A91-233B-CE1A-573203499379}"/>
              </a:ext>
            </a:extLst>
          </p:cNvPr>
          <p:cNvGrpSpPr/>
          <p:nvPr/>
        </p:nvGrpSpPr>
        <p:grpSpPr>
          <a:xfrm>
            <a:off x="288783" y="1965067"/>
            <a:ext cx="11596329" cy="3923589"/>
            <a:chOff x="288783" y="1965067"/>
            <a:chExt cx="11596329" cy="3923589"/>
          </a:xfrm>
        </p:grpSpPr>
        <p:sp>
          <p:nvSpPr>
            <p:cNvPr id="57" name="テキスト ボックス 56">
              <a:extLst>
                <a:ext uri="{FF2B5EF4-FFF2-40B4-BE49-F238E27FC236}">
                  <a16:creationId xmlns:a16="http://schemas.microsoft.com/office/drawing/2014/main" id="{4E3B2837-10F2-823A-B693-F923849FA9D8}"/>
                </a:ext>
              </a:extLst>
            </p:cNvPr>
            <p:cNvSpPr txBox="1"/>
            <p:nvPr/>
          </p:nvSpPr>
          <p:spPr bwMode="auto">
            <a:xfrm>
              <a:off x="868795" y="1965067"/>
              <a:ext cx="4336384" cy="307777"/>
            </a:xfrm>
            <a:prstGeom prst="rect">
              <a:avLst/>
            </a:prstGeom>
            <a:noFill/>
            <a:ln w="9525">
              <a:noFill/>
              <a:miter lim="800000"/>
              <a:headEnd/>
              <a:tailEnd/>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スプレッドシート（請求情報の登録元）</a:t>
              </a:r>
            </a:p>
          </p:txBody>
        </p:sp>
        <p:cxnSp>
          <p:nvCxnSpPr>
            <p:cNvPr id="58" name="直線コネクタ 57">
              <a:extLst>
                <a:ext uri="{FF2B5EF4-FFF2-40B4-BE49-F238E27FC236}">
                  <a16:creationId xmlns:a16="http://schemas.microsoft.com/office/drawing/2014/main" id="{43DBE1CD-6E83-CEB3-9898-7FBCF0C3C3E3}"/>
                </a:ext>
              </a:extLst>
            </p:cNvPr>
            <p:cNvCxnSpPr>
              <a:cxnSpLocks/>
            </p:cNvCxnSpPr>
            <p:nvPr/>
          </p:nvCxnSpPr>
          <p:spPr>
            <a:xfrm>
              <a:off x="868795" y="2272844"/>
              <a:ext cx="4336384" cy="0"/>
            </a:xfrm>
            <a:prstGeom prst="line">
              <a:avLst/>
            </a:prstGeom>
            <a:noFill/>
            <a:ln w="6350" cap="flat" cmpd="sng" algn="ctr">
              <a:solidFill>
                <a:sysClr val="windowText" lastClr="000000"/>
              </a:solidFill>
              <a:prstDash val="solid"/>
              <a:miter lim="800000"/>
            </a:ln>
            <a:effectLst/>
          </p:spPr>
        </p:cxnSp>
        <p:pic>
          <p:nvPicPr>
            <p:cNvPr id="37" name="図 36">
              <a:extLst>
                <a:ext uri="{FF2B5EF4-FFF2-40B4-BE49-F238E27FC236}">
                  <a16:creationId xmlns:a16="http://schemas.microsoft.com/office/drawing/2014/main" id="{CF99E27F-B540-28CB-19EF-0BA66FC271B5}"/>
                </a:ext>
              </a:extLst>
            </p:cNvPr>
            <p:cNvPicPr>
              <a:picLocks noChangeAspect="1"/>
            </p:cNvPicPr>
            <p:nvPr/>
          </p:nvPicPr>
          <p:blipFill>
            <a:blip r:embed="rId3"/>
            <a:stretch>
              <a:fillRect/>
            </a:stretch>
          </p:blipFill>
          <p:spPr>
            <a:xfrm>
              <a:off x="868796" y="4364056"/>
              <a:ext cx="4336384" cy="1041099"/>
            </a:xfrm>
            <a:prstGeom prst="rect">
              <a:avLst/>
            </a:prstGeom>
            <a:solidFill>
              <a:sysClr val="window" lastClr="FFFFFF"/>
            </a:solidFill>
            <a:ln w="6350">
              <a:solidFill>
                <a:sysClr val="window" lastClr="FFFFFF">
                  <a:lumMod val="50000"/>
                </a:sysClr>
              </a:solidFill>
            </a:ln>
          </p:spPr>
        </p:pic>
        <p:pic>
          <p:nvPicPr>
            <p:cNvPr id="42" name="図 41">
              <a:extLst>
                <a:ext uri="{FF2B5EF4-FFF2-40B4-BE49-F238E27FC236}">
                  <a16:creationId xmlns:a16="http://schemas.microsoft.com/office/drawing/2014/main" id="{37BB3941-361C-11E4-92FD-4D648542ABFA}"/>
                </a:ext>
              </a:extLst>
            </p:cNvPr>
            <p:cNvPicPr>
              <a:picLocks noChangeAspect="1"/>
            </p:cNvPicPr>
            <p:nvPr/>
          </p:nvPicPr>
          <p:blipFill>
            <a:blip r:embed="rId4"/>
            <a:stretch>
              <a:fillRect/>
            </a:stretch>
          </p:blipFill>
          <p:spPr>
            <a:xfrm>
              <a:off x="6218443" y="4245382"/>
              <a:ext cx="5542302" cy="1275538"/>
            </a:xfrm>
            <a:prstGeom prst="rect">
              <a:avLst/>
            </a:prstGeom>
            <a:solidFill>
              <a:sysClr val="window" lastClr="FFFFFF"/>
            </a:solidFill>
            <a:ln w="6350">
              <a:solidFill>
                <a:sysClr val="window" lastClr="FFFFFF">
                  <a:lumMod val="50000"/>
                </a:sysClr>
              </a:solidFill>
            </a:ln>
          </p:spPr>
        </p:pic>
        <p:sp>
          <p:nvSpPr>
            <p:cNvPr id="55" name="テキスト ボックス 54">
              <a:extLst>
                <a:ext uri="{FF2B5EF4-FFF2-40B4-BE49-F238E27FC236}">
                  <a16:creationId xmlns:a16="http://schemas.microsoft.com/office/drawing/2014/main" id="{B8AF6990-B644-ACEF-A218-4986A5D66AA7}"/>
                </a:ext>
              </a:extLst>
            </p:cNvPr>
            <p:cNvSpPr txBox="1"/>
            <p:nvPr/>
          </p:nvSpPr>
          <p:spPr bwMode="auto">
            <a:xfrm>
              <a:off x="6218441" y="1965067"/>
              <a:ext cx="5666671" cy="307777"/>
            </a:xfrm>
            <a:prstGeom prst="rect">
              <a:avLst/>
            </a:prstGeom>
            <a:noFill/>
            <a:ln w="9525">
              <a:noFill/>
              <a:miter lim="800000"/>
              <a:headEnd/>
              <a:tailEnd/>
            </a:ln>
          </p:spPr>
          <p:txBody>
            <a:bodyPr wrap="square"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kern="0" dirty="0">
                  <a:solidFill>
                    <a:srgbClr val="0065BD"/>
                  </a:solidFill>
                  <a:latin typeface="Meiryo UI" panose="020B0604030504040204" pitchFamily="50" charset="-128"/>
                  <a:ea typeface="Meiryo UI" panose="020B0604030504040204" pitchFamily="50" charset="-128"/>
                </a:rPr>
                <a:t>Concur</a:t>
              </a:r>
              <a:r>
                <a:rPr kumimoji="0" lang="ja-JP" altLang="en-US" sz="1400" b="1" kern="0" dirty="0">
                  <a:solidFill>
                    <a:srgbClr val="0065BD"/>
                  </a:solidFill>
                  <a:latin typeface="Meiryo UI" panose="020B0604030504040204" pitchFamily="50" charset="-128"/>
                  <a:ea typeface="Meiryo UI" panose="020B0604030504040204" pitchFamily="50" charset="-128"/>
                </a:rPr>
                <a:t>登録処理</a:t>
              </a:r>
              <a:endParaRPr kumimoji="0" lang="en-US" altLang="ja-JP" sz="1400" b="1" i="0" u="none" strike="noStrike" kern="0" cap="none" spc="0" normalizeH="0" baseline="0" noProof="0" dirty="0">
                <a:ln>
                  <a:noFill/>
                </a:ln>
                <a:solidFill>
                  <a:srgbClr val="0065BD"/>
                </a:solidFill>
                <a:effectLst/>
                <a:uLnTx/>
                <a:uFillTx/>
                <a:latin typeface="Meiryo UI" panose="020B0604030504040204" pitchFamily="50" charset="-128"/>
                <a:ea typeface="Meiryo UI" panose="020B0604030504040204" pitchFamily="50" charset="-128"/>
              </a:endParaRPr>
            </a:p>
          </p:txBody>
        </p:sp>
        <p:cxnSp>
          <p:nvCxnSpPr>
            <p:cNvPr id="56" name="直線コネクタ 55">
              <a:extLst>
                <a:ext uri="{FF2B5EF4-FFF2-40B4-BE49-F238E27FC236}">
                  <a16:creationId xmlns:a16="http://schemas.microsoft.com/office/drawing/2014/main" id="{66A339D1-BE50-A43E-CFBE-B3FC7D54DA65}"/>
                </a:ext>
              </a:extLst>
            </p:cNvPr>
            <p:cNvCxnSpPr>
              <a:cxnSpLocks/>
            </p:cNvCxnSpPr>
            <p:nvPr/>
          </p:nvCxnSpPr>
          <p:spPr>
            <a:xfrm>
              <a:off x="6218441" y="2272844"/>
              <a:ext cx="5666671" cy="0"/>
            </a:xfrm>
            <a:prstGeom prst="line">
              <a:avLst/>
            </a:prstGeom>
            <a:noFill/>
            <a:ln w="6350" cap="flat" cmpd="sng" algn="ctr">
              <a:solidFill>
                <a:sysClr val="windowText" lastClr="000000"/>
              </a:solidFill>
              <a:prstDash val="solid"/>
              <a:miter lim="800000"/>
            </a:ln>
            <a:effectLst/>
          </p:spPr>
        </p:cxnSp>
        <p:cxnSp>
          <p:nvCxnSpPr>
            <p:cNvPr id="53" name="直線矢印コネクタ 52">
              <a:extLst>
                <a:ext uri="{FF2B5EF4-FFF2-40B4-BE49-F238E27FC236}">
                  <a16:creationId xmlns:a16="http://schemas.microsoft.com/office/drawing/2014/main" id="{C475F0F5-E137-8D7B-90A6-A8F0CF598908}"/>
                </a:ext>
              </a:extLst>
            </p:cNvPr>
            <p:cNvCxnSpPr>
              <a:cxnSpLocks/>
            </p:cNvCxnSpPr>
            <p:nvPr/>
          </p:nvCxnSpPr>
          <p:spPr>
            <a:xfrm>
              <a:off x="6218442" y="5674760"/>
              <a:ext cx="5542301" cy="0"/>
            </a:xfrm>
            <a:prstGeom prst="straightConnector1">
              <a:avLst/>
            </a:prstGeom>
            <a:noFill/>
            <a:ln w="6350" cap="flat" cmpd="sng" algn="ctr">
              <a:solidFill>
                <a:srgbClr val="4472C4"/>
              </a:solidFill>
              <a:prstDash val="solid"/>
              <a:miter lim="800000"/>
              <a:headEnd type="triangle"/>
              <a:tailEnd type="triangle"/>
            </a:ln>
            <a:effectLst/>
          </p:spPr>
        </p:cxnSp>
        <p:sp>
          <p:nvSpPr>
            <p:cNvPr id="54" name="正方形/長方形 53">
              <a:extLst>
                <a:ext uri="{FF2B5EF4-FFF2-40B4-BE49-F238E27FC236}">
                  <a16:creationId xmlns:a16="http://schemas.microsoft.com/office/drawing/2014/main" id="{DE05C9C0-909A-2E7A-9ACB-D73E623EFB81}"/>
                </a:ext>
              </a:extLst>
            </p:cNvPr>
            <p:cNvSpPr/>
            <p:nvPr/>
          </p:nvSpPr>
          <p:spPr>
            <a:xfrm>
              <a:off x="6218442" y="5679061"/>
              <a:ext cx="5542300" cy="209595"/>
            </a:xfrm>
            <a:prstGeom prst="rect">
              <a:avLst/>
            </a:prstGeom>
            <a:noFill/>
            <a:ln w="9525" cap="flat" cmpd="sng" algn="ctr">
              <a:noFill/>
              <a:prstDash val="solid"/>
            </a:ln>
            <a:effectLst/>
          </p:spPr>
          <p:txBody>
            <a:bodyPr vert="horz"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kern="0" dirty="0">
                  <a:solidFill>
                    <a:srgbClr val="0065BD"/>
                  </a:solidFill>
                  <a:latin typeface="Meiryo UI" panose="020B0604030504040204" pitchFamily="50" charset="-128"/>
                  <a:ea typeface="Meiryo UI" panose="020B0604030504040204" pitchFamily="50" charset="-128"/>
                  <a:cs typeface="Hiragino Kaku Gothic Pro W3" charset="-128"/>
                </a:rPr>
                <a:t>500</a:t>
              </a:r>
              <a:r>
                <a:rPr kumimoji="0" lang="ja-JP" altLang="en-US" sz="1400" b="1" kern="0" dirty="0">
                  <a:solidFill>
                    <a:srgbClr val="0065BD"/>
                  </a:solidFill>
                  <a:latin typeface="Meiryo UI" panose="020B0604030504040204" pitchFamily="50" charset="-128"/>
                  <a:ea typeface="Meiryo UI" panose="020B0604030504040204" pitchFamily="50" charset="-128"/>
                  <a:cs typeface="Hiragino Kaku Gothic Pro W3" charset="-128"/>
                </a:rPr>
                <a:t>件の請求処理で約</a:t>
              </a:r>
              <a:r>
                <a:rPr kumimoji="0" lang="en-US" altLang="ja-JP" sz="1400" b="1" kern="0" dirty="0">
                  <a:solidFill>
                    <a:srgbClr val="0065BD"/>
                  </a:solidFill>
                  <a:latin typeface="Meiryo UI" panose="020B0604030504040204" pitchFamily="50" charset="-128"/>
                  <a:ea typeface="Meiryo UI" panose="020B0604030504040204" pitchFamily="50" charset="-128"/>
                  <a:cs typeface="Hiragino Kaku Gothic Pro W3" charset="-128"/>
                </a:rPr>
                <a:t>3</a:t>
              </a:r>
              <a:r>
                <a:rPr kumimoji="0" lang="ja-JP" altLang="en-US" sz="1400" b="1" kern="0" dirty="0">
                  <a:solidFill>
                    <a:srgbClr val="0065BD"/>
                  </a:solidFill>
                  <a:latin typeface="Meiryo UI" panose="020B0604030504040204" pitchFamily="50" charset="-128"/>
                  <a:ea typeface="Meiryo UI" panose="020B0604030504040204" pitchFamily="50" charset="-128"/>
                  <a:cs typeface="Hiragino Kaku Gothic Pro W3" charset="-128"/>
                </a:rPr>
                <a:t>分（活文登録未実装かつ開発環境ですが）</a:t>
              </a:r>
              <a:endParaRPr kumimoji="0" lang="en-US" altLang="ja-JP" sz="1400" b="1" kern="0" dirty="0">
                <a:solidFill>
                  <a:srgbClr val="0065BD"/>
                </a:solidFill>
                <a:latin typeface="Meiryo UI" panose="020B0604030504040204" pitchFamily="50" charset="-128"/>
                <a:ea typeface="Meiryo UI" panose="020B0604030504040204" pitchFamily="50" charset="-128"/>
                <a:cs typeface="Hiragino Kaku Gothic Pro W3" charset="-128"/>
              </a:endParaRPr>
            </a:p>
          </p:txBody>
        </p:sp>
        <p:cxnSp>
          <p:nvCxnSpPr>
            <p:cNvPr id="47" name="直線矢印コネクタ 60">
              <a:extLst>
                <a:ext uri="{FF2B5EF4-FFF2-40B4-BE49-F238E27FC236}">
                  <a16:creationId xmlns:a16="http://schemas.microsoft.com/office/drawing/2014/main" id="{A832EF10-E8EB-352E-8F4F-27AF25E221B4}"/>
                </a:ext>
              </a:extLst>
            </p:cNvPr>
            <p:cNvCxnSpPr>
              <a:cxnSpLocks/>
              <a:stCxn id="42" idx="1"/>
              <a:endCxn id="73" idx="3"/>
            </p:cNvCxnSpPr>
            <p:nvPr/>
          </p:nvCxnSpPr>
          <p:spPr>
            <a:xfrm flipH="1">
              <a:off x="6054220" y="4883151"/>
              <a:ext cx="164223" cy="1454"/>
            </a:xfrm>
            <a:prstGeom prst="straightConnector1">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sp>
          <p:nvSpPr>
            <p:cNvPr id="61" name="正方形/長方形 60">
              <a:extLst>
                <a:ext uri="{FF2B5EF4-FFF2-40B4-BE49-F238E27FC236}">
                  <a16:creationId xmlns:a16="http://schemas.microsoft.com/office/drawing/2014/main" id="{2AB3318B-5545-54AF-228A-F34C15211289}"/>
                </a:ext>
              </a:extLst>
            </p:cNvPr>
            <p:cNvSpPr/>
            <p:nvPr/>
          </p:nvSpPr>
          <p:spPr>
            <a:xfrm>
              <a:off x="11299283" y="4479113"/>
              <a:ext cx="244624" cy="256669"/>
            </a:xfrm>
            <a:prstGeom prst="rect">
              <a:avLst/>
            </a:prstGeom>
            <a:noFill/>
            <a:ln w="15875" cap="flat" cmpd="sng" algn="ctr">
              <a:solidFill>
                <a:srgbClr val="0070C0"/>
              </a:solidFill>
              <a:prstDash val="solid"/>
              <a:miter lim="800000"/>
              <a:headEnd type="none"/>
              <a:tailEnd type="oval"/>
            </a:ln>
            <a:effectLst>
              <a:outerShdw blurRad="50800" dist="38100" dir="2700000" algn="tl" rotWithShape="0">
                <a:prstClr val="black">
                  <a:alpha val="40000"/>
                </a:prstClr>
              </a:outerShdw>
            </a:effectLst>
          </p:spPr>
          <p:txBody>
            <a:bodyPr lIns="36000" tIns="36000" rIns="36000" bIns="36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a:ln>
                  <a:noFill/>
                </a:ln>
                <a:solidFill>
                  <a:srgbClr val="0070C0"/>
                </a:solidFill>
                <a:effectLst/>
                <a:uLnTx/>
                <a:uFillTx/>
                <a:latin typeface="Meiryo UI" panose="020B0604030504040204" pitchFamily="50" charset="-128"/>
                <a:ea typeface="Meiryo UI" panose="020B0604030504040204" pitchFamily="50" charset="-128"/>
                <a:sym typeface="Arial"/>
              </a:endParaRPr>
            </a:p>
          </p:txBody>
        </p:sp>
        <p:cxnSp>
          <p:nvCxnSpPr>
            <p:cNvPr id="62" name="直線矢印コネクタ 60">
              <a:extLst>
                <a:ext uri="{FF2B5EF4-FFF2-40B4-BE49-F238E27FC236}">
                  <a16:creationId xmlns:a16="http://schemas.microsoft.com/office/drawing/2014/main" id="{FCF89665-F019-B96A-A14E-E1AB6AB1A13F}"/>
                </a:ext>
              </a:extLst>
            </p:cNvPr>
            <p:cNvCxnSpPr>
              <a:cxnSpLocks/>
              <a:stCxn id="37" idx="0"/>
              <a:endCxn id="61" idx="3"/>
            </p:cNvCxnSpPr>
            <p:nvPr/>
          </p:nvCxnSpPr>
          <p:spPr>
            <a:xfrm rot="16200000" flipH="1">
              <a:off x="7168751" y="232293"/>
              <a:ext cx="243392" cy="8506919"/>
            </a:xfrm>
            <a:prstGeom prst="bentConnector4">
              <a:avLst>
                <a:gd name="adj1" fmla="val -93923"/>
                <a:gd name="adj2" fmla="val 103896"/>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pic>
          <p:nvPicPr>
            <p:cNvPr id="69" name="図 68">
              <a:extLst>
                <a:ext uri="{FF2B5EF4-FFF2-40B4-BE49-F238E27FC236}">
                  <a16:creationId xmlns:a16="http://schemas.microsoft.com/office/drawing/2014/main" id="{49CB9F3C-6B65-A31E-C99F-811DA5C82A58}"/>
                </a:ext>
              </a:extLst>
            </p:cNvPr>
            <p:cNvPicPr>
              <a:picLocks noChangeAspect="1"/>
            </p:cNvPicPr>
            <p:nvPr/>
          </p:nvPicPr>
          <p:blipFill>
            <a:blip r:embed="rId3"/>
            <a:stretch>
              <a:fillRect/>
            </a:stretch>
          </p:blipFill>
          <p:spPr>
            <a:xfrm>
              <a:off x="868795" y="2472907"/>
              <a:ext cx="4336384" cy="1041099"/>
            </a:xfrm>
            <a:prstGeom prst="rect">
              <a:avLst/>
            </a:prstGeom>
            <a:solidFill>
              <a:sysClr val="window" lastClr="FFFFFF"/>
            </a:solidFill>
            <a:ln w="6350">
              <a:solidFill>
                <a:sysClr val="window" lastClr="FFFFFF">
                  <a:lumMod val="50000"/>
                </a:sysClr>
              </a:solidFill>
            </a:ln>
          </p:spPr>
        </p:pic>
        <p:sp>
          <p:nvSpPr>
            <p:cNvPr id="70" name="正方形/長方形 69">
              <a:extLst>
                <a:ext uri="{FF2B5EF4-FFF2-40B4-BE49-F238E27FC236}">
                  <a16:creationId xmlns:a16="http://schemas.microsoft.com/office/drawing/2014/main" id="{78F5AB90-83DA-8F3E-E68D-912A6860615D}"/>
                </a:ext>
              </a:extLst>
            </p:cNvPr>
            <p:cNvSpPr/>
            <p:nvPr/>
          </p:nvSpPr>
          <p:spPr>
            <a:xfrm>
              <a:off x="288783" y="2472906"/>
              <a:ext cx="518693" cy="1041099"/>
            </a:xfrm>
            <a:prstGeom prst="rect">
              <a:avLst/>
            </a:prstGeom>
            <a:solidFill>
              <a:srgbClr val="0065BD"/>
            </a:solidFill>
            <a:ln w="6350" cap="flat" cmpd="sng" algn="ctr">
              <a:solidFill>
                <a:srgbClr val="4472C4">
                  <a:lumMod val="75000"/>
                </a:srgbClr>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ASIS</a:t>
              </a:r>
              <a:endParaRPr kumimoji="0" lang="ja-JP" altLang="en-US" sz="12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71" name="正方形/長方形 70">
              <a:extLst>
                <a:ext uri="{FF2B5EF4-FFF2-40B4-BE49-F238E27FC236}">
                  <a16:creationId xmlns:a16="http://schemas.microsoft.com/office/drawing/2014/main" id="{A93C4882-F1BD-533A-C66C-EADB1E0969C6}"/>
                </a:ext>
              </a:extLst>
            </p:cNvPr>
            <p:cNvSpPr/>
            <p:nvPr/>
          </p:nvSpPr>
          <p:spPr>
            <a:xfrm>
              <a:off x="288783" y="4353931"/>
              <a:ext cx="518693" cy="1051224"/>
            </a:xfrm>
            <a:prstGeom prst="rect">
              <a:avLst/>
            </a:prstGeom>
            <a:solidFill>
              <a:srgbClr val="0065BD"/>
            </a:solidFill>
            <a:ln w="6350" cap="flat" cmpd="sng" algn="ctr">
              <a:solidFill>
                <a:srgbClr val="4472C4">
                  <a:lumMod val="75000"/>
                </a:srgbClr>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TOBE</a:t>
              </a:r>
              <a:endParaRPr kumimoji="0" lang="ja-JP" altLang="en-US" sz="12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72" name="正方形/長方形 71">
              <a:extLst>
                <a:ext uri="{FF2B5EF4-FFF2-40B4-BE49-F238E27FC236}">
                  <a16:creationId xmlns:a16="http://schemas.microsoft.com/office/drawing/2014/main" id="{645AF808-02A6-A778-FCDD-F4DBFA26AC87}"/>
                </a:ext>
              </a:extLst>
            </p:cNvPr>
            <p:cNvSpPr/>
            <p:nvPr/>
          </p:nvSpPr>
          <p:spPr>
            <a:xfrm>
              <a:off x="5369402" y="2780986"/>
              <a:ext cx="684818" cy="42494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bg2">
                      <a:lumMod val="50000"/>
                    </a:schemeClr>
                  </a:solidFill>
                  <a:latin typeface="Meiryo UI" panose="020B0604030504040204" pitchFamily="50" charset="-128"/>
                  <a:ea typeface="Meiryo UI" panose="020B0604030504040204" pitchFamily="50" charset="-128"/>
                </a:rPr>
                <a:t>GAS</a:t>
              </a:r>
              <a:endParaRPr lang="ja-JP" altLang="en-US" sz="1050" dirty="0">
                <a:solidFill>
                  <a:schemeClr val="bg2">
                    <a:lumMod val="50000"/>
                  </a:schemeClr>
                </a:solidFill>
                <a:latin typeface="Meiryo UI" panose="020B0604030504040204" pitchFamily="50" charset="-128"/>
                <a:ea typeface="Meiryo UI" panose="020B0604030504040204" pitchFamily="50" charset="-128"/>
              </a:endParaRPr>
            </a:p>
          </p:txBody>
        </p:sp>
        <p:sp>
          <p:nvSpPr>
            <p:cNvPr id="73" name="正方形/長方形 72">
              <a:extLst>
                <a:ext uri="{FF2B5EF4-FFF2-40B4-BE49-F238E27FC236}">
                  <a16:creationId xmlns:a16="http://schemas.microsoft.com/office/drawing/2014/main" id="{376B6233-A002-3A9A-E5FA-DA50F6BC38CA}"/>
                </a:ext>
              </a:extLst>
            </p:cNvPr>
            <p:cNvSpPr/>
            <p:nvPr/>
          </p:nvSpPr>
          <p:spPr>
            <a:xfrm>
              <a:off x="5369402" y="4672135"/>
              <a:ext cx="684818" cy="42494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bg2">
                      <a:lumMod val="50000"/>
                    </a:schemeClr>
                  </a:solidFill>
                  <a:latin typeface="Meiryo UI" panose="020B0604030504040204" pitchFamily="50" charset="-128"/>
                  <a:ea typeface="Meiryo UI" panose="020B0604030504040204" pitchFamily="50" charset="-128"/>
                </a:rPr>
                <a:t>GAS</a:t>
              </a:r>
              <a:endParaRPr lang="ja-JP" altLang="en-US" sz="1050" dirty="0">
                <a:solidFill>
                  <a:schemeClr val="bg2">
                    <a:lumMod val="50000"/>
                  </a:schemeClr>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99406606-0430-F434-958A-07EA9FDECE36}"/>
                </a:ext>
              </a:extLst>
            </p:cNvPr>
            <p:cNvSpPr/>
            <p:nvPr/>
          </p:nvSpPr>
          <p:spPr>
            <a:xfrm>
              <a:off x="6218443" y="2780986"/>
              <a:ext cx="1278127" cy="42494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bg2">
                      <a:lumMod val="50000"/>
                    </a:schemeClr>
                  </a:solidFill>
                  <a:latin typeface="Meiryo UI" panose="020B0604030504040204" pitchFamily="50" charset="-128"/>
                  <a:ea typeface="Meiryo UI" panose="020B0604030504040204" pitchFamily="50" charset="-128"/>
                </a:rPr>
                <a:t>RPA</a:t>
              </a:r>
              <a:r>
                <a:rPr lang="ja-JP" altLang="en-US" sz="1050" dirty="0">
                  <a:solidFill>
                    <a:schemeClr val="bg2">
                      <a:lumMod val="50000"/>
                    </a:schemeClr>
                  </a:solidFill>
                  <a:latin typeface="Meiryo UI" panose="020B0604030504040204" pitchFamily="50" charset="-128"/>
                  <a:ea typeface="Meiryo UI" panose="020B0604030504040204" pitchFamily="50" charset="-128"/>
                </a:rPr>
                <a:t>登録専用</a:t>
              </a:r>
              <a:r>
                <a:rPr lang="en-US" altLang="ja-JP" sz="1050" dirty="0" err="1">
                  <a:solidFill>
                    <a:schemeClr val="bg2">
                      <a:lumMod val="50000"/>
                    </a:schemeClr>
                  </a:solidFill>
                  <a:latin typeface="Meiryo UI" panose="020B0604030504040204" pitchFamily="50" charset="-128"/>
                  <a:ea typeface="Meiryo UI" panose="020B0604030504040204" pitchFamily="50" charset="-128"/>
                </a:rPr>
                <a:t>ExcelVBA</a:t>
              </a:r>
              <a:r>
                <a:rPr lang="ja-JP" altLang="en-US" sz="1050" dirty="0">
                  <a:solidFill>
                    <a:schemeClr val="bg2">
                      <a:lumMod val="50000"/>
                    </a:schemeClr>
                  </a:solidFill>
                  <a:latin typeface="Meiryo UI" panose="020B0604030504040204" pitchFamily="50" charset="-128"/>
                  <a:ea typeface="Meiryo UI" panose="020B0604030504040204" pitchFamily="50" charset="-128"/>
                </a:rPr>
                <a:t>①準備</a:t>
              </a:r>
            </a:p>
          </p:txBody>
        </p:sp>
        <p:cxnSp>
          <p:nvCxnSpPr>
            <p:cNvPr id="75" name="直線矢印コネクタ 60">
              <a:extLst>
                <a:ext uri="{FF2B5EF4-FFF2-40B4-BE49-F238E27FC236}">
                  <a16:creationId xmlns:a16="http://schemas.microsoft.com/office/drawing/2014/main" id="{E7A97404-720D-EB19-2C7F-667BA1988463}"/>
                </a:ext>
              </a:extLst>
            </p:cNvPr>
            <p:cNvCxnSpPr>
              <a:cxnSpLocks/>
              <a:stCxn id="73" idx="1"/>
              <a:endCxn id="37" idx="3"/>
            </p:cNvCxnSpPr>
            <p:nvPr/>
          </p:nvCxnSpPr>
          <p:spPr>
            <a:xfrm flipH="1">
              <a:off x="5205180" y="4884605"/>
              <a:ext cx="164222" cy="1"/>
            </a:xfrm>
            <a:prstGeom prst="straightConnector1">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cxnSp>
          <p:nvCxnSpPr>
            <p:cNvPr id="78" name="直線矢印コネクタ 60">
              <a:extLst>
                <a:ext uri="{FF2B5EF4-FFF2-40B4-BE49-F238E27FC236}">
                  <a16:creationId xmlns:a16="http://schemas.microsoft.com/office/drawing/2014/main" id="{987DFB20-6CDE-66B1-4EE5-295032E77F82}"/>
                </a:ext>
              </a:extLst>
            </p:cNvPr>
            <p:cNvCxnSpPr>
              <a:cxnSpLocks/>
              <a:stCxn id="72" idx="1"/>
              <a:endCxn id="69" idx="3"/>
            </p:cNvCxnSpPr>
            <p:nvPr/>
          </p:nvCxnSpPr>
          <p:spPr>
            <a:xfrm flipH="1">
              <a:off x="5205179" y="2993456"/>
              <a:ext cx="164223" cy="1"/>
            </a:xfrm>
            <a:prstGeom prst="straightConnector1">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cxnSp>
          <p:nvCxnSpPr>
            <p:cNvPr id="81" name="直線矢印コネクタ 60">
              <a:extLst>
                <a:ext uri="{FF2B5EF4-FFF2-40B4-BE49-F238E27FC236}">
                  <a16:creationId xmlns:a16="http://schemas.microsoft.com/office/drawing/2014/main" id="{AB112BAD-B29E-5074-9017-6F4750EC6DDF}"/>
                </a:ext>
              </a:extLst>
            </p:cNvPr>
            <p:cNvCxnSpPr>
              <a:cxnSpLocks/>
              <a:stCxn id="74" idx="1"/>
              <a:endCxn id="72" idx="3"/>
            </p:cNvCxnSpPr>
            <p:nvPr/>
          </p:nvCxnSpPr>
          <p:spPr>
            <a:xfrm flipH="1">
              <a:off x="6054220" y="2993456"/>
              <a:ext cx="164223" cy="0"/>
            </a:xfrm>
            <a:prstGeom prst="straightConnector1">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sp>
          <p:nvSpPr>
            <p:cNvPr id="84" name="正方形/長方形 83">
              <a:extLst>
                <a:ext uri="{FF2B5EF4-FFF2-40B4-BE49-F238E27FC236}">
                  <a16:creationId xmlns:a16="http://schemas.microsoft.com/office/drawing/2014/main" id="{7BD1024C-BB69-3D74-FE39-B4EEE7D7CC09}"/>
                </a:ext>
              </a:extLst>
            </p:cNvPr>
            <p:cNvSpPr/>
            <p:nvPr/>
          </p:nvSpPr>
          <p:spPr>
            <a:xfrm>
              <a:off x="7639834" y="2780986"/>
              <a:ext cx="1278127" cy="42494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050" dirty="0" err="1">
                  <a:solidFill>
                    <a:schemeClr val="bg2">
                      <a:lumMod val="50000"/>
                    </a:schemeClr>
                  </a:solidFill>
                  <a:latin typeface="Meiryo UI" panose="020B0604030504040204" pitchFamily="50" charset="-128"/>
                  <a:ea typeface="Meiryo UI" panose="020B0604030504040204" pitchFamily="50" charset="-128"/>
                </a:rPr>
                <a:t>UIPath</a:t>
              </a:r>
              <a:r>
                <a:rPr lang="ja-JP" altLang="en-US" sz="1050" dirty="0">
                  <a:solidFill>
                    <a:schemeClr val="bg2">
                      <a:lumMod val="50000"/>
                    </a:schemeClr>
                  </a:solidFill>
                  <a:latin typeface="Meiryo UI" panose="020B0604030504040204" pitchFamily="50" charset="-128"/>
                  <a:ea typeface="Meiryo UI" panose="020B0604030504040204" pitchFamily="50" charset="-128"/>
                </a:rPr>
                <a:t>処理</a:t>
              </a:r>
              <a:r>
                <a:rPr lang="en-US" altLang="ja-JP" sz="1050" dirty="0">
                  <a:solidFill>
                    <a:schemeClr val="bg2">
                      <a:lumMod val="50000"/>
                    </a:schemeClr>
                  </a:solidFill>
                  <a:latin typeface="Meiryo UI" panose="020B0604030504040204" pitchFamily="50" charset="-128"/>
                  <a:ea typeface="Meiryo UI" panose="020B0604030504040204" pitchFamily="50" charset="-128"/>
                </a:rPr>
                <a:t>/</a:t>
              </a:r>
              <a:br>
                <a:rPr lang="en-US" altLang="ja-JP" sz="1050" dirty="0">
                  <a:solidFill>
                    <a:schemeClr val="bg2">
                      <a:lumMod val="50000"/>
                    </a:schemeClr>
                  </a:solidFill>
                  <a:latin typeface="Meiryo UI" panose="020B0604030504040204" pitchFamily="50" charset="-128"/>
                  <a:ea typeface="Meiryo UI" panose="020B0604030504040204" pitchFamily="50" charset="-128"/>
                </a:rPr>
              </a:br>
              <a:r>
                <a:rPr lang="en-US" altLang="ja-JP" sz="1050" dirty="0" err="1">
                  <a:solidFill>
                    <a:schemeClr val="bg2">
                      <a:lumMod val="50000"/>
                    </a:schemeClr>
                  </a:solidFill>
                  <a:latin typeface="Meiryo UI" panose="020B0604030504040204" pitchFamily="50" charset="-128"/>
                  <a:ea typeface="Meiryo UI" panose="020B0604030504040204" pitchFamily="50" charset="-128"/>
                </a:rPr>
                <a:t>ExcelVBA</a:t>
              </a:r>
              <a:r>
                <a:rPr lang="ja-JP" altLang="en-US" sz="1050" dirty="0">
                  <a:solidFill>
                    <a:schemeClr val="bg2">
                      <a:lumMod val="50000"/>
                    </a:schemeClr>
                  </a:solidFill>
                  <a:latin typeface="Meiryo UI" panose="020B0604030504040204" pitchFamily="50" charset="-128"/>
                  <a:ea typeface="Meiryo UI" panose="020B0604030504040204" pitchFamily="50" charset="-128"/>
                </a:rPr>
                <a:t>①実行</a:t>
              </a:r>
            </a:p>
          </p:txBody>
        </p:sp>
        <p:cxnSp>
          <p:nvCxnSpPr>
            <p:cNvPr id="85" name="直線矢印コネクタ 60">
              <a:extLst>
                <a:ext uri="{FF2B5EF4-FFF2-40B4-BE49-F238E27FC236}">
                  <a16:creationId xmlns:a16="http://schemas.microsoft.com/office/drawing/2014/main" id="{EDCB2C04-5E37-E6F0-01A5-FB961A6F3647}"/>
                </a:ext>
              </a:extLst>
            </p:cNvPr>
            <p:cNvCxnSpPr>
              <a:cxnSpLocks/>
              <a:stCxn id="84" idx="1"/>
              <a:endCxn id="74" idx="3"/>
            </p:cNvCxnSpPr>
            <p:nvPr/>
          </p:nvCxnSpPr>
          <p:spPr>
            <a:xfrm flipH="1">
              <a:off x="7496570" y="2993456"/>
              <a:ext cx="143264" cy="0"/>
            </a:xfrm>
            <a:prstGeom prst="straightConnector1">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sp>
          <p:nvSpPr>
            <p:cNvPr id="88" name="正方形/長方形 87">
              <a:extLst>
                <a:ext uri="{FF2B5EF4-FFF2-40B4-BE49-F238E27FC236}">
                  <a16:creationId xmlns:a16="http://schemas.microsoft.com/office/drawing/2014/main" id="{BE9B0695-71BD-129D-2BCE-124711BC2F2C}"/>
                </a:ext>
              </a:extLst>
            </p:cNvPr>
            <p:cNvSpPr/>
            <p:nvPr/>
          </p:nvSpPr>
          <p:spPr>
            <a:xfrm>
              <a:off x="9061226" y="2780986"/>
              <a:ext cx="1278127" cy="42494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050" dirty="0" err="1">
                  <a:solidFill>
                    <a:schemeClr val="bg2">
                      <a:lumMod val="50000"/>
                    </a:schemeClr>
                  </a:solidFill>
                  <a:latin typeface="Meiryo UI" panose="020B0604030504040204" pitchFamily="50" charset="-128"/>
                  <a:ea typeface="Meiryo UI" panose="020B0604030504040204" pitchFamily="50" charset="-128"/>
                </a:rPr>
                <a:t>UIPath</a:t>
              </a:r>
              <a:r>
                <a:rPr lang="ja-JP" altLang="en-US" sz="1050" dirty="0">
                  <a:solidFill>
                    <a:schemeClr val="bg2">
                      <a:lumMod val="50000"/>
                    </a:schemeClr>
                  </a:solidFill>
                  <a:latin typeface="Meiryo UI" panose="020B0604030504040204" pitchFamily="50" charset="-128"/>
                  <a:ea typeface="Meiryo UI" panose="020B0604030504040204" pitchFamily="50" charset="-128"/>
                </a:rPr>
                <a:t>結果確認</a:t>
              </a:r>
              <a:r>
                <a:rPr lang="en-US" altLang="ja-JP" sz="1050" dirty="0">
                  <a:solidFill>
                    <a:schemeClr val="bg2">
                      <a:lumMod val="50000"/>
                    </a:schemeClr>
                  </a:solidFill>
                  <a:latin typeface="Meiryo UI" panose="020B0604030504040204" pitchFamily="50" charset="-128"/>
                  <a:ea typeface="Meiryo UI" panose="020B0604030504040204" pitchFamily="50" charset="-128"/>
                </a:rPr>
                <a:t>/ </a:t>
              </a:r>
              <a:r>
                <a:rPr lang="en-US" altLang="ja-JP" sz="1050" dirty="0" err="1">
                  <a:solidFill>
                    <a:schemeClr val="bg2">
                      <a:lumMod val="50000"/>
                    </a:schemeClr>
                  </a:solidFill>
                  <a:latin typeface="Meiryo UI" panose="020B0604030504040204" pitchFamily="50" charset="-128"/>
                  <a:ea typeface="Meiryo UI" panose="020B0604030504040204" pitchFamily="50" charset="-128"/>
                </a:rPr>
                <a:t>ExcelVBA</a:t>
              </a:r>
              <a:r>
                <a:rPr lang="ja-JP" altLang="en-US" sz="1050" dirty="0">
                  <a:solidFill>
                    <a:schemeClr val="bg2">
                      <a:lumMod val="50000"/>
                    </a:schemeClr>
                  </a:solidFill>
                  <a:latin typeface="Meiryo UI" panose="020B0604030504040204" pitchFamily="50" charset="-128"/>
                  <a:ea typeface="Meiryo UI" panose="020B0604030504040204" pitchFamily="50" charset="-128"/>
                </a:rPr>
                <a:t>②処理</a:t>
              </a:r>
            </a:p>
          </p:txBody>
        </p:sp>
        <p:cxnSp>
          <p:nvCxnSpPr>
            <p:cNvPr id="89" name="直線矢印コネクタ 60">
              <a:extLst>
                <a:ext uri="{FF2B5EF4-FFF2-40B4-BE49-F238E27FC236}">
                  <a16:creationId xmlns:a16="http://schemas.microsoft.com/office/drawing/2014/main" id="{907ACFDA-AE6A-76C4-A687-798245E6BEA0}"/>
                </a:ext>
              </a:extLst>
            </p:cNvPr>
            <p:cNvCxnSpPr>
              <a:cxnSpLocks/>
              <a:stCxn id="88" idx="1"/>
              <a:endCxn id="84" idx="3"/>
            </p:cNvCxnSpPr>
            <p:nvPr/>
          </p:nvCxnSpPr>
          <p:spPr>
            <a:xfrm flipH="1">
              <a:off x="8917961" y="2993456"/>
              <a:ext cx="143265" cy="0"/>
            </a:xfrm>
            <a:prstGeom prst="straightConnector1">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sp>
          <p:nvSpPr>
            <p:cNvPr id="95" name="正方形/長方形 94">
              <a:extLst>
                <a:ext uri="{FF2B5EF4-FFF2-40B4-BE49-F238E27FC236}">
                  <a16:creationId xmlns:a16="http://schemas.microsoft.com/office/drawing/2014/main" id="{5897CF2F-AB45-6D22-8425-58EA7CCEC943}"/>
                </a:ext>
              </a:extLst>
            </p:cNvPr>
            <p:cNvSpPr/>
            <p:nvPr/>
          </p:nvSpPr>
          <p:spPr>
            <a:xfrm>
              <a:off x="10482618" y="2775206"/>
              <a:ext cx="1278127" cy="424940"/>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2">
                      <a:lumMod val="50000"/>
                    </a:schemeClr>
                  </a:solidFill>
                  <a:latin typeface="Meiryo UI" panose="020B0604030504040204" pitchFamily="50" charset="-128"/>
                  <a:ea typeface="Meiryo UI" panose="020B0604030504040204" pitchFamily="50" charset="-128"/>
                </a:rPr>
                <a:t>スプレッドシート</a:t>
              </a:r>
              <a:br>
                <a:rPr lang="en-US" altLang="ja-JP" sz="1050" dirty="0">
                  <a:solidFill>
                    <a:schemeClr val="bg2">
                      <a:lumMod val="50000"/>
                    </a:schemeClr>
                  </a:solidFill>
                  <a:latin typeface="Meiryo UI" panose="020B0604030504040204" pitchFamily="50" charset="-128"/>
                  <a:ea typeface="Meiryo UI" panose="020B0604030504040204" pitchFamily="50" charset="-128"/>
                </a:rPr>
              </a:br>
              <a:r>
                <a:rPr lang="ja-JP" altLang="en-US" sz="1050" dirty="0">
                  <a:solidFill>
                    <a:schemeClr val="bg2">
                      <a:lumMod val="50000"/>
                    </a:schemeClr>
                  </a:solidFill>
                  <a:latin typeface="Meiryo UI" panose="020B0604030504040204" pitchFamily="50" charset="-128"/>
                  <a:ea typeface="Meiryo UI" panose="020B0604030504040204" pitchFamily="50" charset="-128"/>
                </a:rPr>
                <a:t>手動更新</a:t>
              </a:r>
            </a:p>
          </p:txBody>
        </p:sp>
        <p:cxnSp>
          <p:nvCxnSpPr>
            <p:cNvPr id="96" name="直線矢印コネクタ 60">
              <a:extLst>
                <a:ext uri="{FF2B5EF4-FFF2-40B4-BE49-F238E27FC236}">
                  <a16:creationId xmlns:a16="http://schemas.microsoft.com/office/drawing/2014/main" id="{D4CDF5FD-FAD8-D678-416D-8D32D70641D2}"/>
                </a:ext>
              </a:extLst>
            </p:cNvPr>
            <p:cNvCxnSpPr>
              <a:cxnSpLocks/>
              <a:stCxn id="95" idx="1"/>
              <a:endCxn id="88" idx="3"/>
            </p:cNvCxnSpPr>
            <p:nvPr/>
          </p:nvCxnSpPr>
          <p:spPr>
            <a:xfrm flipH="1">
              <a:off x="10339353" y="2987676"/>
              <a:ext cx="143265" cy="5780"/>
            </a:xfrm>
            <a:prstGeom prst="straightConnector1">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cxnSp>
          <p:nvCxnSpPr>
            <p:cNvPr id="99" name="直線矢印コネクタ 60">
              <a:extLst>
                <a:ext uri="{FF2B5EF4-FFF2-40B4-BE49-F238E27FC236}">
                  <a16:creationId xmlns:a16="http://schemas.microsoft.com/office/drawing/2014/main" id="{DE88F1AE-8A91-53DB-C339-851A15F8B4A7}"/>
                </a:ext>
              </a:extLst>
            </p:cNvPr>
            <p:cNvCxnSpPr>
              <a:cxnSpLocks/>
              <a:stCxn id="69" idx="0"/>
              <a:endCxn id="95" idx="3"/>
            </p:cNvCxnSpPr>
            <p:nvPr/>
          </p:nvCxnSpPr>
          <p:spPr>
            <a:xfrm rot="16200000" flipH="1">
              <a:off x="7141481" y="-1631588"/>
              <a:ext cx="514769" cy="8723758"/>
            </a:xfrm>
            <a:prstGeom prst="bentConnector4">
              <a:avLst>
                <a:gd name="adj1" fmla="val -19785"/>
                <a:gd name="adj2" fmla="val 101375"/>
              </a:avLst>
            </a:prstGeom>
            <a:solidFill>
              <a:srgbClr val="FFFFCC"/>
            </a:solidFill>
            <a:ln w="15875" cap="flat" cmpd="sng" algn="ctr">
              <a:solidFill>
                <a:srgbClr val="0070C0"/>
              </a:solidFill>
              <a:prstDash val="solid"/>
              <a:miter lim="800000"/>
              <a:headEnd type="triangle"/>
              <a:tailEnd type="none"/>
            </a:ln>
            <a:effectLst>
              <a:outerShdw blurRad="50800" dist="38100" dir="2700000" algn="tl" rotWithShape="0">
                <a:prstClr val="black">
                  <a:alpha val="40000"/>
                </a:prstClr>
              </a:outerShdw>
            </a:effectLst>
          </p:spPr>
        </p:cxnSp>
        <p:cxnSp>
          <p:nvCxnSpPr>
            <p:cNvPr id="116" name="直線矢印コネクタ 115">
              <a:extLst>
                <a:ext uri="{FF2B5EF4-FFF2-40B4-BE49-F238E27FC236}">
                  <a16:creationId xmlns:a16="http://schemas.microsoft.com/office/drawing/2014/main" id="{92620565-9D42-9E23-294C-8DACE014755D}"/>
                </a:ext>
              </a:extLst>
            </p:cNvPr>
            <p:cNvCxnSpPr>
              <a:cxnSpLocks/>
            </p:cNvCxnSpPr>
            <p:nvPr/>
          </p:nvCxnSpPr>
          <p:spPr>
            <a:xfrm>
              <a:off x="6218442" y="3609162"/>
              <a:ext cx="5542301" cy="0"/>
            </a:xfrm>
            <a:prstGeom prst="straightConnector1">
              <a:avLst/>
            </a:prstGeom>
            <a:noFill/>
            <a:ln w="6350" cap="flat" cmpd="sng" algn="ctr">
              <a:solidFill>
                <a:srgbClr val="4472C4"/>
              </a:solidFill>
              <a:prstDash val="solid"/>
              <a:miter lim="800000"/>
              <a:headEnd type="triangle"/>
              <a:tailEnd type="triangle"/>
            </a:ln>
            <a:effectLst/>
          </p:spPr>
        </p:cxnSp>
        <p:sp>
          <p:nvSpPr>
            <p:cNvPr id="117" name="正方形/長方形 116">
              <a:extLst>
                <a:ext uri="{FF2B5EF4-FFF2-40B4-BE49-F238E27FC236}">
                  <a16:creationId xmlns:a16="http://schemas.microsoft.com/office/drawing/2014/main" id="{2CABA381-BF90-1330-A352-7C8AF9B357CE}"/>
                </a:ext>
              </a:extLst>
            </p:cNvPr>
            <p:cNvSpPr/>
            <p:nvPr/>
          </p:nvSpPr>
          <p:spPr>
            <a:xfrm>
              <a:off x="6218442" y="3613463"/>
              <a:ext cx="5542300" cy="209595"/>
            </a:xfrm>
            <a:prstGeom prst="rect">
              <a:avLst/>
            </a:prstGeom>
            <a:noFill/>
            <a:ln w="9525" cap="flat" cmpd="sng" algn="ctr">
              <a:noFill/>
              <a:prstDash val="solid"/>
            </a:ln>
            <a:effectLst/>
          </p:spPr>
          <p:txBody>
            <a:bodyPr vert="horz" lIns="36000" tIns="36000" rIns="36000" b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kern="0" dirty="0">
                  <a:solidFill>
                    <a:srgbClr val="0065BD"/>
                  </a:solidFill>
                  <a:latin typeface="Meiryo UI" panose="020B0604030504040204" pitchFamily="50" charset="-128"/>
                  <a:ea typeface="Meiryo UI" panose="020B0604030504040204" pitchFamily="50" charset="-128"/>
                  <a:cs typeface="Hiragino Kaku Gothic Pro W3" charset="-128"/>
                </a:rPr>
                <a:t>20</a:t>
              </a:r>
              <a:r>
                <a:rPr kumimoji="0" lang="ja-JP" altLang="en-US" sz="1400" b="1" kern="0" dirty="0">
                  <a:solidFill>
                    <a:srgbClr val="0065BD"/>
                  </a:solidFill>
                  <a:latin typeface="Meiryo UI" panose="020B0604030504040204" pitchFamily="50" charset="-128"/>
                  <a:ea typeface="Meiryo UI" panose="020B0604030504040204" pitchFamily="50" charset="-128"/>
                  <a:cs typeface="Hiragino Kaku Gothic Pro W3" charset="-128"/>
                </a:rPr>
                <a:t>件の請求処理で約</a:t>
              </a:r>
              <a:r>
                <a:rPr kumimoji="0" lang="en-US" altLang="ja-JP" sz="1400" b="1" kern="0" dirty="0">
                  <a:solidFill>
                    <a:srgbClr val="0065BD"/>
                  </a:solidFill>
                  <a:latin typeface="Meiryo UI" panose="020B0604030504040204" pitchFamily="50" charset="-128"/>
                  <a:ea typeface="Meiryo UI" panose="020B0604030504040204" pitchFamily="50" charset="-128"/>
                  <a:cs typeface="Hiragino Kaku Gothic Pro W3" charset="-128"/>
                </a:rPr>
                <a:t>40</a:t>
              </a:r>
              <a:r>
                <a:rPr kumimoji="0" lang="ja-JP" altLang="en-US" sz="1400" b="1" kern="0" dirty="0">
                  <a:solidFill>
                    <a:srgbClr val="0065BD"/>
                  </a:solidFill>
                  <a:latin typeface="Meiryo UI" panose="020B0604030504040204" pitchFamily="50" charset="-128"/>
                  <a:ea typeface="Meiryo UI" panose="020B0604030504040204" pitchFamily="50" charset="-128"/>
                  <a:cs typeface="Hiragino Kaku Gothic Pro W3" charset="-128"/>
                </a:rPr>
                <a:t>～</a:t>
              </a:r>
              <a:r>
                <a:rPr kumimoji="0" lang="en-US" altLang="ja-JP" sz="1400" b="1" kern="0" dirty="0">
                  <a:solidFill>
                    <a:srgbClr val="0065BD"/>
                  </a:solidFill>
                  <a:latin typeface="Meiryo UI" panose="020B0604030504040204" pitchFamily="50" charset="-128"/>
                  <a:ea typeface="Meiryo UI" panose="020B0604030504040204" pitchFamily="50" charset="-128"/>
                  <a:cs typeface="Hiragino Kaku Gothic Pro W3" charset="-128"/>
                </a:rPr>
                <a:t>50</a:t>
              </a:r>
              <a:r>
                <a:rPr kumimoji="0" lang="ja-JP" altLang="en-US" sz="1400" b="1" kern="0" dirty="0">
                  <a:solidFill>
                    <a:srgbClr val="0065BD"/>
                  </a:solidFill>
                  <a:latin typeface="Meiryo UI" panose="020B0604030504040204" pitchFamily="50" charset="-128"/>
                  <a:ea typeface="Meiryo UI" panose="020B0604030504040204" pitchFamily="50" charset="-128"/>
                  <a:cs typeface="Hiragino Kaku Gothic Pro W3" charset="-128"/>
                </a:rPr>
                <a:t>分</a:t>
              </a:r>
              <a:endParaRPr kumimoji="0" lang="en-US" altLang="ja-JP" sz="1400" b="1" kern="0" dirty="0">
                <a:solidFill>
                  <a:srgbClr val="0065BD"/>
                </a:solidFill>
                <a:latin typeface="Meiryo UI" panose="020B0604030504040204" pitchFamily="50" charset="-128"/>
                <a:ea typeface="Meiryo UI" panose="020B0604030504040204" pitchFamily="50" charset="-128"/>
                <a:cs typeface="Hiragino Kaku Gothic Pro W3" charset="-128"/>
              </a:endParaRPr>
            </a:p>
          </p:txBody>
        </p:sp>
        <p:sp>
          <p:nvSpPr>
            <p:cNvPr id="118" name="四角形: 角を丸くする 117">
              <a:extLst>
                <a:ext uri="{FF2B5EF4-FFF2-40B4-BE49-F238E27FC236}">
                  <a16:creationId xmlns:a16="http://schemas.microsoft.com/office/drawing/2014/main" id="{12823F54-2CAC-F12A-179F-9642313EE175}"/>
                </a:ext>
              </a:extLst>
            </p:cNvPr>
            <p:cNvSpPr/>
            <p:nvPr/>
          </p:nvSpPr>
          <p:spPr>
            <a:xfrm>
              <a:off x="8499454" y="3169833"/>
              <a:ext cx="490139" cy="184655"/>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119" name="四角形: 角を丸くする 118">
              <a:extLst>
                <a:ext uri="{FF2B5EF4-FFF2-40B4-BE49-F238E27FC236}">
                  <a16:creationId xmlns:a16="http://schemas.microsoft.com/office/drawing/2014/main" id="{6E34B472-CD59-F0E7-4819-C8BFAC64E916}"/>
                </a:ext>
              </a:extLst>
            </p:cNvPr>
            <p:cNvSpPr/>
            <p:nvPr/>
          </p:nvSpPr>
          <p:spPr>
            <a:xfrm>
              <a:off x="11367018" y="5427984"/>
              <a:ext cx="490139" cy="184655"/>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algn="ctr" fontAlgn="auto">
                <a:spcBef>
                  <a:spcPts val="0"/>
                </a:spcBef>
                <a:spcAft>
                  <a:spcPts val="0"/>
                </a:spcAft>
                <a:defRPr/>
              </a:pPr>
              <a:r>
                <a:rPr kumimoji="0" lang="en-US" altLang="ja-JP" sz="800" b="1" kern="0" dirty="0">
                  <a:solidFill>
                    <a:srgbClr val="0065BD"/>
                  </a:solidFill>
                  <a:latin typeface="Meiryo UI" panose="020B0604030504040204" pitchFamily="50" charset="-128"/>
                  <a:ea typeface="Meiryo UI" panose="020B0604030504040204" pitchFamily="50" charset="-128"/>
                </a:rPr>
                <a:t>n8n</a:t>
              </a:r>
              <a:endParaRPr kumimoji="0" lang="ja-JP" altLang="en-US" sz="800" b="1" kern="0" dirty="0">
                <a:solidFill>
                  <a:srgbClr val="0065BD"/>
                </a:solidFill>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3446265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7D9D5-8A8D-7D77-A142-5EA60A78A3DB}"/>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85A536A-6896-4B7F-3A3E-22D517C48502}"/>
              </a:ext>
            </a:extLst>
          </p:cNvPr>
          <p:cNvSpPr>
            <a:spLocks noGrp="1"/>
          </p:cNvSpPr>
          <p:nvPr>
            <p:ph type="title"/>
          </p:nvPr>
        </p:nvSpPr>
        <p:spPr/>
        <p:txBody>
          <a:bodyPr/>
          <a:lstStyle/>
          <a:p>
            <a:r>
              <a:rPr lang="ja-JP" altLang="en-US" dirty="0"/>
              <a:t>大規模な</a:t>
            </a:r>
            <a:r>
              <a:rPr lang="en-US" altLang="ja-JP" dirty="0"/>
              <a:t>AI</a:t>
            </a:r>
            <a:r>
              <a:rPr lang="ja-JP" altLang="en-US" dirty="0"/>
              <a:t>エージェントの展開における目指すべきエコシステムについて</a:t>
            </a:r>
            <a:endParaRPr kumimoji="1" lang="ja-JP" altLang="en-US" dirty="0"/>
          </a:p>
        </p:txBody>
      </p:sp>
      <p:sp>
        <p:nvSpPr>
          <p:cNvPr id="4" name="スライド番号プレースホルダー 3">
            <a:extLst>
              <a:ext uri="{FF2B5EF4-FFF2-40B4-BE49-F238E27FC236}">
                <a16:creationId xmlns:a16="http://schemas.microsoft.com/office/drawing/2014/main" id="{AB04C93E-F379-DA85-676A-08131646710F}"/>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4</a:t>
            </a:fld>
            <a:endParaRPr lang="en-US" altLang="ja-JP"/>
          </a:p>
        </p:txBody>
      </p:sp>
      <p:sp>
        <p:nvSpPr>
          <p:cNvPr id="2" name="コンテンツ プレースホルダー 5">
            <a:extLst>
              <a:ext uri="{FF2B5EF4-FFF2-40B4-BE49-F238E27FC236}">
                <a16:creationId xmlns:a16="http://schemas.microsoft.com/office/drawing/2014/main" id="{9C02FE0B-C589-F659-6E56-155CFF7181D2}"/>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業務を</a:t>
            </a:r>
            <a:r>
              <a:rPr lang="en-US" altLang="ja-JP" sz="1600" kern="0" dirty="0"/>
              <a:t>AI</a:t>
            </a:r>
            <a:r>
              <a:rPr lang="ja-JP" altLang="en-US" sz="1600" kern="0" dirty="0"/>
              <a:t>エージェントにて処理を行い、データが蓄積され、可視化や分析を行った後、更に業務を改善するといった流れのエコシステムを作る。</a:t>
            </a:r>
            <a:endParaRPr lang="en-US" altLang="ja-JP" sz="1600" kern="0" dirty="0"/>
          </a:p>
          <a:p>
            <a:pPr marL="285750" indent="-285750">
              <a:buFont typeface="Arial" panose="020B0604020202020204" pitchFamily="34" charset="0"/>
              <a:buChar char="•"/>
            </a:pPr>
            <a:r>
              <a:rPr lang="ja-JP" altLang="en-US" sz="1600" kern="0" dirty="0"/>
              <a:t>大規模なエコシステムを作ることで、スケーラビリティ、コスト効率、開発スピードなどを両立することができる。</a:t>
            </a:r>
            <a:endParaRPr lang="en-US" altLang="ja-JP" sz="1600" kern="0" dirty="0"/>
          </a:p>
        </p:txBody>
      </p:sp>
      <p:sp>
        <p:nvSpPr>
          <p:cNvPr id="65" name="四角形: 角を丸くする 64">
            <a:extLst>
              <a:ext uri="{FF2B5EF4-FFF2-40B4-BE49-F238E27FC236}">
                <a16:creationId xmlns:a16="http://schemas.microsoft.com/office/drawing/2014/main" id="{7E916E71-4BDE-178B-1C01-E3309D475860}"/>
              </a:ext>
            </a:extLst>
          </p:cNvPr>
          <p:cNvSpPr/>
          <p:nvPr/>
        </p:nvSpPr>
        <p:spPr>
          <a:xfrm>
            <a:off x="983972" y="1417846"/>
            <a:ext cx="5042456" cy="2439349"/>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ja-JP" altLang="en-US"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業務・運営領域</a:t>
            </a:r>
          </a:p>
        </p:txBody>
      </p:sp>
      <p:sp>
        <p:nvSpPr>
          <p:cNvPr id="66" name="四角形: 角を丸くする 65">
            <a:extLst>
              <a:ext uri="{FF2B5EF4-FFF2-40B4-BE49-F238E27FC236}">
                <a16:creationId xmlns:a16="http://schemas.microsoft.com/office/drawing/2014/main" id="{52697BCD-915B-AE2F-08FD-72D93FFFDC32}"/>
              </a:ext>
            </a:extLst>
          </p:cNvPr>
          <p:cNvSpPr/>
          <p:nvPr/>
        </p:nvSpPr>
        <p:spPr>
          <a:xfrm>
            <a:off x="6165572" y="1417845"/>
            <a:ext cx="5042456" cy="2439349"/>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en-US" altLang="ja-JP"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エージェント・アーキテクチャ領域</a:t>
            </a:r>
          </a:p>
        </p:txBody>
      </p:sp>
      <p:sp>
        <p:nvSpPr>
          <p:cNvPr id="67" name="四角形: 角を丸くする 66">
            <a:extLst>
              <a:ext uri="{FF2B5EF4-FFF2-40B4-BE49-F238E27FC236}">
                <a16:creationId xmlns:a16="http://schemas.microsoft.com/office/drawing/2014/main" id="{6A0F38CE-6570-D1F1-93CB-A022F765303F}"/>
              </a:ext>
            </a:extLst>
          </p:cNvPr>
          <p:cNvSpPr/>
          <p:nvPr/>
        </p:nvSpPr>
        <p:spPr>
          <a:xfrm>
            <a:off x="983972" y="3995882"/>
            <a:ext cx="5042456" cy="2439349"/>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ja-JP" altLang="en-US"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分析・改善領域</a:t>
            </a:r>
          </a:p>
        </p:txBody>
      </p:sp>
      <p:sp>
        <p:nvSpPr>
          <p:cNvPr id="69" name="四角形: 角を丸くする 68">
            <a:extLst>
              <a:ext uri="{FF2B5EF4-FFF2-40B4-BE49-F238E27FC236}">
                <a16:creationId xmlns:a16="http://schemas.microsoft.com/office/drawing/2014/main" id="{2621EF4A-CB29-F448-CDCF-49CACA0EFA5D}"/>
              </a:ext>
            </a:extLst>
          </p:cNvPr>
          <p:cNvSpPr/>
          <p:nvPr/>
        </p:nvSpPr>
        <p:spPr>
          <a:xfrm>
            <a:off x="6165572" y="3995882"/>
            <a:ext cx="5042456" cy="2439349"/>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ja-JP" altLang="en-US"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データ・アセット領域</a:t>
            </a:r>
          </a:p>
        </p:txBody>
      </p:sp>
      <p:sp>
        <p:nvSpPr>
          <p:cNvPr id="49" name="矢印: 環状 48">
            <a:extLst>
              <a:ext uri="{FF2B5EF4-FFF2-40B4-BE49-F238E27FC236}">
                <a16:creationId xmlns:a16="http://schemas.microsoft.com/office/drawing/2014/main" id="{C282409D-A0B6-D8B0-15BE-AC77AF7233E2}"/>
              </a:ext>
            </a:extLst>
          </p:cNvPr>
          <p:cNvSpPr/>
          <p:nvPr/>
        </p:nvSpPr>
        <p:spPr bwMode="auto">
          <a:xfrm rot="16200000">
            <a:off x="4661519" y="2517056"/>
            <a:ext cx="2868962" cy="2868962"/>
          </a:xfrm>
          <a:prstGeom prst="circularArrow">
            <a:avLst>
              <a:gd name="adj1" fmla="val 12020"/>
              <a:gd name="adj2" fmla="val 1142319"/>
              <a:gd name="adj3" fmla="val 20016622"/>
              <a:gd name="adj4" fmla="val 21161829"/>
              <a:gd name="adj5" fmla="val 12500"/>
            </a:avLst>
          </a:prstGeom>
          <a:solidFill>
            <a:srgbClr val="7F7F7F">
              <a:alpha val="20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grpSp>
        <p:nvGrpSpPr>
          <p:cNvPr id="48" name="グループ化 47">
            <a:extLst>
              <a:ext uri="{FF2B5EF4-FFF2-40B4-BE49-F238E27FC236}">
                <a16:creationId xmlns:a16="http://schemas.microsoft.com/office/drawing/2014/main" id="{36627641-AF03-B6AC-1D31-55A3D8EC0083}"/>
              </a:ext>
            </a:extLst>
          </p:cNvPr>
          <p:cNvGrpSpPr/>
          <p:nvPr/>
        </p:nvGrpSpPr>
        <p:grpSpPr>
          <a:xfrm>
            <a:off x="5569228" y="3244452"/>
            <a:ext cx="1054523" cy="1338773"/>
            <a:chOff x="5569228" y="3244452"/>
            <a:chExt cx="1054523" cy="1338773"/>
          </a:xfrm>
        </p:grpSpPr>
        <p:sp>
          <p:nvSpPr>
            <p:cNvPr id="74" name="弦 73">
              <a:extLst>
                <a:ext uri="{FF2B5EF4-FFF2-40B4-BE49-F238E27FC236}">
                  <a16:creationId xmlns:a16="http://schemas.microsoft.com/office/drawing/2014/main" id="{109A21BE-F835-BF7F-D065-29D4C59A3130}"/>
                </a:ext>
              </a:extLst>
            </p:cNvPr>
            <p:cNvSpPr/>
            <p:nvPr/>
          </p:nvSpPr>
          <p:spPr bwMode="auto">
            <a:xfrm>
              <a:off x="5569228" y="3244452"/>
              <a:ext cx="914400" cy="1338773"/>
            </a:xfrm>
            <a:prstGeom prst="chord">
              <a:avLst>
                <a:gd name="adj1" fmla="val 5413670"/>
                <a:gd name="adj2" fmla="val 16200000"/>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75" name="弦 74">
              <a:extLst>
                <a:ext uri="{FF2B5EF4-FFF2-40B4-BE49-F238E27FC236}">
                  <a16:creationId xmlns:a16="http://schemas.microsoft.com/office/drawing/2014/main" id="{EED1D7F6-F7BF-4727-7A67-BE69F4494F7F}"/>
                </a:ext>
              </a:extLst>
            </p:cNvPr>
            <p:cNvSpPr/>
            <p:nvPr/>
          </p:nvSpPr>
          <p:spPr bwMode="auto">
            <a:xfrm rot="10800000">
              <a:off x="5709351" y="3244452"/>
              <a:ext cx="914400" cy="1338773"/>
            </a:xfrm>
            <a:prstGeom prst="chord">
              <a:avLst>
                <a:gd name="adj1" fmla="val 5413670"/>
                <a:gd name="adj2" fmla="val 16200000"/>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32E4CDA5-E6B3-367F-5D8C-D4AFD26B4637}"/>
                </a:ext>
              </a:extLst>
            </p:cNvPr>
            <p:cNvSpPr/>
            <p:nvPr/>
          </p:nvSpPr>
          <p:spPr bwMode="auto">
            <a:xfrm>
              <a:off x="5661849" y="3517548"/>
              <a:ext cx="364337" cy="780990"/>
            </a:xfrm>
            <a:prstGeom prst="rect">
              <a:avLst/>
            </a:prstGeom>
          </p:spPr>
          <p:txBody>
            <a:bodyPr vert="eaVert" wrap="square" lIns="0" tIns="72000" rIns="0" bIns="72000" numCol="1" rtlCol="0" anchor="ctr" anchorCtr="0" compatLnSpc="1">
              <a:prstTxWarp prst="textNoShape">
                <a:avLst/>
              </a:prstTxWarp>
            </a:bodyPr>
            <a:lstStyle/>
            <a:p>
              <a:pPr algn="ctr"/>
              <a:r>
                <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人</a:t>
              </a:r>
              <a:endParaRPr lang="en-US" altLang="ja-JP"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AD199FA9-B8CF-0F91-808B-5986A23764D7}"/>
                </a:ext>
              </a:extLst>
            </p:cNvPr>
            <p:cNvSpPr/>
            <p:nvPr/>
          </p:nvSpPr>
          <p:spPr bwMode="auto">
            <a:xfrm>
              <a:off x="6168821" y="3517548"/>
              <a:ext cx="364337" cy="780990"/>
            </a:xfrm>
            <a:prstGeom prst="rect">
              <a:avLst/>
            </a:prstGeom>
          </p:spPr>
          <p:txBody>
            <a:bodyPr vert="eaVert" wrap="square" lIns="0" tIns="72000" rIns="0" bIns="72000" numCol="1" rtlCol="0" anchor="ctr" anchorCtr="0" compatLnSpc="1">
              <a:prstTxWarp prst="textNoShape">
                <a:avLst/>
              </a:prstTxWarp>
            </a:bodyPr>
            <a:lstStyle/>
            <a:p>
              <a:pPr algn="ctr"/>
              <a:r>
                <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システム</a:t>
              </a:r>
              <a:endParaRPr lang="en-US" altLang="ja-JP"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grpSp>
      <p:sp>
        <p:nvSpPr>
          <p:cNvPr id="5" name="テキスト ボックス 4">
            <a:extLst>
              <a:ext uri="{FF2B5EF4-FFF2-40B4-BE49-F238E27FC236}">
                <a16:creationId xmlns:a16="http://schemas.microsoft.com/office/drawing/2014/main" id="{D8A5CB4A-70DD-00E8-146E-47A43C5F34F9}"/>
              </a:ext>
            </a:extLst>
          </p:cNvPr>
          <p:cNvSpPr txBox="1"/>
          <p:nvPr/>
        </p:nvSpPr>
        <p:spPr bwMode="auto">
          <a:xfrm>
            <a:off x="1420198" y="1945023"/>
            <a:ext cx="4170005" cy="1384995"/>
          </a:xfrm>
          <a:prstGeom prst="rect">
            <a:avLst/>
          </a:prstGeom>
          <a:noFill/>
          <a:ln w="9525">
            <a:noFill/>
            <a:miter lim="800000"/>
            <a:headEnd/>
            <a:tailEnd/>
          </a:ln>
        </p:spPr>
        <p:txBody>
          <a:bodyPr wrap="square" rtlCol="0">
            <a:spAutoFit/>
          </a:bodyPr>
          <a:lstStyle/>
          <a:p>
            <a:pPr>
              <a:defRPr/>
            </a:pPr>
            <a:r>
              <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エージェント対象業務を増やしていく</a:t>
            </a:r>
            <a:endPar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BPS</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経理：</a:t>
            </a: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財務：標準プロセス関連の業務</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顧客管理：マスター登録・名寄せ関連の業務</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法務：ナレッジ検索関連の業務</a:t>
            </a:r>
            <a:b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
        <p:nvSpPr>
          <p:cNvPr id="51" name="テキスト ボックス 50">
            <a:extLst>
              <a:ext uri="{FF2B5EF4-FFF2-40B4-BE49-F238E27FC236}">
                <a16:creationId xmlns:a16="http://schemas.microsoft.com/office/drawing/2014/main" id="{3E8CC542-DE9D-FFCF-88A4-BBC53A682C2C}"/>
              </a:ext>
            </a:extLst>
          </p:cNvPr>
          <p:cNvSpPr txBox="1"/>
          <p:nvPr/>
        </p:nvSpPr>
        <p:spPr bwMode="auto">
          <a:xfrm>
            <a:off x="6601798" y="1945021"/>
            <a:ext cx="4170005" cy="1384995"/>
          </a:xfrm>
          <a:prstGeom prst="rect">
            <a:avLst/>
          </a:prstGeom>
          <a:noFill/>
          <a:ln w="9525">
            <a:noFill/>
            <a:miter lim="800000"/>
            <a:headEnd/>
            <a:tailEnd/>
          </a:ln>
        </p:spPr>
        <p:txBody>
          <a:bodyPr wrap="square" rtlCol="0">
            <a:spAutoFit/>
          </a:bodyPr>
          <a:lstStyle/>
          <a:p>
            <a:pPr>
              <a:defRPr/>
            </a:pPr>
            <a:r>
              <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n8n×Azure</a:t>
            </a: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サービスによる</a:t>
            </a:r>
            <a:r>
              <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エージェントを増やしていく</a:t>
            </a:r>
            <a:endPar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請求・支払業務エージェント</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領域の業務エージェント</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標準プロセス関連の業務エージェント</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マスター登録・名寄せ関連の業務エージェント</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ナレッジ検索関連の業務エージェント</a:t>
            </a:r>
            <a:b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pic>
        <p:nvPicPr>
          <p:cNvPr id="53" name="グラフィックス 52" descr="ワークフロー 枠線">
            <a:extLst>
              <a:ext uri="{FF2B5EF4-FFF2-40B4-BE49-F238E27FC236}">
                <a16:creationId xmlns:a16="http://schemas.microsoft.com/office/drawing/2014/main" id="{30FAF090-CF0F-7F35-2A70-34262B0267E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2611" y="1430544"/>
            <a:ext cx="579600" cy="579600"/>
          </a:xfrm>
          <a:prstGeom prst="rect">
            <a:avLst/>
          </a:prstGeom>
        </p:spPr>
      </p:pic>
      <p:pic>
        <p:nvPicPr>
          <p:cNvPr id="61" name="グラフィックス 60" descr="ロボット 枠線">
            <a:extLst>
              <a:ext uri="{FF2B5EF4-FFF2-40B4-BE49-F238E27FC236}">
                <a16:creationId xmlns:a16="http://schemas.microsoft.com/office/drawing/2014/main" id="{D528F837-B517-0F09-BA08-014FB11ED43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92800" y="1428977"/>
            <a:ext cx="579600" cy="579600"/>
          </a:xfrm>
          <a:prstGeom prst="rect">
            <a:avLst/>
          </a:prstGeom>
        </p:spPr>
      </p:pic>
      <p:pic>
        <p:nvPicPr>
          <p:cNvPr id="63" name="グラフィックス 62" descr="データベース 枠線">
            <a:extLst>
              <a:ext uri="{FF2B5EF4-FFF2-40B4-BE49-F238E27FC236}">
                <a16:creationId xmlns:a16="http://schemas.microsoft.com/office/drawing/2014/main" id="{88AB478C-981E-E08A-5F31-7DA8EC61823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92800" y="4004934"/>
            <a:ext cx="579600" cy="579600"/>
          </a:xfrm>
          <a:prstGeom prst="rect">
            <a:avLst/>
          </a:prstGeom>
        </p:spPr>
      </p:pic>
      <p:pic>
        <p:nvPicPr>
          <p:cNvPr id="71" name="グラフィックス 70" descr="棒グラフ (上昇) 枠線">
            <a:extLst>
              <a:ext uri="{FF2B5EF4-FFF2-40B4-BE49-F238E27FC236}">
                <a16:creationId xmlns:a16="http://schemas.microsoft.com/office/drawing/2014/main" id="{7257EC6E-811D-6F91-B4CF-C67C69C55C4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92611" y="4004934"/>
            <a:ext cx="579600" cy="579600"/>
          </a:xfrm>
          <a:prstGeom prst="rect">
            <a:avLst/>
          </a:prstGeom>
          <a:scene3d>
            <a:camera prst="orthographicFront">
              <a:rot lat="0" lon="10800000" rev="0"/>
            </a:camera>
            <a:lightRig rig="threePt" dir="t"/>
          </a:scene3d>
        </p:spPr>
      </p:pic>
      <p:sp>
        <p:nvSpPr>
          <p:cNvPr id="72" name="テキスト ボックス 71">
            <a:extLst>
              <a:ext uri="{FF2B5EF4-FFF2-40B4-BE49-F238E27FC236}">
                <a16:creationId xmlns:a16="http://schemas.microsoft.com/office/drawing/2014/main" id="{BE428031-D926-FA12-9BAD-5C42C1BE09E2}"/>
              </a:ext>
            </a:extLst>
          </p:cNvPr>
          <p:cNvSpPr txBox="1"/>
          <p:nvPr/>
        </p:nvSpPr>
        <p:spPr bwMode="auto">
          <a:xfrm>
            <a:off x="1420198" y="4523059"/>
            <a:ext cx="4170005" cy="1384995"/>
          </a:xfrm>
          <a:prstGeom prst="rect">
            <a:avLst/>
          </a:prstGeom>
          <a:noFill/>
          <a:ln w="9525">
            <a:noFill/>
            <a:miter lim="800000"/>
            <a:headEnd/>
            <a:tailEnd/>
          </a:ln>
        </p:spPr>
        <p:txBody>
          <a:bodyPr wrap="square" rtlCol="0">
            <a:spAutoFit/>
          </a:bodyPr>
          <a:lstStyle/>
          <a:p>
            <a:pPr>
              <a:defRPr/>
            </a:pP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データの可視化・分析に伴い業務改善を広げていく</a:t>
            </a:r>
            <a:endPar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請求・支払業務分析・改善</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領域の業務分析・改善</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標準プロセス関連の業務分析・改善</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マスター登録・名寄せ関連の業務分析・改善</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ナレッジ検索関連の業務分析・改善</a:t>
            </a:r>
            <a:b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
        <p:nvSpPr>
          <p:cNvPr id="73" name="テキスト ボックス 72">
            <a:extLst>
              <a:ext uri="{FF2B5EF4-FFF2-40B4-BE49-F238E27FC236}">
                <a16:creationId xmlns:a16="http://schemas.microsoft.com/office/drawing/2014/main" id="{0EBC5E40-33F4-E075-2696-9E10CEA6D81D}"/>
              </a:ext>
            </a:extLst>
          </p:cNvPr>
          <p:cNvSpPr txBox="1"/>
          <p:nvPr/>
        </p:nvSpPr>
        <p:spPr bwMode="auto">
          <a:xfrm>
            <a:off x="6601798" y="4523059"/>
            <a:ext cx="4170005" cy="1384995"/>
          </a:xfrm>
          <a:prstGeom prst="rect">
            <a:avLst/>
          </a:prstGeom>
          <a:noFill/>
          <a:ln w="9525">
            <a:noFill/>
            <a:miter lim="800000"/>
            <a:headEnd/>
            <a:tailEnd/>
          </a:ln>
        </p:spPr>
        <p:txBody>
          <a:bodyPr wrap="square" rtlCol="0">
            <a:spAutoFit/>
          </a:bodyPr>
          <a:lstStyle/>
          <a:p>
            <a:pPr>
              <a:defRPr/>
            </a:pPr>
            <a:r>
              <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エージェントの数に伴い利活用できるデータを増やしていく</a:t>
            </a:r>
            <a:endPar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請求・支払業務データ</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OS</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領域の業務データ</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標準プロセス関連の業務データ</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マスター登録・名寄せ関連の業務データ</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ナレッジ検索関連の業務データ</a:t>
            </a:r>
            <a:b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Tree>
    <p:extLst>
      <p:ext uri="{BB962C8B-B14F-4D97-AF65-F5344CB8AC3E}">
        <p14:creationId xmlns:p14="http://schemas.microsoft.com/office/powerpoint/2010/main" val="2254465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D9DDB-5027-5249-B05F-4FF33199708A}"/>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A1E1E741-A2F7-AB74-5E6C-DD4AB71179A9}"/>
              </a:ext>
            </a:extLst>
          </p:cNvPr>
          <p:cNvSpPr>
            <a:spLocks noGrp="1"/>
          </p:cNvSpPr>
          <p:nvPr>
            <p:ph type="title"/>
          </p:nvPr>
        </p:nvSpPr>
        <p:spPr/>
        <p:txBody>
          <a:bodyPr/>
          <a:lstStyle/>
          <a:p>
            <a:r>
              <a:rPr lang="ja-JP" altLang="en-US" dirty="0"/>
              <a:t>パートナーに求めるスキル・ノウハウ</a:t>
            </a:r>
            <a:endParaRPr kumimoji="1" lang="ja-JP" altLang="en-US" dirty="0"/>
          </a:p>
        </p:txBody>
      </p:sp>
      <p:sp>
        <p:nvSpPr>
          <p:cNvPr id="4" name="スライド番号プレースホルダー 3">
            <a:extLst>
              <a:ext uri="{FF2B5EF4-FFF2-40B4-BE49-F238E27FC236}">
                <a16:creationId xmlns:a16="http://schemas.microsoft.com/office/drawing/2014/main" id="{D153AE39-CB8D-CF81-F396-781210501C8B}"/>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5</a:t>
            </a:fld>
            <a:endParaRPr lang="en-US" altLang="ja-JP"/>
          </a:p>
        </p:txBody>
      </p:sp>
      <p:sp>
        <p:nvSpPr>
          <p:cNvPr id="2" name="コンテンツ プレースホルダー 5">
            <a:extLst>
              <a:ext uri="{FF2B5EF4-FFF2-40B4-BE49-F238E27FC236}">
                <a16:creationId xmlns:a16="http://schemas.microsoft.com/office/drawing/2014/main" id="{7D10D86B-6B13-A6EC-9FC8-8A146CB05E80}"/>
              </a:ext>
            </a:extLst>
          </p:cNvPr>
          <p:cNvSpPr txBox="1">
            <a:spLocks/>
          </p:cNvSpPr>
          <p:nvPr/>
        </p:nvSpPr>
        <p:spPr>
          <a:xfrm>
            <a:off x="333374" y="670504"/>
            <a:ext cx="11782426"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R</a:t>
            </a:r>
            <a:r>
              <a:rPr lang="ja-JP" altLang="en-US" sz="1600" kern="0" dirty="0"/>
              <a:t>のみで</a:t>
            </a:r>
            <a:r>
              <a:rPr lang="en-US" altLang="ja-JP" sz="1600" kern="0" dirty="0"/>
              <a:t>n8n</a:t>
            </a:r>
            <a:r>
              <a:rPr lang="ja-JP" altLang="en-US" sz="1600" kern="0" dirty="0"/>
              <a:t>の構築はある程度行えるが、大規模な</a:t>
            </a:r>
            <a:r>
              <a:rPr lang="en-US" altLang="ja-JP" sz="1600" kern="0" dirty="0"/>
              <a:t>AI</a:t>
            </a:r>
            <a:r>
              <a:rPr lang="ja-JP" altLang="en-US" sz="1600" kern="0" dirty="0"/>
              <a:t>エージェントの開発・導入にはパートナー（必要なノウハウと領域は以下）が必要になる。</a:t>
            </a:r>
            <a:endParaRPr lang="en-US" altLang="ja-JP" sz="1600" kern="0" dirty="0"/>
          </a:p>
        </p:txBody>
      </p:sp>
      <p:sp>
        <p:nvSpPr>
          <p:cNvPr id="65" name="四角形: 角を丸くする 64">
            <a:extLst>
              <a:ext uri="{FF2B5EF4-FFF2-40B4-BE49-F238E27FC236}">
                <a16:creationId xmlns:a16="http://schemas.microsoft.com/office/drawing/2014/main" id="{6F3190D1-48EA-9A19-C649-8F83CDAB6EDC}"/>
              </a:ext>
            </a:extLst>
          </p:cNvPr>
          <p:cNvSpPr/>
          <p:nvPr/>
        </p:nvSpPr>
        <p:spPr>
          <a:xfrm>
            <a:off x="983972" y="1417846"/>
            <a:ext cx="5042456" cy="2439349"/>
          </a:xfrm>
          <a:prstGeom prst="roundRect">
            <a:avLst>
              <a:gd name="adj" fmla="val 5704"/>
            </a:avLst>
          </a:prstGeom>
          <a:solidFill>
            <a:srgbClr val="7F7F7F">
              <a:alpha val="50000"/>
            </a:srgb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ja-JP" altLang="en-US"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業務・運営領域</a:t>
            </a:r>
            <a:endParaRPr lang="en-US" altLang="ja-JP"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algn="ctr" defTabSz="879475">
              <a:spcBef>
                <a:spcPct val="20000"/>
              </a:spcBef>
              <a:buClr>
                <a:schemeClr val="accent2"/>
              </a:buClr>
            </a:pPr>
            <a:endParaRPr lang="en-US" altLang="ja-JP"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algn="ctr" defTabSz="879475">
              <a:spcBef>
                <a:spcPct val="20000"/>
              </a:spcBef>
              <a:buClr>
                <a:schemeClr val="accent2"/>
              </a:buClr>
            </a:pPr>
            <a:endParaRPr lang="en-US" altLang="ja-JP"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algn="ctr" defTabSz="879475">
              <a:spcBef>
                <a:spcPct val="20000"/>
              </a:spcBef>
              <a:buClr>
                <a:schemeClr val="accent2"/>
              </a:buClr>
            </a:pPr>
            <a:r>
              <a:rPr lang="ja-JP" altLang="en-US" sz="2400" b="1" kern="0" dirty="0">
                <a:solidFill>
                  <a:schemeClr val="bg1"/>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業務担当</a:t>
            </a:r>
            <a:endParaRPr lang="en-US" altLang="ja-JP" sz="2400" b="1" kern="0" dirty="0">
              <a:solidFill>
                <a:schemeClr val="bg1"/>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
        <p:nvSpPr>
          <p:cNvPr id="66" name="四角形: 角を丸くする 65">
            <a:extLst>
              <a:ext uri="{FF2B5EF4-FFF2-40B4-BE49-F238E27FC236}">
                <a16:creationId xmlns:a16="http://schemas.microsoft.com/office/drawing/2014/main" id="{E3C8A805-FBA3-9286-DD82-16FF16B6542E}"/>
              </a:ext>
            </a:extLst>
          </p:cNvPr>
          <p:cNvSpPr/>
          <p:nvPr/>
        </p:nvSpPr>
        <p:spPr>
          <a:xfrm>
            <a:off x="6165572" y="1417845"/>
            <a:ext cx="5042456" cy="2439349"/>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en-US" altLang="ja-JP"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エージェント・アーキテクチャ領域</a:t>
            </a:r>
          </a:p>
        </p:txBody>
      </p:sp>
      <p:sp>
        <p:nvSpPr>
          <p:cNvPr id="67" name="四角形: 角を丸くする 66">
            <a:extLst>
              <a:ext uri="{FF2B5EF4-FFF2-40B4-BE49-F238E27FC236}">
                <a16:creationId xmlns:a16="http://schemas.microsoft.com/office/drawing/2014/main" id="{479E1D82-9A8C-6062-E782-52F18655EB65}"/>
              </a:ext>
            </a:extLst>
          </p:cNvPr>
          <p:cNvSpPr/>
          <p:nvPr/>
        </p:nvSpPr>
        <p:spPr>
          <a:xfrm>
            <a:off x="983972" y="3995882"/>
            <a:ext cx="5042456" cy="2439349"/>
          </a:xfrm>
          <a:prstGeom prst="roundRect">
            <a:avLst>
              <a:gd name="adj" fmla="val 5704"/>
            </a:avLst>
          </a:prstGeom>
          <a:solidFill>
            <a:srgbClr val="7F7F7F">
              <a:alpha val="50000"/>
            </a:srgb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ja-JP" altLang="en-US"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分析・改善領域</a:t>
            </a:r>
            <a:endParaRPr lang="en-US" altLang="ja-JP"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0" marR="0" lvl="0" indent="0" algn="ctr" defTabSz="879475" rtl="0" eaLnBrk="1" fontAlgn="base" latinLnBrk="0" hangingPunct="1">
              <a:lnSpc>
                <a:spcPct val="100000"/>
              </a:lnSpc>
              <a:spcBef>
                <a:spcPct val="20000"/>
              </a:spcBef>
              <a:spcAft>
                <a:spcPct val="0"/>
              </a:spcAft>
              <a:buClr>
                <a:srgbClr val="3333CC"/>
              </a:buClr>
              <a:buSzTx/>
              <a:buFontTx/>
              <a:buNone/>
              <a:tabLst/>
              <a:defRPr/>
            </a:pPr>
            <a:endParaRPr kumimoji="1" lang="en-US" altLang="ja-JP" sz="1600" b="1"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0" marR="0" lvl="0" indent="0" algn="ctr" defTabSz="879475" rtl="0" eaLnBrk="1" fontAlgn="base" latinLnBrk="0" hangingPunct="1">
              <a:lnSpc>
                <a:spcPct val="100000"/>
              </a:lnSpc>
              <a:spcBef>
                <a:spcPct val="20000"/>
              </a:spcBef>
              <a:spcAft>
                <a:spcPct val="0"/>
              </a:spcAft>
              <a:buClr>
                <a:srgbClr val="3333CC"/>
              </a:buClr>
              <a:buSzTx/>
              <a:buFontTx/>
              <a:buNone/>
              <a:tabLst/>
              <a:defRPr/>
            </a:pPr>
            <a:endParaRPr kumimoji="1" lang="en-US" altLang="ja-JP" sz="1600" b="1"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0" marR="0" lvl="0" indent="0" algn="ctr" defTabSz="879475" rtl="0" eaLnBrk="1" fontAlgn="base" latinLnBrk="0" hangingPunct="1">
              <a:lnSpc>
                <a:spcPct val="100000"/>
              </a:lnSpc>
              <a:spcBef>
                <a:spcPct val="20000"/>
              </a:spcBef>
              <a:spcAft>
                <a:spcPct val="0"/>
              </a:spcAft>
              <a:buClr>
                <a:srgbClr val="3333CC"/>
              </a:buClr>
              <a:buSzTx/>
              <a:buFontTx/>
              <a:buNone/>
              <a:tabLst/>
              <a:defRPr/>
            </a:pPr>
            <a:r>
              <a:rPr lang="ja-JP" altLang="en-US" sz="2400" b="1" kern="0" dirty="0">
                <a:solidFill>
                  <a:srgbClr val="FFFFFF"/>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データ利活用</a:t>
            </a:r>
            <a:r>
              <a:rPr kumimoji="1" lang="ja-JP" altLang="en-US" sz="2400" b="1"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担当</a:t>
            </a:r>
            <a:endParaRPr kumimoji="1" lang="en-US" altLang="ja-JP" sz="2400" b="1"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
        <p:nvSpPr>
          <p:cNvPr id="69" name="四角形: 角を丸くする 68">
            <a:extLst>
              <a:ext uri="{FF2B5EF4-FFF2-40B4-BE49-F238E27FC236}">
                <a16:creationId xmlns:a16="http://schemas.microsoft.com/office/drawing/2014/main" id="{B488ED59-4A79-9510-E748-6B5FC1D8D8F5}"/>
              </a:ext>
            </a:extLst>
          </p:cNvPr>
          <p:cNvSpPr/>
          <p:nvPr/>
        </p:nvSpPr>
        <p:spPr>
          <a:xfrm>
            <a:off x="6165572" y="3995882"/>
            <a:ext cx="5042456" cy="2439349"/>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879475">
              <a:spcBef>
                <a:spcPct val="20000"/>
              </a:spcBef>
              <a:buClr>
                <a:schemeClr val="accent2"/>
              </a:buClr>
            </a:pPr>
            <a:r>
              <a:rPr lang="ja-JP" altLang="en-US"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データ・アセット領域</a:t>
            </a:r>
          </a:p>
        </p:txBody>
      </p:sp>
      <p:grpSp>
        <p:nvGrpSpPr>
          <p:cNvPr id="48" name="グループ化 47">
            <a:extLst>
              <a:ext uri="{FF2B5EF4-FFF2-40B4-BE49-F238E27FC236}">
                <a16:creationId xmlns:a16="http://schemas.microsoft.com/office/drawing/2014/main" id="{90210576-EB29-651A-2C0D-1DBFB8BF8BBD}"/>
              </a:ext>
            </a:extLst>
          </p:cNvPr>
          <p:cNvGrpSpPr/>
          <p:nvPr/>
        </p:nvGrpSpPr>
        <p:grpSpPr>
          <a:xfrm>
            <a:off x="5569228" y="3244452"/>
            <a:ext cx="1054523" cy="1338773"/>
            <a:chOff x="5569228" y="3244452"/>
            <a:chExt cx="1054523" cy="1338773"/>
          </a:xfrm>
        </p:grpSpPr>
        <p:sp>
          <p:nvSpPr>
            <p:cNvPr id="74" name="弦 73">
              <a:extLst>
                <a:ext uri="{FF2B5EF4-FFF2-40B4-BE49-F238E27FC236}">
                  <a16:creationId xmlns:a16="http://schemas.microsoft.com/office/drawing/2014/main" id="{3B0A773D-4156-6659-CCAD-5904A9544B97}"/>
                </a:ext>
              </a:extLst>
            </p:cNvPr>
            <p:cNvSpPr/>
            <p:nvPr/>
          </p:nvSpPr>
          <p:spPr bwMode="auto">
            <a:xfrm>
              <a:off x="5569228" y="3244452"/>
              <a:ext cx="914400" cy="1338773"/>
            </a:xfrm>
            <a:prstGeom prst="chord">
              <a:avLst>
                <a:gd name="adj1" fmla="val 5413670"/>
                <a:gd name="adj2" fmla="val 16200000"/>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75" name="弦 74">
              <a:extLst>
                <a:ext uri="{FF2B5EF4-FFF2-40B4-BE49-F238E27FC236}">
                  <a16:creationId xmlns:a16="http://schemas.microsoft.com/office/drawing/2014/main" id="{35388807-A498-515B-F754-A67804D75A68}"/>
                </a:ext>
              </a:extLst>
            </p:cNvPr>
            <p:cNvSpPr/>
            <p:nvPr/>
          </p:nvSpPr>
          <p:spPr bwMode="auto">
            <a:xfrm rot="10800000">
              <a:off x="5709351" y="3244452"/>
              <a:ext cx="914400" cy="1338773"/>
            </a:xfrm>
            <a:prstGeom prst="chord">
              <a:avLst>
                <a:gd name="adj1" fmla="val 5413670"/>
                <a:gd name="adj2" fmla="val 16200000"/>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3A662B6F-BAC4-675D-47BC-DDC26F5F2683}"/>
                </a:ext>
              </a:extLst>
            </p:cNvPr>
            <p:cNvSpPr/>
            <p:nvPr/>
          </p:nvSpPr>
          <p:spPr bwMode="auto">
            <a:xfrm>
              <a:off x="5661849" y="3517548"/>
              <a:ext cx="364337" cy="780990"/>
            </a:xfrm>
            <a:prstGeom prst="rect">
              <a:avLst/>
            </a:prstGeom>
          </p:spPr>
          <p:txBody>
            <a:bodyPr vert="eaVert" wrap="square" lIns="0" tIns="72000" rIns="0" bIns="72000" numCol="1" rtlCol="0" anchor="ctr" anchorCtr="0" compatLnSpc="1">
              <a:prstTxWarp prst="textNoShape">
                <a:avLst/>
              </a:prstTxWarp>
            </a:bodyPr>
            <a:lstStyle/>
            <a:p>
              <a:pPr algn="ctr"/>
              <a:r>
                <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人</a:t>
              </a:r>
              <a:endParaRPr lang="en-US" altLang="ja-JP"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5D5721F6-6DE8-5D2A-B8A1-D6EAE0F5410B}"/>
                </a:ext>
              </a:extLst>
            </p:cNvPr>
            <p:cNvSpPr/>
            <p:nvPr/>
          </p:nvSpPr>
          <p:spPr bwMode="auto">
            <a:xfrm>
              <a:off x="6168821" y="3517548"/>
              <a:ext cx="364337" cy="780990"/>
            </a:xfrm>
            <a:prstGeom prst="rect">
              <a:avLst/>
            </a:prstGeom>
          </p:spPr>
          <p:txBody>
            <a:bodyPr vert="eaVert" wrap="square" lIns="0" tIns="72000" rIns="0" bIns="72000" numCol="1" rtlCol="0" anchor="ctr" anchorCtr="0" compatLnSpc="1">
              <a:prstTxWarp prst="textNoShape">
                <a:avLst/>
              </a:prstTxWarp>
            </a:bodyPr>
            <a:lstStyle/>
            <a:p>
              <a:pPr algn="ctr"/>
              <a:r>
                <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システム</a:t>
              </a:r>
              <a:endParaRPr lang="en-US" altLang="ja-JP"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grpSp>
      <p:pic>
        <p:nvPicPr>
          <p:cNvPr id="53" name="グラフィックス 52" descr="ワークフロー 枠線">
            <a:extLst>
              <a:ext uri="{FF2B5EF4-FFF2-40B4-BE49-F238E27FC236}">
                <a16:creationId xmlns:a16="http://schemas.microsoft.com/office/drawing/2014/main" id="{F5A6180A-2448-9A92-9387-A874B39A4F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92611" y="1430544"/>
            <a:ext cx="579600" cy="579600"/>
          </a:xfrm>
          <a:prstGeom prst="rect">
            <a:avLst/>
          </a:prstGeom>
        </p:spPr>
      </p:pic>
      <p:pic>
        <p:nvPicPr>
          <p:cNvPr id="61" name="グラフィックス 60" descr="ロボット 枠線">
            <a:extLst>
              <a:ext uri="{FF2B5EF4-FFF2-40B4-BE49-F238E27FC236}">
                <a16:creationId xmlns:a16="http://schemas.microsoft.com/office/drawing/2014/main" id="{B22250BD-12D8-3171-3C8C-1BFDFE30193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492800" y="1428977"/>
            <a:ext cx="579600" cy="579600"/>
          </a:xfrm>
          <a:prstGeom prst="rect">
            <a:avLst/>
          </a:prstGeom>
        </p:spPr>
      </p:pic>
      <p:pic>
        <p:nvPicPr>
          <p:cNvPr id="63" name="グラフィックス 62" descr="データベース 枠線">
            <a:extLst>
              <a:ext uri="{FF2B5EF4-FFF2-40B4-BE49-F238E27FC236}">
                <a16:creationId xmlns:a16="http://schemas.microsoft.com/office/drawing/2014/main" id="{42237268-3AAE-BE9F-A471-AD4B8B03093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492800" y="4004934"/>
            <a:ext cx="579600" cy="579600"/>
          </a:xfrm>
          <a:prstGeom prst="rect">
            <a:avLst/>
          </a:prstGeom>
        </p:spPr>
      </p:pic>
      <p:pic>
        <p:nvPicPr>
          <p:cNvPr id="71" name="グラフィックス 70" descr="棒グラフ (上昇) 枠線">
            <a:extLst>
              <a:ext uri="{FF2B5EF4-FFF2-40B4-BE49-F238E27FC236}">
                <a16:creationId xmlns:a16="http://schemas.microsoft.com/office/drawing/2014/main" id="{22962E2A-3B50-6512-8AC8-39B408D643A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92611" y="4004934"/>
            <a:ext cx="579600" cy="579600"/>
          </a:xfrm>
          <a:prstGeom prst="rect">
            <a:avLst/>
          </a:prstGeom>
          <a:scene3d>
            <a:camera prst="orthographicFront">
              <a:rot lat="0" lon="10800000" rev="0"/>
            </a:camera>
            <a:lightRig rig="threePt" dir="t"/>
          </a:scene3d>
        </p:spPr>
      </p:pic>
      <p:grpSp>
        <p:nvGrpSpPr>
          <p:cNvPr id="7" name="グループ化 6">
            <a:extLst>
              <a:ext uri="{FF2B5EF4-FFF2-40B4-BE49-F238E27FC236}">
                <a16:creationId xmlns:a16="http://schemas.microsoft.com/office/drawing/2014/main" id="{E0FEAE23-AEE3-F996-E49E-AF7D58E027E1}"/>
              </a:ext>
            </a:extLst>
          </p:cNvPr>
          <p:cNvGrpSpPr/>
          <p:nvPr/>
        </p:nvGrpSpPr>
        <p:grpSpPr>
          <a:xfrm>
            <a:off x="6601798" y="1945021"/>
            <a:ext cx="4497591" cy="3963033"/>
            <a:chOff x="6601798" y="1945021"/>
            <a:chExt cx="4497591" cy="3963033"/>
          </a:xfrm>
        </p:grpSpPr>
        <p:sp>
          <p:nvSpPr>
            <p:cNvPr id="51" name="テキスト ボックス 50">
              <a:extLst>
                <a:ext uri="{FF2B5EF4-FFF2-40B4-BE49-F238E27FC236}">
                  <a16:creationId xmlns:a16="http://schemas.microsoft.com/office/drawing/2014/main" id="{8DEE4C18-DD3A-27A8-BA6F-766C299FD50F}"/>
                </a:ext>
              </a:extLst>
            </p:cNvPr>
            <p:cNvSpPr txBox="1"/>
            <p:nvPr/>
          </p:nvSpPr>
          <p:spPr bwMode="auto">
            <a:xfrm>
              <a:off x="6601798" y="1945021"/>
              <a:ext cx="4497591" cy="1384995"/>
            </a:xfrm>
            <a:prstGeom prst="rect">
              <a:avLst/>
            </a:prstGeom>
            <a:noFill/>
            <a:ln w="9525">
              <a:noFill/>
              <a:miter lim="800000"/>
              <a:headEnd/>
              <a:tailEnd/>
            </a:ln>
          </p:spPr>
          <p:txBody>
            <a:bodyPr wrap="square" rtlCol="0">
              <a:spAutoFit/>
            </a:bodyPr>
            <a:lstStyle/>
            <a:p>
              <a:pPr>
                <a:defRPr/>
              </a:pP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パートナーに求めるスキル・ノウハウ</a:t>
              </a:r>
              <a:endPar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n8n</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の高度実装力</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450850" lvl="1" indent="-184150">
                <a:buFont typeface="Meiryo UI" panose="020B0604030504040204" pitchFamily="50" charset="-128"/>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パッケージのノウハウから実開発の実績</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AI/LLM</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エンジニアリング力</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450850" lvl="1" indent="-184150">
                <a:buFont typeface="Meiryo UI" panose="020B0604030504040204" pitchFamily="50" charset="-128"/>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の最新技術の知見および開発の実績</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Azure</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インフラ設計・構築力</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450850" lvl="1" indent="-184150">
                <a:buFont typeface="Meiryo UI" panose="020B0604030504040204" pitchFamily="50" charset="-128"/>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コンテナ構築やネットワークのノウハウ、</a:t>
              </a:r>
              <a:r>
                <a:rPr lang="en-US" altLang="ja-JP" sz="1200" kern="0" dirty="0" err="1">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IaC</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による開発の実績</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
          <p:nvSpPr>
            <p:cNvPr id="73" name="テキスト ボックス 72">
              <a:extLst>
                <a:ext uri="{FF2B5EF4-FFF2-40B4-BE49-F238E27FC236}">
                  <a16:creationId xmlns:a16="http://schemas.microsoft.com/office/drawing/2014/main" id="{52D5E71B-155D-EC91-F1EB-843F434AAB9C}"/>
                </a:ext>
              </a:extLst>
            </p:cNvPr>
            <p:cNvSpPr txBox="1"/>
            <p:nvPr/>
          </p:nvSpPr>
          <p:spPr bwMode="auto">
            <a:xfrm>
              <a:off x="6601798" y="4523059"/>
              <a:ext cx="4467086" cy="1384995"/>
            </a:xfrm>
            <a:prstGeom prst="rect">
              <a:avLst/>
            </a:prstGeom>
            <a:noFill/>
            <a:ln w="9525">
              <a:noFill/>
              <a:miter lim="800000"/>
              <a:headEnd/>
              <a:tailEnd/>
            </a:ln>
          </p:spPr>
          <p:txBody>
            <a:bodyPr wrap="square" rtlCol="0">
              <a:spAutoFit/>
            </a:bodyPr>
            <a:lstStyle/>
            <a:p>
              <a:pPr>
                <a:defRPr/>
              </a:pPr>
              <a:r>
                <a:rPr lang="ja-JP" altLang="en-US"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パートナーに求めるスキル・ノウハウ</a:t>
              </a:r>
              <a:endParaRPr lang="en-US" altLang="ja-JP" sz="1200" b="1"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データベース設計・構築</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450850" lvl="1" indent="-184150">
                <a:buFont typeface="Meiryo UI" panose="020B0604030504040204" pitchFamily="50" charset="-128"/>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トラン、非構造、ベクトル化を加味した適切な</a:t>
              </a: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DB</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での構築実績</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データ管理システムの設計・構築</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450850" lvl="1" indent="-184150">
                <a:buFont typeface="Meiryo UI" panose="020B0604030504040204" pitchFamily="50" charset="-128"/>
                <a:buChar char="‒"/>
                <a:defRPr/>
              </a:pP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AI</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エージェントの管理やスキーマ定義の設計・開発の実績</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9388" indent="-179388">
                <a:buFont typeface="Arial" panose="020B0604020202020204" pitchFamily="34" charset="0"/>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ガバナンス・監査</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450850" lvl="1" indent="-184150">
                <a:buFont typeface="Meiryo UI" panose="020B0604030504040204" pitchFamily="50" charset="-128"/>
                <a:buChar cha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実行ログなど監査可能な状態や機密データの権限管理の実績</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grpSp>
      <p:sp>
        <p:nvSpPr>
          <p:cNvPr id="8" name="四角形: 角を丸くする 7">
            <a:extLst>
              <a:ext uri="{FF2B5EF4-FFF2-40B4-BE49-F238E27FC236}">
                <a16:creationId xmlns:a16="http://schemas.microsoft.com/office/drawing/2014/main" id="{83AE75D9-F2B6-3603-C6A0-BE2F8F258F5D}"/>
              </a:ext>
            </a:extLst>
          </p:cNvPr>
          <p:cNvSpPr/>
          <p:nvPr/>
        </p:nvSpPr>
        <p:spPr>
          <a:xfrm>
            <a:off x="6110373" y="1363862"/>
            <a:ext cx="5152643" cy="5141713"/>
          </a:xfrm>
          <a:prstGeom prst="roundRect">
            <a:avLst>
              <a:gd name="adj" fmla="val 0"/>
            </a:avLst>
          </a:prstGeom>
          <a:noFill/>
          <a:ln w="635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9" name="テキスト ボックス 8">
            <a:extLst>
              <a:ext uri="{FF2B5EF4-FFF2-40B4-BE49-F238E27FC236}">
                <a16:creationId xmlns:a16="http://schemas.microsoft.com/office/drawing/2014/main" id="{34741AE2-ADC1-1183-9831-382A06992223}"/>
              </a:ext>
            </a:extLst>
          </p:cNvPr>
          <p:cNvSpPr txBox="1"/>
          <p:nvPr/>
        </p:nvSpPr>
        <p:spPr bwMode="auto">
          <a:xfrm>
            <a:off x="6095999" y="1076281"/>
            <a:ext cx="5167017" cy="276999"/>
          </a:xfrm>
          <a:prstGeom prst="rect">
            <a:avLst/>
          </a:prstGeom>
          <a:noFill/>
          <a:ln w="9525">
            <a:noFill/>
            <a:miter lim="800000"/>
            <a:headEnd/>
            <a:tailEnd/>
          </a:ln>
        </p:spPr>
        <p:txBody>
          <a:bodyPr wrap="square" rtlCol="0">
            <a:spAutoFit/>
          </a:bodyPr>
          <a:lstStyle/>
          <a:p>
            <a:pPr>
              <a:defRPr/>
            </a:pPr>
            <a:r>
              <a:rPr lang="ja-JP" altLang="en-US" sz="1200" kern="0" dirty="0">
                <a:solidFill>
                  <a:srgbClr val="FF0000"/>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パートナーが必要な領域</a:t>
            </a:r>
            <a:endParaRPr lang="en-US" altLang="ja-JP" sz="1200" kern="0" dirty="0">
              <a:solidFill>
                <a:srgbClr val="FF0000"/>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Tree>
    <p:extLst>
      <p:ext uri="{BB962C8B-B14F-4D97-AF65-F5344CB8AC3E}">
        <p14:creationId xmlns:p14="http://schemas.microsoft.com/office/powerpoint/2010/main" val="2405605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27DC8-85D0-00BA-398B-6FA36A7B519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0E93F208-056F-B167-88BB-6BC251D94339}"/>
              </a:ext>
            </a:extLst>
          </p:cNvPr>
          <p:cNvSpPr>
            <a:spLocks noGrp="1"/>
          </p:cNvSpPr>
          <p:nvPr>
            <p:ph type="title"/>
          </p:nvPr>
        </p:nvSpPr>
        <p:spPr/>
        <p:txBody>
          <a:bodyPr/>
          <a:lstStyle/>
          <a:p>
            <a:r>
              <a:rPr kumimoji="1" lang="ja-JP" altLang="en-US" dirty="0"/>
              <a:t>パートナー選定について</a:t>
            </a:r>
          </a:p>
        </p:txBody>
      </p:sp>
      <p:sp>
        <p:nvSpPr>
          <p:cNvPr id="4" name="スライド番号プレースホルダー 3">
            <a:extLst>
              <a:ext uri="{FF2B5EF4-FFF2-40B4-BE49-F238E27FC236}">
                <a16:creationId xmlns:a16="http://schemas.microsoft.com/office/drawing/2014/main" id="{A4F74F1B-6A84-2D77-EB3B-3A1FFA57193C}"/>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6</a:t>
            </a:fld>
            <a:endParaRPr lang="en-US" altLang="ja-JP"/>
          </a:p>
        </p:txBody>
      </p:sp>
      <p:sp>
        <p:nvSpPr>
          <p:cNvPr id="2" name="コンテンツ プレースホルダー 5">
            <a:extLst>
              <a:ext uri="{FF2B5EF4-FFF2-40B4-BE49-F238E27FC236}">
                <a16:creationId xmlns:a16="http://schemas.microsoft.com/office/drawing/2014/main" id="{AE42A6DA-D26B-5893-A4B5-0DD84E43D75E}"/>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NRI</a:t>
            </a:r>
            <a:r>
              <a:rPr lang="ja-JP" altLang="en-US" sz="1600" kern="0" dirty="0"/>
              <a:t>と</a:t>
            </a:r>
            <a:r>
              <a:rPr lang="en-US" altLang="ja-JP" sz="1600" kern="0" dirty="0" err="1"/>
              <a:t>LinkX</a:t>
            </a:r>
            <a:r>
              <a:rPr lang="ja-JP" altLang="en-US" sz="1600" kern="0" dirty="0"/>
              <a:t>社にて</a:t>
            </a:r>
            <a:r>
              <a:rPr lang="en-US" altLang="ja-JP" sz="1600" kern="0" dirty="0"/>
              <a:t>n8n</a:t>
            </a:r>
            <a:r>
              <a:rPr lang="ja-JP" altLang="en-US" sz="1600" kern="0" dirty="0"/>
              <a:t>構築を行った結果、以下の観点で</a:t>
            </a:r>
            <a:r>
              <a:rPr lang="en-US" altLang="ja-JP" sz="1600" kern="0" dirty="0" err="1"/>
              <a:t>LinkX</a:t>
            </a:r>
            <a:r>
              <a:rPr lang="ja-JP" altLang="en-US" sz="1600" kern="0" dirty="0"/>
              <a:t>社と中・長期的に組んでいくことが得策と考える。</a:t>
            </a:r>
            <a:endParaRPr lang="en-US" altLang="ja-JP" sz="1600" kern="0" dirty="0"/>
          </a:p>
        </p:txBody>
      </p:sp>
      <p:graphicFrame>
        <p:nvGraphicFramePr>
          <p:cNvPr id="7" name="表 6">
            <a:extLst>
              <a:ext uri="{FF2B5EF4-FFF2-40B4-BE49-F238E27FC236}">
                <a16:creationId xmlns:a16="http://schemas.microsoft.com/office/drawing/2014/main" id="{677F904F-E30C-84AB-25C7-7365405CFC7E}"/>
              </a:ext>
            </a:extLst>
          </p:cNvPr>
          <p:cNvGraphicFramePr>
            <a:graphicFrameLocks noGrp="1"/>
          </p:cNvGraphicFramePr>
          <p:nvPr>
            <p:extLst>
              <p:ext uri="{D42A27DB-BD31-4B8C-83A1-F6EECF244321}">
                <p14:modId xmlns:p14="http://schemas.microsoft.com/office/powerpoint/2010/main" val="1216726819"/>
              </p:ext>
            </p:extLst>
          </p:nvPr>
        </p:nvGraphicFramePr>
        <p:xfrm>
          <a:off x="143346" y="1392310"/>
          <a:ext cx="11905309" cy="5149962"/>
        </p:xfrm>
        <a:graphic>
          <a:graphicData uri="http://schemas.openxmlformats.org/drawingml/2006/table">
            <a:tbl>
              <a:tblPr firstRow="1" bandRow="1">
                <a:tableStyleId>{5C22544A-7EE6-4342-B048-85BDC9FD1C3A}</a:tableStyleId>
              </a:tblPr>
              <a:tblGrid>
                <a:gridCol w="405245">
                  <a:extLst>
                    <a:ext uri="{9D8B030D-6E8A-4147-A177-3AD203B41FA5}">
                      <a16:colId xmlns:a16="http://schemas.microsoft.com/office/drawing/2014/main" val="3651524713"/>
                    </a:ext>
                  </a:extLst>
                </a:gridCol>
                <a:gridCol w="1311975">
                  <a:extLst>
                    <a:ext uri="{9D8B030D-6E8A-4147-A177-3AD203B41FA5}">
                      <a16:colId xmlns:a16="http://schemas.microsoft.com/office/drawing/2014/main" val="2710146970"/>
                    </a:ext>
                  </a:extLst>
                </a:gridCol>
                <a:gridCol w="2635917">
                  <a:extLst>
                    <a:ext uri="{9D8B030D-6E8A-4147-A177-3AD203B41FA5}">
                      <a16:colId xmlns:a16="http://schemas.microsoft.com/office/drawing/2014/main" val="2725638347"/>
                    </a:ext>
                  </a:extLst>
                </a:gridCol>
                <a:gridCol w="898525">
                  <a:extLst>
                    <a:ext uri="{9D8B030D-6E8A-4147-A177-3AD203B41FA5}">
                      <a16:colId xmlns:a16="http://schemas.microsoft.com/office/drawing/2014/main" val="4103550077"/>
                    </a:ext>
                  </a:extLst>
                </a:gridCol>
                <a:gridCol w="898525">
                  <a:extLst>
                    <a:ext uri="{9D8B030D-6E8A-4147-A177-3AD203B41FA5}">
                      <a16:colId xmlns:a16="http://schemas.microsoft.com/office/drawing/2014/main" val="3744954200"/>
                    </a:ext>
                  </a:extLst>
                </a:gridCol>
                <a:gridCol w="5755122">
                  <a:extLst>
                    <a:ext uri="{9D8B030D-6E8A-4147-A177-3AD203B41FA5}">
                      <a16:colId xmlns:a16="http://schemas.microsoft.com/office/drawing/2014/main" val="3999794500"/>
                    </a:ext>
                  </a:extLst>
                </a:gridCol>
              </a:tblGrid>
              <a:tr h="335434">
                <a:tc>
                  <a:txBody>
                    <a:bodyPr/>
                    <a:lstStyle/>
                    <a:p>
                      <a:pPr algn="ctr"/>
                      <a:r>
                        <a:rPr kumimoji="1" lang="en-US" altLang="ja-JP" sz="1400" b="1" dirty="0">
                          <a:solidFill>
                            <a:schemeClr val="bg1"/>
                          </a:solidFill>
                          <a:latin typeface="Meiryo UI"/>
                          <a:ea typeface="Meiryo UI"/>
                        </a:rPr>
                        <a:t>#</a:t>
                      </a:r>
                      <a:endParaRPr kumimoji="1" lang="ja-JP" altLang="en-US" sz="1400" b="1" dirty="0">
                        <a:solidFill>
                          <a:schemeClr val="bg1"/>
                        </a:solidFill>
                        <a:latin typeface="Meiryo UI"/>
                        <a:ea typeface="Meiryo UI"/>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ja-JP" altLang="en-US" sz="1400" b="1" dirty="0">
                          <a:solidFill>
                            <a:schemeClr val="bg1"/>
                          </a:solidFill>
                          <a:latin typeface="Meiryo UI"/>
                          <a:ea typeface="Meiryo UI"/>
                        </a:rPr>
                        <a:t>領域</a:t>
                      </a: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ja-JP" altLang="en-US" sz="1400" b="1" dirty="0">
                          <a:solidFill>
                            <a:schemeClr val="bg1"/>
                          </a:solidFill>
                          <a:latin typeface="Meiryo UI"/>
                          <a:ea typeface="Meiryo UI"/>
                        </a:rPr>
                        <a:t>評価項目</a:t>
                      </a: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en-US" altLang="ja-JP" sz="1400" b="1" dirty="0">
                          <a:solidFill>
                            <a:schemeClr val="bg1"/>
                          </a:solidFill>
                          <a:latin typeface="Meiryo UI"/>
                          <a:ea typeface="Meiryo UI"/>
                        </a:rPr>
                        <a:t>NRI</a:t>
                      </a:r>
                      <a:endParaRPr kumimoji="1" lang="ja-JP" altLang="en-US" sz="1400" b="1" dirty="0">
                        <a:solidFill>
                          <a:schemeClr val="bg1"/>
                        </a:solidFill>
                        <a:latin typeface="Meiryo UI"/>
                        <a:ea typeface="Meiryo UI"/>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en-US" altLang="ja-JP" sz="1400" b="1" dirty="0" err="1">
                          <a:solidFill>
                            <a:schemeClr val="bg1"/>
                          </a:solidFill>
                          <a:latin typeface="Meiryo UI"/>
                          <a:ea typeface="Meiryo UI"/>
                        </a:rPr>
                        <a:t>LinkX</a:t>
                      </a:r>
                      <a:endParaRPr kumimoji="1" lang="ja-JP" altLang="en-US" sz="1400" b="1" dirty="0">
                        <a:solidFill>
                          <a:schemeClr val="bg1"/>
                        </a:solidFill>
                        <a:latin typeface="Meiryo UI"/>
                        <a:ea typeface="Meiryo UI"/>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ja-JP" altLang="en-US" sz="1400" b="1" dirty="0">
                          <a:solidFill>
                            <a:schemeClr val="bg1"/>
                          </a:solidFill>
                          <a:latin typeface="Meiryo UI"/>
                          <a:ea typeface="Meiryo UI"/>
                        </a:rPr>
                        <a:t>補足</a:t>
                      </a: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698722112"/>
                  </a:ext>
                </a:extLst>
              </a:tr>
              <a:tr h="335434">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rowSpan="3">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a:t>
                      </a:r>
                      <a:r>
                        <a:rPr kumimoji="1" lang="ja-JP" altLang="en-US"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エージェント・</a:t>
                      </a:r>
                      <a:br>
                        <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kumimoji="1" lang="ja-JP" altLang="en-US"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アーキテクチャ</a:t>
                      </a:r>
                    </a:p>
                  </a:txBody>
                  <a:tcPr marL="90044" marR="90044" marT="45022" marB="45022"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defTabSz="914400" rtl="0" eaLnBrk="1" fontAlgn="base" latinLnBrk="0" hangingPunct="1">
                        <a:spcBef>
                          <a:spcPct val="0"/>
                        </a:spcBef>
                        <a:spcAft>
                          <a:spcPct val="0"/>
                        </a:spcAft>
                        <a:buFont typeface="Arial" panose="020B0604020202020204" pitchFamily="34" charset="0"/>
                        <a:buNone/>
                        <a:defRPr/>
                      </a:pPr>
                      <a:r>
                        <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n8n</a:t>
                      </a:r>
                      <a:r>
                        <a:rPr kumimoji="1" lang="ja-JP" altLang="en-US"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の高度実装力</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ja-JP" altLang="en-US"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〇</a:t>
                      </a:r>
                      <a:endPar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ja-JP" altLang="en-US" sz="2000" kern="0" dirty="0">
                          <a:solidFill>
                            <a:srgbClr val="0065BD"/>
                          </a:solidFill>
                          <a:latin typeface="Meiryo UI" panose="020B0604030504040204" pitchFamily="50" charset="-128"/>
                          <a:ea typeface="Meiryo UI" panose="020B0604030504040204" pitchFamily="50" charset="-128"/>
                          <a:cs typeface="Arial" panose="020B0604020202020204" pitchFamily="34" charset="0"/>
                        </a:rPr>
                        <a:t>◎</a:t>
                      </a:r>
                      <a:endParaRPr kumimoji="1" lang="en-US" altLang="ja-JP" sz="2000" kern="0" dirty="0">
                        <a:solidFill>
                          <a:srgbClr val="0065BD"/>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defTabSz="914400" rtl="0" eaLnBrk="1" fontAlgn="base" latinLnBrk="0" hangingPunct="1">
                        <a:spcBef>
                          <a:spcPct val="0"/>
                        </a:spcBef>
                        <a:spcAft>
                          <a:spcPct val="0"/>
                        </a:spcAft>
                        <a:buFont typeface="Arial" panose="020B0604020202020204" pitchFamily="34" charset="0"/>
                        <a:buNone/>
                        <a:defRPr/>
                      </a:pPr>
                      <a:r>
                        <a:rPr kumimoji="1"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NRI</a:t>
                      </a:r>
                      <a:r>
                        <a:rPr kumimoji="1"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：基本的な実装力は問題ないが、開発担当が</a:t>
                      </a:r>
                      <a:r>
                        <a:rPr kumimoji="1"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a:t>
                      </a:r>
                      <a:r>
                        <a:rPr kumimoji="1"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t>
                      </a:r>
                      <a:r>
                        <a:rPr kumimoji="1"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3</a:t>
                      </a:r>
                      <a:r>
                        <a:rPr kumimoji="1"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年目程度の印象。</a:t>
                      </a:r>
                      <a:endParaRPr kumimoji="1"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L="0" indent="447675" algn="l" defTabSz="914400" rtl="0" eaLnBrk="1" fontAlgn="base" latinLnBrk="0" hangingPunct="1">
                        <a:spcBef>
                          <a:spcPct val="0"/>
                        </a:spcBef>
                        <a:spcAft>
                          <a:spcPct val="0"/>
                        </a:spcAft>
                        <a:buFont typeface="Arial" panose="020B0604020202020204" pitchFamily="34" charset="0"/>
                        <a:buNone/>
                        <a:defRPr/>
                      </a:pPr>
                      <a:r>
                        <a:rPr kumimoji="1"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開発</a:t>
                      </a:r>
                      <a:r>
                        <a:rPr kumimoji="1"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PM</a:t>
                      </a:r>
                      <a:r>
                        <a:rPr kumimoji="1"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の関わり方次第で実務適用に時間がかかりそう。</a:t>
                      </a:r>
                      <a:endParaRPr kumimoji="1"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L="0" indent="0" algn="l" defTabSz="914400" rtl="0" eaLnBrk="1" fontAlgn="base" latinLnBrk="0" hangingPunct="1">
                        <a:spcBef>
                          <a:spcPct val="0"/>
                        </a:spcBef>
                        <a:spcAft>
                          <a:spcPct val="0"/>
                        </a:spcAft>
                        <a:buFont typeface="Arial" panose="020B0604020202020204" pitchFamily="34" charset="0"/>
                        <a:buNone/>
                        <a:defRPr/>
                      </a:pPr>
                      <a:r>
                        <a:rPr kumimoji="1" lang="en-US" altLang="ja-JP" sz="1200" kern="0" dirty="0" err="1">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：自社の出運用や開発実績（自社サービスとして大手に展開）など、</a:t>
                      </a:r>
                      <a:endParaRPr kumimoji="1"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L="538163" indent="0" algn="l" defTabSz="914400" rtl="0" eaLnBrk="1" fontAlgn="base" latinLnBrk="0" hangingPunct="1">
                        <a:spcBef>
                          <a:spcPct val="0"/>
                        </a:spcBef>
                        <a:spcAft>
                          <a:spcPct val="0"/>
                        </a:spcAft>
                        <a:buFont typeface="Arial" panose="020B0604020202020204" pitchFamily="34" charset="0"/>
                        <a:buNone/>
                        <a:defRPr/>
                      </a:pPr>
                      <a:r>
                        <a:rPr kumimoji="1"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実務適用に必要な細かいポイントを詳しく説明できる水準。</a:t>
                      </a:r>
                      <a:endParaRPr kumimoji="1"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L="538163" indent="0" algn="l" defTabSz="914400" rtl="0" eaLnBrk="1" fontAlgn="base" latinLnBrk="0" hangingPunct="1">
                        <a:spcBef>
                          <a:spcPct val="0"/>
                        </a:spcBef>
                        <a:spcAft>
                          <a:spcPct val="0"/>
                        </a:spcAft>
                        <a:buFont typeface="Arial" panose="020B0604020202020204" pitchFamily="34" charset="0"/>
                        <a:buNone/>
                        <a:defRPr/>
                      </a:pPr>
                      <a:r>
                        <a:rPr kumimoji="1" lang="en-US" altLang="ja-JP" sz="1000"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hlinkClick r:id="rId3"/>
                        </a:rPr>
                        <a:t>※</a:t>
                      </a:r>
                      <a:r>
                        <a:rPr kumimoji="1" lang="ja-JP" altLang="en-US" sz="1000"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hlinkClick r:id="rId3"/>
                        </a:rPr>
                        <a:t>みずほ銀行と</a:t>
                      </a:r>
                      <a:r>
                        <a:rPr kumimoji="1" lang="en-US" altLang="ja-JP" sz="1000" u="sng" kern="0" dirty="0" err="1">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hlinkClick r:id="rId3"/>
                        </a:rPr>
                        <a:t>LinkX</a:t>
                      </a:r>
                      <a:r>
                        <a:rPr kumimoji="1" lang="ja-JP" altLang="en-US" sz="1000"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hlinkClick r:id="rId3"/>
                        </a:rPr>
                        <a:t>社の記事</a:t>
                      </a:r>
                      <a:endParaRPr kumimoji="1" lang="en-US" altLang="ja-JP" sz="1000" u="sng"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9850342"/>
                  </a:ext>
                </a:extLst>
              </a:tr>
              <a:tr h="335434">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vMerge="1">
                  <a:txBody>
                    <a:bodyPr/>
                    <a:lstStyle/>
                    <a:p>
                      <a:pPr marL="0" indent="0" algn="ctr" defTabSz="914400" rtl="0" eaLnBrk="1" fontAlgn="base" latinLnBrk="0" hangingPunct="1">
                        <a:spcBef>
                          <a:spcPct val="0"/>
                        </a:spcBef>
                        <a:spcAft>
                          <a:spcPct val="0"/>
                        </a:spcAft>
                        <a:buFont typeface="Arial" panose="020B0604020202020204" pitchFamily="34" charset="0"/>
                        <a:buNone/>
                        <a:defRPr/>
                      </a:pPr>
                      <a:endParaRPr kumimoji="1"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defTabSz="914400" rtl="0" eaLnBrk="1" fontAlgn="base" latinLnBrk="0" hangingPunct="1">
                        <a:spcBef>
                          <a:spcPct val="0"/>
                        </a:spcBef>
                        <a:spcAft>
                          <a:spcPct val="0"/>
                        </a:spcAft>
                        <a:buFont typeface="Arial" panose="020B0604020202020204" pitchFamily="34" charset="0"/>
                        <a:buNone/>
                        <a:defRPr/>
                      </a:pPr>
                      <a:r>
                        <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AI/LLM</a:t>
                      </a:r>
                      <a:r>
                        <a:rPr kumimoji="1" lang="ja-JP" altLang="en-US"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エンジニアリング力</a:t>
                      </a:r>
                      <a:endPar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400" kern="0" noProof="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〇</a:t>
                      </a:r>
                      <a:endParaRPr kumimoji="1" lang="ja-JP" altLang="ja-JP" sz="1400" kern="0" noProof="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2000" kern="0" noProof="0" dirty="0">
                          <a:solidFill>
                            <a:srgbClr val="0065BD"/>
                          </a:solidFill>
                          <a:latin typeface="Meiryo UI" panose="020B0604030504040204" pitchFamily="50" charset="-128"/>
                          <a:ea typeface="Meiryo UI" panose="020B0604030504040204" pitchFamily="50" charset="-128"/>
                          <a:cs typeface="Arial" panose="020B0604020202020204" pitchFamily="34" charset="0"/>
                        </a:rPr>
                        <a:t>◎</a:t>
                      </a:r>
                      <a:endParaRPr kumimoji="1" lang="ja-JP" altLang="ja-JP" sz="2000" kern="0" noProof="0" dirty="0">
                        <a:solidFill>
                          <a:srgbClr val="0065BD"/>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NRI</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：基本的な知見はありそうだが、目新しい</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の独自知見はなさそう。</a:t>
                      </a:r>
                      <a:endPar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200" b="0" i="0" u="none" strike="noStrike" kern="0" cap="none" spc="0" normalizeH="0" baseline="0" noProof="0" dirty="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n8n</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の</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の最新知見（公式ドキュメント調査）や</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MS</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や</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Google</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の</a:t>
                      </a:r>
                      <a:endPar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538163"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サービスをいち早くキャッチできる仕組みなどコネクションがある。</a:t>
                      </a:r>
                      <a:endPar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24345837"/>
                  </a:ext>
                </a:extLst>
              </a:tr>
              <a:tr h="360677">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3</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vMerge="1">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1"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marR="0" lvl="0" indent="0" algn="l" defTabSz="914400" rtl="0" eaLnBrk="1" fontAlgn="base" latinLnBrk="0" hangingPunct="1">
                        <a:lnSpc>
                          <a:spcPct val="100000"/>
                        </a:lnSpc>
                        <a:spcBef>
                          <a:spcPct val="0"/>
                        </a:spcBef>
                        <a:spcAft>
                          <a:spcPct val="0"/>
                        </a:spcAft>
                        <a:buFont typeface="Arial" panose="020B0604020202020204" pitchFamily="34" charset="0"/>
                        <a:buNone/>
                        <a:tabLst/>
                        <a:defRPr/>
                      </a:pPr>
                      <a:r>
                        <a:rPr kumimoji="1" lang="en-US" altLang="ja-JP" sz="1400" kern="0" noProof="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Azure</a:t>
                      </a:r>
                      <a:r>
                        <a:rPr kumimoji="1" lang="ja-JP" altLang="en-US" sz="1400" kern="0" noProof="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インフラ設計・構築力</a:t>
                      </a:r>
                      <a:endParaRPr kumimoji="1" lang="en-US"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400" kern="0" dirty="0">
                          <a:solidFill>
                            <a:srgbClr val="FF0000"/>
                          </a:solidFill>
                          <a:latin typeface="Meiryo UI" panose="020B0604030504040204" pitchFamily="50" charset="-128"/>
                          <a:ea typeface="Meiryo UI" panose="020B0604030504040204" pitchFamily="50" charset="-128"/>
                          <a:cs typeface="Arial" panose="020B0604020202020204" pitchFamily="34" charset="0"/>
                        </a:rPr>
                        <a:t>△</a:t>
                      </a:r>
                      <a:endParaRPr kumimoji="1" lang="en-US" altLang="ja-JP" sz="1400" kern="0" dirty="0">
                        <a:solidFill>
                          <a:srgbClr val="FF0000"/>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2000" kern="0" dirty="0">
                          <a:solidFill>
                            <a:srgbClr val="0065BD"/>
                          </a:solidFill>
                          <a:latin typeface="Meiryo UI" panose="020B0604030504040204" pitchFamily="50" charset="-128"/>
                          <a:ea typeface="Meiryo UI" panose="020B0604030504040204" pitchFamily="50" charset="-128"/>
                          <a:cs typeface="Arial" panose="020B0604020202020204" pitchFamily="34" charset="0"/>
                        </a:rPr>
                        <a:t>◎</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NRI</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：インフラは</a:t>
                      </a:r>
                      <a:r>
                        <a:rPr kumimoji="1" lang="en-US" altLang="ja-JP" sz="1200" b="0" i="0" u="none" strike="noStrike" kern="0" cap="none" spc="0" normalizeH="0" baseline="0" noProof="0" dirty="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Aibaba</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上に</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n8n</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を構築しているため、</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Azure</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の知見はなし。</a:t>
                      </a:r>
                      <a:endPar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200" b="0" i="0" u="none" strike="noStrike" kern="0" cap="none" spc="0" normalizeH="0" baseline="0" noProof="0" dirty="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Azure</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含め</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MS</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全般のインフラやサービスの知見は非常に高い。</a:t>
                      </a:r>
                      <a:endPar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538163"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0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4"/>
                        </a:rPr>
                        <a:t>※</a:t>
                      </a:r>
                      <a:r>
                        <a:rPr kumimoji="1" lang="en-US" altLang="ja-JP" sz="1000" b="0" i="0" u="none" strike="noStrike" kern="0" cap="none" spc="0" normalizeH="0" baseline="0" noProof="0" dirty="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4"/>
                        </a:rPr>
                        <a:t>LinkX</a:t>
                      </a:r>
                      <a:r>
                        <a:rPr kumimoji="1" lang="ja-JP" altLang="en-US" sz="10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4"/>
                        </a:rPr>
                        <a:t>代表の坂本さんの</a:t>
                      </a:r>
                      <a:r>
                        <a:rPr kumimoji="1" lang="en-US" altLang="ja-JP" sz="10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4"/>
                        </a:rPr>
                        <a:t>Microsoft</a:t>
                      </a:r>
                      <a:r>
                        <a:rPr kumimoji="1" lang="ja-JP" altLang="en-US" sz="10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4"/>
                        </a:rPr>
                        <a:t>の</a:t>
                      </a:r>
                      <a:r>
                        <a:rPr kumimoji="1" lang="en-US" altLang="ja-JP" sz="10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4"/>
                        </a:rPr>
                        <a:t>MVP</a:t>
                      </a:r>
                      <a:r>
                        <a:rPr kumimoji="1" lang="ja-JP" altLang="en-US" sz="10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4"/>
                        </a:rPr>
                        <a:t>プロファイル</a:t>
                      </a:r>
                      <a:endParaRPr kumimoji="1" lang="en-US" altLang="ja-JP" sz="10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1922273"/>
                  </a:ext>
                </a:extLst>
              </a:tr>
              <a:tr h="339461">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4</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rowSpan="3">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データ・アセット</a:t>
                      </a:r>
                    </a:p>
                  </a:txBody>
                  <a:tcPr marL="90044" marR="90044" marT="45022" marB="45022"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defTabSz="914400" rtl="0" eaLnBrk="1" fontAlgn="base" latinLnBrk="0" hangingPunct="1">
                        <a:spcBef>
                          <a:spcPct val="0"/>
                        </a:spcBef>
                        <a:spcAft>
                          <a:spcPct val="0"/>
                        </a:spcAft>
                        <a:buFont typeface="Arial" panose="020B0604020202020204" pitchFamily="34" charset="0"/>
                        <a:buNone/>
                        <a:defRPr/>
                      </a:pPr>
                      <a:r>
                        <a:rPr kumimoji="1" lang="ja-JP" altLang="en-US"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データベース設計・構築</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ja-JP" altLang="en-US"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〇</a:t>
                      </a:r>
                      <a:endPar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ja-JP" altLang="en-US" sz="2000" kern="0" dirty="0">
                          <a:solidFill>
                            <a:srgbClr val="0065BD"/>
                          </a:solidFill>
                          <a:latin typeface="Meiryo UI" panose="020B0604030504040204" pitchFamily="50" charset="-128"/>
                          <a:ea typeface="Meiryo UI" panose="020B0604030504040204" pitchFamily="50" charset="-128"/>
                          <a:cs typeface="Arial" panose="020B0604020202020204" pitchFamily="34" charset="0"/>
                        </a:rPr>
                        <a:t>◎</a:t>
                      </a:r>
                      <a:endParaRPr kumimoji="1" lang="en-US" altLang="ja-JP" sz="2000" kern="0" dirty="0">
                        <a:solidFill>
                          <a:srgbClr val="0065BD"/>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NRI</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：基本の設計や構築はできそうだが、</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に適した</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DB</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知見は怪しい印象。</a:t>
                      </a:r>
                      <a:endPar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200" b="0" i="0" u="none" strike="noStrike" kern="0" cap="none" spc="0" normalizeH="0" baseline="0" noProof="0" dirty="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：独自の</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DB</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のベクトル化の開発実績もあり、</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に適した</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DB</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の設計・構築が可能。</a:t>
                      </a:r>
                      <a:endPar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14640100"/>
                  </a:ext>
                </a:extLst>
              </a:tr>
              <a:tr h="335434">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5</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vMerge="1">
                  <a:txBody>
                    <a:bodyPr/>
                    <a:lstStyle/>
                    <a:p>
                      <a:pPr marL="0" indent="0" algn="ctr" defTabSz="914400" rtl="0" eaLnBrk="1" fontAlgn="base" latinLnBrk="0" hangingPunct="1">
                        <a:spcBef>
                          <a:spcPct val="0"/>
                        </a:spcBef>
                        <a:spcAft>
                          <a:spcPct val="0"/>
                        </a:spcAft>
                        <a:buFont typeface="Arial" panose="020B0604020202020204" pitchFamily="34" charset="0"/>
                        <a:buNone/>
                        <a:defRPr/>
                      </a:pPr>
                      <a:endParaRPr kumimoji="1"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defTabSz="914400" rtl="0" eaLnBrk="1" fontAlgn="base" latinLnBrk="0" hangingPunct="1">
                        <a:spcBef>
                          <a:spcPct val="0"/>
                        </a:spcBef>
                        <a:spcAft>
                          <a:spcPct val="0"/>
                        </a:spcAft>
                        <a:buFont typeface="Arial" panose="020B0604020202020204" pitchFamily="34" charset="0"/>
                        <a:buNone/>
                        <a:defRPr/>
                      </a:pPr>
                      <a:r>
                        <a:rPr kumimoji="1" lang="ja-JP" altLang="en-US"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データ管理システムの設計・構築</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400" kern="0" dirty="0">
                          <a:solidFill>
                            <a:srgbClr val="FF0000"/>
                          </a:solidFill>
                          <a:latin typeface="Meiryo UI" panose="020B0604030504040204" pitchFamily="50" charset="-128"/>
                          <a:ea typeface="Meiryo UI" panose="020B0604030504040204" pitchFamily="50" charset="-128"/>
                          <a:cs typeface="Arial" panose="020B0604020202020204" pitchFamily="34" charset="0"/>
                        </a:rPr>
                        <a:t>△</a:t>
                      </a:r>
                      <a:endParaRPr kumimoji="1" lang="en-US" altLang="ja-JP" sz="1400" kern="0" dirty="0">
                        <a:solidFill>
                          <a:srgbClr val="FF0000"/>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2000" kern="0" dirty="0">
                          <a:solidFill>
                            <a:srgbClr val="0065BD"/>
                          </a:solidFill>
                          <a:latin typeface="Meiryo UI" panose="020B0604030504040204" pitchFamily="50" charset="-128"/>
                          <a:ea typeface="Meiryo UI" panose="020B0604030504040204" pitchFamily="50" charset="-128"/>
                          <a:cs typeface="Arial" panose="020B0604020202020204" pitchFamily="34" charset="0"/>
                        </a:rPr>
                        <a:t>◎</a:t>
                      </a:r>
                      <a:endParaRPr kumimoji="1" lang="en-US" altLang="ja-JP" sz="2000" kern="0" dirty="0">
                        <a:solidFill>
                          <a:srgbClr val="0065BD"/>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NRI</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エージェントに適したデータ管理システムの構築実績は無し。</a:t>
                      </a:r>
                      <a:endPar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200" b="0" i="0" u="none" strike="noStrike" kern="0" cap="none" spc="0" normalizeH="0" baseline="0" noProof="0" dirty="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AI</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エージェントのデータ管理に特化した独自のシステムを構築・運用の実績あり。</a:t>
                      </a:r>
                      <a:endPar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541338"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0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5" action="ppaction://hlinksldjump"/>
                        </a:rPr>
                        <a:t>※</a:t>
                      </a:r>
                      <a:r>
                        <a:rPr kumimoji="1" lang="en-US" altLang="ja-JP" sz="1000" b="0" i="0" u="none" strike="noStrike" kern="0" cap="none" spc="0" normalizeH="0" baseline="0" noProof="0" dirty="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5" action="ppaction://hlinksldjump"/>
                        </a:rPr>
                        <a:t>LinkX</a:t>
                      </a:r>
                      <a:r>
                        <a:rPr kumimoji="1" lang="ja-JP" altLang="en-US" sz="10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5" action="ppaction://hlinksldjump"/>
                        </a:rPr>
                        <a:t>社の</a:t>
                      </a:r>
                      <a:r>
                        <a:rPr kumimoji="1" lang="en-US" altLang="ja-JP" sz="10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5" action="ppaction://hlinksldjump"/>
                        </a:rPr>
                        <a:t>R</a:t>
                      </a:r>
                      <a:r>
                        <a:rPr kumimoji="1" lang="ja-JP" altLang="en-US" sz="10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hlinkClick r:id="rId5" action="ppaction://hlinksldjump"/>
                        </a:rPr>
                        <a:t>構築実績</a:t>
                      </a:r>
                      <a:endParaRPr kumimoji="1" lang="en-US" altLang="ja-JP" sz="10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6442347"/>
                  </a:ext>
                </a:extLst>
              </a:tr>
              <a:tr h="335434">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6</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vMerge="1">
                  <a:txBody>
                    <a:bodyPr/>
                    <a:lstStyle/>
                    <a:p>
                      <a:pPr marL="0" indent="0" algn="ctr" defTabSz="914400" rtl="0" eaLnBrk="1" fontAlgn="base" latinLnBrk="0" hangingPunct="1">
                        <a:spcBef>
                          <a:spcPct val="0"/>
                        </a:spcBef>
                        <a:spcAft>
                          <a:spcPct val="0"/>
                        </a:spcAft>
                        <a:buFont typeface="Arial" panose="020B0604020202020204" pitchFamily="34" charset="0"/>
                        <a:buNone/>
                        <a:defRPr/>
                      </a:pPr>
                      <a:endParaRPr kumimoji="1"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defTabSz="914400" rtl="0" eaLnBrk="1" fontAlgn="base" latinLnBrk="0" hangingPunct="1">
                        <a:spcBef>
                          <a:spcPct val="0"/>
                        </a:spcBef>
                        <a:spcAft>
                          <a:spcPct val="0"/>
                        </a:spcAft>
                        <a:buFont typeface="Arial" panose="020B0604020202020204" pitchFamily="34" charset="0"/>
                        <a:buNone/>
                        <a:defRPr/>
                      </a:pPr>
                      <a:r>
                        <a:rPr kumimoji="1" lang="ja-JP" altLang="en-US"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ガバナンス・監査</a:t>
                      </a:r>
                      <a:endPar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〇</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ja-JP" altLang="en-US" sz="1400" kern="0" dirty="0">
                          <a:solidFill>
                            <a:srgbClr val="FF0000"/>
                          </a:solidFill>
                          <a:latin typeface="Meiryo UI" panose="020B0604030504040204" pitchFamily="50" charset="-128"/>
                          <a:ea typeface="Meiryo UI" panose="020B0604030504040204" pitchFamily="50" charset="-128"/>
                          <a:cs typeface="Arial" panose="020B0604020202020204" pitchFamily="34" charset="0"/>
                        </a:rPr>
                        <a:t>△</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NRI</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：大手？の顧客に</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n8n</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を導入しているため、機密データの管理はできていそうな印象。</a:t>
                      </a:r>
                      <a:endPar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200" b="0" i="0" u="none" strike="noStrike" kern="0" cap="none" spc="0" normalizeH="0" baseline="0" noProof="0" dirty="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：顧客環境に</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n8n</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の構築を行った実績がないため、</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R</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側できちんと推進する必要あり。</a:t>
                      </a:r>
                      <a:endPar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28229400"/>
                  </a:ext>
                </a:extLst>
              </a:tr>
              <a:tr h="335434">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7</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rowSpan="2">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ja-JP" altLang="en-US"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その他</a:t>
                      </a:r>
                    </a:p>
                  </a:txBody>
                  <a:tcPr marL="90044" marR="90044" marT="45022" marB="45022"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defTabSz="914400" rtl="0" eaLnBrk="1" fontAlgn="base" latinLnBrk="0" hangingPunct="1">
                        <a:spcBef>
                          <a:spcPct val="0"/>
                        </a:spcBef>
                        <a:spcAft>
                          <a:spcPct val="0"/>
                        </a:spcAft>
                        <a:buFont typeface="Arial" panose="020B0604020202020204" pitchFamily="34" charset="0"/>
                        <a:buNone/>
                        <a:defRPr/>
                      </a:pPr>
                      <a:r>
                        <a:rPr kumimoji="1" lang="ja-JP" altLang="en-US"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コミュニケーション</a:t>
                      </a:r>
                      <a:endPar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ja-JP" altLang="en-US" sz="1400" kern="0" dirty="0">
                          <a:solidFill>
                            <a:srgbClr val="FF0000"/>
                          </a:solidFill>
                          <a:latin typeface="Meiryo UI" panose="020B0604030504040204" pitchFamily="50" charset="-128"/>
                          <a:ea typeface="Meiryo UI" panose="020B0604030504040204" pitchFamily="50" charset="-128"/>
                          <a:cs typeface="Arial" panose="020B0604020202020204" pitchFamily="34" charset="0"/>
                        </a:rPr>
                        <a:t>△</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ja-JP" altLang="en-US"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〇</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NRI</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：開発者が中国の方しかいない？ということで内部や外部でミスコミュニケーションが発生。</a:t>
                      </a:r>
                      <a:endPar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200" b="0" i="0" u="none" strike="noStrike" kern="0" cap="none" spc="0" normalizeH="0" baseline="0" noProof="0" dirty="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：代表の坂本さんとは問題なくやり取りができ、意思疎通は全く問題ない印象。</a:t>
                      </a:r>
                      <a:endPar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95746034"/>
                  </a:ext>
                </a:extLst>
              </a:tr>
              <a:tr h="335434">
                <a:tc>
                  <a:txBody>
                    <a:bodyPr/>
                    <a:lstStyle/>
                    <a:p>
                      <a:pPr marL="0" indent="0" algn="ctr" defTabSz="914400" rtl="0" eaLnBrk="1" fontAlgn="base" latinLnBrk="0" hangingPunct="1">
                        <a:spcBef>
                          <a:spcPct val="0"/>
                        </a:spcBef>
                        <a:spcAft>
                          <a:spcPct val="0"/>
                        </a:spcAft>
                        <a:buFont typeface="Arial" panose="020B0604020202020204" pitchFamily="34" charset="0"/>
                        <a:buNone/>
                        <a:defRPr/>
                      </a:pPr>
                      <a:r>
                        <a:rPr kumimoji="1" lang="en-US" altLang="ja-JP"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8</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vMerge="1">
                  <a:txBody>
                    <a:bodyPr/>
                    <a:lstStyle/>
                    <a:p>
                      <a:pPr marL="0" indent="0" algn="ctr" defTabSz="914400" rtl="0" eaLnBrk="1" fontAlgn="base" latinLnBrk="0" hangingPunct="1">
                        <a:spcBef>
                          <a:spcPct val="0"/>
                        </a:spcBef>
                        <a:spcAft>
                          <a:spcPct val="0"/>
                        </a:spcAft>
                        <a:buFont typeface="Arial" panose="020B0604020202020204" pitchFamily="34" charset="0"/>
                        <a:buNone/>
                        <a:defRPr/>
                      </a:pPr>
                      <a:endParaRPr kumimoji="1"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indent="0" algn="l" defTabSz="914400" rtl="0" eaLnBrk="1" fontAlgn="base" latinLnBrk="0" hangingPunct="1">
                        <a:spcBef>
                          <a:spcPct val="0"/>
                        </a:spcBef>
                        <a:spcAft>
                          <a:spcPct val="0"/>
                        </a:spcAft>
                        <a:buFont typeface="Arial" panose="020B0604020202020204" pitchFamily="34" charset="0"/>
                        <a:buNone/>
                        <a:defRPr/>
                      </a:pPr>
                      <a:r>
                        <a:rPr kumimoji="1" lang="ja-JP" altLang="en-US" sz="14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開発パフォーマンス</a:t>
                      </a: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ctr" defTabSz="914400" rtl="0" eaLnBrk="1" fontAlgn="base" latinLnBrk="0" hangingPunct="1">
                        <a:spcBef>
                          <a:spcPct val="0"/>
                        </a:spcBef>
                        <a:spcAft>
                          <a:spcPct val="0"/>
                        </a:spcAft>
                        <a:buFont typeface="Arial" panose="020B0604020202020204" pitchFamily="34" charset="0"/>
                        <a:buNone/>
                        <a:defRPr/>
                      </a:pPr>
                      <a:r>
                        <a:rPr kumimoji="1" lang="ja-JP" altLang="en-US" sz="1400" kern="0" dirty="0">
                          <a:solidFill>
                            <a:srgbClr val="FF0000"/>
                          </a:solidFill>
                          <a:latin typeface="Meiryo UI" panose="020B0604030504040204" pitchFamily="50" charset="-128"/>
                          <a:ea typeface="Meiryo UI" panose="020B0604030504040204" pitchFamily="50" charset="-128"/>
                          <a:cs typeface="Arial" panose="020B0604020202020204" pitchFamily="34" charset="0"/>
                        </a:rPr>
                        <a:t>△</a:t>
                      </a:r>
                      <a:endParaRPr kumimoji="1" lang="en-US" altLang="ja-JP" sz="1400" kern="0" dirty="0">
                        <a:solidFill>
                          <a:srgbClr val="FF0000"/>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lgn="ctr" defTabSz="914400" rtl="0" eaLnBrk="1" fontAlgn="base" latinLnBrk="0" hangingPunct="1">
                        <a:spcBef>
                          <a:spcPct val="0"/>
                        </a:spcBef>
                        <a:spcAft>
                          <a:spcPct val="0"/>
                        </a:spcAft>
                        <a:buFont typeface="Arial" panose="020B0604020202020204" pitchFamily="34" charset="0"/>
                        <a:buNone/>
                        <a:defRPr/>
                      </a:pPr>
                      <a:r>
                        <a:rPr kumimoji="1" lang="ja-JP" altLang="en-US" sz="2000" kern="0" dirty="0">
                          <a:solidFill>
                            <a:srgbClr val="0065BD"/>
                          </a:solidFill>
                          <a:latin typeface="Meiryo UI" panose="020B0604030504040204" pitchFamily="50" charset="-128"/>
                          <a:ea typeface="Meiryo UI" panose="020B0604030504040204" pitchFamily="50" charset="-128"/>
                          <a:cs typeface="Arial" panose="020B0604020202020204" pitchFamily="34" charset="0"/>
                        </a:rPr>
                        <a:t>◎</a:t>
                      </a:r>
                      <a:endParaRPr kumimoji="1" lang="en-US" altLang="ja-JP" sz="2000" kern="0" dirty="0">
                        <a:solidFill>
                          <a:srgbClr val="0065BD"/>
                        </a:solidFill>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NRI</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R</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との環境差異もあるが、依頼された内容以外の実装も行っており、開発速度は遅い。</a:t>
                      </a:r>
                      <a:endPar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1" lang="en-US" altLang="ja-JP" sz="1200" b="0" i="0" u="none" strike="noStrike" kern="0" cap="none" spc="0" normalizeH="0" baseline="0" noProof="0" dirty="0" err="1">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LinkX</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：依頼された内容以上の結果を出し、</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R</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独自の</a:t>
                      </a:r>
                      <a:r>
                        <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MS</a:t>
                      </a: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rPr>
                        <a:t>環境での開発も納期通り必達。</a:t>
                      </a:r>
                      <a:endParaRPr kumimoji="1" lang="en-US" altLang="ja-JP"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endParaRPr>
                    </a:p>
                  </a:txBody>
                  <a:tcPr marL="110325" marR="110325" marT="55163" marB="55163">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8217792"/>
                  </a:ext>
                </a:extLst>
              </a:tr>
            </a:tbl>
          </a:graphicData>
        </a:graphic>
      </p:graphicFrame>
      <p:sp>
        <p:nvSpPr>
          <p:cNvPr id="10" name="テキスト ボックス 9">
            <a:extLst>
              <a:ext uri="{FF2B5EF4-FFF2-40B4-BE49-F238E27FC236}">
                <a16:creationId xmlns:a16="http://schemas.microsoft.com/office/drawing/2014/main" id="{288A599B-0175-677B-4670-7D749292933D}"/>
              </a:ext>
            </a:extLst>
          </p:cNvPr>
          <p:cNvSpPr txBox="1"/>
          <p:nvPr/>
        </p:nvSpPr>
        <p:spPr bwMode="auto">
          <a:xfrm>
            <a:off x="6096000" y="1102095"/>
            <a:ext cx="5952653" cy="276999"/>
          </a:xfrm>
          <a:prstGeom prst="rect">
            <a:avLst/>
          </a:prstGeom>
          <a:noFill/>
          <a:ln w="9525">
            <a:noFill/>
            <a:miter lim="800000"/>
            <a:headEnd/>
            <a:tailEnd/>
          </a:ln>
        </p:spPr>
        <p:txBody>
          <a:bodyPr wrap="square" rtlCol="0">
            <a:spAutoFit/>
          </a:bodyPr>
          <a:lstStyle/>
          <a:p>
            <a:pPr>
              <a:defRPr/>
            </a:pP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凡例　</a:t>
            </a:r>
            <a:r>
              <a:rPr lang="ja-JP" altLang="en-US" sz="1200" kern="0" dirty="0">
                <a:solidFill>
                  <a:srgbClr val="0065BD"/>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：期待以上　〇：期待通り（</a:t>
            </a:r>
            <a:r>
              <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or</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やや期待外れ）　</a:t>
            </a:r>
            <a:r>
              <a:rPr lang="ja-JP" altLang="en-US" sz="1200" kern="0" dirty="0">
                <a:solidFill>
                  <a:srgbClr val="FF0000"/>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lang="ja-JP" altLang="en-US"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：正確な指示とフォローが必要</a:t>
            </a:r>
            <a:endParaRPr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spTree>
    <p:extLst>
      <p:ext uri="{BB962C8B-B14F-4D97-AF65-F5344CB8AC3E}">
        <p14:creationId xmlns:p14="http://schemas.microsoft.com/office/powerpoint/2010/main" val="22312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1AB12-9007-A90C-5724-F12D765516D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1C492112-A26A-1964-E354-4A3F84502825}"/>
              </a:ext>
            </a:extLst>
          </p:cNvPr>
          <p:cNvSpPr>
            <a:spLocks noGrp="1"/>
          </p:cNvSpPr>
          <p:nvPr>
            <p:ph type="title"/>
          </p:nvPr>
        </p:nvSpPr>
        <p:spPr/>
        <p:txBody>
          <a:bodyPr/>
          <a:lstStyle/>
          <a:p>
            <a:r>
              <a:rPr lang="ja-JP" altLang="en-US" dirty="0"/>
              <a:t>最終的に構築したい</a:t>
            </a:r>
            <a:r>
              <a:rPr lang="en-US" altLang="ja-JP" dirty="0"/>
              <a:t>AI</a:t>
            </a:r>
            <a:r>
              <a:rPr lang="ja-JP" altLang="en-US" dirty="0"/>
              <a:t>エージェント・アーキテクチャのイメージ</a:t>
            </a:r>
            <a:endParaRPr kumimoji="1" lang="ja-JP" altLang="en-US" dirty="0"/>
          </a:p>
        </p:txBody>
      </p:sp>
      <p:sp>
        <p:nvSpPr>
          <p:cNvPr id="4" name="スライド番号プレースホルダー 3">
            <a:extLst>
              <a:ext uri="{FF2B5EF4-FFF2-40B4-BE49-F238E27FC236}">
                <a16:creationId xmlns:a16="http://schemas.microsoft.com/office/drawing/2014/main" id="{8BE96163-08D7-E882-0D19-3BF292078952}"/>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7</a:t>
            </a:fld>
            <a:endParaRPr lang="en-US" altLang="ja-JP"/>
          </a:p>
        </p:txBody>
      </p:sp>
      <p:sp>
        <p:nvSpPr>
          <p:cNvPr id="2" name="コンテンツ プレースホルダー 5">
            <a:extLst>
              <a:ext uri="{FF2B5EF4-FFF2-40B4-BE49-F238E27FC236}">
                <a16:creationId xmlns:a16="http://schemas.microsoft.com/office/drawing/2014/main" id="{6194177A-F4BC-6658-6AFF-219D4B48CAF7}"/>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AI</a:t>
            </a:r>
            <a:r>
              <a:rPr lang="ja-JP" altLang="en-US" sz="1600" kern="0" dirty="0"/>
              <a:t>エージェントのアーキテクチャは</a:t>
            </a:r>
            <a:r>
              <a:rPr lang="en-US" altLang="ja-JP" sz="1600" kern="0" dirty="0"/>
              <a:t>n8n×Azure</a:t>
            </a:r>
            <a:r>
              <a:rPr lang="ja-JP" altLang="en-US" sz="1600" kern="0" dirty="0"/>
              <a:t>をベースに構築する。</a:t>
            </a:r>
            <a:endParaRPr lang="en-US" altLang="ja-JP" sz="1600" kern="0" dirty="0"/>
          </a:p>
        </p:txBody>
      </p:sp>
      <p:grpSp>
        <p:nvGrpSpPr>
          <p:cNvPr id="9" name="グループ化 8">
            <a:extLst>
              <a:ext uri="{FF2B5EF4-FFF2-40B4-BE49-F238E27FC236}">
                <a16:creationId xmlns:a16="http://schemas.microsoft.com/office/drawing/2014/main" id="{A3C728BB-CEF7-5926-C85A-2567080F86A9}"/>
              </a:ext>
            </a:extLst>
          </p:cNvPr>
          <p:cNvGrpSpPr/>
          <p:nvPr/>
        </p:nvGrpSpPr>
        <p:grpSpPr>
          <a:xfrm>
            <a:off x="525224" y="999592"/>
            <a:ext cx="11152135" cy="5563133"/>
            <a:chOff x="525224" y="999592"/>
            <a:chExt cx="11152135" cy="5563133"/>
          </a:xfrm>
        </p:grpSpPr>
        <p:sp>
          <p:nvSpPr>
            <p:cNvPr id="6" name="正方形/長方形 5">
              <a:extLst>
                <a:ext uri="{FF2B5EF4-FFF2-40B4-BE49-F238E27FC236}">
                  <a16:creationId xmlns:a16="http://schemas.microsoft.com/office/drawing/2014/main" id="{03F5E3BA-08BA-B042-2754-0041A551B0CE}"/>
                </a:ext>
              </a:extLst>
            </p:cNvPr>
            <p:cNvSpPr/>
            <p:nvPr/>
          </p:nvSpPr>
          <p:spPr>
            <a:xfrm>
              <a:off x="1555606" y="1656685"/>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Teams</a:t>
              </a: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アダプティブカード</a:t>
              </a: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 name="正方形/長方形 6">
              <a:extLst>
                <a:ext uri="{FF2B5EF4-FFF2-40B4-BE49-F238E27FC236}">
                  <a16:creationId xmlns:a16="http://schemas.microsoft.com/office/drawing/2014/main" id="{03ADEBCF-30DB-ADE0-FAAC-3F976C34002F}"/>
                </a:ext>
              </a:extLst>
            </p:cNvPr>
            <p:cNvSpPr/>
            <p:nvPr/>
          </p:nvSpPr>
          <p:spPr>
            <a:xfrm>
              <a:off x="9070540" y="1656685"/>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各種フロントエンド</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&lt;Web/Mobile&gt;</a:t>
              </a:r>
              <a:endPar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8" name="正方形/長方形 7">
              <a:extLst>
                <a:ext uri="{FF2B5EF4-FFF2-40B4-BE49-F238E27FC236}">
                  <a16:creationId xmlns:a16="http://schemas.microsoft.com/office/drawing/2014/main" id="{48FC5ACA-041B-415F-26B3-876B4261944B}"/>
                </a:ext>
              </a:extLst>
            </p:cNvPr>
            <p:cNvSpPr/>
            <p:nvPr/>
          </p:nvSpPr>
          <p:spPr>
            <a:xfrm>
              <a:off x="5295320" y="2067612"/>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AzureAPIManagement</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統一セキュリティ窓口</a:t>
              </a: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5" name="四角形: 角を丸くする 4">
              <a:extLst>
                <a:ext uri="{FF2B5EF4-FFF2-40B4-BE49-F238E27FC236}">
                  <a16:creationId xmlns:a16="http://schemas.microsoft.com/office/drawing/2014/main" id="{98612246-1984-8E03-0420-36C0A5281A53}"/>
                </a:ext>
              </a:extLst>
            </p:cNvPr>
            <p:cNvSpPr/>
            <p:nvPr/>
          </p:nvSpPr>
          <p:spPr>
            <a:xfrm>
              <a:off x="525224" y="1238571"/>
              <a:ext cx="11141552" cy="1323654"/>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アクセス</a:t>
              </a:r>
              <a:r>
                <a:rPr kumimoji="1"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（ユーザー）層</a:t>
              </a:r>
            </a:p>
          </p:txBody>
        </p:sp>
        <p:sp>
          <p:nvSpPr>
            <p:cNvPr id="10" name="四角形: 角を丸くする 9">
              <a:extLst>
                <a:ext uri="{FF2B5EF4-FFF2-40B4-BE49-F238E27FC236}">
                  <a16:creationId xmlns:a16="http://schemas.microsoft.com/office/drawing/2014/main" id="{30B02DDA-FDA9-93D4-A38F-18A371A9F3A5}"/>
                </a:ext>
              </a:extLst>
            </p:cNvPr>
            <p:cNvSpPr/>
            <p:nvPr/>
          </p:nvSpPr>
          <p:spPr>
            <a:xfrm>
              <a:off x="525224" y="2638425"/>
              <a:ext cx="3637201" cy="2752726"/>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可視化・分析</a:t>
              </a:r>
              <a:r>
                <a:rPr kumimoji="1"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層</a:t>
              </a:r>
            </a:p>
          </p:txBody>
        </p:sp>
        <p:sp>
          <p:nvSpPr>
            <p:cNvPr id="11" name="四角形: 角を丸くする 10">
              <a:extLst>
                <a:ext uri="{FF2B5EF4-FFF2-40B4-BE49-F238E27FC236}">
                  <a16:creationId xmlns:a16="http://schemas.microsoft.com/office/drawing/2014/main" id="{9B8E6761-273C-5221-FF7A-10C56D153D08}"/>
                </a:ext>
              </a:extLst>
            </p:cNvPr>
            <p:cNvSpPr/>
            <p:nvPr/>
          </p:nvSpPr>
          <p:spPr>
            <a:xfrm>
              <a:off x="525224" y="5467170"/>
              <a:ext cx="3637201" cy="1095555"/>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共通基盤</a:t>
              </a:r>
              <a:r>
                <a:rPr kumimoji="1"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層</a:t>
              </a:r>
            </a:p>
          </p:txBody>
        </p:sp>
        <p:sp>
          <p:nvSpPr>
            <p:cNvPr id="19" name="正方形/長方形 18">
              <a:extLst>
                <a:ext uri="{FF2B5EF4-FFF2-40B4-BE49-F238E27FC236}">
                  <a16:creationId xmlns:a16="http://schemas.microsoft.com/office/drawing/2014/main" id="{1FAC0811-C26E-A8A0-D94F-C615ABD56CB6}"/>
                </a:ext>
              </a:extLst>
            </p:cNvPr>
            <p:cNvSpPr/>
            <p:nvPr/>
          </p:nvSpPr>
          <p:spPr>
            <a:xfrm>
              <a:off x="1555606" y="3047923"/>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AzureWebApp</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&lt;Teams</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連携ロジック</a:t>
              </a: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21" name="正方形/長方形 20">
              <a:extLst>
                <a:ext uri="{FF2B5EF4-FFF2-40B4-BE49-F238E27FC236}">
                  <a16:creationId xmlns:a16="http://schemas.microsoft.com/office/drawing/2014/main" id="{BF69FA08-6E00-6E12-3025-D68578B996E5}"/>
                </a:ext>
              </a:extLst>
            </p:cNvPr>
            <p:cNvSpPr/>
            <p:nvPr/>
          </p:nvSpPr>
          <p:spPr>
            <a:xfrm>
              <a:off x="1555606" y="3838498"/>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AzureMonitor</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ログ分析</a:t>
              </a: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22" name="正方形/長方形 21">
              <a:extLst>
                <a:ext uri="{FF2B5EF4-FFF2-40B4-BE49-F238E27FC236}">
                  <a16:creationId xmlns:a16="http://schemas.microsoft.com/office/drawing/2014/main" id="{D8D9952B-BF68-3AE9-9DC7-5DCC147B6A8A}"/>
                </a:ext>
              </a:extLst>
            </p:cNvPr>
            <p:cNvSpPr/>
            <p:nvPr/>
          </p:nvSpPr>
          <p:spPr>
            <a:xfrm>
              <a:off x="1555606" y="4629073"/>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管理ダッシュボード</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&lt;Teams</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アプリ</a:t>
              </a: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r>
                <a:rPr kumimoji="0" lang="en-US" altLang="ja-JP" sz="1000"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PowerBI</a:t>
              </a: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23" name="正方形/長方形 22">
              <a:extLst>
                <a:ext uri="{FF2B5EF4-FFF2-40B4-BE49-F238E27FC236}">
                  <a16:creationId xmlns:a16="http://schemas.microsoft.com/office/drawing/2014/main" id="{ADED61C6-BC52-2DDA-B7EF-21F1C0EF24E6}"/>
                </a:ext>
              </a:extLst>
            </p:cNvPr>
            <p:cNvSpPr/>
            <p:nvPr/>
          </p:nvSpPr>
          <p:spPr>
            <a:xfrm>
              <a:off x="1555606" y="5824408"/>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AzureEntraID</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認証・</a:t>
              </a: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SSO&gt;</a:t>
              </a:r>
              <a:endPar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4" name="四角形: 角を丸くする 13">
              <a:extLst>
                <a:ext uri="{FF2B5EF4-FFF2-40B4-BE49-F238E27FC236}">
                  <a16:creationId xmlns:a16="http://schemas.microsoft.com/office/drawing/2014/main" id="{74F2A7A1-883A-BB0F-5168-9F5FAEE59271}"/>
                </a:ext>
              </a:extLst>
            </p:cNvPr>
            <p:cNvSpPr/>
            <p:nvPr/>
          </p:nvSpPr>
          <p:spPr>
            <a:xfrm>
              <a:off x="4283292" y="5467170"/>
              <a:ext cx="3636000" cy="1095554"/>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改善・強化</a:t>
              </a:r>
              <a:r>
                <a:rPr kumimoji="1"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層</a:t>
              </a:r>
            </a:p>
          </p:txBody>
        </p:sp>
        <p:sp>
          <p:nvSpPr>
            <p:cNvPr id="15" name="四角形: 角を丸くする 14">
              <a:extLst>
                <a:ext uri="{FF2B5EF4-FFF2-40B4-BE49-F238E27FC236}">
                  <a16:creationId xmlns:a16="http://schemas.microsoft.com/office/drawing/2014/main" id="{10CAB9C6-97ED-EBD2-0C54-E1F245FADC1F}"/>
                </a:ext>
              </a:extLst>
            </p:cNvPr>
            <p:cNvSpPr/>
            <p:nvPr/>
          </p:nvSpPr>
          <p:spPr>
            <a:xfrm>
              <a:off x="4283292" y="3467011"/>
              <a:ext cx="3636000" cy="1095554"/>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データ基盤層</a:t>
              </a:r>
            </a:p>
          </p:txBody>
        </p:sp>
        <p:sp>
          <p:nvSpPr>
            <p:cNvPr id="20" name="正方形/長方形 19">
              <a:extLst>
                <a:ext uri="{FF2B5EF4-FFF2-40B4-BE49-F238E27FC236}">
                  <a16:creationId xmlns:a16="http://schemas.microsoft.com/office/drawing/2014/main" id="{0A07ED36-2BC8-DBF8-E38D-664DCE61A909}"/>
                </a:ext>
              </a:extLst>
            </p:cNvPr>
            <p:cNvSpPr/>
            <p:nvPr/>
          </p:nvSpPr>
          <p:spPr>
            <a:xfrm>
              <a:off x="5313074" y="3824249"/>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データ基盤</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稼働ログ・案件データ</a:t>
              </a: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24" name="正方形/長方形 23">
              <a:extLst>
                <a:ext uri="{FF2B5EF4-FFF2-40B4-BE49-F238E27FC236}">
                  <a16:creationId xmlns:a16="http://schemas.microsoft.com/office/drawing/2014/main" id="{474AAAA7-1194-BC41-4555-1F7850582494}"/>
                </a:ext>
              </a:extLst>
            </p:cNvPr>
            <p:cNvSpPr/>
            <p:nvPr/>
          </p:nvSpPr>
          <p:spPr>
            <a:xfrm>
              <a:off x="5313074" y="5824407"/>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CI/CD</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&lt;GitHub&gt;</a:t>
              </a:r>
              <a:endPar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2" name="四角形: 角を丸くする 11">
              <a:extLst>
                <a:ext uri="{FF2B5EF4-FFF2-40B4-BE49-F238E27FC236}">
                  <a16:creationId xmlns:a16="http://schemas.microsoft.com/office/drawing/2014/main" id="{BC837EFB-1F68-5DB0-CD01-0FA1EA0F4253}"/>
                </a:ext>
              </a:extLst>
            </p:cNvPr>
            <p:cNvSpPr/>
            <p:nvPr/>
          </p:nvSpPr>
          <p:spPr>
            <a:xfrm>
              <a:off x="8040158" y="2638425"/>
              <a:ext cx="3637201" cy="3924299"/>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中核・</a:t>
              </a:r>
              <a:r>
                <a:rPr kumimoji="1" lang="en-US" altLang="ja-JP" sz="1200" dirty="0">
                  <a:solidFill>
                    <a:schemeClr val="accent4">
                      <a:lumMod val="65000"/>
                      <a:lumOff val="35000"/>
                    </a:schemeClr>
                  </a:solidFill>
                  <a:latin typeface="Meiryo UI" panose="020B0604030504040204" pitchFamily="50" charset="-128"/>
                  <a:ea typeface="Meiryo UI" panose="020B0604030504040204" pitchFamily="50" charset="-128"/>
                </a:rPr>
                <a:t>AI</a:t>
              </a:r>
              <a:r>
                <a:rPr kumimoji="1"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エージェント層</a:t>
              </a:r>
            </a:p>
          </p:txBody>
        </p:sp>
        <p:sp>
          <p:nvSpPr>
            <p:cNvPr id="25" name="正方形/長方形 24">
              <a:extLst>
                <a:ext uri="{FF2B5EF4-FFF2-40B4-BE49-F238E27FC236}">
                  <a16:creationId xmlns:a16="http://schemas.microsoft.com/office/drawing/2014/main" id="{B6EA94A5-420F-B899-4C85-CD22ED80C4B3}"/>
                </a:ext>
              </a:extLst>
            </p:cNvPr>
            <p:cNvSpPr/>
            <p:nvPr/>
          </p:nvSpPr>
          <p:spPr>
            <a:xfrm>
              <a:off x="9070540" y="5824407"/>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AzureOpenAI</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モデル</a:t>
              </a: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26" name="正方形/長方形 25">
              <a:extLst>
                <a:ext uri="{FF2B5EF4-FFF2-40B4-BE49-F238E27FC236}">
                  <a16:creationId xmlns:a16="http://schemas.microsoft.com/office/drawing/2014/main" id="{0D8D7438-3E80-E838-B42F-12395F185B8A}"/>
                </a:ext>
              </a:extLst>
            </p:cNvPr>
            <p:cNvSpPr/>
            <p:nvPr/>
          </p:nvSpPr>
          <p:spPr>
            <a:xfrm>
              <a:off x="9070540" y="3047923"/>
              <a:ext cx="1576436" cy="381077"/>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a:t>
              </a: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8n on </a:t>
              </a:r>
              <a:r>
                <a:rPr kumimoji="0" lang="en-US" altLang="ja-JP" sz="10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ContainerApps</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ワークフロー実行</a:t>
              </a: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54" name="コネクタ: 曲線 53">
              <a:extLst>
                <a:ext uri="{FF2B5EF4-FFF2-40B4-BE49-F238E27FC236}">
                  <a16:creationId xmlns:a16="http://schemas.microsoft.com/office/drawing/2014/main" id="{C1C863FE-2F02-C0F5-C51F-B69848244C6C}"/>
                </a:ext>
              </a:extLst>
            </p:cNvPr>
            <p:cNvCxnSpPr>
              <a:cxnSpLocks/>
              <a:stCxn id="8" idx="0"/>
              <a:endCxn id="6" idx="3"/>
            </p:cNvCxnSpPr>
            <p:nvPr/>
          </p:nvCxnSpPr>
          <p:spPr>
            <a:xfrm rot="16200000" flipV="1">
              <a:off x="4497596" y="481670"/>
              <a:ext cx="220388" cy="2951496"/>
            </a:xfrm>
            <a:prstGeom prst="curvedConnector2">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57" name="コネクタ: 曲線 56">
              <a:extLst>
                <a:ext uri="{FF2B5EF4-FFF2-40B4-BE49-F238E27FC236}">
                  <a16:creationId xmlns:a16="http://schemas.microsoft.com/office/drawing/2014/main" id="{41EE38F5-CB60-8D38-4FF5-CCD3B79E6388}"/>
                </a:ext>
              </a:extLst>
            </p:cNvPr>
            <p:cNvCxnSpPr>
              <a:cxnSpLocks/>
              <a:stCxn id="8" idx="0"/>
              <a:endCxn id="7" idx="1"/>
            </p:cNvCxnSpPr>
            <p:nvPr/>
          </p:nvCxnSpPr>
          <p:spPr>
            <a:xfrm rot="5400000" flipH="1" flipV="1">
              <a:off x="7466845" y="463917"/>
              <a:ext cx="220388" cy="2987002"/>
            </a:xfrm>
            <a:prstGeom prst="curvedConnector2">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60" name="コネクタ: 曲線 59">
              <a:extLst>
                <a:ext uri="{FF2B5EF4-FFF2-40B4-BE49-F238E27FC236}">
                  <a16:creationId xmlns:a16="http://schemas.microsoft.com/office/drawing/2014/main" id="{73A8A7D5-F0A6-F32A-5FB8-3FA51C76F43C}"/>
                </a:ext>
              </a:extLst>
            </p:cNvPr>
            <p:cNvCxnSpPr>
              <a:cxnSpLocks/>
              <a:stCxn id="26" idx="1"/>
              <a:endCxn id="8" idx="3"/>
            </p:cNvCxnSpPr>
            <p:nvPr/>
          </p:nvCxnSpPr>
          <p:spPr>
            <a:xfrm rot="10800000">
              <a:off x="6871756" y="2258152"/>
              <a:ext cx="2198784" cy="980311"/>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63" name="コネクタ: 曲線 62">
              <a:extLst>
                <a:ext uri="{FF2B5EF4-FFF2-40B4-BE49-F238E27FC236}">
                  <a16:creationId xmlns:a16="http://schemas.microsoft.com/office/drawing/2014/main" id="{0977360D-B37B-4DB6-A114-AF69AFFC078C}"/>
                </a:ext>
              </a:extLst>
            </p:cNvPr>
            <p:cNvCxnSpPr>
              <a:cxnSpLocks/>
              <a:stCxn id="19" idx="1"/>
              <a:endCxn id="6" idx="1"/>
            </p:cNvCxnSpPr>
            <p:nvPr/>
          </p:nvCxnSpPr>
          <p:spPr>
            <a:xfrm rot="10800000">
              <a:off x="1555606" y="1847224"/>
              <a:ext cx="12700" cy="1391238"/>
            </a:xfrm>
            <a:prstGeom prst="curvedConnector3">
              <a:avLst>
                <a:gd name="adj1" fmla="val 180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68" name="コネクタ: 曲線 67">
              <a:extLst>
                <a:ext uri="{FF2B5EF4-FFF2-40B4-BE49-F238E27FC236}">
                  <a16:creationId xmlns:a16="http://schemas.microsoft.com/office/drawing/2014/main" id="{53B81AAA-1317-3B54-E35C-F97176A13542}"/>
                </a:ext>
              </a:extLst>
            </p:cNvPr>
            <p:cNvCxnSpPr>
              <a:cxnSpLocks/>
              <a:stCxn id="23" idx="1"/>
              <a:endCxn id="19" idx="2"/>
            </p:cNvCxnSpPr>
            <p:nvPr/>
          </p:nvCxnSpPr>
          <p:spPr>
            <a:xfrm rot="10800000" flipH="1">
              <a:off x="1555606" y="3429001"/>
              <a:ext cx="788218" cy="2585947"/>
            </a:xfrm>
            <a:prstGeom prst="curvedConnector4">
              <a:avLst>
                <a:gd name="adj1" fmla="val -66928"/>
                <a:gd name="adj2" fmla="val 96347"/>
              </a:avLst>
            </a:prstGeom>
            <a:noFill/>
            <a:ln w="6350">
              <a:solidFill>
                <a:schemeClr val="bg1">
                  <a:lumMod val="50000"/>
                </a:schemeClr>
              </a:solidFill>
              <a:prstDash val="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73" name="コネクタ: 曲線 72">
              <a:extLst>
                <a:ext uri="{FF2B5EF4-FFF2-40B4-BE49-F238E27FC236}">
                  <a16:creationId xmlns:a16="http://schemas.microsoft.com/office/drawing/2014/main" id="{FDA4C1B3-30E8-E27E-9E52-04F323507177}"/>
                </a:ext>
              </a:extLst>
            </p:cNvPr>
            <p:cNvCxnSpPr>
              <a:cxnSpLocks/>
              <a:stCxn id="23" idx="3"/>
              <a:endCxn id="8" idx="1"/>
            </p:cNvCxnSpPr>
            <p:nvPr/>
          </p:nvCxnSpPr>
          <p:spPr>
            <a:xfrm flipV="1">
              <a:off x="3132042" y="2258151"/>
              <a:ext cx="2163278" cy="3756796"/>
            </a:xfrm>
            <a:prstGeom prst="curvedConnector3">
              <a:avLst>
                <a:gd name="adj1" fmla="val 50000"/>
              </a:avLst>
            </a:prstGeom>
            <a:noFill/>
            <a:ln w="6350">
              <a:solidFill>
                <a:schemeClr val="bg1">
                  <a:lumMod val="50000"/>
                </a:schemeClr>
              </a:solidFill>
              <a:prstDash val="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76" name="コネクタ: 曲線 75">
              <a:extLst>
                <a:ext uri="{FF2B5EF4-FFF2-40B4-BE49-F238E27FC236}">
                  <a16:creationId xmlns:a16="http://schemas.microsoft.com/office/drawing/2014/main" id="{A3CE7842-2B94-0D6C-AF0F-213635A12616}"/>
                </a:ext>
              </a:extLst>
            </p:cNvPr>
            <p:cNvCxnSpPr>
              <a:cxnSpLocks/>
              <a:stCxn id="23" idx="3"/>
              <a:endCxn id="26" idx="1"/>
            </p:cNvCxnSpPr>
            <p:nvPr/>
          </p:nvCxnSpPr>
          <p:spPr>
            <a:xfrm flipV="1">
              <a:off x="3132042" y="3238462"/>
              <a:ext cx="5938498" cy="2776485"/>
            </a:xfrm>
            <a:prstGeom prst="curvedConnector3">
              <a:avLst>
                <a:gd name="adj1" fmla="val 61252"/>
              </a:avLst>
            </a:prstGeom>
            <a:noFill/>
            <a:ln w="6350">
              <a:solidFill>
                <a:schemeClr val="bg1">
                  <a:lumMod val="50000"/>
                </a:schemeClr>
              </a:solidFill>
              <a:prstDash val="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81" name="コネクタ: 曲線 80">
              <a:extLst>
                <a:ext uri="{FF2B5EF4-FFF2-40B4-BE49-F238E27FC236}">
                  <a16:creationId xmlns:a16="http://schemas.microsoft.com/office/drawing/2014/main" id="{D59F68B3-DCF0-50A5-22EC-6A7D591F8712}"/>
                </a:ext>
              </a:extLst>
            </p:cNvPr>
            <p:cNvCxnSpPr>
              <a:cxnSpLocks/>
              <a:stCxn id="26" idx="2"/>
              <a:endCxn id="24" idx="3"/>
            </p:cNvCxnSpPr>
            <p:nvPr/>
          </p:nvCxnSpPr>
          <p:spPr>
            <a:xfrm rot="5400000">
              <a:off x="7081161" y="3237349"/>
              <a:ext cx="2585946" cy="2969248"/>
            </a:xfrm>
            <a:prstGeom prst="curvedConnector2">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85" name="コネクタ: 曲線 84">
              <a:extLst>
                <a:ext uri="{FF2B5EF4-FFF2-40B4-BE49-F238E27FC236}">
                  <a16:creationId xmlns:a16="http://schemas.microsoft.com/office/drawing/2014/main" id="{42A22C54-795F-193E-E235-5F9A93253931}"/>
                </a:ext>
              </a:extLst>
            </p:cNvPr>
            <p:cNvCxnSpPr>
              <a:cxnSpLocks/>
              <a:stCxn id="26" idx="3"/>
              <a:endCxn id="25" idx="3"/>
            </p:cNvCxnSpPr>
            <p:nvPr/>
          </p:nvCxnSpPr>
          <p:spPr>
            <a:xfrm>
              <a:off x="10646976" y="3238462"/>
              <a:ext cx="12700" cy="2776484"/>
            </a:xfrm>
            <a:prstGeom prst="curvedConnector3">
              <a:avLst>
                <a:gd name="adj1" fmla="val 1800000"/>
              </a:avLst>
            </a:prstGeom>
            <a:noFill/>
            <a:ln w="6350">
              <a:solidFill>
                <a:schemeClr val="bg1">
                  <a:lumMod val="50000"/>
                </a:schemeClr>
              </a:solidFill>
              <a:prstDash val="solid"/>
              <a:headEnd type="triangle"/>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88" name="コネクタ: 曲線 87">
              <a:extLst>
                <a:ext uri="{FF2B5EF4-FFF2-40B4-BE49-F238E27FC236}">
                  <a16:creationId xmlns:a16="http://schemas.microsoft.com/office/drawing/2014/main" id="{8B09B415-E8C2-45E7-7E7E-9B2AC744C99D}"/>
                </a:ext>
              </a:extLst>
            </p:cNvPr>
            <p:cNvCxnSpPr>
              <a:cxnSpLocks/>
              <a:stCxn id="20" idx="3"/>
              <a:endCxn id="26" idx="2"/>
            </p:cNvCxnSpPr>
            <p:nvPr/>
          </p:nvCxnSpPr>
          <p:spPr>
            <a:xfrm flipV="1">
              <a:off x="6889510" y="3429000"/>
              <a:ext cx="2969248" cy="585788"/>
            </a:xfrm>
            <a:prstGeom prst="curvedConnector2">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92" name="コネクタ: 曲線 91">
              <a:extLst>
                <a:ext uri="{FF2B5EF4-FFF2-40B4-BE49-F238E27FC236}">
                  <a16:creationId xmlns:a16="http://schemas.microsoft.com/office/drawing/2014/main" id="{C70397B5-AE08-8773-E21B-B7B52A7FE12C}"/>
                </a:ext>
              </a:extLst>
            </p:cNvPr>
            <p:cNvCxnSpPr>
              <a:cxnSpLocks/>
              <a:stCxn id="21" idx="3"/>
              <a:endCxn id="26" idx="1"/>
            </p:cNvCxnSpPr>
            <p:nvPr/>
          </p:nvCxnSpPr>
          <p:spPr>
            <a:xfrm flipV="1">
              <a:off x="3132042" y="3238462"/>
              <a:ext cx="5938498" cy="790575"/>
            </a:xfrm>
            <a:prstGeom prst="curvedConnector3">
              <a:avLst>
                <a:gd name="adj1" fmla="val 35861"/>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96" name="コネクタ: 曲線 95">
              <a:extLst>
                <a:ext uri="{FF2B5EF4-FFF2-40B4-BE49-F238E27FC236}">
                  <a16:creationId xmlns:a16="http://schemas.microsoft.com/office/drawing/2014/main" id="{A8BAFEE2-C1F4-1D02-F7DC-DA720E4986F6}"/>
                </a:ext>
              </a:extLst>
            </p:cNvPr>
            <p:cNvCxnSpPr>
              <a:cxnSpLocks/>
              <a:stCxn id="22" idx="1"/>
              <a:endCxn id="21" idx="1"/>
            </p:cNvCxnSpPr>
            <p:nvPr/>
          </p:nvCxnSpPr>
          <p:spPr>
            <a:xfrm rot="10800000">
              <a:off x="1555606" y="4029038"/>
              <a:ext cx="12700" cy="790575"/>
            </a:xfrm>
            <a:prstGeom prst="curvedConnector3">
              <a:avLst>
                <a:gd name="adj1" fmla="val 180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36" name="コネクタ: 曲線 35">
              <a:extLst>
                <a:ext uri="{FF2B5EF4-FFF2-40B4-BE49-F238E27FC236}">
                  <a16:creationId xmlns:a16="http://schemas.microsoft.com/office/drawing/2014/main" id="{7A8AA241-34B3-F1C0-B468-83DFF6D269D4}"/>
                </a:ext>
              </a:extLst>
            </p:cNvPr>
            <p:cNvCxnSpPr>
              <a:cxnSpLocks/>
              <a:stCxn id="22" idx="3"/>
              <a:endCxn id="20" idx="1"/>
            </p:cNvCxnSpPr>
            <p:nvPr/>
          </p:nvCxnSpPr>
          <p:spPr>
            <a:xfrm flipV="1">
              <a:off x="3132042" y="4014788"/>
              <a:ext cx="2181032" cy="804824"/>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39" name="コネクタ: 曲線 38">
              <a:extLst>
                <a:ext uri="{FF2B5EF4-FFF2-40B4-BE49-F238E27FC236}">
                  <a16:creationId xmlns:a16="http://schemas.microsoft.com/office/drawing/2014/main" id="{FE44490C-2A92-93FC-E7C0-55A0F35C3CC3}"/>
                </a:ext>
              </a:extLst>
            </p:cNvPr>
            <p:cNvCxnSpPr>
              <a:cxnSpLocks/>
              <a:stCxn id="24" idx="1"/>
              <a:endCxn id="22" idx="2"/>
            </p:cNvCxnSpPr>
            <p:nvPr/>
          </p:nvCxnSpPr>
          <p:spPr>
            <a:xfrm rot="10800000">
              <a:off x="2343824" y="5010150"/>
              <a:ext cx="2969250" cy="1004796"/>
            </a:xfrm>
            <a:prstGeom prst="curvedConnector2">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46" name="コネクタ: 曲線 45">
              <a:extLst>
                <a:ext uri="{FF2B5EF4-FFF2-40B4-BE49-F238E27FC236}">
                  <a16:creationId xmlns:a16="http://schemas.microsoft.com/office/drawing/2014/main" id="{41754FCC-3054-062B-F9E9-BA266EAC1E62}"/>
                </a:ext>
              </a:extLst>
            </p:cNvPr>
            <p:cNvCxnSpPr>
              <a:cxnSpLocks/>
              <a:stCxn id="25" idx="1"/>
              <a:endCxn id="24" idx="2"/>
            </p:cNvCxnSpPr>
            <p:nvPr/>
          </p:nvCxnSpPr>
          <p:spPr>
            <a:xfrm rot="10800000" flipV="1">
              <a:off x="6101292" y="6014946"/>
              <a:ext cx="2969248" cy="190538"/>
            </a:xfrm>
            <a:prstGeom prst="curvedConnector4">
              <a:avLst>
                <a:gd name="adj1" fmla="val 36727"/>
                <a:gd name="adj2" fmla="val 219976"/>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grpSp>
          <p:nvGrpSpPr>
            <p:cNvPr id="64" name="グループ化 63">
              <a:extLst>
                <a:ext uri="{FF2B5EF4-FFF2-40B4-BE49-F238E27FC236}">
                  <a16:creationId xmlns:a16="http://schemas.microsoft.com/office/drawing/2014/main" id="{E800CFB6-AE2F-F14E-1D44-39CAB98AB946}"/>
                </a:ext>
              </a:extLst>
            </p:cNvPr>
            <p:cNvGrpSpPr/>
            <p:nvPr/>
          </p:nvGrpSpPr>
          <p:grpSpPr>
            <a:xfrm>
              <a:off x="9603534" y="999592"/>
              <a:ext cx="2017409" cy="236619"/>
              <a:chOff x="9771174" y="958952"/>
              <a:chExt cx="2017409" cy="236619"/>
            </a:xfrm>
          </p:grpSpPr>
          <p:grpSp>
            <p:nvGrpSpPr>
              <p:cNvPr id="58" name="グループ化 57">
                <a:extLst>
                  <a:ext uri="{FF2B5EF4-FFF2-40B4-BE49-F238E27FC236}">
                    <a16:creationId xmlns:a16="http://schemas.microsoft.com/office/drawing/2014/main" id="{0A494B04-EF73-A106-C0E5-2FAD81B4DF54}"/>
                  </a:ext>
                </a:extLst>
              </p:cNvPr>
              <p:cNvGrpSpPr/>
              <p:nvPr/>
            </p:nvGrpSpPr>
            <p:grpSpPr>
              <a:xfrm>
                <a:off x="9771174" y="958952"/>
                <a:ext cx="973684" cy="236619"/>
                <a:chOff x="9771174" y="958952"/>
                <a:chExt cx="973684" cy="236619"/>
              </a:xfrm>
            </p:grpSpPr>
            <p:cxnSp>
              <p:nvCxnSpPr>
                <p:cNvPr id="50" name="コネクタ: 曲線 49">
                  <a:extLst>
                    <a:ext uri="{FF2B5EF4-FFF2-40B4-BE49-F238E27FC236}">
                      <a16:creationId xmlns:a16="http://schemas.microsoft.com/office/drawing/2014/main" id="{A73E7B53-F7A5-5473-D834-6607FDE32FF4}"/>
                    </a:ext>
                  </a:extLst>
                </p:cNvPr>
                <p:cNvCxnSpPr>
                  <a:cxnSpLocks/>
                </p:cNvCxnSpPr>
                <p:nvPr/>
              </p:nvCxnSpPr>
              <p:spPr>
                <a:xfrm rot="240000" flipV="1">
                  <a:off x="9771174" y="1034288"/>
                  <a:ext cx="451125" cy="85946"/>
                </a:xfrm>
                <a:prstGeom prst="curvedConnector3">
                  <a:avLst>
                    <a:gd name="adj1" fmla="val 54654"/>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56" name="正方形/長方形 55">
                  <a:extLst>
                    <a:ext uri="{FF2B5EF4-FFF2-40B4-BE49-F238E27FC236}">
                      <a16:creationId xmlns:a16="http://schemas.microsoft.com/office/drawing/2014/main" id="{EF5BD367-21DC-3DA6-FD09-AC725C798B1C}"/>
                    </a:ext>
                  </a:extLst>
                </p:cNvPr>
                <p:cNvSpPr/>
                <p:nvPr/>
              </p:nvSpPr>
              <p:spPr>
                <a:xfrm>
                  <a:off x="10242556" y="958952"/>
                  <a:ext cx="502302" cy="23661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関連線</a:t>
                  </a:r>
                </a:p>
              </p:txBody>
            </p:sp>
          </p:grpSp>
          <p:grpSp>
            <p:nvGrpSpPr>
              <p:cNvPr id="59" name="グループ化 58">
                <a:extLst>
                  <a:ext uri="{FF2B5EF4-FFF2-40B4-BE49-F238E27FC236}">
                    <a16:creationId xmlns:a16="http://schemas.microsoft.com/office/drawing/2014/main" id="{8A9196E7-4E34-3F42-F52E-C8D941689123}"/>
                  </a:ext>
                </a:extLst>
              </p:cNvPr>
              <p:cNvGrpSpPr/>
              <p:nvPr/>
            </p:nvGrpSpPr>
            <p:grpSpPr>
              <a:xfrm>
                <a:off x="10814899" y="958952"/>
                <a:ext cx="973684" cy="236619"/>
                <a:chOff x="9771174" y="958952"/>
                <a:chExt cx="973684" cy="236619"/>
              </a:xfrm>
            </p:grpSpPr>
            <p:cxnSp>
              <p:nvCxnSpPr>
                <p:cNvPr id="61" name="コネクタ: 曲線 60">
                  <a:extLst>
                    <a:ext uri="{FF2B5EF4-FFF2-40B4-BE49-F238E27FC236}">
                      <a16:creationId xmlns:a16="http://schemas.microsoft.com/office/drawing/2014/main" id="{855F3539-5A7D-CA89-A80C-F509C3EFF5D3}"/>
                    </a:ext>
                  </a:extLst>
                </p:cNvPr>
                <p:cNvCxnSpPr>
                  <a:cxnSpLocks/>
                </p:cNvCxnSpPr>
                <p:nvPr/>
              </p:nvCxnSpPr>
              <p:spPr>
                <a:xfrm rot="240000" flipV="1">
                  <a:off x="9771174" y="1034288"/>
                  <a:ext cx="451125" cy="85946"/>
                </a:xfrm>
                <a:prstGeom prst="curvedConnector3">
                  <a:avLst>
                    <a:gd name="adj1" fmla="val 54654"/>
                  </a:avLst>
                </a:prstGeom>
                <a:noFill/>
                <a:ln w="6350">
                  <a:solidFill>
                    <a:schemeClr val="bg1">
                      <a:lumMod val="50000"/>
                    </a:schemeClr>
                  </a:solidFill>
                  <a:prstDash val="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62" name="正方形/長方形 61">
                  <a:extLst>
                    <a:ext uri="{FF2B5EF4-FFF2-40B4-BE49-F238E27FC236}">
                      <a16:creationId xmlns:a16="http://schemas.microsoft.com/office/drawing/2014/main" id="{6C788FD5-2C9A-83C3-FF25-3D301A028504}"/>
                    </a:ext>
                  </a:extLst>
                </p:cNvPr>
                <p:cNvSpPr/>
                <p:nvPr/>
              </p:nvSpPr>
              <p:spPr>
                <a:xfrm>
                  <a:off x="10242556" y="958952"/>
                  <a:ext cx="502302" cy="23661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認証</a:t>
                  </a:r>
                </a:p>
              </p:txBody>
            </p:sp>
          </p:grpSp>
        </p:grpSp>
        <p:cxnSp>
          <p:nvCxnSpPr>
            <p:cNvPr id="13" name="コネクタ: 曲線 12">
              <a:extLst>
                <a:ext uri="{FF2B5EF4-FFF2-40B4-BE49-F238E27FC236}">
                  <a16:creationId xmlns:a16="http://schemas.microsoft.com/office/drawing/2014/main" id="{3AD21F84-1A6B-0BF9-5423-F030E17A2D76}"/>
                </a:ext>
              </a:extLst>
            </p:cNvPr>
            <p:cNvCxnSpPr>
              <a:cxnSpLocks/>
              <a:stCxn id="20" idx="1"/>
              <a:endCxn id="19" idx="3"/>
            </p:cNvCxnSpPr>
            <p:nvPr/>
          </p:nvCxnSpPr>
          <p:spPr>
            <a:xfrm rot="10800000">
              <a:off x="3132042" y="3238462"/>
              <a:ext cx="2181032" cy="776326"/>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1351504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82EA0-1AF5-2675-BC11-6EF9D7E326CB}"/>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7AD5C0B2-8742-C418-6491-14EA215FF760}"/>
              </a:ext>
            </a:extLst>
          </p:cNvPr>
          <p:cNvSpPr>
            <a:spLocks noGrp="1"/>
          </p:cNvSpPr>
          <p:nvPr>
            <p:ph type="title"/>
          </p:nvPr>
        </p:nvSpPr>
        <p:spPr/>
        <p:txBody>
          <a:bodyPr/>
          <a:lstStyle/>
          <a:p>
            <a:r>
              <a:rPr lang="en-US" altLang="ja-JP" dirty="0" err="1"/>
              <a:t>LinkX</a:t>
            </a:r>
            <a:r>
              <a:rPr lang="en-US" altLang="ja-JP" dirty="0"/>
              <a:t> Japan</a:t>
            </a:r>
            <a:r>
              <a:rPr lang="ja-JP" altLang="en-US" dirty="0"/>
              <a:t>社のノウハウと</a:t>
            </a:r>
            <a:r>
              <a:rPr lang="en-US" altLang="ja-JP" dirty="0"/>
              <a:t>R</a:t>
            </a:r>
            <a:r>
              <a:rPr lang="ja-JP" altLang="en-US" dirty="0"/>
              <a:t>の構築実績</a:t>
            </a:r>
            <a:endParaRPr kumimoji="1" lang="ja-JP" altLang="en-US" dirty="0"/>
          </a:p>
        </p:txBody>
      </p:sp>
      <p:sp>
        <p:nvSpPr>
          <p:cNvPr id="4" name="スライド番号プレースホルダー 3">
            <a:extLst>
              <a:ext uri="{FF2B5EF4-FFF2-40B4-BE49-F238E27FC236}">
                <a16:creationId xmlns:a16="http://schemas.microsoft.com/office/drawing/2014/main" id="{C65798AA-E350-71CE-F96D-3E1328D4E748}"/>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8</a:t>
            </a:fld>
            <a:endParaRPr lang="en-US" altLang="ja-JP"/>
          </a:p>
        </p:txBody>
      </p:sp>
      <p:sp>
        <p:nvSpPr>
          <p:cNvPr id="2" name="コンテンツ プレースホルダー 5">
            <a:extLst>
              <a:ext uri="{FF2B5EF4-FFF2-40B4-BE49-F238E27FC236}">
                <a16:creationId xmlns:a16="http://schemas.microsoft.com/office/drawing/2014/main" id="{0A99A915-F921-B312-3F31-754238A35408}"/>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err="1"/>
              <a:t>LinkX</a:t>
            </a:r>
            <a:r>
              <a:rPr lang="ja-JP" altLang="en-US" sz="1600" kern="0" dirty="0"/>
              <a:t>社のノウハウと</a:t>
            </a:r>
            <a:r>
              <a:rPr lang="en-US" altLang="ja-JP" sz="1600" kern="0" dirty="0"/>
              <a:t>R</a:t>
            </a:r>
            <a:r>
              <a:rPr lang="ja-JP" altLang="en-US" sz="1600" kern="0" dirty="0"/>
              <a:t>での開発実績は以下の通り。</a:t>
            </a:r>
            <a:endParaRPr lang="en-US" altLang="ja-JP" sz="1600" kern="0" dirty="0"/>
          </a:p>
        </p:txBody>
      </p:sp>
      <p:grpSp>
        <p:nvGrpSpPr>
          <p:cNvPr id="34" name="グループ化 33">
            <a:extLst>
              <a:ext uri="{FF2B5EF4-FFF2-40B4-BE49-F238E27FC236}">
                <a16:creationId xmlns:a16="http://schemas.microsoft.com/office/drawing/2014/main" id="{7C05FD5B-5118-205F-A9A0-548F5DBEEEE2}"/>
              </a:ext>
            </a:extLst>
          </p:cNvPr>
          <p:cNvGrpSpPr/>
          <p:nvPr/>
        </p:nvGrpSpPr>
        <p:grpSpPr>
          <a:xfrm>
            <a:off x="318092" y="1255650"/>
            <a:ext cx="11555816" cy="4712772"/>
            <a:chOff x="444381" y="1255650"/>
            <a:chExt cx="11555816" cy="4712772"/>
          </a:xfrm>
        </p:grpSpPr>
        <p:grpSp>
          <p:nvGrpSpPr>
            <p:cNvPr id="33" name="グループ化 32">
              <a:extLst>
                <a:ext uri="{FF2B5EF4-FFF2-40B4-BE49-F238E27FC236}">
                  <a16:creationId xmlns:a16="http://schemas.microsoft.com/office/drawing/2014/main" id="{9B26BAFC-BEFB-C91A-9EAE-5F2E62FE4B3C}"/>
                </a:ext>
              </a:extLst>
            </p:cNvPr>
            <p:cNvGrpSpPr/>
            <p:nvPr/>
          </p:nvGrpSpPr>
          <p:grpSpPr>
            <a:xfrm>
              <a:off x="8794645" y="1572229"/>
              <a:ext cx="3205552" cy="2063648"/>
              <a:chOff x="8794645" y="1572229"/>
              <a:chExt cx="3205552" cy="2063648"/>
            </a:xfrm>
          </p:grpSpPr>
          <p:pic>
            <p:nvPicPr>
              <p:cNvPr id="5" name="図 4">
                <a:extLst>
                  <a:ext uri="{FF2B5EF4-FFF2-40B4-BE49-F238E27FC236}">
                    <a16:creationId xmlns:a16="http://schemas.microsoft.com/office/drawing/2014/main" id="{B68EC6D8-0F02-524C-E6AD-9D5AD4866FF9}"/>
                  </a:ext>
                </a:extLst>
              </p:cNvPr>
              <p:cNvPicPr>
                <a:picLocks noChangeAspect="1"/>
              </p:cNvPicPr>
              <p:nvPr/>
            </p:nvPicPr>
            <p:blipFill>
              <a:blip r:embed="rId3"/>
              <a:stretch>
                <a:fillRect/>
              </a:stretch>
            </p:blipFill>
            <p:spPr>
              <a:xfrm>
                <a:off x="8794646" y="1572229"/>
                <a:ext cx="3205551" cy="1876733"/>
              </a:xfrm>
              <a:prstGeom prst="rect">
                <a:avLst/>
              </a:prstGeom>
            </p:spPr>
          </p:pic>
          <p:sp>
            <p:nvSpPr>
              <p:cNvPr id="6" name="正方形/長方形 5">
                <a:extLst>
                  <a:ext uri="{FF2B5EF4-FFF2-40B4-BE49-F238E27FC236}">
                    <a16:creationId xmlns:a16="http://schemas.microsoft.com/office/drawing/2014/main" id="{0DD36884-4840-6650-8487-42FCF15C8EEE}"/>
                  </a:ext>
                </a:extLst>
              </p:cNvPr>
              <p:cNvSpPr/>
              <p:nvPr/>
            </p:nvSpPr>
            <p:spPr>
              <a:xfrm>
                <a:off x="8794645" y="3452576"/>
                <a:ext cx="3205551" cy="183301"/>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エージェントのスキーマ管理システム</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grpSp>
          <p:nvGrpSpPr>
            <p:cNvPr id="32" name="グループ化 31">
              <a:extLst>
                <a:ext uri="{FF2B5EF4-FFF2-40B4-BE49-F238E27FC236}">
                  <a16:creationId xmlns:a16="http://schemas.microsoft.com/office/drawing/2014/main" id="{797119E9-A8DF-A006-8E07-B484EF279F79}"/>
                </a:ext>
              </a:extLst>
            </p:cNvPr>
            <p:cNvGrpSpPr/>
            <p:nvPr/>
          </p:nvGrpSpPr>
          <p:grpSpPr>
            <a:xfrm>
              <a:off x="5105142" y="1572229"/>
              <a:ext cx="3485735" cy="2063648"/>
              <a:chOff x="5105142" y="1572229"/>
              <a:chExt cx="3485735" cy="2063648"/>
            </a:xfrm>
          </p:grpSpPr>
          <p:pic>
            <p:nvPicPr>
              <p:cNvPr id="9" name="図 8">
                <a:extLst>
                  <a:ext uri="{FF2B5EF4-FFF2-40B4-BE49-F238E27FC236}">
                    <a16:creationId xmlns:a16="http://schemas.microsoft.com/office/drawing/2014/main" id="{CB05A685-6FB3-FA6B-5FAD-AAC7E4B5B3A7}"/>
                  </a:ext>
                </a:extLst>
              </p:cNvPr>
              <p:cNvPicPr>
                <a:picLocks noChangeAspect="1"/>
              </p:cNvPicPr>
              <p:nvPr/>
            </p:nvPicPr>
            <p:blipFill>
              <a:blip r:embed="rId4"/>
              <a:stretch>
                <a:fillRect/>
              </a:stretch>
            </p:blipFill>
            <p:spPr>
              <a:xfrm>
                <a:off x="5126397" y="1572229"/>
                <a:ext cx="3464479" cy="1862158"/>
              </a:xfrm>
              <a:prstGeom prst="rect">
                <a:avLst/>
              </a:prstGeom>
            </p:spPr>
          </p:pic>
          <p:sp>
            <p:nvSpPr>
              <p:cNvPr id="10" name="正方形/長方形 9">
                <a:extLst>
                  <a:ext uri="{FF2B5EF4-FFF2-40B4-BE49-F238E27FC236}">
                    <a16:creationId xmlns:a16="http://schemas.microsoft.com/office/drawing/2014/main" id="{E2C19CE6-3788-7BA5-166E-8739D4D0F678}"/>
                  </a:ext>
                </a:extLst>
              </p:cNvPr>
              <p:cNvSpPr/>
              <p:nvPr/>
            </p:nvSpPr>
            <p:spPr>
              <a:xfrm>
                <a:off x="5105142" y="3436038"/>
                <a:ext cx="3485735" cy="1998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エージェントの稼働率管理画面（</a:t>
                </a: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Teams</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grpSp>
          <p:nvGrpSpPr>
            <p:cNvPr id="17" name="グループ化 16">
              <a:extLst>
                <a:ext uri="{FF2B5EF4-FFF2-40B4-BE49-F238E27FC236}">
                  <a16:creationId xmlns:a16="http://schemas.microsoft.com/office/drawing/2014/main" id="{2DBAC7F5-0C58-BEA0-9E84-AFFC8E4BBBF8}"/>
                </a:ext>
              </a:extLst>
            </p:cNvPr>
            <p:cNvGrpSpPr/>
            <p:nvPr/>
          </p:nvGrpSpPr>
          <p:grpSpPr>
            <a:xfrm>
              <a:off x="5105141" y="1255650"/>
              <a:ext cx="6895055" cy="261610"/>
              <a:chOff x="4179824" y="1217550"/>
              <a:chExt cx="7678800" cy="261610"/>
            </a:xfrm>
          </p:grpSpPr>
          <p:sp>
            <p:nvSpPr>
              <p:cNvPr id="14" name="テキスト ボックス 13">
                <a:extLst>
                  <a:ext uri="{FF2B5EF4-FFF2-40B4-BE49-F238E27FC236}">
                    <a16:creationId xmlns:a16="http://schemas.microsoft.com/office/drawing/2014/main" id="{8E1C73ED-8ABD-166D-3576-7978C7545A91}"/>
                  </a:ext>
                </a:extLst>
              </p:cNvPr>
              <p:cNvSpPr txBox="1"/>
              <p:nvPr/>
            </p:nvSpPr>
            <p:spPr bwMode="auto">
              <a:xfrm>
                <a:off x="4181581" y="1217550"/>
                <a:ext cx="7677043" cy="261610"/>
              </a:xfrm>
              <a:prstGeom prst="rect">
                <a:avLst/>
              </a:prstGeom>
              <a:noFill/>
              <a:ln w="9525">
                <a:noFill/>
                <a:miter lim="800000"/>
                <a:headEnd/>
                <a:tailEnd/>
              </a:ln>
            </p:spPr>
            <p:txBody>
              <a:bodyPr wrap="square" rtlCol="0" anchor="ctr">
                <a:spAutoFit/>
              </a:bodyPr>
              <a:lstStyle/>
              <a:p>
                <a:pPr algn="ctr">
                  <a:defRPr/>
                </a:pPr>
                <a:r>
                  <a:rPr lang="en-US" altLang="ja-JP" sz="1100" b="1" dirty="0">
                    <a:solidFill>
                      <a:srgbClr val="E7E6E6">
                        <a:lumMod val="50000"/>
                      </a:srgbClr>
                    </a:solidFill>
                    <a:latin typeface="Meiryo UI" panose="020B0604030504040204" pitchFamily="50" charset="-128"/>
                    <a:ea typeface="Meiryo UI" panose="020B0604030504040204" pitchFamily="50" charset="-128"/>
                  </a:rPr>
                  <a:t>R</a:t>
                </a:r>
                <a:r>
                  <a:rPr lang="ja-JP" altLang="en-US" sz="1100" b="1" dirty="0">
                    <a:solidFill>
                      <a:srgbClr val="E7E6E6">
                        <a:lumMod val="50000"/>
                      </a:srgbClr>
                    </a:solidFill>
                    <a:latin typeface="Meiryo UI" panose="020B0604030504040204" pitchFamily="50" charset="-128"/>
                    <a:ea typeface="Meiryo UI" panose="020B0604030504040204" pitchFamily="50" charset="-128"/>
                  </a:rPr>
                  <a:t>の</a:t>
                </a:r>
                <a:r>
                  <a:rPr lang="en-US" altLang="ja-JP" sz="1100" b="1" dirty="0">
                    <a:solidFill>
                      <a:srgbClr val="E7E6E6">
                        <a:lumMod val="50000"/>
                      </a:srgbClr>
                    </a:solidFill>
                    <a:latin typeface="Meiryo UI" panose="020B0604030504040204" pitchFamily="50" charset="-128"/>
                    <a:ea typeface="Meiryo UI" panose="020B0604030504040204" pitchFamily="50" charset="-128"/>
                  </a:rPr>
                  <a:t>Azure</a:t>
                </a:r>
                <a:r>
                  <a:rPr lang="ja-JP" altLang="en-US" sz="1100" b="1" dirty="0">
                    <a:solidFill>
                      <a:srgbClr val="E7E6E6">
                        <a:lumMod val="50000"/>
                      </a:srgbClr>
                    </a:solidFill>
                    <a:latin typeface="Meiryo UI" panose="020B0604030504040204" pitchFamily="50" charset="-128"/>
                    <a:ea typeface="Meiryo UI" panose="020B0604030504040204" pitchFamily="50" charset="-128"/>
                  </a:rPr>
                  <a:t>環境に構築した</a:t>
                </a:r>
                <a:r>
                  <a:rPr lang="en-US" altLang="ja-JP" sz="1100" b="1" dirty="0">
                    <a:solidFill>
                      <a:srgbClr val="E7E6E6">
                        <a:lumMod val="50000"/>
                      </a:srgbClr>
                    </a:solidFill>
                    <a:latin typeface="Meiryo UI" panose="020B0604030504040204" pitchFamily="50" charset="-128"/>
                    <a:ea typeface="Meiryo UI" panose="020B0604030504040204" pitchFamily="50" charset="-128"/>
                  </a:rPr>
                  <a:t>AI</a:t>
                </a:r>
                <a:r>
                  <a:rPr lang="ja-JP" altLang="en-US" sz="1100" b="1" dirty="0">
                    <a:solidFill>
                      <a:srgbClr val="E7E6E6">
                        <a:lumMod val="50000"/>
                      </a:srgbClr>
                    </a:solidFill>
                    <a:latin typeface="Meiryo UI" panose="020B0604030504040204" pitchFamily="50" charset="-128"/>
                    <a:ea typeface="Meiryo UI" panose="020B0604030504040204" pitchFamily="50" charset="-128"/>
                  </a:rPr>
                  <a:t>エージェント管理のためのシステム群</a:t>
                </a:r>
              </a:p>
            </p:txBody>
          </p:sp>
          <p:cxnSp>
            <p:nvCxnSpPr>
              <p:cNvPr id="15" name="直線コネクタ 14">
                <a:extLst>
                  <a:ext uri="{FF2B5EF4-FFF2-40B4-BE49-F238E27FC236}">
                    <a16:creationId xmlns:a16="http://schemas.microsoft.com/office/drawing/2014/main" id="{E2CB7796-1D40-0079-9798-0C433E64BB8E}"/>
                  </a:ext>
                </a:extLst>
              </p:cNvPr>
              <p:cNvCxnSpPr>
                <a:cxnSpLocks/>
              </p:cNvCxnSpPr>
              <p:nvPr/>
            </p:nvCxnSpPr>
            <p:spPr>
              <a:xfrm>
                <a:off x="4179824" y="1478411"/>
                <a:ext cx="7678800" cy="0"/>
              </a:xfrm>
              <a:prstGeom prst="line">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cxnSp>
        </p:grpSp>
        <p:grpSp>
          <p:nvGrpSpPr>
            <p:cNvPr id="18" name="グループ化 17">
              <a:extLst>
                <a:ext uri="{FF2B5EF4-FFF2-40B4-BE49-F238E27FC236}">
                  <a16:creationId xmlns:a16="http://schemas.microsoft.com/office/drawing/2014/main" id="{1F9BB351-7DE6-D108-2291-BF7C148BF7D6}"/>
                </a:ext>
              </a:extLst>
            </p:cNvPr>
            <p:cNvGrpSpPr/>
            <p:nvPr/>
          </p:nvGrpSpPr>
          <p:grpSpPr>
            <a:xfrm>
              <a:off x="444381" y="1255650"/>
              <a:ext cx="4373777" cy="261610"/>
              <a:chOff x="4179824" y="1217550"/>
              <a:chExt cx="7678800" cy="261610"/>
            </a:xfrm>
          </p:grpSpPr>
          <p:sp>
            <p:nvSpPr>
              <p:cNvPr id="19" name="テキスト ボックス 18">
                <a:extLst>
                  <a:ext uri="{FF2B5EF4-FFF2-40B4-BE49-F238E27FC236}">
                    <a16:creationId xmlns:a16="http://schemas.microsoft.com/office/drawing/2014/main" id="{C0CDB3C8-31DA-2056-DD1B-FFD8A084C9EA}"/>
                  </a:ext>
                </a:extLst>
              </p:cNvPr>
              <p:cNvSpPr txBox="1"/>
              <p:nvPr/>
            </p:nvSpPr>
            <p:spPr bwMode="auto">
              <a:xfrm>
                <a:off x="4181581" y="1217550"/>
                <a:ext cx="7677043" cy="261610"/>
              </a:xfrm>
              <a:prstGeom prst="rect">
                <a:avLst/>
              </a:prstGeom>
              <a:noFill/>
              <a:ln w="9525">
                <a:noFill/>
                <a:miter lim="800000"/>
                <a:headEnd/>
                <a:tailEnd/>
              </a:ln>
            </p:spPr>
            <p:txBody>
              <a:bodyPr wrap="square" rtlCol="0" anchor="ctr">
                <a:spAutoFit/>
              </a:bodyPr>
              <a:lstStyle/>
              <a:p>
                <a:pPr algn="ctr">
                  <a:defRPr/>
                </a:pPr>
                <a:r>
                  <a:rPr lang="en-US" altLang="ja-JP" sz="1100" b="1" dirty="0" err="1">
                    <a:solidFill>
                      <a:srgbClr val="E7E6E6">
                        <a:lumMod val="50000"/>
                      </a:srgbClr>
                    </a:solidFill>
                    <a:latin typeface="Meiryo UI" panose="020B0604030504040204" pitchFamily="50" charset="-128"/>
                    <a:ea typeface="Meiryo UI" panose="020B0604030504040204" pitchFamily="50" charset="-128"/>
                  </a:rPr>
                  <a:t>LinkX</a:t>
                </a:r>
                <a:r>
                  <a:rPr lang="ja-JP" altLang="en-US" sz="1100" b="1" dirty="0">
                    <a:solidFill>
                      <a:srgbClr val="E7E6E6">
                        <a:lumMod val="50000"/>
                      </a:srgbClr>
                    </a:solidFill>
                    <a:latin typeface="Meiryo UI" panose="020B0604030504040204" pitchFamily="50" charset="-128"/>
                    <a:ea typeface="Meiryo UI" panose="020B0604030504040204" pitchFamily="50" charset="-128"/>
                  </a:rPr>
                  <a:t>社のノウハウ</a:t>
                </a:r>
                <a:r>
                  <a:rPr lang="en-US" altLang="ja-JP" sz="1100" b="1" dirty="0">
                    <a:solidFill>
                      <a:srgbClr val="E7E6E6">
                        <a:lumMod val="50000"/>
                      </a:srgbClr>
                    </a:solidFill>
                    <a:latin typeface="Meiryo UI" panose="020B0604030504040204" pitchFamily="50" charset="-128"/>
                    <a:ea typeface="Meiryo UI" panose="020B0604030504040204" pitchFamily="50" charset="-128"/>
                  </a:rPr>
                  <a:t> </a:t>
                </a:r>
                <a:r>
                  <a:rPr lang="en-US" altLang="ja-JP" sz="1100" b="1" dirty="0">
                    <a:solidFill>
                      <a:srgbClr val="E7E6E6">
                        <a:lumMod val="50000"/>
                      </a:srgbClr>
                    </a:solidFill>
                    <a:latin typeface="Meiryo UI" panose="020B0604030504040204" pitchFamily="50" charset="-128"/>
                    <a:ea typeface="Meiryo UI" panose="020B0604030504040204" pitchFamily="50" charset="-128"/>
                    <a:hlinkClick r:id="rId5"/>
                  </a:rPr>
                  <a:t>※HP</a:t>
                </a:r>
                <a:r>
                  <a:rPr lang="ja-JP" altLang="en-US" sz="1100" b="1" dirty="0">
                    <a:solidFill>
                      <a:srgbClr val="E7E6E6">
                        <a:lumMod val="50000"/>
                      </a:srgbClr>
                    </a:solidFill>
                    <a:latin typeface="Meiryo UI" panose="020B0604030504040204" pitchFamily="50" charset="-128"/>
                    <a:ea typeface="Meiryo UI" panose="020B0604030504040204" pitchFamily="50" charset="-128"/>
                    <a:hlinkClick r:id="rId5"/>
                  </a:rPr>
                  <a:t>リンク</a:t>
                </a:r>
                <a:endParaRPr lang="ja-JP" altLang="en-US" sz="1100" b="1" dirty="0">
                  <a:solidFill>
                    <a:srgbClr val="E7E6E6">
                      <a:lumMod val="50000"/>
                    </a:srgbClr>
                  </a:solidFill>
                  <a:latin typeface="Meiryo UI" panose="020B0604030504040204" pitchFamily="50" charset="-128"/>
                  <a:ea typeface="Meiryo UI" panose="020B0604030504040204" pitchFamily="50" charset="-128"/>
                </a:endParaRPr>
              </a:p>
            </p:txBody>
          </p:sp>
          <p:cxnSp>
            <p:nvCxnSpPr>
              <p:cNvPr id="20" name="直線コネクタ 19">
                <a:extLst>
                  <a:ext uri="{FF2B5EF4-FFF2-40B4-BE49-F238E27FC236}">
                    <a16:creationId xmlns:a16="http://schemas.microsoft.com/office/drawing/2014/main" id="{40BA5709-D008-6940-B6BA-5D0016737090}"/>
                  </a:ext>
                </a:extLst>
              </p:cNvPr>
              <p:cNvCxnSpPr>
                <a:cxnSpLocks/>
              </p:cNvCxnSpPr>
              <p:nvPr/>
            </p:nvCxnSpPr>
            <p:spPr>
              <a:xfrm>
                <a:off x="4179824" y="1478411"/>
                <a:ext cx="7678800" cy="0"/>
              </a:xfrm>
              <a:prstGeom prst="line">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cxnSp>
        </p:grpSp>
        <p:grpSp>
          <p:nvGrpSpPr>
            <p:cNvPr id="31" name="グループ化 30">
              <a:extLst>
                <a:ext uri="{FF2B5EF4-FFF2-40B4-BE49-F238E27FC236}">
                  <a16:creationId xmlns:a16="http://schemas.microsoft.com/office/drawing/2014/main" id="{616253FF-350F-60AD-C586-C8179C1959F9}"/>
                </a:ext>
              </a:extLst>
            </p:cNvPr>
            <p:cNvGrpSpPr/>
            <p:nvPr/>
          </p:nvGrpSpPr>
          <p:grpSpPr>
            <a:xfrm>
              <a:off x="444381" y="1555523"/>
              <a:ext cx="4373777" cy="2080354"/>
              <a:chOff x="444381" y="1555523"/>
              <a:chExt cx="4373777" cy="2080354"/>
            </a:xfrm>
          </p:grpSpPr>
          <p:pic>
            <p:nvPicPr>
              <p:cNvPr id="22" name="図 21">
                <a:extLst>
                  <a:ext uri="{FF2B5EF4-FFF2-40B4-BE49-F238E27FC236}">
                    <a16:creationId xmlns:a16="http://schemas.microsoft.com/office/drawing/2014/main" id="{49416DE0-603B-57A7-6969-F08DB7D1FAD8}"/>
                  </a:ext>
                </a:extLst>
              </p:cNvPr>
              <p:cNvPicPr>
                <a:picLocks noChangeAspect="1"/>
              </p:cNvPicPr>
              <p:nvPr/>
            </p:nvPicPr>
            <p:blipFill>
              <a:blip r:embed="rId6"/>
              <a:stretch>
                <a:fillRect/>
              </a:stretch>
            </p:blipFill>
            <p:spPr>
              <a:xfrm>
                <a:off x="444381" y="1555523"/>
                <a:ext cx="4373777" cy="1862157"/>
              </a:xfrm>
              <a:prstGeom prst="rect">
                <a:avLst/>
              </a:prstGeom>
            </p:spPr>
          </p:pic>
          <p:sp>
            <p:nvSpPr>
              <p:cNvPr id="24" name="正方形/長方形 23">
                <a:extLst>
                  <a:ext uri="{FF2B5EF4-FFF2-40B4-BE49-F238E27FC236}">
                    <a16:creationId xmlns:a16="http://schemas.microsoft.com/office/drawing/2014/main" id="{6C5FCD0B-7050-399E-9B6A-D4D01E42A45B}"/>
                  </a:ext>
                </a:extLst>
              </p:cNvPr>
              <p:cNvSpPr/>
              <p:nvPr/>
            </p:nvSpPr>
            <p:spPr>
              <a:xfrm>
                <a:off x="444381" y="3436038"/>
                <a:ext cx="3485735" cy="1998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a:t>
                </a: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HUB</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という</a:t>
                </a: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n8n</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活用プラットフォーム</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grpSp>
          <p:nvGrpSpPr>
            <p:cNvPr id="28" name="グループ化 27">
              <a:extLst>
                <a:ext uri="{FF2B5EF4-FFF2-40B4-BE49-F238E27FC236}">
                  <a16:creationId xmlns:a16="http://schemas.microsoft.com/office/drawing/2014/main" id="{E09C5C00-F446-F548-98A3-1554AD078C84}"/>
                </a:ext>
              </a:extLst>
            </p:cNvPr>
            <p:cNvGrpSpPr/>
            <p:nvPr/>
          </p:nvGrpSpPr>
          <p:grpSpPr>
            <a:xfrm>
              <a:off x="5105142" y="3904774"/>
              <a:ext cx="3485735" cy="2063648"/>
              <a:chOff x="5105142" y="4123849"/>
              <a:chExt cx="3485735" cy="2063648"/>
            </a:xfrm>
          </p:grpSpPr>
          <p:pic>
            <p:nvPicPr>
              <p:cNvPr id="8" name="図 7">
                <a:extLst>
                  <a:ext uri="{FF2B5EF4-FFF2-40B4-BE49-F238E27FC236}">
                    <a16:creationId xmlns:a16="http://schemas.microsoft.com/office/drawing/2014/main" id="{3D58BD5D-5D47-970C-5339-741E60F1A555}"/>
                  </a:ext>
                </a:extLst>
              </p:cNvPr>
              <p:cNvPicPr>
                <a:picLocks noChangeAspect="1"/>
              </p:cNvPicPr>
              <p:nvPr/>
            </p:nvPicPr>
            <p:blipFill>
              <a:blip r:embed="rId7"/>
              <a:stretch>
                <a:fillRect/>
              </a:stretch>
            </p:blipFill>
            <p:spPr>
              <a:xfrm>
                <a:off x="5123206" y="4123849"/>
                <a:ext cx="3464478" cy="1862158"/>
              </a:xfrm>
              <a:prstGeom prst="rect">
                <a:avLst/>
              </a:prstGeom>
            </p:spPr>
          </p:pic>
          <p:sp>
            <p:nvSpPr>
              <p:cNvPr id="11" name="正方形/長方形 10">
                <a:extLst>
                  <a:ext uri="{FF2B5EF4-FFF2-40B4-BE49-F238E27FC236}">
                    <a16:creationId xmlns:a16="http://schemas.microsoft.com/office/drawing/2014/main" id="{63DC771E-B1E1-CC16-D65E-0FEF93A074BF}"/>
                  </a:ext>
                </a:extLst>
              </p:cNvPr>
              <p:cNvSpPr/>
              <p:nvPr/>
            </p:nvSpPr>
            <p:spPr>
              <a:xfrm>
                <a:off x="5105142" y="5987658"/>
                <a:ext cx="3485735" cy="1998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エージェントのの</a:t>
                </a: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ROI</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管理画面（</a:t>
                </a: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Teams</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grpSp>
          <p:nvGrpSpPr>
            <p:cNvPr id="30" name="グループ化 29">
              <a:extLst>
                <a:ext uri="{FF2B5EF4-FFF2-40B4-BE49-F238E27FC236}">
                  <a16:creationId xmlns:a16="http://schemas.microsoft.com/office/drawing/2014/main" id="{242B46E5-3882-BE85-A9D0-5396CD103BB6}"/>
                </a:ext>
              </a:extLst>
            </p:cNvPr>
            <p:cNvGrpSpPr/>
            <p:nvPr/>
          </p:nvGrpSpPr>
          <p:grpSpPr>
            <a:xfrm>
              <a:off x="444381" y="3904774"/>
              <a:ext cx="4418917" cy="1725250"/>
              <a:chOff x="444381" y="3904774"/>
              <a:chExt cx="4418917" cy="1725250"/>
            </a:xfrm>
          </p:grpSpPr>
          <p:pic>
            <p:nvPicPr>
              <p:cNvPr id="26" name="図 25">
                <a:extLst>
                  <a:ext uri="{FF2B5EF4-FFF2-40B4-BE49-F238E27FC236}">
                    <a16:creationId xmlns:a16="http://schemas.microsoft.com/office/drawing/2014/main" id="{9024249B-ADA3-B4DD-8B64-027D3E249B11}"/>
                  </a:ext>
                </a:extLst>
              </p:cNvPr>
              <p:cNvPicPr>
                <a:picLocks noChangeAspect="1"/>
              </p:cNvPicPr>
              <p:nvPr/>
            </p:nvPicPr>
            <p:blipFill>
              <a:blip r:embed="rId8"/>
              <a:stretch>
                <a:fillRect/>
              </a:stretch>
            </p:blipFill>
            <p:spPr>
              <a:xfrm>
                <a:off x="444382" y="3904774"/>
                <a:ext cx="4418916" cy="1525411"/>
              </a:xfrm>
              <a:prstGeom prst="rect">
                <a:avLst/>
              </a:prstGeom>
            </p:spPr>
          </p:pic>
          <p:sp>
            <p:nvSpPr>
              <p:cNvPr id="27" name="正方形/長方形 26">
                <a:extLst>
                  <a:ext uri="{FF2B5EF4-FFF2-40B4-BE49-F238E27FC236}">
                    <a16:creationId xmlns:a16="http://schemas.microsoft.com/office/drawing/2014/main" id="{4C3EECEB-7677-D659-7FC4-BA99CBF61B15}"/>
                  </a:ext>
                </a:extLst>
              </p:cNvPr>
              <p:cNvSpPr/>
              <p:nvPr/>
            </p:nvSpPr>
            <p:spPr>
              <a:xfrm>
                <a:off x="444381" y="5430185"/>
                <a:ext cx="3485735" cy="1998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総合研究所というオープンメディアで</a:t>
                </a: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の最新知見を発信</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grpSp>
    </p:spTree>
    <p:extLst>
      <p:ext uri="{BB962C8B-B14F-4D97-AF65-F5344CB8AC3E}">
        <p14:creationId xmlns:p14="http://schemas.microsoft.com/office/powerpoint/2010/main" val="2764671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5C2FA-4FF8-C3F5-2457-54D11697F896}"/>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554F62B1-9FE2-32DB-579F-7966B540E936}"/>
              </a:ext>
            </a:extLst>
          </p:cNvPr>
          <p:cNvSpPr>
            <a:spLocks noGrp="1"/>
          </p:cNvSpPr>
          <p:nvPr>
            <p:ph type="title"/>
          </p:nvPr>
        </p:nvSpPr>
        <p:spPr/>
        <p:txBody>
          <a:bodyPr/>
          <a:lstStyle/>
          <a:p>
            <a:r>
              <a:rPr lang="ja-JP" altLang="en-US" dirty="0"/>
              <a:t>進め方について</a:t>
            </a:r>
            <a:endParaRPr kumimoji="1" lang="ja-JP" altLang="en-US" dirty="0"/>
          </a:p>
        </p:txBody>
      </p:sp>
      <p:sp>
        <p:nvSpPr>
          <p:cNvPr id="4" name="スライド番号プレースホルダー 3">
            <a:extLst>
              <a:ext uri="{FF2B5EF4-FFF2-40B4-BE49-F238E27FC236}">
                <a16:creationId xmlns:a16="http://schemas.microsoft.com/office/drawing/2014/main" id="{98DC6FFC-B5F4-5186-ABB0-0BE3B39757D2}"/>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9</a:t>
            </a:fld>
            <a:endParaRPr lang="en-US" altLang="ja-JP"/>
          </a:p>
        </p:txBody>
      </p:sp>
      <p:sp>
        <p:nvSpPr>
          <p:cNvPr id="2" name="コンテンツ プレースホルダー 5">
            <a:extLst>
              <a:ext uri="{FF2B5EF4-FFF2-40B4-BE49-F238E27FC236}">
                <a16:creationId xmlns:a16="http://schemas.microsoft.com/office/drawing/2014/main" id="{E2772593-DA25-EC06-2F8B-15E5BCB58018}"/>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r>
              <a:rPr lang="ja-JP" altLang="en-US" sz="1600" kern="0" dirty="0"/>
              <a:t>直近の話</a:t>
            </a:r>
            <a:endParaRPr lang="en-US" altLang="ja-JP" sz="1600" kern="0" dirty="0"/>
          </a:p>
          <a:p>
            <a:pPr marL="342900" indent="-342900">
              <a:buFont typeface="+mj-ea"/>
              <a:buAutoNum type="circleNumDbPlain"/>
            </a:pPr>
            <a:r>
              <a:rPr lang="en-US" altLang="ja-JP" sz="1600" kern="0" dirty="0"/>
              <a:t>BPS</a:t>
            </a:r>
            <a:r>
              <a:rPr lang="ja-JP" altLang="en-US" sz="1600" kern="0" dirty="0"/>
              <a:t>および他部署の</a:t>
            </a:r>
            <a:r>
              <a:rPr lang="en-US" altLang="ja-JP" sz="1600" kern="0" dirty="0"/>
              <a:t>AI</a:t>
            </a:r>
            <a:r>
              <a:rPr lang="ja-JP" altLang="en-US" sz="1600" kern="0" dirty="0"/>
              <a:t>エージェントの導入推進</a:t>
            </a:r>
            <a:endParaRPr lang="en-US" altLang="ja-JP" sz="1600" kern="0" dirty="0"/>
          </a:p>
          <a:p>
            <a:pPr marL="342900" indent="-342900">
              <a:buFont typeface="+mj-ea"/>
              <a:buAutoNum type="circleNumDbPlain"/>
            </a:pPr>
            <a:r>
              <a:rPr lang="en-US" altLang="ja-JP" sz="1600" kern="0" dirty="0" err="1"/>
              <a:t>LinkX</a:t>
            </a:r>
            <a:r>
              <a:rPr lang="ja-JP" altLang="en-US" sz="1600" kern="0" dirty="0"/>
              <a:t>社との中・長期での契約の継続</a:t>
            </a:r>
            <a:endParaRPr lang="en-US" altLang="ja-JP" sz="1600" kern="0" dirty="0"/>
          </a:p>
          <a:p>
            <a:pPr marL="0" indent="0"/>
            <a:r>
              <a:rPr lang="ja-JP" altLang="en-US" sz="1600" kern="0" dirty="0"/>
              <a:t>今後の話（頭出しのみ）</a:t>
            </a:r>
            <a:endParaRPr lang="en-US" altLang="ja-JP" sz="1600" kern="0" dirty="0"/>
          </a:p>
          <a:p>
            <a:pPr marL="285750" indent="-285750">
              <a:buFont typeface="Arial" panose="020B0604020202020204" pitchFamily="34" charset="0"/>
              <a:buChar char="•"/>
            </a:pPr>
            <a:r>
              <a:rPr lang="ja-JP" altLang="en-US" sz="1600" kern="0" dirty="0"/>
              <a:t>内製化メンバー（社員）の増員と教育</a:t>
            </a:r>
            <a:endParaRPr lang="en-US" altLang="ja-JP" sz="1600" kern="0" dirty="0"/>
          </a:p>
          <a:p>
            <a:pPr marL="642937" lvl="1" indent="-285750">
              <a:buFont typeface="Arial" panose="020B0604020202020204" pitchFamily="34" charset="0"/>
              <a:buChar char="•"/>
            </a:pPr>
            <a:r>
              <a:rPr lang="ja-JP" altLang="en-US" sz="1200" kern="0" dirty="0"/>
              <a:t>今後</a:t>
            </a:r>
            <a:r>
              <a:rPr lang="en-US" altLang="ja-JP" sz="1200" kern="0" dirty="0"/>
              <a:t>AI</a:t>
            </a:r>
            <a:r>
              <a:rPr lang="ja-JP" altLang="en-US" sz="1200" kern="0" dirty="0"/>
              <a:t>エージェントを大規模に増やす場合に必要なリソース計画を立てているため、社員の増強を早期に図りたい</a:t>
            </a:r>
            <a:br>
              <a:rPr lang="en-US" altLang="ja-JP" sz="1200" kern="0" dirty="0"/>
            </a:br>
            <a:r>
              <a:rPr lang="en-US" altLang="ja-JP" sz="1200" kern="0" dirty="0"/>
              <a:t>※</a:t>
            </a:r>
            <a:r>
              <a:rPr lang="ja-JP" altLang="en-US" sz="1200" kern="0" dirty="0"/>
              <a:t>詳細は</a:t>
            </a:r>
            <a:r>
              <a:rPr lang="en-US" altLang="ja-JP" sz="1200" kern="0" dirty="0"/>
              <a:t>XXX</a:t>
            </a:r>
            <a:r>
              <a:rPr lang="ja-JP" altLang="en-US" sz="1200" kern="0" dirty="0"/>
              <a:t>章を参照</a:t>
            </a:r>
            <a:endParaRPr lang="en-US" altLang="ja-JP" sz="1200" kern="0" dirty="0"/>
          </a:p>
          <a:p>
            <a:pPr marL="285750" indent="-285750">
              <a:buFont typeface="Arial" panose="020B0604020202020204" pitchFamily="34" charset="0"/>
              <a:buChar char="•"/>
            </a:pPr>
            <a:r>
              <a:rPr lang="en-US" altLang="ja-JP" sz="1600" kern="0" dirty="0"/>
              <a:t>Microsoft</a:t>
            </a:r>
            <a:r>
              <a:rPr lang="ja-JP" altLang="en-US" sz="1600" kern="0" dirty="0"/>
              <a:t>からの提案（</a:t>
            </a:r>
            <a:r>
              <a:rPr lang="en-US" altLang="ja-JP" sz="1600" kern="0" dirty="0"/>
              <a:t>XXX</a:t>
            </a:r>
            <a:r>
              <a:rPr lang="ja-JP" altLang="en-US" sz="1600" kern="0" dirty="0"/>
              <a:t>プログラム）</a:t>
            </a:r>
            <a:endParaRPr lang="en-US" altLang="ja-JP" sz="1600" kern="0" dirty="0"/>
          </a:p>
          <a:p>
            <a:pPr marL="642937" lvl="1" indent="-285750">
              <a:buFont typeface="Arial" panose="020B0604020202020204" pitchFamily="34" charset="0"/>
              <a:buChar char="•"/>
            </a:pPr>
            <a:r>
              <a:rPr lang="ja-JP" altLang="en-US" sz="1200" kern="0" dirty="0"/>
              <a:t>今後の</a:t>
            </a:r>
            <a:r>
              <a:rPr lang="en-US" altLang="ja-JP" sz="1200" kern="0" dirty="0"/>
              <a:t>n8n</a:t>
            </a:r>
            <a:r>
              <a:rPr lang="ja-JP" altLang="en-US" sz="1200" kern="0" dirty="0"/>
              <a:t>を中心とした</a:t>
            </a:r>
            <a:r>
              <a:rPr lang="en-US" altLang="ja-JP" sz="1200" kern="0" dirty="0"/>
              <a:t>Azure</a:t>
            </a:r>
            <a:r>
              <a:rPr lang="ja-JP" altLang="en-US" sz="1200" kern="0" dirty="0"/>
              <a:t>リソース利用に伴い、ベンダー費用を</a:t>
            </a:r>
            <a:r>
              <a:rPr lang="en-US" altLang="ja-JP" sz="1200" kern="0" dirty="0"/>
              <a:t>MS</a:t>
            </a:r>
            <a:r>
              <a:rPr lang="ja-JP" altLang="en-US" sz="1200" kern="0" dirty="0"/>
              <a:t>が負担するという提案（</a:t>
            </a:r>
            <a:r>
              <a:rPr lang="en-US" altLang="ja-JP" sz="1200" kern="0" dirty="0"/>
              <a:t>R</a:t>
            </a:r>
            <a:r>
              <a:rPr lang="ja-JP" altLang="en-US" sz="1200" kern="0" dirty="0"/>
              <a:t>と</a:t>
            </a:r>
            <a:r>
              <a:rPr lang="en-US" altLang="ja-JP" sz="1200" kern="0" dirty="0"/>
              <a:t>MS</a:t>
            </a:r>
            <a:r>
              <a:rPr lang="ja-JP" altLang="en-US" sz="1200" kern="0" dirty="0"/>
              <a:t>のトップ同士の会談？）に対するアクションを検討したい</a:t>
            </a:r>
            <a:endParaRPr lang="en-US" altLang="ja-JP" sz="1200" kern="0" dirty="0"/>
          </a:p>
        </p:txBody>
      </p:sp>
    </p:spTree>
    <p:extLst>
      <p:ext uri="{BB962C8B-B14F-4D97-AF65-F5344CB8AC3E}">
        <p14:creationId xmlns:p14="http://schemas.microsoft.com/office/powerpoint/2010/main" val="3476268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27985-AAD3-66FD-93E6-12D4FF592FB0}"/>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158D1700-8091-2EE2-506A-E1A0093CE4D8}"/>
              </a:ext>
            </a:extLst>
          </p:cNvPr>
          <p:cNvSpPr>
            <a:spLocks noGrp="1"/>
          </p:cNvSpPr>
          <p:nvPr>
            <p:ph type="title"/>
          </p:nvPr>
        </p:nvSpPr>
        <p:spPr/>
        <p:txBody>
          <a:bodyPr/>
          <a:lstStyle/>
          <a:p>
            <a:r>
              <a:rPr lang="ja-JP" altLang="en-US" dirty="0"/>
              <a:t>前提：</a:t>
            </a:r>
            <a:r>
              <a:rPr lang="en-US" altLang="ja-JP" dirty="0"/>
              <a:t>1</a:t>
            </a:r>
            <a:r>
              <a:rPr lang="ja-JP" altLang="en-US" dirty="0"/>
              <a:t>業務にかかる</a:t>
            </a:r>
            <a:r>
              <a:rPr lang="en-US" altLang="ja-JP" dirty="0"/>
              <a:t>n8n</a:t>
            </a:r>
            <a:r>
              <a:rPr lang="ja-JP" altLang="en-US" dirty="0"/>
              <a:t>の内製工数のイメージ</a:t>
            </a:r>
            <a:endParaRPr kumimoji="1" lang="ja-JP" altLang="en-US" dirty="0"/>
          </a:p>
        </p:txBody>
      </p:sp>
      <p:sp>
        <p:nvSpPr>
          <p:cNvPr id="4" name="スライド番号プレースホルダー 3">
            <a:extLst>
              <a:ext uri="{FF2B5EF4-FFF2-40B4-BE49-F238E27FC236}">
                <a16:creationId xmlns:a16="http://schemas.microsoft.com/office/drawing/2014/main" id="{0EFB7AAD-6C80-B447-59A6-FC7393A03A2D}"/>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10</a:t>
            </a:fld>
            <a:endParaRPr lang="en-US" altLang="ja-JP"/>
          </a:p>
        </p:txBody>
      </p:sp>
      <p:sp>
        <p:nvSpPr>
          <p:cNvPr id="2" name="コンテンツ プレースホルダー 5">
            <a:extLst>
              <a:ext uri="{FF2B5EF4-FFF2-40B4-BE49-F238E27FC236}">
                <a16:creationId xmlns:a16="http://schemas.microsoft.com/office/drawing/2014/main" id="{A60CBE6B-1873-3214-B322-C52D61416F7E}"/>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約</a:t>
            </a:r>
            <a:r>
              <a:rPr lang="en-US" altLang="ja-JP" sz="1600" kern="0" dirty="0"/>
              <a:t>1</a:t>
            </a:r>
            <a:r>
              <a:rPr lang="ja-JP" altLang="en-US" sz="1600" kern="0" dirty="0"/>
              <a:t>時間の業務（</a:t>
            </a:r>
            <a:r>
              <a:rPr lang="en-US" altLang="ja-JP" sz="1600" kern="0" dirty="0"/>
              <a:t>BPS</a:t>
            </a:r>
            <a:r>
              <a:rPr lang="ja-JP" altLang="en-US" sz="1600" kern="0" dirty="0"/>
              <a:t>事例）をベースに、</a:t>
            </a:r>
            <a:r>
              <a:rPr lang="en-US" altLang="ja-JP" sz="1600" kern="0" dirty="0"/>
              <a:t>n8n</a:t>
            </a:r>
            <a:r>
              <a:rPr lang="ja-JP" altLang="en-US" sz="1600" kern="0" dirty="0"/>
              <a:t>構築を検討すると、初期フェーズでは約</a:t>
            </a:r>
            <a:r>
              <a:rPr lang="en-US" altLang="ja-JP" sz="1600" kern="0" dirty="0"/>
              <a:t>1</a:t>
            </a:r>
            <a:r>
              <a:rPr lang="ja-JP" altLang="en-US" sz="1600" kern="0" dirty="0"/>
              <a:t>人月の作業になる。</a:t>
            </a:r>
            <a:br>
              <a:rPr lang="en-US" altLang="ja-JP" sz="1600" kern="0" dirty="0"/>
            </a:br>
            <a:r>
              <a:rPr lang="en-US" altLang="ja-JP" sz="1600" kern="0" dirty="0"/>
              <a:t>※n8n</a:t>
            </a:r>
            <a:r>
              <a:rPr lang="ja-JP" altLang="en-US" sz="1600" kern="0" dirty="0"/>
              <a:t>の機能の標準化が進めば、技術調査と構築工数は半減するイメージ</a:t>
            </a:r>
            <a:endParaRPr lang="en-US" altLang="ja-JP" sz="1600" kern="0" dirty="0"/>
          </a:p>
        </p:txBody>
      </p:sp>
      <p:grpSp>
        <p:nvGrpSpPr>
          <p:cNvPr id="113" name="グループ化 112">
            <a:extLst>
              <a:ext uri="{FF2B5EF4-FFF2-40B4-BE49-F238E27FC236}">
                <a16:creationId xmlns:a16="http://schemas.microsoft.com/office/drawing/2014/main" id="{71B3E70B-0ECC-69F2-143E-B5ABE3B3DE1A}"/>
              </a:ext>
            </a:extLst>
          </p:cNvPr>
          <p:cNvGrpSpPr/>
          <p:nvPr/>
        </p:nvGrpSpPr>
        <p:grpSpPr>
          <a:xfrm>
            <a:off x="101600" y="2392934"/>
            <a:ext cx="11988800" cy="2676883"/>
            <a:chOff x="126197" y="2392934"/>
            <a:chExt cx="11988800" cy="2676883"/>
          </a:xfrm>
        </p:grpSpPr>
        <p:grpSp>
          <p:nvGrpSpPr>
            <p:cNvPr id="111" name="グループ化 110">
              <a:extLst>
                <a:ext uri="{FF2B5EF4-FFF2-40B4-BE49-F238E27FC236}">
                  <a16:creationId xmlns:a16="http://schemas.microsoft.com/office/drawing/2014/main" id="{83C5649C-2996-DF48-7CB7-AAA05D5AD042}"/>
                </a:ext>
              </a:extLst>
            </p:cNvPr>
            <p:cNvGrpSpPr/>
            <p:nvPr/>
          </p:nvGrpSpPr>
          <p:grpSpPr>
            <a:xfrm>
              <a:off x="126197" y="2392934"/>
              <a:ext cx="8678286" cy="2523092"/>
              <a:chOff x="126197" y="2392934"/>
              <a:chExt cx="8678286" cy="2523092"/>
            </a:xfrm>
          </p:grpSpPr>
          <p:grpSp>
            <p:nvGrpSpPr>
              <p:cNvPr id="110" name="グループ化 109">
                <a:extLst>
                  <a:ext uri="{FF2B5EF4-FFF2-40B4-BE49-F238E27FC236}">
                    <a16:creationId xmlns:a16="http://schemas.microsoft.com/office/drawing/2014/main" id="{0C3A67EC-95F9-36B4-3678-5DC9AB559F71}"/>
                  </a:ext>
                </a:extLst>
              </p:cNvPr>
              <p:cNvGrpSpPr/>
              <p:nvPr/>
            </p:nvGrpSpPr>
            <p:grpSpPr>
              <a:xfrm>
                <a:off x="126197" y="2392934"/>
                <a:ext cx="8678286" cy="396774"/>
                <a:chOff x="203200" y="2392934"/>
                <a:chExt cx="8678286" cy="396774"/>
              </a:xfrm>
            </p:grpSpPr>
            <p:sp>
              <p:nvSpPr>
                <p:cNvPr id="100" name="テキスト ボックス 99">
                  <a:extLst>
                    <a:ext uri="{FF2B5EF4-FFF2-40B4-BE49-F238E27FC236}">
                      <a16:creationId xmlns:a16="http://schemas.microsoft.com/office/drawing/2014/main" id="{45C81AB2-C455-4A06-E38E-4016319D3C95}"/>
                    </a:ext>
                  </a:extLst>
                </p:cNvPr>
                <p:cNvSpPr txBox="1"/>
                <p:nvPr/>
              </p:nvSpPr>
              <p:spPr bwMode="auto">
                <a:xfrm>
                  <a:off x="203200" y="2392934"/>
                  <a:ext cx="8678286" cy="338555"/>
                </a:xfrm>
                <a:prstGeom prst="rect">
                  <a:avLst/>
                </a:prstGeom>
                <a:noFill/>
                <a:ln w="9525">
                  <a:noFill/>
                  <a:miter lim="800000"/>
                  <a:headEnd/>
                  <a:tailEnd/>
                </a:ln>
              </p:spPr>
              <p:txBody>
                <a:bodyPr wrap="square" rtlCol="0" anchor="ctr">
                  <a:spAutoFit/>
                </a:bodyPr>
                <a:lstStyle/>
                <a:p>
                  <a:pPr algn="ctr">
                    <a:defRPr/>
                  </a:pPr>
                  <a:r>
                    <a:rPr lang="ja-JP" altLang="en-US" sz="1600" b="1" dirty="0">
                      <a:solidFill>
                        <a:srgbClr val="E7E6E6">
                          <a:lumMod val="50000"/>
                        </a:srgbClr>
                      </a:solidFill>
                      <a:latin typeface="Meiryo UI" panose="020B0604030504040204" pitchFamily="50" charset="-128"/>
                      <a:ea typeface="Meiryo UI" panose="020B0604030504040204" pitchFamily="50" charset="-128"/>
                    </a:rPr>
                    <a:t>例）</a:t>
                  </a:r>
                  <a:r>
                    <a:rPr lang="en-US" altLang="ja-JP" sz="1600" b="1" dirty="0">
                      <a:solidFill>
                        <a:srgbClr val="E7E6E6">
                          <a:lumMod val="50000"/>
                        </a:srgbClr>
                      </a:solidFill>
                      <a:latin typeface="Meiryo UI" panose="020B0604030504040204" pitchFamily="50" charset="-128"/>
                      <a:ea typeface="Meiryo UI" panose="020B0604030504040204" pitchFamily="50" charset="-128"/>
                    </a:rPr>
                    <a:t>BPS</a:t>
                  </a:r>
                  <a:r>
                    <a:rPr lang="ja-JP" altLang="en-US" sz="1600" b="1" dirty="0">
                      <a:solidFill>
                        <a:srgbClr val="E7E6E6">
                          <a:lumMod val="50000"/>
                        </a:srgbClr>
                      </a:solidFill>
                      <a:latin typeface="Meiryo UI" panose="020B0604030504040204" pitchFamily="50" charset="-128"/>
                      <a:ea typeface="Meiryo UI" panose="020B0604030504040204" pitchFamily="50" charset="-128"/>
                    </a:rPr>
                    <a:t>の</a:t>
                  </a:r>
                  <a:r>
                    <a:rPr lang="en-US" altLang="ja-JP" sz="1600" b="1" dirty="0">
                      <a:solidFill>
                        <a:srgbClr val="E7E6E6">
                          <a:lumMod val="50000"/>
                        </a:srgbClr>
                      </a:solidFill>
                      <a:latin typeface="Meiryo UI" panose="020B0604030504040204" pitchFamily="50" charset="-128"/>
                      <a:ea typeface="Meiryo UI" panose="020B0604030504040204" pitchFamily="50" charset="-128"/>
                    </a:rPr>
                    <a:t>ASIS</a:t>
                  </a:r>
                  <a:r>
                    <a:rPr lang="ja-JP" altLang="en-US" sz="1600" b="1" dirty="0">
                      <a:solidFill>
                        <a:srgbClr val="E7E6E6">
                          <a:lumMod val="50000"/>
                        </a:srgbClr>
                      </a:solidFill>
                      <a:latin typeface="Meiryo UI" panose="020B0604030504040204" pitchFamily="50" charset="-128"/>
                      <a:ea typeface="Meiryo UI" panose="020B0604030504040204" pitchFamily="50" charset="-128"/>
                    </a:rPr>
                    <a:t>業務（約</a:t>
                  </a:r>
                  <a:r>
                    <a:rPr lang="en-US" altLang="ja-JP" sz="1600" b="1" dirty="0">
                      <a:solidFill>
                        <a:srgbClr val="E7E6E6">
                          <a:lumMod val="50000"/>
                        </a:srgbClr>
                      </a:solidFill>
                      <a:latin typeface="Meiryo UI" panose="020B0604030504040204" pitchFamily="50" charset="-128"/>
                      <a:ea typeface="Meiryo UI" panose="020B0604030504040204" pitchFamily="50" charset="-128"/>
                    </a:rPr>
                    <a:t>1</a:t>
                  </a:r>
                  <a:r>
                    <a:rPr lang="ja-JP" altLang="en-US" sz="1600" b="1" dirty="0">
                      <a:solidFill>
                        <a:srgbClr val="E7E6E6">
                          <a:lumMod val="50000"/>
                        </a:srgbClr>
                      </a:solidFill>
                      <a:latin typeface="Meiryo UI" panose="020B0604030504040204" pitchFamily="50" charset="-128"/>
                      <a:ea typeface="Meiryo UI" panose="020B0604030504040204" pitchFamily="50" charset="-128"/>
                    </a:rPr>
                    <a:t>時間の作業）と</a:t>
                  </a:r>
                  <a:r>
                    <a:rPr lang="en-US" altLang="ja-JP" sz="1600" b="1" dirty="0">
                      <a:solidFill>
                        <a:srgbClr val="E7E6E6">
                          <a:lumMod val="50000"/>
                        </a:srgbClr>
                      </a:solidFill>
                      <a:latin typeface="Meiryo UI" panose="020B0604030504040204" pitchFamily="50" charset="-128"/>
                      <a:ea typeface="Meiryo UI" panose="020B0604030504040204" pitchFamily="50" charset="-128"/>
                    </a:rPr>
                    <a:t>n8n</a:t>
                  </a:r>
                  <a:r>
                    <a:rPr lang="ja-JP" altLang="en-US" sz="1600" b="1" dirty="0">
                      <a:solidFill>
                        <a:srgbClr val="E7E6E6">
                          <a:lumMod val="50000"/>
                        </a:srgbClr>
                      </a:solidFill>
                      <a:latin typeface="Meiryo UI" panose="020B0604030504040204" pitchFamily="50" charset="-128"/>
                      <a:ea typeface="Meiryo UI" panose="020B0604030504040204" pitchFamily="50" charset="-128"/>
                    </a:rPr>
                    <a:t>適用の</a:t>
                  </a:r>
                  <a:r>
                    <a:rPr lang="en-US" altLang="ja-JP" sz="1600" b="1" dirty="0">
                      <a:solidFill>
                        <a:srgbClr val="E7E6E6">
                          <a:lumMod val="50000"/>
                        </a:srgbClr>
                      </a:solidFill>
                      <a:latin typeface="Meiryo UI" panose="020B0604030504040204" pitchFamily="50" charset="-128"/>
                      <a:ea typeface="Meiryo UI" panose="020B0604030504040204" pitchFamily="50" charset="-128"/>
                    </a:rPr>
                    <a:t>TOBE</a:t>
                  </a:r>
                  <a:r>
                    <a:rPr lang="ja-JP" altLang="en-US" sz="1600" b="1" dirty="0">
                      <a:solidFill>
                        <a:srgbClr val="E7E6E6">
                          <a:lumMod val="50000"/>
                        </a:srgbClr>
                      </a:solidFill>
                      <a:latin typeface="Meiryo UI" panose="020B0604030504040204" pitchFamily="50" charset="-128"/>
                      <a:ea typeface="Meiryo UI" panose="020B0604030504040204" pitchFamily="50" charset="-128"/>
                    </a:rPr>
                    <a:t>フロー図</a:t>
                  </a:r>
                </a:p>
              </p:txBody>
            </p:sp>
            <p:cxnSp>
              <p:nvCxnSpPr>
                <p:cNvPr id="101" name="直線コネクタ 100">
                  <a:extLst>
                    <a:ext uri="{FF2B5EF4-FFF2-40B4-BE49-F238E27FC236}">
                      <a16:creationId xmlns:a16="http://schemas.microsoft.com/office/drawing/2014/main" id="{838E6F60-93CA-B5B6-E920-04EC25EF7A35}"/>
                    </a:ext>
                  </a:extLst>
                </p:cNvPr>
                <p:cNvCxnSpPr>
                  <a:cxnSpLocks/>
                </p:cNvCxnSpPr>
                <p:nvPr/>
              </p:nvCxnSpPr>
              <p:spPr>
                <a:xfrm>
                  <a:off x="203200" y="2789708"/>
                  <a:ext cx="8678286" cy="0"/>
                </a:xfrm>
                <a:prstGeom prst="line">
                  <a:avLst/>
                </a:prstGeom>
                <a:noFill/>
                <a:ln w="6350" cap="flat" cmpd="sng" algn="ctr">
                  <a:solidFill>
                    <a:sysClr val="windowText" lastClr="000000"/>
                  </a:solidFill>
                  <a:prstDash val="solid"/>
                  <a:miter lim="800000"/>
                </a:ln>
                <a:effectLst/>
              </p:spPr>
            </p:cxnSp>
          </p:grpSp>
          <p:grpSp>
            <p:nvGrpSpPr>
              <p:cNvPr id="95" name="グループ化 94">
                <a:extLst>
                  <a:ext uri="{FF2B5EF4-FFF2-40B4-BE49-F238E27FC236}">
                    <a16:creationId xmlns:a16="http://schemas.microsoft.com/office/drawing/2014/main" id="{AFCCF5C2-213B-E901-23AE-8821C7E848C5}"/>
                  </a:ext>
                </a:extLst>
              </p:cNvPr>
              <p:cNvGrpSpPr/>
              <p:nvPr/>
            </p:nvGrpSpPr>
            <p:grpSpPr>
              <a:xfrm>
                <a:off x="126197" y="3020343"/>
                <a:ext cx="8678286" cy="1895683"/>
                <a:chOff x="75612" y="2702326"/>
                <a:chExt cx="12152164" cy="2654516"/>
              </a:xfrm>
            </p:grpSpPr>
            <p:cxnSp>
              <p:nvCxnSpPr>
                <p:cNvPr id="50" name="直線矢印コネクタ 41">
                  <a:extLst>
                    <a:ext uri="{FF2B5EF4-FFF2-40B4-BE49-F238E27FC236}">
                      <a16:creationId xmlns:a16="http://schemas.microsoft.com/office/drawing/2014/main" id="{DFB203D2-CA0C-6C2A-73EC-8177C2600E0D}"/>
                    </a:ext>
                  </a:extLst>
                </p:cNvPr>
                <p:cNvCxnSpPr>
                  <a:cxnSpLocks/>
                  <a:stCxn id="82" idx="2"/>
                  <a:endCxn id="91" idx="0"/>
                </p:cNvCxnSpPr>
                <p:nvPr/>
              </p:nvCxnSpPr>
              <p:spPr>
                <a:xfrm rot="16200000" flipH="1" flipV="1">
                  <a:off x="8030611" y="3426606"/>
                  <a:ext cx="572546" cy="1175390"/>
                </a:xfrm>
                <a:prstGeom prst="bentConnector3">
                  <a:avLst>
                    <a:gd name="adj1" fmla="val 52759"/>
                  </a:avLst>
                </a:prstGeom>
                <a:noFill/>
                <a:ln w="19050" cap="flat" cmpd="sng" algn="ctr">
                  <a:solidFill>
                    <a:srgbClr val="262699"/>
                  </a:solidFill>
                  <a:prstDash val="sysDash"/>
                  <a:miter lim="800000"/>
                  <a:tailEnd type="triangle"/>
                </a:ln>
                <a:effectLst/>
              </p:spPr>
            </p:cxnSp>
            <p:sp>
              <p:nvSpPr>
                <p:cNvPr id="51" name="正方形/長方形 50">
                  <a:extLst>
                    <a:ext uri="{FF2B5EF4-FFF2-40B4-BE49-F238E27FC236}">
                      <a16:creationId xmlns:a16="http://schemas.microsoft.com/office/drawing/2014/main" id="{10FA76CA-3011-1ABC-2F49-E0B4F5ACA56D}"/>
                    </a:ext>
                  </a:extLst>
                </p:cNvPr>
                <p:cNvSpPr/>
                <p:nvPr/>
              </p:nvSpPr>
              <p:spPr>
                <a:xfrm>
                  <a:off x="75612" y="2702326"/>
                  <a:ext cx="605000" cy="817761"/>
                </a:xfrm>
                <a:prstGeom prst="rect">
                  <a:avLst/>
                </a:prstGeom>
                <a:solidFill>
                  <a:srgbClr val="0065BD"/>
                </a:solidFill>
                <a:ln w="6350" cap="flat" cmpd="sng" algn="ctr">
                  <a:solidFill>
                    <a:srgbClr val="4472C4">
                      <a:lumMod val="75000"/>
                    </a:srgbClr>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rPr>
                    <a:t>ASIS</a:t>
                  </a:r>
                  <a:endParaRPr kumimoji="0" lang="ja-JP" altLang="en-US" sz="1000" b="1" i="0" u="none" strike="noStrike" kern="0" cap="none" spc="0" normalizeH="0" baseline="0" noProof="0" dirty="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52" name="正方形/長方形 51">
                  <a:extLst>
                    <a:ext uri="{FF2B5EF4-FFF2-40B4-BE49-F238E27FC236}">
                      <a16:creationId xmlns:a16="http://schemas.microsoft.com/office/drawing/2014/main" id="{2F4E71D1-D38C-F744-3F37-C24E4B3FF929}"/>
                    </a:ext>
                  </a:extLst>
                </p:cNvPr>
                <p:cNvSpPr/>
                <p:nvPr/>
              </p:nvSpPr>
              <p:spPr>
                <a:xfrm>
                  <a:off x="733507" y="2702326"/>
                  <a:ext cx="1102461"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請求書受領</a:t>
                  </a:r>
                </a:p>
              </p:txBody>
            </p:sp>
            <p:sp>
              <p:nvSpPr>
                <p:cNvPr id="53" name="正方形/長方形 52">
                  <a:extLst>
                    <a:ext uri="{FF2B5EF4-FFF2-40B4-BE49-F238E27FC236}">
                      <a16:creationId xmlns:a16="http://schemas.microsoft.com/office/drawing/2014/main" id="{322BC8D9-24C9-B817-1DE4-BACE9CE281AF}"/>
                    </a:ext>
                  </a:extLst>
                </p:cNvPr>
                <p:cNvSpPr/>
                <p:nvPr/>
              </p:nvSpPr>
              <p:spPr>
                <a:xfrm>
                  <a:off x="733507"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請求書取得</a:t>
                  </a:r>
                  <a:r>
                    <a:rPr kumimoji="0" lang="en-US" altLang="ja-JP" sz="7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br>
                    <a:rPr kumimoji="0" lang="en-US" altLang="ja-JP" sz="7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共有フォルダ</a:t>
                  </a:r>
                  <a:br>
                    <a:rPr kumimoji="0" lang="en-US" altLang="ja-JP" sz="7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格納</a:t>
                  </a:r>
                </a:p>
              </p:txBody>
            </p:sp>
            <p:sp>
              <p:nvSpPr>
                <p:cNvPr id="54" name="正方形/長方形 53">
                  <a:extLst>
                    <a:ext uri="{FF2B5EF4-FFF2-40B4-BE49-F238E27FC236}">
                      <a16:creationId xmlns:a16="http://schemas.microsoft.com/office/drawing/2014/main" id="{EEC4D789-CFF6-7580-348F-1D204AC4CACA}"/>
                    </a:ext>
                  </a:extLst>
                </p:cNvPr>
                <p:cNvSpPr/>
                <p:nvPr/>
              </p:nvSpPr>
              <p:spPr>
                <a:xfrm>
                  <a:off x="1912616"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err="1">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AppSheet</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提出</a:t>
                  </a:r>
                </a:p>
              </p:txBody>
            </p:sp>
            <p:sp>
              <p:nvSpPr>
                <p:cNvPr id="55" name="正方形/長方形 54">
                  <a:extLst>
                    <a:ext uri="{FF2B5EF4-FFF2-40B4-BE49-F238E27FC236}">
                      <a16:creationId xmlns:a16="http://schemas.microsoft.com/office/drawing/2014/main" id="{3A6F51C1-A53C-17DD-0DC8-C07DA9685B1D}"/>
                    </a:ext>
                  </a:extLst>
                </p:cNvPr>
                <p:cNvSpPr/>
                <p:nvPr/>
              </p:nvSpPr>
              <p:spPr>
                <a:xfrm>
                  <a:off x="3097713"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GAS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による</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スプシ書き込み</a:t>
                  </a:r>
                </a:p>
              </p:txBody>
            </p:sp>
            <p:sp>
              <p:nvSpPr>
                <p:cNvPr id="56" name="正方形/長方形 55">
                  <a:extLst>
                    <a:ext uri="{FF2B5EF4-FFF2-40B4-BE49-F238E27FC236}">
                      <a16:creationId xmlns:a16="http://schemas.microsoft.com/office/drawing/2014/main" id="{5F44319D-8B97-BEB1-FE4F-34136E43464E}"/>
                    </a:ext>
                  </a:extLst>
                </p:cNvPr>
                <p:cNvSpPr/>
                <p:nvPr/>
              </p:nvSpPr>
              <p:spPr>
                <a:xfrm>
                  <a:off x="1912616" y="2702326"/>
                  <a:ext cx="228945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請求書提出</a:t>
                  </a:r>
                </a:p>
              </p:txBody>
            </p:sp>
            <p:sp>
              <p:nvSpPr>
                <p:cNvPr id="57" name="正方形/長方形 56">
                  <a:extLst>
                    <a:ext uri="{FF2B5EF4-FFF2-40B4-BE49-F238E27FC236}">
                      <a16:creationId xmlns:a16="http://schemas.microsoft.com/office/drawing/2014/main" id="{0A642A25-271F-5AA8-1551-9F31B37A1F1C}"/>
                    </a:ext>
                  </a:extLst>
                </p:cNvPr>
                <p:cNvSpPr/>
                <p:nvPr/>
              </p:nvSpPr>
              <p:spPr>
                <a:xfrm>
                  <a:off x="4237649"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fontAlgn="auto">
                    <a:spcBef>
                      <a:spcPts val="0"/>
                    </a:spcBef>
                    <a:spcAft>
                      <a:spcPts val="0"/>
                    </a:spcAft>
                  </a:pPr>
                  <a:r>
                    <a:rPr kumimoji="0" lang="ja-JP" altLang="en-US" sz="700" kern="0">
                      <a:solidFill>
                        <a:srgbClr val="E7E6E6">
                          <a:lumMod val="50000"/>
                        </a:srgbClr>
                      </a:solidFill>
                      <a:latin typeface="Meiryo UI" panose="020B0604030504040204" pitchFamily="50" charset="-128"/>
                      <a:ea typeface="Meiryo UI" panose="020B0604030504040204" pitchFamily="50" charset="-128"/>
                    </a:rPr>
                    <a:t>支払依頼</a:t>
                  </a:r>
                  <a:r>
                    <a:rPr kumimoji="0" lang="en-US" altLang="ja-JP" sz="700" kern="0">
                      <a:solidFill>
                        <a:srgbClr val="E7E6E6">
                          <a:lumMod val="50000"/>
                        </a:srgbClr>
                      </a:solidFill>
                      <a:latin typeface="Meiryo UI" panose="020B0604030504040204" pitchFamily="50" charset="-128"/>
                      <a:ea typeface="Meiryo UI" panose="020B0604030504040204" pitchFamily="50" charset="-128"/>
                    </a:rPr>
                    <a:t>WS</a:t>
                  </a:r>
                  <a:r>
                    <a:rPr kumimoji="0" lang="ja-JP" altLang="en-US" sz="700" kern="0">
                      <a:solidFill>
                        <a:srgbClr val="E7E6E6">
                          <a:lumMod val="50000"/>
                        </a:srgbClr>
                      </a:solidFill>
                      <a:latin typeface="Meiryo UI" panose="020B0604030504040204" pitchFamily="50" charset="-128"/>
                      <a:ea typeface="Meiryo UI" panose="020B0604030504040204" pitchFamily="50" charset="-128"/>
                    </a:rPr>
                    <a:t>の</a:t>
                  </a:r>
                  <a:br>
                    <a:rPr kumimoji="0" lang="en-US" altLang="ja-JP" sz="700" kern="0">
                      <a:solidFill>
                        <a:srgbClr val="E7E6E6">
                          <a:lumMod val="50000"/>
                        </a:srgbClr>
                      </a:solidFill>
                      <a:latin typeface="Meiryo UI" panose="020B0604030504040204" pitchFamily="50" charset="-128"/>
                      <a:ea typeface="Meiryo UI" panose="020B0604030504040204" pitchFamily="50" charset="-128"/>
                    </a:rPr>
                  </a:br>
                  <a:r>
                    <a:rPr kumimoji="0" lang="ja-JP" altLang="en-US" sz="700" kern="0">
                      <a:solidFill>
                        <a:srgbClr val="E7E6E6">
                          <a:lumMod val="50000"/>
                        </a:srgbClr>
                      </a:solidFill>
                      <a:latin typeface="Meiryo UI" panose="020B0604030504040204" pitchFamily="50" charset="-128"/>
                      <a:ea typeface="Meiryo UI" panose="020B0604030504040204" pitchFamily="50" charset="-128"/>
                    </a:rPr>
                    <a:t>一次チェック</a:t>
                  </a:r>
                </a:p>
              </p:txBody>
            </p:sp>
            <p:sp>
              <p:nvSpPr>
                <p:cNvPr id="58" name="正方形/長方形 57">
                  <a:extLst>
                    <a:ext uri="{FF2B5EF4-FFF2-40B4-BE49-F238E27FC236}">
                      <a16:creationId xmlns:a16="http://schemas.microsoft.com/office/drawing/2014/main" id="{AA6B3EB9-14A8-7CB6-7F55-088CCE79DC76}"/>
                    </a:ext>
                  </a:extLst>
                </p:cNvPr>
                <p:cNvSpPr/>
                <p:nvPr/>
              </p:nvSpPr>
              <p:spPr>
                <a:xfrm>
                  <a:off x="5422747" y="3095147"/>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二次チェック</a:t>
                  </a:r>
                </a:p>
              </p:txBody>
            </p:sp>
            <p:sp>
              <p:nvSpPr>
                <p:cNvPr id="59" name="正方形/長方形 58">
                  <a:extLst>
                    <a:ext uri="{FF2B5EF4-FFF2-40B4-BE49-F238E27FC236}">
                      <a16:creationId xmlns:a16="http://schemas.microsoft.com/office/drawing/2014/main" id="{005BE520-73FF-4E99-8D79-7BA1414783B4}"/>
                    </a:ext>
                  </a:extLst>
                </p:cNvPr>
                <p:cNvSpPr/>
                <p:nvPr/>
              </p:nvSpPr>
              <p:spPr>
                <a:xfrm>
                  <a:off x="4237649" y="2702326"/>
                  <a:ext cx="228945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請求書チェック・</a:t>
                  </a:r>
                  <a:r>
                    <a:rPr kumimoji="0" lang="en-US" altLang="ja-JP"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入力</a:t>
                  </a:r>
                </a:p>
              </p:txBody>
            </p:sp>
            <p:sp>
              <p:nvSpPr>
                <p:cNvPr id="60" name="正方形/長方形 59">
                  <a:extLst>
                    <a:ext uri="{FF2B5EF4-FFF2-40B4-BE49-F238E27FC236}">
                      <a16:creationId xmlns:a16="http://schemas.microsoft.com/office/drawing/2014/main" id="{3D8CF879-5BBA-5E86-7B87-BA47919A20E0}"/>
                    </a:ext>
                  </a:extLst>
                </p:cNvPr>
                <p:cNvSpPr/>
                <p:nvPr/>
              </p:nvSpPr>
              <p:spPr>
                <a:xfrm>
                  <a:off x="6575704" y="3095147"/>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RPA</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用前処理</a:t>
                  </a:r>
                </a:p>
              </p:txBody>
            </p:sp>
            <p:sp>
              <p:nvSpPr>
                <p:cNvPr id="61" name="正方形/長方形 60">
                  <a:extLst>
                    <a:ext uri="{FF2B5EF4-FFF2-40B4-BE49-F238E27FC236}">
                      <a16:creationId xmlns:a16="http://schemas.microsoft.com/office/drawing/2014/main" id="{4F089747-6365-6963-2B9D-FC4AF12A94DB}"/>
                    </a:ext>
                  </a:extLst>
                </p:cNvPr>
                <p:cNvSpPr/>
                <p:nvPr/>
              </p:nvSpPr>
              <p:spPr>
                <a:xfrm>
                  <a:off x="7760802" y="3095147"/>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ファイル移動</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en-US" altLang="ja-JP" sz="700" b="0" i="0" u="none" strike="noStrike" kern="0" cap="none" spc="0" normalizeH="0" baseline="0" noProof="0" err="1">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ExcelVBA</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準備</a:t>
                  </a:r>
                </a:p>
              </p:txBody>
            </p:sp>
            <p:sp>
              <p:nvSpPr>
                <p:cNvPr id="62" name="正方形/長方形 61">
                  <a:extLst>
                    <a:ext uri="{FF2B5EF4-FFF2-40B4-BE49-F238E27FC236}">
                      <a16:creationId xmlns:a16="http://schemas.microsoft.com/office/drawing/2014/main" id="{D93A5A6E-28EA-E3B0-B97D-75C13778B124}"/>
                    </a:ext>
                  </a:extLst>
                </p:cNvPr>
                <p:cNvSpPr/>
                <p:nvPr/>
              </p:nvSpPr>
              <p:spPr>
                <a:xfrm>
                  <a:off x="6575703" y="2702326"/>
                  <a:ext cx="4657754" cy="273402"/>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RPA</a:t>
                  </a: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処理準備・実行</a:t>
                  </a:r>
                </a:p>
              </p:txBody>
            </p:sp>
            <p:sp>
              <p:nvSpPr>
                <p:cNvPr id="63" name="正方形/長方形 62">
                  <a:extLst>
                    <a:ext uri="{FF2B5EF4-FFF2-40B4-BE49-F238E27FC236}">
                      <a16:creationId xmlns:a16="http://schemas.microsoft.com/office/drawing/2014/main" id="{58ABCE60-DAC0-E0C9-4CDB-E4002540309B}"/>
                    </a:ext>
                  </a:extLst>
                </p:cNvPr>
                <p:cNvSpPr/>
                <p:nvPr/>
              </p:nvSpPr>
              <p:spPr>
                <a:xfrm>
                  <a:off x="8945899" y="3095147"/>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RPA</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実行</a:t>
                  </a:r>
                </a:p>
              </p:txBody>
            </p:sp>
            <p:sp>
              <p:nvSpPr>
                <p:cNvPr id="64" name="正方形/長方形 63">
                  <a:extLst>
                    <a:ext uri="{FF2B5EF4-FFF2-40B4-BE49-F238E27FC236}">
                      <a16:creationId xmlns:a16="http://schemas.microsoft.com/office/drawing/2014/main" id="{8AD17CDC-E71E-76BC-D158-C1B4DEB87234}"/>
                    </a:ext>
                  </a:extLst>
                </p:cNvPr>
                <p:cNvSpPr/>
                <p:nvPr/>
              </p:nvSpPr>
              <p:spPr>
                <a:xfrm>
                  <a:off x="10130997" y="3095147"/>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へ</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結果の転記</a:t>
                  </a:r>
                </a:p>
              </p:txBody>
            </p:sp>
            <p:sp>
              <p:nvSpPr>
                <p:cNvPr id="65" name="四角形: 角を丸くする 64">
                  <a:extLst>
                    <a:ext uri="{FF2B5EF4-FFF2-40B4-BE49-F238E27FC236}">
                      <a16:creationId xmlns:a16="http://schemas.microsoft.com/office/drawing/2014/main" id="{7A3659D1-057F-5132-FDE9-949F9C43F6CF}"/>
                    </a:ext>
                  </a:extLst>
                </p:cNvPr>
                <p:cNvSpPr/>
                <p:nvPr/>
              </p:nvSpPr>
              <p:spPr>
                <a:xfrm>
                  <a:off x="2499118" y="3470470"/>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システム化</a:t>
                  </a:r>
                </a:p>
              </p:txBody>
            </p:sp>
            <p:sp>
              <p:nvSpPr>
                <p:cNvPr id="66" name="四角形: 角を丸くする 65">
                  <a:extLst>
                    <a:ext uri="{FF2B5EF4-FFF2-40B4-BE49-F238E27FC236}">
                      <a16:creationId xmlns:a16="http://schemas.microsoft.com/office/drawing/2014/main" id="{0EDDB42A-C077-6E8A-895E-2E98DEEE03AA}"/>
                    </a:ext>
                  </a:extLst>
                </p:cNvPr>
                <p:cNvSpPr/>
                <p:nvPr/>
              </p:nvSpPr>
              <p:spPr>
                <a:xfrm>
                  <a:off x="3686938" y="3470470"/>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67" name="四角形: 角を丸くする 66">
                  <a:extLst>
                    <a:ext uri="{FF2B5EF4-FFF2-40B4-BE49-F238E27FC236}">
                      <a16:creationId xmlns:a16="http://schemas.microsoft.com/office/drawing/2014/main" id="{AE836744-9981-B166-7067-7B6F54C549F3}"/>
                    </a:ext>
                  </a:extLst>
                </p:cNvPr>
                <p:cNvSpPr/>
                <p:nvPr/>
              </p:nvSpPr>
              <p:spPr>
                <a:xfrm>
                  <a:off x="7162661" y="3470470"/>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68" name="四角形: 角を丸くする 67">
                  <a:extLst>
                    <a:ext uri="{FF2B5EF4-FFF2-40B4-BE49-F238E27FC236}">
                      <a16:creationId xmlns:a16="http://schemas.microsoft.com/office/drawing/2014/main" id="{158B5C63-2575-5FA1-1B09-8421A350C7DA}"/>
                    </a:ext>
                  </a:extLst>
                </p:cNvPr>
                <p:cNvSpPr/>
                <p:nvPr/>
              </p:nvSpPr>
              <p:spPr>
                <a:xfrm>
                  <a:off x="9539685" y="3470470"/>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69" name="正方形/長方形 68">
                  <a:extLst>
                    <a:ext uri="{FF2B5EF4-FFF2-40B4-BE49-F238E27FC236}">
                      <a16:creationId xmlns:a16="http://schemas.microsoft.com/office/drawing/2014/main" id="{F3B0E100-D99A-B636-F1B3-83718C66640F}"/>
                    </a:ext>
                  </a:extLst>
                </p:cNvPr>
                <p:cNvSpPr/>
                <p:nvPr/>
              </p:nvSpPr>
              <p:spPr>
                <a:xfrm>
                  <a:off x="11305046" y="3095147"/>
                  <a:ext cx="922730" cy="424941"/>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の確認</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endPar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70" name="正方形/長方形 69">
                  <a:extLst>
                    <a:ext uri="{FF2B5EF4-FFF2-40B4-BE49-F238E27FC236}">
                      <a16:creationId xmlns:a16="http://schemas.microsoft.com/office/drawing/2014/main" id="{904E5C5F-FC36-9556-93FB-235498185631}"/>
                    </a:ext>
                  </a:extLst>
                </p:cNvPr>
                <p:cNvSpPr/>
                <p:nvPr/>
              </p:nvSpPr>
              <p:spPr>
                <a:xfrm>
                  <a:off x="11305048" y="2702326"/>
                  <a:ext cx="922728"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結果</a:t>
                  </a:r>
                  <a:r>
                    <a:rPr kumimoji="0" lang="ja-JP" altLang="en-US" sz="800" kern="0" dirty="0">
                      <a:solidFill>
                        <a:srgbClr val="E7E6E6">
                          <a:lumMod val="50000"/>
                        </a:srgbClr>
                      </a:solidFill>
                      <a:latin typeface="Meiryo UI" panose="020B0604030504040204" pitchFamily="50" charset="-128"/>
                      <a:ea typeface="Meiryo UI" panose="020B0604030504040204" pitchFamily="50" charset="-128"/>
                    </a:rPr>
                    <a:t>確認</a:t>
                  </a:r>
                  <a:endParaRPr kumimoji="0" lang="ja-JP" altLang="en-US" sz="8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71" name="正方形/長方形 70">
                  <a:extLst>
                    <a:ext uri="{FF2B5EF4-FFF2-40B4-BE49-F238E27FC236}">
                      <a16:creationId xmlns:a16="http://schemas.microsoft.com/office/drawing/2014/main" id="{FFE8A708-66B4-5976-2ADE-CA506BA2D403}"/>
                    </a:ext>
                  </a:extLst>
                </p:cNvPr>
                <p:cNvSpPr/>
                <p:nvPr/>
              </p:nvSpPr>
              <p:spPr>
                <a:xfrm>
                  <a:off x="87189" y="4340073"/>
                  <a:ext cx="605000" cy="817761"/>
                </a:xfrm>
                <a:prstGeom prst="rect">
                  <a:avLst/>
                </a:prstGeom>
                <a:solidFill>
                  <a:srgbClr val="0065BD"/>
                </a:solidFill>
                <a:ln w="6350" cap="flat" cmpd="sng" algn="ctr">
                  <a:solidFill>
                    <a:srgbClr val="4472C4">
                      <a:lumMod val="75000"/>
                    </a:srgbClr>
                  </a:solid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rPr>
                    <a:t>TOBE</a:t>
                  </a:r>
                  <a:endParaRPr kumimoji="0" lang="ja-JP" altLang="en-US" sz="1000" b="1" i="0" u="none"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cs typeface="+mn-cs"/>
                  </a:endParaRPr>
                </a:p>
              </p:txBody>
            </p:sp>
            <p:sp>
              <p:nvSpPr>
                <p:cNvPr id="72" name="正方形/長方形 71">
                  <a:extLst>
                    <a:ext uri="{FF2B5EF4-FFF2-40B4-BE49-F238E27FC236}">
                      <a16:creationId xmlns:a16="http://schemas.microsoft.com/office/drawing/2014/main" id="{38F00E42-0166-7E48-626E-AE757E31710D}"/>
                    </a:ext>
                  </a:extLst>
                </p:cNvPr>
                <p:cNvSpPr/>
                <p:nvPr/>
              </p:nvSpPr>
              <p:spPr>
                <a:xfrm>
                  <a:off x="733507" y="4340073"/>
                  <a:ext cx="1102461"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請求書受領</a:t>
                  </a:r>
                </a:p>
              </p:txBody>
            </p:sp>
            <p:sp>
              <p:nvSpPr>
                <p:cNvPr id="73" name="正方形/長方形 72">
                  <a:extLst>
                    <a:ext uri="{FF2B5EF4-FFF2-40B4-BE49-F238E27FC236}">
                      <a16:creationId xmlns:a16="http://schemas.microsoft.com/office/drawing/2014/main" id="{0A613C06-0D39-2CA5-0F22-76EBD9165445}"/>
                    </a:ext>
                  </a:extLst>
                </p:cNvPr>
                <p:cNvSpPr/>
                <p:nvPr/>
              </p:nvSpPr>
              <p:spPr>
                <a:xfrm>
                  <a:off x="733507"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請求書取得</a:t>
                  </a:r>
                  <a:r>
                    <a:rPr kumimoji="0" lang="en-US" altLang="ja-JP" sz="7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br>
                    <a:rPr kumimoji="0" lang="en-US" altLang="ja-JP" sz="7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共有フォルダ</a:t>
                  </a:r>
                  <a:br>
                    <a:rPr kumimoji="0" lang="en-US" altLang="ja-JP" sz="7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格納</a:t>
                  </a:r>
                </a:p>
              </p:txBody>
            </p:sp>
            <p:sp>
              <p:nvSpPr>
                <p:cNvPr id="74" name="正方形/長方形 73">
                  <a:extLst>
                    <a:ext uri="{FF2B5EF4-FFF2-40B4-BE49-F238E27FC236}">
                      <a16:creationId xmlns:a16="http://schemas.microsoft.com/office/drawing/2014/main" id="{2B0FF8F9-E67A-33B2-DBB5-ED3345C4FBC0}"/>
                    </a:ext>
                  </a:extLst>
                </p:cNvPr>
                <p:cNvSpPr/>
                <p:nvPr/>
              </p:nvSpPr>
              <p:spPr>
                <a:xfrm>
                  <a:off x="1912616"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err="1">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AppSheet</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提出</a:t>
                  </a:r>
                </a:p>
              </p:txBody>
            </p:sp>
            <p:sp>
              <p:nvSpPr>
                <p:cNvPr id="75" name="正方形/長方形 74">
                  <a:extLst>
                    <a:ext uri="{FF2B5EF4-FFF2-40B4-BE49-F238E27FC236}">
                      <a16:creationId xmlns:a16="http://schemas.microsoft.com/office/drawing/2014/main" id="{46F8D92A-9B7C-CB5B-ADB4-66BC6E2C1721}"/>
                    </a:ext>
                  </a:extLst>
                </p:cNvPr>
                <p:cNvSpPr/>
                <p:nvPr/>
              </p:nvSpPr>
              <p:spPr>
                <a:xfrm>
                  <a:off x="3097713"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GAS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による</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スプシ書き込み</a:t>
                  </a:r>
                </a:p>
              </p:txBody>
            </p:sp>
            <p:sp>
              <p:nvSpPr>
                <p:cNvPr id="76" name="正方形/長方形 75">
                  <a:extLst>
                    <a:ext uri="{FF2B5EF4-FFF2-40B4-BE49-F238E27FC236}">
                      <a16:creationId xmlns:a16="http://schemas.microsoft.com/office/drawing/2014/main" id="{6D90BF0C-C53E-F07A-4EA4-7BA34CBCB10F}"/>
                    </a:ext>
                  </a:extLst>
                </p:cNvPr>
                <p:cNvSpPr/>
                <p:nvPr/>
              </p:nvSpPr>
              <p:spPr>
                <a:xfrm>
                  <a:off x="1912616" y="4340073"/>
                  <a:ext cx="228945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請求書提出</a:t>
                  </a:r>
                </a:p>
              </p:txBody>
            </p:sp>
            <p:sp>
              <p:nvSpPr>
                <p:cNvPr id="77" name="正方形/長方形 76">
                  <a:extLst>
                    <a:ext uri="{FF2B5EF4-FFF2-40B4-BE49-F238E27FC236}">
                      <a16:creationId xmlns:a16="http://schemas.microsoft.com/office/drawing/2014/main" id="{288199D2-B345-959C-5BD9-9DF3735B80C0}"/>
                    </a:ext>
                  </a:extLst>
                </p:cNvPr>
                <p:cNvSpPr/>
                <p:nvPr/>
              </p:nvSpPr>
              <p:spPr>
                <a:xfrm>
                  <a:off x="4237649"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fontAlgn="auto">
                    <a:spcBef>
                      <a:spcPts val="0"/>
                    </a:spcBef>
                    <a:spcAft>
                      <a:spcPts val="0"/>
                    </a:spcAft>
                  </a:pPr>
                  <a:r>
                    <a:rPr kumimoji="0" lang="ja-JP" altLang="en-US" sz="700" kern="0">
                      <a:solidFill>
                        <a:srgbClr val="E7E6E6">
                          <a:lumMod val="50000"/>
                        </a:srgbClr>
                      </a:solidFill>
                      <a:latin typeface="Meiryo UI" panose="020B0604030504040204" pitchFamily="50" charset="-128"/>
                      <a:ea typeface="Meiryo UI" panose="020B0604030504040204" pitchFamily="50" charset="-128"/>
                    </a:rPr>
                    <a:t>支払依頼</a:t>
                  </a:r>
                  <a:r>
                    <a:rPr kumimoji="0" lang="en-US" altLang="ja-JP" sz="700" kern="0">
                      <a:solidFill>
                        <a:srgbClr val="E7E6E6">
                          <a:lumMod val="50000"/>
                        </a:srgbClr>
                      </a:solidFill>
                      <a:latin typeface="Meiryo UI" panose="020B0604030504040204" pitchFamily="50" charset="-128"/>
                      <a:ea typeface="Meiryo UI" panose="020B0604030504040204" pitchFamily="50" charset="-128"/>
                    </a:rPr>
                    <a:t>WS</a:t>
                  </a:r>
                  <a:r>
                    <a:rPr kumimoji="0" lang="ja-JP" altLang="en-US" sz="700" kern="0">
                      <a:solidFill>
                        <a:srgbClr val="E7E6E6">
                          <a:lumMod val="50000"/>
                        </a:srgbClr>
                      </a:solidFill>
                      <a:latin typeface="Meiryo UI" panose="020B0604030504040204" pitchFamily="50" charset="-128"/>
                      <a:ea typeface="Meiryo UI" panose="020B0604030504040204" pitchFamily="50" charset="-128"/>
                    </a:rPr>
                    <a:t>の</a:t>
                  </a:r>
                  <a:br>
                    <a:rPr kumimoji="0" lang="en-US" altLang="ja-JP" sz="700" kern="0">
                      <a:solidFill>
                        <a:srgbClr val="E7E6E6">
                          <a:lumMod val="50000"/>
                        </a:srgbClr>
                      </a:solidFill>
                      <a:latin typeface="Meiryo UI" panose="020B0604030504040204" pitchFamily="50" charset="-128"/>
                      <a:ea typeface="Meiryo UI" panose="020B0604030504040204" pitchFamily="50" charset="-128"/>
                    </a:rPr>
                  </a:br>
                  <a:r>
                    <a:rPr kumimoji="0" lang="ja-JP" altLang="en-US" sz="700" kern="0">
                      <a:solidFill>
                        <a:srgbClr val="E7E6E6">
                          <a:lumMod val="50000"/>
                        </a:srgbClr>
                      </a:solidFill>
                      <a:latin typeface="Meiryo UI" panose="020B0604030504040204" pitchFamily="50" charset="-128"/>
                      <a:ea typeface="Meiryo UI" panose="020B0604030504040204" pitchFamily="50" charset="-128"/>
                    </a:rPr>
                    <a:t>一次チェック</a:t>
                  </a:r>
                </a:p>
              </p:txBody>
            </p:sp>
            <p:sp>
              <p:nvSpPr>
                <p:cNvPr id="78" name="正方形/長方形 77">
                  <a:extLst>
                    <a:ext uri="{FF2B5EF4-FFF2-40B4-BE49-F238E27FC236}">
                      <a16:creationId xmlns:a16="http://schemas.microsoft.com/office/drawing/2014/main" id="{B979D5DD-9C7F-B4CB-E054-897A91BF783B}"/>
                    </a:ext>
                  </a:extLst>
                </p:cNvPr>
                <p:cNvSpPr/>
                <p:nvPr/>
              </p:nvSpPr>
              <p:spPr>
                <a:xfrm>
                  <a:off x="5422747" y="4732894"/>
                  <a:ext cx="1102461" cy="424940"/>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二次チェック</a:t>
                  </a:r>
                </a:p>
              </p:txBody>
            </p:sp>
            <p:sp>
              <p:nvSpPr>
                <p:cNvPr id="79" name="正方形/長方形 78">
                  <a:extLst>
                    <a:ext uri="{FF2B5EF4-FFF2-40B4-BE49-F238E27FC236}">
                      <a16:creationId xmlns:a16="http://schemas.microsoft.com/office/drawing/2014/main" id="{27ECF210-E048-C56A-889F-5B1DD24ED3E5}"/>
                    </a:ext>
                  </a:extLst>
                </p:cNvPr>
                <p:cNvSpPr/>
                <p:nvPr/>
              </p:nvSpPr>
              <p:spPr>
                <a:xfrm>
                  <a:off x="4237649" y="4340073"/>
                  <a:ext cx="2289459" cy="273402"/>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請求書チェック・</a:t>
                  </a:r>
                  <a:r>
                    <a:rPr kumimoji="0" lang="en-US" altLang="ja-JP"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入力</a:t>
                  </a:r>
                </a:p>
              </p:txBody>
            </p:sp>
            <p:sp>
              <p:nvSpPr>
                <p:cNvPr id="80" name="四角形: 角を丸くする 79">
                  <a:extLst>
                    <a:ext uri="{FF2B5EF4-FFF2-40B4-BE49-F238E27FC236}">
                      <a16:creationId xmlns:a16="http://schemas.microsoft.com/office/drawing/2014/main" id="{F305D76C-CC57-8CD6-EC25-90435D67DD06}"/>
                    </a:ext>
                  </a:extLst>
                </p:cNvPr>
                <p:cNvSpPr/>
                <p:nvPr/>
              </p:nvSpPr>
              <p:spPr>
                <a:xfrm>
                  <a:off x="2499118" y="5108217"/>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システム化</a:t>
                  </a:r>
                </a:p>
              </p:txBody>
            </p:sp>
            <p:sp>
              <p:nvSpPr>
                <p:cNvPr id="81" name="四角形: 角を丸くする 80">
                  <a:extLst>
                    <a:ext uri="{FF2B5EF4-FFF2-40B4-BE49-F238E27FC236}">
                      <a16:creationId xmlns:a16="http://schemas.microsoft.com/office/drawing/2014/main" id="{1B3C117B-AE28-E217-B5F9-DEA0311F86A8}"/>
                    </a:ext>
                  </a:extLst>
                </p:cNvPr>
                <p:cNvSpPr/>
                <p:nvPr/>
              </p:nvSpPr>
              <p:spPr>
                <a:xfrm>
                  <a:off x="3686938" y="5108217"/>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82" name="右大かっこ 81">
                  <a:extLst>
                    <a:ext uri="{FF2B5EF4-FFF2-40B4-BE49-F238E27FC236}">
                      <a16:creationId xmlns:a16="http://schemas.microsoft.com/office/drawing/2014/main" id="{38F4B502-3E8F-90D1-C655-DA4E5C0B522B}"/>
                    </a:ext>
                  </a:extLst>
                </p:cNvPr>
                <p:cNvSpPr/>
                <p:nvPr/>
              </p:nvSpPr>
              <p:spPr>
                <a:xfrm rot="5400000">
                  <a:off x="8845673" y="1340244"/>
                  <a:ext cx="117812" cy="4657755"/>
                </a:xfrm>
                <a:prstGeom prst="rightBracket">
                  <a:avLst/>
                </a:prstGeom>
                <a:noFill/>
                <a:ln w="19050" cap="flat" cmpd="sng" algn="ctr">
                  <a:solidFill>
                    <a:srgbClr val="262699"/>
                  </a:solidFill>
                  <a:prstDash val="sysDash"/>
                  <a:miter lim="800000"/>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83" name="正方形/長方形 82">
                  <a:extLst>
                    <a:ext uri="{FF2B5EF4-FFF2-40B4-BE49-F238E27FC236}">
                      <a16:creationId xmlns:a16="http://schemas.microsoft.com/office/drawing/2014/main" id="{78D51708-8F7A-4938-ADD8-D10C4C8A628E}"/>
                    </a:ext>
                  </a:extLst>
                </p:cNvPr>
                <p:cNvSpPr/>
                <p:nvPr/>
              </p:nvSpPr>
              <p:spPr>
                <a:xfrm>
                  <a:off x="6575704" y="4732894"/>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を基に処理実行</a:t>
                  </a:r>
                </a:p>
              </p:txBody>
            </p:sp>
            <p:sp>
              <p:nvSpPr>
                <p:cNvPr id="84" name="正方形/長方形 83">
                  <a:extLst>
                    <a:ext uri="{FF2B5EF4-FFF2-40B4-BE49-F238E27FC236}">
                      <a16:creationId xmlns:a16="http://schemas.microsoft.com/office/drawing/2014/main" id="{B4F58BDE-4972-AA6B-2BF5-628604570EFD}"/>
                    </a:ext>
                  </a:extLst>
                </p:cNvPr>
                <p:cNvSpPr/>
                <p:nvPr/>
              </p:nvSpPr>
              <p:spPr>
                <a:xfrm>
                  <a:off x="6575702" y="4340073"/>
                  <a:ext cx="2298607" cy="273402"/>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cs typeface="+mn-cs"/>
                    </a:rPr>
                    <a:t>AI</a:t>
                  </a:r>
                  <a:r>
                    <a:rPr kumimoji="0" lang="ja-JP" altLang="en-US" sz="8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cs typeface="+mn-cs"/>
                    </a:rPr>
                    <a:t>エージェントによる処理</a:t>
                  </a:r>
                </a:p>
              </p:txBody>
            </p:sp>
            <p:sp>
              <p:nvSpPr>
                <p:cNvPr id="85" name="四角形: 角を丸くする 84">
                  <a:extLst>
                    <a:ext uri="{FF2B5EF4-FFF2-40B4-BE49-F238E27FC236}">
                      <a16:creationId xmlns:a16="http://schemas.microsoft.com/office/drawing/2014/main" id="{CE459F75-C8A7-E987-FC5B-C5CB71F2EF9E}"/>
                    </a:ext>
                  </a:extLst>
                </p:cNvPr>
                <p:cNvSpPr/>
                <p:nvPr/>
              </p:nvSpPr>
              <p:spPr>
                <a:xfrm>
                  <a:off x="7162661" y="5108217"/>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sp>
              <p:nvSpPr>
                <p:cNvPr id="86" name="正方形/長方形 85">
                  <a:extLst>
                    <a:ext uri="{FF2B5EF4-FFF2-40B4-BE49-F238E27FC236}">
                      <a16:creationId xmlns:a16="http://schemas.microsoft.com/office/drawing/2014/main" id="{468E190F-3426-FD9F-27A1-B3DE1B29DE9B}"/>
                    </a:ext>
                  </a:extLst>
                </p:cNvPr>
                <p:cNvSpPr/>
                <p:nvPr/>
              </p:nvSpPr>
              <p:spPr>
                <a:xfrm>
                  <a:off x="7760802" y="4732894"/>
                  <a:ext cx="1102461" cy="424940"/>
                </a:xfrm>
                <a:prstGeom prst="rect">
                  <a:avLst/>
                </a:prstGeom>
                <a:solidFill>
                  <a:srgbClr val="FFC000">
                    <a:lumMod val="20000"/>
                    <a:lumOff val="80000"/>
                  </a:srgbClr>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支払依頼</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へ</a:t>
                  </a:r>
                  <a:b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b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結果の転記</a:t>
                  </a:r>
                </a:p>
              </p:txBody>
            </p:sp>
            <p:sp>
              <p:nvSpPr>
                <p:cNvPr id="87" name="四角形: 角を丸くする 86">
                  <a:extLst>
                    <a:ext uri="{FF2B5EF4-FFF2-40B4-BE49-F238E27FC236}">
                      <a16:creationId xmlns:a16="http://schemas.microsoft.com/office/drawing/2014/main" id="{FE64EC53-C137-D940-F32A-AC0B8A37AC1C}"/>
                    </a:ext>
                  </a:extLst>
                </p:cNvPr>
                <p:cNvSpPr/>
                <p:nvPr/>
              </p:nvSpPr>
              <p:spPr>
                <a:xfrm>
                  <a:off x="8354588" y="5108217"/>
                  <a:ext cx="519722" cy="195800"/>
                </a:xfrm>
                <a:prstGeom prst="roundRect">
                  <a:avLst/>
                </a:prstGeom>
                <a:solidFill>
                  <a:srgbClr val="4472C4">
                    <a:lumMod val="20000"/>
                    <a:lumOff val="80000"/>
                  </a:srgbClr>
                </a:solidFill>
                <a:ln w="6350" cap="flat" cmpd="sng" algn="ctr">
                  <a:noFill/>
                  <a:prstDash val="solid"/>
                  <a:miter lim="800000"/>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自動化</a:t>
                  </a:r>
                </a:p>
              </p:txBody>
            </p:sp>
            <p:grpSp>
              <p:nvGrpSpPr>
                <p:cNvPr id="88" name="グループ化 87">
                  <a:extLst>
                    <a:ext uri="{FF2B5EF4-FFF2-40B4-BE49-F238E27FC236}">
                      <a16:creationId xmlns:a16="http://schemas.microsoft.com/office/drawing/2014/main" id="{34870F60-BE56-D1C9-356F-6D6CE7AFBA57}"/>
                    </a:ext>
                  </a:extLst>
                </p:cNvPr>
                <p:cNvGrpSpPr/>
                <p:nvPr/>
              </p:nvGrpSpPr>
              <p:grpSpPr>
                <a:xfrm>
                  <a:off x="8945897" y="4340073"/>
                  <a:ext cx="922735" cy="817761"/>
                  <a:chOff x="11305047" y="4025748"/>
                  <a:chExt cx="922735" cy="817761"/>
                </a:xfrm>
              </p:grpSpPr>
              <p:sp>
                <p:nvSpPr>
                  <p:cNvPr id="89" name="正方形/長方形 88">
                    <a:extLst>
                      <a:ext uri="{FF2B5EF4-FFF2-40B4-BE49-F238E27FC236}">
                        <a16:creationId xmlns:a16="http://schemas.microsoft.com/office/drawing/2014/main" id="{BE76015D-1D69-1355-E3DD-69BC8D323111}"/>
                      </a:ext>
                    </a:extLst>
                  </p:cNvPr>
                  <p:cNvSpPr/>
                  <p:nvPr/>
                </p:nvSpPr>
                <p:spPr>
                  <a:xfrm>
                    <a:off x="11305047" y="4418570"/>
                    <a:ext cx="922729" cy="424939"/>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支払</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WS</a:t>
                    </a:r>
                    <a:r>
                      <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の確認</a:t>
                    </a:r>
                    <a:r>
                      <a:rPr kumimoji="0" lang="en-US" altLang="ja-JP"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a:t>
                    </a:r>
                    <a:endParaRPr kumimoji="0" lang="ja-JP" altLang="en-US" sz="7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90" name="正方形/長方形 89">
                    <a:extLst>
                      <a:ext uri="{FF2B5EF4-FFF2-40B4-BE49-F238E27FC236}">
                        <a16:creationId xmlns:a16="http://schemas.microsoft.com/office/drawing/2014/main" id="{239AC782-7482-904A-B680-821D192982E3}"/>
                      </a:ext>
                    </a:extLst>
                  </p:cNvPr>
                  <p:cNvSpPr/>
                  <p:nvPr/>
                </p:nvSpPr>
                <p:spPr>
                  <a:xfrm>
                    <a:off x="11305049" y="4025748"/>
                    <a:ext cx="922733" cy="273403"/>
                  </a:xfrm>
                  <a:prstGeom prst="rect">
                    <a:avLst/>
                  </a:prstGeom>
                  <a:solidFill>
                    <a:sysClr val="window" lastClr="FFFFFF"/>
                  </a:solidFill>
                  <a:ln w="6350" cap="flat" cmpd="sng" algn="ctr">
                    <a:solidFill>
                      <a:sysClr val="window" lastClr="FFFFFF">
                        <a:lumMod val="50000"/>
                      </a:sys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結果確認</a:t>
                    </a:r>
                  </a:p>
                </p:txBody>
              </p:sp>
            </p:grpSp>
            <p:sp>
              <p:nvSpPr>
                <p:cNvPr id="91" name="正方形/長方形 90">
                  <a:extLst>
                    <a:ext uri="{FF2B5EF4-FFF2-40B4-BE49-F238E27FC236}">
                      <a16:creationId xmlns:a16="http://schemas.microsoft.com/office/drawing/2014/main" id="{2F1CBDE1-344B-EDD3-B5FE-AFE76280D144}"/>
                    </a:ext>
                  </a:extLst>
                </p:cNvPr>
                <p:cNvSpPr/>
                <p:nvPr/>
              </p:nvSpPr>
              <p:spPr>
                <a:xfrm>
                  <a:off x="6548262" y="4300574"/>
                  <a:ext cx="2361854" cy="1056268"/>
                </a:xfrm>
                <a:prstGeom prst="rect">
                  <a:avLst/>
                </a:prstGeom>
                <a:noFill/>
                <a:ln w="12700" cap="flat" cmpd="sng" algn="ctr">
                  <a:solidFill>
                    <a:srgbClr val="262699"/>
                  </a:solidFill>
                  <a:prstDash val="sysDash"/>
                  <a:miter lim="800000"/>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
              <p:nvSpPr>
                <p:cNvPr id="92" name="テキスト ボックス 91">
                  <a:extLst>
                    <a:ext uri="{FF2B5EF4-FFF2-40B4-BE49-F238E27FC236}">
                      <a16:creationId xmlns:a16="http://schemas.microsoft.com/office/drawing/2014/main" id="{657CCAC6-4C00-BF07-3C19-F4612F6AEA8D}"/>
                    </a:ext>
                  </a:extLst>
                </p:cNvPr>
                <p:cNvSpPr txBox="1"/>
                <p:nvPr/>
              </p:nvSpPr>
              <p:spPr>
                <a:xfrm>
                  <a:off x="7909479" y="3769683"/>
                  <a:ext cx="805110" cy="517174"/>
                </a:xfrm>
                <a:prstGeom prst="rect">
                  <a:avLst/>
                </a:prstGeom>
                <a:solidFill>
                  <a:sysClr val="window" lastClr="FFFFFF"/>
                </a:solidFill>
                <a:ln w="12700" cap="flat">
                  <a:noFill/>
                  <a:miter lim="400000"/>
                </a:ln>
                <a:effectLst/>
              </p:spPr>
              <p:txBody>
                <a:bodyPr rot="0" spcFirstLastPara="1" vertOverflow="overflow" horzOverflow="overflow" vert="horz" wrap="square" lIns="0" tIns="0" rIns="0" bIns="0" numCol="1" spcCol="381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8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rPr>
                    <a:t>AI</a:t>
                  </a:r>
                  <a:br>
                    <a:rPr kumimoji="0" lang="en-US" altLang="ja-JP" sz="8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rPr>
                  </a:br>
                  <a:r>
                    <a:rPr kumimoji="0" lang="ja-JP" altLang="en-US" sz="8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rPr>
                    <a:t>エージェント化</a:t>
                  </a:r>
                  <a:endParaRPr kumimoji="0" lang="en-US" altLang="ja-JP" sz="8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endParaRPr>
                </a:p>
              </p:txBody>
            </p:sp>
            <p:cxnSp>
              <p:nvCxnSpPr>
                <p:cNvPr id="93" name="直線コネクタ 92">
                  <a:extLst>
                    <a:ext uri="{FF2B5EF4-FFF2-40B4-BE49-F238E27FC236}">
                      <a16:creationId xmlns:a16="http://schemas.microsoft.com/office/drawing/2014/main" id="{73C27887-8550-2EC0-E097-67AE8EF1D260}"/>
                    </a:ext>
                  </a:extLst>
                </p:cNvPr>
                <p:cNvCxnSpPr>
                  <a:cxnSpLocks/>
                </p:cNvCxnSpPr>
                <p:nvPr/>
              </p:nvCxnSpPr>
              <p:spPr>
                <a:xfrm flipH="1">
                  <a:off x="9799546" y="4349598"/>
                  <a:ext cx="2316842" cy="0"/>
                </a:xfrm>
                <a:prstGeom prst="line">
                  <a:avLst/>
                </a:prstGeom>
                <a:noFill/>
                <a:ln w="19050" cap="flat" cmpd="sng" algn="ctr">
                  <a:solidFill>
                    <a:srgbClr val="C00000"/>
                  </a:solidFill>
                  <a:prstDash val="sysDash"/>
                  <a:miter lim="800000"/>
                  <a:headEnd type="triangle"/>
                  <a:tailEnd type="triangle"/>
                </a:ln>
                <a:effectLst/>
              </p:spPr>
            </p:cxnSp>
            <p:sp>
              <p:nvSpPr>
                <p:cNvPr id="94" name="テキスト ボックス 93">
                  <a:extLst>
                    <a:ext uri="{FF2B5EF4-FFF2-40B4-BE49-F238E27FC236}">
                      <a16:creationId xmlns:a16="http://schemas.microsoft.com/office/drawing/2014/main" id="{379ADCAB-564E-A507-D156-07F8762EA317}"/>
                    </a:ext>
                  </a:extLst>
                </p:cNvPr>
                <p:cNvSpPr txBox="1"/>
                <p:nvPr/>
              </p:nvSpPr>
              <p:spPr>
                <a:xfrm>
                  <a:off x="10545083" y="4263399"/>
                  <a:ext cx="984727" cy="172392"/>
                </a:xfrm>
                <a:prstGeom prst="rect">
                  <a:avLst/>
                </a:prstGeom>
                <a:solidFill>
                  <a:sysClr val="window" lastClr="FFFFFF"/>
                </a:solidFill>
                <a:ln w="12700" cap="flat">
                  <a:noFill/>
                  <a:miter lim="400000"/>
                </a:ln>
                <a:effectLst/>
              </p:spPr>
              <p:txBody>
                <a:bodyPr rot="0" spcFirstLastPara="1" vertOverflow="overflow" horzOverflow="overflow" vert="horz" wrap="square" lIns="0" tIns="0" rIns="0" bIns="0" numCol="1" spcCol="3810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800" b="1" i="0" u="none" strike="noStrike" kern="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rPr>
                    <a:t>リードタイム短縮</a:t>
                  </a:r>
                  <a:endParaRPr kumimoji="0" lang="en-US" altLang="ja-JP" sz="800" b="1" i="0" u="none" strike="noStrike" kern="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endParaRPr>
                </a:p>
              </p:txBody>
            </p:sp>
          </p:grpSp>
        </p:grpSp>
        <p:grpSp>
          <p:nvGrpSpPr>
            <p:cNvPr id="112" name="グループ化 111">
              <a:extLst>
                <a:ext uri="{FF2B5EF4-FFF2-40B4-BE49-F238E27FC236}">
                  <a16:creationId xmlns:a16="http://schemas.microsoft.com/office/drawing/2014/main" id="{1289BCC0-DE00-EE25-EB32-94322A3C19BC}"/>
                </a:ext>
              </a:extLst>
            </p:cNvPr>
            <p:cNvGrpSpPr/>
            <p:nvPr/>
          </p:nvGrpSpPr>
          <p:grpSpPr>
            <a:xfrm>
              <a:off x="8992746" y="2866552"/>
              <a:ext cx="3122251" cy="2203265"/>
              <a:chOff x="8992746" y="2866552"/>
              <a:chExt cx="3122251" cy="2203265"/>
            </a:xfrm>
          </p:grpSpPr>
          <p:sp>
            <p:nvSpPr>
              <p:cNvPr id="105" name="左中かっこ 104">
                <a:extLst>
                  <a:ext uri="{FF2B5EF4-FFF2-40B4-BE49-F238E27FC236}">
                    <a16:creationId xmlns:a16="http://schemas.microsoft.com/office/drawing/2014/main" id="{E6457720-CBAD-FA90-977B-DDF4C13A8465}"/>
                  </a:ext>
                </a:extLst>
              </p:cNvPr>
              <p:cNvSpPr/>
              <p:nvPr/>
            </p:nvSpPr>
            <p:spPr>
              <a:xfrm>
                <a:off x="8992746" y="2866552"/>
                <a:ext cx="445743" cy="2203265"/>
              </a:xfrm>
              <a:prstGeom prst="leftBrace">
                <a:avLst>
                  <a:gd name="adj1" fmla="val 29702"/>
                  <a:gd name="adj2" fmla="val 50000"/>
                </a:avLst>
              </a:prstGeom>
              <a:noFill/>
              <a:ln w="6350" cap="flat" cmpd="sng" algn="ctr">
                <a:solidFill>
                  <a:sysClr val="windowText" lastClr="000000"/>
                </a:solidFill>
                <a:prstDash val="solid"/>
                <a:miter lim="800000"/>
              </a:ln>
              <a:effectLst/>
            </p:spPr>
            <p:txBody>
              <a:bodyPr rtlCol="0" anchor="ctr"/>
              <a:lstStyle/>
              <a:p>
                <a:pPr algn="ctr"/>
                <a:endParaRPr kumimoji="1" lang="ja-JP" altLang="en-US"/>
              </a:p>
            </p:txBody>
          </p:sp>
          <p:sp>
            <p:nvSpPr>
              <p:cNvPr id="106" name="テキスト ボックス 105">
                <a:extLst>
                  <a:ext uri="{FF2B5EF4-FFF2-40B4-BE49-F238E27FC236}">
                    <a16:creationId xmlns:a16="http://schemas.microsoft.com/office/drawing/2014/main" id="{06134D82-354A-D432-6917-F41344834B53}"/>
                  </a:ext>
                </a:extLst>
              </p:cNvPr>
              <p:cNvSpPr txBox="1"/>
              <p:nvPr/>
            </p:nvSpPr>
            <p:spPr bwMode="auto">
              <a:xfrm>
                <a:off x="9476005" y="2952522"/>
                <a:ext cx="2638992" cy="2031325"/>
              </a:xfrm>
              <a:prstGeom prst="rect">
                <a:avLst/>
              </a:prstGeom>
              <a:noFill/>
              <a:ln w="9525">
                <a:noFill/>
                <a:miter lim="800000"/>
                <a:headEnd/>
                <a:tailEnd/>
              </a:ln>
            </p:spPr>
            <p:txBody>
              <a:bodyPr wrap="square" rtlCol="0">
                <a:spAutoFit/>
              </a:bodyPr>
              <a:lstStyle/>
              <a:p>
                <a:pPr>
                  <a:defRPr/>
                </a:pPr>
                <a:r>
                  <a:rPr lang="ja-JP" altLang="en-US" sz="1400" b="1" dirty="0">
                    <a:solidFill>
                      <a:srgbClr val="E7E6E6">
                        <a:lumMod val="50000"/>
                      </a:srgbClr>
                    </a:solidFill>
                    <a:latin typeface="Meiryo UI" panose="020B0604030504040204" pitchFamily="50" charset="-128"/>
                    <a:ea typeface="Meiryo UI" panose="020B0604030504040204" pitchFamily="50" charset="-128"/>
                  </a:rPr>
                  <a:t>■約</a:t>
                </a:r>
                <a:r>
                  <a:rPr lang="en-US" altLang="ja-JP" sz="1400" b="1" dirty="0">
                    <a:solidFill>
                      <a:srgbClr val="E7E6E6">
                        <a:lumMod val="50000"/>
                      </a:srgbClr>
                    </a:solidFill>
                    <a:latin typeface="Meiryo UI" panose="020B0604030504040204" pitchFamily="50" charset="-128"/>
                    <a:ea typeface="Meiryo UI" panose="020B0604030504040204" pitchFamily="50" charset="-128"/>
                  </a:rPr>
                  <a:t>1</a:t>
                </a:r>
                <a:r>
                  <a:rPr lang="ja-JP" altLang="en-US" sz="1400" b="1" dirty="0">
                    <a:solidFill>
                      <a:srgbClr val="E7E6E6">
                        <a:lumMod val="50000"/>
                      </a:srgbClr>
                    </a:solidFill>
                    <a:latin typeface="Meiryo UI" panose="020B0604030504040204" pitchFamily="50" charset="-128"/>
                    <a:ea typeface="Meiryo UI" panose="020B0604030504040204" pitchFamily="50" charset="-128"/>
                  </a:rPr>
                  <a:t>人月の作業（以下内訳）</a:t>
                </a:r>
                <a:endParaRPr lang="en-US" altLang="ja-JP" sz="1400" b="1" dirty="0">
                  <a:solidFill>
                    <a:srgbClr val="E7E6E6">
                      <a:lumMod val="50000"/>
                    </a:srgbClr>
                  </a:solidFill>
                  <a:latin typeface="Meiryo UI" panose="020B0604030504040204" pitchFamily="50" charset="-128"/>
                  <a:ea typeface="Meiryo UI" panose="020B0604030504040204" pitchFamily="50" charset="-128"/>
                </a:endParaRPr>
              </a:p>
              <a:p>
                <a:pPr>
                  <a:defRPr/>
                </a:pPr>
                <a:endParaRPr lang="en-US" altLang="ja-JP" sz="1400" b="1" u="sng" dirty="0">
                  <a:solidFill>
                    <a:srgbClr val="E7E6E6">
                      <a:lumMod val="50000"/>
                    </a:srgbClr>
                  </a:solidFill>
                  <a:latin typeface="Meiryo UI" panose="020B0604030504040204" pitchFamily="50" charset="-128"/>
                  <a:ea typeface="Meiryo UI" panose="020B0604030504040204" pitchFamily="50" charset="-128"/>
                </a:endParaRPr>
              </a:p>
              <a:p>
                <a:pPr>
                  <a:defRPr/>
                </a:pPr>
                <a:r>
                  <a:rPr lang="ja-JP" altLang="en-US" sz="1400" b="1" u="sng" dirty="0">
                    <a:solidFill>
                      <a:srgbClr val="E7E6E6">
                        <a:lumMod val="50000"/>
                      </a:srgbClr>
                    </a:solidFill>
                    <a:latin typeface="Meiryo UI" panose="020B0604030504040204" pitchFamily="50" charset="-128"/>
                    <a:ea typeface="Meiryo UI" panose="020B0604030504040204" pitchFamily="50" charset="-128"/>
                  </a:rPr>
                  <a:t>エンジニア上流工程</a:t>
                </a:r>
                <a:endParaRPr lang="en-US" altLang="ja-JP" sz="1400" b="1" u="sng" dirty="0">
                  <a:solidFill>
                    <a:srgbClr val="E7E6E6">
                      <a:lumMod val="50000"/>
                    </a:srgb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defRPr/>
                </a:pPr>
                <a:r>
                  <a:rPr lang="ja-JP" altLang="en-US" sz="1400" b="1" dirty="0">
                    <a:solidFill>
                      <a:srgbClr val="E7E6E6">
                        <a:lumMod val="50000"/>
                      </a:srgbClr>
                    </a:solidFill>
                    <a:latin typeface="Meiryo UI" panose="020B0604030504040204" pitchFamily="50" charset="-128"/>
                    <a:ea typeface="Meiryo UI" panose="020B0604030504040204" pitchFamily="50" charset="-128"/>
                  </a:rPr>
                  <a:t>業務分析：</a:t>
                </a:r>
                <a:r>
                  <a:rPr lang="en-US" altLang="ja-JP" sz="1400" b="1" dirty="0">
                    <a:solidFill>
                      <a:srgbClr val="E7E6E6">
                        <a:lumMod val="50000"/>
                      </a:srgbClr>
                    </a:solidFill>
                    <a:latin typeface="Meiryo UI" panose="020B0604030504040204" pitchFamily="50" charset="-128"/>
                    <a:ea typeface="Meiryo UI" panose="020B0604030504040204" pitchFamily="50" charset="-128"/>
                  </a:rPr>
                  <a:t>3</a:t>
                </a:r>
                <a:r>
                  <a:rPr lang="ja-JP" altLang="en-US" sz="1400" b="1" dirty="0">
                    <a:solidFill>
                      <a:srgbClr val="E7E6E6">
                        <a:lumMod val="50000"/>
                      </a:srgbClr>
                    </a:solidFill>
                    <a:latin typeface="Meiryo UI" panose="020B0604030504040204" pitchFamily="50" charset="-128"/>
                    <a:ea typeface="Meiryo UI" panose="020B0604030504040204" pitchFamily="50" charset="-128"/>
                  </a:rPr>
                  <a:t>人日</a:t>
                </a:r>
                <a:endParaRPr lang="en-US" altLang="ja-JP" sz="1400" b="1" dirty="0">
                  <a:solidFill>
                    <a:srgbClr val="E7E6E6">
                      <a:lumMod val="50000"/>
                    </a:srgb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defRPr/>
                </a:pPr>
                <a:r>
                  <a:rPr lang="ja-JP" altLang="en-US" sz="1400" b="1" dirty="0">
                    <a:solidFill>
                      <a:srgbClr val="E7E6E6">
                        <a:lumMod val="50000"/>
                      </a:srgbClr>
                    </a:solidFill>
                    <a:latin typeface="Meiryo UI" panose="020B0604030504040204" pitchFamily="50" charset="-128"/>
                    <a:ea typeface="Meiryo UI" panose="020B0604030504040204" pitchFamily="50" charset="-128"/>
                  </a:rPr>
                  <a:t>要件定義：</a:t>
                </a:r>
                <a:r>
                  <a:rPr lang="en-US" altLang="ja-JP" sz="1400" b="1" dirty="0">
                    <a:solidFill>
                      <a:srgbClr val="E7E6E6">
                        <a:lumMod val="50000"/>
                      </a:srgbClr>
                    </a:solidFill>
                    <a:latin typeface="Meiryo UI" panose="020B0604030504040204" pitchFamily="50" charset="-128"/>
                    <a:ea typeface="Meiryo UI" panose="020B0604030504040204" pitchFamily="50" charset="-128"/>
                  </a:rPr>
                  <a:t>2</a:t>
                </a:r>
                <a:r>
                  <a:rPr lang="ja-JP" altLang="en-US" sz="1400" b="1" dirty="0">
                    <a:solidFill>
                      <a:srgbClr val="E7E6E6">
                        <a:lumMod val="50000"/>
                      </a:srgbClr>
                    </a:solidFill>
                    <a:latin typeface="Meiryo UI" panose="020B0604030504040204" pitchFamily="50" charset="-128"/>
                    <a:ea typeface="Meiryo UI" panose="020B0604030504040204" pitchFamily="50" charset="-128"/>
                  </a:rPr>
                  <a:t>人日</a:t>
                </a:r>
                <a:endParaRPr lang="en-US" altLang="ja-JP" sz="1400" b="1" dirty="0">
                  <a:solidFill>
                    <a:srgbClr val="E7E6E6">
                      <a:lumMod val="50000"/>
                    </a:srgb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defRPr/>
                </a:pPr>
                <a:endParaRPr lang="en-US" altLang="ja-JP" sz="1400" b="1" dirty="0">
                  <a:solidFill>
                    <a:srgbClr val="E7E6E6">
                      <a:lumMod val="50000"/>
                    </a:srgbClr>
                  </a:solidFill>
                  <a:latin typeface="Meiryo UI" panose="020B0604030504040204" pitchFamily="50" charset="-128"/>
                  <a:ea typeface="Meiryo UI" panose="020B0604030504040204" pitchFamily="50" charset="-128"/>
                </a:endParaRPr>
              </a:p>
              <a:p>
                <a:pPr>
                  <a:defRPr/>
                </a:pPr>
                <a:r>
                  <a:rPr lang="ja-JP" altLang="en-US" sz="1400" b="1" u="sng" dirty="0">
                    <a:solidFill>
                      <a:srgbClr val="E7E6E6">
                        <a:lumMod val="50000"/>
                      </a:srgbClr>
                    </a:solidFill>
                    <a:latin typeface="Meiryo UI" panose="020B0604030504040204" pitchFamily="50" charset="-128"/>
                    <a:ea typeface="Meiryo UI" panose="020B0604030504040204" pitchFamily="50" charset="-128"/>
                  </a:rPr>
                  <a:t>エンジニア下流工程</a:t>
                </a:r>
                <a:endParaRPr lang="en-US" altLang="ja-JP" sz="1400" b="1" u="sng" dirty="0">
                  <a:solidFill>
                    <a:srgbClr val="E7E6E6">
                      <a:lumMod val="50000"/>
                    </a:srgb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defRPr/>
                </a:pPr>
                <a:r>
                  <a:rPr lang="ja-JP" altLang="en-US" sz="1400" b="1" dirty="0">
                    <a:solidFill>
                      <a:srgbClr val="E7E6E6">
                        <a:lumMod val="50000"/>
                      </a:srgbClr>
                    </a:solidFill>
                    <a:latin typeface="Meiryo UI" panose="020B0604030504040204" pitchFamily="50" charset="-128"/>
                    <a:ea typeface="Meiryo UI" panose="020B0604030504040204" pitchFamily="50" charset="-128"/>
                  </a:rPr>
                  <a:t>技術調査：</a:t>
                </a:r>
                <a:r>
                  <a:rPr lang="en-US" altLang="ja-JP" sz="1400" b="1" dirty="0">
                    <a:solidFill>
                      <a:srgbClr val="E7E6E6">
                        <a:lumMod val="50000"/>
                      </a:srgbClr>
                    </a:solidFill>
                    <a:latin typeface="Meiryo UI" panose="020B0604030504040204" pitchFamily="50" charset="-128"/>
                    <a:ea typeface="Meiryo UI" panose="020B0604030504040204" pitchFamily="50" charset="-128"/>
                  </a:rPr>
                  <a:t>5</a:t>
                </a:r>
                <a:r>
                  <a:rPr lang="ja-JP" altLang="en-US" sz="1400" b="1" dirty="0">
                    <a:solidFill>
                      <a:srgbClr val="E7E6E6">
                        <a:lumMod val="50000"/>
                      </a:srgbClr>
                    </a:solidFill>
                    <a:latin typeface="Meiryo UI" panose="020B0604030504040204" pitchFamily="50" charset="-128"/>
                    <a:ea typeface="Meiryo UI" panose="020B0604030504040204" pitchFamily="50" charset="-128"/>
                  </a:rPr>
                  <a:t>人日</a:t>
                </a:r>
                <a:endParaRPr lang="en-US" altLang="ja-JP" sz="1400" b="1" dirty="0">
                  <a:solidFill>
                    <a:srgbClr val="E7E6E6">
                      <a:lumMod val="50000"/>
                    </a:srgbClr>
                  </a:solidFill>
                  <a:latin typeface="Meiryo UI" panose="020B0604030504040204" pitchFamily="50" charset="-128"/>
                  <a:ea typeface="Meiryo UI" panose="020B0604030504040204" pitchFamily="50" charset="-128"/>
                </a:endParaRPr>
              </a:p>
              <a:p>
                <a:pPr marL="179388" indent="-179388">
                  <a:buFont typeface="Arial" panose="020B0604020202020204" pitchFamily="34" charset="0"/>
                  <a:buChar char="•"/>
                  <a:defRPr/>
                </a:pPr>
                <a:r>
                  <a:rPr lang="en-US" altLang="ja-JP" sz="1400" b="1" dirty="0">
                    <a:solidFill>
                      <a:srgbClr val="E7E6E6">
                        <a:lumMod val="50000"/>
                      </a:srgbClr>
                    </a:solidFill>
                    <a:latin typeface="Meiryo UI" panose="020B0604030504040204" pitchFamily="50" charset="-128"/>
                    <a:ea typeface="Meiryo UI" panose="020B0604030504040204" pitchFamily="50" charset="-128"/>
                  </a:rPr>
                  <a:t>n8n</a:t>
                </a:r>
                <a:r>
                  <a:rPr lang="ja-JP" altLang="en-US" sz="1400" b="1" dirty="0">
                    <a:solidFill>
                      <a:srgbClr val="E7E6E6">
                        <a:lumMod val="50000"/>
                      </a:srgbClr>
                    </a:solidFill>
                    <a:latin typeface="Meiryo UI" panose="020B0604030504040204" pitchFamily="50" charset="-128"/>
                    <a:ea typeface="Meiryo UI" panose="020B0604030504040204" pitchFamily="50" charset="-128"/>
                  </a:rPr>
                  <a:t>構築：</a:t>
                </a:r>
                <a:r>
                  <a:rPr lang="en-US" altLang="ja-JP" sz="1400" b="1" dirty="0">
                    <a:solidFill>
                      <a:srgbClr val="E7E6E6">
                        <a:lumMod val="50000"/>
                      </a:srgbClr>
                    </a:solidFill>
                    <a:latin typeface="Meiryo UI" panose="020B0604030504040204" pitchFamily="50" charset="-128"/>
                    <a:ea typeface="Meiryo UI" panose="020B0604030504040204" pitchFamily="50" charset="-128"/>
                  </a:rPr>
                  <a:t>10</a:t>
                </a:r>
                <a:r>
                  <a:rPr lang="ja-JP" altLang="en-US" sz="1400" b="1" dirty="0">
                    <a:solidFill>
                      <a:srgbClr val="E7E6E6">
                        <a:lumMod val="50000"/>
                      </a:srgbClr>
                    </a:solidFill>
                    <a:latin typeface="Meiryo UI" panose="020B0604030504040204" pitchFamily="50" charset="-128"/>
                    <a:ea typeface="Meiryo UI" panose="020B0604030504040204" pitchFamily="50" charset="-128"/>
                  </a:rPr>
                  <a:t>人日</a:t>
                </a:r>
                <a:endParaRPr lang="en-US" altLang="ja-JP" sz="1400" b="1" dirty="0">
                  <a:solidFill>
                    <a:srgbClr val="E7E6E6">
                      <a:lumMod val="50000"/>
                    </a:srgbClr>
                  </a:solidFill>
                  <a:latin typeface="Meiryo UI" panose="020B0604030504040204" pitchFamily="50" charset="-128"/>
                  <a:ea typeface="Meiryo UI" panose="020B0604030504040204" pitchFamily="50" charset="-128"/>
                </a:endParaRPr>
              </a:p>
            </p:txBody>
          </p:sp>
        </p:grpSp>
      </p:grpSp>
    </p:spTree>
    <p:extLst>
      <p:ext uri="{BB962C8B-B14F-4D97-AF65-F5344CB8AC3E}">
        <p14:creationId xmlns:p14="http://schemas.microsoft.com/office/powerpoint/2010/main" val="234555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DDF93-21AE-327D-4C72-101B3DABAEBA}"/>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B3E6C51F-C391-3C1A-57F9-5CA5A8DF9406}"/>
              </a:ext>
            </a:extLst>
          </p:cNvPr>
          <p:cNvSpPr>
            <a:spLocks noGrp="1"/>
          </p:cNvSpPr>
          <p:nvPr>
            <p:ph type="title"/>
          </p:nvPr>
        </p:nvSpPr>
        <p:spPr/>
        <p:txBody>
          <a:bodyPr/>
          <a:lstStyle/>
          <a:p>
            <a:r>
              <a:rPr lang="ja-JP" altLang="en-US" dirty="0"/>
              <a:t>リソース計画初期フェーズ</a:t>
            </a:r>
            <a:endParaRPr kumimoji="1" lang="ja-JP" altLang="en-US" dirty="0"/>
          </a:p>
        </p:txBody>
      </p:sp>
      <p:sp>
        <p:nvSpPr>
          <p:cNvPr id="4" name="スライド番号プレースホルダー 3">
            <a:extLst>
              <a:ext uri="{FF2B5EF4-FFF2-40B4-BE49-F238E27FC236}">
                <a16:creationId xmlns:a16="http://schemas.microsoft.com/office/drawing/2014/main" id="{3424EA93-160D-6D1D-2B97-89E541014C18}"/>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11</a:t>
            </a:fld>
            <a:endParaRPr lang="en-US" altLang="ja-JP"/>
          </a:p>
        </p:txBody>
      </p:sp>
      <p:sp>
        <p:nvSpPr>
          <p:cNvPr id="2" name="コンテンツ プレースホルダー 5">
            <a:extLst>
              <a:ext uri="{FF2B5EF4-FFF2-40B4-BE49-F238E27FC236}">
                <a16:creationId xmlns:a16="http://schemas.microsoft.com/office/drawing/2014/main" id="{A642E64B-C7F9-421C-ACF6-65B08E51E87C}"/>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内製化に必要なリソース（社員のみ）のイメージは以下の通り。</a:t>
            </a:r>
            <a:br>
              <a:rPr lang="en-US" altLang="ja-JP" sz="1600" kern="0" dirty="0"/>
            </a:br>
            <a:r>
              <a:rPr lang="en-US" altLang="ja-JP" sz="1600" kern="0" dirty="0"/>
              <a:t>※</a:t>
            </a:r>
            <a:r>
              <a:rPr lang="ja-JP" altLang="en-US" sz="1600" kern="0" dirty="0"/>
              <a:t>ミッションウェイト</a:t>
            </a:r>
            <a:r>
              <a:rPr lang="en-US" altLang="ja-JP" sz="1600" kern="0" dirty="0"/>
              <a:t>50%</a:t>
            </a:r>
            <a:r>
              <a:rPr lang="ja-JP" altLang="en-US" sz="1600" kern="0" dirty="0"/>
              <a:t>のイメージ</a:t>
            </a:r>
            <a:endParaRPr lang="en-US" altLang="ja-JP" sz="1600" kern="0" dirty="0"/>
          </a:p>
        </p:txBody>
      </p:sp>
      <p:graphicFrame>
        <p:nvGraphicFramePr>
          <p:cNvPr id="49" name="表 48">
            <a:extLst>
              <a:ext uri="{FF2B5EF4-FFF2-40B4-BE49-F238E27FC236}">
                <a16:creationId xmlns:a16="http://schemas.microsoft.com/office/drawing/2014/main" id="{3D817DF3-B5D7-E4ED-0DD6-5476E3598A18}"/>
              </a:ext>
            </a:extLst>
          </p:cNvPr>
          <p:cNvGraphicFramePr>
            <a:graphicFrameLocks noGrp="1"/>
          </p:cNvGraphicFramePr>
          <p:nvPr>
            <p:extLst>
              <p:ext uri="{D42A27DB-BD31-4B8C-83A1-F6EECF244321}">
                <p14:modId xmlns:p14="http://schemas.microsoft.com/office/powerpoint/2010/main" val="3955038267"/>
              </p:ext>
            </p:extLst>
          </p:nvPr>
        </p:nvGraphicFramePr>
        <p:xfrm>
          <a:off x="702644" y="1617834"/>
          <a:ext cx="10775370" cy="4284849"/>
        </p:xfrm>
        <a:graphic>
          <a:graphicData uri="http://schemas.openxmlformats.org/drawingml/2006/table">
            <a:tbl>
              <a:tblPr firstRow="1" bandRow="1"/>
              <a:tblGrid>
                <a:gridCol w="2493426">
                  <a:extLst>
                    <a:ext uri="{9D8B030D-6E8A-4147-A177-3AD203B41FA5}">
                      <a16:colId xmlns:a16="http://schemas.microsoft.com/office/drawing/2014/main" val="4242186221"/>
                    </a:ext>
                  </a:extLst>
                </a:gridCol>
                <a:gridCol w="2070486">
                  <a:extLst>
                    <a:ext uri="{9D8B030D-6E8A-4147-A177-3AD203B41FA5}">
                      <a16:colId xmlns:a16="http://schemas.microsoft.com/office/drawing/2014/main" val="3630054763"/>
                    </a:ext>
                  </a:extLst>
                </a:gridCol>
                <a:gridCol w="2070486">
                  <a:extLst>
                    <a:ext uri="{9D8B030D-6E8A-4147-A177-3AD203B41FA5}">
                      <a16:colId xmlns:a16="http://schemas.microsoft.com/office/drawing/2014/main" val="2257193726"/>
                    </a:ext>
                  </a:extLst>
                </a:gridCol>
                <a:gridCol w="2070486">
                  <a:extLst>
                    <a:ext uri="{9D8B030D-6E8A-4147-A177-3AD203B41FA5}">
                      <a16:colId xmlns:a16="http://schemas.microsoft.com/office/drawing/2014/main" val="2462902793"/>
                    </a:ext>
                  </a:extLst>
                </a:gridCol>
                <a:gridCol w="2070486">
                  <a:extLst>
                    <a:ext uri="{9D8B030D-6E8A-4147-A177-3AD203B41FA5}">
                      <a16:colId xmlns:a16="http://schemas.microsoft.com/office/drawing/2014/main" val="1044424172"/>
                    </a:ext>
                  </a:extLst>
                </a:gridCol>
              </a:tblGrid>
              <a:tr h="345225">
                <a:tc>
                  <a:txBody>
                    <a:bodyPr/>
                    <a:lstStyle>
                      <a:lvl1pPr marL="0" algn="l" defTabSz="914400" rtl="0" eaLnBrk="1" latinLnBrk="0" hangingPunct="1">
                        <a:defRPr kumimoji="1" sz="1800" b="1" kern="1200">
                          <a:solidFill>
                            <a:schemeClr val="bg1"/>
                          </a:solidFill>
                          <a:latin typeface="Arial"/>
                          <a:ea typeface="HG丸ｺﾞｼｯｸM-PRO"/>
                        </a:defRPr>
                      </a:lvl1pPr>
                      <a:lvl2pPr marL="457200" algn="l" defTabSz="914400" rtl="0" eaLnBrk="1" latinLnBrk="0" hangingPunct="1">
                        <a:defRPr kumimoji="1" sz="1800" b="1" kern="1200">
                          <a:solidFill>
                            <a:schemeClr val="bg1"/>
                          </a:solidFill>
                          <a:latin typeface="Arial"/>
                          <a:ea typeface="HG丸ｺﾞｼｯｸM-PRO"/>
                        </a:defRPr>
                      </a:lvl2pPr>
                      <a:lvl3pPr marL="914400" algn="l" defTabSz="914400" rtl="0" eaLnBrk="1" latinLnBrk="0" hangingPunct="1">
                        <a:defRPr kumimoji="1" sz="1800" b="1" kern="1200">
                          <a:solidFill>
                            <a:schemeClr val="bg1"/>
                          </a:solidFill>
                          <a:latin typeface="Arial"/>
                          <a:ea typeface="HG丸ｺﾞｼｯｸM-PRO"/>
                        </a:defRPr>
                      </a:lvl3pPr>
                      <a:lvl4pPr marL="1371600" algn="l" defTabSz="914400" rtl="0" eaLnBrk="1" latinLnBrk="0" hangingPunct="1">
                        <a:defRPr kumimoji="1" sz="1800" b="1" kern="1200">
                          <a:solidFill>
                            <a:schemeClr val="bg1"/>
                          </a:solidFill>
                          <a:latin typeface="Arial"/>
                          <a:ea typeface="HG丸ｺﾞｼｯｸM-PRO"/>
                        </a:defRPr>
                      </a:lvl4pPr>
                      <a:lvl5pPr marL="1828800" algn="l" defTabSz="914400" rtl="0" eaLnBrk="1" latinLnBrk="0" hangingPunct="1">
                        <a:defRPr kumimoji="1" sz="1800" b="1" kern="1200">
                          <a:solidFill>
                            <a:schemeClr val="bg1"/>
                          </a:solidFill>
                          <a:latin typeface="Arial"/>
                          <a:ea typeface="HG丸ｺﾞｼｯｸM-PRO"/>
                        </a:defRPr>
                      </a:lvl5pPr>
                      <a:lvl6pPr marL="2286000" algn="l" defTabSz="914400" rtl="0" eaLnBrk="1" latinLnBrk="0" hangingPunct="1">
                        <a:defRPr kumimoji="1" sz="1800" b="1" kern="1200">
                          <a:solidFill>
                            <a:schemeClr val="bg1"/>
                          </a:solidFill>
                          <a:latin typeface="Arial"/>
                          <a:ea typeface="HG丸ｺﾞｼｯｸM-PRO"/>
                        </a:defRPr>
                      </a:lvl6pPr>
                      <a:lvl7pPr marL="2743200" algn="l" defTabSz="914400" rtl="0" eaLnBrk="1" latinLnBrk="0" hangingPunct="1">
                        <a:defRPr kumimoji="1" sz="1800" b="1" kern="1200">
                          <a:solidFill>
                            <a:schemeClr val="bg1"/>
                          </a:solidFill>
                          <a:latin typeface="Arial"/>
                          <a:ea typeface="HG丸ｺﾞｼｯｸM-PRO"/>
                        </a:defRPr>
                      </a:lvl7pPr>
                      <a:lvl8pPr marL="3200400" algn="l" defTabSz="914400" rtl="0" eaLnBrk="1" latinLnBrk="0" hangingPunct="1">
                        <a:defRPr kumimoji="1" sz="1800" b="1" kern="1200">
                          <a:solidFill>
                            <a:schemeClr val="bg1"/>
                          </a:solidFill>
                          <a:latin typeface="Arial"/>
                          <a:ea typeface="HG丸ｺﾞｼｯｸM-PRO"/>
                        </a:defRPr>
                      </a:lvl8pPr>
                      <a:lvl9pPr marL="3657600" algn="l" defTabSz="914400" rtl="0" eaLnBrk="1" latinLnBrk="0" hangingPunct="1">
                        <a:defRPr kumimoji="1" sz="1800" b="1" kern="1200">
                          <a:solidFill>
                            <a:schemeClr val="bg1"/>
                          </a:solidFill>
                          <a:latin typeface="Arial"/>
                          <a:ea typeface="HG丸ｺﾞｼｯｸM-PRO"/>
                        </a:defRPr>
                      </a:lvl9pPr>
                    </a:lstStyle>
                    <a:p>
                      <a:endPar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7EBFE6"/>
                    </a:solidFill>
                  </a:tcPr>
                </a:tc>
                <a:tc gridSpan="2">
                  <a:txBody>
                    <a:bodyPr/>
                    <a:lstStyle>
                      <a:lvl1pPr marL="0" algn="l" defTabSz="914400" rtl="0" eaLnBrk="1" latinLnBrk="0" hangingPunct="1">
                        <a:defRPr kumimoji="1" sz="1800" b="1" kern="1200">
                          <a:solidFill>
                            <a:schemeClr val="bg1"/>
                          </a:solidFill>
                          <a:latin typeface="Arial"/>
                          <a:ea typeface="HG丸ｺﾞｼｯｸM-PRO"/>
                        </a:defRPr>
                      </a:lvl1pPr>
                      <a:lvl2pPr marL="457200" algn="l" defTabSz="914400" rtl="0" eaLnBrk="1" latinLnBrk="0" hangingPunct="1">
                        <a:defRPr kumimoji="1" sz="1800" b="1" kern="1200">
                          <a:solidFill>
                            <a:schemeClr val="bg1"/>
                          </a:solidFill>
                          <a:latin typeface="Arial"/>
                          <a:ea typeface="HG丸ｺﾞｼｯｸM-PRO"/>
                        </a:defRPr>
                      </a:lvl2pPr>
                      <a:lvl3pPr marL="914400" algn="l" defTabSz="914400" rtl="0" eaLnBrk="1" latinLnBrk="0" hangingPunct="1">
                        <a:defRPr kumimoji="1" sz="1800" b="1" kern="1200">
                          <a:solidFill>
                            <a:schemeClr val="bg1"/>
                          </a:solidFill>
                          <a:latin typeface="Arial"/>
                          <a:ea typeface="HG丸ｺﾞｼｯｸM-PRO"/>
                        </a:defRPr>
                      </a:lvl3pPr>
                      <a:lvl4pPr marL="1371600" algn="l" defTabSz="914400" rtl="0" eaLnBrk="1" latinLnBrk="0" hangingPunct="1">
                        <a:defRPr kumimoji="1" sz="1800" b="1" kern="1200">
                          <a:solidFill>
                            <a:schemeClr val="bg1"/>
                          </a:solidFill>
                          <a:latin typeface="Arial"/>
                          <a:ea typeface="HG丸ｺﾞｼｯｸM-PRO"/>
                        </a:defRPr>
                      </a:lvl4pPr>
                      <a:lvl5pPr marL="1828800" algn="l" defTabSz="914400" rtl="0" eaLnBrk="1" latinLnBrk="0" hangingPunct="1">
                        <a:defRPr kumimoji="1" sz="1800" b="1" kern="1200">
                          <a:solidFill>
                            <a:schemeClr val="bg1"/>
                          </a:solidFill>
                          <a:latin typeface="Arial"/>
                          <a:ea typeface="HG丸ｺﾞｼｯｸM-PRO"/>
                        </a:defRPr>
                      </a:lvl5pPr>
                      <a:lvl6pPr marL="2286000" algn="l" defTabSz="914400" rtl="0" eaLnBrk="1" latinLnBrk="0" hangingPunct="1">
                        <a:defRPr kumimoji="1" sz="1800" b="1" kern="1200">
                          <a:solidFill>
                            <a:schemeClr val="bg1"/>
                          </a:solidFill>
                          <a:latin typeface="Arial"/>
                          <a:ea typeface="HG丸ｺﾞｼｯｸM-PRO"/>
                        </a:defRPr>
                      </a:lvl6pPr>
                      <a:lvl7pPr marL="2743200" algn="l" defTabSz="914400" rtl="0" eaLnBrk="1" latinLnBrk="0" hangingPunct="1">
                        <a:defRPr kumimoji="1" sz="1800" b="1" kern="1200">
                          <a:solidFill>
                            <a:schemeClr val="bg1"/>
                          </a:solidFill>
                          <a:latin typeface="Arial"/>
                          <a:ea typeface="HG丸ｺﾞｼｯｸM-PRO"/>
                        </a:defRPr>
                      </a:lvl7pPr>
                      <a:lvl8pPr marL="3200400" algn="l" defTabSz="914400" rtl="0" eaLnBrk="1" latinLnBrk="0" hangingPunct="1">
                        <a:defRPr kumimoji="1" sz="1800" b="1" kern="1200">
                          <a:solidFill>
                            <a:schemeClr val="bg1"/>
                          </a:solidFill>
                          <a:latin typeface="Arial"/>
                          <a:ea typeface="HG丸ｺﾞｼｯｸM-PRO"/>
                        </a:defRPr>
                      </a:lvl8pPr>
                      <a:lvl9pPr marL="3657600" algn="l" defTabSz="914400" rtl="0" eaLnBrk="1" latinLnBrk="0" hangingPunct="1">
                        <a:defRPr kumimoji="1" sz="1800" b="1" kern="1200">
                          <a:solidFill>
                            <a:schemeClr val="bg1"/>
                          </a:solidFill>
                          <a:latin typeface="Arial"/>
                          <a:ea typeface="HG丸ｺﾞｼｯｸM-PRO"/>
                        </a:defRPr>
                      </a:lvl9pPr>
                    </a:lstStyle>
                    <a:p>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2025</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年度</a:t>
                      </a:r>
                    </a:p>
                  </a:txBody>
                  <a:tcPr marL="100584" marR="100584"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7EBFE6"/>
                    </a:solidFill>
                  </a:tcPr>
                </a:tc>
                <a:tc hMerge="1">
                  <a:txBody>
                    <a:bodyPr/>
                    <a:lstStyle/>
                    <a:p>
                      <a:endParaRPr kumimoji="1" lang="ja-JP" altLang="en-US"/>
                    </a:p>
                  </a:txBody>
                  <a:tcPr/>
                </a:tc>
                <a:tc gridSpan="2">
                  <a:txBody>
                    <a:bodyPr/>
                    <a:lstStyle/>
                    <a:p>
                      <a:r>
                        <a:rPr kumimoji="1" lang="en-US" altLang="ja-JP" sz="1600" b="0" i="0" kern="0" noProof="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2026</a:t>
                      </a:r>
                      <a:r>
                        <a:rPr kumimoji="1" lang="ja-JP" altLang="en-US" sz="1600" b="0" i="0" kern="0" noProof="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年度</a:t>
                      </a:r>
                      <a:endPar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100584" marR="100584"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7EBFE6"/>
                    </a:solidFill>
                  </a:tcPr>
                </a:tc>
                <a:tc hMerge="1">
                  <a:txBody>
                    <a:bodyPr/>
                    <a:lstStyle/>
                    <a:p>
                      <a:endParaRPr kumimoji="1" lang="ja-JP" altLang="en-US"/>
                    </a:p>
                  </a:txBody>
                  <a:tcPr/>
                </a:tc>
                <a:extLst>
                  <a:ext uri="{0D108BD9-81ED-4DB2-BD59-A6C34878D82A}">
                    <a16:rowId xmlns:a16="http://schemas.microsoft.com/office/drawing/2014/main" val="2204848530"/>
                  </a:ext>
                </a:extLst>
              </a:tr>
              <a:tr h="345225">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marR="0" lvl="0" indent="0" algn="l" defTabSz="514337" rtl="0" eaLnBrk="1" fontAlgn="auto" latinLnBrk="0" hangingPunct="1">
                        <a:lnSpc>
                          <a:spcPct val="100000"/>
                        </a:lnSpc>
                        <a:spcBef>
                          <a:spcPts val="0"/>
                        </a:spcBef>
                        <a:spcAft>
                          <a:spcPts val="0"/>
                        </a:spcAft>
                        <a:buClrTx/>
                        <a:buSzTx/>
                        <a:buFontTx/>
                        <a:buNone/>
                        <a:tabLst/>
                        <a:defRPr/>
                      </a:pPr>
                      <a:endPar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l">
                        <a:buFont typeface="Arial" panose="020B0604020202020204" pitchFamily="34" charset="0"/>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3Q</a:t>
                      </a: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l">
                        <a:buFont typeface="Arial" panose="020B0604020202020204" pitchFamily="34" charset="0"/>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4Q</a:t>
                      </a: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l">
                        <a:buFont typeface="Arial" panose="020B0604020202020204" pitchFamily="34" charset="0"/>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1Q</a:t>
                      </a: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l">
                        <a:buFont typeface="Arial" panose="020B0604020202020204" pitchFamily="34" charset="0"/>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2Q</a:t>
                      </a: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extLst>
                  <a:ext uri="{0D108BD9-81ED-4DB2-BD59-A6C34878D82A}">
                    <a16:rowId xmlns:a16="http://schemas.microsoft.com/office/drawing/2014/main" val="2230145552"/>
                  </a:ext>
                </a:extLst>
              </a:tr>
              <a:tr h="967983">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a:buFontTx/>
                        <a:buNone/>
                      </a:pPr>
                      <a:r>
                        <a:rPr kumimoji="1" lang="ja-JP" altLang="en-US"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小規模案件</a:t>
                      </a:r>
                      <a:endParaRPr kumimoji="1" lang="en-US" altLang="ja-JP"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80975" indent="-180975" algn="l">
                        <a:buFont typeface="Wingdings" panose="05000000000000000000" pitchFamily="2" charset="2"/>
                        <a:buChar char="ü"/>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案件サイクル：</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0.5</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ヵ月</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80975" indent="-180975" algn="l">
                        <a:buFont typeface="Wingdings" panose="05000000000000000000" pitchFamily="2" charset="2"/>
                        <a:buChar char="ü"/>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案件工数：</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10</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人日</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 typeface="Arial" panose="020B0604020202020204" pitchFamily="34" charset="0"/>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0" lvl="1" indent="0" algn="l">
                        <a:buFont typeface="Arial" panose="020B0604020202020204" pitchFamily="34" charset="0"/>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0" lvl="1" indent="0" algn="l">
                        <a:buFont typeface="Arial" panose="020B0604020202020204" pitchFamily="34" charset="0"/>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 typeface="Arial" panose="020B0604020202020204" pitchFamily="34" charset="0"/>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 typeface="Arial" panose="020B0604020202020204" pitchFamily="34" charset="0"/>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 typeface="Arial" panose="020B0604020202020204" pitchFamily="34" charset="0"/>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49764776"/>
                  </a:ext>
                </a:extLst>
              </a:tr>
              <a:tr h="967983">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a:buFontTx/>
                        <a:buNone/>
                      </a:pPr>
                      <a:r>
                        <a:rPr kumimoji="1" lang="ja-JP" altLang="en-US"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中規模案件</a:t>
                      </a:r>
                      <a:endParaRPr kumimoji="1" lang="en-US" altLang="ja-JP"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80975" indent="-180975" algn="l">
                        <a:buFont typeface="Wingdings" panose="05000000000000000000" pitchFamily="2" charset="2"/>
                        <a:buChar char="ü"/>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案件サイクル：</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ヵ月</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80975" indent="-180975" algn="l">
                        <a:buFont typeface="Wingdings" panose="05000000000000000000" pitchFamily="2" charset="2"/>
                        <a:buChar char="ü"/>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案件工数：</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20</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人日</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3675514"/>
                  </a:ext>
                </a:extLst>
              </a:tr>
              <a:tr h="967983">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a:buFontTx/>
                        <a:buNone/>
                      </a:pPr>
                      <a:r>
                        <a:rPr kumimoji="1" lang="ja-JP" altLang="en-US"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教育・育成</a:t>
                      </a:r>
                      <a:endParaRPr kumimoji="1" lang="en-US" altLang="ja-JP"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80975" indent="-180975" algn="l">
                        <a:buFont typeface="Wingdings" panose="05000000000000000000" pitchFamily="2" charset="2"/>
                        <a:buChar char="ü"/>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育成サイクル：</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1.0</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ヵ月</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33310234"/>
                  </a:ext>
                </a:extLst>
              </a:tr>
              <a:tr h="345225">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案件必要人数</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3</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4</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14</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24</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50052531"/>
                  </a:ext>
                </a:extLst>
              </a:tr>
              <a:tr h="345225">
                <a:tc>
                  <a:txBody>
                    <a:bodyPr/>
                    <a:lstStyle/>
                    <a:p>
                      <a:pPr marL="0" lvl="1" indent="0" algn="l">
                        <a:buFontTx/>
                        <a:buNone/>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案件数</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件</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6</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件</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24</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件</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44</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件</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05770867"/>
                  </a:ext>
                </a:extLst>
              </a:tr>
            </a:tbl>
          </a:graphicData>
        </a:graphic>
      </p:graphicFrame>
      <p:sp>
        <p:nvSpPr>
          <p:cNvPr id="50" name="右矢印 48">
            <a:extLst>
              <a:ext uri="{FF2B5EF4-FFF2-40B4-BE49-F238E27FC236}">
                <a16:creationId xmlns:a16="http://schemas.microsoft.com/office/drawing/2014/main" id="{257FD5C3-8B92-807C-A853-0FFFF44E6FDB}"/>
              </a:ext>
            </a:extLst>
          </p:cNvPr>
          <p:cNvSpPr/>
          <p:nvPr/>
        </p:nvSpPr>
        <p:spPr bwMode="auto">
          <a:xfrm>
            <a:off x="3210115" y="3593795"/>
            <a:ext cx="1365627" cy="324000"/>
          </a:xfrm>
          <a:prstGeom prst="rect">
            <a:avLst/>
          </a:prstGeom>
          <a:solidFill>
            <a:srgbClr val="7EBFE6"/>
          </a:solidFill>
          <a:ln w="9525">
            <a:solidFill>
              <a:srgbClr val="BEDFF2">
                <a:lumMod val="75000"/>
              </a:srgbClr>
            </a:solidFill>
            <a:miter lim="800000"/>
            <a:headEnd/>
            <a:tailEnd/>
          </a:ln>
        </p:spPr>
        <p:txBody>
          <a:bodyPr vert="horz" wrap="none" lIns="36000" tIns="0" rIns="36000" bIns="0" anchor="ctr"/>
          <a:lstStyle/>
          <a:p>
            <a:pPr marR="0" lvl="0" indent="0" algn="ctr" fontAlgn="auto">
              <a:lnSpc>
                <a:spcPct val="100000"/>
              </a:lnSpc>
              <a:spcBef>
                <a:spcPts val="0"/>
              </a:spcBef>
              <a:spcAft>
                <a:spcPts val="0"/>
              </a:spcAft>
              <a:buClrTx/>
              <a:buSzTx/>
              <a:buFontTx/>
              <a:buNone/>
              <a:tabLst/>
              <a:defRPr/>
            </a:pP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BPS</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案件</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R="0" lvl="0" indent="0" algn="ctr" fontAlgn="auto">
              <a:lnSpc>
                <a:spcPct val="100000"/>
              </a:lnSpc>
              <a:spcBef>
                <a:spcPts val="0"/>
              </a:spcBef>
              <a:spcAft>
                <a:spcPts val="0"/>
              </a:spcAft>
              <a:buClrTx/>
              <a:buSzTx/>
              <a:buFontTx/>
              <a:buNone/>
              <a:tabLst/>
              <a:defRPr/>
            </a:pP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第一号</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74" name="楕円 73">
            <a:extLst>
              <a:ext uri="{FF2B5EF4-FFF2-40B4-BE49-F238E27FC236}">
                <a16:creationId xmlns:a16="http://schemas.microsoft.com/office/drawing/2014/main" id="{0CD1D0EF-9FDC-382A-7130-669078CFB4F1}"/>
              </a:ext>
            </a:extLst>
          </p:cNvPr>
          <p:cNvSpPr/>
          <p:nvPr/>
        </p:nvSpPr>
        <p:spPr>
          <a:xfrm>
            <a:off x="4215742" y="3497193"/>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3</a:t>
            </a:r>
            <a:r>
              <a:rPr lang="ja-JP" altLang="en-US"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93" name="右矢印 48">
            <a:extLst>
              <a:ext uri="{FF2B5EF4-FFF2-40B4-BE49-F238E27FC236}">
                <a16:creationId xmlns:a16="http://schemas.microsoft.com/office/drawing/2014/main" id="{CA4DD6FE-E72B-67B9-86D2-975BB14F2CC8}"/>
              </a:ext>
            </a:extLst>
          </p:cNvPr>
          <p:cNvSpPr/>
          <p:nvPr/>
        </p:nvSpPr>
        <p:spPr bwMode="auto">
          <a:xfrm>
            <a:off x="5322898" y="2612203"/>
            <a:ext cx="1975651" cy="324000"/>
          </a:xfrm>
          <a:prstGeom prst="rect">
            <a:avLst/>
          </a:prstGeom>
          <a:gradFill flip="none" rotWithShape="1">
            <a:gsLst>
              <a:gs pos="0">
                <a:srgbClr val="BEDFF2">
                  <a:lumMod val="67000"/>
                </a:srgbClr>
              </a:gs>
              <a:gs pos="30000">
                <a:srgbClr val="BEDFF2">
                  <a:lumMod val="97000"/>
                  <a:lumOff val="3000"/>
                </a:srgbClr>
              </a:gs>
              <a:gs pos="100000">
                <a:srgbClr val="FFFFFF"/>
              </a:gs>
            </a:gsLst>
            <a:lin ang="21594000" scaled="0"/>
            <a:tileRect/>
          </a:gradFill>
          <a:ln w="12700">
            <a:solidFill>
              <a:srgbClr val="000000">
                <a:lumMod val="50000"/>
                <a:lumOff val="50000"/>
              </a:srgbClr>
            </a:solidFill>
            <a:prstDash val="dash"/>
            <a:miter lim="800000"/>
            <a:headEnd/>
            <a:tailEnd/>
          </a:ln>
        </p:spPr>
        <p:txBody>
          <a:bodyPr vert="horz" wrap="none" lIns="36000" tIns="0" rIns="36000" bIns="0" anchor="ctr"/>
          <a:lstStyle/>
          <a:p>
            <a:pPr algn="ctr" fontAlgn="auto">
              <a:spcBef>
                <a:spcPts val="0"/>
              </a:spcBef>
              <a:spcAft>
                <a:spcPts val="0"/>
              </a:spcAft>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経理</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OS</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案件</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×3</a:t>
            </a:r>
          </a:p>
        </p:txBody>
      </p:sp>
      <p:sp>
        <p:nvSpPr>
          <p:cNvPr id="94" name="楕円 93">
            <a:extLst>
              <a:ext uri="{FF2B5EF4-FFF2-40B4-BE49-F238E27FC236}">
                <a16:creationId xmlns:a16="http://schemas.microsoft.com/office/drawing/2014/main" id="{6CBA8D20-5B9D-72BC-1D1D-7AEDC5733420}"/>
              </a:ext>
            </a:extLst>
          </p:cNvPr>
          <p:cNvSpPr/>
          <p:nvPr/>
        </p:nvSpPr>
        <p:spPr>
          <a:xfrm>
            <a:off x="6935895" y="2515601"/>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a:t>
            </a:r>
            <a:r>
              <a:rPr lang="ja-JP" altLang="en-US"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98" name="右矢印 48">
            <a:extLst>
              <a:ext uri="{FF2B5EF4-FFF2-40B4-BE49-F238E27FC236}">
                <a16:creationId xmlns:a16="http://schemas.microsoft.com/office/drawing/2014/main" id="{82CB4F16-8577-B86B-986A-547852D23B32}"/>
              </a:ext>
            </a:extLst>
          </p:cNvPr>
          <p:cNvSpPr/>
          <p:nvPr/>
        </p:nvSpPr>
        <p:spPr bwMode="auto">
          <a:xfrm>
            <a:off x="5322898" y="3365193"/>
            <a:ext cx="1975651" cy="324000"/>
          </a:xfrm>
          <a:prstGeom prst="rect">
            <a:avLst/>
          </a:prstGeom>
          <a:gradFill flip="none" rotWithShape="1">
            <a:gsLst>
              <a:gs pos="0">
                <a:srgbClr val="BEDFF2">
                  <a:lumMod val="67000"/>
                </a:srgbClr>
              </a:gs>
              <a:gs pos="30000">
                <a:srgbClr val="BEDFF2">
                  <a:lumMod val="97000"/>
                  <a:lumOff val="3000"/>
                </a:srgbClr>
              </a:gs>
              <a:gs pos="100000">
                <a:srgbClr val="FFFFFF"/>
              </a:gs>
            </a:gsLst>
            <a:lin ang="21594000" scaled="0"/>
            <a:tileRect/>
          </a:gradFill>
          <a:ln w="12700">
            <a:solidFill>
              <a:srgbClr val="000000">
                <a:lumMod val="50000"/>
                <a:lumOff val="50000"/>
              </a:srgbClr>
            </a:solidFill>
            <a:prstDash val="dash"/>
            <a:miter lim="800000"/>
            <a:headEnd/>
            <a:tailEnd/>
          </a:ln>
        </p:spPr>
        <p:txBody>
          <a:bodyPr vert="horz" wrap="none" lIns="36000" tIns="0" rIns="36000" bIns="0" anchor="ctr"/>
          <a:lstStyle/>
          <a:p>
            <a:pPr algn="ctr" fontAlgn="auto">
              <a:spcBef>
                <a:spcPts val="0"/>
              </a:spcBef>
              <a:spcAft>
                <a:spcPts val="0"/>
              </a:spcAft>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経理</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OS</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案件</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a:t>
            </a:r>
          </a:p>
        </p:txBody>
      </p:sp>
      <p:sp>
        <p:nvSpPr>
          <p:cNvPr id="99" name="楕円 98">
            <a:extLst>
              <a:ext uri="{FF2B5EF4-FFF2-40B4-BE49-F238E27FC236}">
                <a16:creationId xmlns:a16="http://schemas.microsoft.com/office/drawing/2014/main" id="{257472F7-6BAF-9E5E-71E2-3FABDC9FDA71}"/>
              </a:ext>
            </a:extLst>
          </p:cNvPr>
          <p:cNvSpPr/>
          <p:nvPr/>
        </p:nvSpPr>
        <p:spPr>
          <a:xfrm>
            <a:off x="6935895" y="3268591"/>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a:t>
            </a:r>
            <a:r>
              <a:rPr lang="ja-JP" altLang="en-US"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02" name="右矢印 48">
            <a:extLst>
              <a:ext uri="{FF2B5EF4-FFF2-40B4-BE49-F238E27FC236}">
                <a16:creationId xmlns:a16="http://schemas.microsoft.com/office/drawing/2014/main" id="{5579DFCD-4A20-9E48-64CB-1CC68019F00C}"/>
              </a:ext>
            </a:extLst>
          </p:cNvPr>
          <p:cNvSpPr/>
          <p:nvPr/>
        </p:nvSpPr>
        <p:spPr bwMode="auto">
          <a:xfrm>
            <a:off x="3976304" y="4581890"/>
            <a:ext cx="1248384" cy="324000"/>
          </a:xfrm>
          <a:prstGeom prst="rect">
            <a:avLst/>
          </a:prstGeom>
          <a:solidFill>
            <a:srgbClr val="7EBFE6"/>
          </a:solidFill>
          <a:ln w="9525">
            <a:solidFill>
              <a:srgbClr val="BEDFF2">
                <a:lumMod val="75000"/>
              </a:srgbClr>
            </a:solidFill>
            <a:miter lim="800000"/>
            <a:headEnd/>
            <a:tailEnd/>
          </a:ln>
        </p:spPr>
        <p:txBody>
          <a:bodyPr vert="horz" wrap="none" lIns="36000" tIns="0" rIns="36000" bIns="0" anchor="ctr"/>
          <a:lstStyle/>
          <a:p>
            <a:pPr marR="0" lvl="0" indent="0" algn="ctr" fontAlgn="auto">
              <a:lnSpc>
                <a:spcPct val="100000"/>
              </a:lnSpc>
              <a:spcBef>
                <a:spcPts val="0"/>
              </a:spcBef>
              <a:spcAft>
                <a:spcPts val="0"/>
              </a:spcAft>
              <a:buClrTx/>
              <a:buSzTx/>
              <a:buFontTx/>
              <a:buNone/>
              <a:tabLst/>
              <a:defRPr/>
            </a:pP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n8n</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教育</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03" name="楕円 102">
            <a:extLst>
              <a:ext uri="{FF2B5EF4-FFF2-40B4-BE49-F238E27FC236}">
                <a16:creationId xmlns:a16="http://schemas.microsoft.com/office/drawing/2014/main" id="{B6C382FC-92D2-54DE-14EC-BF1587E34370}"/>
              </a:ext>
            </a:extLst>
          </p:cNvPr>
          <p:cNvSpPr/>
          <p:nvPr/>
        </p:nvSpPr>
        <p:spPr>
          <a:xfrm>
            <a:off x="4864687" y="4485288"/>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a:t>
            </a:r>
            <a:r>
              <a:rPr lang="ja-JP" altLang="en-US"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04" name="右矢印 48">
            <a:extLst>
              <a:ext uri="{FF2B5EF4-FFF2-40B4-BE49-F238E27FC236}">
                <a16:creationId xmlns:a16="http://schemas.microsoft.com/office/drawing/2014/main" id="{0FE8EF6D-B8F8-9CC5-A4EF-DE2CACE36833}"/>
              </a:ext>
            </a:extLst>
          </p:cNvPr>
          <p:cNvSpPr/>
          <p:nvPr/>
        </p:nvSpPr>
        <p:spPr bwMode="auto">
          <a:xfrm>
            <a:off x="5322898" y="4581890"/>
            <a:ext cx="1975651" cy="324000"/>
          </a:xfrm>
          <a:prstGeom prst="rect">
            <a:avLst/>
          </a:prstGeom>
          <a:gradFill flip="none" rotWithShape="1">
            <a:gsLst>
              <a:gs pos="0">
                <a:srgbClr val="BEDFF2">
                  <a:lumMod val="67000"/>
                </a:srgbClr>
              </a:gs>
              <a:gs pos="30000">
                <a:srgbClr val="BEDFF2">
                  <a:lumMod val="97000"/>
                  <a:lumOff val="3000"/>
                </a:srgbClr>
              </a:gs>
              <a:gs pos="100000">
                <a:srgbClr val="FFFFFF"/>
              </a:gs>
            </a:gsLst>
            <a:lin ang="21594000" scaled="0"/>
            <a:tileRect/>
          </a:gradFill>
          <a:ln w="12700">
            <a:solidFill>
              <a:srgbClr val="000000">
                <a:lumMod val="50000"/>
                <a:lumOff val="50000"/>
              </a:srgbClr>
            </a:solidFill>
            <a:prstDash val="dash"/>
            <a:miter lim="800000"/>
            <a:headEnd/>
            <a:tailEnd/>
          </a:ln>
        </p:spPr>
        <p:txBody>
          <a:bodyPr vert="horz" wrap="none" lIns="36000" tIns="0" rIns="36000" bIns="0" anchor="ctr"/>
          <a:lstStyle/>
          <a:p>
            <a:pPr algn="ctr" fontAlgn="auto">
              <a:spcBef>
                <a:spcPts val="0"/>
              </a:spcBef>
              <a:spcAft>
                <a:spcPts val="0"/>
              </a:spcAft>
              <a:defRPr/>
            </a:pP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n8n</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教育など</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05" name="楕円 104">
            <a:extLst>
              <a:ext uri="{FF2B5EF4-FFF2-40B4-BE49-F238E27FC236}">
                <a16:creationId xmlns:a16="http://schemas.microsoft.com/office/drawing/2014/main" id="{27065C4E-4B4D-46BE-9DD3-BEC36B5338B6}"/>
              </a:ext>
            </a:extLst>
          </p:cNvPr>
          <p:cNvSpPr/>
          <p:nvPr/>
        </p:nvSpPr>
        <p:spPr>
          <a:xfrm>
            <a:off x="6935895" y="4485288"/>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10</a:t>
            </a:r>
            <a:r>
              <a:rPr lang="ja-JP" altLang="en-US"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06" name="右矢印 48">
            <a:extLst>
              <a:ext uri="{FF2B5EF4-FFF2-40B4-BE49-F238E27FC236}">
                <a16:creationId xmlns:a16="http://schemas.microsoft.com/office/drawing/2014/main" id="{2E191BDB-2B00-437D-C4EC-8ED317799CF2}"/>
              </a:ext>
            </a:extLst>
          </p:cNvPr>
          <p:cNvSpPr/>
          <p:nvPr/>
        </p:nvSpPr>
        <p:spPr bwMode="auto">
          <a:xfrm>
            <a:off x="7396759" y="3589981"/>
            <a:ext cx="1975651" cy="324000"/>
          </a:xfrm>
          <a:prstGeom prst="rect">
            <a:avLst/>
          </a:prstGeom>
          <a:solidFill>
            <a:srgbClr val="FFFFFF"/>
          </a:solidFill>
          <a:ln w="12700">
            <a:solidFill>
              <a:srgbClr val="000000">
                <a:lumMod val="50000"/>
                <a:lumOff val="50000"/>
              </a:srgbClr>
            </a:solidFill>
            <a:prstDash val="dash"/>
            <a:miter lim="800000"/>
            <a:headEnd/>
            <a:tailEnd/>
          </a:ln>
        </p:spPr>
        <p:txBody>
          <a:bodyPr vert="horz" wrap="none" lIns="36000" tIns="0" rIns="36000" bIns="0" anchor="ctr"/>
          <a:lstStyle/>
          <a:p>
            <a:pPr algn="ctr" defTabSz="457200" fontAlgn="auto">
              <a:spcBef>
                <a:spcPts val="0"/>
              </a:spcBef>
              <a:spcAft>
                <a:spcPts val="0"/>
              </a:spcAft>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経理</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OS</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案件</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×4</a:t>
            </a:r>
          </a:p>
        </p:txBody>
      </p:sp>
      <p:sp>
        <p:nvSpPr>
          <p:cNvPr id="107" name="楕円 106">
            <a:extLst>
              <a:ext uri="{FF2B5EF4-FFF2-40B4-BE49-F238E27FC236}">
                <a16:creationId xmlns:a16="http://schemas.microsoft.com/office/drawing/2014/main" id="{E4CC385C-5C77-D0D0-9D77-78F321A0AD28}"/>
              </a:ext>
            </a:extLst>
          </p:cNvPr>
          <p:cNvSpPr/>
          <p:nvPr/>
        </p:nvSpPr>
        <p:spPr>
          <a:xfrm>
            <a:off x="9009756" y="3493379"/>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4</a:t>
            </a:r>
            <a:r>
              <a:rPr lang="ja-JP" altLang="en-US"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11" name="右矢印 48">
            <a:extLst>
              <a:ext uri="{FF2B5EF4-FFF2-40B4-BE49-F238E27FC236}">
                <a16:creationId xmlns:a16="http://schemas.microsoft.com/office/drawing/2014/main" id="{DABAA84D-D5A2-26DD-8487-B6324394DF77}"/>
              </a:ext>
            </a:extLst>
          </p:cNvPr>
          <p:cNvSpPr/>
          <p:nvPr/>
        </p:nvSpPr>
        <p:spPr bwMode="auto">
          <a:xfrm>
            <a:off x="5322898" y="3832985"/>
            <a:ext cx="1975651" cy="324000"/>
          </a:xfrm>
          <a:prstGeom prst="rect">
            <a:avLst/>
          </a:prstGeom>
          <a:gradFill flip="none" rotWithShape="1">
            <a:gsLst>
              <a:gs pos="0">
                <a:srgbClr val="BEDFF2">
                  <a:lumMod val="67000"/>
                </a:srgbClr>
              </a:gs>
              <a:gs pos="30000">
                <a:srgbClr val="BEDFF2">
                  <a:lumMod val="97000"/>
                  <a:lumOff val="3000"/>
                </a:srgbClr>
              </a:gs>
              <a:gs pos="100000">
                <a:srgbClr val="FFFFFF"/>
              </a:gs>
            </a:gsLst>
            <a:lin ang="21594000" scaled="0"/>
            <a:tileRect/>
          </a:gradFill>
          <a:ln w="12700">
            <a:solidFill>
              <a:srgbClr val="000000">
                <a:lumMod val="50000"/>
                <a:lumOff val="50000"/>
              </a:srgbClr>
            </a:solidFill>
            <a:prstDash val="dash"/>
            <a:miter lim="800000"/>
            <a:headEnd/>
            <a:tailEnd/>
          </a:ln>
        </p:spPr>
        <p:txBody>
          <a:bodyPr vert="horz" wrap="none" lIns="36000" tIns="0" rIns="36000" bIns="0" anchor="ctr"/>
          <a:lstStyle/>
          <a:p>
            <a:pPr algn="ctr" fontAlgn="auto">
              <a:spcBef>
                <a:spcPts val="0"/>
              </a:spcBef>
              <a:spcAft>
                <a:spcPts val="0"/>
              </a:spcAft>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顧客管理</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G</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案件</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a:t>
            </a:r>
          </a:p>
        </p:txBody>
      </p:sp>
      <p:sp>
        <p:nvSpPr>
          <p:cNvPr id="112" name="楕円 111">
            <a:extLst>
              <a:ext uri="{FF2B5EF4-FFF2-40B4-BE49-F238E27FC236}">
                <a16:creationId xmlns:a16="http://schemas.microsoft.com/office/drawing/2014/main" id="{52F0C6EE-795C-8862-9206-F83D30A434D2}"/>
              </a:ext>
            </a:extLst>
          </p:cNvPr>
          <p:cNvSpPr/>
          <p:nvPr/>
        </p:nvSpPr>
        <p:spPr>
          <a:xfrm>
            <a:off x="6935895" y="3736383"/>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a:t>
            </a:r>
            <a:r>
              <a:rPr lang="ja-JP" altLang="en-US"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13" name="右矢印 48">
            <a:extLst>
              <a:ext uri="{FF2B5EF4-FFF2-40B4-BE49-F238E27FC236}">
                <a16:creationId xmlns:a16="http://schemas.microsoft.com/office/drawing/2014/main" id="{E05B25B2-005D-C4C9-C080-5C69CF6DE7D4}"/>
              </a:ext>
            </a:extLst>
          </p:cNvPr>
          <p:cNvSpPr/>
          <p:nvPr/>
        </p:nvSpPr>
        <p:spPr bwMode="auto">
          <a:xfrm>
            <a:off x="7396759" y="2609550"/>
            <a:ext cx="1975651" cy="324000"/>
          </a:xfrm>
          <a:prstGeom prst="rect">
            <a:avLst/>
          </a:prstGeom>
          <a:solidFill>
            <a:srgbClr val="FFFFFF"/>
          </a:solidFill>
          <a:ln w="12700">
            <a:solidFill>
              <a:srgbClr val="000000">
                <a:lumMod val="50000"/>
                <a:lumOff val="50000"/>
              </a:srgbClr>
            </a:solidFill>
            <a:prstDash val="dash"/>
            <a:miter lim="800000"/>
            <a:headEnd/>
            <a:tailEnd/>
          </a:ln>
        </p:spPr>
        <p:txBody>
          <a:bodyPr vert="horz" wrap="none" lIns="36000" tIns="0" rIns="36000" bIns="0" anchor="ctr"/>
          <a:lstStyle/>
          <a:p>
            <a:pPr algn="ctr" defTabSz="457200" fontAlgn="auto">
              <a:spcBef>
                <a:spcPts val="0"/>
              </a:spcBef>
              <a:spcAft>
                <a:spcPts val="0"/>
              </a:spcAft>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経理</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OS</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案件</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×20</a:t>
            </a:r>
          </a:p>
        </p:txBody>
      </p:sp>
      <p:sp>
        <p:nvSpPr>
          <p:cNvPr id="114" name="楕円 113">
            <a:extLst>
              <a:ext uri="{FF2B5EF4-FFF2-40B4-BE49-F238E27FC236}">
                <a16:creationId xmlns:a16="http://schemas.microsoft.com/office/drawing/2014/main" id="{324D60B4-DD34-08C4-91E4-95FD2A53A431}"/>
              </a:ext>
            </a:extLst>
          </p:cNvPr>
          <p:cNvSpPr/>
          <p:nvPr/>
        </p:nvSpPr>
        <p:spPr>
          <a:xfrm>
            <a:off x="9009756" y="2512948"/>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10</a:t>
            </a:r>
            <a:r>
              <a:rPr lang="ja-JP" altLang="en-US"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18" name="右矢印 48">
            <a:extLst>
              <a:ext uri="{FF2B5EF4-FFF2-40B4-BE49-F238E27FC236}">
                <a16:creationId xmlns:a16="http://schemas.microsoft.com/office/drawing/2014/main" id="{A871A236-AE1E-580C-CE65-6A60C5BC19B0}"/>
              </a:ext>
            </a:extLst>
          </p:cNvPr>
          <p:cNvSpPr/>
          <p:nvPr/>
        </p:nvSpPr>
        <p:spPr bwMode="auto">
          <a:xfrm>
            <a:off x="7396759" y="4588866"/>
            <a:ext cx="1975651" cy="324000"/>
          </a:xfrm>
          <a:prstGeom prst="rect">
            <a:avLst/>
          </a:prstGeom>
          <a:solidFill>
            <a:srgbClr val="FFFFFF"/>
          </a:solidFill>
          <a:ln w="12700">
            <a:solidFill>
              <a:srgbClr val="000000">
                <a:lumMod val="50000"/>
                <a:lumOff val="50000"/>
              </a:srgbClr>
            </a:solidFill>
            <a:prstDash val="dash"/>
            <a:miter lim="800000"/>
            <a:headEnd/>
            <a:tailEnd/>
          </a:ln>
        </p:spPr>
        <p:txBody>
          <a:bodyPr vert="horz" wrap="none" lIns="36000" tIns="0" rIns="36000" bIns="0" anchor="ctr"/>
          <a:lstStyle/>
          <a:p>
            <a:pPr algn="ctr" fontAlgn="auto">
              <a:spcBef>
                <a:spcPts val="0"/>
              </a:spcBef>
              <a:spcAft>
                <a:spcPts val="0"/>
              </a:spcAft>
              <a:defRPr/>
            </a:pP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n8n</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教育など</a:t>
            </a:r>
            <a:endPar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19" name="楕円 118">
            <a:extLst>
              <a:ext uri="{FF2B5EF4-FFF2-40B4-BE49-F238E27FC236}">
                <a16:creationId xmlns:a16="http://schemas.microsoft.com/office/drawing/2014/main" id="{48CD5238-761D-9142-69F6-353AFC467234}"/>
              </a:ext>
            </a:extLst>
          </p:cNvPr>
          <p:cNvSpPr/>
          <p:nvPr/>
        </p:nvSpPr>
        <p:spPr>
          <a:xfrm>
            <a:off x="9009756" y="4492264"/>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10</a:t>
            </a:r>
            <a:r>
              <a:rPr lang="ja-JP" altLang="en-US"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20" name="右矢印 48">
            <a:extLst>
              <a:ext uri="{FF2B5EF4-FFF2-40B4-BE49-F238E27FC236}">
                <a16:creationId xmlns:a16="http://schemas.microsoft.com/office/drawing/2014/main" id="{7EFDB8A2-F849-B16C-573C-689D8B55F1CA}"/>
              </a:ext>
            </a:extLst>
          </p:cNvPr>
          <p:cNvSpPr/>
          <p:nvPr/>
        </p:nvSpPr>
        <p:spPr bwMode="auto">
          <a:xfrm>
            <a:off x="9453459" y="3583005"/>
            <a:ext cx="1975651" cy="324000"/>
          </a:xfrm>
          <a:prstGeom prst="rect">
            <a:avLst/>
          </a:prstGeom>
          <a:solidFill>
            <a:srgbClr val="FFFFFF"/>
          </a:solidFill>
          <a:ln w="12700">
            <a:solidFill>
              <a:srgbClr val="000000">
                <a:lumMod val="50000"/>
                <a:lumOff val="50000"/>
              </a:srgbClr>
            </a:solidFill>
            <a:prstDash val="dash"/>
            <a:miter lim="800000"/>
            <a:headEnd/>
            <a:tailEnd/>
          </a:ln>
        </p:spPr>
        <p:txBody>
          <a:bodyPr vert="horz" wrap="none" lIns="36000" tIns="0" rIns="36000" bIns="0" anchor="ctr"/>
          <a:lstStyle/>
          <a:p>
            <a:pPr algn="ctr" defTabSz="457200" fontAlgn="auto">
              <a:spcBef>
                <a:spcPts val="0"/>
              </a:spcBef>
              <a:spcAft>
                <a:spcPts val="0"/>
              </a:spcAft>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経理</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OS</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案件</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×4</a:t>
            </a:r>
          </a:p>
        </p:txBody>
      </p:sp>
      <p:sp>
        <p:nvSpPr>
          <p:cNvPr id="121" name="楕円 120">
            <a:extLst>
              <a:ext uri="{FF2B5EF4-FFF2-40B4-BE49-F238E27FC236}">
                <a16:creationId xmlns:a16="http://schemas.microsoft.com/office/drawing/2014/main" id="{80823FA5-25F8-1506-609B-7EA9632E832F}"/>
              </a:ext>
            </a:extLst>
          </p:cNvPr>
          <p:cNvSpPr/>
          <p:nvPr/>
        </p:nvSpPr>
        <p:spPr>
          <a:xfrm>
            <a:off x="11066456" y="3486403"/>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4</a:t>
            </a:r>
            <a:r>
              <a:rPr lang="ja-JP" altLang="en-US"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22" name="右矢印 48">
            <a:extLst>
              <a:ext uri="{FF2B5EF4-FFF2-40B4-BE49-F238E27FC236}">
                <a16:creationId xmlns:a16="http://schemas.microsoft.com/office/drawing/2014/main" id="{31196CB4-BC75-925F-E90D-6EFD42AF66B8}"/>
              </a:ext>
            </a:extLst>
          </p:cNvPr>
          <p:cNvSpPr/>
          <p:nvPr/>
        </p:nvSpPr>
        <p:spPr bwMode="auto">
          <a:xfrm>
            <a:off x="9453459" y="2602574"/>
            <a:ext cx="1975651" cy="324000"/>
          </a:xfrm>
          <a:prstGeom prst="rect">
            <a:avLst/>
          </a:prstGeom>
          <a:solidFill>
            <a:srgbClr val="FFFFFF"/>
          </a:solidFill>
          <a:ln w="12700">
            <a:solidFill>
              <a:srgbClr val="000000">
                <a:lumMod val="50000"/>
                <a:lumOff val="50000"/>
              </a:srgbClr>
            </a:solidFill>
            <a:prstDash val="dash"/>
            <a:miter lim="800000"/>
            <a:headEnd/>
            <a:tailEnd/>
          </a:ln>
        </p:spPr>
        <p:txBody>
          <a:bodyPr vert="horz" wrap="none" lIns="36000" tIns="0" rIns="36000" bIns="0" anchor="ctr"/>
          <a:lstStyle/>
          <a:p>
            <a:pPr algn="ctr" defTabSz="457200" fontAlgn="auto">
              <a:spcBef>
                <a:spcPts val="0"/>
              </a:spcBef>
              <a:spcAft>
                <a:spcPts val="0"/>
              </a:spcAft>
              <a:defRPr/>
            </a:pP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経理</a:t>
            </a: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OS</a:t>
            </a:r>
            <a:r>
              <a:rPr lang="ja-JP" altLang="en-US"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案件</a:t>
            </a:r>
            <a:b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en-US" altLang="ja-JP" sz="11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×40</a:t>
            </a:r>
          </a:p>
        </p:txBody>
      </p:sp>
      <p:sp>
        <p:nvSpPr>
          <p:cNvPr id="123" name="楕円 122">
            <a:extLst>
              <a:ext uri="{FF2B5EF4-FFF2-40B4-BE49-F238E27FC236}">
                <a16:creationId xmlns:a16="http://schemas.microsoft.com/office/drawing/2014/main" id="{29DDA195-5FA3-73CA-54DB-5615785883DE}"/>
              </a:ext>
            </a:extLst>
          </p:cNvPr>
          <p:cNvSpPr/>
          <p:nvPr/>
        </p:nvSpPr>
        <p:spPr>
          <a:xfrm>
            <a:off x="11066456" y="2505972"/>
            <a:ext cx="360000" cy="180000"/>
          </a:xfrm>
          <a:prstGeom prst="ellipse">
            <a:avLst/>
          </a:prstGeom>
          <a:solidFill>
            <a:srgbClr val="2895D5">
              <a:lumMod val="20000"/>
              <a:lumOff val="80000"/>
            </a:srgbClr>
          </a:solidFill>
          <a:ln w="10795" cap="flat" cmpd="sng" algn="ctr">
            <a:solidFill>
              <a:srgbClr val="000000">
                <a:lumMod val="50000"/>
                <a:lumOff val="50000"/>
              </a:srgbClr>
            </a:solidFill>
            <a:prstDash val="solid"/>
          </a:ln>
          <a:effectLst/>
        </p:spPr>
        <p:txBody>
          <a:bodyPr wrap="none" rtlCol="0" anchor="ctr"/>
          <a:lstStyle/>
          <a:p>
            <a:pPr marL="0" algn="ctr" defTabSz="987415" eaLnBrk="1" fontAlgn="auto" latinLnBrk="0" hangingPunct="1">
              <a:spcBef>
                <a:spcPts val="0"/>
              </a:spcBef>
              <a:spcAft>
                <a:spcPts val="0"/>
              </a:spcAft>
              <a:defRPr/>
            </a:pPr>
            <a:r>
              <a:rPr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20</a:t>
            </a:r>
            <a:r>
              <a:rPr lang="ja-JP" altLang="en-US" sz="10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人</a:t>
            </a:r>
          </a:p>
        </p:txBody>
      </p:sp>
      <p:sp>
        <p:nvSpPr>
          <p:cNvPr id="130" name="四角形: 角を丸くする 129">
            <a:extLst>
              <a:ext uri="{FF2B5EF4-FFF2-40B4-BE49-F238E27FC236}">
                <a16:creationId xmlns:a16="http://schemas.microsoft.com/office/drawing/2014/main" id="{340A7EA4-13EC-EAEA-B9D0-47A10CDB0343}"/>
              </a:ext>
            </a:extLst>
          </p:cNvPr>
          <p:cNvSpPr/>
          <p:nvPr/>
        </p:nvSpPr>
        <p:spPr>
          <a:xfrm>
            <a:off x="6016511" y="1986059"/>
            <a:ext cx="1279384" cy="307266"/>
          </a:xfrm>
          <a:prstGeom prst="roundRect">
            <a:avLst/>
          </a:prstGeom>
          <a:solidFill>
            <a:srgbClr val="0065B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400" b="1" kern="0" dirty="0">
                <a:solidFill>
                  <a:schemeClr val="bg1"/>
                </a:solidFill>
                <a:latin typeface="Meiryo UI" panose="020B0604030504040204" pitchFamily="50" charset="-128"/>
                <a:ea typeface="Meiryo UI" panose="020B0604030504040204" pitchFamily="50" charset="-128"/>
                <a:cs typeface="Arial" panose="020B0604020202020204" pitchFamily="34" charset="0"/>
              </a:rPr>
              <a:t>案件累積</a:t>
            </a:r>
            <a:r>
              <a:rPr lang="en-US" altLang="ja-JP" sz="1400" b="1" kern="0" dirty="0">
                <a:solidFill>
                  <a:schemeClr val="bg1"/>
                </a:solidFill>
                <a:latin typeface="Meiryo UI" panose="020B0604030504040204" pitchFamily="50" charset="-128"/>
                <a:ea typeface="Meiryo UI" panose="020B0604030504040204" pitchFamily="50" charset="-128"/>
                <a:cs typeface="Arial" panose="020B0604020202020204" pitchFamily="34" charset="0"/>
              </a:rPr>
              <a:t>:7</a:t>
            </a:r>
            <a:r>
              <a:rPr lang="ja-JP" altLang="en-US" sz="1400" b="1" kern="0" dirty="0">
                <a:solidFill>
                  <a:schemeClr val="bg1"/>
                </a:solidFill>
                <a:latin typeface="Meiryo UI" panose="020B0604030504040204" pitchFamily="50" charset="-128"/>
                <a:ea typeface="Meiryo UI" panose="020B0604030504040204" pitchFamily="50" charset="-128"/>
                <a:cs typeface="Arial" panose="020B0604020202020204" pitchFamily="34" charset="0"/>
              </a:rPr>
              <a:t>件</a:t>
            </a:r>
          </a:p>
        </p:txBody>
      </p:sp>
      <p:sp>
        <p:nvSpPr>
          <p:cNvPr id="133" name="四角形: 角を丸くする 132">
            <a:extLst>
              <a:ext uri="{FF2B5EF4-FFF2-40B4-BE49-F238E27FC236}">
                <a16:creationId xmlns:a16="http://schemas.microsoft.com/office/drawing/2014/main" id="{B703DC8E-924C-EF88-C589-36F666C02922}"/>
              </a:ext>
            </a:extLst>
          </p:cNvPr>
          <p:cNvSpPr/>
          <p:nvPr/>
        </p:nvSpPr>
        <p:spPr>
          <a:xfrm>
            <a:off x="8090372" y="1986059"/>
            <a:ext cx="1279384" cy="307266"/>
          </a:xfrm>
          <a:prstGeom prst="roundRect">
            <a:avLst/>
          </a:prstGeom>
          <a:solidFill>
            <a:srgbClr val="0065B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400" b="1" kern="0" dirty="0">
                <a:solidFill>
                  <a:schemeClr val="bg1"/>
                </a:solidFill>
                <a:latin typeface="Meiryo UI" panose="020B0604030504040204" pitchFamily="50" charset="-128"/>
                <a:ea typeface="Meiryo UI" panose="020B0604030504040204" pitchFamily="50" charset="-128"/>
                <a:cs typeface="Arial" panose="020B0604020202020204" pitchFamily="34" charset="0"/>
              </a:rPr>
              <a:t>案件累積</a:t>
            </a:r>
            <a:r>
              <a:rPr lang="en-US" altLang="ja-JP" sz="1400" b="1" kern="0" dirty="0">
                <a:solidFill>
                  <a:schemeClr val="bg1"/>
                </a:solidFill>
                <a:latin typeface="Meiryo UI" panose="020B0604030504040204" pitchFamily="50" charset="-128"/>
                <a:ea typeface="Meiryo UI" panose="020B0604030504040204" pitchFamily="50" charset="-128"/>
                <a:cs typeface="Arial" panose="020B0604020202020204" pitchFamily="34" charset="0"/>
              </a:rPr>
              <a:t>:31</a:t>
            </a:r>
            <a:r>
              <a:rPr lang="ja-JP" altLang="en-US" sz="1400" b="1" kern="0" dirty="0">
                <a:solidFill>
                  <a:schemeClr val="bg1"/>
                </a:solidFill>
                <a:latin typeface="Meiryo UI" panose="020B0604030504040204" pitchFamily="50" charset="-128"/>
                <a:ea typeface="Meiryo UI" panose="020B0604030504040204" pitchFamily="50" charset="-128"/>
                <a:cs typeface="Arial" panose="020B0604020202020204" pitchFamily="34" charset="0"/>
              </a:rPr>
              <a:t>件</a:t>
            </a:r>
          </a:p>
        </p:txBody>
      </p:sp>
      <p:sp>
        <p:nvSpPr>
          <p:cNvPr id="134" name="四角形: 角を丸くする 133">
            <a:extLst>
              <a:ext uri="{FF2B5EF4-FFF2-40B4-BE49-F238E27FC236}">
                <a16:creationId xmlns:a16="http://schemas.microsoft.com/office/drawing/2014/main" id="{C7ABCD9C-4E50-8909-3A7D-0B89CB0CBFE9}"/>
              </a:ext>
            </a:extLst>
          </p:cNvPr>
          <p:cNvSpPr/>
          <p:nvPr/>
        </p:nvSpPr>
        <p:spPr>
          <a:xfrm>
            <a:off x="10164233" y="1986059"/>
            <a:ext cx="1279384" cy="307266"/>
          </a:xfrm>
          <a:prstGeom prst="roundRect">
            <a:avLst/>
          </a:prstGeom>
          <a:solidFill>
            <a:srgbClr val="0065BD"/>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400" b="1" kern="0" dirty="0">
                <a:solidFill>
                  <a:schemeClr val="bg1"/>
                </a:solidFill>
                <a:latin typeface="Meiryo UI" panose="020B0604030504040204" pitchFamily="50" charset="-128"/>
                <a:ea typeface="Meiryo UI" panose="020B0604030504040204" pitchFamily="50" charset="-128"/>
                <a:cs typeface="Arial" panose="020B0604020202020204" pitchFamily="34" charset="0"/>
              </a:rPr>
              <a:t>案件累積</a:t>
            </a:r>
            <a:r>
              <a:rPr lang="en-US" altLang="ja-JP" sz="1400" b="1" kern="0" dirty="0">
                <a:solidFill>
                  <a:schemeClr val="bg1"/>
                </a:solidFill>
                <a:latin typeface="Meiryo UI" panose="020B0604030504040204" pitchFamily="50" charset="-128"/>
                <a:ea typeface="Meiryo UI" panose="020B0604030504040204" pitchFamily="50" charset="-128"/>
                <a:cs typeface="Arial" panose="020B0604020202020204" pitchFamily="34" charset="0"/>
              </a:rPr>
              <a:t>:75</a:t>
            </a:r>
            <a:r>
              <a:rPr lang="ja-JP" altLang="en-US" sz="1400" b="1" kern="0" dirty="0">
                <a:solidFill>
                  <a:schemeClr val="bg1"/>
                </a:solidFill>
                <a:latin typeface="Meiryo UI" panose="020B0604030504040204" pitchFamily="50" charset="-128"/>
                <a:ea typeface="Meiryo UI" panose="020B0604030504040204" pitchFamily="50" charset="-128"/>
                <a:cs typeface="Arial" panose="020B0604020202020204" pitchFamily="34" charset="0"/>
              </a:rPr>
              <a:t>件</a:t>
            </a:r>
          </a:p>
        </p:txBody>
      </p:sp>
    </p:spTree>
    <p:extLst>
      <p:ext uri="{BB962C8B-B14F-4D97-AF65-F5344CB8AC3E}">
        <p14:creationId xmlns:p14="http://schemas.microsoft.com/office/powerpoint/2010/main" val="3990493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165A6-810D-5121-AE6A-98D1FD11C03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4B5FC05F-8AC1-8A80-5E9B-5A2B932E98E9}"/>
              </a:ext>
            </a:extLst>
          </p:cNvPr>
          <p:cNvSpPr>
            <a:spLocks noGrp="1"/>
          </p:cNvSpPr>
          <p:nvPr>
            <p:ph type="title"/>
          </p:nvPr>
        </p:nvSpPr>
        <p:spPr/>
        <p:txBody>
          <a:bodyPr/>
          <a:lstStyle/>
          <a:p>
            <a:r>
              <a:rPr lang="ja-JP" altLang="en-US" dirty="0"/>
              <a:t>リソース確保プラン</a:t>
            </a:r>
            <a:endParaRPr kumimoji="1" lang="ja-JP" altLang="en-US" dirty="0"/>
          </a:p>
        </p:txBody>
      </p:sp>
      <p:sp>
        <p:nvSpPr>
          <p:cNvPr id="4" name="スライド番号プレースホルダー 3">
            <a:extLst>
              <a:ext uri="{FF2B5EF4-FFF2-40B4-BE49-F238E27FC236}">
                <a16:creationId xmlns:a16="http://schemas.microsoft.com/office/drawing/2014/main" id="{848A93C2-B568-A66D-3211-000DF21E20DE}"/>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12</a:t>
            </a:fld>
            <a:endParaRPr lang="en-US" altLang="ja-JP"/>
          </a:p>
        </p:txBody>
      </p:sp>
      <p:sp>
        <p:nvSpPr>
          <p:cNvPr id="2" name="コンテンツ プレースホルダー 5">
            <a:extLst>
              <a:ext uri="{FF2B5EF4-FFF2-40B4-BE49-F238E27FC236}">
                <a16:creationId xmlns:a16="http://schemas.microsoft.com/office/drawing/2014/main" id="{49FF8D7E-D931-3B05-5645-A652D4BE1E68}"/>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現在確定している</a:t>
            </a:r>
            <a:r>
              <a:rPr lang="en-US" altLang="ja-JP" sz="1600" kern="0" dirty="0"/>
              <a:t>AI</a:t>
            </a:r>
            <a:r>
              <a:rPr lang="ja-JP" altLang="en-US" sz="1600" kern="0" dirty="0"/>
              <a:t>エージェント化の内製は主に社員で行い、それ以外の不確実の高い案件は外部パートナーに委託する。</a:t>
            </a:r>
            <a:endParaRPr lang="en-US" altLang="ja-JP" sz="1600" kern="0" dirty="0"/>
          </a:p>
        </p:txBody>
      </p:sp>
      <p:sp>
        <p:nvSpPr>
          <p:cNvPr id="15" name="正方形/長方形 14">
            <a:extLst>
              <a:ext uri="{FF2B5EF4-FFF2-40B4-BE49-F238E27FC236}">
                <a16:creationId xmlns:a16="http://schemas.microsoft.com/office/drawing/2014/main" id="{7C3FD044-7AD4-4418-3D87-DCDBAC999EEA}"/>
              </a:ext>
            </a:extLst>
          </p:cNvPr>
          <p:cNvSpPr/>
          <p:nvPr/>
        </p:nvSpPr>
        <p:spPr>
          <a:xfrm>
            <a:off x="2408144" y="1820337"/>
            <a:ext cx="1625427" cy="1466503"/>
          </a:xfrm>
          <a:prstGeom prst="rect">
            <a:avLst/>
          </a:prstGeom>
          <a:solidFill>
            <a:srgbClr val="6DAF3D"/>
          </a:solidFill>
          <a:ln w="19050" cap="flat" cmpd="sng" algn="ctr">
            <a:solidFill>
              <a:srgbClr val="FFFFFF"/>
            </a:solidFill>
            <a:prstDash val="solid"/>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rPr>
              <a:t>外部パートナー</a:t>
            </a:r>
            <a:r>
              <a:rPr kumimoji="0" lang="en-US" altLang="ja-JP" sz="16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rPr>
              <a:t>10</a:t>
            </a:r>
            <a:r>
              <a:rPr kumimoji="0" lang="ja-JP" altLang="en-US" sz="16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rPr>
              <a:t>～</a:t>
            </a:r>
            <a:r>
              <a:rPr kumimoji="0" lang="en-US" altLang="ja-JP" sz="1600" kern="0" dirty="0">
                <a:solidFill>
                  <a:srgbClr val="FFFFFF"/>
                </a:solidFill>
                <a:latin typeface="Meiryo UI" panose="020B0604030504040204" pitchFamily="50" charset="-128"/>
                <a:ea typeface="Meiryo UI" panose="020B0604030504040204" pitchFamily="50" charset="-128"/>
              </a:rPr>
              <a:t>2</a:t>
            </a:r>
            <a:r>
              <a:rPr kumimoji="0" lang="en-US" altLang="ja-JP" sz="16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rPr>
              <a:t>0</a:t>
            </a:r>
            <a:r>
              <a:rPr kumimoji="0" lang="ja-JP" altLang="en-US" sz="16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rPr>
              <a:t>名</a:t>
            </a:r>
          </a:p>
        </p:txBody>
      </p:sp>
      <p:sp>
        <p:nvSpPr>
          <p:cNvPr id="18" name="正方形/長方形 17">
            <a:extLst>
              <a:ext uri="{FF2B5EF4-FFF2-40B4-BE49-F238E27FC236}">
                <a16:creationId xmlns:a16="http://schemas.microsoft.com/office/drawing/2014/main" id="{859D193A-22B9-E1A2-2D18-68B883BDD80E}"/>
              </a:ext>
            </a:extLst>
          </p:cNvPr>
          <p:cNvSpPr/>
          <p:nvPr/>
        </p:nvSpPr>
        <p:spPr>
          <a:xfrm>
            <a:off x="1025712" y="3221572"/>
            <a:ext cx="986456" cy="235490"/>
          </a:xfrm>
          <a:prstGeom prst="rect">
            <a:avLst/>
          </a:prstGeom>
        </p:spPr>
        <p:txBody>
          <a:bodyPr vert="horz" lIns="0" tIns="0" rIns="0" bIns="14400" rtlCol="0" anchor="b" anchorCtr="0">
            <a:noAutofit/>
          </a:bodyPr>
          <a:lstStyle/>
          <a:p>
            <a:pPr algn="ctr" defTabSz="987415" fontAlgn="auto">
              <a:spcBef>
                <a:spcPts val="0"/>
              </a:spcBef>
              <a:spcAft>
                <a:spcPts val="0"/>
              </a:spcAft>
            </a:pP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24</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endPar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9" name="正方形/長方形 18">
            <a:extLst>
              <a:ext uri="{FF2B5EF4-FFF2-40B4-BE49-F238E27FC236}">
                <a16:creationId xmlns:a16="http://schemas.microsoft.com/office/drawing/2014/main" id="{7E99784A-1DD6-9715-C7A2-DE4C450B85A9}"/>
              </a:ext>
            </a:extLst>
          </p:cNvPr>
          <p:cNvSpPr/>
          <p:nvPr/>
        </p:nvSpPr>
        <p:spPr>
          <a:xfrm>
            <a:off x="1025712" y="1671139"/>
            <a:ext cx="986456" cy="235490"/>
          </a:xfrm>
          <a:prstGeom prst="rect">
            <a:avLst/>
          </a:prstGeom>
        </p:spPr>
        <p:txBody>
          <a:bodyPr vert="horz" lIns="0" tIns="0" rIns="0" bIns="14400" rtlCol="0" anchor="b" anchorCtr="0">
            <a:noAutofit/>
          </a:bodyPr>
          <a:lstStyle/>
          <a:p>
            <a:pPr algn="ctr" defTabSz="987415" fontAlgn="auto">
              <a:spcBef>
                <a:spcPts val="0"/>
              </a:spcBef>
              <a:spcAft>
                <a:spcPts val="0"/>
              </a:spcAft>
            </a:pP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44</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endPar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cxnSp>
        <p:nvCxnSpPr>
          <p:cNvPr id="21" name="直線コネクタ 20">
            <a:extLst>
              <a:ext uri="{FF2B5EF4-FFF2-40B4-BE49-F238E27FC236}">
                <a16:creationId xmlns:a16="http://schemas.microsoft.com/office/drawing/2014/main" id="{C3CC60A1-EC05-FF6A-8D43-8BF3694D35B2}"/>
              </a:ext>
            </a:extLst>
          </p:cNvPr>
          <p:cNvCxnSpPr>
            <a:cxnSpLocks/>
          </p:cNvCxnSpPr>
          <p:nvPr/>
        </p:nvCxnSpPr>
        <p:spPr>
          <a:xfrm>
            <a:off x="1804234" y="1631140"/>
            <a:ext cx="0" cy="4610645"/>
          </a:xfrm>
          <a:prstGeom prst="line">
            <a:avLst/>
          </a:prstGeom>
          <a:noFill/>
          <a:ln w="28575" cap="flat" cmpd="sng" algn="ctr">
            <a:solidFill>
              <a:srgbClr val="2895D5">
                <a:lumMod val="50000"/>
              </a:srgbClr>
            </a:solidFill>
            <a:prstDash val="solid"/>
          </a:ln>
          <a:effectLst/>
        </p:spPr>
      </p:cxnSp>
      <p:cxnSp>
        <p:nvCxnSpPr>
          <p:cNvPr id="22" name="直線コネクタ 21">
            <a:extLst>
              <a:ext uri="{FF2B5EF4-FFF2-40B4-BE49-F238E27FC236}">
                <a16:creationId xmlns:a16="http://schemas.microsoft.com/office/drawing/2014/main" id="{51D0EC2C-7580-FE53-7C18-F2E5DEAB5DC0}"/>
              </a:ext>
            </a:extLst>
          </p:cNvPr>
          <p:cNvCxnSpPr>
            <a:cxnSpLocks/>
          </p:cNvCxnSpPr>
          <p:nvPr/>
        </p:nvCxnSpPr>
        <p:spPr>
          <a:xfrm flipH="1">
            <a:off x="1804234" y="6241785"/>
            <a:ext cx="8323665" cy="0"/>
          </a:xfrm>
          <a:prstGeom prst="line">
            <a:avLst/>
          </a:prstGeom>
          <a:noFill/>
          <a:ln w="28575" cap="flat" cmpd="sng" algn="ctr">
            <a:solidFill>
              <a:srgbClr val="2895D5">
                <a:lumMod val="50000"/>
              </a:srgbClr>
            </a:solidFill>
            <a:prstDash val="solid"/>
          </a:ln>
          <a:effectLst/>
        </p:spPr>
      </p:cxnSp>
      <p:graphicFrame>
        <p:nvGraphicFramePr>
          <p:cNvPr id="23" name="表 22">
            <a:extLst>
              <a:ext uri="{FF2B5EF4-FFF2-40B4-BE49-F238E27FC236}">
                <a16:creationId xmlns:a16="http://schemas.microsoft.com/office/drawing/2014/main" id="{6595B17F-0DF6-5C8A-7074-5853D58048E3}"/>
              </a:ext>
            </a:extLst>
          </p:cNvPr>
          <p:cNvGraphicFramePr>
            <a:graphicFrameLocks noGrp="1"/>
          </p:cNvGraphicFramePr>
          <p:nvPr>
            <p:extLst>
              <p:ext uri="{D42A27DB-BD31-4B8C-83A1-F6EECF244321}">
                <p14:modId xmlns:p14="http://schemas.microsoft.com/office/powerpoint/2010/main" val="161064025"/>
              </p:ext>
            </p:extLst>
          </p:nvPr>
        </p:nvGraphicFramePr>
        <p:xfrm>
          <a:off x="4078836" y="1407241"/>
          <a:ext cx="5760000" cy="4804120"/>
        </p:xfrm>
        <a:graphic>
          <a:graphicData uri="http://schemas.openxmlformats.org/drawingml/2006/table">
            <a:tbl>
              <a:tblPr firstRow="1" bandRow="1"/>
              <a:tblGrid>
                <a:gridCol w="720000">
                  <a:extLst>
                    <a:ext uri="{9D8B030D-6E8A-4147-A177-3AD203B41FA5}">
                      <a16:colId xmlns:a16="http://schemas.microsoft.com/office/drawing/2014/main" val="2090500447"/>
                    </a:ext>
                  </a:extLst>
                </a:gridCol>
                <a:gridCol w="2160000">
                  <a:extLst>
                    <a:ext uri="{9D8B030D-6E8A-4147-A177-3AD203B41FA5}">
                      <a16:colId xmlns:a16="http://schemas.microsoft.com/office/drawing/2014/main" val="1707041299"/>
                    </a:ext>
                  </a:extLst>
                </a:gridCol>
                <a:gridCol w="720000">
                  <a:extLst>
                    <a:ext uri="{9D8B030D-6E8A-4147-A177-3AD203B41FA5}">
                      <a16:colId xmlns:a16="http://schemas.microsoft.com/office/drawing/2014/main" val="3256650150"/>
                    </a:ext>
                  </a:extLst>
                </a:gridCol>
                <a:gridCol w="2160000">
                  <a:extLst>
                    <a:ext uri="{9D8B030D-6E8A-4147-A177-3AD203B41FA5}">
                      <a16:colId xmlns:a16="http://schemas.microsoft.com/office/drawing/2014/main" val="2181454228"/>
                    </a:ext>
                  </a:extLst>
                </a:gridCol>
              </a:tblGrid>
              <a:tr h="370840">
                <a:tc gridSpan="2">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algn="ctr" defTabSz="987415" rtl="0" eaLnBrk="1" fontAlgn="auto" latinLnBrk="0" hangingPunct="1">
                        <a:spcBef>
                          <a:spcPts val="0"/>
                        </a:spcBef>
                        <a:spcAft>
                          <a:spcPts val="0"/>
                        </a:spcAft>
                      </a:pPr>
                      <a:r>
                        <a:rPr kumimoji="1" lang="ja-JP" altLang="en-US"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エンジニア（上流）：</a:t>
                      </a:r>
                      <a:r>
                        <a:rPr kumimoji="1" lang="en-US" altLang="ja-JP"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20</a:t>
                      </a:r>
                      <a:r>
                        <a:rPr kumimoji="1" lang="ja-JP" altLang="en-US"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p>
                  </a:txBody>
                  <a:tcPr marT="36000" marB="36000" anchor="ctr">
                    <a:lnL w="12700" cap="flat" cmpd="sng" algn="ctr">
                      <a:noFill/>
                      <a:prstDash val="dash"/>
                      <a:round/>
                      <a:headEnd type="none" w="med" len="med"/>
                      <a:tailEnd type="none" w="med" len="med"/>
                    </a:lnL>
                    <a:lnR w="12700" cap="flat" cmpd="sng" algn="ctr">
                      <a:solidFill>
                        <a:srgbClr val="000000">
                          <a:lumMod val="50000"/>
                          <a:lumOff val="50000"/>
                        </a:srgbClr>
                      </a:solidFill>
                      <a:prstDash val="dash"/>
                      <a:round/>
                      <a:headEnd type="none" w="med" len="med"/>
                      <a:tailEnd type="none" w="med" len="med"/>
                    </a:lnR>
                    <a:lnT w="12700" cap="flat" cmpd="sng" algn="ctr">
                      <a:noFill/>
                      <a:prstDash val="dash"/>
                      <a:round/>
                      <a:headEnd type="none" w="med" len="med"/>
                      <a:tailEnd type="none" w="med" len="med"/>
                    </a:lnT>
                    <a:lnB w="1270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400" dirty="0">
                        <a:latin typeface="+mj-lt"/>
                        <a:ea typeface="BIZ UDPゴシック" panose="020B0400000000000000" pitchFamily="50" charset="-128"/>
                      </a:endParaRPr>
                    </a:p>
                  </a:txBody>
                  <a:tcPr marT="72000" marB="72000">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dash"/>
                      <a:round/>
                      <a:headEnd type="none" w="med" len="med"/>
                      <a:tailEnd type="none" w="med" len="med"/>
                    </a:lnT>
                    <a:lnB w="12700" cap="flat" cmpd="sng" algn="ctr">
                      <a:solidFill>
                        <a:schemeClr val="tx1">
                          <a:lumMod val="50000"/>
                          <a:lumOff val="50000"/>
                        </a:schemeClr>
                      </a:solidFill>
                      <a:prstDash val="dash"/>
                      <a:round/>
                      <a:headEnd type="none" w="med" len="med"/>
                      <a:tailEnd type="none" w="med" len="med"/>
                    </a:lnB>
                    <a:lnTlToBr w="12700" cmpd="sng">
                      <a:noFill/>
                      <a:prstDash val="solid"/>
                    </a:lnTlToBr>
                    <a:lnBlToTr w="12700" cmpd="sng">
                      <a:noFill/>
                      <a:prstDash val="solid"/>
                    </a:lnBlToTr>
                  </a:tcPr>
                </a:tc>
                <a:tc gridSpan="2">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algn="ctr" defTabSz="987415" rtl="0" eaLnBrk="1" fontAlgn="auto" latinLnBrk="0" hangingPunct="1">
                        <a:spcBef>
                          <a:spcPts val="0"/>
                        </a:spcBef>
                        <a:spcAft>
                          <a:spcPts val="0"/>
                        </a:spcAft>
                      </a:pPr>
                      <a:r>
                        <a:rPr kumimoji="1" lang="ja-JP" altLang="en-US"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エンジニア（下流）：</a:t>
                      </a:r>
                      <a:r>
                        <a:rPr kumimoji="1" lang="en-US" altLang="ja-JP"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24</a:t>
                      </a:r>
                      <a:r>
                        <a:rPr kumimoji="1" lang="ja-JP" altLang="en-US" sz="1600" b="1"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p>
                  </a:txBody>
                  <a:tcPr marT="36000" marB="36000" anchor="ctr">
                    <a:lnL w="12700" cap="flat" cmpd="sng" algn="ctr">
                      <a:solidFill>
                        <a:srgbClr val="000000">
                          <a:lumMod val="50000"/>
                          <a:lumOff val="50000"/>
                        </a:srgbClr>
                      </a:solid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solidFill>
                        <a:srgbClr val="7F7F7F"/>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kumimoji="1" lang="ja-JP" altLang="en-US" sz="1400" dirty="0">
                        <a:latin typeface="+mj-lt"/>
                        <a:ea typeface="BIZ UDPゴシック" panose="020B0400000000000000" pitchFamily="50" charset="-128"/>
                      </a:endParaRPr>
                    </a:p>
                  </a:txBody>
                  <a:tcPr marT="72000" marB="72000">
                    <a:lnL w="12700" cap="flat" cmpd="sng" algn="ctr">
                      <a:solidFill>
                        <a:schemeClr val="tx1">
                          <a:lumMod val="50000"/>
                          <a:lumOff val="50000"/>
                        </a:schemeClr>
                      </a:solidFill>
                      <a:prstDash val="dash"/>
                      <a:round/>
                      <a:headEnd type="none" w="med" len="med"/>
                      <a:tailEnd type="none" w="med" len="med"/>
                    </a:lnL>
                    <a:lnR w="12700" cap="flat" cmpd="sng" algn="ctr">
                      <a:solidFill>
                        <a:schemeClr val="tx1">
                          <a:lumMod val="50000"/>
                          <a:lumOff val="50000"/>
                        </a:schemeClr>
                      </a:solidFill>
                      <a:prstDash val="dash"/>
                      <a:round/>
                      <a:headEnd type="none" w="med" len="med"/>
                      <a:tailEnd type="none" w="med" len="med"/>
                    </a:lnR>
                    <a:lnT w="12700" cap="flat" cmpd="sng" algn="ctr">
                      <a:solidFill>
                        <a:schemeClr val="tx1">
                          <a:lumMod val="50000"/>
                          <a:lumOff val="50000"/>
                        </a:schemeClr>
                      </a:solidFill>
                      <a:prstDash val="dash"/>
                      <a:round/>
                      <a:headEnd type="none" w="med" len="med"/>
                      <a:tailEnd type="none" w="med" len="med"/>
                    </a:lnT>
                    <a:lnB w="12700" cap="flat" cmpd="sng" algn="ctr">
                      <a:solidFill>
                        <a:schemeClr val="tx1">
                          <a:lumMod val="50000"/>
                          <a:lumOff val="50000"/>
                        </a:schemeClr>
                      </a:solidFill>
                      <a:prstDash val="dash"/>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17361882"/>
                  </a:ext>
                </a:extLst>
              </a:tr>
              <a:tr h="370840">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defTabSz="987415" rtl="0" fontAlgn="auto">
                        <a:spcBef>
                          <a:spcPts val="0"/>
                        </a:spcBef>
                        <a:spcAft>
                          <a:spcPts val="0"/>
                        </a:spcAft>
                      </a:pPr>
                      <a:r>
                        <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10</a:t>
                      </a:r>
                      <a:r>
                        <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p>
                  </a:txBody>
                  <a:tcPr marT="36000" marB="36000">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defTabSz="987415" rtl="0" fontAlgn="auto">
                        <a:spcBef>
                          <a:spcPts val="0"/>
                        </a:spcBef>
                        <a:spcAft>
                          <a:spcPts val="0"/>
                        </a:spcAft>
                      </a:pPr>
                      <a:r>
                        <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IT</a:t>
                      </a:r>
                      <a:r>
                        <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コンサルパートナー</a:t>
                      </a:r>
                    </a:p>
                  </a:txBody>
                  <a:tcPr marT="36000" marB="36000" anchor="ctr">
                    <a:lnL w="12700" cap="flat" cmpd="sng" algn="ctr">
                      <a:noFill/>
                      <a:prstDash val="dash"/>
                      <a:round/>
                      <a:headEnd type="none" w="med" len="med"/>
                      <a:tailEnd type="none" w="med" len="med"/>
                    </a:lnL>
                    <a:lnR w="12700" cap="flat" cmpd="sng" algn="ctr">
                      <a:solidFill>
                        <a:srgbClr val="000000">
                          <a:lumMod val="50000"/>
                          <a:lumOff val="50000"/>
                        </a:srgbClr>
                      </a:solidFill>
                      <a:prstDash val="dash"/>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r>
                        <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10</a:t>
                      </a:r>
                      <a:r>
                        <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lnL w="12700" cap="flat" cmpd="sng" algn="ctr">
                      <a:solidFill>
                        <a:srgbClr val="000000">
                          <a:lumMod val="50000"/>
                          <a:lumOff val="50000"/>
                        </a:srgbClr>
                      </a:solid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defTabSz="987415" rtl="0" fontAlgn="auto">
                        <a:spcBef>
                          <a:spcPts val="0"/>
                        </a:spcBef>
                        <a:spcAft>
                          <a:spcPts val="0"/>
                        </a:spcAft>
                      </a:pPr>
                      <a:r>
                        <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開発パートナー</a:t>
                      </a:r>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9125023"/>
                  </a:ext>
                </a:extLst>
              </a:tr>
              <a:tr h="370840">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defTabSz="987415" rtl="0" fontAlgn="auto">
                        <a:spcBef>
                          <a:spcPts val="0"/>
                        </a:spcBef>
                        <a:spcAft>
                          <a:spcPts val="0"/>
                        </a:spcAft>
                      </a:pPr>
                      <a:endPar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defTabSz="987415" rtl="0" fontAlgn="auto">
                        <a:spcBef>
                          <a:spcPts val="0"/>
                        </a:spcBef>
                        <a:spcAft>
                          <a:spcPts val="0"/>
                        </a:spcAft>
                      </a:pPr>
                      <a:endPar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nchor="ctr">
                    <a:lnL w="12700" cap="flat" cmpd="sng" algn="ctr">
                      <a:noFill/>
                      <a:prstDash val="dash"/>
                      <a:round/>
                      <a:headEnd type="none" w="med" len="med"/>
                      <a:tailEnd type="none" w="med" len="med"/>
                    </a:lnL>
                    <a:lnR w="12700" cap="flat" cmpd="sng" algn="ctr">
                      <a:solidFill>
                        <a:srgbClr val="000000">
                          <a:lumMod val="50000"/>
                          <a:lumOff val="50000"/>
                        </a:srgbClr>
                      </a:solid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r>
                        <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3</a:t>
                      </a:r>
                      <a:r>
                        <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lnL w="12700" cap="flat" cmpd="sng" algn="ctr">
                      <a:solidFill>
                        <a:srgbClr val="000000">
                          <a:lumMod val="50000"/>
                          <a:lumOff val="50000"/>
                        </a:srgbClr>
                      </a:solid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defTabSz="987415" rtl="0" fontAlgn="auto">
                        <a:spcBef>
                          <a:spcPts val="0"/>
                        </a:spcBef>
                        <a:spcAft>
                          <a:spcPts val="0"/>
                        </a:spcAft>
                      </a:pPr>
                      <a:r>
                        <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開発経験者</a:t>
                      </a:r>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4494608"/>
                  </a:ext>
                </a:extLst>
              </a:tr>
              <a:tr h="370840">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defTabSz="987415" rtl="0" fontAlgn="auto">
                        <a:spcBef>
                          <a:spcPts val="0"/>
                        </a:spcBef>
                        <a:spcAft>
                          <a:spcPts val="0"/>
                        </a:spcAft>
                      </a:pPr>
                      <a:endPar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defTabSz="987415" rtl="0" fontAlgn="auto">
                        <a:spcBef>
                          <a:spcPts val="0"/>
                        </a:spcBef>
                        <a:spcAft>
                          <a:spcPts val="0"/>
                        </a:spcAft>
                      </a:pPr>
                      <a:endPar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nchor="ctr">
                    <a:lnL w="12700" cap="flat" cmpd="sng" algn="ctr">
                      <a:noFill/>
                      <a:prstDash val="dash"/>
                      <a:round/>
                      <a:headEnd type="none" w="med" len="med"/>
                      <a:tailEnd type="none" w="med" len="med"/>
                    </a:lnL>
                    <a:lnR w="12700" cap="flat" cmpd="sng" algn="ctr">
                      <a:solidFill>
                        <a:srgbClr val="000000">
                          <a:lumMod val="50000"/>
                          <a:lumOff val="50000"/>
                        </a:srgbClr>
                      </a:solid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r>
                        <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3</a:t>
                      </a:r>
                      <a:r>
                        <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lnL w="12700" cap="flat" cmpd="sng" algn="ctr">
                      <a:solidFill>
                        <a:srgbClr val="000000">
                          <a:lumMod val="50000"/>
                          <a:lumOff val="50000"/>
                        </a:srgbClr>
                      </a:solid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defTabSz="987415" rtl="0" fontAlgn="auto">
                        <a:spcBef>
                          <a:spcPts val="0"/>
                        </a:spcBef>
                        <a:spcAft>
                          <a:spcPts val="0"/>
                        </a:spcAft>
                      </a:pPr>
                      <a:r>
                        <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開発経験者</a:t>
                      </a:r>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solidFill>
                        <a:srgbClr val="000000">
                          <a:lumMod val="50000"/>
                          <a:lumOff val="50000"/>
                        </a:srgbClr>
                      </a:solid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5480905"/>
                  </a:ext>
                </a:extLst>
              </a:tr>
              <a:tr h="0">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defTabSz="987415" rtl="0" fontAlgn="auto">
                        <a:spcBef>
                          <a:spcPts val="0"/>
                        </a:spcBef>
                        <a:spcAft>
                          <a:spcPts val="0"/>
                        </a:spcAft>
                      </a:pPr>
                      <a:r>
                        <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10</a:t>
                      </a:r>
                      <a:r>
                        <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p>
                  </a:txBody>
                  <a:tcPr marT="36000" marB="36000">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defTabSz="987415" rtl="0" fontAlgn="auto">
                        <a:spcBef>
                          <a:spcPts val="0"/>
                        </a:spcBef>
                        <a:spcAft>
                          <a:spcPts val="0"/>
                        </a:spcAft>
                      </a:pPr>
                      <a:r>
                        <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IT</a:t>
                      </a:r>
                      <a:r>
                        <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コンサル経験者</a:t>
                      </a:r>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algn="ctr" defTabSz="987415" rtl="0" fontAlgn="auto">
                        <a:spcBef>
                          <a:spcPts val="0"/>
                        </a:spcBef>
                        <a:spcAft>
                          <a:spcPts val="0"/>
                        </a:spcAft>
                      </a:pPr>
                      <a:r>
                        <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or</a:t>
                      </a:r>
                    </a:p>
                    <a:p>
                      <a:pPr algn="ctr" defTabSz="987415" rtl="0" fontAlgn="auto">
                        <a:spcBef>
                          <a:spcPts val="0"/>
                        </a:spcBef>
                        <a:spcAft>
                          <a:spcPts val="0"/>
                        </a:spcAft>
                      </a:pPr>
                      <a:r>
                        <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SE</a:t>
                      </a:r>
                      <a:r>
                        <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上流工程経験者</a:t>
                      </a:r>
                    </a:p>
                  </a:txBody>
                  <a:tcPr marT="36000" marB="36000" anchor="ctr">
                    <a:lnL w="12700" cap="flat" cmpd="sng" algn="ctr">
                      <a:noFill/>
                      <a:prstDash val="dash"/>
                      <a:round/>
                      <a:headEnd type="none" w="med" len="med"/>
                      <a:tailEnd type="none" w="med" len="med"/>
                    </a:lnL>
                    <a:lnR w="12700" cap="flat" cmpd="sng" algn="ctr">
                      <a:solidFill>
                        <a:srgbClr val="000000">
                          <a:lumMod val="50000"/>
                          <a:lumOff val="50000"/>
                        </a:srgbClr>
                      </a:solid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r>
                        <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8</a:t>
                      </a:r>
                      <a:r>
                        <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lnL w="12700" cap="flat" cmpd="sng" algn="ctr">
                      <a:solidFill>
                        <a:srgbClr val="000000">
                          <a:lumMod val="50000"/>
                          <a:lumOff val="50000"/>
                        </a:srgbClr>
                      </a:solid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defTabSz="987415" rtl="0" fontAlgn="auto">
                        <a:spcBef>
                          <a:spcPts val="0"/>
                        </a:spcBef>
                        <a:spcAft>
                          <a:spcPts val="0"/>
                        </a:spcAft>
                      </a:pPr>
                      <a:r>
                        <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開発経験者</a:t>
                      </a:r>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algn="ctr" defTabSz="987415" rtl="0" fontAlgn="auto">
                        <a:spcBef>
                          <a:spcPts val="0"/>
                        </a:spcBef>
                        <a:spcAft>
                          <a:spcPts val="0"/>
                        </a:spcAft>
                      </a:pPr>
                      <a:r>
                        <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or</a:t>
                      </a:r>
                    </a:p>
                    <a:p>
                      <a:pPr algn="ctr" defTabSz="987415" rtl="0" fontAlgn="auto">
                        <a:spcBef>
                          <a:spcPts val="0"/>
                        </a:spcBef>
                        <a:spcAft>
                          <a:spcPts val="0"/>
                        </a:spcAft>
                      </a:pPr>
                      <a:r>
                        <a:rPr kumimoji="1"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素養のある人（若手）</a:t>
                      </a:r>
                      <a:endParaRPr kumimoji="1"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txBody>
                  <a:tcPr marT="36000" marB="36000" anchor="ct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solidFill>
                        <a:srgbClr val="000000">
                          <a:lumMod val="50000"/>
                          <a:lumOff val="50000"/>
                        </a:srgbClr>
                      </a:solidFill>
                      <a:prstDash val="dash"/>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3082619"/>
                  </a:ext>
                </a:extLst>
              </a:tr>
            </a:tbl>
          </a:graphicData>
        </a:graphic>
      </p:graphicFrame>
      <p:grpSp>
        <p:nvGrpSpPr>
          <p:cNvPr id="32" name="グループ化 31">
            <a:extLst>
              <a:ext uri="{FF2B5EF4-FFF2-40B4-BE49-F238E27FC236}">
                <a16:creationId xmlns:a16="http://schemas.microsoft.com/office/drawing/2014/main" id="{BF213DA5-1DE6-67D0-E0BE-BF93ECC49A8C}"/>
              </a:ext>
            </a:extLst>
          </p:cNvPr>
          <p:cNvGrpSpPr/>
          <p:nvPr/>
        </p:nvGrpSpPr>
        <p:grpSpPr>
          <a:xfrm>
            <a:off x="2956298" y="3344336"/>
            <a:ext cx="1080000" cy="1555081"/>
            <a:chOff x="2846232" y="3975100"/>
            <a:chExt cx="1080000" cy="1203714"/>
          </a:xfrm>
        </p:grpSpPr>
        <p:sp>
          <p:nvSpPr>
            <p:cNvPr id="16" name="正方形/長方形 15">
              <a:extLst>
                <a:ext uri="{FF2B5EF4-FFF2-40B4-BE49-F238E27FC236}">
                  <a16:creationId xmlns:a16="http://schemas.microsoft.com/office/drawing/2014/main" id="{6F4DEFE4-D450-78FC-4F5A-C5F6E6CDCC5B}"/>
                </a:ext>
              </a:extLst>
            </p:cNvPr>
            <p:cNvSpPr/>
            <p:nvPr/>
          </p:nvSpPr>
          <p:spPr>
            <a:xfrm>
              <a:off x="2846232" y="3975100"/>
              <a:ext cx="1080000" cy="579169"/>
            </a:xfrm>
            <a:prstGeom prst="rect">
              <a:avLst/>
            </a:prstGeom>
            <a:solidFill>
              <a:srgbClr val="DEEBF7"/>
            </a:solidFill>
            <a:ln w="19050" cap="flat" cmpd="sng" algn="ctr">
              <a:solidFill>
                <a:srgbClr val="FFFFFF"/>
              </a:solidFill>
              <a:prstDash val="solid"/>
            </a:ln>
            <a:effectLst/>
          </p:spPr>
          <p:txBody>
            <a:bodyPr rtlCol="0" anchor="ctr"/>
            <a:lstStyle/>
            <a:p>
              <a:pPr algn="ctr" defTabSz="987415" fontAlgn="auto">
                <a:spcBef>
                  <a:spcPts val="0"/>
                </a:spcBef>
                <a:spcAft>
                  <a:spcPts val="0"/>
                </a:spcAft>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外部採用</a:t>
              </a:r>
              <a:endPar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algn="ctr" defTabSz="987415" fontAlgn="auto">
                <a:spcBef>
                  <a:spcPts val="0"/>
                </a:spcBef>
                <a:spcAft>
                  <a:spcPts val="0"/>
                </a:spcAft>
              </a:pP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3</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endPar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p:txBody>
        </p:sp>
        <p:sp>
          <p:nvSpPr>
            <p:cNvPr id="17" name="正方形/長方形 16">
              <a:extLst>
                <a:ext uri="{FF2B5EF4-FFF2-40B4-BE49-F238E27FC236}">
                  <a16:creationId xmlns:a16="http://schemas.microsoft.com/office/drawing/2014/main" id="{2323D960-70B2-9CB7-6244-C217694FF1ED}"/>
                </a:ext>
              </a:extLst>
            </p:cNvPr>
            <p:cNvSpPr/>
            <p:nvPr/>
          </p:nvSpPr>
          <p:spPr>
            <a:xfrm>
              <a:off x="2846232" y="4598771"/>
              <a:ext cx="1080000" cy="580043"/>
            </a:xfrm>
            <a:prstGeom prst="rect">
              <a:avLst/>
            </a:prstGeom>
            <a:solidFill>
              <a:srgbClr val="DEEBF7"/>
            </a:solidFill>
            <a:ln w="19050" cap="flat" cmpd="sng" algn="ctr">
              <a:solidFill>
                <a:srgbClr val="FFFFFF"/>
              </a:solidFill>
              <a:prstDash val="solid"/>
            </a:ln>
            <a:effectLst/>
          </p:spPr>
          <p:txBody>
            <a:bodyPr rtlCol="0" anchor="ctr"/>
            <a:lstStyle/>
            <a:p>
              <a:pPr algn="ctr" defTabSz="987415" fontAlgn="auto">
                <a:spcBef>
                  <a:spcPts val="0"/>
                </a:spcBef>
                <a:spcAft>
                  <a:spcPts val="0"/>
                </a:spcAft>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公募</a:t>
              </a:r>
              <a:endPar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algn="ctr" defTabSz="987415" fontAlgn="auto">
                <a:spcBef>
                  <a:spcPts val="0"/>
                </a:spcBef>
                <a:spcAft>
                  <a:spcPts val="0"/>
                </a:spcAft>
              </a:pP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6</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p>
          </p:txBody>
        </p:sp>
      </p:grpSp>
      <p:sp>
        <p:nvSpPr>
          <p:cNvPr id="20" name="正方形/長方形 19">
            <a:extLst>
              <a:ext uri="{FF2B5EF4-FFF2-40B4-BE49-F238E27FC236}">
                <a16:creationId xmlns:a16="http://schemas.microsoft.com/office/drawing/2014/main" id="{1A33FF7A-C1CA-AE1E-DA0F-07A155BCB82A}"/>
              </a:ext>
            </a:extLst>
          </p:cNvPr>
          <p:cNvSpPr/>
          <p:nvPr/>
        </p:nvSpPr>
        <p:spPr>
          <a:xfrm>
            <a:off x="2956298" y="4940292"/>
            <a:ext cx="1080000" cy="1267682"/>
          </a:xfrm>
          <a:prstGeom prst="rect">
            <a:avLst/>
          </a:prstGeom>
          <a:solidFill>
            <a:srgbClr val="DEEBF7"/>
          </a:solidFill>
          <a:ln w="19050" cap="flat" cmpd="sng" algn="ctr">
            <a:solidFill>
              <a:srgbClr val="FFFFFF"/>
            </a:solidFill>
            <a:prstDash val="solid"/>
          </a:ln>
          <a:effectLst/>
        </p:spPr>
        <p:txBody>
          <a:bodyPr rtlCol="0" anchor="ctr"/>
          <a:lstStyle/>
          <a:p>
            <a:pPr marR="0" lvl="0" indent="0" algn="ctr" defTabSz="987415" fontAlgn="auto">
              <a:lnSpc>
                <a:spcPct val="100000"/>
              </a:lnSpc>
              <a:spcBef>
                <a:spcPts val="0"/>
              </a:spcBef>
              <a:spcAft>
                <a:spcPts val="0"/>
              </a:spcAft>
              <a:buClrTx/>
              <a:buSzTx/>
              <a:buFontTx/>
              <a:buNone/>
              <a:tabLst/>
              <a:defRPr/>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基シス</a:t>
            </a: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/PM</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部</a:t>
            </a:r>
            <a:b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b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新経営</a:t>
            </a:r>
            <a:endPar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endParaRPr>
          </a:p>
          <a:p>
            <a:pPr marR="0" lvl="0" indent="0" algn="ctr" defTabSz="987415" fontAlgn="auto">
              <a:lnSpc>
                <a:spcPct val="100000"/>
              </a:lnSpc>
              <a:spcBef>
                <a:spcPts val="0"/>
              </a:spcBef>
              <a:spcAft>
                <a:spcPts val="0"/>
              </a:spcAft>
              <a:buClrTx/>
              <a:buSzTx/>
              <a:buFontTx/>
              <a:buNone/>
              <a:tabLst/>
              <a:defRPr/>
            </a:pPr>
            <a:r>
              <a:rPr lang="en-US" altLang="ja-JP"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15</a:t>
            </a: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名</a:t>
            </a:r>
          </a:p>
        </p:txBody>
      </p:sp>
      <p:sp>
        <p:nvSpPr>
          <p:cNvPr id="24" name="正方形/長方形 23">
            <a:extLst>
              <a:ext uri="{FF2B5EF4-FFF2-40B4-BE49-F238E27FC236}">
                <a16:creationId xmlns:a16="http://schemas.microsoft.com/office/drawing/2014/main" id="{3B131A43-C838-1822-9F2A-8151A36C9B60}"/>
              </a:ext>
            </a:extLst>
          </p:cNvPr>
          <p:cNvSpPr/>
          <p:nvPr/>
        </p:nvSpPr>
        <p:spPr>
          <a:xfrm>
            <a:off x="2410862" y="3344336"/>
            <a:ext cx="540000" cy="2863637"/>
          </a:xfrm>
          <a:prstGeom prst="rect">
            <a:avLst/>
          </a:prstGeom>
          <a:solidFill>
            <a:srgbClr val="0065BD"/>
          </a:solidFill>
          <a:ln w="19050" cap="flat" cmpd="sng" algn="ctr">
            <a:solidFill>
              <a:srgbClr val="FFFFFF"/>
            </a:solidFill>
            <a:prstDash val="solid"/>
          </a:ln>
          <a:effectLst/>
        </p:spPr>
        <p:txBody>
          <a:bodyPr vert="eaVert"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1600" kern="0" dirty="0">
                <a:solidFill>
                  <a:schemeClr val="bg1"/>
                </a:solidFill>
                <a:latin typeface="Meiryo UI" panose="020B0604030504040204" pitchFamily="50" charset="-128"/>
                <a:ea typeface="Meiryo UI" panose="020B0604030504040204" pitchFamily="50" charset="-128"/>
              </a:rPr>
              <a:t>リクルート</a:t>
            </a:r>
            <a:endParaRPr kumimoji="0" lang="en-US" altLang="ja-JP" sz="1600" b="0" i="0" u="none" strike="noStrike" kern="0" cap="none" spc="0" normalizeH="0" baseline="0" noProof="0" dirty="0">
              <a:ln>
                <a:noFill/>
              </a:ln>
              <a:solidFill>
                <a:schemeClr val="bg1"/>
              </a:solidFill>
              <a:effectLst/>
              <a:uLnTx/>
              <a:uFillTx/>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0D924F2C-E935-D27F-2C73-F05DF882C23D}"/>
              </a:ext>
            </a:extLst>
          </p:cNvPr>
          <p:cNvSpPr/>
          <p:nvPr/>
        </p:nvSpPr>
        <p:spPr>
          <a:xfrm>
            <a:off x="1868144" y="3344334"/>
            <a:ext cx="540000" cy="2863633"/>
          </a:xfrm>
          <a:prstGeom prst="rect">
            <a:avLst/>
          </a:prstGeom>
          <a:noFill/>
          <a:ln w="19050" cap="flat" cmpd="sng" algn="ctr">
            <a:solidFill>
              <a:srgbClr val="FFFFFF"/>
            </a:solidFill>
            <a:prstDash val="solid"/>
          </a:ln>
          <a:effectLst/>
        </p:spPr>
        <p:txBody>
          <a:bodyPr rtlCol="0" anchor="ctr"/>
          <a:lstStyle/>
          <a:p>
            <a:pPr marL="0" algn="ctr" defTabSz="987415" eaLnBrk="1" fontAlgn="auto" latinLnBrk="0" hangingPunct="1">
              <a:spcBef>
                <a:spcPts val="0"/>
              </a:spcBef>
              <a:spcAft>
                <a:spcPts val="0"/>
              </a:spcAft>
              <a:defRPr/>
            </a:pPr>
            <a:r>
              <a:rPr lang="ja-JP" altLang="en-US" sz="160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rPr>
              <a:t>固定</a:t>
            </a:r>
            <a:endParaRPr kumimoji="0" lang="ja-JP" altLang="en-US" sz="2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4B7BCAB4-2E4D-8C25-0157-A29C3D0C5F86}"/>
              </a:ext>
            </a:extLst>
          </p:cNvPr>
          <p:cNvSpPr/>
          <p:nvPr/>
        </p:nvSpPr>
        <p:spPr>
          <a:xfrm>
            <a:off x="1868144" y="1820337"/>
            <a:ext cx="540000" cy="1466503"/>
          </a:xfrm>
          <a:prstGeom prst="rect">
            <a:avLst/>
          </a:prstGeom>
          <a:noFill/>
          <a:ln w="19050" cap="flat" cmpd="sng" algn="ctr">
            <a:solidFill>
              <a:srgbClr val="FFFFFF"/>
            </a:solidFill>
            <a:prstDash val="solid"/>
          </a:ln>
          <a:effectLst/>
        </p:spPr>
        <p:txBody>
          <a:bodyPr rtlCol="0" anchor="ctr"/>
          <a:lstStyle/>
          <a:p>
            <a:pPr marL="0" algn="ctr" defTabSz="987415" eaLnBrk="1" fontAlgn="auto" latinLnBrk="0" hangingPunct="1">
              <a:spcBef>
                <a:spcPts val="0"/>
              </a:spcBef>
              <a:spcAft>
                <a:spcPts val="0"/>
              </a:spcAft>
              <a:defRPr/>
            </a:pPr>
            <a:r>
              <a:rPr kumimoji="0" lang="ja-JP" altLang="en-US" sz="16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Arial" panose="020B0604020202020204" pitchFamily="34" charset="0"/>
              </a:rPr>
              <a:t>変動</a:t>
            </a:r>
            <a:endParaRPr kumimoji="0" lang="ja-JP" altLang="en-US" sz="2400" b="0" i="0" u="none" strike="noStrike" kern="0" cap="none" spc="0" normalizeH="0" baseline="0" noProof="0" dirty="0">
              <a:ln>
                <a:noFill/>
              </a:ln>
              <a:solidFill>
                <a:srgbClr val="FFFFFF"/>
              </a:solidFill>
              <a:effectLst/>
              <a:uLnTx/>
              <a:uFillTx/>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057919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E3037-9739-52B5-FAC7-742AEB192A6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61E6A781-0EF6-DBA0-85C4-DAD4ABEA2783}"/>
              </a:ext>
            </a:extLst>
          </p:cNvPr>
          <p:cNvSpPr>
            <a:spLocks noGrp="1"/>
          </p:cNvSpPr>
          <p:nvPr>
            <p:ph type="title"/>
          </p:nvPr>
        </p:nvSpPr>
        <p:spPr/>
        <p:txBody>
          <a:bodyPr/>
          <a:lstStyle/>
          <a:p>
            <a:r>
              <a:rPr kumimoji="1" lang="ja-JP" altLang="en-US" dirty="0"/>
              <a:t>採用</a:t>
            </a:r>
            <a:r>
              <a:rPr lang="ja-JP" altLang="en-US" dirty="0"/>
              <a:t>チャネルごと</a:t>
            </a:r>
            <a:r>
              <a:rPr kumimoji="1" lang="ja-JP" altLang="en-US" dirty="0"/>
              <a:t>の進め方</a:t>
            </a:r>
          </a:p>
        </p:txBody>
      </p:sp>
      <p:sp>
        <p:nvSpPr>
          <p:cNvPr id="4" name="スライド番号プレースホルダー 3">
            <a:extLst>
              <a:ext uri="{FF2B5EF4-FFF2-40B4-BE49-F238E27FC236}">
                <a16:creationId xmlns:a16="http://schemas.microsoft.com/office/drawing/2014/main" id="{94FCC285-6E15-0CEA-174F-B168D0C5572C}"/>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13</a:t>
            </a:fld>
            <a:endParaRPr lang="en-US" altLang="ja-JP"/>
          </a:p>
        </p:txBody>
      </p:sp>
      <p:sp>
        <p:nvSpPr>
          <p:cNvPr id="2" name="コンテンツ プレースホルダー 5">
            <a:extLst>
              <a:ext uri="{FF2B5EF4-FFF2-40B4-BE49-F238E27FC236}">
                <a16:creationId xmlns:a16="http://schemas.microsoft.com/office/drawing/2014/main" id="{353C8B63-5F11-9D5A-FF98-1E15EC2C7C4D}"/>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リクルート内のエンジニア</a:t>
            </a:r>
            <a:r>
              <a:rPr lang="ja-JP" altLang="en-US" sz="1600" kern="0" dirty="0"/>
              <a:t>の上流と下流工程の採用チャネルにおける詳細は以下の通り。</a:t>
            </a:r>
            <a:endParaRPr lang="en-US" altLang="ja-JP" sz="1600" kern="0" dirty="0"/>
          </a:p>
        </p:txBody>
      </p:sp>
      <p:graphicFrame>
        <p:nvGraphicFramePr>
          <p:cNvPr id="5" name="表 4">
            <a:extLst>
              <a:ext uri="{FF2B5EF4-FFF2-40B4-BE49-F238E27FC236}">
                <a16:creationId xmlns:a16="http://schemas.microsoft.com/office/drawing/2014/main" id="{FFB87972-4E3C-9872-C0A2-B9E6B8336BA9}"/>
              </a:ext>
            </a:extLst>
          </p:cNvPr>
          <p:cNvGraphicFramePr>
            <a:graphicFrameLocks noGrp="1"/>
          </p:cNvGraphicFramePr>
          <p:nvPr>
            <p:extLst>
              <p:ext uri="{D42A27DB-BD31-4B8C-83A1-F6EECF244321}">
                <p14:modId xmlns:p14="http://schemas.microsoft.com/office/powerpoint/2010/main" val="269181570"/>
              </p:ext>
            </p:extLst>
          </p:nvPr>
        </p:nvGraphicFramePr>
        <p:xfrm>
          <a:off x="135232" y="1417846"/>
          <a:ext cx="11921533" cy="4271148"/>
        </p:xfrm>
        <a:graphic>
          <a:graphicData uri="http://schemas.openxmlformats.org/drawingml/2006/table">
            <a:tbl>
              <a:tblPr firstRow="1" bandRow="1"/>
              <a:tblGrid>
                <a:gridCol w="1510705">
                  <a:extLst>
                    <a:ext uri="{9D8B030D-6E8A-4147-A177-3AD203B41FA5}">
                      <a16:colId xmlns:a16="http://schemas.microsoft.com/office/drawing/2014/main" val="4242186221"/>
                    </a:ext>
                  </a:extLst>
                </a:gridCol>
                <a:gridCol w="2602707">
                  <a:extLst>
                    <a:ext uri="{9D8B030D-6E8A-4147-A177-3AD203B41FA5}">
                      <a16:colId xmlns:a16="http://schemas.microsoft.com/office/drawing/2014/main" val="3630054763"/>
                    </a:ext>
                  </a:extLst>
                </a:gridCol>
                <a:gridCol w="2602707">
                  <a:extLst>
                    <a:ext uri="{9D8B030D-6E8A-4147-A177-3AD203B41FA5}">
                      <a16:colId xmlns:a16="http://schemas.microsoft.com/office/drawing/2014/main" val="2257193726"/>
                    </a:ext>
                  </a:extLst>
                </a:gridCol>
                <a:gridCol w="2602707">
                  <a:extLst>
                    <a:ext uri="{9D8B030D-6E8A-4147-A177-3AD203B41FA5}">
                      <a16:colId xmlns:a16="http://schemas.microsoft.com/office/drawing/2014/main" val="2462902793"/>
                    </a:ext>
                  </a:extLst>
                </a:gridCol>
                <a:gridCol w="2602707">
                  <a:extLst>
                    <a:ext uri="{9D8B030D-6E8A-4147-A177-3AD203B41FA5}">
                      <a16:colId xmlns:a16="http://schemas.microsoft.com/office/drawing/2014/main" val="1044424172"/>
                    </a:ext>
                  </a:extLst>
                </a:gridCol>
              </a:tblGrid>
              <a:tr h="255570">
                <a:tc>
                  <a:txBody>
                    <a:bodyPr/>
                    <a:lstStyle>
                      <a:lvl1pPr marL="0" algn="l" defTabSz="914400" rtl="0" eaLnBrk="1" latinLnBrk="0" hangingPunct="1">
                        <a:defRPr kumimoji="1" sz="1800" b="1" kern="1200">
                          <a:solidFill>
                            <a:schemeClr val="bg1"/>
                          </a:solidFill>
                          <a:latin typeface="Arial"/>
                          <a:ea typeface="HG丸ｺﾞｼｯｸM-PRO"/>
                        </a:defRPr>
                      </a:lvl1pPr>
                      <a:lvl2pPr marL="457200" algn="l" defTabSz="914400" rtl="0" eaLnBrk="1" latinLnBrk="0" hangingPunct="1">
                        <a:defRPr kumimoji="1" sz="1800" b="1" kern="1200">
                          <a:solidFill>
                            <a:schemeClr val="bg1"/>
                          </a:solidFill>
                          <a:latin typeface="Arial"/>
                          <a:ea typeface="HG丸ｺﾞｼｯｸM-PRO"/>
                        </a:defRPr>
                      </a:lvl2pPr>
                      <a:lvl3pPr marL="914400" algn="l" defTabSz="914400" rtl="0" eaLnBrk="1" latinLnBrk="0" hangingPunct="1">
                        <a:defRPr kumimoji="1" sz="1800" b="1" kern="1200">
                          <a:solidFill>
                            <a:schemeClr val="bg1"/>
                          </a:solidFill>
                          <a:latin typeface="Arial"/>
                          <a:ea typeface="HG丸ｺﾞｼｯｸM-PRO"/>
                        </a:defRPr>
                      </a:lvl3pPr>
                      <a:lvl4pPr marL="1371600" algn="l" defTabSz="914400" rtl="0" eaLnBrk="1" latinLnBrk="0" hangingPunct="1">
                        <a:defRPr kumimoji="1" sz="1800" b="1" kern="1200">
                          <a:solidFill>
                            <a:schemeClr val="bg1"/>
                          </a:solidFill>
                          <a:latin typeface="Arial"/>
                          <a:ea typeface="HG丸ｺﾞｼｯｸM-PRO"/>
                        </a:defRPr>
                      </a:lvl4pPr>
                      <a:lvl5pPr marL="1828800" algn="l" defTabSz="914400" rtl="0" eaLnBrk="1" latinLnBrk="0" hangingPunct="1">
                        <a:defRPr kumimoji="1" sz="1800" b="1" kern="1200">
                          <a:solidFill>
                            <a:schemeClr val="bg1"/>
                          </a:solidFill>
                          <a:latin typeface="Arial"/>
                          <a:ea typeface="HG丸ｺﾞｼｯｸM-PRO"/>
                        </a:defRPr>
                      </a:lvl5pPr>
                      <a:lvl6pPr marL="2286000" algn="l" defTabSz="914400" rtl="0" eaLnBrk="1" latinLnBrk="0" hangingPunct="1">
                        <a:defRPr kumimoji="1" sz="1800" b="1" kern="1200">
                          <a:solidFill>
                            <a:schemeClr val="bg1"/>
                          </a:solidFill>
                          <a:latin typeface="Arial"/>
                          <a:ea typeface="HG丸ｺﾞｼｯｸM-PRO"/>
                        </a:defRPr>
                      </a:lvl6pPr>
                      <a:lvl7pPr marL="2743200" algn="l" defTabSz="914400" rtl="0" eaLnBrk="1" latinLnBrk="0" hangingPunct="1">
                        <a:defRPr kumimoji="1" sz="1800" b="1" kern="1200">
                          <a:solidFill>
                            <a:schemeClr val="bg1"/>
                          </a:solidFill>
                          <a:latin typeface="Arial"/>
                          <a:ea typeface="HG丸ｺﾞｼｯｸM-PRO"/>
                        </a:defRPr>
                      </a:lvl7pPr>
                      <a:lvl8pPr marL="3200400" algn="l" defTabSz="914400" rtl="0" eaLnBrk="1" latinLnBrk="0" hangingPunct="1">
                        <a:defRPr kumimoji="1" sz="1800" b="1" kern="1200">
                          <a:solidFill>
                            <a:schemeClr val="bg1"/>
                          </a:solidFill>
                          <a:latin typeface="Arial"/>
                          <a:ea typeface="HG丸ｺﾞｼｯｸM-PRO"/>
                        </a:defRPr>
                      </a:lvl8pPr>
                      <a:lvl9pPr marL="3657600" algn="l" defTabSz="914400" rtl="0" eaLnBrk="1" latinLnBrk="0" hangingPunct="1">
                        <a:defRPr kumimoji="1" sz="1800" b="1" kern="1200">
                          <a:solidFill>
                            <a:schemeClr val="bg1"/>
                          </a:solidFill>
                          <a:latin typeface="Arial"/>
                          <a:ea typeface="HG丸ｺﾞｼｯｸM-PRO"/>
                        </a:defRPr>
                      </a:lvl9pPr>
                    </a:lstStyle>
                    <a:p>
                      <a:pPr algn="ctr"/>
                      <a:endParaRPr kumimoji="1" lang="ja-JP" altLang="en-US" sz="1600" b="1" i="0" kern="0" dirty="0">
                        <a:solidFill>
                          <a:schemeClr val="bg1"/>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a:txBody>
                    <a:bodyPr/>
                    <a:lstStyle>
                      <a:lvl1pPr marL="0" algn="l" defTabSz="914400" rtl="0" eaLnBrk="1" latinLnBrk="0" hangingPunct="1">
                        <a:defRPr kumimoji="1" sz="1800" b="1" kern="1200">
                          <a:solidFill>
                            <a:schemeClr val="bg1"/>
                          </a:solidFill>
                          <a:latin typeface="Arial"/>
                          <a:ea typeface="HG丸ｺﾞｼｯｸM-PRO"/>
                        </a:defRPr>
                      </a:lvl1pPr>
                      <a:lvl2pPr marL="457200" algn="l" defTabSz="914400" rtl="0" eaLnBrk="1" latinLnBrk="0" hangingPunct="1">
                        <a:defRPr kumimoji="1" sz="1800" b="1" kern="1200">
                          <a:solidFill>
                            <a:schemeClr val="bg1"/>
                          </a:solidFill>
                          <a:latin typeface="Arial"/>
                          <a:ea typeface="HG丸ｺﾞｼｯｸM-PRO"/>
                        </a:defRPr>
                      </a:lvl2pPr>
                      <a:lvl3pPr marL="914400" algn="l" defTabSz="914400" rtl="0" eaLnBrk="1" latinLnBrk="0" hangingPunct="1">
                        <a:defRPr kumimoji="1" sz="1800" b="1" kern="1200">
                          <a:solidFill>
                            <a:schemeClr val="bg1"/>
                          </a:solidFill>
                          <a:latin typeface="Arial"/>
                          <a:ea typeface="HG丸ｺﾞｼｯｸM-PRO"/>
                        </a:defRPr>
                      </a:lvl3pPr>
                      <a:lvl4pPr marL="1371600" algn="l" defTabSz="914400" rtl="0" eaLnBrk="1" latinLnBrk="0" hangingPunct="1">
                        <a:defRPr kumimoji="1" sz="1800" b="1" kern="1200">
                          <a:solidFill>
                            <a:schemeClr val="bg1"/>
                          </a:solidFill>
                          <a:latin typeface="Arial"/>
                          <a:ea typeface="HG丸ｺﾞｼｯｸM-PRO"/>
                        </a:defRPr>
                      </a:lvl4pPr>
                      <a:lvl5pPr marL="1828800" algn="l" defTabSz="914400" rtl="0" eaLnBrk="1" latinLnBrk="0" hangingPunct="1">
                        <a:defRPr kumimoji="1" sz="1800" b="1" kern="1200">
                          <a:solidFill>
                            <a:schemeClr val="bg1"/>
                          </a:solidFill>
                          <a:latin typeface="Arial"/>
                          <a:ea typeface="HG丸ｺﾞｼｯｸM-PRO"/>
                        </a:defRPr>
                      </a:lvl5pPr>
                      <a:lvl6pPr marL="2286000" algn="l" defTabSz="914400" rtl="0" eaLnBrk="1" latinLnBrk="0" hangingPunct="1">
                        <a:defRPr kumimoji="1" sz="1800" b="1" kern="1200">
                          <a:solidFill>
                            <a:schemeClr val="bg1"/>
                          </a:solidFill>
                          <a:latin typeface="Arial"/>
                          <a:ea typeface="HG丸ｺﾞｼｯｸM-PRO"/>
                        </a:defRPr>
                      </a:lvl6pPr>
                      <a:lvl7pPr marL="2743200" algn="l" defTabSz="914400" rtl="0" eaLnBrk="1" latinLnBrk="0" hangingPunct="1">
                        <a:defRPr kumimoji="1" sz="1800" b="1" kern="1200">
                          <a:solidFill>
                            <a:schemeClr val="bg1"/>
                          </a:solidFill>
                          <a:latin typeface="Arial"/>
                          <a:ea typeface="HG丸ｺﾞｼｯｸM-PRO"/>
                        </a:defRPr>
                      </a:lvl7pPr>
                      <a:lvl8pPr marL="3200400" algn="l" defTabSz="914400" rtl="0" eaLnBrk="1" latinLnBrk="0" hangingPunct="1">
                        <a:defRPr kumimoji="1" sz="1800" b="1" kern="1200">
                          <a:solidFill>
                            <a:schemeClr val="bg1"/>
                          </a:solidFill>
                          <a:latin typeface="Arial"/>
                          <a:ea typeface="HG丸ｺﾞｼｯｸM-PRO"/>
                        </a:defRPr>
                      </a:lvl8pPr>
                      <a:lvl9pPr marL="3657600" algn="l" defTabSz="914400" rtl="0" eaLnBrk="1" latinLnBrk="0" hangingPunct="1">
                        <a:defRPr kumimoji="1" sz="1800" b="1" kern="1200">
                          <a:solidFill>
                            <a:schemeClr val="bg1"/>
                          </a:solidFill>
                          <a:latin typeface="Arial"/>
                          <a:ea typeface="HG丸ｺﾞｼｯｸM-PRO"/>
                        </a:defRPr>
                      </a:lvl9pPr>
                    </a:lstStyle>
                    <a:p>
                      <a:pPr algn="ctr"/>
                      <a:r>
                        <a:rPr kumimoji="1" lang="ja-JP" altLang="en-US" sz="1600" b="1" i="0" kern="0" dirty="0">
                          <a:solidFill>
                            <a:schemeClr val="bg1"/>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エンジニア上流工程</a:t>
                      </a:r>
                    </a:p>
                  </a:txBody>
                  <a:tcPr marL="110642" marR="110642" marT="36000" marB="35778">
                    <a:lnL w="12700" cap="flat" cmpd="sng" algn="ctr">
                      <a:solidFill>
                        <a:srgbClr val="FFFFFF">
                          <a:lumMod val="65000"/>
                        </a:srgb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gridSpan="3">
                  <a:txBody>
                    <a:bodyPr/>
                    <a:lstStyle/>
                    <a:p>
                      <a:pPr algn="ctr"/>
                      <a:r>
                        <a:rPr kumimoji="1" lang="ja-JP" altLang="en-US" sz="1600" b="1" i="0" kern="0" noProof="0" dirty="0">
                          <a:solidFill>
                            <a:schemeClr val="bg1"/>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エンジニア下流工程</a:t>
                      </a:r>
                      <a:endParaRPr kumimoji="1" lang="ja-JP" altLang="en-US" sz="1600" b="1" i="0" kern="0" dirty="0">
                        <a:solidFill>
                          <a:schemeClr val="bg1"/>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110642" marR="110642" marT="36000" marB="35778">
                    <a:lnL w="12700" cap="flat" cmpd="sng" algn="ctr">
                      <a:solidFill>
                        <a:srgbClr val="FF0000"/>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hMerge="1">
                  <a:txBody>
                    <a:bodyPr/>
                    <a:lstStyle/>
                    <a:p>
                      <a:endParaRPr/>
                    </a:p>
                  </a:txBody>
                  <a:tcPr marL="110642" marR="110642"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7EBFE6"/>
                    </a:solidFill>
                  </a:tcPr>
                </a:tc>
                <a:tc hMerge="1">
                  <a:txBody>
                    <a:bodyPr/>
                    <a:lstStyle/>
                    <a:p>
                      <a:endPar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110642" marR="110642"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7EBFE6"/>
                    </a:solidFill>
                  </a:tcPr>
                </a:tc>
                <a:extLst>
                  <a:ext uri="{0D108BD9-81ED-4DB2-BD59-A6C34878D82A}">
                    <a16:rowId xmlns:a16="http://schemas.microsoft.com/office/drawing/2014/main" val="2204848530"/>
                  </a:ext>
                </a:extLst>
              </a:tr>
              <a:tr h="241034">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marR="0" lvl="0" indent="0" algn="ctr" defTabSz="514337" rtl="0" eaLnBrk="1" fontAlgn="auto" latinLnBrk="0" hangingPunct="1">
                        <a:lnSpc>
                          <a:spcPct val="100000"/>
                        </a:lnSpc>
                        <a:spcBef>
                          <a:spcPts val="0"/>
                        </a:spcBef>
                        <a:spcAft>
                          <a:spcPts val="0"/>
                        </a:spcAft>
                        <a:buClrTx/>
                        <a:buSzTx/>
                        <a:buFontTx/>
                        <a:buNone/>
                        <a:tabLst/>
                        <a:defRPr/>
                      </a:pPr>
                      <a:r>
                        <a:rPr kumimoji="1" lang="ja-JP" altLang="en-US"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採用チャネル</a:t>
                      </a: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ctr">
                        <a:buFont typeface="Arial" panose="020B0604020202020204" pitchFamily="34" charset="0"/>
                        <a:buNone/>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自組織内</a:t>
                      </a:r>
                      <a:b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（基シス・</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PM</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部・新経営）</a:t>
                      </a: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自組織内</a:t>
                      </a:r>
                      <a:b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（基シス・</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PM</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部）</a:t>
                      </a:r>
                    </a:p>
                  </a:txBody>
                  <a:tcPr marL="57621" marR="57621" marT="36000" marB="35778" anchor="ctr">
                    <a:lnL w="12700" cap="flat" cmpd="sng" algn="ctr">
                      <a:solidFill>
                        <a:srgbClr val="FF0000"/>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ctr">
                        <a:buFont typeface="Arial" panose="020B0604020202020204" pitchFamily="34" charset="0"/>
                        <a:buNone/>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社内公募</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ctr">
                        <a:buFont typeface="Arial" panose="020B0604020202020204" pitchFamily="34" charset="0"/>
                        <a:buNone/>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外部採用（中途）</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extLst>
                  <a:ext uri="{0D108BD9-81ED-4DB2-BD59-A6C34878D82A}">
                    <a16:rowId xmlns:a16="http://schemas.microsoft.com/office/drawing/2014/main" val="2230145552"/>
                  </a:ext>
                </a:extLst>
              </a:tr>
              <a:tr h="282255">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a:buFontTx/>
                        <a:buNone/>
                      </a:pPr>
                      <a:r>
                        <a:rPr kumimoji="1" lang="ja-JP" altLang="en-US"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獲得目的</a:t>
                      </a:r>
                      <a:endParaRPr kumimoji="1" lang="en-US" altLang="ja-JP"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a:buFont typeface="Arial" panose="020B0604020202020204" pitchFamily="34" charset="0"/>
                        <a:buChar char="•"/>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社内業務知見の活用</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Arial" panose="020B0604020202020204" pitchFamily="34" charset="0"/>
                        <a:buChar char="•"/>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部隊の早期立ち上げ</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FFFFFF">
                          <a:lumMod val="65000"/>
                        </a:srgb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177800" lvl="1" indent="-177800" algn="l">
                        <a:buFont typeface="Arial" panose="020B0604020202020204" pitchFamily="34" charset="0"/>
                        <a:buChar char="•"/>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部隊の早期立ち上げ</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FF0000"/>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gridSpan="2">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marR="0" lvl="1"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専門性の獲得</a:t>
                      </a:r>
                      <a:endParaRPr kumimoji="1" lang="en-US" altLang="ja-JP"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marR="0" lvl="1" indent="-1778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6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技術レベルの底上げ</a:t>
                      </a:r>
                    </a:p>
                  </a:txBody>
                  <a:tcPr marL="57621" marR="57621"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endParaRPr dirty="0"/>
                    </a:p>
                  </a:txBody>
                  <a:tcPr marL="57621" marR="57621"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49764776"/>
                  </a:ext>
                </a:extLst>
              </a:tr>
              <a:tr h="960583">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a:buFontTx/>
                        <a:buNone/>
                      </a:pPr>
                      <a:r>
                        <a:rPr kumimoji="1" lang="ja-JP" altLang="en-US"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スキルセット要件</a:t>
                      </a:r>
                      <a:endParaRPr kumimoji="1" lang="en-US" altLang="ja-JP"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a:buFont typeface="Arial" panose="020B0604020202020204" pitchFamily="34" charset="0"/>
                        <a:buChar char="•"/>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担当業務の深い知見</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Arial" panose="020B0604020202020204" pitchFamily="34" charset="0"/>
                        <a:buChar char="•"/>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IT</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コンサルティング経験</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Arial" panose="020B0604020202020204" pitchFamily="34" charset="0"/>
                        <a:buChar char="•"/>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既存システム理解</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Arial" panose="020B0604020202020204" pitchFamily="34" charset="0"/>
                        <a:buChar char="•"/>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社内調整・</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PJ</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推進力</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FFFFFF">
                          <a:lumMod val="65000"/>
                        </a:srgb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a:buFont typeface="Arial" panose="020B0604020202020204" pitchFamily="34" charset="0"/>
                        <a:buChar char="•"/>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高い学習意欲</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Arial" panose="020B0604020202020204" pitchFamily="34" charset="0"/>
                        <a:buChar char="•"/>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コミュニケーション力</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Arial" panose="020B0604020202020204" pitchFamily="34" charset="0"/>
                        <a:buChar char="•"/>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論理的思考と自走力</a:t>
                      </a:r>
                      <a:b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kumimoji="1" lang="en-US" altLang="ja-JP"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ja-JP" altLang="en-US"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開発経験不問だが素養は問う</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FF0000"/>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a:buFont typeface="Arial" panose="020B0604020202020204" pitchFamily="34" charset="0"/>
                        <a:buChar char="•"/>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コミュニケーション力</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Arial" panose="020B0604020202020204" pitchFamily="34" charset="0"/>
                        <a:buChar char="•"/>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開発経験者</a:t>
                      </a:r>
                      <a:b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kumimoji="1" lang="en-US" altLang="ja-JP"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ja-JP" altLang="en-US"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経験年数</a:t>
                      </a:r>
                      <a:r>
                        <a:rPr kumimoji="1" lang="en-US" altLang="ja-JP"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年以上（目安）</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a:buFont typeface="Arial" panose="020B0604020202020204" pitchFamily="34" charset="0"/>
                        <a:buChar char="•"/>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コミュニケーション力</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Arial" panose="020B0604020202020204" pitchFamily="34" charset="0"/>
                        <a:buChar char="•"/>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モダンな設計・開発経験者</a:t>
                      </a:r>
                      <a:b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kumimoji="1" lang="en-US" altLang="ja-JP"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ja-JP" altLang="en-US"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経験年数</a:t>
                      </a:r>
                      <a:r>
                        <a:rPr kumimoji="1" lang="en-US" altLang="ja-JP"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3</a:t>
                      </a:r>
                      <a:r>
                        <a:rPr kumimoji="1" lang="ja-JP" altLang="en-US"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年以上（目安）</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3675514"/>
                  </a:ext>
                </a:extLst>
              </a:tr>
              <a:tr h="801593">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ctr">
                        <a:buFontTx/>
                        <a:buNone/>
                      </a:pPr>
                      <a:r>
                        <a:rPr kumimoji="1" lang="ja-JP" altLang="en-US"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採用の進め方</a:t>
                      </a:r>
                      <a:endParaRPr kumimoji="1" lang="en-US" altLang="ja-JP"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a:buFont typeface="+mj-lt"/>
                        <a:buAutoNum type="arabicPeriod"/>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藤原さんによる選抜</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a:buFont typeface="+mj-lt"/>
                        <a:buAutoNum type="arabicPeriod"/>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ミッション・役割の合意</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FFFFFF">
                          <a:lumMod val="65000"/>
                        </a:srgb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defTabSz="914400" rtl="0" eaLnBrk="1" latinLnBrk="0" hangingPunct="1">
                        <a:buFont typeface="+mj-lt"/>
                        <a:buAutoNum type="arabicPeriod"/>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廣瀬さん・越智で選抜</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defTabSz="914400" rtl="0" eaLnBrk="1" latinLnBrk="0" hangingPunct="1">
                        <a:buFont typeface="+mj-lt"/>
                        <a:buAutoNum type="arabicPeriod"/>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各</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GM</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とミッションすり合わせおよび合意形成</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FF0000"/>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defTabSz="914400" rtl="0" eaLnBrk="1" latinLnBrk="0" hangingPunct="1">
                        <a:buFont typeface="+mj-lt"/>
                        <a:buAutoNum type="arabicPeriod"/>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募集要項の作成</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defTabSz="914400" rtl="0" eaLnBrk="1" latinLnBrk="0" hangingPunct="1">
                        <a:buFont typeface="+mj-lt"/>
                        <a:buAutoNum type="arabicPeriod"/>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p>
                  </a:txBody>
                  <a:tcPr marL="57621" marR="57621"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177800" lvl="1" indent="-177800" algn="l" defTabSz="914400" rtl="0" eaLnBrk="1" latinLnBrk="0" hangingPunct="1">
                        <a:buFont typeface="+mj-lt"/>
                        <a:buAutoNum type="arabicPeriod"/>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リファラル採用</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77800" lvl="1" indent="-177800" algn="l" defTabSz="914400" rtl="0" eaLnBrk="1" latinLnBrk="0" hangingPunct="1">
                        <a:buFont typeface="+mj-lt"/>
                        <a:buAutoNum type="arabicPeriod"/>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33310234"/>
                  </a:ext>
                </a:extLst>
              </a:tr>
              <a:tr h="405123">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ja-JP" altLang="en-US"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必要人数</a:t>
                      </a:r>
                      <a:endParaRPr kumimoji="1" lang="en-US" altLang="ja-JP"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10</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FF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8</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0" lvl="1" indent="0" algn="l">
                        <a:buFontTx/>
                        <a:buNone/>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候補者（</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7</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名）</a:t>
                      </a:r>
                      <a:b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b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 </a:t>
                      </a:r>
                      <a:r>
                        <a:rPr kumimoji="1" lang="ja-JP" altLang="en-US"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確定：蕪木</a:t>
                      </a:r>
                      <a:r>
                        <a:rPr kumimoji="1" lang="en-US" altLang="ja-JP"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ja-JP" altLang="en-US"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水上</a:t>
                      </a:r>
                      <a:r>
                        <a:rPr kumimoji="1" lang="en-US" altLang="ja-JP"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ja-JP" altLang="en-US"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マンスリ</a:t>
                      </a:r>
                      <a:endParaRPr kumimoji="1" lang="en-US" altLang="ja-JP"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0" lvl="1" indent="0" algn="l">
                        <a:buFontTx/>
                        <a:buNone/>
                      </a:pPr>
                      <a:r>
                        <a:rPr kumimoji="1" lang="ja-JP" altLang="en-US"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 未確定：長嶺</a:t>
                      </a:r>
                      <a:r>
                        <a:rPr kumimoji="1" lang="en-US" altLang="ja-JP"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ja-JP" altLang="en-US"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黒澤</a:t>
                      </a:r>
                      <a:r>
                        <a:rPr kumimoji="1" lang="en-US" altLang="ja-JP"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ja-JP" altLang="en-US"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越野</a:t>
                      </a:r>
                      <a:r>
                        <a:rPr kumimoji="1" lang="en-US" altLang="ja-JP"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ja-JP" altLang="en-US"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島</a:t>
                      </a:r>
                      <a:endParaRPr kumimoji="1" lang="en-US" altLang="ja-JP" sz="12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0000"/>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3</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5</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3</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7621" marR="57621" marT="36000" marB="35778" anchor="ctr">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50052531"/>
                  </a:ext>
                </a:extLst>
              </a:tr>
            </a:tbl>
          </a:graphicData>
        </a:graphic>
      </p:graphicFrame>
    </p:spTree>
    <p:extLst>
      <p:ext uri="{BB962C8B-B14F-4D97-AF65-F5344CB8AC3E}">
        <p14:creationId xmlns:p14="http://schemas.microsoft.com/office/powerpoint/2010/main" val="1416618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B5375-7B88-6A03-88A7-CE00292D9029}"/>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944EE6DF-EDBB-D497-0FF3-57D108C11084}"/>
              </a:ext>
            </a:extLst>
          </p:cNvPr>
          <p:cNvSpPr>
            <a:spLocks noGrp="1"/>
          </p:cNvSpPr>
          <p:nvPr>
            <p:ph type="title"/>
          </p:nvPr>
        </p:nvSpPr>
        <p:spPr/>
        <p:txBody>
          <a:bodyPr/>
          <a:lstStyle/>
          <a:p>
            <a:r>
              <a:rPr lang="ja-JP" altLang="en-US" dirty="0"/>
              <a:t>エグゼクティブサマリー</a:t>
            </a:r>
            <a:endParaRPr kumimoji="1" lang="ja-JP" altLang="en-US" dirty="0"/>
          </a:p>
        </p:txBody>
      </p:sp>
      <p:sp>
        <p:nvSpPr>
          <p:cNvPr id="4" name="スライド番号プレースホルダー 3">
            <a:extLst>
              <a:ext uri="{FF2B5EF4-FFF2-40B4-BE49-F238E27FC236}">
                <a16:creationId xmlns:a16="http://schemas.microsoft.com/office/drawing/2014/main" id="{FE10372F-3579-A6D5-E8E6-F64852F87BE8}"/>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14</a:t>
            </a:fld>
            <a:endParaRPr lang="en-US" altLang="ja-JP"/>
          </a:p>
        </p:txBody>
      </p:sp>
      <p:sp>
        <p:nvSpPr>
          <p:cNvPr id="2" name="コンテンツ プレースホルダー 5">
            <a:extLst>
              <a:ext uri="{FF2B5EF4-FFF2-40B4-BE49-F238E27FC236}">
                <a16:creationId xmlns:a16="http://schemas.microsoft.com/office/drawing/2014/main" id="{8ADB880C-65F6-6FAE-D607-18F478C8E926}"/>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本企画書は、経理業務を中心とした</a:t>
            </a:r>
            <a:r>
              <a:rPr lang="en-US" altLang="ja-JP" sz="1600" kern="0" dirty="0"/>
              <a:t>AI</a:t>
            </a:r>
            <a:r>
              <a:rPr lang="ja-JP" altLang="en-US" sz="1600" kern="0" dirty="0"/>
              <a:t>エージェントによる生産性向上を目的とし、</a:t>
            </a:r>
            <a:br>
              <a:rPr lang="en-US" altLang="ja-JP" sz="1600" kern="0" dirty="0"/>
            </a:br>
            <a:r>
              <a:rPr lang="ja-JP" altLang="en-US" sz="1600" kern="0" dirty="0"/>
              <a:t>上記の内製化部隊を設立をするための計画を提案するためのものです。</a:t>
            </a:r>
            <a:endParaRPr lang="en-US" altLang="ja-JP" sz="1600" kern="0" dirty="0"/>
          </a:p>
          <a:p>
            <a:pPr marL="285750" indent="-285750">
              <a:buFont typeface="Arial" panose="020B0604020202020204" pitchFamily="34" charset="0"/>
              <a:buChar char="•"/>
            </a:pPr>
            <a:r>
              <a:rPr lang="en-US" altLang="ja-JP" sz="1600" kern="0" dirty="0"/>
              <a:t>AI</a:t>
            </a:r>
            <a:r>
              <a:rPr lang="ja-JP" altLang="en-US" sz="1600" kern="0" dirty="0"/>
              <a:t>エージェントの自動化ツール</a:t>
            </a:r>
            <a:r>
              <a:rPr lang="en-US" altLang="ja-JP" sz="1600" kern="0" dirty="0"/>
              <a:t>”n8n”</a:t>
            </a:r>
            <a:r>
              <a:rPr lang="ja-JP" altLang="en-US" sz="1600" kern="0" dirty="0"/>
              <a:t>の技術を基礎に、今後</a:t>
            </a:r>
            <a:r>
              <a:rPr lang="en-US" altLang="ja-JP" sz="1600" b="1" kern="0" dirty="0"/>
              <a:t>2</a:t>
            </a:r>
            <a:r>
              <a:rPr lang="ja-JP" altLang="en-US" sz="1600" b="1" kern="0" dirty="0"/>
              <a:t>年間で</a:t>
            </a:r>
            <a:r>
              <a:rPr lang="en-US" altLang="ja-JP" sz="1600" b="1" kern="0" dirty="0"/>
              <a:t>300</a:t>
            </a:r>
            <a:r>
              <a:rPr lang="ja-JP" altLang="en-US" sz="1600" b="1" kern="0" dirty="0"/>
              <a:t>業務以上</a:t>
            </a:r>
            <a:r>
              <a:rPr lang="ja-JP" altLang="en-US" sz="1600" kern="0" dirty="0"/>
              <a:t>の自動化を目指します。</a:t>
            </a:r>
            <a:endParaRPr lang="en-US" altLang="ja-JP" sz="1600" kern="0" dirty="0"/>
          </a:p>
          <a:p>
            <a:pPr marL="285750" indent="-285750">
              <a:buFont typeface="Arial" panose="020B0604020202020204" pitchFamily="34" charset="0"/>
              <a:buChar char="•"/>
            </a:pPr>
            <a:r>
              <a:rPr lang="ja-JP" altLang="en-US" sz="1600" kern="0" dirty="0"/>
              <a:t>本プロジェクトにより</a:t>
            </a:r>
            <a:r>
              <a:rPr lang="ja-JP" altLang="en-US" sz="1600" b="1" kern="0" dirty="0"/>
              <a:t>、年間</a:t>
            </a:r>
            <a:r>
              <a:rPr lang="en-US" altLang="ja-JP" sz="1600" b="1" kern="0" dirty="0"/>
              <a:t>XX</a:t>
            </a:r>
            <a:r>
              <a:rPr lang="ja-JP" altLang="en-US" sz="1600" b="1" kern="0" dirty="0"/>
              <a:t>時間</a:t>
            </a:r>
            <a:r>
              <a:rPr lang="ja-JP" altLang="en-US" sz="1600" kern="0" dirty="0"/>
              <a:t>の業務削減と</a:t>
            </a:r>
            <a:r>
              <a:rPr lang="en-US" altLang="ja-JP" sz="1600" b="1" kern="0" dirty="0"/>
              <a:t>XX</a:t>
            </a:r>
            <a:r>
              <a:rPr lang="ja-JP" altLang="en-US" sz="1600" b="1" kern="0" dirty="0"/>
              <a:t>円</a:t>
            </a:r>
            <a:r>
              <a:rPr lang="ja-JP" altLang="en-US" sz="1600" kern="0" dirty="0"/>
              <a:t>のコスト削減を見込んでおり、</a:t>
            </a:r>
            <a:br>
              <a:rPr lang="en-US" altLang="ja-JP" sz="1600" kern="0" dirty="0"/>
            </a:br>
            <a:r>
              <a:rPr lang="ja-JP" altLang="en-US" sz="1600" kern="0" dirty="0"/>
              <a:t>その実現に向けた具体的な推進体制、ロードマップ、投資計画を詳述します。</a:t>
            </a:r>
            <a:endParaRPr lang="en-US" altLang="ja-JP" sz="1600" kern="0" dirty="0"/>
          </a:p>
        </p:txBody>
      </p:sp>
    </p:spTree>
    <p:extLst>
      <p:ext uri="{BB962C8B-B14F-4D97-AF65-F5344CB8AC3E}">
        <p14:creationId xmlns:p14="http://schemas.microsoft.com/office/powerpoint/2010/main" val="8737710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65F09-63F1-B154-BC3F-988BFA8B6300}"/>
            </a:ext>
          </a:extLst>
        </p:cNvPr>
        <p:cNvGrpSpPr/>
        <p:nvPr/>
      </p:nvGrpSpPr>
      <p:grpSpPr>
        <a:xfrm>
          <a:off x="0" y="0"/>
          <a:ext cx="0" cy="0"/>
          <a:chOff x="0" y="0"/>
          <a:chExt cx="0" cy="0"/>
        </a:xfrm>
      </p:grpSpPr>
      <p:grpSp>
        <p:nvGrpSpPr>
          <p:cNvPr id="127" name="グループ化 126">
            <a:extLst>
              <a:ext uri="{FF2B5EF4-FFF2-40B4-BE49-F238E27FC236}">
                <a16:creationId xmlns:a16="http://schemas.microsoft.com/office/drawing/2014/main" id="{AC6F5B5C-7760-2C4A-17B8-22CEC4091FEC}"/>
              </a:ext>
            </a:extLst>
          </p:cNvPr>
          <p:cNvGrpSpPr/>
          <p:nvPr/>
        </p:nvGrpSpPr>
        <p:grpSpPr>
          <a:xfrm>
            <a:off x="6295358" y="4536663"/>
            <a:ext cx="4782884" cy="1862167"/>
            <a:chOff x="226714" y="1691581"/>
            <a:chExt cx="11584938" cy="4510477"/>
          </a:xfrm>
        </p:grpSpPr>
        <p:sp>
          <p:nvSpPr>
            <p:cNvPr id="128" name="正方形/長方形 127">
              <a:extLst>
                <a:ext uri="{FF2B5EF4-FFF2-40B4-BE49-F238E27FC236}">
                  <a16:creationId xmlns:a16="http://schemas.microsoft.com/office/drawing/2014/main" id="{0791FC45-AB9C-F81D-6D62-D9EE1FF2D2AD}"/>
                </a:ext>
              </a:extLst>
            </p:cNvPr>
            <p:cNvSpPr/>
            <p:nvPr/>
          </p:nvSpPr>
          <p:spPr>
            <a:xfrm>
              <a:off x="4320074" y="2846787"/>
              <a:ext cx="1302840" cy="316102"/>
            </a:xfrm>
            <a:prstGeom prst="rect">
              <a:avLst/>
            </a:prstGeom>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defTabSz="584200" rtl="0" fontAlgn="auto" latinLnBrk="1" hangingPunct="0">
                <a:lnSpc>
                  <a:spcPct val="100000"/>
                </a:lnSpc>
                <a:spcBef>
                  <a:spcPts val="0"/>
                </a:spcBef>
                <a:spcAft>
                  <a:spcPts val="0"/>
                </a:spcAft>
                <a:buClrTx/>
                <a:buSzTx/>
                <a:buFontTx/>
                <a:buNone/>
                <a:tabLst/>
              </a:pPr>
              <a:r>
                <a:rPr kumimoji="0" lang="ja-JP" altLang="en-US" sz="5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システム管理者向け</a:t>
              </a:r>
              <a:endParaRPr kumimoji="0" lang="en-US" altLang="ja-JP" sz="5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defTabSz="584200" rtl="0" fontAlgn="auto" latinLnBrk="1" hangingPunct="0">
                <a:lnSpc>
                  <a:spcPct val="100000"/>
                </a:lnSpc>
                <a:spcBef>
                  <a:spcPts val="0"/>
                </a:spcBef>
                <a:spcAft>
                  <a:spcPts val="0"/>
                </a:spcAft>
                <a:buClrTx/>
                <a:buSzTx/>
                <a:buFontTx/>
                <a:buNone/>
                <a:tabLst/>
              </a:pPr>
              <a:r>
                <a:rPr kumimoji="0" lang="ja-JP" altLang="en-US"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の管理データ</a:t>
              </a:r>
              <a:endParaRPr kumimoji="0" lang="ja-JP" altLang="en-US" sz="5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29" name="四角形: 角を丸くする 128">
              <a:extLst>
                <a:ext uri="{FF2B5EF4-FFF2-40B4-BE49-F238E27FC236}">
                  <a16:creationId xmlns:a16="http://schemas.microsoft.com/office/drawing/2014/main" id="{4761C0A3-EA89-65F9-9C0B-1FB1FF3EECCB}"/>
                </a:ext>
              </a:extLst>
            </p:cNvPr>
            <p:cNvSpPr/>
            <p:nvPr/>
          </p:nvSpPr>
          <p:spPr>
            <a:xfrm>
              <a:off x="226714" y="1691582"/>
              <a:ext cx="5462520" cy="4510476"/>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600" b="1" dirty="0">
                  <a:solidFill>
                    <a:schemeClr val="accent4">
                      <a:lumMod val="65000"/>
                      <a:lumOff val="35000"/>
                    </a:schemeClr>
                  </a:solidFill>
                  <a:latin typeface="Meiryo UI" panose="020B0604030504040204" pitchFamily="50" charset="-128"/>
                  <a:ea typeface="Meiryo UI" panose="020B0604030504040204" pitchFamily="50" charset="-128"/>
                </a:rPr>
                <a:t>データ基盤</a:t>
              </a:r>
              <a:r>
                <a:rPr kumimoji="1" lang="ja-JP" altLang="en-US" sz="600" b="1" dirty="0">
                  <a:solidFill>
                    <a:schemeClr val="accent4">
                      <a:lumMod val="65000"/>
                      <a:lumOff val="35000"/>
                    </a:schemeClr>
                  </a:solidFill>
                  <a:latin typeface="Meiryo UI" panose="020B0604030504040204" pitchFamily="50" charset="-128"/>
                  <a:ea typeface="Meiryo UI" panose="020B0604030504040204" pitchFamily="50" charset="-128"/>
                </a:rPr>
                <a:t>層</a:t>
              </a:r>
              <a:r>
                <a:rPr lang="ja-JP" altLang="en-US" sz="600" b="1" dirty="0">
                  <a:solidFill>
                    <a:schemeClr val="accent4">
                      <a:lumMod val="65000"/>
                      <a:lumOff val="35000"/>
                    </a:schemeClr>
                  </a:solidFill>
                  <a:latin typeface="Meiryo UI" panose="020B0604030504040204" pitchFamily="50" charset="-128"/>
                  <a:ea typeface="Meiryo UI" panose="020B0604030504040204" pitchFamily="50" charset="-128"/>
                </a:rPr>
                <a:t>（</a:t>
              </a:r>
              <a:r>
                <a:rPr lang="en-US" altLang="ja-JP" sz="600" b="1" dirty="0">
                  <a:solidFill>
                    <a:schemeClr val="accent4">
                      <a:lumMod val="65000"/>
                      <a:lumOff val="35000"/>
                    </a:schemeClr>
                  </a:solidFill>
                  <a:latin typeface="Meiryo UI" panose="020B0604030504040204" pitchFamily="50" charset="-128"/>
                  <a:ea typeface="Meiryo UI" panose="020B0604030504040204" pitchFamily="50" charset="-128"/>
                </a:rPr>
                <a:t>Azure</a:t>
              </a:r>
              <a:r>
                <a:rPr lang="ja-JP" altLang="en-US" sz="600" b="1" dirty="0">
                  <a:solidFill>
                    <a:schemeClr val="accent4">
                      <a:lumMod val="65000"/>
                      <a:lumOff val="35000"/>
                    </a:schemeClr>
                  </a:solidFill>
                  <a:latin typeface="Meiryo UI" panose="020B0604030504040204" pitchFamily="50" charset="-128"/>
                  <a:ea typeface="Meiryo UI" panose="020B0604030504040204" pitchFamily="50" charset="-128"/>
                </a:rPr>
                <a:t>）</a:t>
              </a:r>
              <a:endParaRPr kumimoji="1" lang="ja-JP" altLang="en-US" sz="6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grpSp>
          <p:nvGrpSpPr>
            <p:cNvPr id="130" name="グループ化 129">
              <a:extLst>
                <a:ext uri="{FF2B5EF4-FFF2-40B4-BE49-F238E27FC236}">
                  <a16:creationId xmlns:a16="http://schemas.microsoft.com/office/drawing/2014/main" id="{095D8722-520B-B011-A629-EC0A0344CBF9}"/>
                </a:ext>
              </a:extLst>
            </p:cNvPr>
            <p:cNvGrpSpPr/>
            <p:nvPr/>
          </p:nvGrpSpPr>
          <p:grpSpPr>
            <a:xfrm>
              <a:off x="705908" y="2309577"/>
              <a:ext cx="2971366" cy="1395244"/>
              <a:chOff x="606570" y="2709627"/>
              <a:chExt cx="2971366" cy="1395244"/>
            </a:xfrm>
          </p:grpSpPr>
          <p:sp>
            <p:nvSpPr>
              <p:cNvPr id="146" name="フローチャート: 磁気ディスク 145">
                <a:extLst>
                  <a:ext uri="{FF2B5EF4-FFF2-40B4-BE49-F238E27FC236}">
                    <a16:creationId xmlns:a16="http://schemas.microsoft.com/office/drawing/2014/main" id="{45C087E1-EE25-5161-56BE-A465D15667E2}"/>
                  </a:ext>
                </a:extLst>
              </p:cNvPr>
              <p:cNvSpPr/>
              <p:nvPr/>
            </p:nvSpPr>
            <p:spPr bwMode="auto">
              <a:xfrm>
                <a:off x="1635053" y="2709627"/>
                <a:ext cx="914400" cy="506321"/>
              </a:xfrm>
              <a:prstGeom prst="flowChartMagneticDisk">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r>
                  <a:rPr kumimoji="0" lang="en-US" altLang="ja-JP" sz="500" dirty="0">
                    <a:solidFill>
                      <a:schemeClr val="accent4">
                        <a:lumMod val="65000"/>
                        <a:lumOff val="35000"/>
                      </a:schemeClr>
                    </a:solidFill>
                    <a:latin typeface="Meiryo UI" panose="020B0604030504040204" pitchFamily="50" charset="-128"/>
                    <a:ea typeface="Meiryo UI" panose="020B0604030504040204" pitchFamily="50" charset="-128"/>
                  </a:rPr>
                  <a:t>n8n</a:t>
                </a:r>
                <a:r>
                  <a:rPr kumimoji="0" lang="ja-JP" altLang="en-US" sz="500" dirty="0">
                    <a:solidFill>
                      <a:schemeClr val="accent4">
                        <a:lumMod val="65000"/>
                        <a:lumOff val="35000"/>
                      </a:schemeClr>
                    </a:solidFill>
                    <a:latin typeface="Meiryo UI" panose="020B0604030504040204" pitchFamily="50" charset="-128"/>
                    <a:ea typeface="Meiryo UI" panose="020B0604030504040204" pitchFamily="50" charset="-128"/>
                  </a:rPr>
                  <a:t>専用</a:t>
                </a:r>
              </a:p>
            </p:txBody>
          </p:sp>
          <p:cxnSp>
            <p:nvCxnSpPr>
              <p:cNvPr id="147" name="コネクタ: カギ線 146">
                <a:extLst>
                  <a:ext uri="{FF2B5EF4-FFF2-40B4-BE49-F238E27FC236}">
                    <a16:creationId xmlns:a16="http://schemas.microsoft.com/office/drawing/2014/main" id="{DFA64D8A-825F-902F-F3AC-4BD61E7F8B8F}"/>
                  </a:ext>
                </a:extLst>
              </p:cNvPr>
              <p:cNvCxnSpPr>
                <a:cxnSpLocks/>
                <a:stCxn id="146" idx="3"/>
                <a:endCxn id="151" idx="0"/>
              </p:cNvCxnSpPr>
              <p:nvPr/>
            </p:nvCxnSpPr>
            <p:spPr>
              <a:xfrm rot="5400000">
                <a:off x="1291602" y="2988117"/>
                <a:ext cx="572821" cy="1028483"/>
              </a:xfrm>
              <a:prstGeom prst="bentConnector3">
                <a:avLst>
                  <a:gd name="adj1" fmla="val 50000"/>
                </a:avLst>
              </a:prstGeom>
              <a:noFill/>
              <a:ln w="6350">
                <a:solidFill>
                  <a:schemeClr val="bg1">
                    <a:lumMod val="50000"/>
                  </a:schemeClr>
                </a:solidFill>
                <a:prstDash val="solid"/>
                <a:headEnd type="none"/>
              </a:ln>
            </p:spPr>
            <p:style>
              <a:lnRef idx="2">
                <a:schemeClr val="accent1">
                  <a:shade val="50000"/>
                </a:schemeClr>
              </a:lnRef>
              <a:fillRef idx="1">
                <a:schemeClr val="accent1"/>
              </a:fillRef>
              <a:effectRef idx="0">
                <a:schemeClr val="accent1"/>
              </a:effectRef>
              <a:fontRef idx="minor">
                <a:schemeClr val="lt1"/>
              </a:fontRef>
            </p:style>
          </p:cxnSp>
          <p:grpSp>
            <p:nvGrpSpPr>
              <p:cNvPr id="148" name="グループ化 147">
                <a:extLst>
                  <a:ext uri="{FF2B5EF4-FFF2-40B4-BE49-F238E27FC236}">
                    <a16:creationId xmlns:a16="http://schemas.microsoft.com/office/drawing/2014/main" id="{A041F37A-A491-C18C-131A-9E092B6C00B7}"/>
                  </a:ext>
                </a:extLst>
              </p:cNvPr>
              <p:cNvGrpSpPr/>
              <p:nvPr/>
            </p:nvGrpSpPr>
            <p:grpSpPr>
              <a:xfrm>
                <a:off x="606570" y="3788769"/>
                <a:ext cx="2971366" cy="316102"/>
                <a:chOff x="606570" y="3788769"/>
                <a:chExt cx="2971366" cy="316102"/>
              </a:xfrm>
            </p:grpSpPr>
            <p:sp>
              <p:nvSpPr>
                <p:cNvPr id="151" name="正方形/長方形 150">
                  <a:extLst>
                    <a:ext uri="{FF2B5EF4-FFF2-40B4-BE49-F238E27FC236}">
                      <a16:creationId xmlns:a16="http://schemas.microsoft.com/office/drawing/2014/main" id="{FE93F715-9747-A48E-0A87-563DC2A9847B}"/>
                    </a:ext>
                  </a:extLst>
                </p:cNvPr>
                <p:cNvSpPr/>
                <p:nvPr/>
              </p:nvSpPr>
              <p:spPr>
                <a:xfrm>
                  <a:off x="606570" y="3788769"/>
                  <a:ext cx="914400"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稼働</a:t>
                  </a:r>
                  <a:endParaRPr kumimoji="0" lang="ja-JP" altLang="en-US" sz="5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52" name="正方形/長方形 151">
                  <a:extLst>
                    <a:ext uri="{FF2B5EF4-FFF2-40B4-BE49-F238E27FC236}">
                      <a16:creationId xmlns:a16="http://schemas.microsoft.com/office/drawing/2014/main" id="{5EFFF245-B6C5-1AE0-E5A7-9A2FD162F8D5}"/>
                    </a:ext>
                  </a:extLst>
                </p:cNvPr>
                <p:cNvSpPr/>
                <p:nvPr/>
              </p:nvSpPr>
              <p:spPr>
                <a:xfrm>
                  <a:off x="1635053" y="3788769"/>
                  <a:ext cx="914400"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ログ</a:t>
                  </a:r>
                  <a:endParaRPr kumimoji="0" lang="ja-JP" altLang="en-US" sz="5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53" name="正方形/長方形 152">
                  <a:extLst>
                    <a:ext uri="{FF2B5EF4-FFF2-40B4-BE49-F238E27FC236}">
                      <a16:creationId xmlns:a16="http://schemas.microsoft.com/office/drawing/2014/main" id="{76B26683-31FA-E8FB-F578-B58D60F0B72A}"/>
                    </a:ext>
                  </a:extLst>
                </p:cNvPr>
                <p:cNvSpPr/>
                <p:nvPr/>
              </p:nvSpPr>
              <p:spPr>
                <a:xfrm>
                  <a:off x="2663536" y="3788769"/>
                  <a:ext cx="914400"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endParaRPr kumimoji="0" lang="ja-JP" altLang="en-US" sz="5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cxnSp>
            <p:nvCxnSpPr>
              <p:cNvPr id="149" name="コネクタ: カギ線 148">
                <a:extLst>
                  <a:ext uri="{FF2B5EF4-FFF2-40B4-BE49-F238E27FC236}">
                    <a16:creationId xmlns:a16="http://schemas.microsoft.com/office/drawing/2014/main" id="{4D00BF47-075F-4196-B986-2A5E03295CFE}"/>
                  </a:ext>
                </a:extLst>
              </p:cNvPr>
              <p:cNvCxnSpPr>
                <a:cxnSpLocks/>
                <a:stCxn id="146" idx="3"/>
                <a:endCxn id="153" idx="0"/>
              </p:cNvCxnSpPr>
              <p:nvPr/>
            </p:nvCxnSpPr>
            <p:spPr>
              <a:xfrm rot="16200000" flipH="1">
                <a:off x="2320084" y="2988116"/>
                <a:ext cx="572821" cy="1028483"/>
              </a:xfrm>
              <a:prstGeom prst="bentConnector3">
                <a:avLst>
                  <a:gd name="adj1" fmla="val 50000"/>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cxnSp>
          <p:cxnSp>
            <p:nvCxnSpPr>
              <p:cNvPr id="150" name="コネクタ: カギ線 44">
                <a:extLst>
                  <a:ext uri="{FF2B5EF4-FFF2-40B4-BE49-F238E27FC236}">
                    <a16:creationId xmlns:a16="http://schemas.microsoft.com/office/drawing/2014/main" id="{B4D7D880-C3CD-359E-3389-6EBC91419DB8}"/>
                  </a:ext>
                </a:extLst>
              </p:cNvPr>
              <p:cNvCxnSpPr>
                <a:cxnSpLocks/>
                <a:stCxn id="146" idx="3"/>
                <a:endCxn id="152" idx="0"/>
              </p:cNvCxnSpPr>
              <p:nvPr/>
            </p:nvCxnSpPr>
            <p:spPr>
              <a:xfrm>
                <a:off x="2092253" y="3215948"/>
                <a:ext cx="0" cy="572821"/>
              </a:xfrm>
              <a:prstGeom prst="straightConnector1">
                <a:avLst/>
              </a:prstGeom>
              <a:noFill/>
              <a:ln w="6350">
                <a:solidFill>
                  <a:schemeClr val="bg1">
                    <a:lumMod val="50000"/>
                  </a:schemeClr>
                </a:solidFill>
                <a:prstDash val="solid"/>
                <a:headEnd type="none"/>
              </a:ln>
            </p:spPr>
            <p:style>
              <a:lnRef idx="2">
                <a:schemeClr val="accent1">
                  <a:shade val="50000"/>
                </a:schemeClr>
              </a:lnRef>
              <a:fillRef idx="1">
                <a:schemeClr val="accent1"/>
              </a:fillRef>
              <a:effectRef idx="0">
                <a:schemeClr val="accent1"/>
              </a:effectRef>
              <a:fontRef idx="minor">
                <a:schemeClr val="lt1"/>
              </a:fontRef>
            </p:style>
          </p:cxnSp>
        </p:grpSp>
        <p:grpSp>
          <p:nvGrpSpPr>
            <p:cNvPr id="131" name="グループ化 130">
              <a:extLst>
                <a:ext uri="{FF2B5EF4-FFF2-40B4-BE49-F238E27FC236}">
                  <a16:creationId xmlns:a16="http://schemas.microsoft.com/office/drawing/2014/main" id="{33424944-94A3-45CB-EF1B-26903DED6457}"/>
                </a:ext>
              </a:extLst>
            </p:cNvPr>
            <p:cNvGrpSpPr/>
            <p:nvPr/>
          </p:nvGrpSpPr>
          <p:grpSpPr>
            <a:xfrm>
              <a:off x="705908" y="4220539"/>
              <a:ext cx="2971366" cy="1395244"/>
              <a:chOff x="606570" y="2709627"/>
              <a:chExt cx="2971366" cy="1395244"/>
            </a:xfrm>
          </p:grpSpPr>
          <p:sp>
            <p:nvSpPr>
              <p:cNvPr id="138" name="フローチャート: 磁気ディスク 137">
                <a:extLst>
                  <a:ext uri="{FF2B5EF4-FFF2-40B4-BE49-F238E27FC236}">
                    <a16:creationId xmlns:a16="http://schemas.microsoft.com/office/drawing/2014/main" id="{0210E74A-C041-7B1F-C9CC-78EF3A0CEAAE}"/>
                  </a:ext>
                </a:extLst>
              </p:cNvPr>
              <p:cNvSpPr/>
              <p:nvPr/>
            </p:nvSpPr>
            <p:spPr bwMode="auto">
              <a:xfrm>
                <a:off x="1635053" y="2709627"/>
                <a:ext cx="914400" cy="506321"/>
              </a:xfrm>
              <a:prstGeom prst="flowChartMagneticDisk">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r>
                  <a:rPr kumimoji="0" lang="ja-JP" altLang="en-US" sz="500" dirty="0">
                    <a:solidFill>
                      <a:schemeClr val="accent4">
                        <a:lumMod val="65000"/>
                        <a:lumOff val="35000"/>
                      </a:schemeClr>
                    </a:solidFill>
                    <a:latin typeface="Meiryo UI" panose="020B0604030504040204" pitchFamily="50" charset="-128"/>
                    <a:ea typeface="Meiryo UI" panose="020B0604030504040204" pitchFamily="50" charset="-128"/>
                  </a:rPr>
                  <a:t>案件固有</a:t>
                </a:r>
              </a:p>
            </p:txBody>
          </p:sp>
          <p:cxnSp>
            <p:nvCxnSpPr>
              <p:cNvPr id="139" name="コネクタ: カギ線 138">
                <a:extLst>
                  <a:ext uri="{FF2B5EF4-FFF2-40B4-BE49-F238E27FC236}">
                    <a16:creationId xmlns:a16="http://schemas.microsoft.com/office/drawing/2014/main" id="{B73982C4-6255-CEB0-9C8D-3CE1568D1B72}"/>
                  </a:ext>
                </a:extLst>
              </p:cNvPr>
              <p:cNvCxnSpPr>
                <a:cxnSpLocks/>
                <a:stCxn id="138" idx="3"/>
                <a:endCxn id="143" idx="0"/>
              </p:cNvCxnSpPr>
              <p:nvPr/>
            </p:nvCxnSpPr>
            <p:spPr>
              <a:xfrm rot="5400000">
                <a:off x="1291602" y="2988117"/>
                <a:ext cx="572821" cy="1028483"/>
              </a:xfrm>
              <a:prstGeom prst="bentConnector3">
                <a:avLst>
                  <a:gd name="adj1" fmla="val 50000"/>
                </a:avLst>
              </a:prstGeom>
              <a:noFill/>
              <a:ln w="6350">
                <a:solidFill>
                  <a:schemeClr val="bg1">
                    <a:lumMod val="50000"/>
                  </a:schemeClr>
                </a:solidFill>
                <a:prstDash val="solid"/>
                <a:headEnd type="none"/>
              </a:ln>
            </p:spPr>
            <p:style>
              <a:lnRef idx="2">
                <a:schemeClr val="accent1">
                  <a:shade val="50000"/>
                </a:schemeClr>
              </a:lnRef>
              <a:fillRef idx="1">
                <a:schemeClr val="accent1"/>
              </a:fillRef>
              <a:effectRef idx="0">
                <a:schemeClr val="accent1"/>
              </a:effectRef>
              <a:fontRef idx="minor">
                <a:schemeClr val="lt1"/>
              </a:fontRef>
            </p:style>
          </p:cxnSp>
          <p:grpSp>
            <p:nvGrpSpPr>
              <p:cNvPr id="140" name="グループ化 139">
                <a:extLst>
                  <a:ext uri="{FF2B5EF4-FFF2-40B4-BE49-F238E27FC236}">
                    <a16:creationId xmlns:a16="http://schemas.microsoft.com/office/drawing/2014/main" id="{E53DB858-97DB-E5E5-1A3E-F4C5401D2494}"/>
                  </a:ext>
                </a:extLst>
              </p:cNvPr>
              <p:cNvGrpSpPr/>
              <p:nvPr/>
            </p:nvGrpSpPr>
            <p:grpSpPr>
              <a:xfrm>
                <a:off x="606570" y="3788769"/>
                <a:ext cx="2971366" cy="316102"/>
                <a:chOff x="606570" y="3788769"/>
                <a:chExt cx="2971366" cy="316102"/>
              </a:xfrm>
            </p:grpSpPr>
            <p:sp>
              <p:nvSpPr>
                <p:cNvPr id="143" name="正方形/長方形 142">
                  <a:extLst>
                    <a:ext uri="{FF2B5EF4-FFF2-40B4-BE49-F238E27FC236}">
                      <a16:creationId xmlns:a16="http://schemas.microsoft.com/office/drawing/2014/main" id="{F9260C5B-B805-1B66-F535-EB2AC0E678BC}"/>
                    </a:ext>
                  </a:extLst>
                </p:cNvPr>
                <p:cNvSpPr/>
                <p:nvPr/>
              </p:nvSpPr>
              <p:spPr>
                <a:xfrm>
                  <a:off x="606570" y="3788769"/>
                  <a:ext cx="914400"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経理</a:t>
                  </a:r>
                  <a:r>
                    <a:rPr kumimoji="0" lang="en-US" altLang="ja-JP"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OS</a:t>
                  </a:r>
                  <a:endParaRPr kumimoji="0" lang="ja-JP" altLang="en-US" sz="5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44" name="正方形/長方形 143">
                  <a:extLst>
                    <a:ext uri="{FF2B5EF4-FFF2-40B4-BE49-F238E27FC236}">
                      <a16:creationId xmlns:a16="http://schemas.microsoft.com/office/drawing/2014/main" id="{4F1579B6-32E7-71C6-CB19-E73112867465}"/>
                    </a:ext>
                  </a:extLst>
                </p:cNvPr>
                <p:cNvSpPr/>
                <p:nvPr/>
              </p:nvSpPr>
              <p:spPr>
                <a:xfrm>
                  <a:off x="1635053" y="3788769"/>
                  <a:ext cx="914400"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BPS</a:t>
                  </a:r>
                  <a:endParaRPr kumimoji="0" lang="ja-JP" altLang="en-US" sz="5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45" name="正方形/長方形 144">
                  <a:extLst>
                    <a:ext uri="{FF2B5EF4-FFF2-40B4-BE49-F238E27FC236}">
                      <a16:creationId xmlns:a16="http://schemas.microsoft.com/office/drawing/2014/main" id="{A8CDE8C7-6B8B-EA61-54AA-60304D26DD1C}"/>
                    </a:ext>
                  </a:extLst>
                </p:cNvPr>
                <p:cNvSpPr/>
                <p:nvPr/>
              </p:nvSpPr>
              <p:spPr>
                <a:xfrm>
                  <a:off x="2663536" y="3788769"/>
                  <a:ext cx="914400"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endParaRPr kumimoji="0" lang="ja-JP" altLang="en-US" sz="5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cxnSp>
            <p:nvCxnSpPr>
              <p:cNvPr id="141" name="コネクタ: カギ線 140">
                <a:extLst>
                  <a:ext uri="{FF2B5EF4-FFF2-40B4-BE49-F238E27FC236}">
                    <a16:creationId xmlns:a16="http://schemas.microsoft.com/office/drawing/2014/main" id="{5EBA9752-F7F0-0EB4-E7DD-56E1A943B7DF}"/>
                  </a:ext>
                </a:extLst>
              </p:cNvPr>
              <p:cNvCxnSpPr>
                <a:cxnSpLocks/>
                <a:stCxn id="138" idx="3"/>
                <a:endCxn id="145" idx="0"/>
              </p:cNvCxnSpPr>
              <p:nvPr/>
            </p:nvCxnSpPr>
            <p:spPr>
              <a:xfrm rot="16200000" flipH="1">
                <a:off x="2320084" y="2988116"/>
                <a:ext cx="572821" cy="1028483"/>
              </a:xfrm>
              <a:prstGeom prst="bentConnector3">
                <a:avLst>
                  <a:gd name="adj1" fmla="val 50000"/>
                </a:avLst>
              </a:prstGeom>
              <a:noFill/>
              <a:ln w="6350">
                <a:solidFill>
                  <a:schemeClr val="bg1">
                    <a:lumMod val="50000"/>
                  </a:schemeClr>
                </a:solidFill>
                <a:prstDash val="solid"/>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42" name="コネクタ: カギ線 44">
                <a:extLst>
                  <a:ext uri="{FF2B5EF4-FFF2-40B4-BE49-F238E27FC236}">
                    <a16:creationId xmlns:a16="http://schemas.microsoft.com/office/drawing/2014/main" id="{93AF7369-79D3-AF46-137F-81970CD0E844}"/>
                  </a:ext>
                </a:extLst>
              </p:cNvPr>
              <p:cNvCxnSpPr>
                <a:cxnSpLocks/>
                <a:stCxn id="138" idx="3"/>
                <a:endCxn id="144" idx="0"/>
              </p:cNvCxnSpPr>
              <p:nvPr/>
            </p:nvCxnSpPr>
            <p:spPr>
              <a:xfrm>
                <a:off x="2092253" y="3215948"/>
                <a:ext cx="0" cy="572821"/>
              </a:xfrm>
              <a:prstGeom prst="straightConnector1">
                <a:avLst/>
              </a:prstGeom>
              <a:noFill/>
              <a:ln w="6350">
                <a:solidFill>
                  <a:schemeClr val="bg1">
                    <a:lumMod val="50000"/>
                  </a:schemeClr>
                </a:solidFill>
                <a:prstDash val="solid"/>
                <a:headEnd type="none"/>
              </a:ln>
            </p:spPr>
            <p:style>
              <a:lnRef idx="2">
                <a:schemeClr val="accent1">
                  <a:shade val="50000"/>
                </a:schemeClr>
              </a:lnRef>
              <a:fillRef idx="1">
                <a:schemeClr val="accent1"/>
              </a:fillRef>
              <a:effectRef idx="0">
                <a:schemeClr val="accent1"/>
              </a:effectRef>
              <a:fontRef idx="minor">
                <a:schemeClr val="lt1"/>
              </a:fontRef>
            </p:style>
          </p:cxnSp>
        </p:grpSp>
        <p:sp>
          <p:nvSpPr>
            <p:cNvPr id="132" name="左中かっこ 131">
              <a:extLst>
                <a:ext uri="{FF2B5EF4-FFF2-40B4-BE49-F238E27FC236}">
                  <a16:creationId xmlns:a16="http://schemas.microsoft.com/office/drawing/2014/main" id="{817859CC-9442-82A3-A201-3B6AA5DB6DFD}"/>
                </a:ext>
              </a:extLst>
            </p:cNvPr>
            <p:cNvSpPr/>
            <p:nvPr/>
          </p:nvSpPr>
          <p:spPr>
            <a:xfrm rot="10800000">
              <a:off x="3928291" y="2304855"/>
              <a:ext cx="291501" cy="1399965"/>
            </a:xfrm>
            <a:prstGeom prst="leftBrace">
              <a:avLst>
                <a:gd name="adj1" fmla="val 41890"/>
                <a:gd name="adj2" fmla="val 50000"/>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endParaRPr kumimoji="0" lang="ja-JP" altLang="en-US" sz="5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33" name="左中かっこ 132">
              <a:extLst>
                <a:ext uri="{FF2B5EF4-FFF2-40B4-BE49-F238E27FC236}">
                  <a16:creationId xmlns:a16="http://schemas.microsoft.com/office/drawing/2014/main" id="{13B4F1AE-C07E-BADB-3540-BD164CBB9835}"/>
                </a:ext>
              </a:extLst>
            </p:cNvPr>
            <p:cNvSpPr/>
            <p:nvPr/>
          </p:nvSpPr>
          <p:spPr>
            <a:xfrm rot="10800000">
              <a:off x="3928291" y="4215818"/>
              <a:ext cx="291501" cy="1399965"/>
            </a:xfrm>
            <a:prstGeom prst="leftBrace">
              <a:avLst>
                <a:gd name="adj1" fmla="val 41890"/>
                <a:gd name="adj2" fmla="val 50000"/>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endParaRPr kumimoji="0" lang="ja-JP" altLang="en-US" sz="5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34" name="正方形/長方形 133">
              <a:extLst>
                <a:ext uri="{FF2B5EF4-FFF2-40B4-BE49-F238E27FC236}">
                  <a16:creationId xmlns:a16="http://schemas.microsoft.com/office/drawing/2014/main" id="{EDBE868D-13DB-1F74-81F7-426BDF327FD3}"/>
                </a:ext>
              </a:extLst>
            </p:cNvPr>
            <p:cNvSpPr/>
            <p:nvPr/>
          </p:nvSpPr>
          <p:spPr>
            <a:xfrm>
              <a:off x="4320074" y="4757750"/>
              <a:ext cx="1302840" cy="316102"/>
            </a:xfrm>
            <a:prstGeom prst="rect">
              <a:avLst/>
            </a:prstGeom>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defTabSz="584200" rtl="0" fontAlgn="auto" latinLnBrk="1" hangingPunct="0">
                <a:lnSpc>
                  <a:spcPct val="100000"/>
                </a:lnSpc>
                <a:spcBef>
                  <a:spcPts val="0"/>
                </a:spcBef>
                <a:spcAft>
                  <a:spcPts val="0"/>
                </a:spcAft>
                <a:buClrTx/>
                <a:buSzTx/>
                <a:buFontTx/>
                <a:buNone/>
                <a:tabLst/>
              </a:pPr>
              <a:r>
                <a:rPr kumimoji="0" lang="ja-JP" altLang="en-US" sz="5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業務の利活用・改善</a:t>
              </a:r>
              <a:endParaRPr kumimoji="0" lang="en-US" altLang="ja-JP" sz="5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defTabSz="584200" rtl="0" fontAlgn="auto" latinLnBrk="1" hangingPunct="0">
                <a:lnSpc>
                  <a:spcPct val="100000"/>
                </a:lnSpc>
                <a:spcBef>
                  <a:spcPts val="0"/>
                </a:spcBef>
                <a:spcAft>
                  <a:spcPts val="0"/>
                </a:spcAft>
                <a:buClrTx/>
                <a:buSzTx/>
                <a:buFontTx/>
                <a:buNone/>
                <a:tabLst/>
              </a:pPr>
              <a:r>
                <a:rPr kumimoji="0" lang="ja-JP" altLang="en-US"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のためのアセットデータ</a:t>
              </a:r>
              <a:endParaRPr kumimoji="0" lang="ja-JP" altLang="en-US" sz="5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pic>
          <p:nvPicPr>
            <p:cNvPr id="135" name="図 134">
              <a:extLst>
                <a:ext uri="{FF2B5EF4-FFF2-40B4-BE49-F238E27FC236}">
                  <a16:creationId xmlns:a16="http://schemas.microsoft.com/office/drawing/2014/main" id="{358DFE5F-C24C-7A0F-88C2-CF4F556D11D8}"/>
                </a:ext>
              </a:extLst>
            </p:cNvPr>
            <p:cNvPicPr>
              <a:picLocks noChangeAspect="1"/>
            </p:cNvPicPr>
            <p:nvPr/>
          </p:nvPicPr>
          <p:blipFill>
            <a:blip r:embed="rId3"/>
            <a:stretch>
              <a:fillRect/>
            </a:stretch>
          </p:blipFill>
          <p:spPr>
            <a:xfrm>
              <a:off x="6283693" y="2328611"/>
              <a:ext cx="5527959" cy="3236417"/>
            </a:xfrm>
            <a:prstGeom prst="rect">
              <a:avLst/>
            </a:prstGeom>
          </p:spPr>
        </p:pic>
        <p:sp>
          <p:nvSpPr>
            <p:cNvPr id="136" name="正方形/長方形 135">
              <a:extLst>
                <a:ext uri="{FF2B5EF4-FFF2-40B4-BE49-F238E27FC236}">
                  <a16:creationId xmlns:a16="http://schemas.microsoft.com/office/drawing/2014/main" id="{EE3589FF-BDCA-E299-7064-B661AF4D5464}"/>
                </a:ext>
              </a:extLst>
            </p:cNvPr>
            <p:cNvSpPr/>
            <p:nvPr/>
          </p:nvSpPr>
          <p:spPr>
            <a:xfrm>
              <a:off x="6283692" y="5571260"/>
              <a:ext cx="5527959" cy="316102"/>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500"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社のスキーマ管理システム</a:t>
              </a:r>
              <a:endParaRPr kumimoji="0" lang="ja-JP" altLang="en-US" sz="5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37" name="左中かっこ 136">
              <a:extLst>
                <a:ext uri="{FF2B5EF4-FFF2-40B4-BE49-F238E27FC236}">
                  <a16:creationId xmlns:a16="http://schemas.microsoft.com/office/drawing/2014/main" id="{5AE2A4F0-FDD2-766B-49FB-9CD29A146B90}"/>
                </a:ext>
              </a:extLst>
            </p:cNvPr>
            <p:cNvSpPr/>
            <p:nvPr/>
          </p:nvSpPr>
          <p:spPr>
            <a:xfrm rot="10800000">
              <a:off x="5797851" y="1691581"/>
              <a:ext cx="291501" cy="4510476"/>
            </a:xfrm>
            <a:prstGeom prst="leftBrace">
              <a:avLst>
                <a:gd name="adj1" fmla="val 41890"/>
                <a:gd name="adj2" fmla="val 50000"/>
              </a:avLst>
            </a:prstGeom>
            <a:no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endParaRPr kumimoji="0" lang="ja-JP" altLang="en-US" sz="500">
                <a:solidFill>
                  <a:schemeClr val="accent4">
                    <a:lumMod val="65000"/>
                    <a:lumOff val="35000"/>
                  </a:schemeClr>
                </a:solidFill>
                <a:latin typeface="Meiryo UI" panose="020B0604030504040204" pitchFamily="50" charset="-128"/>
                <a:ea typeface="Meiryo UI" panose="020B0604030504040204" pitchFamily="50" charset="-128"/>
              </a:endParaRPr>
            </a:p>
          </p:txBody>
        </p:sp>
      </p:grpSp>
      <p:pic>
        <p:nvPicPr>
          <p:cNvPr id="126" name="図 125">
            <a:extLst>
              <a:ext uri="{FF2B5EF4-FFF2-40B4-BE49-F238E27FC236}">
                <a16:creationId xmlns:a16="http://schemas.microsoft.com/office/drawing/2014/main" id="{7C130035-B411-CB42-B3BB-7DCD213EF92E}"/>
              </a:ext>
            </a:extLst>
          </p:cNvPr>
          <p:cNvPicPr>
            <a:picLocks noChangeAspect="1"/>
          </p:cNvPicPr>
          <p:nvPr/>
        </p:nvPicPr>
        <p:blipFill>
          <a:blip r:embed="rId4"/>
          <a:stretch>
            <a:fillRect/>
          </a:stretch>
        </p:blipFill>
        <p:spPr>
          <a:xfrm>
            <a:off x="1260831" y="1723784"/>
            <a:ext cx="4488738" cy="2130577"/>
          </a:xfrm>
          <a:prstGeom prst="rect">
            <a:avLst/>
          </a:prstGeom>
        </p:spPr>
      </p:pic>
      <p:sp>
        <p:nvSpPr>
          <p:cNvPr id="3" name="タイトル 2">
            <a:extLst>
              <a:ext uri="{FF2B5EF4-FFF2-40B4-BE49-F238E27FC236}">
                <a16:creationId xmlns:a16="http://schemas.microsoft.com/office/drawing/2014/main" id="{0A35649A-CFC3-92C5-D359-18B3BD32E92E}"/>
              </a:ext>
            </a:extLst>
          </p:cNvPr>
          <p:cNvSpPr>
            <a:spLocks noGrp="1"/>
          </p:cNvSpPr>
          <p:nvPr>
            <p:ph type="title"/>
          </p:nvPr>
        </p:nvSpPr>
        <p:spPr/>
        <p:txBody>
          <a:bodyPr/>
          <a:lstStyle/>
          <a:p>
            <a:r>
              <a:rPr lang="en-US" altLang="ja-JP" dirty="0"/>
              <a:t>AI</a:t>
            </a:r>
            <a:r>
              <a:rPr lang="ja-JP" altLang="en-US" dirty="0"/>
              <a:t>エージェントソリューションのエコシステム</a:t>
            </a:r>
            <a:endParaRPr kumimoji="1" lang="ja-JP" altLang="en-US" dirty="0"/>
          </a:p>
        </p:txBody>
      </p:sp>
      <p:sp>
        <p:nvSpPr>
          <p:cNvPr id="4" name="スライド番号プレースホルダー 3">
            <a:extLst>
              <a:ext uri="{FF2B5EF4-FFF2-40B4-BE49-F238E27FC236}">
                <a16:creationId xmlns:a16="http://schemas.microsoft.com/office/drawing/2014/main" id="{CEA53C03-C28F-B250-002E-B618F7D680B2}"/>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15</a:t>
            </a:fld>
            <a:endParaRPr lang="en-US" altLang="ja-JP"/>
          </a:p>
        </p:txBody>
      </p:sp>
      <p:sp>
        <p:nvSpPr>
          <p:cNvPr id="2" name="コンテンツ プレースホルダー 5">
            <a:extLst>
              <a:ext uri="{FF2B5EF4-FFF2-40B4-BE49-F238E27FC236}">
                <a16:creationId xmlns:a16="http://schemas.microsoft.com/office/drawing/2014/main" id="{649E86E7-A264-0B50-7197-DD5144A6C821}"/>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業務を</a:t>
            </a:r>
            <a:r>
              <a:rPr lang="en-US" altLang="ja-JP" sz="1600" kern="0" dirty="0"/>
              <a:t>AI</a:t>
            </a:r>
            <a:r>
              <a:rPr lang="ja-JP" altLang="en-US" sz="1600" kern="0" dirty="0"/>
              <a:t>エージェントにて処理を行い、データが蓄積され、可視化や分析を行った後、更に業務を改善するといった流れのエコシステムを作る。</a:t>
            </a:r>
            <a:endParaRPr lang="en-US" altLang="ja-JP" sz="1600" kern="0" dirty="0"/>
          </a:p>
        </p:txBody>
      </p:sp>
      <p:sp>
        <p:nvSpPr>
          <p:cNvPr id="65" name="四角形: 角を丸くする 64">
            <a:extLst>
              <a:ext uri="{FF2B5EF4-FFF2-40B4-BE49-F238E27FC236}">
                <a16:creationId xmlns:a16="http://schemas.microsoft.com/office/drawing/2014/main" id="{58FD58FC-F4C5-6DB2-D7C5-F898297462E9}"/>
              </a:ext>
            </a:extLst>
          </p:cNvPr>
          <p:cNvSpPr/>
          <p:nvPr/>
        </p:nvSpPr>
        <p:spPr>
          <a:xfrm>
            <a:off x="983972" y="1417846"/>
            <a:ext cx="5042456" cy="2439349"/>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業務・運営領域</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66" name="四角形: 角を丸くする 65">
            <a:extLst>
              <a:ext uri="{FF2B5EF4-FFF2-40B4-BE49-F238E27FC236}">
                <a16:creationId xmlns:a16="http://schemas.microsoft.com/office/drawing/2014/main" id="{77052EF2-802A-23DF-4A7F-6ECB7A48FA06}"/>
              </a:ext>
            </a:extLst>
          </p:cNvPr>
          <p:cNvSpPr/>
          <p:nvPr/>
        </p:nvSpPr>
        <p:spPr>
          <a:xfrm>
            <a:off x="6165572" y="1417845"/>
            <a:ext cx="5042456" cy="2439349"/>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ja-JP" sz="1200" b="1" dirty="0">
                <a:solidFill>
                  <a:schemeClr val="accent4">
                    <a:lumMod val="65000"/>
                    <a:lumOff val="35000"/>
                  </a:schemeClr>
                </a:solidFill>
                <a:latin typeface="Meiryo UI" panose="020B0604030504040204" pitchFamily="50" charset="-128"/>
                <a:ea typeface="Meiryo UI" panose="020B0604030504040204" pitchFamily="50" charset="-128"/>
              </a:rPr>
              <a:t>AI</a:t>
            </a: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エージェント・アーキテクチャ領域</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67" name="四角形: 角を丸くする 66">
            <a:extLst>
              <a:ext uri="{FF2B5EF4-FFF2-40B4-BE49-F238E27FC236}">
                <a16:creationId xmlns:a16="http://schemas.microsoft.com/office/drawing/2014/main" id="{38B9CEB0-4F81-6DA4-DE73-5354FD50EDD7}"/>
              </a:ext>
            </a:extLst>
          </p:cNvPr>
          <p:cNvSpPr/>
          <p:nvPr/>
        </p:nvSpPr>
        <p:spPr>
          <a:xfrm>
            <a:off x="983972" y="3995882"/>
            <a:ext cx="5042456" cy="2439349"/>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可視化・分析領域</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69" name="四角形: 角を丸くする 68">
            <a:extLst>
              <a:ext uri="{FF2B5EF4-FFF2-40B4-BE49-F238E27FC236}">
                <a16:creationId xmlns:a16="http://schemas.microsoft.com/office/drawing/2014/main" id="{7E0C6A03-5F1F-C130-6804-603641B9B212}"/>
              </a:ext>
            </a:extLst>
          </p:cNvPr>
          <p:cNvSpPr/>
          <p:nvPr/>
        </p:nvSpPr>
        <p:spPr>
          <a:xfrm>
            <a:off x="6165572" y="3995881"/>
            <a:ext cx="5042456" cy="2439349"/>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データ・アセット領域</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cxnSp>
        <p:nvCxnSpPr>
          <p:cNvPr id="50" name="コネクタ: 曲線 49">
            <a:extLst>
              <a:ext uri="{FF2B5EF4-FFF2-40B4-BE49-F238E27FC236}">
                <a16:creationId xmlns:a16="http://schemas.microsoft.com/office/drawing/2014/main" id="{C8FED76A-2CD3-1BE3-83D3-44C111D04DF7}"/>
              </a:ext>
            </a:extLst>
          </p:cNvPr>
          <p:cNvCxnSpPr>
            <a:cxnSpLocks/>
            <a:stCxn id="18" idx="1"/>
            <a:endCxn id="12" idx="3"/>
          </p:cNvCxnSpPr>
          <p:nvPr/>
        </p:nvCxnSpPr>
        <p:spPr>
          <a:xfrm rot="10800000">
            <a:off x="7618561" y="2529259"/>
            <a:ext cx="784665" cy="279297"/>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grpSp>
        <p:nvGrpSpPr>
          <p:cNvPr id="45" name="グループ化 44">
            <a:extLst>
              <a:ext uri="{FF2B5EF4-FFF2-40B4-BE49-F238E27FC236}">
                <a16:creationId xmlns:a16="http://schemas.microsoft.com/office/drawing/2014/main" id="{3BDA8296-A4C3-FA5D-A325-880726F08F0E}"/>
              </a:ext>
            </a:extLst>
          </p:cNvPr>
          <p:cNvGrpSpPr/>
          <p:nvPr/>
        </p:nvGrpSpPr>
        <p:grpSpPr>
          <a:xfrm>
            <a:off x="6680710" y="1723784"/>
            <a:ext cx="4012181" cy="2001437"/>
            <a:chOff x="6599505" y="1713951"/>
            <a:chExt cx="4174597" cy="2082456"/>
          </a:xfrm>
        </p:grpSpPr>
        <p:sp>
          <p:nvSpPr>
            <p:cNvPr id="6" name="正方形/長方形 5">
              <a:extLst>
                <a:ext uri="{FF2B5EF4-FFF2-40B4-BE49-F238E27FC236}">
                  <a16:creationId xmlns:a16="http://schemas.microsoft.com/office/drawing/2014/main" id="{6BFDB3F9-1F55-2786-7ECD-6CA028B87888}"/>
                </a:ext>
              </a:extLst>
            </p:cNvPr>
            <p:cNvSpPr/>
            <p:nvPr/>
          </p:nvSpPr>
          <p:spPr>
            <a:xfrm>
              <a:off x="6985209" y="1959922"/>
              <a:ext cx="590111" cy="142649"/>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Teams</a:t>
              </a:r>
            </a:p>
            <a:p>
              <a:pPr marL="0" marR="0" indent="0" algn="ctr" defTabSz="584200" rtl="0" fontAlgn="auto" latinLnBrk="1" hangingPunct="0">
                <a:lnSpc>
                  <a:spcPct val="100000"/>
                </a:lnSpc>
                <a:spcBef>
                  <a:spcPts val="0"/>
                </a:spcBef>
                <a:spcAft>
                  <a:spcPts val="0"/>
                </a:spcAft>
                <a:buClrTx/>
                <a:buSzTx/>
                <a:buFontTx/>
                <a:buNone/>
                <a:tabLst/>
              </a:pP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アダプティブカード</a:t>
              </a: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 name="正方形/長方形 6">
              <a:extLst>
                <a:ext uri="{FF2B5EF4-FFF2-40B4-BE49-F238E27FC236}">
                  <a16:creationId xmlns:a16="http://schemas.microsoft.com/office/drawing/2014/main" id="{DF932E8A-2874-D9B1-20D5-9FEEA132DFE1}"/>
                </a:ext>
              </a:extLst>
            </p:cNvPr>
            <p:cNvSpPr/>
            <p:nvPr/>
          </p:nvSpPr>
          <p:spPr>
            <a:xfrm>
              <a:off x="9798287" y="1959922"/>
              <a:ext cx="590111" cy="142649"/>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各種フロントエンド</a:t>
              </a:r>
              <a:endParaRPr kumimoji="0" lang="en-US" altLang="ja-JP"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&lt;Web/Mobile&gt;</a:t>
              </a:r>
              <a:endParaRPr kumimoji="0" lang="ja-JP" altLang="en-US"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8" name="正方形/長方形 7">
              <a:extLst>
                <a:ext uri="{FF2B5EF4-FFF2-40B4-BE49-F238E27FC236}">
                  <a16:creationId xmlns:a16="http://schemas.microsoft.com/office/drawing/2014/main" id="{DB74BA54-EEA9-13F4-9655-0451C3F9AE2A}"/>
                </a:ext>
              </a:extLst>
            </p:cNvPr>
            <p:cNvSpPr/>
            <p:nvPr/>
          </p:nvSpPr>
          <p:spPr>
            <a:xfrm>
              <a:off x="8385103" y="2113745"/>
              <a:ext cx="590111" cy="142649"/>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3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AzureAPIManagement</a:t>
              </a:r>
              <a:endParaRPr kumimoji="0" lang="en-US" altLang="ja-JP"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統一セキュリティ窓口</a:t>
              </a: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9" name="四角形: 角を丸くする 8">
              <a:extLst>
                <a:ext uri="{FF2B5EF4-FFF2-40B4-BE49-F238E27FC236}">
                  <a16:creationId xmlns:a16="http://schemas.microsoft.com/office/drawing/2014/main" id="{EA51C6ED-D97E-7A0D-767D-BA208566814A}"/>
                </a:ext>
              </a:extLst>
            </p:cNvPr>
            <p:cNvSpPr/>
            <p:nvPr/>
          </p:nvSpPr>
          <p:spPr>
            <a:xfrm>
              <a:off x="6599505" y="1803408"/>
              <a:ext cx="4170635" cy="495485"/>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600" dirty="0">
                  <a:solidFill>
                    <a:schemeClr val="accent4">
                      <a:lumMod val="65000"/>
                      <a:lumOff val="35000"/>
                    </a:schemeClr>
                  </a:solidFill>
                  <a:latin typeface="Meiryo UI" panose="020B0604030504040204" pitchFamily="50" charset="-128"/>
                  <a:ea typeface="Meiryo UI" panose="020B0604030504040204" pitchFamily="50" charset="-128"/>
                </a:rPr>
                <a:t>アクセス</a:t>
              </a:r>
              <a:r>
                <a:rPr kumimoji="1" lang="ja-JP" altLang="en-US" sz="600" dirty="0">
                  <a:solidFill>
                    <a:schemeClr val="accent4">
                      <a:lumMod val="65000"/>
                      <a:lumOff val="35000"/>
                    </a:schemeClr>
                  </a:solidFill>
                  <a:latin typeface="Meiryo UI" panose="020B0604030504040204" pitchFamily="50" charset="-128"/>
                  <a:ea typeface="Meiryo UI" panose="020B0604030504040204" pitchFamily="50" charset="-128"/>
                </a:rPr>
                <a:t>（ユーザー）層</a:t>
              </a:r>
            </a:p>
          </p:txBody>
        </p:sp>
        <p:sp>
          <p:nvSpPr>
            <p:cNvPr id="10" name="四角形: 角を丸くする 9">
              <a:extLst>
                <a:ext uri="{FF2B5EF4-FFF2-40B4-BE49-F238E27FC236}">
                  <a16:creationId xmlns:a16="http://schemas.microsoft.com/office/drawing/2014/main" id="{2C15ED6F-01C1-9A48-7D73-97118658F11A}"/>
                </a:ext>
              </a:extLst>
            </p:cNvPr>
            <p:cNvSpPr/>
            <p:nvPr/>
          </p:nvSpPr>
          <p:spPr>
            <a:xfrm>
              <a:off x="6599505" y="2327418"/>
              <a:ext cx="1361520" cy="1030432"/>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600" dirty="0">
                  <a:solidFill>
                    <a:schemeClr val="accent4">
                      <a:lumMod val="65000"/>
                      <a:lumOff val="35000"/>
                    </a:schemeClr>
                  </a:solidFill>
                  <a:latin typeface="Meiryo UI" panose="020B0604030504040204" pitchFamily="50" charset="-128"/>
                  <a:ea typeface="Meiryo UI" panose="020B0604030504040204" pitchFamily="50" charset="-128"/>
                </a:rPr>
                <a:t>可視化・分析</a:t>
              </a:r>
              <a:r>
                <a:rPr kumimoji="1" lang="ja-JP" altLang="en-US" sz="600" dirty="0">
                  <a:solidFill>
                    <a:schemeClr val="accent4">
                      <a:lumMod val="65000"/>
                      <a:lumOff val="35000"/>
                    </a:schemeClr>
                  </a:solidFill>
                  <a:latin typeface="Meiryo UI" panose="020B0604030504040204" pitchFamily="50" charset="-128"/>
                  <a:ea typeface="Meiryo UI" panose="020B0604030504040204" pitchFamily="50" charset="-128"/>
                </a:rPr>
                <a:t>層</a:t>
              </a:r>
            </a:p>
          </p:txBody>
        </p:sp>
        <p:sp>
          <p:nvSpPr>
            <p:cNvPr id="11" name="四角形: 角を丸くする 10">
              <a:extLst>
                <a:ext uri="{FF2B5EF4-FFF2-40B4-BE49-F238E27FC236}">
                  <a16:creationId xmlns:a16="http://schemas.microsoft.com/office/drawing/2014/main" id="{D70FA214-DBF2-28E3-B07E-8A7B90F7FAB7}"/>
                </a:ext>
              </a:extLst>
            </p:cNvPr>
            <p:cNvSpPr/>
            <p:nvPr/>
          </p:nvSpPr>
          <p:spPr>
            <a:xfrm>
              <a:off x="6599505" y="3386306"/>
              <a:ext cx="1361520" cy="410101"/>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600" dirty="0">
                  <a:solidFill>
                    <a:schemeClr val="accent4">
                      <a:lumMod val="65000"/>
                      <a:lumOff val="35000"/>
                    </a:schemeClr>
                  </a:solidFill>
                  <a:latin typeface="Meiryo UI" panose="020B0604030504040204" pitchFamily="50" charset="-128"/>
                  <a:ea typeface="Meiryo UI" panose="020B0604030504040204" pitchFamily="50" charset="-128"/>
                </a:rPr>
                <a:t>共通基盤</a:t>
              </a:r>
              <a:r>
                <a:rPr kumimoji="1" lang="ja-JP" altLang="en-US" sz="600" dirty="0">
                  <a:solidFill>
                    <a:schemeClr val="accent4">
                      <a:lumMod val="65000"/>
                      <a:lumOff val="35000"/>
                    </a:schemeClr>
                  </a:solidFill>
                  <a:latin typeface="Meiryo UI" panose="020B0604030504040204" pitchFamily="50" charset="-128"/>
                  <a:ea typeface="Meiryo UI" panose="020B0604030504040204" pitchFamily="50" charset="-128"/>
                </a:rPr>
                <a:t>層</a:t>
              </a:r>
            </a:p>
          </p:txBody>
        </p:sp>
        <p:sp>
          <p:nvSpPr>
            <p:cNvPr id="12" name="正方形/長方形 11">
              <a:extLst>
                <a:ext uri="{FF2B5EF4-FFF2-40B4-BE49-F238E27FC236}">
                  <a16:creationId xmlns:a16="http://schemas.microsoft.com/office/drawing/2014/main" id="{D9023A36-FDD1-FFB0-7DBF-A8EB5BDC3F82}"/>
                </a:ext>
              </a:extLst>
            </p:cNvPr>
            <p:cNvSpPr/>
            <p:nvPr/>
          </p:nvSpPr>
          <p:spPr>
            <a:xfrm>
              <a:off x="6985209" y="2480706"/>
              <a:ext cx="590111" cy="142649"/>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3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AzureWebApp</a:t>
              </a:r>
              <a:endParaRPr kumimoji="0" lang="en-US" altLang="ja-JP"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&lt;Teams</a:t>
              </a:r>
              <a:r>
                <a:rPr kumimoji="0" lang="ja-JP" altLang="en-US"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連携ロジック</a:t>
              </a: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3" name="正方形/長方形 12">
              <a:extLst>
                <a:ext uri="{FF2B5EF4-FFF2-40B4-BE49-F238E27FC236}">
                  <a16:creationId xmlns:a16="http://schemas.microsoft.com/office/drawing/2014/main" id="{8008025E-9190-DAE4-1648-DAB2B3FACE95}"/>
                </a:ext>
              </a:extLst>
            </p:cNvPr>
            <p:cNvSpPr/>
            <p:nvPr/>
          </p:nvSpPr>
          <p:spPr>
            <a:xfrm>
              <a:off x="6985209" y="2776643"/>
              <a:ext cx="590111" cy="142649"/>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3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AzureMonitor</a:t>
              </a:r>
              <a:endParaRPr kumimoji="0" lang="en-US" altLang="ja-JP"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ログ分析</a:t>
              </a: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4" name="正方形/長方形 13">
              <a:extLst>
                <a:ext uri="{FF2B5EF4-FFF2-40B4-BE49-F238E27FC236}">
                  <a16:creationId xmlns:a16="http://schemas.microsoft.com/office/drawing/2014/main" id="{CA97F22B-3F78-2DF4-7B3B-1C2099B8B452}"/>
                </a:ext>
              </a:extLst>
            </p:cNvPr>
            <p:cNvSpPr/>
            <p:nvPr/>
          </p:nvSpPr>
          <p:spPr>
            <a:xfrm>
              <a:off x="6985209" y="3072580"/>
              <a:ext cx="590111" cy="142649"/>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管理ダッシュボード</a:t>
              </a:r>
              <a:endParaRPr kumimoji="0" lang="en-US" altLang="ja-JP"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&lt;Teams</a:t>
              </a:r>
              <a:r>
                <a:rPr kumimoji="0" lang="ja-JP" altLang="en-US"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アプリ</a:t>
              </a: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r>
                <a:rPr kumimoji="0" lang="en-US" altLang="ja-JP" sz="300"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PowerBI</a:t>
              </a: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5" name="正方形/長方形 14">
              <a:extLst>
                <a:ext uri="{FF2B5EF4-FFF2-40B4-BE49-F238E27FC236}">
                  <a16:creationId xmlns:a16="http://schemas.microsoft.com/office/drawing/2014/main" id="{19865BC3-B191-475E-C34B-E2027408EAA1}"/>
                </a:ext>
              </a:extLst>
            </p:cNvPr>
            <p:cNvSpPr/>
            <p:nvPr/>
          </p:nvSpPr>
          <p:spPr>
            <a:xfrm>
              <a:off x="6985209" y="3520033"/>
              <a:ext cx="590111" cy="142649"/>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3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AzureEntraID</a:t>
              </a:r>
              <a:endParaRPr kumimoji="0" lang="en-US" altLang="ja-JP"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認証・</a:t>
              </a: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SSO&gt;</a:t>
              </a:r>
              <a:endParaRPr kumimoji="0" lang="ja-JP" altLang="en-US"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6" name="四角形: 角を丸くする 15">
              <a:extLst>
                <a:ext uri="{FF2B5EF4-FFF2-40B4-BE49-F238E27FC236}">
                  <a16:creationId xmlns:a16="http://schemas.microsoft.com/office/drawing/2014/main" id="{12D8C943-3A05-FDE2-CB9F-F0A71057C377}"/>
                </a:ext>
              </a:extLst>
            </p:cNvPr>
            <p:cNvSpPr/>
            <p:nvPr/>
          </p:nvSpPr>
          <p:spPr>
            <a:xfrm>
              <a:off x="8006268" y="3386306"/>
              <a:ext cx="1361070" cy="410100"/>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600" dirty="0">
                  <a:solidFill>
                    <a:schemeClr val="accent4">
                      <a:lumMod val="65000"/>
                      <a:lumOff val="35000"/>
                    </a:schemeClr>
                  </a:solidFill>
                  <a:latin typeface="Meiryo UI" panose="020B0604030504040204" pitchFamily="50" charset="-128"/>
                  <a:ea typeface="Meiryo UI" panose="020B0604030504040204" pitchFamily="50" charset="-128"/>
                </a:rPr>
                <a:t>改善・強化</a:t>
              </a:r>
              <a:r>
                <a:rPr kumimoji="1" lang="ja-JP" altLang="en-US" sz="600" dirty="0">
                  <a:solidFill>
                    <a:schemeClr val="accent4">
                      <a:lumMod val="65000"/>
                      <a:lumOff val="35000"/>
                    </a:schemeClr>
                  </a:solidFill>
                  <a:latin typeface="Meiryo UI" panose="020B0604030504040204" pitchFamily="50" charset="-128"/>
                  <a:ea typeface="Meiryo UI" panose="020B0604030504040204" pitchFamily="50" charset="-128"/>
                </a:rPr>
                <a:t>層</a:t>
              </a:r>
            </a:p>
          </p:txBody>
        </p:sp>
        <p:sp>
          <p:nvSpPr>
            <p:cNvPr id="17" name="四角形: 角を丸くする 16">
              <a:extLst>
                <a:ext uri="{FF2B5EF4-FFF2-40B4-BE49-F238E27FC236}">
                  <a16:creationId xmlns:a16="http://schemas.microsoft.com/office/drawing/2014/main" id="{DAE34A66-5E01-E78B-62AB-D7F0C65032BC}"/>
                </a:ext>
              </a:extLst>
            </p:cNvPr>
            <p:cNvSpPr/>
            <p:nvPr/>
          </p:nvSpPr>
          <p:spPr>
            <a:xfrm>
              <a:off x="8006268" y="2637584"/>
              <a:ext cx="1361070" cy="410100"/>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600" dirty="0">
                  <a:solidFill>
                    <a:schemeClr val="accent4">
                      <a:lumMod val="65000"/>
                      <a:lumOff val="35000"/>
                    </a:schemeClr>
                  </a:solidFill>
                  <a:latin typeface="Meiryo UI" panose="020B0604030504040204" pitchFamily="50" charset="-128"/>
                  <a:ea typeface="Meiryo UI" panose="020B0604030504040204" pitchFamily="50" charset="-128"/>
                </a:rPr>
                <a:t>データ基盤層</a:t>
              </a:r>
            </a:p>
          </p:txBody>
        </p:sp>
        <p:sp>
          <p:nvSpPr>
            <p:cNvPr id="18" name="正方形/長方形 17">
              <a:extLst>
                <a:ext uri="{FF2B5EF4-FFF2-40B4-BE49-F238E27FC236}">
                  <a16:creationId xmlns:a16="http://schemas.microsoft.com/office/drawing/2014/main" id="{2A4EAF6A-92C4-7671-3B73-BEEA0F9CF4D5}"/>
                </a:ext>
              </a:extLst>
            </p:cNvPr>
            <p:cNvSpPr/>
            <p:nvPr/>
          </p:nvSpPr>
          <p:spPr>
            <a:xfrm>
              <a:off x="8391749" y="2771309"/>
              <a:ext cx="590111" cy="142649"/>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データ基盤</a:t>
              </a:r>
              <a:endParaRPr kumimoji="0" lang="en-US" altLang="ja-JP"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稼働ログ・案件データ</a:t>
              </a: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9" name="正方形/長方形 18">
              <a:extLst>
                <a:ext uri="{FF2B5EF4-FFF2-40B4-BE49-F238E27FC236}">
                  <a16:creationId xmlns:a16="http://schemas.microsoft.com/office/drawing/2014/main" id="{54E73E94-69E0-D598-0FF9-4960D32F63DD}"/>
                </a:ext>
              </a:extLst>
            </p:cNvPr>
            <p:cNvSpPr/>
            <p:nvPr/>
          </p:nvSpPr>
          <p:spPr>
            <a:xfrm>
              <a:off x="8391749" y="3520031"/>
              <a:ext cx="590111" cy="142649"/>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CI/CD</a:t>
              </a:r>
              <a:endParaRPr kumimoji="0" lang="en-US" altLang="ja-JP"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&lt;GitHub&gt;</a:t>
              </a:r>
              <a:endParaRPr kumimoji="0" lang="ja-JP" altLang="en-US"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20" name="四角形: 角を丸くする 19">
              <a:extLst>
                <a:ext uri="{FF2B5EF4-FFF2-40B4-BE49-F238E27FC236}">
                  <a16:creationId xmlns:a16="http://schemas.microsoft.com/office/drawing/2014/main" id="{DFFD4D12-9D20-5417-9D94-713D79473AAD}"/>
                </a:ext>
              </a:extLst>
            </p:cNvPr>
            <p:cNvSpPr/>
            <p:nvPr/>
          </p:nvSpPr>
          <p:spPr>
            <a:xfrm>
              <a:off x="9412582" y="2327418"/>
              <a:ext cx="1361520" cy="1468989"/>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600" dirty="0">
                  <a:solidFill>
                    <a:schemeClr val="accent4">
                      <a:lumMod val="65000"/>
                      <a:lumOff val="35000"/>
                    </a:schemeClr>
                  </a:solidFill>
                  <a:latin typeface="Meiryo UI" panose="020B0604030504040204" pitchFamily="50" charset="-128"/>
                  <a:ea typeface="Meiryo UI" panose="020B0604030504040204" pitchFamily="50" charset="-128"/>
                </a:rPr>
                <a:t>中核・</a:t>
              </a:r>
              <a:r>
                <a:rPr kumimoji="1" lang="en-US" altLang="ja-JP" sz="600" dirty="0">
                  <a:solidFill>
                    <a:schemeClr val="accent4">
                      <a:lumMod val="65000"/>
                      <a:lumOff val="35000"/>
                    </a:schemeClr>
                  </a:solidFill>
                  <a:latin typeface="Meiryo UI" panose="020B0604030504040204" pitchFamily="50" charset="-128"/>
                  <a:ea typeface="Meiryo UI" panose="020B0604030504040204" pitchFamily="50" charset="-128"/>
                </a:rPr>
                <a:t>AI</a:t>
              </a:r>
              <a:r>
                <a:rPr kumimoji="1" lang="ja-JP" altLang="en-US" sz="600" dirty="0">
                  <a:solidFill>
                    <a:schemeClr val="accent4">
                      <a:lumMod val="65000"/>
                      <a:lumOff val="35000"/>
                    </a:schemeClr>
                  </a:solidFill>
                  <a:latin typeface="Meiryo UI" panose="020B0604030504040204" pitchFamily="50" charset="-128"/>
                  <a:ea typeface="Meiryo UI" panose="020B0604030504040204" pitchFamily="50" charset="-128"/>
                </a:rPr>
                <a:t>エージェント層</a:t>
              </a:r>
            </a:p>
          </p:txBody>
        </p:sp>
        <p:sp>
          <p:nvSpPr>
            <p:cNvPr id="21" name="正方形/長方形 20">
              <a:extLst>
                <a:ext uri="{FF2B5EF4-FFF2-40B4-BE49-F238E27FC236}">
                  <a16:creationId xmlns:a16="http://schemas.microsoft.com/office/drawing/2014/main" id="{987C7723-3AB8-5224-DC96-6068E3947FCB}"/>
                </a:ext>
              </a:extLst>
            </p:cNvPr>
            <p:cNvSpPr/>
            <p:nvPr/>
          </p:nvSpPr>
          <p:spPr>
            <a:xfrm>
              <a:off x="9798287" y="3520031"/>
              <a:ext cx="590111" cy="142649"/>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3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AzureOpenAI</a:t>
              </a:r>
              <a:endParaRPr kumimoji="0" lang="en-US" altLang="ja-JP"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&lt;AI</a:t>
              </a:r>
              <a:r>
                <a:rPr kumimoji="0" lang="ja-JP" altLang="en-US"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モデル</a:t>
              </a: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22" name="正方形/長方形 21">
              <a:extLst>
                <a:ext uri="{FF2B5EF4-FFF2-40B4-BE49-F238E27FC236}">
                  <a16:creationId xmlns:a16="http://schemas.microsoft.com/office/drawing/2014/main" id="{780FE8E6-09C8-3631-6836-423A6E451A12}"/>
                </a:ext>
              </a:extLst>
            </p:cNvPr>
            <p:cNvSpPr/>
            <p:nvPr/>
          </p:nvSpPr>
          <p:spPr>
            <a:xfrm>
              <a:off x="9798287" y="2480706"/>
              <a:ext cx="590111" cy="142649"/>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a:t>
              </a:r>
              <a:r>
                <a:rPr kumimoji="0" lang="en-US" altLang="ja-JP"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8n on </a:t>
              </a:r>
              <a:r>
                <a:rPr kumimoji="0" lang="en-US" altLang="ja-JP" sz="3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ContainerApps</a:t>
              </a:r>
              <a:endParaRPr kumimoji="0" lang="en-US" altLang="ja-JP"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&lt;</a:t>
              </a:r>
              <a:r>
                <a:rPr kumimoji="0" lang="ja-JP" altLang="en-US"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ワークフロー実行</a:t>
              </a:r>
              <a:r>
                <a:rPr kumimoji="0" lang="en-US" altLang="ja-JP" sz="3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&gt;</a:t>
              </a:r>
              <a:endParaRPr kumimoji="0" lang="ja-JP" altLang="en-US"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23" name="コネクタ: 曲線 22">
              <a:extLst>
                <a:ext uri="{FF2B5EF4-FFF2-40B4-BE49-F238E27FC236}">
                  <a16:creationId xmlns:a16="http://schemas.microsoft.com/office/drawing/2014/main" id="{B7757A95-C510-C12B-0EE8-C52990CD5D62}"/>
                </a:ext>
              </a:extLst>
            </p:cNvPr>
            <p:cNvCxnSpPr>
              <a:cxnSpLocks/>
              <a:stCxn id="8" idx="0"/>
              <a:endCxn id="6" idx="3"/>
            </p:cNvCxnSpPr>
            <p:nvPr/>
          </p:nvCxnSpPr>
          <p:spPr>
            <a:xfrm rot="16200000" flipV="1">
              <a:off x="8086489" y="1520077"/>
              <a:ext cx="82498" cy="1104839"/>
            </a:xfrm>
            <a:prstGeom prst="curvedConnector2">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24" name="コネクタ: 曲線 23">
              <a:extLst>
                <a:ext uri="{FF2B5EF4-FFF2-40B4-BE49-F238E27FC236}">
                  <a16:creationId xmlns:a16="http://schemas.microsoft.com/office/drawing/2014/main" id="{E129104E-8FA7-482D-FB81-C7AA784B04A5}"/>
                </a:ext>
              </a:extLst>
            </p:cNvPr>
            <p:cNvCxnSpPr>
              <a:cxnSpLocks/>
              <a:stCxn id="8" idx="0"/>
              <a:endCxn id="7" idx="1"/>
            </p:cNvCxnSpPr>
            <p:nvPr/>
          </p:nvCxnSpPr>
          <p:spPr>
            <a:xfrm rot="5400000" flipH="1" flipV="1">
              <a:off x="9197973" y="1513430"/>
              <a:ext cx="82498" cy="1118130"/>
            </a:xfrm>
            <a:prstGeom prst="curvedConnector2">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25" name="コネクタ: 曲線 24">
              <a:extLst>
                <a:ext uri="{FF2B5EF4-FFF2-40B4-BE49-F238E27FC236}">
                  <a16:creationId xmlns:a16="http://schemas.microsoft.com/office/drawing/2014/main" id="{1F7B6BA2-4170-52AC-48E1-F6D7563A45DC}"/>
                </a:ext>
              </a:extLst>
            </p:cNvPr>
            <p:cNvCxnSpPr>
              <a:cxnSpLocks/>
              <a:stCxn id="22" idx="1"/>
              <a:endCxn id="8" idx="3"/>
            </p:cNvCxnSpPr>
            <p:nvPr/>
          </p:nvCxnSpPr>
          <p:spPr>
            <a:xfrm rot="10800000">
              <a:off x="8975213" y="2185070"/>
              <a:ext cx="823074" cy="366961"/>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26" name="コネクタ: 曲線 25">
              <a:extLst>
                <a:ext uri="{FF2B5EF4-FFF2-40B4-BE49-F238E27FC236}">
                  <a16:creationId xmlns:a16="http://schemas.microsoft.com/office/drawing/2014/main" id="{17EA4C99-B59F-3495-19A8-3179B6E3F835}"/>
                </a:ext>
              </a:extLst>
            </p:cNvPr>
            <p:cNvCxnSpPr>
              <a:cxnSpLocks/>
              <a:stCxn id="12" idx="1"/>
              <a:endCxn id="6" idx="1"/>
            </p:cNvCxnSpPr>
            <p:nvPr/>
          </p:nvCxnSpPr>
          <p:spPr>
            <a:xfrm rot="10800000">
              <a:off x="6985209" y="2031245"/>
              <a:ext cx="4754" cy="520784"/>
            </a:xfrm>
            <a:prstGeom prst="curvedConnector3">
              <a:avLst>
                <a:gd name="adj1" fmla="val 180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27" name="コネクタ: 曲線 26">
              <a:extLst>
                <a:ext uri="{FF2B5EF4-FFF2-40B4-BE49-F238E27FC236}">
                  <a16:creationId xmlns:a16="http://schemas.microsoft.com/office/drawing/2014/main" id="{B40D57FF-AB05-48B2-2E8E-70B7777E4E05}"/>
                </a:ext>
              </a:extLst>
            </p:cNvPr>
            <p:cNvCxnSpPr>
              <a:cxnSpLocks/>
              <a:stCxn id="15" idx="1"/>
              <a:endCxn id="12" idx="2"/>
            </p:cNvCxnSpPr>
            <p:nvPr/>
          </p:nvCxnSpPr>
          <p:spPr>
            <a:xfrm rot="10800000" flipH="1">
              <a:off x="6985209" y="2623355"/>
              <a:ext cx="295055" cy="968000"/>
            </a:xfrm>
            <a:prstGeom prst="curvedConnector4">
              <a:avLst>
                <a:gd name="adj1" fmla="val -66928"/>
                <a:gd name="adj2" fmla="val 96347"/>
              </a:avLst>
            </a:prstGeom>
            <a:noFill/>
            <a:ln w="6350">
              <a:solidFill>
                <a:schemeClr val="bg1">
                  <a:lumMod val="50000"/>
                </a:schemeClr>
              </a:solidFill>
              <a:prstDash val="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8" name="コネクタ: 曲線 27">
              <a:extLst>
                <a:ext uri="{FF2B5EF4-FFF2-40B4-BE49-F238E27FC236}">
                  <a16:creationId xmlns:a16="http://schemas.microsoft.com/office/drawing/2014/main" id="{6D1C27E7-D813-305C-B645-1A0BE10F2A5F}"/>
                </a:ext>
              </a:extLst>
            </p:cNvPr>
            <p:cNvCxnSpPr>
              <a:cxnSpLocks/>
              <a:stCxn id="15" idx="3"/>
              <a:endCxn id="8" idx="1"/>
            </p:cNvCxnSpPr>
            <p:nvPr/>
          </p:nvCxnSpPr>
          <p:spPr>
            <a:xfrm flipV="1">
              <a:off x="7575320" y="2185069"/>
              <a:ext cx="809783" cy="1406287"/>
            </a:xfrm>
            <a:prstGeom prst="curvedConnector3">
              <a:avLst>
                <a:gd name="adj1" fmla="val 50000"/>
              </a:avLst>
            </a:prstGeom>
            <a:noFill/>
            <a:ln w="6350">
              <a:solidFill>
                <a:schemeClr val="bg1">
                  <a:lumMod val="50000"/>
                </a:schemeClr>
              </a:solidFill>
              <a:prstDash val="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29" name="コネクタ: 曲線 28">
              <a:extLst>
                <a:ext uri="{FF2B5EF4-FFF2-40B4-BE49-F238E27FC236}">
                  <a16:creationId xmlns:a16="http://schemas.microsoft.com/office/drawing/2014/main" id="{45277823-8C40-827B-6401-F9ED817ABE4D}"/>
                </a:ext>
              </a:extLst>
            </p:cNvPr>
            <p:cNvCxnSpPr>
              <a:cxnSpLocks/>
              <a:stCxn id="15" idx="3"/>
              <a:endCxn id="22" idx="1"/>
            </p:cNvCxnSpPr>
            <p:nvPr/>
          </p:nvCxnSpPr>
          <p:spPr>
            <a:xfrm flipV="1">
              <a:off x="7575320" y="2552031"/>
              <a:ext cx="2222968" cy="1039325"/>
            </a:xfrm>
            <a:prstGeom prst="curvedConnector3">
              <a:avLst>
                <a:gd name="adj1" fmla="val 61252"/>
              </a:avLst>
            </a:prstGeom>
            <a:noFill/>
            <a:ln w="6350">
              <a:solidFill>
                <a:schemeClr val="bg1">
                  <a:lumMod val="50000"/>
                </a:schemeClr>
              </a:solidFill>
              <a:prstDash val="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cxnSp>
          <p:nvCxnSpPr>
            <p:cNvPr id="30" name="コネクタ: 曲線 29">
              <a:extLst>
                <a:ext uri="{FF2B5EF4-FFF2-40B4-BE49-F238E27FC236}">
                  <a16:creationId xmlns:a16="http://schemas.microsoft.com/office/drawing/2014/main" id="{DB9B9FE8-C40A-866D-B9CB-F70C55CEB2CC}"/>
                </a:ext>
              </a:extLst>
            </p:cNvPr>
            <p:cNvCxnSpPr>
              <a:cxnSpLocks/>
              <a:stCxn id="22" idx="2"/>
              <a:endCxn id="19" idx="3"/>
            </p:cNvCxnSpPr>
            <p:nvPr/>
          </p:nvCxnSpPr>
          <p:spPr>
            <a:xfrm rot="5400000">
              <a:off x="9053600" y="2551613"/>
              <a:ext cx="968000" cy="1111483"/>
            </a:xfrm>
            <a:prstGeom prst="curvedConnector2">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31" name="コネクタ: 曲線 30">
              <a:extLst>
                <a:ext uri="{FF2B5EF4-FFF2-40B4-BE49-F238E27FC236}">
                  <a16:creationId xmlns:a16="http://schemas.microsoft.com/office/drawing/2014/main" id="{E014E56D-2FB1-E7DB-D29D-DE44CCC96D98}"/>
                </a:ext>
              </a:extLst>
            </p:cNvPr>
            <p:cNvCxnSpPr>
              <a:cxnSpLocks/>
              <a:stCxn id="22" idx="3"/>
              <a:endCxn id="21" idx="3"/>
            </p:cNvCxnSpPr>
            <p:nvPr/>
          </p:nvCxnSpPr>
          <p:spPr>
            <a:xfrm>
              <a:off x="10388397" y="2552031"/>
              <a:ext cx="4754" cy="1039325"/>
            </a:xfrm>
            <a:prstGeom prst="curvedConnector3">
              <a:avLst>
                <a:gd name="adj1" fmla="val 1800000"/>
              </a:avLst>
            </a:prstGeom>
            <a:noFill/>
            <a:ln w="6350">
              <a:solidFill>
                <a:schemeClr val="bg1">
                  <a:lumMod val="50000"/>
                </a:schemeClr>
              </a:solidFill>
              <a:prstDash val="solid"/>
              <a:headEnd type="triangle"/>
              <a:tail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32" name="コネクタ: 曲線 31">
              <a:extLst>
                <a:ext uri="{FF2B5EF4-FFF2-40B4-BE49-F238E27FC236}">
                  <a16:creationId xmlns:a16="http://schemas.microsoft.com/office/drawing/2014/main" id="{60221CAE-4F2C-0DFC-529D-FEEAD025FABD}"/>
                </a:ext>
              </a:extLst>
            </p:cNvPr>
            <p:cNvCxnSpPr>
              <a:cxnSpLocks/>
              <a:stCxn id="18" idx="3"/>
              <a:endCxn id="22" idx="2"/>
            </p:cNvCxnSpPr>
            <p:nvPr/>
          </p:nvCxnSpPr>
          <p:spPr>
            <a:xfrm flipV="1">
              <a:off x="8981858" y="2623355"/>
              <a:ext cx="1111483" cy="219279"/>
            </a:xfrm>
            <a:prstGeom prst="curvedConnector2">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33" name="コネクタ: 曲線 32">
              <a:extLst>
                <a:ext uri="{FF2B5EF4-FFF2-40B4-BE49-F238E27FC236}">
                  <a16:creationId xmlns:a16="http://schemas.microsoft.com/office/drawing/2014/main" id="{11484DB6-72BC-7A14-06F6-9960BAE4D1CD}"/>
                </a:ext>
              </a:extLst>
            </p:cNvPr>
            <p:cNvCxnSpPr>
              <a:cxnSpLocks/>
              <a:stCxn id="13" idx="3"/>
              <a:endCxn id="22" idx="1"/>
            </p:cNvCxnSpPr>
            <p:nvPr/>
          </p:nvCxnSpPr>
          <p:spPr>
            <a:xfrm flipV="1">
              <a:off x="7575320" y="2552031"/>
              <a:ext cx="2222968" cy="295937"/>
            </a:xfrm>
            <a:prstGeom prst="curvedConnector3">
              <a:avLst>
                <a:gd name="adj1" fmla="val 35861"/>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34" name="コネクタ: 曲線 33">
              <a:extLst>
                <a:ext uri="{FF2B5EF4-FFF2-40B4-BE49-F238E27FC236}">
                  <a16:creationId xmlns:a16="http://schemas.microsoft.com/office/drawing/2014/main" id="{FBC623D9-E431-05B9-586D-FBA68E252F0F}"/>
                </a:ext>
              </a:extLst>
            </p:cNvPr>
            <p:cNvCxnSpPr>
              <a:cxnSpLocks/>
              <a:stCxn id="14" idx="1"/>
              <a:endCxn id="13" idx="1"/>
            </p:cNvCxnSpPr>
            <p:nvPr/>
          </p:nvCxnSpPr>
          <p:spPr>
            <a:xfrm rot="10800000">
              <a:off x="6985210" y="2847967"/>
              <a:ext cx="4754" cy="295937"/>
            </a:xfrm>
            <a:prstGeom prst="curvedConnector3">
              <a:avLst>
                <a:gd name="adj1" fmla="val 180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35" name="コネクタ: 曲線 34">
              <a:extLst>
                <a:ext uri="{FF2B5EF4-FFF2-40B4-BE49-F238E27FC236}">
                  <a16:creationId xmlns:a16="http://schemas.microsoft.com/office/drawing/2014/main" id="{AF61E1EE-6FE2-F452-83CA-37811AFBDAB0}"/>
                </a:ext>
              </a:extLst>
            </p:cNvPr>
            <p:cNvCxnSpPr>
              <a:cxnSpLocks/>
              <a:stCxn id="14" idx="3"/>
              <a:endCxn id="18" idx="1"/>
            </p:cNvCxnSpPr>
            <p:nvPr/>
          </p:nvCxnSpPr>
          <p:spPr>
            <a:xfrm flipV="1">
              <a:off x="7575320" y="2842634"/>
              <a:ext cx="816430" cy="301271"/>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36" name="コネクタ: 曲線 35">
              <a:extLst>
                <a:ext uri="{FF2B5EF4-FFF2-40B4-BE49-F238E27FC236}">
                  <a16:creationId xmlns:a16="http://schemas.microsoft.com/office/drawing/2014/main" id="{61138F25-2321-ACBA-C249-7612A4D2DFF5}"/>
                </a:ext>
              </a:extLst>
            </p:cNvPr>
            <p:cNvCxnSpPr>
              <a:cxnSpLocks/>
              <a:stCxn id="19" idx="1"/>
              <a:endCxn id="14" idx="2"/>
            </p:cNvCxnSpPr>
            <p:nvPr/>
          </p:nvCxnSpPr>
          <p:spPr>
            <a:xfrm rot="10800000">
              <a:off x="7280264" y="3215229"/>
              <a:ext cx="1111484" cy="376127"/>
            </a:xfrm>
            <a:prstGeom prst="curvedConnector2">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37" name="コネクタ: 曲線 36">
              <a:extLst>
                <a:ext uri="{FF2B5EF4-FFF2-40B4-BE49-F238E27FC236}">
                  <a16:creationId xmlns:a16="http://schemas.microsoft.com/office/drawing/2014/main" id="{943BB417-F259-505E-9279-E6FE5D61DF37}"/>
                </a:ext>
              </a:extLst>
            </p:cNvPr>
            <p:cNvCxnSpPr>
              <a:cxnSpLocks/>
              <a:stCxn id="21" idx="1"/>
              <a:endCxn id="19" idx="2"/>
            </p:cNvCxnSpPr>
            <p:nvPr/>
          </p:nvCxnSpPr>
          <p:spPr>
            <a:xfrm rot="10800000" flipV="1">
              <a:off x="8686806" y="3591356"/>
              <a:ext cx="1111483" cy="71324"/>
            </a:xfrm>
            <a:prstGeom prst="curvedConnector4">
              <a:avLst>
                <a:gd name="adj1" fmla="val 36727"/>
                <a:gd name="adj2" fmla="val 219976"/>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grpSp>
          <p:nvGrpSpPr>
            <p:cNvPr id="38" name="グループ化 37">
              <a:extLst>
                <a:ext uri="{FF2B5EF4-FFF2-40B4-BE49-F238E27FC236}">
                  <a16:creationId xmlns:a16="http://schemas.microsoft.com/office/drawing/2014/main" id="{503513FD-2BDB-A43D-368E-52E59FADFB1B}"/>
                </a:ext>
              </a:extLst>
            </p:cNvPr>
            <p:cNvGrpSpPr/>
            <p:nvPr/>
          </p:nvGrpSpPr>
          <p:grpSpPr>
            <a:xfrm>
              <a:off x="9997799" y="1713951"/>
              <a:ext cx="755180" cy="88574"/>
              <a:chOff x="9771174" y="958952"/>
              <a:chExt cx="2017409" cy="236619"/>
            </a:xfrm>
          </p:grpSpPr>
          <p:grpSp>
            <p:nvGrpSpPr>
              <p:cNvPr id="39" name="グループ化 38">
                <a:extLst>
                  <a:ext uri="{FF2B5EF4-FFF2-40B4-BE49-F238E27FC236}">
                    <a16:creationId xmlns:a16="http://schemas.microsoft.com/office/drawing/2014/main" id="{C49AD528-FA50-5908-D35E-F909D9C55253}"/>
                  </a:ext>
                </a:extLst>
              </p:cNvPr>
              <p:cNvGrpSpPr/>
              <p:nvPr/>
            </p:nvGrpSpPr>
            <p:grpSpPr>
              <a:xfrm>
                <a:off x="9771174" y="958952"/>
                <a:ext cx="1026428" cy="236619"/>
                <a:chOff x="9771174" y="958952"/>
                <a:chExt cx="1026428" cy="236619"/>
              </a:xfrm>
            </p:grpSpPr>
            <p:cxnSp>
              <p:nvCxnSpPr>
                <p:cNvPr id="43" name="コネクタ: 曲線 42">
                  <a:extLst>
                    <a:ext uri="{FF2B5EF4-FFF2-40B4-BE49-F238E27FC236}">
                      <a16:creationId xmlns:a16="http://schemas.microsoft.com/office/drawing/2014/main" id="{5B142EF9-6898-D499-2AE8-59DA95AD0F30}"/>
                    </a:ext>
                  </a:extLst>
                </p:cNvPr>
                <p:cNvCxnSpPr>
                  <a:cxnSpLocks/>
                </p:cNvCxnSpPr>
                <p:nvPr/>
              </p:nvCxnSpPr>
              <p:spPr>
                <a:xfrm rot="240000" flipV="1">
                  <a:off x="9771174" y="1034288"/>
                  <a:ext cx="451125" cy="85946"/>
                </a:xfrm>
                <a:prstGeom prst="curvedConnector3">
                  <a:avLst>
                    <a:gd name="adj1" fmla="val 54654"/>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44" name="正方形/長方形 43">
                  <a:extLst>
                    <a:ext uri="{FF2B5EF4-FFF2-40B4-BE49-F238E27FC236}">
                      <a16:creationId xmlns:a16="http://schemas.microsoft.com/office/drawing/2014/main" id="{12B0B279-F8FF-1292-235D-7C9ED36FE509}"/>
                    </a:ext>
                  </a:extLst>
                </p:cNvPr>
                <p:cNvSpPr/>
                <p:nvPr/>
              </p:nvSpPr>
              <p:spPr>
                <a:xfrm>
                  <a:off x="10189816" y="958952"/>
                  <a:ext cx="607786" cy="23661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defTabSz="584200" rtl="0" fontAlgn="auto" latinLnBrk="1" hangingPunct="0">
                    <a:lnSpc>
                      <a:spcPct val="100000"/>
                    </a:lnSpc>
                    <a:spcBef>
                      <a:spcPts val="0"/>
                    </a:spcBef>
                    <a:spcAft>
                      <a:spcPts val="0"/>
                    </a:spcAft>
                    <a:buClrTx/>
                    <a:buSzTx/>
                    <a:buFontTx/>
                    <a:buNone/>
                    <a:tabLst/>
                  </a:pPr>
                  <a:r>
                    <a:rPr kumimoji="0" lang="ja-JP" altLang="en-US"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関連線</a:t>
                  </a:r>
                </a:p>
              </p:txBody>
            </p:sp>
          </p:grpSp>
          <p:grpSp>
            <p:nvGrpSpPr>
              <p:cNvPr id="40" name="グループ化 39">
                <a:extLst>
                  <a:ext uri="{FF2B5EF4-FFF2-40B4-BE49-F238E27FC236}">
                    <a16:creationId xmlns:a16="http://schemas.microsoft.com/office/drawing/2014/main" id="{1E839885-3F85-3B4B-2A77-550506E74730}"/>
                  </a:ext>
                </a:extLst>
              </p:cNvPr>
              <p:cNvGrpSpPr/>
              <p:nvPr/>
            </p:nvGrpSpPr>
            <p:grpSpPr>
              <a:xfrm>
                <a:off x="10814899" y="958952"/>
                <a:ext cx="973684" cy="236619"/>
                <a:chOff x="9771174" y="958952"/>
                <a:chExt cx="973684" cy="236619"/>
              </a:xfrm>
            </p:grpSpPr>
            <p:cxnSp>
              <p:nvCxnSpPr>
                <p:cNvPr id="41" name="コネクタ: 曲線 40">
                  <a:extLst>
                    <a:ext uri="{FF2B5EF4-FFF2-40B4-BE49-F238E27FC236}">
                      <a16:creationId xmlns:a16="http://schemas.microsoft.com/office/drawing/2014/main" id="{2D386705-B8D2-0A5F-9130-15ADAB8925BB}"/>
                    </a:ext>
                  </a:extLst>
                </p:cNvPr>
                <p:cNvCxnSpPr>
                  <a:cxnSpLocks/>
                </p:cNvCxnSpPr>
                <p:nvPr/>
              </p:nvCxnSpPr>
              <p:spPr>
                <a:xfrm rot="240000" flipV="1">
                  <a:off x="9771174" y="1034288"/>
                  <a:ext cx="451125" cy="85946"/>
                </a:xfrm>
                <a:prstGeom prst="curvedConnector3">
                  <a:avLst>
                    <a:gd name="adj1" fmla="val 54654"/>
                  </a:avLst>
                </a:prstGeom>
                <a:noFill/>
                <a:ln w="6350">
                  <a:solidFill>
                    <a:schemeClr val="bg1">
                      <a:lumMod val="50000"/>
                    </a:schemeClr>
                  </a:solidFill>
                  <a:prstDash val="dash"/>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cxnSp>
            <p:sp>
              <p:nvSpPr>
                <p:cNvPr id="42" name="正方形/長方形 41">
                  <a:extLst>
                    <a:ext uri="{FF2B5EF4-FFF2-40B4-BE49-F238E27FC236}">
                      <a16:creationId xmlns:a16="http://schemas.microsoft.com/office/drawing/2014/main" id="{A3CB1D77-BA63-EA82-0908-E6313DA78964}"/>
                    </a:ext>
                  </a:extLst>
                </p:cNvPr>
                <p:cNvSpPr/>
                <p:nvPr/>
              </p:nvSpPr>
              <p:spPr>
                <a:xfrm>
                  <a:off x="10242556" y="958952"/>
                  <a:ext cx="502302" cy="23661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defTabSz="584200" rtl="0" fontAlgn="auto" latinLnBrk="1" hangingPunct="0">
                    <a:lnSpc>
                      <a:spcPct val="100000"/>
                    </a:lnSpc>
                    <a:spcBef>
                      <a:spcPts val="0"/>
                    </a:spcBef>
                    <a:spcAft>
                      <a:spcPts val="0"/>
                    </a:spcAft>
                    <a:buClrTx/>
                    <a:buSzTx/>
                    <a:buFontTx/>
                    <a:buNone/>
                    <a:tabLst/>
                  </a:pPr>
                  <a:r>
                    <a:rPr kumimoji="0" lang="ja-JP" altLang="en-US" sz="3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認証</a:t>
                  </a:r>
                </a:p>
              </p:txBody>
            </p:sp>
          </p:grpSp>
        </p:grpSp>
      </p:grpSp>
      <p:grpSp>
        <p:nvGrpSpPr>
          <p:cNvPr id="155" name="グループ化 154">
            <a:extLst>
              <a:ext uri="{FF2B5EF4-FFF2-40B4-BE49-F238E27FC236}">
                <a16:creationId xmlns:a16="http://schemas.microsoft.com/office/drawing/2014/main" id="{C4B9E0AC-9B1A-CFB5-894B-BF56B49D821B}"/>
              </a:ext>
            </a:extLst>
          </p:cNvPr>
          <p:cNvGrpSpPr/>
          <p:nvPr/>
        </p:nvGrpSpPr>
        <p:grpSpPr>
          <a:xfrm>
            <a:off x="1100800" y="4579262"/>
            <a:ext cx="4808801" cy="1771710"/>
            <a:chOff x="339441" y="1956236"/>
            <a:chExt cx="11484547" cy="4231260"/>
          </a:xfrm>
        </p:grpSpPr>
        <p:grpSp>
          <p:nvGrpSpPr>
            <p:cNvPr id="156" name="グループ化 155">
              <a:extLst>
                <a:ext uri="{FF2B5EF4-FFF2-40B4-BE49-F238E27FC236}">
                  <a16:creationId xmlns:a16="http://schemas.microsoft.com/office/drawing/2014/main" id="{CF2B7C3D-3EC2-EDE1-16C1-C58C8F753DF2}"/>
                </a:ext>
              </a:extLst>
            </p:cNvPr>
            <p:cNvGrpSpPr/>
            <p:nvPr/>
          </p:nvGrpSpPr>
          <p:grpSpPr>
            <a:xfrm>
              <a:off x="373062" y="1956236"/>
              <a:ext cx="11445876" cy="2945528"/>
              <a:chOff x="238124" y="1956236"/>
              <a:chExt cx="11445876" cy="2945528"/>
            </a:xfrm>
          </p:grpSpPr>
          <p:pic>
            <p:nvPicPr>
              <p:cNvPr id="162" name="図 161">
                <a:extLst>
                  <a:ext uri="{FF2B5EF4-FFF2-40B4-BE49-F238E27FC236}">
                    <a16:creationId xmlns:a16="http://schemas.microsoft.com/office/drawing/2014/main" id="{C903CBE1-541D-576C-127E-B524AA31D37D}"/>
                  </a:ext>
                </a:extLst>
              </p:cNvPr>
              <p:cNvPicPr>
                <a:picLocks noChangeAspect="1"/>
              </p:cNvPicPr>
              <p:nvPr/>
            </p:nvPicPr>
            <p:blipFill>
              <a:blip r:embed="rId5"/>
              <a:stretch>
                <a:fillRect/>
              </a:stretch>
            </p:blipFill>
            <p:spPr>
              <a:xfrm>
                <a:off x="6203950" y="1956236"/>
                <a:ext cx="5480050" cy="2945528"/>
              </a:xfrm>
              <a:prstGeom prst="rect">
                <a:avLst/>
              </a:prstGeom>
            </p:spPr>
          </p:pic>
          <p:pic>
            <p:nvPicPr>
              <p:cNvPr id="163" name="図 162">
                <a:extLst>
                  <a:ext uri="{FF2B5EF4-FFF2-40B4-BE49-F238E27FC236}">
                    <a16:creationId xmlns:a16="http://schemas.microsoft.com/office/drawing/2014/main" id="{7266AFE1-4D14-0DE8-21F2-E109B770F3F6}"/>
                  </a:ext>
                </a:extLst>
              </p:cNvPr>
              <p:cNvPicPr>
                <a:picLocks noChangeAspect="1"/>
              </p:cNvPicPr>
              <p:nvPr/>
            </p:nvPicPr>
            <p:blipFill>
              <a:blip r:embed="rId6"/>
              <a:stretch>
                <a:fillRect/>
              </a:stretch>
            </p:blipFill>
            <p:spPr>
              <a:xfrm>
                <a:off x="238124" y="1956236"/>
                <a:ext cx="5480052" cy="2945528"/>
              </a:xfrm>
              <a:prstGeom prst="rect">
                <a:avLst/>
              </a:prstGeom>
            </p:spPr>
          </p:pic>
        </p:grpSp>
        <p:sp>
          <p:nvSpPr>
            <p:cNvPr id="157" name="フローチャート: 磁気ディスク 156">
              <a:extLst>
                <a:ext uri="{FF2B5EF4-FFF2-40B4-BE49-F238E27FC236}">
                  <a16:creationId xmlns:a16="http://schemas.microsoft.com/office/drawing/2014/main" id="{3AA30436-2447-7627-EC25-11CBD534561C}"/>
                </a:ext>
              </a:extLst>
            </p:cNvPr>
            <p:cNvSpPr/>
            <p:nvPr/>
          </p:nvSpPr>
          <p:spPr bwMode="auto">
            <a:xfrm>
              <a:off x="5638799" y="5681175"/>
              <a:ext cx="914400" cy="506321"/>
            </a:xfrm>
            <a:prstGeom prst="flowChartMagneticDisk">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r>
                <a:rPr kumimoji="0" lang="en-US" altLang="ja-JP" sz="500" dirty="0">
                  <a:solidFill>
                    <a:schemeClr val="accent4">
                      <a:lumMod val="65000"/>
                      <a:lumOff val="35000"/>
                    </a:schemeClr>
                  </a:solidFill>
                  <a:latin typeface="Meiryo UI" panose="020B0604030504040204" pitchFamily="50" charset="-128"/>
                  <a:ea typeface="Meiryo UI" panose="020B0604030504040204" pitchFamily="50" charset="-128"/>
                </a:rPr>
                <a:t>n8n</a:t>
              </a:r>
              <a:r>
                <a:rPr kumimoji="0" lang="ja-JP" altLang="en-US" sz="500" dirty="0">
                  <a:solidFill>
                    <a:schemeClr val="accent4">
                      <a:lumMod val="65000"/>
                      <a:lumOff val="35000"/>
                    </a:schemeClr>
                  </a:solidFill>
                  <a:latin typeface="Meiryo UI" panose="020B0604030504040204" pitchFamily="50" charset="-128"/>
                  <a:ea typeface="Meiryo UI" panose="020B0604030504040204" pitchFamily="50" charset="-128"/>
                </a:rPr>
                <a:t>専用</a:t>
              </a:r>
            </a:p>
          </p:txBody>
        </p:sp>
        <p:cxnSp>
          <p:nvCxnSpPr>
            <p:cNvPr id="158" name="コネクタ: カギ線 157">
              <a:extLst>
                <a:ext uri="{FF2B5EF4-FFF2-40B4-BE49-F238E27FC236}">
                  <a16:creationId xmlns:a16="http://schemas.microsoft.com/office/drawing/2014/main" id="{132B68C8-BD63-AE23-CA5B-28671F99C9E7}"/>
                </a:ext>
              </a:extLst>
            </p:cNvPr>
            <p:cNvCxnSpPr>
              <a:cxnSpLocks/>
              <a:stCxn id="163" idx="2"/>
              <a:endCxn id="157" idx="1"/>
            </p:cNvCxnSpPr>
            <p:nvPr/>
          </p:nvCxnSpPr>
          <p:spPr>
            <a:xfrm rot="16200000" flipH="1">
              <a:off x="4214838" y="3800013"/>
              <a:ext cx="779411" cy="2982911"/>
            </a:xfrm>
            <a:prstGeom prst="bentConnector3">
              <a:avLst>
                <a:gd name="adj1" fmla="val 50000"/>
              </a:avLst>
            </a:prstGeom>
            <a:noFill/>
            <a:ln w="6350">
              <a:solidFill>
                <a:schemeClr val="bg1">
                  <a:lumMod val="50000"/>
                </a:schemeClr>
              </a:solidFill>
              <a:prstDash val="dash"/>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59" name="コネクタ: カギ線 158">
              <a:extLst>
                <a:ext uri="{FF2B5EF4-FFF2-40B4-BE49-F238E27FC236}">
                  <a16:creationId xmlns:a16="http://schemas.microsoft.com/office/drawing/2014/main" id="{2C8CEAF5-3E81-9669-7AEB-DC76D32291B4}"/>
                </a:ext>
              </a:extLst>
            </p:cNvPr>
            <p:cNvCxnSpPr>
              <a:cxnSpLocks/>
              <a:stCxn id="162" idx="2"/>
              <a:endCxn id="157" idx="1"/>
            </p:cNvCxnSpPr>
            <p:nvPr/>
          </p:nvCxnSpPr>
          <p:spPr>
            <a:xfrm rot="5400000">
              <a:off x="7197751" y="3800012"/>
              <a:ext cx="779411" cy="2982914"/>
            </a:xfrm>
            <a:prstGeom prst="bentConnector3">
              <a:avLst>
                <a:gd name="adj1" fmla="val 50000"/>
              </a:avLst>
            </a:prstGeom>
            <a:noFill/>
            <a:ln w="6350">
              <a:solidFill>
                <a:schemeClr val="bg1">
                  <a:lumMod val="50000"/>
                </a:schemeClr>
              </a:solidFill>
              <a:prstDash val="dash"/>
              <a:headEnd type="none"/>
            </a:ln>
          </p:spPr>
          <p:style>
            <a:lnRef idx="2">
              <a:schemeClr val="accent1">
                <a:shade val="50000"/>
              </a:schemeClr>
            </a:lnRef>
            <a:fillRef idx="1">
              <a:schemeClr val="accent1"/>
            </a:fillRef>
            <a:effectRef idx="0">
              <a:schemeClr val="accent1"/>
            </a:effectRef>
            <a:fontRef idx="minor">
              <a:schemeClr val="lt1"/>
            </a:fontRef>
          </p:style>
        </p:cxnSp>
        <p:sp>
          <p:nvSpPr>
            <p:cNvPr id="160" name="正方形/長方形 159">
              <a:extLst>
                <a:ext uri="{FF2B5EF4-FFF2-40B4-BE49-F238E27FC236}">
                  <a16:creationId xmlns:a16="http://schemas.microsoft.com/office/drawing/2014/main" id="{35A9F50A-F1CE-CA99-9CD8-61D7A71DB36F}"/>
                </a:ext>
              </a:extLst>
            </p:cNvPr>
            <p:cNvSpPr/>
            <p:nvPr/>
          </p:nvSpPr>
          <p:spPr>
            <a:xfrm>
              <a:off x="339441" y="4904376"/>
              <a:ext cx="5513674" cy="316102"/>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500"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社の稼働率管理画面（</a:t>
              </a:r>
              <a:r>
                <a:rPr kumimoji="0" lang="en-US" altLang="ja-JP"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Teams</a:t>
              </a:r>
              <a:r>
                <a:rPr kumimoji="0" lang="ja-JP" altLang="en-US"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endParaRPr kumimoji="0" lang="ja-JP" altLang="en-US" sz="5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61" name="正方形/長方形 160">
              <a:extLst>
                <a:ext uri="{FF2B5EF4-FFF2-40B4-BE49-F238E27FC236}">
                  <a16:creationId xmlns:a16="http://schemas.microsoft.com/office/drawing/2014/main" id="{5E37AE0F-92A8-0B8A-E4C5-B41C902A2F31}"/>
                </a:ext>
              </a:extLst>
            </p:cNvPr>
            <p:cNvSpPr/>
            <p:nvPr/>
          </p:nvSpPr>
          <p:spPr>
            <a:xfrm>
              <a:off x="6310314" y="4904376"/>
              <a:ext cx="5513674" cy="316102"/>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500"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社の</a:t>
              </a:r>
              <a:r>
                <a:rPr kumimoji="0" lang="en-US" altLang="ja-JP"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ROI</a:t>
              </a:r>
              <a:r>
                <a:rPr kumimoji="0" lang="ja-JP" altLang="en-US"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管理画面（</a:t>
              </a:r>
              <a:r>
                <a:rPr kumimoji="0" lang="en-US" altLang="ja-JP"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Teams</a:t>
              </a:r>
              <a:r>
                <a:rPr kumimoji="0" lang="ja-JP" altLang="en-US" sz="5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endParaRPr kumimoji="0" lang="ja-JP" altLang="en-US" sz="5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sp>
        <p:nvSpPr>
          <p:cNvPr id="49" name="矢印: 環状 48">
            <a:extLst>
              <a:ext uri="{FF2B5EF4-FFF2-40B4-BE49-F238E27FC236}">
                <a16:creationId xmlns:a16="http://schemas.microsoft.com/office/drawing/2014/main" id="{B929603F-5CA3-C4FE-8F6F-B7FBE1BF1402}"/>
              </a:ext>
            </a:extLst>
          </p:cNvPr>
          <p:cNvSpPr/>
          <p:nvPr/>
        </p:nvSpPr>
        <p:spPr bwMode="auto">
          <a:xfrm rot="16200000">
            <a:off x="4661519" y="2517056"/>
            <a:ext cx="2868962" cy="2868962"/>
          </a:xfrm>
          <a:prstGeom prst="circularArrow">
            <a:avLst>
              <a:gd name="adj1" fmla="val 12020"/>
              <a:gd name="adj2" fmla="val 1142319"/>
              <a:gd name="adj3" fmla="val 20016622"/>
              <a:gd name="adj4" fmla="val 21161829"/>
              <a:gd name="adj5" fmla="val 12500"/>
            </a:avLst>
          </a:prstGeom>
          <a:solidFill>
            <a:srgbClr val="7F7F7F">
              <a:alpha val="20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grpSp>
        <p:nvGrpSpPr>
          <p:cNvPr id="48" name="グループ化 47">
            <a:extLst>
              <a:ext uri="{FF2B5EF4-FFF2-40B4-BE49-F238E27FC236}">
                <a16:creationId xmlns:a16="http://schemas.microsoft.com/office/drawing/2014/main" id="{8D0DB5CB-CC8A-4FE3-1A2B-4F9A45B89118}"/>
              </a:ext>
            </a:extLst>
          </p:cNvPr>
          <p:cNvGrpSpPr/>
          <p:nvPr/>
        </p:nvGrpSpPr>
        <p:grpSpPr>
          <a:xfrm>
            <a:off x="5569228" y="3244452"/>
            <a:ext cx="1050290" cy="1338773"/>
            <a:chOff x="5569228" y="3244452"/>
            <a:chExt cx="1050290" cy="1338773"/>
          </a:xfrm>
        </p:grpSpPr>
        <p:sp>
          <p:nvSpPr>
            <p:cNvPr id="74" name="弦 73">
              <a:extLst>
                <a:ext uri="{FF2B5EF4-FFF2-40B4-BE49-F238E27FC236}">
                  <a16:creationId xmlns:a16="http://schemas.microsoft.com/office/drawing/2014/main" id="{68F6F922-163E-AEE5-D1DE-A94DA8247DE8}"/>
                </a:ext>
              </a:extLst>
            </p:cNvPr>
            <p:cNvSpPr/>
            <p:nvPr/>
          </p:nvSpPr>
          <p:spPr bwMode="auto">
            <a:xfrm>
              <a:off x="5569228" y="3244452"/>
              <a:ext cx="914400" cy="1338773"/>
            </a:xfrm>
            <a:prstGeom prst="chord">
              <a:avLst>
                <a:gd name="adj1" fmla="val 5413670"/>
                <a:gd name="adj2" fmla="val 16200000"/>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75" name="弦 74">
              <a:extLst>
                <a:ext uri="{FF2B5EF4-FFF2-40B4-BE49-F238E27FC236}">
                  <a16:creationId xmlns:a16="http://schemas.microsoft.com/office/drawing/2014/main" id="{EDFC9869-761E-E226-5183-5FB07F9F698B}"/>
                </a:ext>
              </a:extLst>
            </p:cNvPr>
            <p:cNvSpPr/>
            <p:nvPr/>
          </p:nvSpPr>
          <p:spPr bwMode="auto">
            <a:xfrm rot="10800000">
              <a:off x="5705118" y="3244452"/>
              <a:ext cx="914400" cy="1338773"/>
            </a:xfrm>
            <a:prstGeom prst="chord">
              <a:avLst>
                <a:gd name="adj1" fmla="val 5413670"/>
                <a:gd name="adj2" fmla="val 16200000"/>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59F23E88-1551-B4E6-221D-0305584C5DAF}"/>
                </a:ext>
              </a:extLst>
            </p:cNvPr>
            <p:cNvSpPr/>
            <p:nvPr/>
          </p:nvSpPr>
          <p:spPr bwMode="auto">
            <a:xfrm>
              <a:off x="5661849" y="3517548"/>
              <a:ext cx="364337" cy="780990"/>
            </a:xfrm>
            <a:prstGeom prst="rect">
              <a:avLst/>
            </a:prstGeom>
          </p:spPr>
          <p:txBody>
            <a:bodyPr vert="eaVert" wrap="square" lIns="0" tIns="72000" rIns="0" bIns="72000" numCol="1" rtlCol="0" anchor="ctr" anchorCtr="0" compatLnSpc="1">
              <a:prstTxWarp prst="textNoShape">
                <a:avLst/>
              </a:prstTxWarp>
            </a:bodyPr>
            <a:lstStyle/>
            <a:p>
              <a:pPr algn="ctr"/>
              <a:r>
                <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人</a:t>
              </a:r>
              <a:endParaRPr lang="en-US" altLang="ja-JP"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9C45F544-65FF-5AEF-D191-C1F0A9D63CBD}"/>
                </a:ext>
              </a:extLst>
            </p:cNvPr>
            <p:cNvSpPr/>
            <p:nvPr/>
          </p:nvSpPr>
          <p:spPr bwMode="auto">
            <a:xfrm>
              <a:off x="6168821" y="3517548"/>
              <a:ext cx="364337" cy="780990"/>
            </a:xfrm>
            <a:prstGeom prst="rect">
              <a:avLst/>
            </a:prstGeom>
          </p:spPr>
          <p:txBody>
            <a:bodyPr vert="eaVert" wrap="square" lIns="0" tIns="72000" rIns="0" bIns="72000" numCol="1" rtlCol="0" anchor="ctr" anchorCtr="0" compatLnSpc="1">
              <a:prstTxWarp prst="textNoShape">
                <a:avLst/>
              </a:prstTxWarp>
            </a:bodyPr>
            <a:lstStyle/>
            <a:p>
              <a:pPr algn="ctr"/>
              <a:r>
                <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システム</a:t>
              </a:r>
              <a:endParaRPr lang="en-US" altLang="ja-JP"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20216747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8E44A-ACE8-87D4-3CEC-9EAD6CACE43A}"/>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AA5C91EA-6B67-48C2-A05B-B93AA5B18BB6}"/>
              </a:ext>
            </a:extLst>
          </p:cNvPr>
          <p:cNvSpPr>
            <a:spLocks noGrp="1"/>
          </p:cNvSpPr>
          <p:nvPr>
            <p:ph type="title"/>
          </p:nvPr>
        </p:nvSpPr>
        <p:spPr/>
        <p:txBody>
          <a:bodyPr/>
          <a:lstStyle/>
          <a:p>
            <a:r>
              <a:rPr lang="ja-JP" altLang="en-US" dirty="0"/>
              <a:t>業務・運営領域</a:t>
            </a:r>
            <a:endParaRPr kumimoji="1" lang="ja-JP" altLang="en-US" dirty="0"/>
          </a:p>
        </p:txBody>
      </p:sp>
      <p:sp>
        <p:nvSpPr>
          <p:cNvPr id="4" name="スライド番号プレースホルダー 3">
            <a:extLst>
              <a:ext uri="{FF2B5EF4-FFF2-40B4-BE49-F238E27FC236}">
                <a16:creationId xmlns:a16="http://schemas.microsoft.com/office/drawing/2014/main" id="{5BA104C4-219E-08E5-7971-5A7258DFB2B6}"/>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16</a:t>
            </a:fld>
            <a:endParaRPr lang="en-US" altLang="ja-JP"/>
          </a:p>
        </p:txBody>
      </p:sp>
      <p:sp>
        <p:nvSpPr>
          <p:cNvPr id="2" name="コンテンツ プレースホルダー 5">
            <a:extLst>
              <a:ext uri="{FF2B5EF4-FFF2-40B4-BE49-F238E27FC236}">
                <a16:creationId xmlns:a16="http://schemas.microsoft.com/office/drawing/2014/main" id="{0F7205FC-A65B-93AC-6853-833BEFE4C65C}"/>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BPS</a:t>
            </a:r>
            <a:r>
              <a:rPr lang="ja-JP" altLang="en-US" sz="1600" kern="0" dirty="0"/>
              <a:t>と経理</a:t>
            </a:r>
            <a:r>
              <a:rPr lang="en-US" altLang="ja-JP" sz="1600" kern="0" dirty="0"/>
              <a:t>OS</a:t>
            </a:r>
            <a:r>
              <a:rPr lang="ja-JP" altLang="en-US" sz="1600" kern="0" dirty="0"/>
              <a:t>領域を軸に</a:t>
            </a:r>
            <a:r>
              <a:rPr lang="en-US" altLang="ja-JP" sz="1600" kern="0" dirty="0"/>
              <a:t>AI</a:t>
            </a:r>
            <a:r>
              <a:rPr lang="ja-JP" altLang="en-US" sz="1600" kern="0" dirty="0"/>
              <a:t>エージェントの構築を行い、</a:t>
            </a:r>
            <a:r>
              <a:rPr lang="en-US" altLang="ja-JP" sz="1600" kern="0" dirty="0"/>
              <a:t>BPS</a:t>
            </a:r>
            <a:r>
              <a:rPr lang="ja-JP" altLang="en-US" sz="1600" kern="0" dirty="0"/>
              <a:t>領域にて実業務導入がほぼ決定した。</a:t>
            </a:r>
            <a:endParaRPr lang="en-US" altLang="ja-JP" sz="1600" kern="0" dirty="0"/>
          </a:p>
        </p:txBody>
      </p:sp>
      <p:grpSp>
        <p:nvGrpSpPr>
          <p:cNvPr id="243" name="グループ化 242">
            <a:extLst>
              <a:ext uri="{FF2B5EF4-FFF2-40B4-BE49-F238E27FC236}">
                <a16:creationId xmlns:a16="http://schemas.microsoft.com/office/drawing/2014/main" id="{2BD7855E-F129-FBC1-0336-BAEBEF8553D1}"/>
              </a:ext>
            </a:extLst>
          </p:cNvPr>
          <p:cNvGrpSpPr/>
          <p:nvPr/>
        </p:nvGrpSpPr>
        <p:grpSpPr>
          <a:xfrm>
            <a:off x="448031" y="1185328"/>
            <a:ext cx="11295938" cy="5306319"/>
            <a:chOff x="562686" y="1128178"/>
            <a:chExt cx="11295938" cy="5306319"/>
          </a:xfrm>
        </p:grpSpPr>
        <p:sp>
          <p:nvSpPr>
            <p:cNvPr id="162" name="正方形/長方形 161">
              <a:extLst>
                <a:ext uri="{FF2B5EF4-FFF2-40B4-BE49-F238E27FC236}">
                  <a16:creationId xmlns:a16="http://schemas.microsoft.com/office/drawing/2014/main" id="{54894C63-157A-E859-F186-D3A57D05684F}"/>
                </a:ext>
              </a:extLst>
            </p:cNvPr>
            <p:cNvSpPr/>
            <p:nvPr/>
          </p:nvSpPr>
          <p:spPr bwMode="auto">
            <a:xfrm>
              <a:off x="2041329" y="1830376"/>
              <a:ext cx="7379635" cy="342895"/>
            </a:xfrm>
            <a:prstGeom prst="rect">
              <a:avLst/>
            </a:prstGeom>
            <a:solidFill>
              <a:srgbClr val="FEECFE">
                <a:alpha val="60000"/>
              </a:srgbClr>
            </a:solidFill>
            <a:ln w="12700" cap="flat" cmpd="sng" algn="ctr">
              <a:no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endParaRPr kumimoji="0" lang="en-US" altLang="ja-JP" sz="6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endParaRPr>
            </a:p>
          </p:txBody>
        </p:sp>
        <p:sp>
          <p:nvSpPr>
            <p:cNvPr id="163" name="正方形/長方形 162">
              <a:extLst>
                <a:ext uri="{FF2B5EF4-FFF2-40B4-BE49-F238E27FC236}">
                  <a16:creationId xmlns:a16="http://schemas.microsoft.com/office/drawing/2014/main" id="{1677829B-5000-B960-DD53-3A9FFFA4C2C6}"/>
                </a:ext>
              </a:extLst>
            </p:cNvPr>
            <p:cNvSpPr/>
            <p:nvPr/>
          </p:nvSpPr>
          <p:spPr bwMode="auto">
            <a:xfrm>
              <a:off x="1558604" y="1830376"/>
              <a:ext cx="469371" cy="342895"/>
            </a:xfrm>
            <a:prstGeom prst="rect">
              <a:avLst/>
            </a:prstGeom>
            <a:solidFill>
              <a:srgbClr val="FFFFFF"/>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en-US" altLang="ja-JP" sz="600" kern="0" dirty="0">
                  <a:solidFill>
                    <a:srgbClr val="FF0000"/>
                  </a:solidFill>
                  <a:latin typeface="Meiryo UI" panose="020B0604030504040204" pitchFamily="50" charset="-128"/>
                  <a:ea typeface="Meiryo UI" panose="020B0604030504040204" pitchFamily="50" charset="-128"/>
                  <a:cs typeface="メイリオ" panose="020B0604030504040204" pitchFamily="50" charset="-128"/>
                </a:rPr>
                <a:t>AI</a:t>
              </a:r>
              <a:r>
                <a:rPr kumimoji="0" lang="ja-JP" altLang="en-US" sz="600" kern="0" dirty="0">
                  <a:solidFill>
                    <a:srgbClr val="FF0000"/>
                  </a:solidFill>
                  <a:latin typeface="Meiryo UI" panose="020B0604030504040204" pitchFamily="50" charset="-128"/>
                  <a:ea typeface="Meiryo UI" panose="020B0604030504040204" pitchFamily="50" charset="-128"/>
                  <a:cs typeface="メイリオ" panose="020B0604030504040204" pitchFamily="50" charset="-128"/>
                </a:rPr>
                <a:t>エージェント</a:t>
              </a:r>
              <a:endParaRPr kumimoji="0" lang="en-US" altLang="ja-JP" sz="600" kern="0" dirty="0">
                <a:solidFill>
                  <a:srgbClr val="FF0000"/>
                </a:solidFill>
                <a:latin typeface="Meiryo UI" panose="020B0604030504040204" pitchFamily="50" charset="-128"/>
                <a:ea typeface="Meiryo UI" panose="020B0604030504040204" pitchFamily="50" charset="-128"/>
                <a:cs typeface="メイリオ" panose="020B0604030504040204" pitchFamily="50" charset="-128"/>
              </a:endParaRPr>
            </a:p>
          </p:txBody>
        </p:sp>
        <p:sp>
          <p:nvSpPr>
            <p:cNvPr id="164" name="正方形/長方形 163">
              <a:extLst>
                <a:ext uri="{FF2B5EF4-FFF2-40B4-BE49-F238E27FC236}">
                  <a16:creationId xmlns:a16="http://schemas.microsoft.com/office/drawing/2014/main" id="{F0D01A4D-33FA-A291-BDE9-65C8ACB3AB53}"/>
                </a:ext>
              </a:extLst>
            </p:cNvPr>
            <p:cNvSpPr/>
            <p:nvPr/>
          </p:nvSpPr>
          <p:spPr bwMode="auto">
            <a:xfrm>
              <a:off x="1558604" y="2207412"/>
              <a:ext cx="469371" cy="342895"/>
            </a:xfrm>
            <a:prstGeom prst="rect">
              <a:avLst/>
            </a:prstGeom>
            <a:solidFill>
              <a:srgbClr val="FFFFFF"/>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en-US" altLang="ja-JP" sz="6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Genpact</a:t>
              </a:r>
              <a:endParaRPr kumimoji="0" lang="ja-JP" altLang="en-US" sz="6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endParaRPr>
            </a:p>
          </p:txBody>
        </p:sp>
        <p:sp>
          <p:nvSpPr>
            <p:cNvPr id="165" name="正方形/長方形 164">
              <a:extLst>
                <a:ext uri="{FF2B5EF4-FFF2-40B4-BE49-F238E27FC236}">
                  <a16:creationId xmlns:a16="http://schemas.microsoft.com/office/drawing/2014/main" id="{112B5B93-8045-1FEA-84FA-C115B63E7D56}"/>
                </a:ext>
              </a:extLst>
            </p:cNvPr>
            <p:cNvSpPr/>
            <p:nvPr/>
          </p:nvSpPr>
          <p:spPr bwMode="auto">
            <a:xfrm>
              <a:off x="1558604" y="2582400"/>
              <a:ext cx="469371" cy="342895"/>
            </a:xfrm>
            <a:prstGeom prst="rect">
              <a:avLst/>
            </a:prstGeom>
            <a:solidFill>
              <a:srgbClr val="FFFFFF"/>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en-US" altLang="ja-JP" sz="6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RCL</a:t>
              </a:r>
              <a:r>
                <a:rPr kumimoji="0" lang="ja-JP" altLang="en-US" sz="6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経理</a:t>
              </a:r>
              <a:endParaRPr kumimoji="0" lang="en-US" altLang="ja-JP" sz="6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endParaRPr>
            </a:p>
            <a:p>
              <a:pPr algn="ctr" fontAlgn="auto">
                <a:spcBef>
                  <a:spcPts val="0"/>
                </a:spcBef>
                <a:spcAft>
                  <a:spcPts val="0"/>
                </a:spcAft>
              </a:pPr>
              <a:r>
                <a:rPr kumimoji="0" lang="en-US" altLang="ja-JP" sz="6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a:t>
              </a:r>
              <a:r>
                <a:rPr kumimoji="0" lang="ja-JP" altLang="en-US" sz="6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主務者</a:t>
              </a:r>
              <a:r>
                <a:rPr kumimoji="0" lang="en-US" altLang="ja-JP" sz="6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a:t>
              </a:r>
              <a:endParaRPr kumimoji="0" lang="ja-JP" altLang="en-US" sz="6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endParaRPr>
            </a:p>
          </p:txBody>
        </p:sp>
        <p:sp>
          <p:nvSpPr>
            <p:cNvPr id="166" name="正方形/長方形 165">
              <a:extLst>
                <a:ext uri="{FF2B5EF4-FFF2-40B4-BE49-F238E27FC236}">
                  <a16:creationId xmlns:a16="http://schemas.microsoft.com/office/drawing/2014/main" id="{85C3473E-63EC-D2C3-B0A6-51E11C764E0A}"/>
                </a:ext>
              </a:extLst>
            </p:cNvPr>
            <p:cNvSpPr/>
            <p:nvPr/>
          </p:nvSpPr>
          <p:spPr bwMode="auto">
            <a:xfrm>
              <a:off x="1558604" y="2959436"/>
              <a:ext cx="469371" cy="342895"/>
            </a:xfrm>
            <a:prstGeom prst="rect">
              <a:avLst/>
            </a:prstGeom>
            <a:solidFill>
              <a:srgbClr val="FFFFFF"/>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ja-JP" altLang="en-US" sz="6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システム</a:t>
              </a:r>
            </a:p>
          </p:txBody>
        </p:sp>
        <p:sp>
          <p:nvSpPr>
            <p:cNvPr id="167" name="フローチャート: 磁気ディスク 166">
              <a:extLst>
                <a:ext uri="{FF2B5EF4-FFF2-40B4-BE49-F238E27FC236}">
                  <a16:creationId xmlns:a16="http://schemas.microsoft.com/office/drawing/2014/main" id="{75747048-6E8D-2961-96BA-B3855117E7FD}"/>
                </a:ext>
              </a:extLst>
            </p:cNvPr>
            <p:cNvSpPr/>
            <p:nvPr/>
          </p:nvSpPr>
          <p:spPr bwMode="auto">
            <a:xfrm>
              <a:off x="2152783" y="3009012"/>
              <a:ext cx="1074537" cy="243742"/>
            </a:xfrm>
            <a:prstGeom prst="flowChartMagneticDisk">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en-US" altLang="ja-JP" sz="4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WF</a:t>
              </a:r>
              <a:r>
                <a:rPr kumimoji="0" lang="ja-JP" altLang="en-US" sz="4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システム</a:t>
              </a:r>
            </a:p>
          </p:txBody>
        </p:sp>
        <p:sp>
          <p:nvSpPr>
            <p:cNvPr id="168" name="正方形/長方形 167">
              <a:extLst>
                <a:ext uri="{FF2B5EF4-FFF2-40B4-BE49-F238E27FC236}">
                  <a16:creationId xmlns:a16="http://schemas.microsoft.com/office/drawing/2014/main" id="{C302903C-E759-850E-90D6-530E9239DE91}"/>
                </a:ext>
              </a:extLst>
            </p:cNvPr>
            <p:cNvSpPr/>
            <p:nvPr/>
          </p:nvSpPr>
          <p:spPr bwMode="auto">
            <a:xfrm>
              <a:off x="8832974" y="2627204"/>
              <a:ext cx="512611" cy="24374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ja-JP" altLang="en-US" sz="5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主務者</a:t>
              </a:r>
              <a:endParaRPr kumimoji="0" lang="en-US" altLang="ja-JP" sz="5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endParaRPr>
            </a:p>
            <a:p>
              <a:pPr algn="ctr" fontAlgn="auto">
                <a:spcBef>
                  <a:spcPts val="0"/>
                </a:spcBef>
                <a:spcAft>
                  <a:spcPts val="0"/>
                </a:spcAft>
              </a:pPr>
              <a:r>
                <a:rPr kumimoji="0" lang="ja-JP" altLang="en-US" sz="5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チェック</a:t>
              </a:r>
            </a:p>
          </p:txBody>
        </p:sp>
        <p:cxnSp>
          <p:nvCxnSpPr>
            <p:cNvPr id="169" name="直線矢印コネクタ 168">
              <a:extLst>
                <a:ext uri="{FF2B5EF4-FFF2-40B4-BE49-F238E27FC236}">
                  <a16:creationId xmlns:a16="http://schemas.microsoft.com/office/drawing/2014/main" id="{95C7013F-9B32-A07B-75D3-53E5423FE406}"/>
                </a:ext>
              </a:extLst>
            </p:cNvPr>
            <p:cNvCxnSpPr>
              <a:cxnSpLocks/>
              <a:stCxn id="177" idx="2"/>
            </p:cNvCxnSpPr>
            <p:nvPr/>
          </p:nvCxnSpPr>
          <p:spPr>
            <a:xfrm>
              <a:off x="2409089" y="1743610"/>
              <a:ext cx="0" cy="1265402"/>
            </a:xfrm>
            <a:prstGeom prst="straightConnector1">
              <a:avLst/>
            </a:prstGeom>
            <a:ln>
              <a:solidFill>
                <a:schemeClr val="bg1">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70" name="直線矢印コネクタ 169">
              <a:extLst>
                <a:ext uri="{FF2B5EF4-FFF2-40B4-BE49-F238E27FC236}">
                  <a16:creationId xmlns:a16="http://schemas.microsoft.com/office/drawing/2014/main" id="{0E3FD5B8-3449-F720-6217-BD99BD3DD854}"/>
                </a:ext>
              </a:extLst>
            </p:cNvPr>
            <p:cNvCxnSpPr>
              <a:cxnSpLocks/>
              <a:stCxn id="178" idx="2"/>
            </p:cNvCxnSpPr>
            <p:nvPr/>
          </p:nvCxnSpPr>
          <p:spPr>
            <a:xfrm>
              <a:off x="2971014" y="1743610"/>
              <a:ext cx="0" cy="1265402"/>
            </a:xfrm>
            <a:prstGeom prst="straightConnector1">
              <a:avLst/>
            </a:prstGeom>
            <a:ln>
              <a:solidFill>
                <a:schemeClr val="bg1">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71" name="正方形/長方形 170">
              <a:extLst>
                <a:ext uri="{FF2B5EF4-FFF2-40B4-BE49-F238E27FC236}">
                  <a16:creationId xmlns:a16="http://schemas.microsoft.com/office/drawing/2014/main" id="{3F0ED38D-E919-007F-5566-2156FA36476B}"/>
                </a:ext>
              </a:extLst>
            </p:cNvPr>
            <p:cNvSpPr/>
            <p:nvPr/>
          </p:nvSpPr>
          <p:spPr bwMode="auto">
            <a:xfrm>
              <a:off x="5410897" y="2253488"/>
              <a:ext cx="512611" cy="24374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ja-JP" altLang="en-US" sz="5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結果確認</a:t>
              </a:r>
            </a:p>
          </p:txBody>
        </p:sp>
        <p:cxnSp>
          <p:nvCxnSpPr>
            <p:cNvPr id="172" name="カギ線コネクタ 134">
              <a:extLst>
                <a:ext uri="{FF2B5EF4-FFF2-40B4-BE49-F238E27FC236}">
                  <a16:creationId xmlns:a16="http://schemas.microsoft.com/office/drawing/2014/main" id="{EE7798CF-3E81-F902-B6D2-951693A2F1FA}"/>
                </a:ext>
              </a:extLst>
            </p:cNvPr>
            <p:cNvCxnSpPr>
              <a:cxnSpLocks/>
              <a:stCxn id="178" idx="3"/>
              <a:endCxn id="179" idx="0"/>
            </p:cNvCxnSpPr>
            <p:nvPr/>
          </p:nvCxnSpPr>
          <p:spPr>
            <a:xfrm>
              <a:off x="3227320" y="1621739"/>
              <a:ext cx="1887280" cy="258213"/>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3" name="カギ線コネクタ 147">
              <a:extLst>
                <a:ext uri="{FF2B5EF4-FFF2-40B4-BE49-F238E27FC236}">
                  <a16:creationId xmlns:a16="http://schemas.microsoft.com/office/drawing/2014/main" id="{6FB52042-EEA1-133D-E4FE-831AE44AE42B}"/>
                </a:ext>
              </a:extLst>
            </p:cNvPr>
            <p:cNvCxnSpPr>
              <a:cxnSpLocks/>
              <a:stCxn id="171" idx="3"/>
              <a:endCxn id="183" idx="1"/>
            </p:cNvCxnSpPr>
            <p:nvPr/>
          </p:nvCxnSpPr>
          <p:spPr>
            <a:xfrm flipV="1">
              <a:off x="5923508" y="2001823"/>
              <a:ext cx="112827" cy="373536"/>
            </a:xfrm>
            <a:prstGeom prst="bentConnector3">
              <a:avLst>
                <a:gd name="adj1" fmla="val 50000"/>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4" name="フローチャート: 磁気ディスク 173">
              <a:extLst>
                <a:ext uri="{FF2B5EF4-FFF2-40B4-BE49-F238E27FC236}">
                  <a16:creationId xmlns:a16="http://schemas.microsoft.com/office/drawing/2014/main" id="{6A7AC93E-98ED-2F9C-9907-B3733187DDF5}"/>
                </a:ext>
              </a:extLst>
            </p:cNvPr>
            <p:cNvSpPr/>
            <p:nvPr/>
          </p:nvSpPr>
          <p:spPr bwMode="auto">
            <a:xfrm>
              <a:off x="6044285" y="3009011"/>
              <a:ext cx="512611" cy="243742"/>
            </a:xfrm>
            <a:prstGeom prst="flowChartMagneticDisk">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ja-JP" altLang="en-US" sz="4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ツバサ</a:t>
              </a:r>
            </a:p>
          </p:txBody>
        </p:sp>
        <p:cxnSp>
          <p:nvCxnSpPr>
            <p:cNvPr id="175" name="直線矢印コネクタ 174">
              <a:extLst>
                <a:ext uri="{FF2B5EF4-FFF2-40B4-BE49-F238E27FC236}">
                  <a16:creationId xmlns:a16="http://schemas.microsoft.com/office/drawing/2014/main" id="{38A226EA-BC59-4289-FDE3-A83EFA1D4DE4}"/>
                </a:ext>
              </a:extLst>
            </p:cNvPr>
            <p:cNvCxnSpPr>
              <a:cxnSpLocks/>
              <a:stCxn id="183" idx="2"/>
              <a:endCxn id="174" idx="1"/>
            </p:cNvCxnSpPr>
            <p:nvPr/>
          </p:nvCxnSpPr>
          <p:spPr>
            <a:xfrm>
              <a:off x="6292641" y="2123694"/>
              <a:ext cx="7950" cy="885318"/>
            </a:xfrm>
            <a:prstGeom prst="straightConnector1">
              <a:avLst/>
            </a:prstGeom>
            <a:ln>
              <a:solidFill>
                <a:schemeClr val="bg1">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76" name="正方形/長方形 175">
              <a:extLst>
                <a:ext uri="{FF2B5EF4-FFF2-40B4-BE49-F238E27FC236}">
                  <a16:creationId xmlns:a16="http://schemas.microsoft.com/office/drawing/2014/main" id="{A97146FF-7E32-CD50-601D-A62EB091347D}"/>
                </a:ext>
              </a:extLst>
            </p:cNvPr>
            <p:cNvSpPr/>
            <p:nvPr/>
          </p:nvSpPr>
          <p:spPr bwMode="auto">
            <a:xfrm>
              <a:off x="1558604" y="1449590"/>
              <a:ext cx="469371" cy="342895"/>
            </a:xfrm>
            <a:prstGeom prst="rect">
              <a:avLst/>
            </a:prstGeom>
            <a:solidFill>
              <a:srgbClr val="FFFFFF"/>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ja-JP" altLang="en-US" sz="6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申請者</a:t>
              </a:r>
            </a:p>
          </p:txBody>
        </p:sp>
        <p:sp>
          <p:nvSpPr>
            <p:cNvPr id="177" name="正方形/長方形 176">
              <a:extLst>
                <a:ext uri="{FF2B5EF4-FFF2-40B4-BE49-F238E27FC236}">
                  <a16:creationId xmlns:a16="http://schemas.microsoft.com/office/drawing/2014/main" id="{00C8E49A-F379-1199-FF06-80ADC3E5C30E}"/>
                </a:ext>
              </a:extLst>
            </p:cNvPr>
            <p:cNvSpPr/>
            <p:nvPr/>
          </p:nvSpPr>
          <p:spPr bwMode="auto">
            <a:xfrm>
              <a:off x="2152783" y="1499869"/>
              <a:ext cx="512611" cy="24374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ja-JP" altLang="en-US" sz="5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申請内容</a:t>
              </a:r>
              <a:endParaRPr kumimoji="0" lang="en-US" altLang="ja-JP" sz="5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endParaRPr>
            </a:p>
            <a:p>
              <a:pPr algn="ctr" fontAlgn="auto">
                <a:spcBef>
                  <a:spcPts val="0"/>
                </a:spcBef>
                <a:spcAft>
                  <a:spcPts val="0"/>
                </a:spcAft>
              </a:pPr>
              <a:r>
                <a:rPr kumimoji="0" lang="ja-JP" altLang="en-US" sz="5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入力</a:t>
              </a:r>
            </a:p>
          </p:txBody>
        </p:sp>
        <p:sp>
          <p:nvSpPr>
            <p:cNvPr id="178" name="正方形/長方形 177">
              <a:extLst>
                <a:ext uri="{FF2B5EF4-FFF2-40B4-BE49-F238E27FC236}">
                  <a16:creationId xmlns:a16="http://schemas.microsoft.com/office/drawing/2014/main" id="{9B0075A9-E0C4-1231-12BE-5047F2F4CD0A}"/>
                </a:ext>
              </a:extLst>
            </p:cNvPr>
            <p:cNvSpPr/>
            <p:nvPr/>
          </p:nvSpPr>
          <p:spPr bwMode="auto">
            <a:xfrm>
              <a:off x="2714708" y="1499869"/>
              <a:ext cx="512611" cy="24374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ja-JP" altLang="en-US" sz="5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上長承認</a:t>
              </a:r>
            </a:p>
          </p:txBody>
        </p:sp>
        <p:sp>
          <p:nvSpPr>
            <p:cNvPr id="179" name="正方形/長方形 178">
              <a:extLst>
                <a:ext uri="{FF2B5EF4-FFF2-40B4-BE49-F238E27FC236}">
                  <a16:creationId xmlns:a16="http://schemas.microsoft.com/office/drawing/2014/main" id="{41CAABFA-E7A8-79A2-FA58-937C92D930AB}"/>
                </a:ext>
              </a:extLst>
            </p:cNvPr>
            <p:cNvSpPr/>
            <p:nvPr/>
          </p:nvSpPr>
          <p:spPr bwMode="auto">
            <a:xfrm>
              <a:off x="4858294" y="1879953"/>
              <a:ext cx="512611" cy="243742"/>
            </a:xfrm>
            <a:prstGeom prst="rect">
              <a:avLst/>
            </a:prstGeom>
            <a:solidFill>
              <a:schemeClr val="accent5">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ja-JP" altLang="en-US" sz="5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内容確認</a:t>
              </a:r>
              <a:endParaRPr kumimoji="0" lang="en-US" altLang="ja-JP" sz="5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endParaRPr>
            </a:p>
            <a:p>
              <a:pPr algn="ctr" fontAlgn="auto">
                <a:spcBef>
                  <a:spcPts val="0"/>
                </a:spcBef>
                <a:spcAft>
                  <a:spcPts val="0"/>
                </a:spcAft>
              </a:pPr>
              <a:r>
                <a:rPr kumimoji="0" lang="ja-JP" altLang="en-US" sz="5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・結果登録</a:t>
              </a:r>
            </a:p>
          </p:txBody>
        </p:sp>
        <p:cxnSp>
          <p:nvCxnSpPr>
            <p:cNvPr id="180" name="直線矢印コネクタ 179">
              <a:extLst>
                <a:ext uri="{FF2B5EF4-FFF2-40B4-BE49-F238E27FC236}">
                  <a16:creationId xmlns:a16="http://schemas.microsoft.com/office/drawing/2014/main" id="{664460CF-F6E6-0C3F-3DA1-EFF0D049A2B4}"/>
                </a:ext>
              </a:extLst>
            </p:cNvPr>
            <p:cNvCxnSpPr>
              <a:cxnSpLocks/>
              <a:stCxn id="179" idx="2"/>
            </p:cNvCxnSpPr>
            <p:nvPr/>
          </p:nvCxnSpPr>
          <p:spPr>
            <a:xfrm>
              <a:off x="5114600" y="2123694"/>
              <a:ext cx="0" cy="885317"/>
            </a:xfrm>
            <a:prstGeom prst="straightConnector1">
              <a:avLst/>
            </a:prstGeom>
            <a:ln>
              <a:solidFill>
                <a:schemeClr val="bg1">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81" name="カギ線コネクタ 183">
              <a:extLst>
                <a:ext uri="{FF2B5EF4-FFF2-40B4-BE49-F238E27FC236}">
                  <a16:creationId xmlns:a16="http://schemas.microsoft.com/office/drawing/2014/main" id="{CF7CEC2A-6659-18C9-1581-CAAA92133280}"/>
                </a:ext>
              </a:extLst>
            </p:cNvPr>
            <p:cNvCxnSpPr>
              <a:cxnSpLocks/>
              <a:stCxn id="179" idx="3"/>
              <a:endCxn id="171" idx="0"/>
            </p:cNvCxnSpPr>
            <p:nvPr/>
          </p:nvCxnSpPr>
          <p:spPr>
            <a:xfrm>
              <a:off x="5370905" y="2001824"/>
              <a:ext cx="296298" cy="251665"/>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直線矢印コネクタ 181">
              <a:extLst>
                <a:ext uri="{FF2B5EF4-FFF2-40B4-BE49-F238E27FC236}">
                  <a16:creationId xmlns:a16="http://schemas.microsoft.com/office/drawing/2014/main" id="{B5E1E7F4-8E38-6F98-EE40-2C03704E1F82}"/>
                </a:ext>
              </a:extLst>
            </p:cNvPr>
            <p:cNvCxnSpPr>
              <a:cxnSpLocks/>
              <a:stCxn id="171" idx="2"/>
            </p:cNvCxnSpPr>
            <p:nvPr/>
          </p:nvCxnSpPr>
          <p:spPr>
            <a:xfrm>
              <a:off x="5667203" y="2497230"/>
              <a:ext cx="0" cy="511781"/>
            </a:xfrm>
            <a:prstGeom prst="straightConnector1">
              <a:avLst/>
            </a:prstGeom>
            <a:ln>
              <a:solidFill>
                <a:schemeClr val="bg1">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83" name="正方形/長方形 182">
              <a:extLst>
                <a:ext uri="{FF2B5EF4-FFF2-40B4-BE49-F238E27FC236}">
                  <a16:creationId xmlns:a16="http://schemas.microsoft.com/office/drawing/2014/main" id="{2069F230-2C98-7C7D-1DEC-48EEAD4A3A82}"/>
                </a:ext>
              </a:extLst>
            </p:cNvPr>
            <p:cNvSpPr/>
            <p:nvPr/>
          </p:nvSpPr>
          <p:spPr bwMode="auto">
            <a:xfrm>
              <a:off x="6036335" y="1879952"/>
              <a:ext cx="512611" cy="243742"/>
            </a:xfrm>
            <a:prstGeom prst="rect">
              <a:avLst/>
            </a:prstGeom>
            <a:solidFill>
              <a:schemeClr val="accent5">
                <a:lumMod val="20000"/>
                <a:lumOff val="8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ja-JP" altLang="en-US" sz="5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振伝起票</a:t>
              </a:r>
            </a:p>
          </p:txBody>
        </p:sp>
        <p:cxnSp>
          <p:nvCxnSpPr>
            <p:cNvPr id="184" name="カギ線コネクタ 225">
              <a:extLst>
                <a:ext uri="{FF2B5EF4-FFF2-40B4-BE49-F238E27FC236}">
                  <a16:creationId xmlns:a16="http://schemas.microsoft.com/office/drawing/2014/main" id="{EBD0E993-F179-11CD-F8C8-AE76FADCEB4E}"/>
                </a:ext>
              </a:extLst>
            </p:cNvPr>
            <p:cNvCxnSpPr>
              <a:cxnSpLocks/>
              <a:stCxn id="183" idx="3"/>
              <a:endCxn id="168" idx="0"/>
            </p:cNvCxnSpPr>
            <p:nvPr/>
          </p:nvCxnSpPr>
          <p:spPr>
            <a:xfrm>
              <a:off x="6548946" y="2001823"/>
              <a:ext cx="2540334" cy="625381"/>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5" name="フローチャート: 磁気ディスク 184">
              <a:extLst>
                <a:ext uri="{FF2B5EF4-FFF2-40B4-BE49-F238E27FC236}">
                  <a16:creationId xmlns:a16="http://schemas.microsoft.com/office/drawing/2014/main" id="{77B73B03-AE2D-E349-3C09-A9519E366635}"/>
                </a:ext>
              </a:extLst>
            </p:cNvPr>
            <p:cNvSpPr/>
            <p:nvPr/>
          </p:nvSpPr>
          <p:spPr bwMode="auto">
            <a:xfrm>
              <a:off x="4858294" y="3009012"/>
              <a:ext cx="1111603" cy="243742"/>
            </a:xfrm>
            <a:prstGeom prst="flowChartMagneticDisk">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en-US" altLang="ja-JP" sz="4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WF</a:t>
              </a:r>
              <a:r>
                <a:rPr kumimoji="0" lang="ja-JP" altLang="en-US" sz="4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システム</a:t>
              </a:r>
            </a:p>
          </p:txBody>
        </p:sp>
        <p:pic>
          <p:nvPicPr>
            <p:cNvPr id="186" name="グラフィックス 185" descr="ロボット 単色塗りつぶし">
              <a:extLst>
                <a:ext uri="{FF2B5EF4-FFF2-40B4-BE49-F238E27FC236}">
                  <a16:creationId xmlns:a16="http://schemas.microsoft.com/office/drawing/2014/main" id="{E94434E4-6C87-0429-B6E8-E4E4A772F5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37904" y="1788407"/>
              <a:ext cx="249223" cy="249223"/>
            </a:xfrm>
            <a:prstGeom prst="rect">
              <a:avLst/>
            </a:prstGeom>
          </p:spPr>
        </p:pic>
        <p:pic>
          <p:nvPicPr>
            <p:cNvPr id="189" name="グラフィックス 188" descr="ロボット 単色塗りつぶし">
              <a:extLst>
                <a:ext uri="{FF2B5EF4-FFF2-40B4-BE49-F238E27FC236}">
                  <a16:creationId xmlns:a16="http://schemas.microsoft.com/office/drawing/2014/main" id="{8F6E50AE-E2C5-8F5C-45D5-0069DCC4A9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00573" y="1742602"/>
              <a:ext cx="249223" cy="249223"/>
            </a:xfrm>
            <a:prstGeom prst="rect">
              <a:avLst/>
            </a:prstGeom>
          </p:spPr>
        </p:pic>
        <p:sp>
          <p:nvSpPr>
            <p:cNvPr id="191" name="正方形/長方形 190">
              <a:extLst>
                <a:ext uri="{FF2B5EF4-FFF2-40B4-BE49-F238E27FC236}">
                  <a16:creationId xmlns:a16="http://schemas.microsoft.com/office/drawing/2014/main" id="{5057340B-52E3-E20E-EFA9-26CB97B11964}"/>
                </a:ext>
              </a:extLst>
            </p:cNvPr>
            <p:cNvSpPr/>
            <p:nvPr/>
          </p:nvSpPr>
          <p:spPr bwMode="auto">
            <a:xfrm>
              <a:off x="1390302" y="1447037"/>
              <a:ext cx="133389" cy="1855292"/>
            </a:xfrm>
            <a:prstGeom prst="rect">
              <a:avLst/>
            </a:prstGeom>
            <a:solidFill>
              <a:srgbClr val="0065BD"/>
            </a:solidFill>
            <a:ln w="12700" cap="flat" cmpd="sng" algn="ctr">
              <a:no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en-US" altLang="ja-JP" sz="6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T</a:t>
              </a:r>
            </a:p>
            <a:p>
              <a:pPr algn="ctr" fontAlgn="auto">
                <a:spcBef>
                  <a:spcPts val="0"/>
                </a:spcBef>
                <a:spcAft>
                  <a:spcPts val="0"/>
                </a:spcAft>
              </a:pPr>
              <a:r>
                <a:rPr kumimoji="0" lang="en-US" altLang="ja-JP" sz="6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O</a:t>
              </a:r>
            </a:p>
            <a:p>
              <a:pPr algn="ctr" fontAlgn="auto">
                <a:spcBef>
                  <a:spcPts val="0"/>
                </a:spcBef>
                <a:spcAft>
                  <a:spcPts val="0"/>
                </a:spcAft>
              </a:pPr>
              <a:r>
                <a:rPr kumimoji="0" lang="en-US" altLang="ja-JP" sz="6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B</a:t>
              </a:r>
            </a:p>
            <a:p>
              <a:pPr algn="ctr" fontAlgn="auto">
                <a:spcBef>
                  <a:spcPts val="0"/>
                </a:spcBef>
                <a:spcAft>
                  <a:spcPts val="0"/>
                </a:spcAft>
              </a:pPr>
              <a:r>
                <a:rPr kumimoji="0" lang="en-US" altLang="ja-JP" sz="6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E</a:t>
              </a:r>
            </a:p>
          </p:txBody>
        </p:sp>
        <p:sp>
          <p:nvSpPr>
            <p:cNvPr id="194" name="正方形/長方形 193">
              <a:extLst>
                <a:ext uri="{FF2B5EF4-FFF2-40B4-BE49-F238E27FC236}">
                  <a16:creationId xmlns:a16="http://schemas.microsoft.com/office/drawing/2014/main" id="{05F975C2-CECD-3395-014C-AC3C4AAF3035}"/>
                </a:ext>
              </a:extLst>
            </p:cNvPr>
            <p:cNvSpPr/>
            <p:nvPr/>
          </p:nvSpPr>
          <p:spPr>
            <a:xfrm>
              <a:off x="1390302" y="4043207"/>
              <a:ext cx="502780" cy="679593"/>
            </a:xfrm>
            <a:prstGeom prst="rect">
              <a:avLst/>
            </a:prstGeom>
            <a:solidFill>
              <a:srgbClr val="0065BD"/>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ja-JP" sz="1000" b="1">
                  <a:solidFill>
                    <a:schemeClr val="bg1"/>
                  </a:solidFill>
                  <a:latin typeface="Meiryo UI" panose="020B0604030504040204" pitchFamily="50" charset="-128"/>
                  <a:ea typeface="Meiryo UI" panose="020B0604030504040204" pitchFamily="50" charset="-128"/>
                </a:rPr>
                <a:t>TOBE</a:t>
              </a:r>
              <a:endParaRPr lang="ja-JP" altLang="en-US" sz="1000" b="1">
                <a:solidFill>
                  <a:schemeClr val="bg1"/>
                </a:solidFill>
                <a:latin typeface="Meiryo UI" panose="020B0604030504040204" pitchFamily="50" charset="-128"/>
                <a:ea typeface="Meiryo UI" panose="020B0604030504040204" pitchFamily="50" charset="-128"/>
              </a:endParaRPr>
            </a:p>
          </p:txBody>
        </p:sp>
        <p:sp>
          <p:nvSpPr>
            <p:cNvPr id="195" name="正方形/長方形 194">
              <a:extLst>
                <a:ext uri="{FF2B5EF4-FFF2-40B4-BE49-F238E27FC236}">
                  <a16:creationId xmlns:a16="http://schemas.microsoft.com/office/drawing/2014/main" id="{D552B15B-8FAC-B72D-6E91-A862E8932996}"/>
                </a:ext>
              </a:extLst>
            </p:cNvPr>
            <p:cNvSpPr/>
            <p:nvPr/>
          </p:nvSpPr>
          <p:spPr>
            <a:xfrm>
              <a:off x="1927418" y="4043207"/>
              <a:ext cx="916190" cy="227208"/>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900" dirty="0">
                  <a:solidFill>
                    <a:schemeClr val="bg2">
                      <a:lumMod val="50000"/>
                    </a:schemeClr>
                  </a:solidFill>
                  <a:latin typeface="Meiryo UI" panose="020B0604030504040204" pitchFamily="50" charset="-128"/>
                  <a:ea typeface="Meiryo UI" panose="020B0604030504040204" pitchFamily="50" charset="-128"/>
                </a:rPr>
                <a:t>請求書受領</a:t>
              </a:r>
            </a:p>
          </p:txBody>
        </p:sp>
        <p:sp>
          <p:nvSpPr>
            <p:cNvPr id="196" name="正方形/長方形 195">
              <a:extLst>
                <a:ext uri="{FF2B5EF4-FFF2-40B4-BE49-F238E27FC236}">
                  <a16:creationId xmlns:a16="http://schemas.microsoft.com/office/drawing/2014/main" id="{B4E9AC73-DFB7-4021-CEAD-71DADF8D060C}"/>
                </a:ext>
              </a:extLst>
            </p:cNvPr>
            <p:cNvSpPr/>
            <p:nvPr/>
          </p:nvSpPr>
          <p:spPr>
            <a:xfrm>
              <a:off x="1927418" y="4369658"/>
              <a:ext cx="916190" cy="353143"/>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700" dirty="0">
                  <a:solidFill>
                    <a:schemeClr val="bg2">
                      <a:lumMod val="50000"/>
                    </a:schemeClr>
                  </a:solidFill>
                  <a:latin typeface="Meiryo UI" panose="020B0604030504040204" pitchFamily="50" charset="-128"/>
                  <a:ea typeface="Meiryo UI" panose="020B0604030504040204" pitchFamily="50" charset="-128"/>
                </a:rPr>
                <a:t>請求書取得</a:t>
              </a:r>
              <a:r>
                <a:rPr lang="en-US" altLang="ja-JP" sz="700" dirty="0">
                  <a:solidFill>
                    <a:schemeClr val="bg2">
                      <a:lumMod val="50000"/>
                    </a:schemeClr>
                  </a:solidFill>
                  <a:latin typeface="Meiryo UI" panose="020B0604030504040204" pitchFamily="50" charset="-128"/>
                  <a:ea typeface="Meiryo UI" panose="020B0604030504040204" pitchFamily="50" charset="-128"/>
                </a:rPr>
                <a:t>/</a:t>
              </a:r>
              <a:br>
                <a:rPr lang="en-US" altLang="ja-JP" sz="700" dirty="0">
                  <a:solidFill>
                    <a:schemeClr val="bg2">
                      <a:lumMod val="50000"/>
                    </a:schemeClr>
                  </a:solidFill>
                  <a:latin typeface="Meiryo UI" panose="020B0604030504040204" pitchFamily="50" charset="-128"/>
                  <a:ea typeface="Meiryo UI" panose="020B0604030504040204" pitchFamily="50" charset="-128"/>
                </a:rPr>
              </a:br>
              <a:r>
                <a:rPr lang="ja-JP" altLang="en-US" sz="700" dirty="0">
                  <a:solidFill>
                    <a:schemeClr val="bg2">
                      <a:lumMod val="50000"/>
                    </a:schemeClr>
                  </a:solidFill>
                  <a:latin typeface="Meiryo UI" panose="020B0604030504040204" pitchFamily="50" charset="-128"/>
                  <a:ea typeface="Meiryo UI" panose="020B0604030504040204" pitchFamily="50" charset="-128"/>
                </a:rPr>
                <a:t>共有フォルダ格納</a:t>
              </a:r>
            </a:p>
          </p:txBody>
        </p:sp>
        <p:sp>
          <p:nvSpPr>
            <p:cNvPr id="197" name="正方形/長方形 196">
              <a:extLst>
                <a:ext uri="{FF2B5EF4-FFF2-40B4-BE49-F238E27FC236}">
                  <a16:creationId xmlns:a16="http://schemas.microsoft.com/office/drawing/2014/main" id="{8A6AB1A0-E872-29A4-699C-6F8C3F2846B5}"/>
                </a:ext>
              </a:extLst>
            </p:cNvPr>
            <p:cNvSpPr/>
            <p:nvPr/>
          </p:nvSpPr>
          <p:spPr>
            <a:xfrm>
              <a:off x="2907306" y="4369658"/>
              <a:ext cx="916190" cy="353143"/>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700" err="1">
                  <a:solidFill>
                    <a:schemeClr val="bg2">
                      <a:lumMod val="50000"/>
                    </a:schemeClr>
                  </a:solidFill>
                  <a:latin typeface="Meiryo UI" panose="020B0604030504040204" pitchFamily="50" charset="-128"/>
                  <a:ea typeface="Meiryo UI" panose="020B0604030504040204" pitchFamily="50" charset="-128"/>
                </a:rPr>
                <a:t>AppSheet</a:t>
              </a:r>
              <a:r>
                <a:rPr lang="ja-JP" altLang="en-US" sz="700">
                  <a:solidFill>
                    <a:schemeClr val="bg2">
                      <a:lumMod val="50000"/>
                    </a:schemeClr>
                  </a:solidFill>
                  <a:latin typeface="Meiryo UI" panose="020B0604030504040204" pitchFamily="50" charset="-128"/>
                  <a:ea typeface="Meiryo UI" panose="020B0604030504040204" pitchFamily="50" charset="-128"/>
                </a:rPr>
                <a:t>提出</a:t>
              </a:r>
            </a:p>
          </p:txBody>
        </p:sp>
        <p:sp>
          <p:nvSpPr>
            <p:cNvPr id="198" name="正方形/長方形 197">
              <a:extLst>
                <a:ext uri="{FF2B5EF4-FFF2-40B4-BE49-F238E27FC236}">
                  <a16:creationId xmlns:a16="http://schemas.microsoft.com/office/drawing/2014/main" id="{6E84D3DE-355E-93A5-960E-2F57F4E8ACCC}"/>
                </a:ext>
              </a:extLst>
            </p:cNvPr>
            <p:cNvSpPr/>
            <p:nvPr/>
          </p:nvSpPr>
          <p:spPr>
            <a:xfrm>
              <a:off x="3892170" y="4369658"/>
              <a:ext cx="916190" cy="353143"/>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700">
                  <a:solidFill>
                    <a:schemeClr val="bg2">
                      <a:lumMod val="50000"/>
                    </a:schemeClr>
                  </a:solidFill>
                  <a:latin typeface="Meiryo UI" panose="020B0604030504040204" pitchFamily="50" charset="-128"/>
                  <a:ea typeface="Meiryo UI" panose="020B0604030504040204" pitchFamily="50" charset="-128"/>
                </a:rPr>
                <a:t>GAS</a:t>
              </a:r>
              <a:r>
                <a:rPr lang="ja-JP" altLang="en-US" sz="700">
                  <a:solidFill>
                    <a:schemeClr val="bg2">
                      <a:lumMod val="50000"/>
                    </a:schemeClr>
                  </a:solidFill>
                  <a:latin typeface="Meiryo UI" panose="020B0604030504040204" pitchFamily="50" charset="-128"/>
                  <a:ea typeface="Meiryo UI" panose="020B0604030504040204" pitchFamily="50" charset="-128"/>
                </a:rPr>
                <a:t>による</a:t>
              </a:r>
              <a:br>
                <a:rPr lang="en-US" altLang="ja-JP" sz="700">
                  <a:solidFill>
                    <a:schemeClr val="bg2">
                      <a:lumMod val="50000"/>
                    </a:schemeClr>
                  </a:solidFill>
                  <a:latin typeface="Meiryo UI" panose="020B0604030504040204" pitchFamily="50" charset="-128"/>
                  <a:ea typeface="Meiryo UI" panose="020B0604030504040204" pitchFamily="50" charset="-128"/>
                </a:rPr>
              </a:br>
              <a:r>
                <a:rPr lang="ja-JP" altLang="en-US" sz="700">
                  <a:solidFill>
                    <a:schemeClr val="bg2">
                      <a:lumMod val="50000"/>
                    </a:schemeClr>
                  </a:solidFill>
                  <a:latin typeface="Meiryo UI" panose="020B0604030504040204" pitchFamily="50" charset="-128"/>
                  <a:ea typeface="Meiryo UI" panose="020B0604030504040204" pitchFamily="50" charset="-128"/>
                </a:rPr>
                <a:t>スプシ書き込み</a:t>
              </a:r>
            </a:p>
          </p:txBody>
        </p:sp>
        <p:sp>
          <p:nvSpPr>
            <p:cNvPr id="199" name="正方形/長方形 198">
              <a:extLst>
                <a:ext uri="{FF2B5EF4-FFF2-40B4-BE49-F238E27FC236}">
                  <a16:creationId xmlns:a16="http://schemas.microsoft.com/office/drawing/2014/main" id="{31415243-18C9-E889-5E9C-6FEA5B97F08D}"/>
                </a:ext>
              </a:extLst>
            </p:cNvPr>
            <p:cNvSpPr/>
            <p:nvPr/>
          </p:nvSpPr>
          <p:spPr>
            <a:xfrm>
              <a:off x="2907306" y="4043207"/>
              <a:ext cx="1902633" cy="227208"/>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900" dirty="0">
                  <a:solidFill>
                    <a:schemeClr val="bg2">
                      <a:lumMod val="50000"/>
                    </a:schemeClr>
                  </a:solidFill>
                  <a:latin typeface="Meiryo UI" panose="020B0604030504040204" pitchFamily="50" charset="-128"/>
                  <a:ea typeface="Meiryo UI" panose="020B0604030504040204" pitchFamily="50" charset="-128"/>
                </a:rPr>
                <a:t>請求書提出</a:t>
              </a:r>
            </a:p>
          </p:txBody>
        </p:sp>
        <p:sp>
          <p:nvSpPr>
            <p:cNvPr id="200" name="正方形/長方形 199">
              <a:extLst>
                <a:ext uri="{FF2B5EF4-FFF2-40B4-BE49-F238E27FC236}">
                  <a16:creationId xmlns:a16="http://schemas.microsoft.com/office/drawing/2014/main" id="{96A00910-C6DE-497F-7A3A-0BD31CA7F7E8}"/>
                </a:ext>
              </a:extLst>
            </p:cNvPr>
            <p:cNvSpPr/>
            <p:nvPr/>
          </p:nvSpPr>
          <p:spPr>
            <a:xfrm>
              <a:off x="4839503" y="4369658"/>
              <a:ext cx="916190" cy="353143"/>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700" dirty="0">
                  <a:solidFill>
                    <a:schemeClr val="bg2">
                      <a:lumMod val="50000"/>
                    </a:schemeClr>
                  </a:solidFill>
                  <a:latin typeface="Meiryo UI" panose="020B0604030504040204" pitchFamily="50" charset="-128"/>
                  <a:ea typeface="Meiryo UI" panose="020B0604030504040204" pitchFamily="50" charset="-128"/>
                </a:rPr>
                <a:t>支払依頼</a:t>
              </a:r>
              <a:r>
                <a:rPr lang="en-US" altLang="ja-JP" sz="700" dirty="0">
                  <a:solidFill>
                    <a:schemeClr val="bg2">
                      <a:lumMod val="50000"/>
                    </a:schemeClr>
                  </a:solidFill>
                  <a:latin typeface="Meiryo UI" panose="020B0604030504040204" pitchFamily="50" charset="-128"/>
                  <a:ea typeface="Meiryo UI" panose="020B0604030504040204" pitchFamily="50" charset="-128"/>
                </a:rPr>
                <a:t>WS</a:t>
              </a:r>
              <a:r>
                <a:rPr lang="ja-JP" altLang="en-US" sz="700" dirty="0">
                  <a:solidFill>
                    <a:schemeClr val="bg2">
                      <a:lumMod val="50000"/>
                    </a:schemeClr>
                  </a:solidFill>
                  <a:latin typeface="Meiryo UI" panose="020B0604030504040204" pitchFamily="50" charset="-128"/>
                  <a:ea typeface="Meiryo UI" panose="020B0604030504040204" pitchFamily="50" charset="-128"/>
                </a:rPr>
                <a:t>の</a:t>
              </a:r>
              <a:br>
                <a:rPr lang="en-US" altLang="ja-JP" sz="700" dirty="0">
                  <a:solidFill>
                    <a:schemeClr val="bg2">
                      <a:lumMod val="50000"/>
                    </a:schemeClr>
                  </a:solidFill>
                  <a:latin typeface="Meiryo UI" panose="020B0604030504040204" pitchFamily="50" charset="-128"/>
                  <a:ea typeface="Meiryo UI" panose="020B0604030504040204" pitchFamily="50" charset="-128"/>
                </a:rPr>
              </a:br>
              <a:r>
                <a:rPr lang="ja-JP" altLang="en-US" sz="700" dirty="0">
                  <a:solidFill>
                    <a:schemeClr val="bg2">
                      <a:lumMod val="50000"/>
                    </a:schemeClr>
                  </a:solidFill>
                  <a:latin typeface="Meiryo UI" panose="020B0604030504040204" pitchFamily="50" charset="-128"/>
                  <a:ea typeface="Meiryo UI" panose="020B0604030504040204" pitchFamily="50" charset="-128"/>
                </a:rPr>
                <a:t>一次チェック</a:t>
              </a:r>
            </a:p>
          </p:txBody>
        </p:sp>
        <p:sp>
          <p:nvSpPr>
            <p:cNvPr id="201" name="正方形/長方形 200">
              <a:extLst>
                <a:ext uri="{FF2B5EF4-FFF2-40B4-BE49-F238E27FC236}">
                  <a16:creationId xmlns:a16="http://schemas.microsoft.com/office/drawing/2014/main" id="{8BB6F27C-F840-BD06-1FBF-9C844418A4F4}"/>
                </a:ext>
              </a:extLst>
            </p:cNvPr>
            <p:cNvSpPr/>
            <p:nvPr/>
          </p:nvSpPr>
          <p:spPr>
            <a:xfrm>
              <a:off x="5824367" y="4369658"/>
              <a:ext cx="916190" cy="353143"/>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700">
                  <a:solidFill>
                    <a:schemeClr val="bg2">
                      <a:lumMod val="50000"/>
                    </a:schemeClr>
                  </a:solidFill>
                  <a:latin typeface="Meiryo UI" panose="020B0604030504040204" pitchFamily="50" charset="-128"/>
                  <a:ea typeface="Meiryo UI" panose="020B0604030504040204" pitchFamily="50" charset="-128"/>
                </a:rPr>
                <a:t>支払依頼</a:t>
              </a:r>
              <a:r>
                <a:rPr lang="en-US" altLang="ja-JP" sz="700">
                  <a:solidFill>
                    <a:schemeClr val="bg2">
                      <a:lumMod val="50000"/>
                    </a:schemeClr>
                  </a:solidFill>
                  <a:latin typeface="Meiryo UI" panose="020B0604030504040204" pitchFamily="50" charset="-128"/>
                  <a:ea typeface="Meiryo UI" panose="020B0604030504040204" pitchFamily="50" charset="-128"/>
                </a:rPr>
                <a:t>WS</a:t>
              </a:r>
              <a:r>
                <a:rPr lang="ja-JP" altLang="en-US" sz="700">
                  <a:solidFill>
                    <a:schemeClr val="bg2">
                      <a:lumMod val="50000"/>
                    </a:schemeClr>
                  </a:solidFill>
                  <a:latin typeface="Meiryo UI" panose="020B0604030504040204" pitchFamily="50" charset="-128"/>
                  <a:ea typeface="Meiryo UI" panose="020B0604030504040204" pitchFamily="50" charset="-128"/>
                </a:rPr>
                <a:t>の</a:t>
              </a:r>
              <a:br>
                <a:rPr lang="en-US" altLang="ja-JP" sz="700">
                  <a:solidFill>
                    <a:schemeClr val="bg2">
                      <a:lumMod val="50000"/>
                    </a:schemeClr>
                  </a:solidFill>
                  <a:latin typeface="Meiryo UI" panose="020B0604030504040204" pitchFamily="50" charset="-128"/>
                  <a:ea typeface="Meiryo UI" panose="020B0604030504040204" pitchFamily="50" charset="-128"/>
                </a:rPr>
              </a:br>
              <a:r>
                <a:rPr lang="ja-JP" altLang="en-US" sz="700">
                  <a:solidFill>
                    <a:schemeClr val="bg2">
                      <a:lumMod val="50000"/>
                    </a:schemeClr>
                  </a:solidFill>
                  <a:latin typeface="Meiryo UI" panose="020B0604030504040204" pitchFamily="50" charset="-128"/>
                  <a:ea typeface="Meiryo UI" panose="020B0604030504040204" pitchFamily="50" charset="-128"/>
                </a:rPr>
                <a:t>二次チェック</a:t>
              </a:r>
            </a:p>
          </p:txBody>
        </p:sp>
        <p:sp>
          <p:nvSpPr>
            <p:cNvPr id="202" name="正方形/長方形 201">
              <a:extLst>
                <a:ext uri="{FF2B5EF4-FFF2-40B4-BE49-F238E27FC236}">
                  <a16:creationId xmlns:a16="http://schemas.microsoft.com/office/drawing/2014/main" id="{D9CADE58-826B-63D8-532A-840354A80DAD}"/>
                </a:ext>
              </a:extLst>
            </p:cNvPr>
            <p:cNvSpPr/>
            <p:nvPr/>
          </p:nvSpPr>
          <p:spPr>
            <a:xfrm>
              <a:off x="4839503" y="4043207"/>
              <a:ext cx="1902633" cy="227208"/>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900">
                  <a:solidFill>
                    <a:schemeClr val="bg2">
                      <a:lumMod val="50000"/>
                    </a:schemeClr>
                  </a:solidFill>
                  <a:latin typeface="Meiryo UI" panose="020B0604030504040204" pitchFamily="50" charset="-128"/>
                  <a:ea typeface="Meiryo UI" panose="020B0604030504040204" pitchFamily="50" charset="-128"/>
                </a:rPr>
                <a:t>請求書チェック・</a:t>
              </a:r>
              <a:r>
                <a:rPr lang="en-US" altLang="ja-JP" sz="900">
                  <a:solidFill>
                    <a:schemeClr val="bg2">
                      <a:lumMod val="50000"/>
                    </a:schemeClr>
                  </a:solidFill>
                  <a:latin typeface="Meiryo UI" panose="020B0604030504040204" pitchFamily="50" charset="-128"/>
                  <a:ea typeface="Meiryo UI" panose="020B0604030504040204" pitchFamily="50" charset="-128"/>
                </a:rPr>
                <a:t>WS</a:t>
              </a:r>
              <a:r>
                <a:rPr lang="ja-JP" altLang="en-US" sz="900">
                  <a:solidFill>
                    <a:schemeClr val="bg2">
                      <a:lumMod val="50000"/>
                    </a:schemeClr>
                  </a:solidFill>
                  <a:latin typeface="Meiryo UI" panose="020B0604030504040204" pitchFamily="50" charset="-128"/>
                  <a:ea typeface="Meiryo UI" panose="020B0604030504040204" pitchFamily="50" charset="-128"/>
                </a:rPr>
                <a:t>入力</a:t>
              </a:r>
            </a:p>
          </p:txBody>
        </p:sp>
        <p:sp>
          <p:nvSpPr>
            <p:cNvPr id="203" name="四角形: 角を丸くする 202">
              <a:extLst>
                <a:ext uri="{FF2B5EF4-FFF2-40B4-BE49-F238E27FC236}">
                  <a16:creationId xmlns:a16="http://schemas.microsoft.com/office/drawing/2014/main" id="{42EECA28-C144-B39A-E4E3-4B08B0E83A2A}"/>
                </a:ext>
              </a:extLst>
            </p:cNvPr>
            <p:cNvSpPr/>
            <p:nvPr/>
          </p:nvSpPr>
          <p:spPr>
            <a:xfrm>
              <a:off x="3394713" y="4681566"/>
              <a:ext cx="431910" cy="162718"/>
            </a:xfrm>
            <a:prstGeom prst="roundRect">
              <a:avLst/>
            </a:prstGeom>
            <a:solidFill>
              <a:schemeClr val="accent1">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400">
                  <a:solidFill>
                    <a:schemeClr val="bg2">
                      <a:lumMod val="50000"/>
                    </a:schemeClr>
                  </a:solidFill>
                  <a:latin typeface="Meiryo UI" panose="020B0604030504040204" pitchFamily="50" charset="-128"/>
                  <a:ea typeface="Meiryo UI" panose="020B0604030504040204" pitchFamily="50" charset="-128"/>
                </a:rPr>
                <a:t>システム化</a:t>
              </a:r>
            </a:p>
          </p:txBody>
        </p:sp>
        <p:sp>
          <p:nvSpPr>
            <p:cNvPr id="204" name="四角形: 角を丸くする 203">
              <a:extLst>
                <a:ext uri="{FF2B5EF4-FFF2-40B4-BE49-F238E27FC236}">
                  <a16:creationId xmlns:a16="http://schemas.microsoft.com/office/drawing/2014/main" id="{FD713B32-AE32-6955-AD6B-CF1232267AEA}"/>
                </a:ext>
              </a:extLst>
            </p:cNvPr>
            <p:cNvSpPr/>
            <p:nvPr/>
          </p:nvSpPr>
          <p:spPr>
            <a:xfrm>
              <a:off x="4381840" y="4681566"/>
              <a:ext cx="431910" cy="162718"/>
            </a:xfrm>
            <a:prstGeom prst="roundRect">
              <a:avLst/>
            </a:prstGeom>
            <a:solidFill>
              <a:schemeClr val="accent1">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400">
                  <a:solidFill>
                    <a:schemeClr val="bg2">
                      <a:lumMod val="50000"/>
                    </a:schemeClr>
                  </a:solidFill>
                  <a:latin typeface="Meiryo UI" panose="020B0604030504040204" pitchFamily="50" charset="-128"/>
                  <a:ea typeface="Meiryo UI" panose="020B0604030504040204" pitchFamily="50" charset="-128"/>
                </a:rPr>
                <a:t>自動化</a:t>
              </a:r>
            </a:p>
          </p:txBody>
        </p:sp>
        <p:sp>
          <p:nvSpPr>
            <p:cNvPr id="205" name="正方形/長方形 204">
              <a:extLst>
                <a:ext uri="{FF2B5EF4-FFF2-40B4-BE49-F238E27FC236}">
                  <a16:creationId xmlns:a16="http://schemas.microsoft.com/office/drawing/2014/main" id="{22378153-6A80-6C20-4919-4E3E4969B822}"/>
                </a:ext>
              </a:extLst>
            </p:cNvPr>
            <p:cNvSpPr/>
            <p:nvPr/>
          </p:nvSpPr>
          <p:spPr>
            <a:xfrm>
              <a:off x="6782521" y="4369658"/>
              <a:ext cx="916190" cy="353143"/>
            </a:xfrm>
            <a:prstGeom prst="rect">
              <a:avLst/>
            </a:prstGeom>
            <a:solidFill>
              <a:schemeClr val="accent4">
                <a:lumMod val="20000"/>
                <a:lumOff val="80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700" dirty="0">
                  <a:solidFill>
                    <a:schemeClr val="bg2">
                      <a:lumMod val="50000"/>
                    </a:schemeClr>
                  </a:solidFill>
                  <a:latin typeface="Meiryo UI" panose="020B0604030504040204" pitchFamily="50" charset="-128"/>
                  <a:ea typeface="Meiryo UI" panose="020B0604030504040204" pitchFamily="50" charset="-128"/>
                </a:rPr>
                <a:t>支払依頼</a:t>
              </a:r>
              <a:r>
                <a:rPr lang="en-US" altLang="ja-JP" sz="700" dirty="0">
                  <a:solidFill>
                    <a:schemeClr val="bg2">
                      <a:lumMod val="50000"/>
                    </a:schemeClr>
                  </a:solidFill>
                  <a:latin typeface="Meiryo UI" panose="020B0604030504040204" pitchFamily="50" charset="-128"/>
                  <a:ea typeface="Meiryo UI" panose="020B0604030504040204" pitchFamily="50" charset="-128"/>
                </a:rPr>
                <a:t>WS</a:t>
              </a:r>
              <a:r>
                <a:rPr lang="ja-JP" altLang="en-US" sz="700" dirty="0">
                  <a:solidFill>
                    <a:schemeClr val="bg2">
                      <a:lumMod val="50000"/>
                    </a:schemeClr>
                  </a:solidFill>
                  <a:latin typeface="Meiryo UI" panose="020B0604030504040204" pitchFamily="50" charset="-128"/>
                  <a:ea typeface="Meiryo UI" panose="020B0604030504040204" pitchFamily="50" charset="-128"/>
                </a:rPr>
                <a:t>を基に処理実行</a:t>
              </a:r>
            </a:p>
          </p:txBody>
        </p:sp>
        <p:sp>
          <p:nvSpPr>
            <p:cNvPr id="206" name="正方形/長方形 205">
              <a:extLst>
                <a:ext uri="{FF2B5EF4-FFF2-40B4-BE49-F238E27FC236}">
                  <a16:creationId xmlns:a16="http://schemas.microsoft.com/office/drawing/2014/main" id="{8505443D-690B-4BA5-9DC0-E0F7ABEF8C7C}"/>
                </a:ext>
              </a:extLst>
            </p:cNvPr>
            <p:cNvSpPr/>
            <p:nvPr/>
          </p:nvSpPr>
          <p:spPr>
            <a:xfrm>
              <a:off x="6782520" y="4043207"/>
              <a:ext cx="1910236" cy="227208"/>
            </a:xfrm>
            <a:prstGeom prst="rect">
              <a:avLst/>
            </a:prstGeom>
            <a:solidFill>
              <a:schemeClr val="accent4">
                <a:lumMod val="20000"/>
                <a:lumOff val="80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spcBef>
                  <a:spcPts val="0"/>
                </a:spcBef>
                <a:spcAft>
                  <a:spcPts val="0"/>
                </a:spcAft>
              </a:pPr>
              <a:r>
                <a:rPr kumimoji="0" lang="en-US" altLang="ja-JP" sz="900" kern="0" dirty="0">
                  <a:solidFill>
                    <a:srgbClr val="FF0000"/>
                  </a:solidFill>
                  <a:latin typeface="Meiryo UI" panose="020B0604030504040204" pitchFamily="50" charset="-128"/>
                  <a:ea typeface="Meiryo UI" panose="020B0604030504040204" pitchFamily="50" charset="-128"/>
                </a:rPr>
                <a:t>AI</a:t>
              </a:r>
              <a:r>
                <a:rPr kumimoji="0" lang="ja-JP" altLang="en-US" sz="900" kern="0" dirty="0">
                  <a:solidFill>
                    <a:srgbClr val="FF0000"/>
                  </a:solidFill>
                  <a:latin typeface="Meiryo UI" panose="020B0604030504040204" pitchFamily="50" charset="-128"/>
                  <a:ea typeface="Meiryo UI" panose="020B0604030504040204" pitchFamily="50" charset="-128"/>
                </a:rPr>
                <a:t>エージェントによる処理</a:t>
              </a:r>
            </a:p>
          </p:txBody>
        </p:sp>
        <p:sp>
          <p:nvSpPr>
            <p:cNvPr id="207" name="四角形: 角を丸くする 206">
              <a:extLst>
                <a:ext uri="{FF2B5EF4-FFF2-40B4-BE49-F238E27FC236}">
                  <a16:creationId xmlns:a16="http://schemas.microsoft.com/office/drawing/2014/main" id="{5AE95AE4-0C74-BAD6-3AE8-64620CB84E27}"/>
                </a:ext>
              </a:extLst>
            </p:cNvPr>
            <p:cNvSpPr/>
            <p:nvPr/>
          </p:nvSpPr>
          <p:spPr>
            <a:xfrm>
              <a:off x="7270306" y="4681566"/>
              <a:ext cx="431910" cy="162718"/>
            </a:xfrm>
            <a:prstGeom prst="roundRect">
              <a:avLst/>
            </a:prstGeom>
            <a:solidFill>
              <a:schemeClr val="accent1">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400">
                  <a:solidFill>
                    <a:schemeClr val="bg2">
                      <a:lumMod val="50000"/>
                    </a:schemeClr>
                  </a:solidFill>
                  <a:latin typeface="Meiryo UI" panose="020B0604030504040204" pitchFamily="50" charset="-128"/>
                  <a:ea typeface="Meiryo UI" panose="020B0604030504040204" pitchFamily="50" charset="-128"/>
                </a:rPr>
                <a:t>自動化</a:t>
              </a:r>
            </a:p>
          </p:txBody>
        </p:sp>
        <p:sp>
          <p:nvSpPr>
            <p:cNvPr id="208" name="正方形/長方形 207">
              <a:extLst>
                <a:ext uri="{FF2B5EF4-FFF2-40B4-BE49-F238E27FC236}">
                  <a16:creationId xmlns:a16="http://schemas.microsoft.com/office/drawing/2014/main" id="{18D679EC-5549-38D0-5ADA-762F65B88DC6}"/>
                </a:ext>
              </a:extLst>
            </p:cNvPr>
            <p:cNvSpPr/>
            <p:nvPr/>
          </p:nvSpPr>
          <p:spPr>
            <a:xfrm>
              <a:off x="7767386" y="4369658"/>
              <a:ext cx="916190" cy="353143"/>
            </a:xfrm>
            <a:prstGeom prst="rect">
              <a:avLst/>
            </a:prstGeom>
            <a:solidFill>
              <a:schemeClr val="accent4">
                <a:lumMod val="20000"/>
                <a:lumOff val="80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700">
                  <a:solidFill>
                    <a:schemeClr val="bg2">
                      <a:lumMod val="50000"/>
                    </a:schemeClr>
                  </a:solidFill>
                  <a:latin typeface="Meiryo UI" panose="020B0604030504040204" pitchFamily="50" charset="-128"/>
                  <a:ea typeface="Meiryo UI" panose="020B0604030504040204" pitchFamily="50" charset="-128"/>
                </a:rPr>
                <a:t>支払依頼</a:t>
              </a:r>
              <a:r>
                <a:rPr lang="en-US" altLang="ja-JP" sz="700">
                  <a:solidFill>
                    <a:schemeClr val="bg2">
                      <a:lumMod val="50000"/>
                    </a:schemeClr>
                  </a:solidFill>
                  <a:latin typeface="Meiryo UI" panose="020B0604030504040204" pitchFamily="50" charset="-128"/>
                  <a:ea typeface="Meiryo UI" panose="020B0604030504040204" pitchFamily="50" charset="-128"/>
                </a:rPr>
                <a:t>WS</a:t>
              </a:r>
              <a:r>
                <a:rPr lang="ja-JP" altLang="en-US" sz="700">
                  <a:solidFill>
                    <a:schemeClr val="bg2">
                      <a:lumMod val="50000"/>
                    </a:schemeClr>
                  </a:solidFill>
                  <a:latin typeface="Meiryo UI" panose="020B0604030504040204" pitchFamily="50" charset="-128"/>
                  <a:ea typeface="Meiryo UI" panose="020B0604030504040204" pitchFamily="50" charset="-128"/>
                </a:rPr>
                <a:t>へ</a:t>
              </a:r>
              <a:br>
                <a:rPr lang="en-US" altLang="ja-JP" sz="700">
                  <a:solidFill>
                    <a:schemeClr val="bg2">
                      <a:lumMod val="50000"/>
                    </a:schemeClr>
                  </a:solidFill>
                  <a:latin typeface="Meiryo UI" panose="020B0604030504040204" pitchFamily="50" charset="-128"/>
                  <a:ea typeface="Meiryo UI" panose="020B0604030504040204" pitchFamily="50" charset="-128"/>
                </a:rPr>
              </a:br>
              <a:r>
                <a:rPr lang="ja-JP" altLang="en-US" sz="700">
                  <a:solidFill>
                    <a:schemeClr val="bg2">
                      <a:lumMod val="50000"/>
                    </a:schemeClr>
                  </a:solidFill>
                  <a:latin typeface="Meiryo UI" panose="020B0604030504040204" pitchFamily="50" charset="-128"/>
                  <a:ea typeface="Meiryo UI" panose="020B0604030504040204" pitchFamily="50" charset="-128"/>
                </a:rPr>
                <a:t>結果の転記</a:t>
              </a:r>
            </a:p>
          </p:txBody>
        </p:sp>
        <p:sp>
          <p:nvSpPr>
            <p:cNvPr id="209" name="四角形: 角を丸くする 208">
              <a:extLst>
                <a:ext uri="{FF2B5EF4-FFF2-40B4-BE49-F238E27FC236}">
                  <a16:creationId xmlns:a16="http://schemas.microsoft.com/office/drawing/2014/main" id="{8068052F-0CBD-F867-58ED-D1F58066B138}"/>
                </a:ext>
              </a:extLst>
            </p:cNvPr>
            <p:cNvSpPr/>
            <p:nvPr/>
          </p:nvSpPr>
          <p:spPr>
            <a:xfrm>
              <a:off x="8260846" y="4681566"/>
              <a:ext cx="431910" cy="162718"/>
            </a:xfrm>
            <a:prstGeom prst="roundRect">
              <a:avLst/>
            </a:prstGeom>
            <a:solidFill>
              <a:schemeClr val="accent1">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ja-JP" altLang="en-US" sz="400">
                  <a:solidFill>
                    <a:schemeClr val="bg2">
                      <a:lumMod val="50000"/>
                    </a:schemeClr>
                  </a:solidFill>
                  <a:latin typeface="Meiryo UI" panose="020B0604030504040204" pitchFamily="50" charset="-128"/>
                  <a:ea typeface="Meiryo UI" panose="020B0604030504040204" pitchFamily="50" charset="-128"/>
                </a:rPr>
                <a:t>自動化</a:t>
              </a:r>
            </a:p>
          </p:txBody>
        </p:sp>
        <p:sp>
          <p:nvSpPr>
            <p:cNvPr id="212" name="正方形/長方形 211">
              <a:extLst>
                <a:ext uri="{FF2B5EF4-FFF2-40B4-BE49-F238E27FC236}">
                  <a16:creationId xmlns:a16="http://schemas.microsoft.com/office/drawing/2014/main" id="{959462B4-B443-7DE5-3430-43DBEAC2F29F}"/>
                </a:ext>
              </a:extLst>
            </p:cNvPr>
            <p:cNvSpPr/>
            <p:nvPr/>
          </p:nvSpPr>
          <p:spPr>
            <a:xfrm>
              <a:off x="8752250" y="4369657"/>
              <a:ext cx="674256" cy="353143"/>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700">
                  <a:solidFill>
                    <a:schemeClr val="bg2">
                      <a:lumMod val="50000"/>
                    </a:schemeClr>
                  </a:solidFill>
                  <a:latin typeface="Meiryo UI" panose="020B0604030504040204" pitchFamily="50" charset="-128"/>
                  <a:ea typeface="Meiryo UI" panose="020B0604030504040204" pitchFamily="50" charset="-128"/>
                </a:rPr>
                <a:t>支払</a:t>
              </a:r>
              <a:r>
                <a:rPr lang="en-US" altLang="ja-JP" sz="700">
                  <a:solidFill>
                    <a:schemeClr val="bg2">
                      <a:lumMod val="50000"/>
                    </a:schemeClr>
                  </a:solidFill>
                  <a:latin typeface="Meiryo UI" panose="020B0604030504040204" pitchFamily="50" charset="-128"/>
                  <a:ea typeface="Meiryo UI" panose="020B0604030504040204" pitchFamily="50" charset="-128"/>
                </a:rPr>
                <a:t>WS</a:t>
              </a:r>
              <a:r>
                <a:rPr lang="ja-JP" altLang="en-US" sz="700">
                  <a:solidFill>
                    <a:schemeClr val="bg2">
                      <a:lumMod val="50000"/>
                    </a:schemeClr>
                  </a:solidFill>
                  <a:latin typeface="Meiryo UI" panose="020B0604030504040204" pitchFamily="50" charset="-128"/>
                  <a:ea typeface="Meiryo UI" panose="020B0604030504040204" pitchFamily="50" charset="-128"/>
                </a:rPr>
                <a:t>の確認</a:t>
              </a:r>
              <a:r>
                <a:rPr lang="en-US" altLang="ja-JP" sz="700">
                  <a:solidFill>
                    <a:schemeClr val="bg2">
                      <a:lumMod val="50000"/>
                    </a:schemeClr>
                  </a:solidFill>
                  <a:latin typeface="Meiryo UI" panose="020B0604030504040204" pitchFamily="50" charset="-128"/>
                  <a:ea typeface="Meiryo UI" panose="020B0604030504040204" pitchFamily="50" charset="-128"/>
                </a:rPr>
                <a:t>...</a:t>
              </a:r>
              <a:endParaRPr lang="ja-JP" altLang="en-US" sz="700">
                <a:solidFill>
                  <a:schemeClr val="bg2">
                    <a:lumMod val="50000"/>
                  </a:schemeClr>
                </a:solidFill>
                <a:latin typeface="Meiryo UI" panose="020B0604030504040204" pitchFamily="50" charset="-128"/>
                <a:ea typeface="Meiryo UI" panose="020B0604030504040204" pitchFamily="50" charset="-128"/>
              </a:endParaRPr>
            </a:p>
          </p:txBody>
        </p:sp>
        <p:sp>
          <p:nvSpPr>
            <p:cNvPr id="213" name="正方形/長方形 212">
              <a:extLst>
                <a:ext uri="{FF2B5EF4-FFF2-40B4-BE49-F238E27FC236}">
                  <a16:creationId xmlns:a16="http://schemas.microsoft.com/office/drawing/2014/main" id="{4B99ADCE-C015-8B28-15DE-35F77238A9A4}"/>
                </a:ext>
              </a:extLst>
            </p:cNvPr>
            <p:cNvSpPr/>
            <p:nvPr/>
          </p:nvSpPr>
          <p:spPr>
            <a:xfrm>
              <a:off x="8752250" y="4043207"/>
              <a:ext cx="674255" cy="227208"/>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900" dirty="0">
                  <a:solidFill>
                    <a:schemeClr val="bg2">
                      <a:lumMod val="50000"/>
                    </a:schemeClr>
                  </a:solidFill>
                  <a:latin typeface="Meiryo UI" panose="020B0604030504040204" pitchFamily="50" charset="-128"/>
                  <a:ea typeface="Meiryo UI" panose="020B0604030504040204" pitchFamily="50" charset="-128"/>
                </a:rPr>
                <a:t>結果確認</a:t>
              </a:r>
            </a:p>
          </p:txBody>
        </p:sp>
        <p:sp>
          <p:nvSpPr>
            <p:cNvPr id="214" name="正方形/長方形 213">
              <a:extLst>
                <a:ext uri="{FF2B5EF4-FFF2-40B4-BE49-F238E27FC236}">
                  <a16:creationId xmlns:a16="http://schemas.microsoft.com/office/drawing/2014/main" id="{183AED2D-68C8-A060-0CD0-A418CBE59AF2}"/>
                </a:ext>
              </a:extLst>
            </p:cNvPr>
            <p:cNvSpPr/>
            <p:nvPr/>
          </p:nvSpPr>
          <p:spPr>
            <a:xfrm>
              <a:off x="1372938" y="3291183"/>
              <a:ext cx="8030662" cy="74992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2">
                      <a:lumMod val="50000"/>
                    </a:schemeClr>
                  </a:solidFill>
                  <a:latin typeface="Meiryo UI" panose="020B0604030504040204" pitchFamily="50" charset="-128"/>
                  <a:ea typeface="Meiryo UI" panose="020B0604030504040204" pitchFamily="50" charset="-128"/>
                </a:rPr>
                <a:t>・</a:t>
              </a:r>
              <a:endParaRPr lang="en-US" altLang="ja-JP" sz="1000" b="1" dirty="0">
                <a:solidFill>
                  <a:schemeClr val="bg2">
                    <a:lumMod val="50000"/>
                  </a:schemeClr>
                </a:solidFill>
                <a:latin typeface="Meiryo UI" panose="020B0604030504040204" pitchFamily="50" charset="-128"/>
                <a:ea typeface="Meiryo UI" panose="020B0604030504040204" pitchFamily="50" charset="-128"/>
              </a:endParaRPr>
            </a:p>
            <a:p>
              <a:pPr algn="ctr"/>
              <a:r>
                <a:rPr lang="ja-JP" altLang="en-US" sz="1000" b="1" dirty="0">
                  <a:solidFill>
                    <a:schemeClr val="bg2">
                      <a:lumMod val="50000"/>
                    </a:schemeClr>
                  </a:solidFill>
                  <a:latin typeface="Meiryo UI" panose="020B0604030504040204" pitchFamily="50" charset="-128"/>
                  <a:ea typeface="Meiryo UI" panose="020B0604030504040204" pitchFamily="50" charset="-128"/>
                </a:rPr>
                <a:t>・</a:t>
              </a:r>
              <a:endParaRPr lang="en-US" altLang="ja-JP" sz="1000" b="1" dirty="0">
                <a:solidFill>
                  <a:schemeClr val="bg2">
                    <a:lumMod val="50000"/>
                  </a:schemeClr>
                </a:solidFill>
                <a:latin typeface="Meiryo UI" panose="020B0604030504040204" pitchFamily="50" charset="-128"/>
                <a:ea typeface="Meiryo UI" panose="020B0604030504040204" pitchFamily="50" charset="-128"/>
              </a:endParaRPr>
            </a:p>
            <a:p>
              <a:pPr algn="ctr"/>
              <a:r>
                <a:rPr lang="ja-JP" altLang="en-US" sz="1000" b="1" dirty="0">
                  <a:solidFill>
                    <a:schemeClr val="bg2">
                      <a:lumMod val="50000"/>
                    </a:schemeClr>
                  </a:solidFill>
                  <a:latin typeface="Meiryo UI" panose="020B0604030504040204" pitchFamily="50" charset="-128"/>
                  <a:ea typeface="Meiryo UI" panose="020B0604030504040204" pitchFamily="50" charset="-128"/>
                </a:rPr>
                <a:t>・</a:t>
              </a:r>
            </a:p>
          </p:txBody>
        </p:sp>
        <p:sp>
          <p:nvSpPr>
            <p:cNvPr id="215" name="正方形/長方形 214">
              <a:extLst>
                <a:ext uri="{FF2B5EF4-FFF2-40B4-BE49-F238E27FC236}">
                  <a16:creationId xmlns:a16="http://schemas.microsoft.com/office/drawing/2014/main" id="{3CD52F20-04C7-A300-4AE4-9A3923C96F2C}"/>
                </a:ext>
              </a:extLst>
            </p:cNvPr>
            <p:cNvSpPr/>
            <p:nvPr/>
          </p:nvSpPr>
          <p:spPr>
            <a:xfrm>
              <a:off x="1372938" y="4888184"/>
              <a:ext cx="8030662" cy="74992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2">
                      <a:lumMod val="50000"/>
                    </a:schemeClr>
                  </a:solidFill>
                  <a:latin typeface="Meiryo UI" panose="020B0604030504040204" pitchFamily="50" charset="-128"/>
                  <a:ea typeface="Meiryo UI" panose="020B0604030504040204" pitchFamily="50" charset="-128"/>
                </a:rPr>
                <a:t>・</a:t>
              </a:r>
              <a:endParaRPr lang="en-US" altLang="ja-JP" sz="1000" b="1" dirty="0">
                <a:solidFill>
                  <a:schemeClr val="bg2">
                    <a:lumMod val="50000"/>
                  </a:schemeClr>
                </a:solidFill>
                <a:latin typeface="Meiryo UI" panose="020B0604030504040204" pitchFamily="50" charset="-128"/>
                <a:ea typeface="Meiryo UI" panose="020B0604030504040204" pitchFamily="50" charset="-128"/>
              </a:endParaRPr>
            </a:p>
            <a:p>
              <a:pPr algn="ctr"/>
              <a:r>
                <a:rPr lang="ja-JP" altLang="en-US" sz="1000" b="1" dirty="0">
                  <a:solidFill>
                    <a:schemeClr val="bg2">
                      <a:lumMod val="50000"/>
                    </a:schemeClr>
                  </a:solidFill>
                  <a:latin typeface="Meiryo UI" panose="020B0604030504040204" pitchFamily="50" charset="-128"/>
                  <a:ea typeface="Meiryo UI" panose="020B0604030504040204" pitchFamily="50" charset="-128"/>
                </a:rPr>
                <a:t>・</a:t>
              </a:r>
              <a:endParaRPr lang="en-US" altLang="ja-JP" sz="1000" b="1" dirty="0">
                <a:solidFill>
                  <a:schemeClr val="bg2">
                    <a:lumMod val="50000"/>
                  </a:schemeClr>
                </a:solidFill>
                <a:latin typeface="Meiryo UI" panose="020B0604030504040204" pitchFamily="50" charset="-128"/>
                <a:ea typeface="Meiryo UI" panose="020B0604030504040204" pitchFamily="50" charset="-128"/>
              </a:endParaRPr>
            </a:p>
            <a:p>
              <a:pPr algn="ctr"/>
              <a:r>
                <a:rPr lang="ja-JP" altLang="en-US" sz="1000" b="1" dirty="0">
                  <a:solidFill>
                    <a:schemeClr val="bg2">
                      <a:lumMod val="50000"/>
                    </a:schemeClr>
                  </a:solidFill>
                  <a:latin typeface="Meiryo UI" panose="020B0604030504040204" pitchFamily="50" charset="-128"/>
                  <a:ea typeface="Meiryo UI" panose="020B0604030504040204" pitchFamily="50" charset="-128"/>
                </a:rPr>
                <a:t>・</a:t>
              </a:r>
            </a:p>
          </p:txBody>
        </p:sp>
        <p:sp>
          <p:nvSpPr>
            <p:cNvPr id="219" name="テキスト ボックス 218">
              <a:extLst>
                <a:ext uri="{FF2B5EF4-FFF2-40B4-BE49-F238E27FC236}">
                  <a16:creationId xmlns:a16="http://schemas.microsoft.com/office/drawing/2014/main" id="{DCF2977B-FA99-51AC-F90D-5754495A5BA5}"/>
                </a:ext>
              </a:extLst>
            </p:cNvPr>
            <p:cNvSpPr txBox="1"/>
            <p:nvPr/>
          </p:nvSpPr>
          <p:spPr bwMode="auto">
            <a:xfrm>
              <a:off x="1361726" y="1128178"/>
              <a:ext cx="7950840" cy="239681"/>
            </a:xfrm>
            <a:prstGeom prst="rect">
              <a:avLst/>
            </a:prstGeom>
            <a:noFill/>
            <a:ln w="9525">
              <a:noFill/>
              <a:miter lim="800000"/>
              <a:headEnd/>
              <a:tailEnd/>
            </a:ln>
          </p:spPr>
          <p:txBody>
            <a:bodyPr wrap="square" rtlCol="0" anchor="ctr">
              <a:spAutoFit/>
            </a:bodyPr>
            <a:lstStyle/>
            <a:p>
              <a:pPr algn="ctr">
                <a:defRPr/>
              </a:pPr>
              <a:r>
                <a:rPr lang="en-US" altLang="ja-JP" sz="1100" b="1" dirty="0">
                  <a:solidFill>
                    <a:srgbClr val="E7E6E6">
                      <a:lumMod val="50000"/>
                    </a:srgbClr>
                  </a:solidFill>
                  <a:latin typeface="Meiryo UI" panose="020B0604030504040204" pitchFamily="50" charset="-128"/>
                  <a:ea typeface="Meiryo UI" panose="020B0604030504040204" pitchFamily="50" charset="-128"/>
                </a:rPr>
                <a:t>AI</a:t>
              </a:r>
              <a:r>
                <a:rPr lang="ja-JP" altLang="en-US" sz="1100" b="1" dirty="0">
                  <a:solidFill>
                    <a:srgbClr val="E7E6E6">
                      <a:lumMod val="50000"/>
                    </a:srgbClr>
                  </a:solidFill>
                  <a:latin typeface="Meiryo UI" panose="020B0604030504040204" pitchFamily="50" charset="-128"/>
                  <a:ea typeface="Meiryo UI" panose="020B0604030504040204" pitchFamily="50" charset="-128"/>
                </a:rPr>
                <a:t>エージェント適用イメージ</a:t>
              </a:r>
            </a:p>
          </p:txBody>
        </p:sp>
        <p:cxnSp>
          <p:nvCxnSpPr>
            <p:cNvPr id="220" name="直線コネクタ 219">
              <a:extLst>
                <a:ext uri="{FF2B5EF4-FFF2-40B4-BE49-F238E27FC236}">
                  <a16:creationId xmlns:a16="http://schemas.microsoft.com/office/drawing/2014/main" id="{A29CCAC9-4E4F-3BF8-ED79-5D12672C790C}"/>
                </a:ext>
              </a:extLst>
            </p:cNvPr>
            <p:cNvCxnSpPr>
              <a:cxnSpLocks/>
            </p:cNvCxnSpPr>
            <p:nvPr/>
          </p:nvCxnSpPr>
          <p:spPr>
            <a:xfrm>
              <a:off x="1390300" y="1376233"/>
              <a:ext cx="7950840" cy="0"/>
            </a:xfrm>
            <a:prstGeom prst="line">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cxnSp>
        <p:sp>
          <p:nvSpPr>
            <p:cNvPr id="217" name="正方形/長方形 216">
              <a:extLst>
                <a:ext uri="{FF2B5EF4-FFF2-40B4-BE49-F238E27FC236}">
                  <a16:creationId xmlns:a16="http://schemas.microsoft.com/office/drawing/2014/main" id="{16A77918-1DE7-02E2-E353-B1BEBAF47B27}"/>
                </a:ext>
              </a:extLst>
            </p:cNvPr>
            <p:cNvSpPr/>
            <p:nvPr/>
          </p:nvSpPr>
          <p:spPr>
            <a:xfrm>
              <a:off x="562686" y="1437783"/>
              <a:ext cx="782982" cy="2572596"/>
            </a:xfrm>
            <a:prstGeom prst="rect">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経理</a:t>
              </a:r>
              <a:br>
                <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br>
              <a:r>
                <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t>OS</a:t>
              </a:r>
              <a:endPar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218" name="正方形/長方形 217">
              <a:extLst>
                <a:ext uri="{FF2B5EF4-FFF2-40B4-BE49-F238E27FC236}">
                  <a16:creationId xmlns:a16="http://schemas.microsoft.com/office/drawing/2014/main" id="{21626202-1AAE-531F-8C28-BDAD90BE40FB}"/>
                </a:ext>
              </a:extLst>
            </p:cNvPr>
            <p:cNvSpPr/>
            <p:nvPr/>
          </p:nvSpPr>
          <p:spPr>
            <a:xfrm>
              <a:off x="562686" y="4041103"/>
              <a:ext cx="782982" cy="1597001"/>
            </a:xfrm>
            <a:prstGeom prst="rect">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t>BPS</a:t>
              </a:r>
              <a:endPar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223" name="テキスト ボックス 222">
              <a:extLst>
                <a:ext uri="{FF2B5EF4-FFF2-40B4-BE49-F238E27FC236}">
                  <a16:creationId xmlns:a16="http://schemas.microsoft.com/office/drawing/2014/main" id="{013F193F-8D05-49D5-0FD7-55FE5338AABB}"/>
                </a:ext>
              </a:extLst>
            </p:cNvPr>
            <p:cNvSpPr txBox="1"/>
            <p:nvPr/>
          </p:nvSpPr>
          <p:spPr bwMode="auto">
            <a:xfrm>
              <a:off x="564220" y="1134276"/>
              <a:ext cx="779916" cy="239681"/>
            </a:xfrm>
            <a:prstGeom prst="rect">
              <a:avLst/>
            </a:prstGeom>
            <a:noFill/>
            <a:ln w="9525">
              <a:noFill/>
              <a:miter lim="800000"/>
              <a:headEnd/>
              <a:tailEnd/>
            </a:ln>
          </p:spPr>
          <p:txBody>
            <a:bodyPr wrap="square" rtlCol="0" anchor="ctr">
              <a:spAutoFit/>
            </a:bodyPr>
            <a:lstStyle/>
            <a:p>
              <a:pPr algn="ctr">
                <a:defRPr/>
              </a:pPr>
              <a:r>
                <a:rPr lang="ja-JP" altLang="en-US" sz="1100" b="1" dirty="0">
                  <a:solidFill>
                    <a:srgbClr val="E7E6E6">
                      <a:lumMod val="50000"/>
                    </a:srgbClr>
                  </a:solidFill>
                  <a:latin typeface="Meiryo UI" panose="020B0604030504040204" pitchFamily="50" charset="-128"/>
                  <a:ea typeface="Meiryo UI" panose="020B0604030504040204" pitchFamily="50" charset="-128"/>
                </a:rPr>
                <a:t>領域</a:t>
              </a:r>
            </a:p>
          </p:txBody>
        </p:sp>
        <p:cxnSp>
          <p:nvCxnSpPr>
            <p:cNvPr id="224" name="直線コネクタ 223">
              <a:extLst>
                <a:ext uri="{FF2B5EF4-FFF2-40B4-BE49-F238E27FC236}">
                  <a16:creationId xmlns:a16="http://schemas.microsoft.com/office/drawing/2014/main" id="{A6443381-9330-1348-6413-7C6516A524B9}"/>
                </a:ext>
              </a:extLst>
            </p:cNvPr>
            <p:cNvCxnSpPr>
              <a:cxnSpLocks/>
            </p:cNvCxnSpPr>
            <p:nvPr/>
          </p:nvCxnSpPr>
          <p:spPr>
            <a:xfrm>
              <a:off x="564220" y="1376233"/>
              <a:ext cx="779916" cy="0"/>
            </a:xfrm>
            <a:prstGeom prst="line">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cxnSp>
        <p:sp>
          <p:nvSpPr>
            <p:cNvPr id="226" name="正方形/長方形 225">
              <a:extLst>
                <a:ext uri="{FF2B5EF4-FFF2-40B4-BE49-F238E27FC236}">
                  <a16:creationId xmlns:a16="http://schemas.microsoft.com/office/drawing/2014/main" id="{D6FB2EEA-DD3E-A44A-49E0-0440EAAD3375}"/>
                </a:ext>
              </a:extLst>
            </p:cNvPr>
            <p:cNvSpPr/>
            <p:nvPr/>
          </p:nvSpPr>
          <p:spPr>
            <a:xfrm>
              <a:off x="562686" y="5684576"/>
              <a:ext cx="782982" cy="749920"/>
            </a:xfrm>
            <a:prstGeom prst="rect">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顧客管理</a:t>
              </a:r>
              <a:endPar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endParaRPr>
            </a:p>
            <a:p>
              <a:pPr algn="ct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財務</a:t>
              </a:r>
              <a:endPar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endParaRPr>
            </a:p>
            <a:p>
              <a:pPr algn="ct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法務</a:t>
              </a:r>
              <a:br>
                <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br>
              <a:r>
                <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t>…</a:t>
              </a:r>
              <a:endPar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227" name="正方形/長方形 226">
              <a:extLst>
                <a:ext uri="{FF2B5EF4-FFF2-40B4-BE49-F238E27FC236}">
                  <a16:creationId xmlns:a16="http://schemas.microsoft.com/office/drawing/2014/main" id="{839C3B39-14A6-0F30-A787-BC498082F506}"/>
                </a:ext>
              </a:extLst>
            </p:cNvPr>
            <p:cNvSpPr/>
            <p:nvPr/>
          </p:nvSpPr>
          <p:spPr>
            <a:xfrm>
              <a:off x="1350389" y="5684577"/>
              <a:ext cx="8030662" cy="74992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2">
                      <a:lumMod val="50000"/>
                    </a:schemeClr>
                  </a:solidFill>
                  <a:latin typeface="Meiryo UI" panose="020B0604030504040204" pitchFamily="50" charset="-128"/>
                  <a:ea typeface="Meiryo UI" panose="020B0604030504040204" pitchFamily="50" charset="-128"/>
                </a:rPr>
                <a:t>・</a:t>
              </a:r>
              <a:endParaRPr lang="en-US" altLang="ja-JP" sz="1000" b="1" dirty="0">
                <a:solidFill>
                  <a:schemeClr val="bg2">
                    <a:lumMod val="50000"/>
                  </a:schemeClr>
                </a:solidFill>
                <a:latin typeface="Meiryo UI" panose="020B0604030504040204" pitchFamily="50" charset="-128"/>
                <a:ea typeface="Meiryo UI" panose="020B0604030504040204" pitchFamily="50" charset="-128"/>
              </a:endParaRPr>
            </a:p>
            <a:p>
              <a:pPr algn="ctr"/>
              <a:r>
                <a:rPr lang="ja-JP" altLang="en-US" sz="1000" b="1" dirty="0">
                  <a:solidFill>
                    <a:schemeClr val="bg2">
                      <a:lumMod val="50000"/>
                    </a:schemeClr>
                  </a:solidFill>
                  <a:latin typeface="Meiryo UI" panose="020B0604030504040204" pitchFamily="50" charset="-128"/>
                  <a:ea typeface="Meiryo UI" panose="020B0604030504040204" pitchFamily="50" charset="-128"/>
                </a:rPr>
                <a:t>・</a:t>
              </a:r>
              <a:endParaRPr lang="en-US" altLang="ja-JP" sz="1000" b="1" dirty="0">
                <a:solidFill>
                  <a:schemeClr val="bg2">
                    <a:lumMod val="50000"/>
                  </a:schemeClr>
                </a:solidFill>
                <a:latin typeface="Meiryo UI" panose="020B0604030504040204" pitchFamily="50" charset="-128"/>
                <a:ea typeface="Meiryo UI" panose="020B0604030504040204" pitchFamily="50" charset="-128"/>
              </a:endParaRPr>
            </a:p>
            <a:p>
              <a:pPr algn="ctr"/>
              <a:r>
                <a:rPr lang="ja-JP" altLang="en-US" sz="1000" b="1" dirty="0">
                  <a:solidFill>
                    <a:schemeClr val="bg2">
                      <a:lumMod val="50000"/>
                    </a:schemeClr>
                  </a:solidFill>
                  <a:latin typeface="Meiryo UI" panose="020B0604030504040204" pitchFamily="50" charset="-128"/>
                  <a:ea typeface="Meiryo UI" panose="020B0604030504040204" pitchFamily="50" charset="-128"/>
                </a:rPr>
                <a:t>・</a:t>
              </a:r>
            </a:p>
          </p:txBody>
        </p:sp>
        <p:sp>
          <p:nvSpPr>
            <p:cNvPr id="233" name="正方形/長方形 232">
              <a:extLst>
                <a:ext uri="{FF2B5EF4-FFF2-40B4-BE49-F238E27FC236}">
                  <a16:creationId xmlns:a16="http://schemas.microsoft.com/office/drawing/2014/main" id="{AF4EAB68-9CBF-4198-CE6A-4900971242F9}"/>
                </a:ext>
              </a:extLst>
            </p:cNvPr>
            <p:cNvSpPr/>
            <p:nvPr/>
          </p:nvSpPr>
          <p:spPr>
            <a:xfrm>
              <a:off x="10124554" y="2535251"/>
              <a:ext cx="1734070" cy="316102"/>
            </a:xfrm>
            <a:prstGeom prst="rect">
              <a:avLst/>
            </a:prstGeom>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NRI</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ラボ＆</a:t>
              </a:r>
              <a:r>
                <a:rPr kumimoji="0" lang="en-US" altLang="ja-JP" sz="11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LinkX</a:t>
              </a:r>
              <a:r>
                <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社の支援</a:t>
              </a:r>
              <a:br>
                <a:rPr kumimoji="0" lang="en-US" altLang="ja-JP"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br>
              <a:r>
                <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を含めて進行中</a:t>
              </a:r>
            </a:p>
          </p:txBody>
        </p:sp>
        <p:sp>
          <p:nvSpPr>
            <p:cNvPr id="234" name="左中かっこ 233">
              <a:extLst>
                <a:ext uri="{FF2B5EF4-FFF2-40B4-BE49-F238E27FC236}">
                  <a16:creationId xmlns:a16="http://schemas.microsoft.com/office/drawing/2014/main" id="{3894AEF2-1D58-1A1B-D42F-85EEB6254947}"/>
                </a:ext>
              </a:extLst>
            </p:cNvPr>
            <p:cNvSpPr/>
            <p:nvPr/>
          </p:nvSpPr>
          <p:spPr>
            <a:xfrm rot="10800000">
              <a:off x="9732770" y="1376232"/>
              <a:ext cx="291501" cy="2634141"/>
            </a:xfrm>
            <a:prstGeom prst="leftBrace">
              <a:avLst>
                <a:gd name="adj1" fmla="val 41890"/>
                <a:gd name="adj2" fmla="val 50000"/>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endPar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235" name="左中かっこ 234">
              <a:extLst>
                <a:ext uri="{FF2B5EF4-FFF2-40B4-BE49-F238E27FC236}">
                  <a16:creationId xmlns:a16="http://schemas.microsoft.com/office/drawing/2014/main" id="{A650B681-C33A-8E54-C27A-46824C93B609}"/>
                </a:ext>
              </a:extLst>
            </p:cNvPr>
            <p:cNvSpPr/>
            <p:nvPr/>
          </p:nvSpPr>
          <p:spPr>
            <a:xfrm rot="10800000">
              <a:off x="9732769" y="4041101"/>
              <a:ext cx="291501" cy="1596999"/>
            </a:xfrm>
            <a:prstGeom prst="leftBrace">
              <a:avLst>
                <a:gd name="adj1" fmla="val 41890"/>
                <a:gd name="adj2" fmla="val 50000"/>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endPar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236" name="正方形/長方形 235">
              <a:extLst>
                <a:ext uri="{FF2B5EF4-FFF2-40B4-BE49-F238E27FC236}">
                  <a16:creationId xmlns:a16="http://schemas.microsoft.com/office/drawing/2014/main" id="{EDEEED64-5E5F-6C60-B0CB-B7F4C0D4875A}"/>
                </a:ext>
              </a:extLst>
            </p:cNvPr>
            <p:cNvSpPr/>
            <p:nvPr/>
          </p:nvSpPr>
          <p:spPr>
            <a:xfrm>
              <a:off x="10124554" y="4681550"/>
              <a:ext cx="1734070" cy="316102"/>
            </a:xfrm>
            <a:prstGeom prst="rect">
              <a:avLst/>
            </a:prstGeom>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defTabSz="584200" rtl="0" fontAlgn="auto" latinLnBrk="1" hangingPunct="0">
                <a:lnSpc>
                  <a:spcPct val="100000"/>
                </a:lnSpc>
                <a:spcBef>
                  <a:spcPts val="0"/>
                </a:spcBef>
                <a:spcAft>
                  <a:spcPts val="0"/>
                </a:spcAft>
                <a:buClrTx/>
                <a:buSzTx/>
                <a:buFontTx/>
                <a:buNone/>
                <a:tabLst/>
              </a:pPr>
              <a:r>
                <a:rPr kumimoji="0" lang="en-US" altLang="ja-JP"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DX</a:t>
              </a:r>
              <a:r>
                <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推進</a:t>
              </a:r>
              <a:r>
                <a:rPr kumimoji="0" lang="en-US" altLang="ja-JP"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T</a:t>
              </a:r>
              <a:r>
                <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で構築中</a:t>
              </a:r>
              <a:br>
                <a:rPr kumimoji="0" lang="en-US" altLang="ja-JP"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br>
              <a:r>
                <a:rPr kumimoji="0" lang="en-US" altLang="ja-JP" sz="9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※n8n</a:t>
              </a:r>
              <a:r>
                <a:rPr kumimoji="0" lang="ja-JP" altLang="en-US" sz="9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導入はほぼ確定</a:t>
              </a:r>
              <a:endParaRPr kumimoji="0" lang="ja-JP" altLang="en-US" sz="9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237" name="四角形: 角を丸くする 236">
              <a:extLst>
                <a:ext uri="{FF2B5EF4-FFF2-40B4-BE49-F238E27FC236}">
                  <a16:creationId xmlns:a16="http://schemas.microsoft.com/office/drawing/2014/main" id="{A5CDD546-AE19-DC50-6DE6-3C50904DA65D}"/>
                </a:ext>
              </a:extLst>
            </p:cNvPr>
            <p:cNvSpPr/>
            <p:nvPr/>
          </p:nvSpPr>
          <p:spPr>
            <a:xfrm>
              <a:off x="4589481" y="1703653"/>
              <a:ext cx="2151076" cy="1595903"/>
            </a:xfrm>
            <a:prstGeom prst="roundRect">
              <a:avLst>
                <a:gd name="adj" fmla="val 5704"/>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238" name="四角形: 角を丸くする 237">
              <a:extLst>
                <a:ext uri="{FF2B5EF4-FFF2-40B4-BE49-F238E27FC236}">
                  <a16:creationId xmlns:a16="http://schemas.microsoft.com/office/drawing/2014/main" id="{B732AE93-ECAC-6672-113E-22B418EEB4B9}"/>
                </a:ext>
              </a:extLst>
            </p:cNvPr>
            <p:cNvSpPr/>
            <p:nvPr/>
          </p:nvSpPr>
          <p:spPr>
            <a:xfrm>
              <a:off x="6705034" y="3963535"/>
              <a:ext cx="2024311" cy="924649"/>
            </a:xfrm>
            <a:prstGeom prst="roundRect">
              <a:avLst>
                <a:gd name="adj" fmla="val 5704"/>
              </a:avLst>
            </a:prstGeom>
            <a:noFill/>
            <a:ln w="63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kumimoji="1" lang="ja-JP" altLang="en-US"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239" name="左中かっこ 238">
              <a:extLst>
                <a:ext uri="{FF2B5EF4-FFF2-40B4-BE49-F238E27FC236}">
                  <a16:creationId xmlns:a16="http://schemas.microsoft.com/office/drawing/2014/main" id="{C53E49B8-DAE8-FCE5-A61E-FB2555C18CBD}"/>
                </a:ext>
              </a:extLst>
            </p:cNvPr>
            <p:cNvSpPr/>
            <p:nvPr/>
          </p:nvSpPr>
          <p:spPr>
            <a:xfrm rot="10800000">
              <a:off x="9732767" y="5684575"/>
              <a:ext cx="291501" cy="749919"/>
            </a:xfrm>
            <a:prstGeom prst="leftBrace">
              <a:avLst>
                <a:gd name="adj1" fmla="val 41890"/>
                <a:gd name="adj2" fmla="val 50000"/>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endPar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240" name="正方形/長方形 239">
              <a:extLst>
                <a:ext uri="{FF2B5EF4-FFF2-40B4-BE49-F238E27FC236}">
                  <a16:creationId xmlns:a16="http://schemas.microsoft.com/office/drawing/2014/main" id="{F72AB4B7-FE83-6D03-3A17-6E66284F9675}"/>
                </a:ext>
              </a:extLst>
            </p:cNvPr>
            <p:cNvSpPr/>
            <p:nvPr/>
          </p:nvSpPr>
          <p:spPr>
            <a:xfrm>
              <a:off x="10124554" y="5901484"/>
              <a:ext cx="1734070" cy="316102"/>
            </a:xfrm>
            <a:prstGeom prst="rect">
              <a:avLst/>
            </a:prstGeom>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defTabSz="584200" rtl="0" fontAlgn="auto" latinLnBrk="1" hangingPunct="0">
                <a:lnSpc>
                  <a:spcPct val="100000"/>
                </a:lnSpc>
                <a:spcBef>
                  <a:spcPts val="0"/>
                </a:spcBef>
                <a:spcAft>
                  <a:spcPts val="0"/>
                </a:spcAft>
                <a:buClrTx/>
                <a:buSzTx/>
                <a:buFontTx/>
                <a:buNone/>
                <a:tabLst/>
              </a:pPr>
              <a:r>
                <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要件の確認中</a:t>
              </a: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spTree>
    <p:extLst>
      <p:ext uri="{BB962C8B-B14F-4D97-AF65-F5344CB8AC3E}">
        <p14:creationId xmlns:p14="http://schemas.microsoft.com/office/powerpoint/2010/main" val="2067904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AE030-AC70-EEBD-3DE1-FAA5E77C478E}"/>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C9E074D-5B55-4E82-96E6-3249578E7AA8}"/>
              </a:ext>
            </a:extLst>
          </p:cNvPr>
          <p:cNvSpPr>
            <a:spLocks noGrp="1"/>
          </p:cNvSpPr>
          <p:nvPr>
            <p:ph type="title"/>
          </p:nvPr>
        </p:nvSpPr>
        <p:spPr/>
        <p:txBody>
          <a:bodyPr/>
          <a:lstStyle/>
          <a:p>
            <a:r>
              <a:rPr lang="ja-JP" altLang="en-US" dirty="0"/>
              <a:t>データ・アセット領域</a:t>
            </a:r>
            <a:endParaRPr kumimoji="1" lang="ja-JP" altLang="en-US" dirty="0"/>
          </a:p>
        </p:txBody>
      </p:sp>
      <p:sp>
        <p:nvSpPr>
          <p:cNvPr id="4" name="スライド番号プレースホルダー 3">
            <a:extLst>
              <a:ext uri="{FF2B5EF4-FFF2-40B4-BE49-F238E27FC236}">
                <a16:creationId xmlns:a16="http://schemas.microsoft.com/office/drawing/2014/main" id="{B837E819-8B76-6785-314F-93A8DA6CB42F}"/>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17</a:t>
            </a:fld>
            <a:endParaRPr lang="en-US" altLang="ja-JP"/>
          </a:p>
        </p:txBody>
      </p:sp>
      <p:sp>
        <p:nvSpPr>
          <p:cNvPr id="2" name="コンテンツ プレースホルダー 5">
            <a:extLst>
              <a:ext uri="{FF2B5EF4-FFF2-40B4-BE49-F238E27FC236}">
                <a16:creationId xmlns:a16="http://schemas.microsoft.com/office/drawing/2014/main" id="{5F7CF79C-4811-CC98-37DE-FC1A78E6073C}"/>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Azure</a:t>
            </a:r>
            <a:r>
              <a:rPr lang="ja-JP" altLang="en-US" sz="1600" kern="0" dirty="0"/>
              <a:t>上にシステム管理者向けの</a:t>
            </a:r>
            <a:r>
              <a:rPr lang="en-US" altLang="ja-JP" sz="1600" kern="0" dirty="0"/>
              <a:t>AI</a:t>
            </a:r>
            <a:r>
              <a:rPr lang="ja-JP" altLang="en-US" sz="1600" kern="0" dirty="0"/>
              <a:t>エージェント用の管理データと、</a:t>
            </a:r>
            <a:r>
              <a:rPr lang="en-US" altLang="ja-JP" sz="1600" kern="0" dirty="0"/>
              <a:t>AI</a:t>
            </a:r>
            <a:r>
              <a:rPr lang="ja-JP" altLang="en-US" sz="1600" kern="0" dirty="0"/>
              <a:t>エージェントで処理する業務の利活用目的のデータをアセット化する。</a:t>
            </a:r>
            <a:endParaRPr lang="en-US" altLang="ja-JP" sz="1600" kern="0" dirty="0"/>
          </a:p>
          <a:p>
            <a:pPr marL="285750" indent="-285750">
              <a:buFont typeface="Arial" panose="020B0604020202020204" pitchFamily="34" charset="0"/>
              <a:buChar char="•"/>
            </a:pPr>
            <a:r>
              <a:rPr lang="en-US" altLang="ja-JP" sz="1600" kern="0" dirty="0" err="1"/>
              <a:t>LinkX</a:t>
            </a:r>
            <a:r>
              <a:rPr lang="ja-JP" altLang="en-US" sz="1600" kern="0" dirty="0"/>
              <a:t>社では</a:t>
            </a:r>
            <a:r>
              <a:rPr lang="en-US" altLang="ja-JP" sz="1600" kern="0" dirty="0"/>
              <a:t>n8n</a:t>
            </a:r>
            <a:r>
              <a:rPr lang="ja-JP" altLang="en-US" sz="1600" kern="0" dirty="0"/>
              <a:t>専用のデータを管理するためのシステムを構築しており、大規模導入に伴い</a:t>
            </a:r>
            <a:r>
              <a:rPr lang="en-US" altLang="ja-JP" sz="1600" kern="0" dirty="0"/>
              <a:t>R</a:t>
            </a:r>
            <a:r>
              <a:rPr lang="ja-JP" altLang="en-US" sz="1600" kern="0" dirty="0"/>
              <a:t>にも同等の管理システムが必要になる。</a:t>
            </a:r>
            <a:endParaRPr lang="en-US" altLang="ja-JP" sz="1600" kern="0" dirty="0"/>
          </a:p>
        </p:txBody>
      </p:sp>
      <p:grpSp>
        <p:nvGrpSpPr>
          <p:cNvPr id="90" name="グループ化 89">
            <a:extLst>
              <a:ext uri="{FF2B5EF4-FFF2-40B4-BE49-F238E27FC236}">
                <a16:creationId xmlns:a16="http://schemas.microsoft.com/office/drawing/2014/main" id="{9030A1C9-C109-F28A-369A-41A09EFEA9D6}"/>
              </a:ext>
            </a:extLst>
          </p:cNvPr>
          <p:cNvGrpSpPr/>
          <p:nvPr/>
        </p:nvGrpSpPr>
        <p:grpSpPr>
          <a:xfrm>
            <a:off x="226714" y="1691581"/>
            <a:ext cx="11584938" cy="4510477"/>
            <a:chOff x="226714" y="1691581"/>
            <a:chExt cx="11584938" cy="4510477"/>
          </a:xfrm>
        </p:grpSpPr>
        <p:sp>
          <p:nvSpPr>
            <p:cNvPr id="34" name="正方形/長方形 33">
              <a:extLst>
                <a:ext uri="{FF2B5EF4-FFF2-40B4-BE49-F238E27FC236}">
                  <a16:creationId xmlns:a16="http://schemas.microsoft.com/office/drawing/2014/main" id="{8817EBCC-B278-6052-BFD5-262BD0A22109}"/>
                </a:ext>
              </a:extLst>
            </p:cNvPr>
            <p:cNvSpPr/>
            <p:nvPr/>
          </p:nvSpPr>
          <p:spPr>
            <a:xfrm>
              <a:off x="4320074" y="2846787"/>
              <a:ext cx="1302840" cy="316102"/>
            </a:xfrm>
            <a:prstGeom prst="rect">
              <a:avLst/>
            </a:prstGeom>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defTabSz="584200" rtl="0" fontAlgn="auto" latinLnBrk="1" hangingPunct="0">
                <a:lnSpc>
                  <a:spcPct val="100000"/>
                </a:lnSpc>
                <a:spcBef>
                  <a:spcPts val="0"/>
                </a:spcBef>
                <a:spcAft>
                  <a:spcPts val="0"/>
                </a:spcAft>
                <a:buClrTx/>
                <a:buSzTx/>
                <a:buFontTx/>
                <a:buNone/>
                <a:tabLst/>
              </a:pPr>
              <a:r>
                <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システム管理者向け</a:t>
              </a:r>
              <a:endParaRPr kumimoji="0" lang="en-US" altLang="ja-JP"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defTabSz="584200" rtl="0" fontAlgn="auto" latinLnBrk="1" hangingPunct="0">
                <a:lnSpc>
                  <a:spcPct val="100000"/>
                </a:lnSpc>
                <a:spcBef>
                  <a:spcPts val="0"/>
                </a:spcBef>
                <a:spcAft>
                  <a:spcPts val="0"/>
                </a:spcAft>
                <a:buClrTx/>
                <a:buSzTx/>
                <a:buFontTx/>
                <a:buNone/>
                <a:tabLst/>
              </a:pP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の管理データ</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5" name="四角形: 角を丸くする 4">
              <a:extLst>
                <a:ext uri="{FF2B5EF4-FFF2-40B4-BE49-F238E27FC236}">
                  <a16:creationId xmlns:a16="http://schemas.microsoft.com/office/drawing/2014/main" id="{31B18CBB-EA1D-25A1-AB04-F22D27DABCEB}"/>
                </a:ext>
              </a:extLst>
            </p:cNvPr>
            <p:cNvSpPr/>
            <p:nvPr/>
          </p:nvSpPr>
          <p:spPr>
            <a:xfrm>
              <a:off x="226714" y="1691582"/>
              <a:ext cx="5462520" cy="4510476"/>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データ基盤</a:t>
              </a:r>
              <a:r>
                <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層</a:t>
              </a: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a:t>
              </a:r>
              <a:r>
                <a:rPr lang="en-US" altLang="ja-JP" sz="1200" b="1" dirty="0">
                  <a:solidFill>
                    <a:schemeClr val="accent4">
                      <a:lumMod val="65000"/>
                      <a:lumOff val="35000"/>
                    </a:schemeClr>
                  </a:solidFill>
                  <a:latin typeface="Meiryo UI" panose="020B0604030504040204" pitchFamily="50" charset="-128"/>
                  <a:ea typeface="Meiryo UI" panose="020B0604030504040204" pitchFamily="50" charset="-128"/>
                </a:rPr>
                <a:t>Azure</a:t>
              </a: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grpSp>
          <p:nvGrpSpPr>
            <p:cNvPr id="52" name="グループ化 51">
              <a:extLst>
                <a:ext uri="{FF2B5EF4-FFF2-40B4-BE49-F238E27FC236}">
                  <a16:creationId xmlns:a16="http://schemas.microsoft.com/office/drawing/2014/main" id="{23C9F2DF-35DF-2EC4-C51A-FDCF574AFED0}"/>
                </a:ext>
              </a:extLst>
            </p:cNvPr>
            <p:cNvGrpSpPr/>
            <p:nvPr/>
          </p:nvGrpSpPr>
          <p:grpSpPr>
            <a:xfrm>
              <a:off x="705908" y="2309577"/>
              <a:ext cx="2971366" cy="1395244"/>
              <a:chOff x="606570" y="2709627"/>
              <a:chExt cx="2971366" cy="1395244"/>
            </a:xfrm>
          </p:grpSpPr>
          <p:sp>
            <p:nvSpPr>
              <p:cNvPr id="14" name="フローチャート: 磁気ディスク 13">
                <a:extLst>
                  <a:ext uri="{FF2B5EF4-FFF2-40B4-BE49-F238E27FC236}">
                    <a16:creationId xmlns:a16="http://schemas.microsoft.com/office/drawing/2014/main" id="{729EC2D9-08F7-DB8D-E044-4D1B45CD436D}"/>
                  </a:ext>
                </a:extLst>
              </p:cNvPr>
              <p:cNvSpPr/>
              <p:nvPr/>
            </p:nvSpPr>
            <p:spPr bwMode="auto">
              <a:xfrm>
                <a:off x="1635053" y="2709627"/>
                <a:ext cx="914400" cy="506321"/>
              </a:xfrm>
              <a:prstGeom prst="flowChartMagneticDisk">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t>n8n</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専用</a:t>
                </a:r>
              </a:p>
            </p:txBody>
          </p:sp>
          <p:cxnSp>
            <p:nvCxnSpPr>
              <p:cNvPr id="29" name="コネクタ: カギ線 28">
                <a:extLst>
                  <a:ext uri="{FF2B5EF4-FFF2-40B4-BE49-F238E27FC236}">
                    <a16:creationId xmlns:a16="http://schemas.microsoft.com/office/drawing/2014/main" id="{6755E5A2-37D0-0E53-698F-21A9FA4104D3}"/>
                  </a:ext>
                </a:extLst>
              </p:cNvPr>
              <p:cNvCxnSpPr>
                <a:cxnSpLocks/>
                <a:stCxn id="14" idx="3"/>
                <a:endCxn id="15" idx="0"/>
              </p:cNvCxnSpPr>
              <p:nvPr/>
            </p:nvCxnSpPr>
            <p:spPr>
              <a:xfrm rot="5400000">
                <a:off x="1291602" y="2988117"/>
                <a:ext cx="572821" cy="1028483"/>
              </a:xfrm>
              <a:prstGeom prst="bentConnector3">
                <a:avLst>
                  <a:gd name="adj1" fmla="val 50000"/>
                </a:avLst>
              </a:prstGeom>
              <a:noFill/>
              <a:ln w="6350">
                <a:solidFill>
                  <a:schemeClr val="bg1">
                    <a:lumMod val="50000"/>
                  </a:schemeClr>
                </a:solidFill>
                <a:prstDash val="solid"/>
                <a:headEnd type="none"/>
              </a:ln>
            </p:spPr>
            <p:style>
              <a:lnRef idx="2">
                <a:schemeClr val="accent1">
                  <a:shade val="50000"/>
                </a:schemeClr>
              </a:lnRef>
              <a:fillRef idx="1">
                <a:schemeClr val="accent1"/>
              </a:fillRef>
              <a:effectRef idx="0">
                <a:schemeClr val="accent1"/>
              </a:effectRef>
              <a:fontRef idx="minor">
                <a:schemeClr val="lt1"/>
              </a:fontRef>
            </p:style>
          </p:cxnSp>
          <p:grpSp>
            <p:nvGrpSpPr>
              <p:cNvPr id="36" name="グループ化 35">
                <a:extLst>
                  <a:ext uri="{FF2B5EF4-FFF2-40B4-BE49-F238E27FC236}">
                    <a16:creationId xmlns:a16="http://schemas.microsoft.com/office/drawing/2014/main" id="{88045956-6AE1-71C0-63C4-E556E7D5B788}"/>
                  </a:ext>
                </a:extLst>
              </p:cNvPr>
              <p:cNvGrpSpPr/>
              <p:nvPr/>
            </p:nvGrpSpPr>
            <p:grpSpPr>
              <a:xfrm>
                <a:off x="606570" y="3788769"/>
                <a:ext cx="2971366" cy="316102"/>
                <a:chOff x="606570" y="3788769"/>
                <a:chExt cx="2971366" cy="316102"/>
              </a:xfrm>
            </p:grpSpPr>
            <p:sp>
              <p:nvSpPr>
                <p:cNvPr id="15" name="正方形/長方形 14">
                  <a:extLst>
                    <a:ext uri="{FF2B5EF4-FFF2-40B4-BE49-F238E27FC236}">
                      <a16:creationId xmlns:a16="http://schemas.microsoft.com/office/drawing/2014/main" id="{361321C3-1AC0-164D-F3B9-5DAA3EA93134}"/>
                    </a:ext>
                  </a:extLst>
                </p:cNvPr>
                <p:cNvSpPr/>
                <p:nvPr/>
              </p:nvSpPr>
              <p:spPr>
                <a:xfrm>
                  <a:off x="606570" y="3788769"/>
                  <a:ext cx="914400"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稼働</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32" name="正方形/長方形 31">
                  <a:extLst>
                    <a:ext uri="{FF2B5EF4-FFF2-40B4-BE49-F238E27FC236}">
                      <a16:creationId xmlns:a16="http://schemas.microsoft.com/office/drawing/2014/main" id="{482437C1-91F2-5689-A7D4-46489E749DF9}"/>
                    </a:ext>
                  </a:extLst>
                </p:cNvPr>
                <p:cNvSpPr/>
                <p:nvPr/>
              </p:nvSpPr>
              <p:spPr>
                <a:xfrm>
                  <a:off x="1635053" y="3788769"/>
                  <a:ext cx="914400"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ログ</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33" name="正方形/長方形 32">
                  <a:extLst>
                    <a:ext uri="{FF2B5EF4-FFF2-40B4-BE49-F238E27FC236}">
                      <a16:creationId xmlns:a16="http://schemas.microsoft.com/office/drawing/2014/main" id="{6607DC08-6750-C5EE-7D2D-55C65FF2E827}"/>
                    </a:ext>
                  </a:extLst>
                </p:cNvPr>
                <p:cNvSpPr/>
                <p:nvPr/>
              </p:nvSpPr>
              <p:spPr>
                <a:xfrm>
                  <a:off x="2663536" y="3788769"/>
                  <a:ext cx="914400"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cxnSp>
            <p:nvCxnSpPr>
              <p:cNvPr id="41" name="コネクタ: カギ線 40">
                <a:extLst>
                  <a:ext uri="{FF2B5EF4-FFF2-40B4-BE49-F238E27FC236}">
                    <a16:creationId xmlns:a16="http://schemas.microsoft.com/office/drawing/2014/main" id="{D7FDFCB6-B61A-1CCD-C80E-CBCD568C364E}"/>
                  </a:ext>
                </a:extLst>
              </p:cNvPr>
              <p:cNvCxnSpPr>
                <a:cxnSpLocks/>
                <a:stCxn id="14" idx="3"/>
                <a:endCxn id="33" idx="0"/>
              </p:cNvCxnSpPr>
              <p:nvPr/>
            </p:nvCxnSpPr>
            <p:spPr>
              <a:xfrm rot="16200000" flipH="1">
                <a:off x="2320084" y="2988116"/>
                <a:ext cx="572821" cy="1028483"/>
              </a:xfrm>
              <a:prstGeom prst="bentConnector3">
                <a:avLst>
                  <a:gd name="adj1" fmla="val 50000"/>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cxnSp>
          <p:cxnSp>
            <p:nvCxnSpPr>
              <p:cNvPr id="45" name="コネクタ: カギ線 44">
                <a:extLst>
                  <a:ext uri="{FF2B5EF4-FFF2-40B4-BE49-F238E27FC236}">
                    <a16:creationId xmlns:a16="http://schemas.microsoft.com/office/drawing/2014/main" id="{14516C57-6D3C-A694-F2D9-504F10BF9D22}"/>
                  </a:ext>
                </a:extLst>
              </p:cNvPr>
              <p:cNvCxnSpPr>
                <a:cxnSpLocks/>
                <a:stCxn id="14" idx="3"/>
                <a:endCxn id="32" idx="0"/>
              </p:cNvCxnSpPr>
              <p:nvPr/>
            </p:nvCxnSpPr>
            <p:spPr>
              <a:xfrm>
                <a:off x="2092253" y="3215948"/>
                <a:ext cx="0" cy="572821"/>
              </a:xfrm>
              <a:prstGeom prst="straightConnector1">
                <a:avLst/>
              </a:prstGeom>
              <a:noFill/>
              <a:ln w="6350">
                <a:solidFill>
                  <a:schemeClr val="bg1">
                    <a:lumMod val="50000"/>
                  </a:schemeClr>
                </a:solidFill>
                <a:prstDash val="solid"/>
                <a:headEnd type="none"/>
              </a:ln>
            </p:spPr>
            <p:style>
              <a:lnRef idx="2">
                <a:schemeClr val="accent1">
                  <a:shade val="50000"/>
                </a:schemeClr>
              </a:lnRef>
              <a:fillRef idx="1">
                <a:schemeClr val="accent1"/>
              </a:fillRef>
              <a:effectRef idx="0">
                <a:schemeClr val="accent1"/>
              </a:effectRef>
              <a:fontRef idx="minor">
                <a:schemeClr val="lt1"/>
              </a:fontRef>
            </p:style>
          </p:cxnSp>
        </p:grpSp>
        <p:grpSp>
          <p:nvGrpSpPr>
            <p:cNvPr id="53" name="グループ化 52">
              <a:extLst>
                <a:ext uri="{FF2B5EF4-FFF2-40B4-BE49-F238E27FC236}">
                  <a16:creationId xmlns:a16="http://schemas.microsoft.com/office/drawing/2014/main" id="{D84AF90B-D300-60A2-37A0-9726FFAA8212}"/>
                </a:ext>
              </a:extLst>
            </p:cNvPr>
            <p:cNvGrpSpPr/>
            <p:nvPr/>
          </p:nvGrpSpPr>
          <p:grpSpPr>
            <a:xfrm>
              <a:off x="705908" y="4220539"/>
              <a:ext cx="2971366" cy="1395244"/>
              <a:chOff x="606570" y="2709627"/>
              <a:chExt cx="2971366" cy="1395244"/>
            </a:xfrm>
          </p:grpSpPr>
          <p:sp>
            <p:nvSpPr>
              <p:cNvPr id="55" name="フローチャート: 磁気ディスク 54">
                <a:extLst>
                  <a:ext uri="{FF2B5EF4-FFF2-40B4-BE49-F238E27FC236}">
                    <a16:creationId xmlns:a16="http://schemas.microsoft.com/office/drawing/2014/main" id="{ADE73CC0-70E4-AE6A-E192-7876C0F48D3C}"/>
                  </a:ext>
                </a:extLst>
              </p:cNvPr>
              <p:cNvSpPr/>
              <p:nvPr/>
            </p:nvSpPr>
            <p:spPr bwMode="auto">
              <a:xfrm>
                <a:off x="1635053" y="2709627"/>
                <a:ext cx="914400" cy="506321"/>
              </a:xfrm>
              <a:prstGeom prst="flowChartMagneticDisk">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案件固有</a:t>
                </a:r>
              </a:p>
            </p:txBody>
          </p:sp>
          <p:cxnSp>
            <p:nvCxnSpPr>
              <p:cNvPr id="56" name="コネクタ: カギ線 55">
                <a:extLst>
                  <a:ext uri="{FF2B5EF4-FFF2-40B4-BE49-F238E27FC236}">
                    <a16:creationId xmlns:a16="http://schemas.microsoft.com/office/drawing/2014/main" id="{397BA83D-CF23-F5E9-2584-4CE866A88732}"/>
                  </a:ext>
                </a:extLst>
              </p:cNvPr>
              <p:cNvCxnSpPr>
                <a:cxnSpLocks/>
                <a:stCxn id="55" idx="3"/>
                <a:endCxn id="61" idx="0"/>
              </p:cNvCxnSpPr>
              <p:nvPr/>
            </p:nvCxnSpPr>
            <p:spPr>
              <a:xfrm rot="5400000">
                <a:off x="1291602" y="2988117"/>
                <a:ext cx="572821" cy="1028483"/>
              </a:xfrm>
              <a:prstGeom prst="bentConnector3">
                <a:avLst>
                  <a:gd name="adj1" fmla="val 50000"/>
                </a:avLst>
              </a:prstGeom>
              <a:noFill/>
              <a:ln w="6350">
                <a:solidFill>
                  <a:schemeClr val="bg1">
                    <a:lumMod val="50000"/>
                  </a:schemeClr>
                </a:solidFill>
                <a:prstDash val="solid"/>
                <a:headEnd type="none"/>
              </a:ln>
            </p:spPr>
            <p:style>
              <a:lnRef idx="2">
                <a:schemeClr val="accent1">
                  <a:shade val="50000"/>
                </a:schemeClr>
              </a:lnRef>
              <a:fillRef idx="1">
                <a:schemeClr val="accent1"/>
              </a:fillRef>
              <a:effectRef idx="0">
                <a:schemeClr val="accent1"/>
              </a:effectRef>
              <a:fontRef idx="minor">
                <a:schemeClr val="lt1"/>
              </a:fontRef>
            </p:style>
          </p:cxnSp>
          <p:grpSp>
            <p:nvGrpSpPr>
              <p:cNvPr id="58" name="グループ化 57">
                <a:extLst>
                  <a:ext uri="{FF2B5EF4-FFF2-40B4-BE49-F238E27FC236}">
                    <a16:creationId xmlns:a16="http://schemas.microsoft.com/office/drawing/2014/main" id="{92EAE57A-B3EF-85D4-1D0A-7F6A7A666145}"/>
                  </a:ext>
                </a:extLst>
              </p:cNvPr>
              <p:cNvGrpSpPr/>
              <p:nvPr/>
            </p:nvGrpSpPr>
            <p:grpSpPr>
              <a:xfrm>
                <a:off x="606570" y="3788769"/>
                <a:ext cx="2971366" cy="316102"/>
                <a:chOff x="606570" y="3788769"/>
                <a:chExt cx="2971366" cy="316102"/>
              </a:xfrm>
            </p:grpSpPr>
            <p:sp>
              <p:nvSpPr>
                <p:cNvPr id="61" name="正方形/長方形 60">
                  <a:extLst>
                    <a:ext uri="{FF2B5EF4-FFF2-40B4-BE49-F238E27FC236}">
                      <a16:creationId xmlns:a16="http://schemas.microsoft.com/office/drawing/2014/main" id="{B2E0C8DF-48CC-F33A-02E5-98586DD8DFB3}"/>
                    </a:ext>
                  </a:extLst>
                </p:cNvPr>
                <p:cNvSpPr/>
                <p:nvPr/>
              </p:nvSpPr>
              <p:spPr>
                <a:xfrm>
                  <a:off x="606570" y="3788769"/>
                  <a:ext cx="914400"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経理</a:t>
                  </a: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OS</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67" name="正方形/長方形 66">
                  <a:extLst>
                    <a:ext uri="{FF2B5EF4-FFF2-40B4-BE49-F238E27FC236}">
                      <a16:creationId xmlns:a16="http://schemas.microsoft.com/office/drawing/2014/main" id="{051FC3AA-D44E-B0BD-06B5-E7DDFCE51BAB}"/>
                    </a:ext>
                  </a:extLst>
                </p:cNvPr>
                <p:cNvSpPr/>
                <p:nvPr/>
              </p:nvSpPr>
              <p:spPr>
                <a:xfrm>
                  <a:off x="1635053" y="3788769"/>
                  <a:ext cx="914400"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BPS</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68" name="正方形/長方形 67">
                  <a:extLst>
                    <a:ext uri="{FF2B5EF4-FFF2-40B4-BE49-F238E27FC236}">
                      <a16:creationId xmlns:a16="http://schemas.microsoft.com/office/drawing/2014/main" id="{B7F8476A-C2FC-7FA8-8087-3415DE5E04BE}"/>
                    </a:ext>
                  </a:extLst>
                </p:cNvPr>
                <p:cNvSpPr/>
                <p:nvPr/>
              </p:nvSpPr>
              <p:spPr>
                <a:xfrm>
                  <a:off x="2663536" y="3788769"/>
                  <a:ext cx="914400"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cxnSp>
            <p:nvCxnSpPr>
              <p:cNvPr id="59" name="コネクタ: カギ線 58">
                <a:extLst>
                  <a:ext uri="{FF2B5EF4-FFF2-40B4-BE49-F238E27FC236}">
                    <a16:creationId xmlns:a16="http://schemas.microsoft.com/office/drawing/2014/main" id="{83852163-F559-08F1-1C7D-465EDDEC3BAD}"/>
                  </a:ext>
                </a:extLst>
              </p:cNvPr>
              <p:cNvCxnSpPr>
                <a:cxnSpLocks/>
                <a:stCxn id="55" idx="3"/>
                <a:endCxn id="68" idx="0"/>
              </p:cNvCxnSpPr>
              <p:nvPr/>
            </p:nvCxnSpPr>
            <p:spPr>
              <a:xfrm rot="16200000" flipH="1">
                <a:off x="2320084" y="2988116"/>
                <a:ext cx="572821" cy="1028483"/>
              </a:xfrm>
              <a:prstGeom prst="bentConnector3">
                <a:avLst>
                  <a:gd name="adj1" fmla="val 50000"/>
                </a:avLst>
              </a:prstGeom>
              <a:noFill/>
              <a:ln w="6350">
                <a:solidFill>
                  <a:schemeClr val="bg1">
                    <a:lumMod val="50000"/>
                  </a:schemeClr>
                </a:solidFill>
                <a:prstDash val="solid"/>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60" name="コネクタ: カギ線 44">
                <a:extLst>
                  <a:ext uri="{FF2B5EF4-FFF2-40B4-BE49-F238E27FC236}">
                    <a16:creationId xmlns:a16="http://schemas.microsoft.com/office/drawing/2014/main" id="{3BB3ED48-A01D-B548-C2AD-0A6B1975BCE0}"/>
                  </a:ext>
                </a:extLst>
              </p:cNvPr>
              <p:cNvCxnSpPr>
                <a:cxnSpLocks/>
                <a:stCxn id="55" idx="3"/>
                <a:endCxn id="67" idx="0"/>
              </p:cNvCxnSpPr>
              <p:nvPr/>
            </p:nvCxnSpPr>
            <p:spPr>
              <a:xfrm>
                <a:off x="2092253" y="3215948"/>
                <a:ext cx="0" cy="572821"/>
              </a:xfrm>
              <a:prstGeom prst="straightConnector1">
                <a:avLst/>
              </a:prstGeom>
              <a:noFill/>
              <a:ln w="6350">
                <a:solidFill>
                  <a:schemeClr val="bg1">
                    <a:lumMod val="50000"/>
                  </a:schemeClr>
                </a:solidFill>
                <a:prstDash val="solid"/>
                <a:headEnd type="none"/>
              </a:ln>
            </p:spPr>
            <p:style>
              <a:lnRef idx="2">
                <a:schemeClr val="accent1">
                  <a:shade val="50000"/>
                </a:schemeClr>
              </a:lnRef>
              <a:fillRef idx="1">
                <a:schemeClr val="accent1"/>
              </a:fillRef>
              <a:effectRef idx="0">
                <a:schemeClr val="accent1"/>
              </a:effectRef>
              <a:fontRef idx="minor">
                <a:schemeClr val="lt1"/>
              </a:fontRef>
            </p:style>
          </p:cxnSp>
        </p:grpSp>
        <p:sp>
          <p:nvSpPr>
            <p:cNvPr id="73" name="左中かっこ 72">
              <a:extLst>
                <a:ext uri="{FF2B5EF4-FFF2-40B4-BE49-F238E27FC236}">
                  <a16:creationId xmlns:a16="http://schemas.microsoft.com/office/drawing/2014/main" id="{9F581F8D-E77B-E94F-8DB4-5906488F9AAF}"/>
                </a:ext>
              </a:extLst>
            </p:cNvPr>
            <p:cNvSpPr/>
            <p:nvPr/>
          </p:nvSpPr>
          <p:spPr>
            <a:xfrm rot="10800000">
              <a:off x="3928291" y="2304855"/>
              <a:ext cx="291501" cy="1399965"/>
            </a:xfrm>
            <a:prstGeom prst="leftBrace">
              <a:avLst>
                <a:gd name="adj1" fmla="val 41890"/>
                <a:gd name="adj2" fmla="val 50000"/>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endPar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74" name="左中かっこ 73">
              <a:extLst>
                <a:ext uri="{FF2B5EF4-FFF2-40B4-BE49-F238E27FC236}">
                  <a16:creationId xmlns:a16="http://schemas.microsoft.com/office/drawing/2014/main" id="{97E6192F-98F5-1AD5-175F-63D5CF1F1EDE}"/>
                </a:ext>
              </a:extLst>
            </p:cNvPr>
            <p:cNvSpPr/>
            <p:nvPr/>
          </p:nvSpPr>
          <p:spPr>
            <a:xfrm rot="10800000">
              <a:off x="3928291" y="4215818"/>
              <a:ext cx="291501" cy="1399965"/>
            </a:xfrm>
            <a:prstGeom prst="leftBrace">
              <a:avLst>
                <a:gd name="adj1" fmla="val 41890"/>
                <a:gd name="adj2" fmla="val 50000"/>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endPar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EFF80406-C8E0-06CA-F1B7-5359C460E907}"/>
                </a:ext>
              </a:extLst>
            </p:cNvPr>
            <p:cNvSpPr/>
            <p:nvPr/>
          </p:nvSpPr>
          <p:spPr>
            <a:xfrm>
              <a:off x="4320074" y="4757750"/>
              <a:ext cx="1302840" cy="316102"/>
            </a:xfrm>
            <a:prstGeom prst="rect">
              <a:avLst/>
            </a:prstGeom>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defTabSz="584200" rtl="0" fontAlgn="auto" latinLnBrk="1" hangingPunct="0">
                <a:lnSpc>
                  <a:spcPct val="100000"/>
                </a:lnSpc>
                <a:spcBef>
                  <a:spcPts val="0"/>
                </a:spcBef>
                <a:spcAft>
                  <a:spcPts val="0"/>
                </a:spcAft>
                <a:buClrTx/>
                <a:buSzTx/>
                <a:buFontTx/>
                <a:buNone/>
                <a:tabLst/>
              </a:pPr>
              <a:r>
                <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業務の利活用・改善</a:t>
              </a:r>
              <a:endParaRPr kumimoji="0" lang="en-US" altLang="ja-JP"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defTabSz="584200" rtl="0" fontAlgn="auto" latinLnBrk="1" hangingPunct="0">
                <a:lnSpc>
                  <a:spcPct val="100000"/>
                </a:lnSpc>
                <a:spcBef>
                  <a:spcPts val="0"/>
                </a:spcBef>
                <a:spcAft>
                  <a:spcPts val="0"/>
                </a:spcAft>
                <a:buClrTx/>
                <a:buSzTx/>
                <a:buFontTx/>
                <a:buNone/>
                <a:tabLst/>
              </a:pP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のためのアセットデータ</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pic>
          <p:nvPicPr>
            <p:cNvPr id="85" name="図 84">
              <a:extLst>
                <a:ext uri="{FF2B5EF4-FFF2-40B4-BE49-F238E27FC236}">
                  <a16:creationId xmlns:a16="http://schemas.microsoft.com/office/drawing/2014/main" id="{42732328-F6E6-D757-C235-29CA71351BAA}"/>
                </a:ext>
              </a:extLst>
            </p:cNvPr>
            <p:cNvPicPr>
              <a:picLocks noChangeAspect="1"/>
            </p:cNvPicPr>
            <p:nvPr/>
          </p:nvPicPr>
          <p:blipFill>
            <a:blip r:embed="rId3"/>
            <a:stretch>
              <a:fillRect/>
            </a:stretch>
          </p:blipFill>
          <p:spPr>
            <a:xfrm>
              <a:off x="6283693" y="2328611"/>
              <a:ext cx="5527959" cy="3236417"/>
            </a:xfrm>
            <a:prstGeom prst="rect">
              <a:avLst/>
            </a:prstGeom>
          </p:spPr>
        </p:pic>
        <p:sp>
          <p:nvSpPr>
            <p:cNvPr id="87" name="正方形/長方形 86">
              <a:extLst>
                <a:ext uri="{FF2B5EF4-FFF2-40B4-BE49-F238E27FC236}">
                  <a16:creationId xmlns:a16="http://schemas.microsoft.com/office/drawing/2014/main" id="{FB2329C6-FE04-A4BF-476E-B00A7EAE7132}"/>
                </a:ext>
              </a:extLst>
            </p:cNvPr>
            <p:cNvSpPr/>
            <p:nvPr/>
          </p:nvSpPr>
          <p:spPr>
            <a:xfrm>
              <a:off x="6283692" y="5571260"/>
              <a:ext cx="5527959" cy="316102"/>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1100"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社のスキーマ管理システム</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88" name="左中かっこ 87">
              <a:extLst>
                <a:ext uri="{FF2B5EF4-FFF2-40B4-BE49-F238E27FC236}">
                  <a16:creationId xmlns:a16="http://schemas.microsoft.com/office/drawing/2014/main" id="{C468954A-B3AB-7247-B43C-EA575A6E9A0D}"/>
                </a:ext>
              </a:extLst>
            </p:cNvPr>
            <p:cNvSpPr/>
            <p:nvPr/>
          </p:nvSpPr>
          <p:spPr>
            <a:xfrm rot="10800000">
              <a:off x="5797851" y="1691581"/>
              <a:ext cx="291501" cy="4510476"/>
            </a:xfrm>
            <a:prstGeom prst="leftBrace">
              <a:avLst>
                <a:gd name="adj1" fmla="val 41890"/>
                <a:gd name="adj2" fmla="val 50000"/>
              </a:avLst>
            </a:prstGeom>
            <a:no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endParaRPr kumimoji="0" lang="ja-JP" altLang="en-US" sz="1100">
                <a:solidFill>
                  <a:schemeClr val="accent4">
                    <a:lumMod val="65000"/>
                    <a:lumOff val="35000"/>
                  </a:schemeClr>
                </a:solidFill>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3826825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98E47-0642-849D-A1EC-507B3121AFE5}"/>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324220E-4A38-BD82-0433-B4D11302A37D}"/>
              </a:ext>
            </a:extLst>
          </p:cNvPr>
          <p:cNvSpPr>
            <a:spLocks noGrp="1"/>
          </p:cNvSpPr>
          <p:nvPr>
            <p:ph type="title"/>
          </p:nvPr>
        </p:nvSpPr>
        <p:spPr/>
        <p:txBody>
          <a:bodyPr/>
          <a:lstStyle/>
          <a:p>
            <a:r>
              <a:rPr lang="ja-JP" altLang="en-US" dirty="0"/>
              <a:t>可視化・分析領域</a:t>
            </a:r>
            <a:endParaRPr kumimoji="1" lang="ja-JP" altLang="en-US" dirty="0"/>
          </a:p>
        </p:txBody>
      </p:sp>
      <p:sp>
        <p:nvSpPr>
          <p:cNvPr id="4" name="スライド番号プレースホルダー 3">
            <a:extLst>
              <a:ext uri="{FF2B5EF4-FFF2-40B4-BE49-F238E27FC236}">
                <a16:creationId xmlns:a16="http://schemas.microsoft.com/office/drawing/2014/main" id="{981507AE-DC62-91B3-5EE2-EBB1CE3D55F6}"/>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18</a:t>
            </a:fld>
            <a:endParaRPr lang="en-US" altLang="ja-JP"/>
          </a:p>
        </p:txBody>
      </p:sp>
      <p:sp>
        <p:nvSpPr>
          <p:cNvPr id="2" name="コンテンツ プレースホルダー 5">
            <a:extLst>
              <a:ext uri="{FF2B5EF4-FFF2-40B4-BE49-F238E27FC236}">
                <a16:creationId xmlns:a16="http://schemas.microsoft.com/office/drawing/2014/main" id="{84BB6CC5-2E44-E30C-8926-CE9C70EEA3D8}"/>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AI</a:t>
            </a:r>
            <a:r>
              <a:rPr lang="ja-JP" altLang="en-US" sz="1600" kern="0" dirty="0"/>
              <a:t>エージェントの管理者用のダッシュボード（以下は一例）や案件データを利活用や他システム連携の仕組みは今後必要となる。</a:t>
            </a:r>
            <a:endParaRPr lang="en-US" altLang="ja-JP" sz="1600" kern="0" dirty="0"/>
          </a:p>
        </p:txBody>
      </p:sp>
      <p:grpSp>
        <p:nvGrpSpPr>
          <p:cNvPr id="27" name="グループ化 26">
            <a:extLst>
              <a:ext uri="{FF2B5EF4-FFF2-40B4-BE49-F238E27FC236}">
                <a16:creationId xmlns:a16="http://schemas.microsoft.com/office/drawing/2014/main" id="{4BAF7D8F-0AE1-B93F-321B-D4FE595C7906}"/>
              </a:ext>
            </a:extLst>
          </p:cNvPr>
          <p:cNvGrpSpPr/>
          <p:nvPr/>
        </p:nvGrpSpPr>
        <p:grpSpPr>
          <a:xfrm>
            <a:off x="339441" y="1956236"/>
            <a:ext cx="11484547" cy="4231260"/>
            <a:chOff x="339441" y="1956236"/>
            <a:chExt cx="11484547" cy="4231260"/>
          </a:xfrm>
        </p:grpSpPr>
        <p:grpSp>
          <p:nvGrpSpPr>
            <p:cNvPr id="10" name="グループ化 9">
              <a:extLst>
                <a:ext uri="{FF2B5EF4-FFF2-40B4-BE49-F238E27FC236}">
                  <a16:creationId xmlns:a16="http://schemas.microsoft.com/office/drawing/2014/main" id="{279D0C4D-1E53-A0B4-3B67-9E65E50F80A6}"/>
                </a:ext>
              </a:extLst>
            </p:cNvPr>
            <p:cNvGrpSpPr/>
            <p:nvPr/>
          </p:nvGrpSpPr>
          <p:grpSpPr>
            <a:xfrm>
              <a:off x="373062" y="1956236"/>
              <a:ext cx="11445876" cy="2945528"/>
              <a:chOff x="238124" y="1956236"/>
              <a:chExt cx="11445876" cy="2945528"/>
            </a:xfrm>
          </p:grpSpPr>
          <p:pic>
            <p:nvPicPr>
              <p:cNvPr id="7" name="図 6">
                <a:extLst>
                  <a:ext uri="{FF2B5EF4-FFF2-40B4-BE49-F238E27FC236}">
                    <a16:creationId xmlns:a16="http://schemas.microsoft.com/office/drawing/2014/main" id="{F1EA5D23-C033-C35C-C01E-310BBFE1249D}"/>
                  </a:ext>
                </a:extLst>
              </p:cNvPr>
              <p:cNvPicPr>
                <a:picLocks noChangeAspect="1"/>
              </p:cNvPicPr>
              <p:nvPr/>
            </p:nvPicPr>
            <p:blipFill>
              <a:blip r:embed="rId3"/>
              <a:stretch>
                <a:fillRect/>
              </a:stretch>
            </p:blipFill>
            <p:spPr>
              <a:xfrm>
                <a:off x="6203950" y="1956236"/>
                <a:ext cx="5480050" cy="2945528"/>
              </a:xfrm>
              <a:prstGeom prst="rect">
                <a:avLst/>
              </a:prstGeom>
            </p:spPr>
          </p:pic>
          <p:pic>
            <p:nvPicPr>
              <p:cNvPr id="9" name="図 8">
                <a:extLst>
                  <a:ext uri="{FF2B5EF4-FFF2-40B4-BE49-F238E27FC236}">
                    <a16:creationId xmlns:a16="http://schemas.microsoft.com/office/drawing/2014/main" id="{D01216E3-8A5D-EE7A-159A-6D3F4FD057D1}"/>
                  </a:ext>
                </a:extLst>
              </p:cNvPr>
              <p:cNvPicPr>
                <a:picLocks noChangeAspect="1"/>
              </p:cNvPicPr>
              <p:nvPr/>
            </p:nvPicPr>
            <p:blipFill>
              <a:blip r:embed="rId4"/>
              <a:stretch>
                <a:fillRect/>
              </a:stretch>
            </p:blipFill>
            <p:spPr>
              <a:xfrm>
                <a:off x="238124" y="1956236"/>
                <a:ext cx="5480052" cy="2945528"/>
              </a:xfrm>
              <a:prstGeom prst="rect">
                <a:avLst/>
              </a:prstGeom>
            </p:spPr>
          </p:pic>
        </p:grpSp>
        <p:sp>
          <p:nvSpPr>
            <p:cNvPr id="11" name="フローチャート: 磁気ディスク 10">
              <a:extLst>
                <a:ext uri="{FF2B5EF4-FFF2-40B4-BE49-F238E27FC236}">
                  <a16:creationId xmlns:a16="http://schemas.microsoft.com/office/drawing/2014/main" id="{493F38B7-92F9-E5DD-DAB4-6161F3240C74}"/>
                </a:ext>
              </a:extLst>
            </p:cNvPr>
            <p:cNvSpPr/>
            <p:nvPr/>
          </p:nvSpPr>
          <p:spPr bwMode="auto">
            <a:xfrm>
              <a:off x="5638799" y="5681175"/>
              <a:ext cx="914400" cy="506321"/>
            </a:xfrm>
            <a:prstGeom prst="flowChartMagneticDisk">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t>n8n</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専用</a:t>
              </a:r>
            </a:p>
          </p:txBody>
        </p:sp>
        <p:cxnSp>
          <p:nvCxnSpPr>
            <p:cNvPr id="13" name="コネクタ: カギ線 12">
              <a:extLst>
                <a:ext uri="{FF2B5EF4-FFF2-40B4-BE49-F238E27FC236}">
                  <a16:creationId xmlns:a16="http://schemas.microsoft.com/office/drawing/2014/main" id="{6B4EB23F-07C5-DB4C-5EAC-00C772EE99A2}"/>
                </a:ext>
              </a:extLst>
            </p:cNvPr>
            <p:cNvCxnSpPr>
              <a:cxnSpLocks/>
              <a:stCxn id="9" idx="2"/>
              <a:endCxn id="11" idx="1"/>
            </p:cNvCxnSpPr>
            <p:nvPr/>
          </p:nvCxnSpPr>
          <p:spPr>
            <a:xfrm rot="16200000" flipH="1">
              <a:off x="4214838" y="3800013"/>
              <a:ext cx="779411" cy="2982911"/>
            </a:xfrm>
            <a:prstGeom prst="bentConnector3">
              <a:avLst>
                <a:gd name="adj1" fmla="val 50000"/>
              </a:avLst>
            </a:prstGeom>
            <a:noFill/>
            <a:ln w="6350">
              <a:solidFill>
                <a:schemeClr val="bg1">
                  <a:lumMod val="50000"/>
                </a:schemeClr>
              </a:solidFill>
              <a:prstDash val="dash"/>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8" name="コネクタ: カギ線 17">
              <a:extLst>
                <a:ext uri="{FF2B5EF4-FFF2-40B4-BE49-F238E27FC236}">
                  <a16:creationId xmlns:a16="http://schemas.microsoft.com/office/drawing/2014/main" id="{8A4967B6-E9EE-EDBE-7318-3606AD2A7E68}"/>
                </a:ext>
              </a:extLst>
            </p:cNvPr>
            <p:cNvCxnSpPr>
              <a:cxnSpLocks/>
              <a:stCxn id="7" idx="2"/>
              <a:endCxn id="11" idx="1"/>
            </p:cNvCxnSpPr>
            <p:nvPr/>
          </p:nvCxnSpPr>
          <p:spPr>
            <a:xfrm rot="5400000">
              <a:off x="7197751" y="3800012"/>
              <a:ext cx="779411" cy="2982914"/>
            </a:xfrm>
            <a:prstGeom prst="bentConnector3">
              <a:avLst>
                <a:gd name="adj1" fmla="val 50000"/>
              </a:avLst>
            </a:prstGeom>
            <a:noFill/>
            <a:ln w="6350">
              <a:solidFill>
                <a:schemeClr val="bg1">
                  <a:lumMod val="50000"/>
                </a:schemeClr>
              </a:solidFill>
              <a:prstDash val="dash"/>
              <a:headEnd type="none"/>
            </a:ln>
          </p:spPr>
          <p:style>
            <a:lnRef idx="2">
              <a:schemeClr val="accent1">
                <a:shade val="50000"/>
              </a:schemeClr>
            </a:lnRef>
            <a:fillRef idx="1">
              <a:schemeClr val="accent1"/>
            </a:fillRef>
            <a:effectRef idx="0">
              <a:schemeClr val="accent1"/>
            </a:effectRef>
            <a:fontRef idx="minor">
              <a:schemeClr val="lt1"/>
            </a:fontRef>
          </p:style>
        </p:cxnSp>
        <p:sp>
          <p:nvSpPr>
            <p:cNvPr id="25" name="正方形/長方形 24">
              <a:extLst>
                <a:ext uri="{FF2B5EF4-FFF2-40B4-BE49-F238E27FC236}">
                  <a16:creationId xmlns:a16="http://schemas.microsoft.com/office/drawing/2014/main" id="{F966BACA-CC1D-E611-6738-622900CABDA6}"/>
                </a:ext>
              </a:extLst>
            </p:cNvPr>
            <p:cNvSpPr/>
            <p:nvPr/>
          </p:nvSpPr>
          <p:spPr>
            <a:xfrm>
              <a:off x="339441" y="4904376"/>
              <a:ext cx="5513674" cy="316102"/>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1100"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社の稼働率管理画面（</a:t>
              </a: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Teams</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26" name="正方形/長方形 25">
              <a:extLst>
                <a:ext uri="{FF2B5EF4-FFF2-40B4-BE49-F238E27FC236}">
                  <a16:creationId xmlns:a16="http://schemas.microsoft.com/office/drawing/2014/main" id="{7CD9BEEC-EFD9-7815-BD24-3FBBC7D02010}"/>
                </a:ext>
              </a:extLst>
            </p:cNvPr>
            <p:cNvSpPr/>
            <p:nvPr/>
          </p:nvSpPr>
          <p:spPr>
            <a:xfrm>
              <a:off x="6310314" y="4904376"/>
              <a:ext cx="5513674" cy="316102"/>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584200" fontAlgn="auto" latinLnBrk="1" hangingPunct="0">
                <a:spcBef>
                  <a:spcPts val="0"/>
                </a:spcBef>
                <a:spcAft>
                  <a:spcPts val="0"/>
                </a:spcAft>
              </a:pPr>
              <a:r>
                <a:rPr kumimoji="0" lang="en-US" altLang="ja-JP" sz="1100"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社の</a:t>
              </a: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ROI</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管理画面（</a:t>
              </a: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Teams</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spTree>
    <p:extLst>
      <p:ext uri="{BB962C8B-B14F-4D97-AF65-F5344CB8AC3E}">
        <p14:creationId xmlns:p14="http://schemas.microsoft.com/office/powerpoint/2010/main" val="41160614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4FEC5-C8B4-720E-DC7E-C493AC690333}"/>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8ACFD7CB-4005-96A6-B9CB-B6B8B8BDE2D8}"/>
              </a:ext>
            </a:extLst>
          </p:cNvPr>
          <p:cNvSpPr>
            <a:spLocks noGrp="1"/>
          </p:cNvSpPr>
          <p:nvPr>
            <p:ph type="title"/>
          </p:nvPr>
        </p:nvSpPr>
        <p:spPr/>
        <p:txBody>
          <a:bodyPr/>
          <a:lstStyle/>
          <a:p>
            <a:r>
              <a:rPr lang="ja-JP" altLang="en-US" dirty="0"/>
              <a:t>進め方</a:t>
            </a:r>
            <a:endParaRPr kumimoji="1" lang="ja-JP" altLang="en-US" dirty="0"/>
          </a:p>
        </p:txBody>
      </p:sp>
      <p:sp>
        <p:nvSpPr>
          <p:cNvPr id="4" name="スライド番号プレースホルダー 3">
            <a:extLst>
              <a:ext uri="{FF2B5EF4-FFF2-40B4-BE49-F238E27FC236}">
                <a16:creationId xmlns:a16="http://schemas.microsoft.com/office/drawing/2014/main" id="{4CD6BFD8-6326-BB6C-8B0A-A108EDBA8D5A}"/>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19</a:t>
            </a:fld>
            <a:endParaRPr lang="en-US" altLang="ja-JP"/>
          </a:p>
        </p:txBody>
      </p:sp>
      <p:sp>
        <p:nvSpPr>
          <p:cNvPr id="2" name="コンテンツ プレースホルダー 5">
            <a:extLst>
              <a:ext uri="{FF2B5EF4-FFF2-40B4-BE49-F238E27FC236}">
                <a16:creationId xmlns:a16="http://schemas.microsoft.com/office/drawing/2014/main" id="{F26DEAB2-D962-01E2-1AF1-6E9AE29BB41E}"/>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XXX</a:t>
            </a:r>
          </a:p>
        </p:txBody>
      </p:sp>
      <p:graphicFrame>
        <p:nvGraphicFramePr>
          <p:cNvPr id="5" name="表 4">
            <a:extLst>
              <a:ext uri="{FF2B5EF4-FFF2-40B4-BE49-F238E27FC236}">
                <a16:creationId xmlns:a16="http://schemas.microsoft.com/office/drawing/2014/main" id="{E03E84CD-1616-10A8-1500-2A6CC7957F6D}"/>
              </a:ext>
            </a:extLst>
          </p:cNvPr>
          <p:cNvGraphicFramePr>
            <a:graphicFrameLocks noGrp="1"/>
          </p:cNvGraphicFramePr>
          <p:nvPr>
            <p:extLst>
              <p:ext uri="{D42A27DB-BD31-4B8C-83A1-F6EECF244321}">
                <p14:modId xmlns:p14="http://schemas.microsoft.com/office/powerpoint/2010/main" val="1583023397"/>
              </p:ext>
            </p:extLst>
          </p:nvPr>
        </p:nvGraphicFramePr>
        <p:xfrm>
          <a:off x="702644" y="1617834"/>
          <a:ext cx="10775370" cy="4284849"/>
        </p:xfrm>
        <a:graphic>
          <a:graphicData uri="http://schemas.openxmlformats.org/drawingml/2006/table">
            <a:tbl>
              <a:tblPr firstRow="1" bandRow="1"/>
              <a:tblGrid>
                <a:gridCol w="2493426">
                  <a:extLst>
                    <a:ext uri="{9D8B030D-6E8A-4147-A177-3AD203B41FA5}">
                      <a16:colId xmlns:a16="http://schemas.microsoft.com/office/drawing/2014/main" val="4242186221"/>
                    </a:ext>
                  </a:extLst>
                </a:gridCol>
                <a:gridCol w="2070486">
                  <a:extLst>
                    <a:ext uri="{9D8B030D-6E8A-4147-A177-3AD203B41FA5}">
                      <a16:colId xmlns:a16="http://schemas.microsoft.com/office/drawing/2014/main" val="3630054763"/>
                    </a:ext>
                  </a:extLst>
                </a:gridCol>
                <a:gridCol w="2070486">
                  <a:extLst>
                    <a:ext uri="{9D8B030D-6E8A-4147-A177-3AD203B41FA5}">
                      <a16:colId xmlns:a16="http://schemas.microsoft.com/office/drawing/2014/main" val="2257193726"/>
                    </a:ext>
                  </a:extLst>
                </a:gridCol>
                <a:gridCol w="2070486">
                  <a:extLst>
                    <a:ext uri="{9D8B030D-6E8A-4147-A177-3AD203B41FA5}">
                      <a16:colId xmlns:a16="http://schemas.microsoft.com/office/drawing/2014/main" val="2462902793"/>
                    </a:ext>
                  </a:extLst>
                </a:gridCol>
                <a:gridCol w="2070486">
                  <a:extLst>
                    <a:ext uri="{9D8B030D-6E8A-4147-A177-3AD203B41FA5}">
                      <a16:colId xmlns:a16="http://schemas.microsoft.com/office/drawing/2014/main" val="1044424172"/>
                    </a:ext>
                  </a:extLst>
                </a:gridCol>
              </a:tblGrid>
              <a:tr h="345225">
                <a:tc>
                  <a:txBody>
                    <a:bodyPr/>
                    <a:lstStyle>
                      <a:lvl1pPr marL="0" algn="l" defTabSz="914400" rtl="0" eaLnBrk="1" latinLnBrk="0" hangingPunct="1">
                        <a:defRPr kumimoji="1" sz="1800" b="1" kern="1200">
                          <a:solidFill>
                            <a:schemeClr val="bg1"/>
                          </a:solidFill>
                          <a:latin typeface="Arial"/>
                          <a:ea typeface="HG丸ｺﾞｼｯｸM-PRO"/>
                        </a:defRPr>
                      </a:lvl1pPr>
                      <a:lvl2pPr marL="457200" algn="l" defTabSz="914400" rtl="0" eaLnBrk="1" latinLnBrk="0" hangingPunct="1">
                        <a:defRPr kumimoji="1" sz="1800" b="1" kern="1200">
                          <a:solidFill>
                            <a:schemeClr val="bg1"/>
                          </a:solidFill>
                          <a:latin typeface="Arial"/>
                          <a:ea typeface="HG丸ｺﾞｼｯｸM-PRO"/>
                        </a:defRPr>
                      </a:lvl2pPr>
                      <a:lvl3pPr marL="914400" algn="l" defTabSz="914400" rtl="0" eaLnBrk="1" latinLnBrk="0" hangingPunct="1">
                        <a:defRPr kumimoji="1" sz="1800" b="1" kern="1200">
                          <a:solidFill>
                            <a:schemeClr val="bg1"/>
                          </a:solidFill>
                          <a:latin typeface="Arial"/>
                          <a:ea typeface="HG丸ｺﾞｼｯｸM-PRO"/>
                        </a:defRPr>
                      </a:lvl3pPr>
                      <a:lvl4pPr marL="1371600" algn="l" defTabSz="914400" rtl="0" eaLnBrk="1" latinLnBrk="0" hangingPunct="1">
                        <a:defRPr kumimoji="1" sz="1800" b="1" kern="1200">
                          <a:solidFill>
                            <a:schemeClr val="bg1"/>
                          </a:solidFill>
                          <a:latin typeface="Arial"/>
                          <a:ea typeface="HG丸ｺﾞｼｯｸM-PRO"/>
                        </a:defRPr>
                      </a:lvl4pPr>
                      <a:lvl5pPr marL="1828800" algn="l" defTabSz="914400" rtl="0" eaLnBrk="1" latinLnBrk="0" hangingPunct="1">
                        <a:defRPr kumimoji="1" sz="1800" b="1" kern="1200">
                          <a:solidFill>
                            <a:schemeClr val="bg1"/>
                          </a:solidFill>
                          <a:latin typeface="Arial"/>
                          <a:ea typeface="HG丸ｺﾞｼｯｸM-PRO"/>
                        </a:defRPr>
                      </a:lvl5pPr>
                      <a:lvl6pPr marL="2286000" algn="l" defTabSz="914400" rtl="0" eaLnBrk="1" latinLnBrk="0" hangingPunct="1">
                        <a:defRPr kumimoji="1" sz="1800" b="1" kern="1200">
                          <a:solidFill>
                            <a:schemeClr val="bg1"/>
                          </a:solidFill>
                          <a:latin typeface="Arial"/>
                          <a:ea typeface="HG丸ｺﾞｼｯｸM-PRO"/>
                        </a:defRPr>
                      </a:lvl6pPr>
                      <a:lvl7pPr marL="2743200" algn="l" defTabSz="914400" rtl="0" eaLnBrk="1" latinLnBrk="0" hangingPunct="1">
                        <a:defRPr kumimoji="1" sz="1800" b="1" kern="1200">
                          <a:solidFill>
                            <a:schemeClr val="bg1"/>
                          </a:solidFill>
                          <a:latin typeface="Arial"/>
                          <a:ea typeface="HG丸ｺﾞｼｯｸM-PRO"/>
                        </a:defRPr>
                      </a:lvl7pPr>
                      <a:lvl8pPr marL="3200400" algn="l" defTabSz="914400" rtl="0" eaLnBrk="1" latinLnBrk="0" hangingPunct="1">
                        <a:defRPr kumimoji="1" sz="1800" b="1" kern="1200">
                          <a:solidFill>
                            <a:schemeClr val="bg1"/>
                          </a:solidFill>
                          <a:latin typeface="Arial"/>
                          <a:ea typeface="HG丸ｺﾞｼｯｸM-PRO"/>
                        </a:defRPr>
                      </a:lvl8pPr>
                      <a:lvl9pPr marL="3657600" algn="l" defTabSz="914400" rtl="0" eaLnBrk="1" latinLnBrk="0" hangingPunct="1">
                        <a:defRPr kumimoji="1" sz="1800" b="1" kern="1200">
                          <a:solidFill>
                            <a:schemeClr val="bg1"/>
                          </a:solidFill>
                          <a:latin typeface="Arial"/>
                          <a:ea typeface="HG丸ｺﾞｼｯｸM-PRO"/>
                        </a:defRPr>
                      </a:lvl9pPr>
                    </a:lstStyle>
                    <a:p>
                      <a:endPar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7EBFE6"/>
                    </a:solidFill>
                  </a:tcPr>
                </a:tc>
                <a:tc>
                  <a:txBody>
                    <a:bodyPr/>
                    <a:lstStyle>
                      <a:lvl1pPr marL="0" algn="l" defTabSz="914400" rtl="0" eaLnBrk="1" latinLnBrk="0" hangingPunct="1">
                        <a:defRPr kumimoji="1" sz="1800" b="1" kern="1200">
                          <a:solidFill>
                            <a:schemeClr val="bg1"/>
                          </a:solidFill>
                          <a:latin typeface="Arial"/>
                          <a:ea typeface="HG丸ｺﾞｼｯｸM-PRO"/>
                        </a:defRPr>
                      </a:lvl1pPr>
                      <a:lvl2pPr marL="457200" algn="l" defTabSz="914400" rtl="0" eaLnBrk="1" latinLnBrk="0" hangingPunct="1">
                        <a:defRPr kumimoji="1" sz="1800" b="1" kern="1200">
                          <a:solidFill>
                            <a:schemeClr val="bg1"/>
                          </a:solidFill>
                          <a:latin typeface="Arial"/>
                          <a:ea typeface="HG丸ｺﾞｼｯｸM-PRO"/>
                        </a:defRPr>
                      </a:lvl2pPr>
                      <a:lvl3pPr marL="914400" algn="l" defTabSz="914400" rtl="0" eaLnBrk="1" latinLnBrk="0" hangingPunct="1">
                        <a:defRPr kumimoji="1" sz="1800" b="1" kern="1200">
                          <a:solidFill>
                            <a:schemeClr val="bg1"/>
                          </a:solidFill>
                          <a:latin typeface="Arial"/>
                          <a:ea typeface="HG丸ｺﾞｼｯｸM-PRO"/>
                        </a:defRPr>
                      </a:lvl3pPr>
                      <a:lvl4pPr marL="1371600" algn="l" defTabSz="914400" rtl="0" eaLnBrk="1" latinLnBrk="0" hangingPunct="1">
                        <a:defRPr kumimoji="1" sz="1800" b="1" kern="1200">
                          <a:solidFill>
                            <a:schemeClr val="bg1"/>
                          </a:solidFill>
                          <a:latin typeface="Arial"/>
                          <a:ea typeface="HG丸ｺﾞｼｯｸM-PRO"/>
                        </a:defRPr>
                      </a:lvl4pPr>
                      <a:lvl5pPr marL="1828800" algn="l" defTabSz="914400" rtl="0" eaLnBrk="1" latinLnBrk="0" hangingPunct="1">
                        <a:defRPr kumimoji="1" sz="1800" b="1" kern="1200">
                          <a:solidFill>
                            <a:schemeClr val="bg1"/>
                          </a:solidFill>
                          <a:latin typeface="Arial"/>
                          <a:ea typeface="HG丸ｺﾞｼｯｸM-PRO"/>
                        </a:defRPr>
                      </a:lvl5pPr>
                      <a:lvl6pPr marL="2286000" algn="l" defTabSz="914400" rtl="0" eaLnBrk="1" latinLnBrk="0" hangingPunct="1">
                        <a:defRPr kumimoji="1" sz="1800" b="1" kern="1200">
                          <a:solidFill>
                            <a:schemeClr val="bg1"/>
                          </a:solidFill>
                          <a:latin typeface="Arial"/>
                          <a:ea typeface="HG丸ｺﾞｼｯｸM-PRO"/>
                        </a:defRPr>
                      </a:lvl6pPr>
                      <a:lvl7pPr marL="2743200" algn="l" defTabSz="914400" rtl="0" eaLnBrk="1" latinLnBrk="0" hangingPunct="1">
                        <a:defRPr kumimoji="1" sz="1800" b="1" kern="1200">
                          <a:solidFill>
                            <a:schemeClr val="bg1"/>
                          </a:solidFill>
                          <a:latin typeface="Arial"/>
                          <a:ea typeface="HG丸ｺﾞｼｯｸM-PRO"/>
                        </a:defRPr>
                      </a:lvl7pPr>
                      <a:lvl8pPr marL="3200400" algn="l" defTabSz="914400" rtl="0" eaLnBrk="1" latinLnBrk="0" hangingPunct="1">
                        <a:defRPr kumimoji="1" sz="1800" b="1" kern="1200">
                          <a:solidFill>
                            <a:schemeClr val="bg1"/>
                          </a:solidFill>
                          <a:latin typeface="Arial"/>
                          <a:ea typeface="HG丸ｺﾞｼｯｸM-PRO"/>
                        </a:defRPr>
                      </a:lvl8pPr>
                      <a:lvl9pPr marL="3657600" algn="l" defTabSz="914400" rtl="0" eaLnBrk="1" latinLnBrk="0" hangingPunct="1">
                        <a:defRPr kumimoji="1" sz="1800" b="1" kern="1200">
                          <a:solidFill>
                            <a:schemeClr val="bg1"/>
                          </a:solidFill>
                          <a:latin typeface="Arial"/>
                          <a:ea typeface="HG丸ｺﾞｼｯｸM-PRO"/>
                        </a:defRPr>
                      </a:lvl9pPr>
                    </a:lstStyle>
                    <a:p>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2025</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年度</a:t>
                      </a:r>
                    </a:p>
                  </a:txBody>
                  <a:tcPr marL="100584" marR="100584"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7EBFE6"/>
                    </a:solidFill>
                  </a:tcPr>
                </a:tc>
                <a:tc>
                  <a:txBody>
                    <a:bodyPr/>
                    <a:lstStyle/>
                    <a:p>
                      <a:endPar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100584" marR="100584"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7EBFE6"/>
                    </a:solidFill>
                  </a:tcPr>
                </a:tc>
                <a:tc>
                  <a:txBody>
                    <a:bodyPr/>
                    <a:lstStyle/>
                    <a:p>
                      <a:r>
                        <a:rPr kumimoji="1" lang="en-US" altLang="ja-JP" sz="1600" b="0" i="0" kern="0" noProof="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2026</a:t>
                      </a:r>
                      <a:r>
                        <a:rPr kumimoji="1" lang="ja-JP" altLang="en-US" sz="1600" b="0" i="0" kern="0" noProof="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年度</a:t>
                      </a:r>
                      <a:endPar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100584" marR="100584"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7EBFE6"/>
                    </a:solidFill>
                  </a:tcPr>
                </a:tc>
                <a:tc>
                  <a:txBody>
                    <a:bodyPr/>
                    <a:lstStyle/>
                    <a:p>
                      <a:endPar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100584" marR="100584"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7EBFE6"/>
                    </a:solidFill>
                  </a:tcPr>
                </a:tc>
                <a:extLst>
                  <a:ext uri="{0D108BD9-81ED-4DB2-BD59-A6C34878D82A}">
                    <a16:rowId xmlns:a16="http://schemas.microsoft.com/office/drawing/2014/main" val="2204848530"/>
                  </a:ext>
                </a:extLst>
              </a:tr>
              <a:tr h="345225">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marR="0" lvl="0" indent="0" algn="l" defTabSz="514337" rtl="0" eaLnBrk="1" fontAlgn="auto" latinLnBrk="0" hangingPunct="1">
                        <a:lnSpc>
                          <a:spcPct val="100000"/>
                        </a:lnSpc>
                        <a:spcBef>
                          <a:spcPts val="0"/>
                        </a:spcBef>
                        <a:spcAft>
                          <a:spcPts val="0"/>
                        </a:spcAft>
                        <a:buClrTx/>
                        <a:buSzTx/>
                        <a:buFontTx/>
                        <a:buNone/>
                        <a:tabLst/>
                        <a:defRPr/>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主な対象</a:t>
                      </a: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l">
                        <a:buFont typeface="Arial" panose="020B0604020202020204" pitchFamily="34" charset="0"/>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3Q</a:t>
                      </a: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l">
                        <a:buFont typeface="Arial" panose="020B0604020202020204" pitchFamily="34" charset="0"/>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4Q</a:t>
                      </a: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l">
                        <a:buFont typeface="Arial" panose="020B0604020202020204" pitchFamily="34" charset="0"/>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1Q</a:t>
                      </a: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indent="0" algn="l">
                        <a:buFont typeface="Arial" panose="020B0604020202020204" pitchFamily="34" charset="0"/>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2Q</a:t>
                      </a: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2895D5">
                        <a:lumMod val="20000"/>
                        <a:lumOff val="80000"/>
                      </a:srgbClr>
                    </a:solidFill>
                  </a:tcPr>
                </a:tc>
                <a:extLst>
                  <a:ext uri="{0D108BD9-81ED-4DB2-BD59-A6C34878D82A}">
                    <a16:rowId xmlns:a16="http://schemas.microsoft.com/office/drawing/2014/main" val="2230145552"/>
                  </a:ext>
                </a:extLst>
              </a:tr>
              <a:tr h="967983">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a:buFontTx/>
                        <a:buNone/>
                      </a:pPr>
                      <a:r>
                        <a:rPr kumimoji="1" lang="ja-JP" altLang="en-US"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小規模案件</a:t>
                      </a:r>
                      <a:endParaRPr kumimoji="1" lang="en-US" altLang="ja-JP"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80975" indent="-180975" algn="l">
                        <a:buFont typeface="Wingdings" panose="05000000000000000000" pitchFamily="2" charset="2"/>
                        <a:buChar char="ü"/>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案件サイクル：</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0.5</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ヵ月</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80975" indent="-180975" algn="l">
                        <a:buFont typeface="Wingdings" panose="05000000000000000000" pitchFamily="2" charset="2"/>
                        <a:buChar char="ü"/>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案件工数：</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10</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人日</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 typeface="Arial" panose="020B0604020202020204" pitchFamily="34" charset="0"/>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0" lvl="1" indent="0" algn="l">
                        <a:buFont typeface="Arial" panose="020B0604020202020204" pitchFamily="34" charset="0"/>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0" lvl="1" indent="0" algn="l">
                        <a:buFont typeface="Arial" panose="020B0604020202020204" pitchFamily="34" charset="0"/>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 typeface="Arial" panose="020B0604020202020204" pitchFamily="34" charset="0"/>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 typeface="Arial" panose="020B0604020202020204" pitchFamily="34" charset="0"/>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 typeface="Arial" panose="020B0604020202020204" pitchFamily="34" charset="0"/>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49764776"/>
                  </a:ext>
                </a:extLst>
              </a:tr>
              <a:tr h="967983">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a:buFontTx/>
                        <a:buNone/>
                      </a:pPr>
                      <a:r>
                        <a:rPr kumimoji="1" lang="ja-JP" altLang="en-US"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中規模案件</a:t>
                      </a:r>
                      <a:endParaRPr kumimoji="1" lang="en-US" altLang="ja-JP"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80975" indent="-180975" algn="l">
                        <a:buFont typeface="Wingdings" panose="05000000000000000000" pitchFamily="2" charset="2"/>
                        <a:buChar char="ü"/>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案件サイクル：</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ヵ月</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80975" indent="-180975" algn="l">
                        <a:buFont typeface="Wingdings" panose="05000000000000000000" pitchFamily="2" charset="2"/>
                        <a:buChar char="ü"/>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案件工数：</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20</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人日</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3675514"/>
                  </a:ext>
                </a:extLst>
              </a:tr>
              <a:tr h="967983">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algn="l">
                        <a:buFontTx/>
                        <a:buNone/>
                      </a:pPr>
                      <a:r>
                        <a:rPr kumimoji="1" lang="ja-JP" altLang="en-US"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教育・育成</a:t>
                      </a:r>
                      <a:endParaRPr kumimoji="1" lang="en-US" altLang="ja-JP" sz="1600" b="1"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180975" indent="-180975" algn="l">
                        <a:buFont typeface="Wingdings" panose="05000000000000000000" pitchFamily="2" charset="2"/>
                        <a:buChar char="ü"/>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育成サイクル：</a:t>
                      </a: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1.0</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ヵ月</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FFFFFF">
                          <a:lumMod val="65000"/>
                        </a:srgbClr>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133310234"/>
                  </a:ext>
                </a:extLst>
              </a:tr>
              <a:tr h="345225">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l">
                        <a:buFontTx/>
                        <a:buNone/>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案件必要人数</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3</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4</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14</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tx1"/>
                          </a:solidFill>
                          <a:latin typeface="Arial"/>
                          <a:ea typeface="HG丸ｺﾞｼｯｸM-PRO"/>
                        </a:defRPr>
                      </a:lvl1pPr>
                      <a:lvl2pPr marL="457200" algn="l" defTabSz="914400" rtl="0" eaLnBrk="1" latinLnBrk="0" hangingPunct="1">
                        <a:defRPr kumimoji="1" sz="1800" kern="1200">
                          <a:solidFill>
                            <a:schemeClr val="tx1"/>
                          </a:solidFill>
                          <a:latin typeface="Arial"/>
                          <a:ea typeface="HG丸ｺﾞｼｯｸM-PRO"/>
                        </a:defRPr>
                      </a:lvl2pPr>
                      <a:lvl3pPr marL="914400" algn="l" defTabSz="914400" rtl="0" eaLnBrk="1" latinLnBrk="0" hangingPunct="1">
                        <a:defRPr kumimoji="1" sz="1800" kern="1200">
                          <a:solidFill>
                            <a:schemeClr val="tx1"/>
                          </a:solidFill>
                          <a:latin typeface="Arial"/>
                          <a:ea typeface="HG丸ｺﾞｼｯｸM-PRO"/>
                        </a:defRPr>
                      </a:lvl3pPr>
                      <a:lvl4pPr marL="1371600" algn="l" defTabSz="914400" rtl="0" eaLnBrk="1" latinLnBrk="0" hangingPunct="1">
                        <a:defRPr kumimoji="1" sz="1800" kern="1200">
                          <a:solidFill>
                            <a:schemeClr val="tx1"/>
                          </a:solidFill>
                          <a:latin typeface="Arial"/>
                          <a:ea typeface="HG丸ｺﾞｼｯｸM-PRO"/>
                        </a:defRPr>
                      </a:lvl4pPr>
                      <a:lvl5pPr marL="1828800" algn="l" defTabSz="914400" rtl="0" eaLnBrk="1" latinLnBrk="0" hangingPunct="1">
                        <a:defRPr kumimoji="1" sz="1800" kern="1200">
                          <a:solidFill>
                            <a:schemeClr val="tx1"/>
                          </a:solidFill>
                          <a:latin typeface="Arial"/>
                          <a:ea typeface="HG丸ｺﾞｼｯｸM-PRO"/>
                        </a:defRPr>
                      </a:lvl5pPr>
                      <a:lvl6pPr marL="2286000" algn="l" defTabSz="914400" rtl="0" eaLnBrk="1" latinLnBrk="0" hangingPunct="1">
                        <a:defRPr kumimoji="1" sz="1800" kern="1200">
                          <a:solidFill>
                            <a:schemeClr val="tx1"/>
                          </a:solidFill>
                          <a:latin typeface="Arial"/>
                          <a:ea typeface="HG丸ｺﾞｼｯｸM-PRO"/>
                        </a:defRPr>
                      </a:lvl6pPr>
                      <a:lvl7pPr marL="2743200" algn="l" defTabSz="914400" rtl="0" eaLnBrk="1" latinLnBrk="0" hangingPunct="1">
                        <a:defRPr kumimoji="1" sz="1800" kern="1200">
                          <a:solidFill>
                            <a:schemeClr val="tx1"/>
                          </a:solidFill>
                          <a:latin typeface="Arial"/>
                          <a:ea typeface="HG丸ｺﾞｼｯｸM-PRO"/>
                        </a:defRPr>
                      </a:lvl7pPr>
                      <a:lvl8pPr marL="3200400" algn="l" defTabSz="914400" rtl="0" eaLnBrk="1" latinLnBrk="0" hangingPunct="1">
                        <a:defRPr kumimoji="1" sz="1800" kern="1200">
                          <a:solidFill>
                            <a:schemeClr val="tx1"/>
                          </a:solidFill>
                          <a:latin typeface="Arial"/>
                          <a:ea typeface="HG丸ｺﾞｼｯｸM-PRO"/>
                        </a:defRPr>
                      </a:lvl8pPr>
                      <a:lvl9pPr marL="3657600" algn="l" defTabSz="914400" rtl="0" eaLnBrk="1" latinLnBrk="0" hangingPunct="1">
                        <a:defRPr kumimoji="1" sz="1800" kern="1200">
                          <a:solidFill>
                            <a:schemeClr val="tx1"/>
                          </a:solidFill>
                          <a:latin typeface="Arial"/>
                          <a:ea typeface="HG丸ｺﾞｼｯｸM-PRO"/>
                        </a:defRPr>
                      </a:lvl9p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24</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人</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A6A6A6"/>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650052531"/>
                  </a:ext>
                </a:extLst>
              </a:tr>
              <a:tr h="345225">
                <a:tc>
                  <a:txBody>
                    <a:bodyPr/>
                    <a:lstStyle/>
                    <a:p>
                      <a:pPr marL="0" lvl="1" indent="0" algn="l">
                        <a:buFontTx/>
                        <a:buNone/>
                      </a:pP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案件数</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1</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件</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6</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件</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24</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件</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FFFFFF">
                          <a:lumMod val="65000"/>
                        </a:srgbClr>
                      </a:solidFill>
                      <a:prstDash val="solid"/>
                      <a:round/>
                      <a:headEnd type="none" w="med" len="med"/>
                      <a:tailEnd type="none" w="med" len="med"/>
                    </a:lnL>
                    <a:lnR w="12700" cap="flat" cmpd="sng" algn="ctr">
                      <a:solidFill>
                        <a:srgbClr val="A6A6A6"/>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lvl="1" indent="0" algn="ctr">
                        <a:buFontTx/>
                        <a:buNone/>
                      </a:pPr>
                      <a:r>
                        <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44</a:t>
                      </a:r>
                      <a:r>
                        <a:rPr kumimoji="1" lang="ja-JP" altLang="en-US"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件</a:t>
                      </a:r>
                      <a:endParaRPr kumimoji="1" lang="en-US" altLang="ja-JP" sz="1600" b="0" i="0" kern="0" dirty="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txBody>
                  <a:tcPr marL="52383" marR="52383" marT="36000" marB="35778">
                    <a:lnL w="12700" cap="flat" cmpd="sng" algn="ctr">
                      <a:solidFill>
                        <a:srgbClr val="A6A6A6"/>
                      </a:solidFill>
                      <a:prstDash val="solid"/>
                      <a:round/>
                      <a:headEnd type="none" w="med" len="med"/>
                      <a:tailEnd type="none" w="med" len="med"/>
                    </a:lnL>
                    <a:lnR w="12700" cap="flat" cmpd="sng" algn="ctr">
                      <a:solidFill>
                        <a:srgbClr val="FFFFFF">
                          <a:lumMod val="65000"/>
                        </a:srgbClr>
                      </a:solidFill>
                      <a:prstDash val="solid"/>
                      <a:round/>
                      <a:headEnd type="none" w="med" len="med"/>
                      <a:tailEnd type="none" w="med" len="med"/>
                    </a:lnR>
                    <a:lnT w="12700" cap="flat" cmpd="sng" algn="ctr">
                      <a:solidFill>
                        <a:srgbClr val="A6A6A6"/>
                      </a:solidFill>
                      <a:prstDash val="solid"/>
                      <a:round/>
                      <a:headEnd type="none" w="med" len="med"/>
                      <a:tailEnd type="none" w="med" len="med"/>
                    </a:lnT>
                    <a:lnB w="12700" cap="flat" cmpd="sng" algn="ctr">
                      <a:solidFill>
                        <a:srgbClr val="FFFFFF">
                          <a:lumMod val="6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705770867"/>
                  </a:ext>
                </a:extLst>
              </a:tr>
            </a:tbl>
          </a:graphicData>
        </a:graphic>
      </p:graphicFrame>
    </p:spTree>
    <p:extLst>
      <p:ext uri="{BB962C8B-B14F-4D97-AF65-F5344CB8AC3E}">
        <p14:creationId xmlns:p14="http://schemas.microsoft.com/office/powerpoint/2010/main" val="3868341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AE030-AC70-EEBD-3DE1-FAA5E77C478E}"/>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2C9E074D-5B55-4E82-96E6-3249578E7AA8}"/>
              </a:ext>
            </a:extLst>
          </p:cNvPr>
          <p:cNvSpPr>
            <a:spLocks noGrp="1"/>
          </p:cNvSpPr>
          <p:nvPr>
            <p:ph type="title"/>
          </p:nvPr>
        </p:nvSpPr>
        <p:spPr/>
        <p:txBody>
          <a:bodyPr/>
          <a:lstStyle/>
          <a:p>
            <a:r>
              <a:rPr lang="en-US" altLang="ja-JP" dirty="0"/>
              <a:t>AI</a:t>
            </a:r>
            <a:r>
              <a:rPr lang="ja-JP" altLang="en-US" dirty="0"/>
              <a:t>エージェントの大規模運用に伴う内製の要となるアーキテクチャ</a:t>
            </a:r>
            <a:endParaRPr kumimoji="1" lang="ja-JP" altLang="en-US" dirty="0"/>
          </a:p>
        </p:txBody>
      </p:sp>
      <p:sp>
        <p:nvSpPr>
          <p:cNvPr id="4" name="スライド番号プレースホルダー 3">
            <a:extLst>
              <a:ext uri="{FF2B5EF4-FFF2-40B4-BE49-F238E27FC236}">
                <a16:creationId xmlns:a16="http://schemas.microsoft.com/office/drawing/2014/main" id="{B837E819-8B76-6785-314F-93A8DA6CB42F}"/>
              </a:ext>
            </a:extLst>
          </p:cNvPr>
          <p:cNvSpPr>
            <a:spLocks noGrp="1"/>
          </p:cNvSpPr>
          <p:nvPr>
            <p:ph type="sldNum" sz="quarter" idx="10"/>
          </p:nvPr>
        </p:nvSpPr>
        <p:spPr>
          <a:xfrm>
            <a:off x="4826000" y="6634704"/>
            <a:ext cx="2540000" cy="230832"/>
          </a:xfrm>
        </p:spPr>
        <p:txBody>
          <a:bodyPr/>
          <a:lstStyle/>
          <a:p>
            <a:pPr>
              <a:defRPr/>
            </a:pPr>
            <a:fld id="{EB72A429-DDC7-41CC-AC2C-79132BE59620}" type="slidenum">
              <a:rPr lang="en-US" altLang="ja-JP" smtClean="0"/>
              <a:pPr>
                <a:defRPr/>
              </a:pPr>
              <a:t>20</a:t>
            </a:fld>
            <a:endParaRPr lang="en-US" altLang="ja-JP"/>
          </a:p>
        </p:txBody>
      </p:sp>
      <p:sp>
        <p:nvSpPr>
          <p:cNvPr id="2" name="コンテンツ プレースホルダー 5">
            <a:extLst>
              <a:ext uri="{FF2B5EF4-FFF2-40B4-BE49-F238E27FC236}">
                <a16:creationId xmlns:a16="http://schemas.microsoft.com/office/drawing/2014/main" id="{5F7CF79C-4811-CC98-37DE-FC1A78E6073C}"/>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XXX</a:t>
            </a:r>
          </a:p>
        </p:txBody>
      </p:sp>
      <p:grpSp>
        <p:nvGrpSpPr>
          <p:cNvPr id="26" name="グループ化 25">
            <a:extLst>
              <a:ext uri="{FF2B5EF4-FFF2-40B4-BE49-F238E27FC236}">
                <a16:creationId xmlns:a16="http://schemas.microsoft.com/office/drawing/2014/main" id="{F39355A2-033A-F04F-337F-8F3049E1F57D}"/>
              </a:ext>
            </a:extLst>
          </p:cNvPr>
          <p:cNvGrpSpPr/>
          <p:nvPr/>
        </p:nvGrpSpPr>
        <p:grpSpPr>
          <a:xfrm>
            <a:off x="3364119" y="1262859"/>
            <a:ext cx="4107197" cy="2110460"/>
            <a:chOff x="3364119" y="1511998"/>
            <a:chExt cx="4107197" cy="2110460"/>
          </a:xfrm>
        </p:grpSpPr>
        <p:sp>
          <p:nvSpPr>
            <p:cNvPr id="10" name="四角形: 角を丸くする 9">
              <a:extLst>
                <a:ext uri="{FF2B5EF4-FFF2-40B4-BE49-F238E27FC236}">
                  <a16:creationId xmlns:a16="http://schemas.microsoft.com/office/drawing/2014/main" id="{FC0A42A6-3943-9D75-071C-1230E5CDE6C1}"/>
                </a:ext>
              </a:extLst>
            </p:cNvPr>
            <p:cNvSpPr/>
            <p:nvPr/>
          </p:nvSpPr>
          <p:spPr>
            <a:xfrm>
              <a:off x="3364119" y="1660000"/>
              <a:ext cx="4107197" cy="1962458"/>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1" name="テキスト ボックス 10">
              <a:extLst>
                <a:ext uri="{FF2B5EF4-FFF2-40B4-BE49-F238E27FC236}">
                  <a16:creationId xmlns:a16="http://schemas.microsoft.com/office/drawing/2014/main" id="{534DDE04-9416-8357-78A8-C5C11FF48E88}"/>
                </a:ext>
              </a:extLst>
            </p:cNvPr>
            <p:cNvSpPr txBox="1"/>
            <p:nvPr/>
          </p:nvSpPr>
          <p:spPr>
            <a:xfrm>
              <a:off x="3741202" y="1528988"/>
              <a:ext cx="1850806" cy="277000"/>
            </a:xfrm>
            <a:prstGeom prst="rect">
              <a:avLst/>
            </a:prstGeom>
            <a:solidFill>
              <a:schemeClr val="bg1"/>
            </a:solidFill>
          </p:spPr>
          <p:txBody>
            <a:bodyPr wrap="square" rtlCol="0" anchor="ctr">
              <a:spAutoFit/>
            </a:bodyPr>
            <a:lstStyle/>
            <a:p>
              <a:pPr algn="ctr"/>
              <a:r>
                <a:rPr lang="en-US" altLang="ja-JP" sz="1200" dirty="0">
                  <a:solidFill>
                    <a:schemeClr val="accent4">
                      <a:lumMod val="65000"/>
                      <a:lumOff val="35000"/>
                    </a:schemeClr>
                  </a:solidFill>
                  <a:latin typeface="Meiryo UI" panose="020B0604030504040204" pitchFamily="50" charset="-128"/>
                  <a:ea typeface="Meiryo UI" panose="020B0604030504040204" pitchFamily="50" charset="-128"/>
                </a:rPr>
                <a:t>Azure</a:t>
              </a:r>
              <a:endParaRPr kumimoji="1" lang="ja-JP" altLang="en-US"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1130E1A2-A68F-5446-1E41-E27EC44A3710}"/>
                </a:ext>
              </a:extLst>
            </p:cNvPr>
            <p:cNvSpPr/>
            <p:nvPr/>
          </p:nvSpPr>
          <p:spPr>
            <a:xfrm>
              <a:off x="4177004" y="1926388"/>
              <a:ext cx="979200"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n8n</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pic>
          <p:nvPicPr>
            <p:cNvPr id="13" name="グラフィックス 12">
              <a:extLst>
                <a:ext uri="{FF2B5EF4-FFF2-40B4-BE49-F238E27FC236}">
                  <a16:creationId xmlns:a16="http://schemas.microsoft.com/office/drawing/2014/main" id="{5E575995-A45D-A966-D506-BB9972F59BDA}"/>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839473" y="1511998"/>
              <a:ext cx="466214" cy="325500"/>
            </a:xfrm>
            <a:prstGeom prst="rect">
              <a:avLst/>
            </a:prstGeom>
          </p:spPr>
        </p:pic>
        <p:sp>
          <p:nvSpPr>
            <p:cNvPr id="15" name="正方形/長方形 14">
              <a:extLst>
                <a:ext uri="{FF2B5EF4-FFF2-40B4-BE49-F238E27FC236}">
                  <a16:creationId xmlns:a16="http://schemas.microsoft.com/office/drawing/2014/main" id="{361321C3-1AC0-164D-F3B9-5DAA3EA93134}"/>
                </a:ext>
              </a:extLst>
            </p:cNvPr>
            <p:cNvSpPr/>
            <p:nvPr/>
          </p:nvSpPr>
          <p:spPr>
            <a:xfrm>
              <a:off x="4177004" y="2725484"/>
              <a:ext cx="979200"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a:t>
              </a:r>
              <a:b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b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管理システム</a:t>
              </a:r>
              <a:endParaRPr kumimoji="0" lang="ja-JP" altLang="en-US" sz="11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grpSp>
      <p:sp>
        <p:nvSpPr>
          <p:cNvPr id="6" name="四角形: 角を丸くする 5">
            <a:extLst>
              <a:ext uri="{FF2B5EF4-FFF2-40B4-BE49-F238E27FC236}">
                <a16:creationId xmlns:a16="http://schemas.microsoft.com/office/drawing/2014/main" id="{167EA1E6-C1EE-1B55-05BC-CD57A262B0C4}"/>
              </a:ext>
            </a:extLst>
          </p:cNvPr>
          <p:cNvSpPr/>
          <p:nvPr/>
        </p:nvSpPr>
        <p:spPr>
          <a:xfrm>
            <a:off x="8398156" y="2708212"/>
            <a:ext cx="2604976" cy="1464887"/>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1A11FB72-09AE-CA86-60C6-913D0383145A}"/>
              </a:ext>
            </a:extLst>
          </p:cNvPr>
          <p:cNvSpPr txBox="1"/>
          <p:nvPr/>
        </p:nvSpPr>
        <p:spPr>
          <a:xfrm>
            <a:off x="8775238" y="2577200"/>
            <a:ext cx="1850806" cy="277000"/>
          </a:xfrm>
          <a:prstGeom prst="rect">
            <a:avLst/>
          </a:prstGeom>
          <a:solidFill>
            <a:schemeClr val="bg1"/>
          </a:solidFill>
        </p:spPr>
        <p:txBody>
          <a:bodyPr wrap="square" rtlCol="0" anchor="ctr">
            <a:spAutoFit/>
          </a:bodyPr>
          <a:lstStyle/>
          <a:p>
            <a:pPr algn="ctr"/>
            <a:r>
              <a:rPr lang="en-US" altLang="ja-JP" sz="1200" dirty="0">
                <a:solidFill>
                  <a:schemeClr val="accent4">
                    <a:lumMod val="65000"/>
                    <a:lumOff val="35000"/>
                  </a:schemeClr>
                </a:solidFill>
                <a:latin typeface="Meiryo UI" panose="020B0604030504040204" pitchFamily="50" charset="-128"/>
                <a:ea typeface="Meiryo UI" panose="020B0604030504040204" pitchFamily="50" charset="-128"/>
              </a:rPr>
              <a:t>Teams</a:t>
            </a:r>
            <a:r>
              <a:rPr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a:t>
            </a:r>
            <a:endParaRPr kumimoji="1" lang="ja-JP" altLang="en-US" sz="1200" dirty="0">
              <a:solidFill>
                <a:schemeClr val="accent4">
                  <a:lumMod val="65000"/>
                  <a:lumOff val="35000"/>
                </a:schemeClr>
              </a:solidFill>
              <a:latin typeface="Meiryo UI" panose="020B0604030504040204" pitchFamily="50" charset="-128"/>
              <a:ea typeface="Meiryo UI" panose="020B0604030504040204" pitchFamily="50" charset="-128"/>
            </a:endParaRPr>
          </a:p>
        </p:txBody>
      </p:sp>
      <p:pic>
        <p:nvPicPr>
          <p:cNvPr id="9" name="グラフィックス 8">
            <a:extLst>
              <a:ext uri="{FF2B5EF4-FFF2-40B4-BE49-F238E27FC236}">
                <a16:creationId xmlns:a16="http://schemas.microsoft.com/office/drawing/2014/main" id="{7658CA21-B8DF-F2AE-156D-4EF8062DCD19}"/>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8873509" y="2560210"/>
            <a:ext cx="466214" cy="325500"/>
          </a:xfrm>
          <a:prstGeom prst="rect">
            <a:avLst/>
          </a:prstGeom>
        </p:spPr>
      </p:pic>
      <p:grpSp>
        <p:nvGrpSpPr>
          <p:cNvPr id="27" name="グループ化 26">
            <a:extLst>
              <a:ext uri="{FF2B5EF4-FFF2-40B4-BE49-F238E27FC236}">
                <a16:creationId xmlns:a16="http://schemas.microsoft.com/office/drawing/2014/main" id="{07183790-1F01-42BB-F57D-61B053F1844C}"/>
              </a:ext>
            </a:extLst>
          </p:cNvPr>
          <p:cNvGrpSpPr/>
          <p:nvPr/>
        </p:nvGrpSpPr>
        <p:grpSpPr>
          <a:xfrm>
            <a:off x="214632" y="1262859"/>
            <a:ext cx="2604976" cy="2111162"/>
            <a:chOff x="214632" y="1262859"/>
            <a:chExt cx="2604976" cy="2111162"/>
          </a:xfrm>
        </p:grpSpPr>
        <p:sp>
          <p:nvSpPr>
            <p:cNvPr id="48" name="四角形: 角を丸くする 47">
              <a:extLst>
                <a:ext uri="{FF2B5EF4-FFF2-40B4-BE49-F238E27FC236}">
                  <a16:creationId xmlns:a16="http://schemas.microsoft.com/office/drawing/2014/main" id="{5577E6ED-C367-0F66-AB51-E38DFED62ABE}"/>
                </a:ext>
              </a:extLst>
            </p:cNvPr>
            <p:cNvSpPr/>
            <p:nvPr/>
          </p:nvSpPr>
          <p:spPr>
            <a:xfrm>
              <a:off x="214632" y="1410861"/>
              <a:ext cx="2604976" cy="1963160"/>
            </a:xfrm>
            <a:prstGeom prst="roundRect">
              <a:avLst>
                <a:gd name="adj" fmla="val 5704"/>
              </a:avLst>
            </a:prstGeom>
            <a:no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49" name="テキスト ボックス 48">
              <a:extLst>
                <a:ext uri="{FF2B5EF4-FFF2-40B4-BE49-F238E27FC236}">
                  <a16:creationId xmlns:a16="http://schemas.microsoft.com/office/drawing/2014/main" id="{B4F051E9-23E3-2C4E-A102-B3C34D53A0FE}"/>
                </a:ext>
              </a:extLst>
            </p:cNvPr>
            <p:cNvSpPr txBox="1"/>
            <p:nvPr/>
          </p:nvSpPr>
          <p:spPr>
            <a:xfrm>
              <a:off x="591714" y="1279849"/>
              <a:ext cx="1850806" cy="277000"/>
            </a:xfrm>
            <a:prstGeom prst="rect">
              <a:avLst/>
            </a:prstGeom>
            <a:solidFill>
              <a:schemeClr val="bg1"/>
            </a:solidFill>
          </p:spPr>
          <p:txBody>
            <a:bodyPr wrap="square" rtlCol="0" anchor="ctr">
              <a:spAutoFit/>
            </a:bodyPr>
            <a:lstStyle/>
            <a:p>
              <a:pPr algn="ctr"/>
              <a:r>
                <a:rPr kumimoji="1" lang="ja-JP" altLang="en-US" sz="1200" dirty="0">
                  <a:solidFill>
                    <a:schemeClr val="accent4">
                      <a:lumMod val="65000"/>
                      <a:lumOff val="35000"/>
                    </a:schemeClr>
                  </a:solidFill>
                  <a:latin typeface="Meiryo UI" panose="020B0604030504040204" pitchFamily="50" charset="-128"/>
                  <a:ea typeface="Meiryo UI" panose="020B0604030504040204" pitchFamily="50" charset="-128"/>
                </a:rPr>
                <a:t>　　　クラウドサービス</a:t>
              </a:r>
            </a:p>
          </p:txBody>
        </p:sp>
        <p:pic>
          <p:nvPicPr>
            <p:cNvPr id="51" name="グラフィックス 50">
              <a:extLst>
                <a:ext uri="{FF2B5EF4-FFF2-40B4-BE49-F238E27FC236}">
                  <a16:creationId xmlns:a16="http://schemas.microsoft.com/office/drawing/2014/main" id="{4B29F590-47D6-C85C-4F50-931FE508CF13}"/>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89985" y="1262859"/>
              <a:ext cx="466214" cy="325500"/>
            </a:xfrm>
            <a:prstGeom prst="rect">
              <a:avLst/>
            </a:prstGeom>
          </p:spPr>
        </p:pic>
        <p:sp>
          <p:nvSpPr>
            <p:cNvPr id="66" name="正方形/長方形 65">
              <a:extLst>
                <a:ext uri="{FF2B5EF4-FFF2-40B4-BE49-F238E27FC236}">
                  <a16:creationId xmlns:a16="http://schemas.microsoft.com/office/drawing/2014/main" id="{4A7CE70F-7967-C083-6BDE-CFD21D28986D}"/>
                </a:ext>
              </a:extLst>
            </p:cNvPr>
            <p:cNvSpPr/>
            <p:nvPr/>
          </p:nvSpPr>
          <p:spPr>
            <a:xfrm>
              <a:off x="924704" y="1681997"/>
              <a:ext cx="1184832"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Teams</a:t>
              </a:r>
            </a:p>
          </p:txBody>
        </p:sp>
        <p:sp>
          <p:nvSpPr>
            <p:cNvPr id="69" name="正方形/長方形 68">
              <a:extLst>
                <a:ext uri="{FF2B5EF4-FFF2-40B4-BE49-F238E27FC236}">
                  <a16:creationId xmlns:a16="http://schemas.microsoft.com/office/drawing/2014/main" id="{CD143240-5436-8C8A-2489-AC9B68E39E11}"/>
                </a:ext>
              </a:extLst>
            </p:cNvPr>
            <p:cNvSpPr/>
            <p:nvPr/>
          </p:nvSpPr>
          <p:spPr>
            <a:xfrm>
              <a:off x="924704" y="2050259"/>
              <a:ext cx="1184832"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Slack</a:t>
              </a:r>
            </a:p>
          </p:txBody>
        </p:sp>
        <p:sp>
          <p:nvSpPr>
            <p:cNvPr id="70" name="正方形/長方形 69">
              <a:extLst>
                <a:ext uri="{FF2B5EF4-FFF2-40B4-BE49-F238E27FC236}">
                  <a16:creationId xmlns:a16="http://schemas.microsoft.com/office/drawing/2014/main" id="{C4CB019D-3F9C-67D4-6A18-CC58610C11FC}"/>
                </a:ext>
              </a:extLst>
            </p:cNvPr>
            <p:cNvSpPr/>
            <p:nvPr/>
          </p:nvSpPr>
          <p:spPr>
            <a:xfrm>
              <a:off x="924704" y="2418521"/>
              <a:ext cx="1184832" cy="316102"/>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スプシ</a:t>
              </a:r>
              <a:endPar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
          <p:nvSpPr>
            <p:cNvPr id="71" name="正方形/長方形 70">
              <a:extLst>
                <a:ext uri="{FF2B5EF4-FFF2-40B4-BE49-F238E27FC236}">
                  <a16:creationId xmlns:a16="http://schemas.microsoft.com/office/drawing/2014/main" id="{E401389B-F6AF-C5B7-7706-6D952412259B}"/>
                </a:ext>
              </a:extLst>
            </p:cNvPr>
            <p:cNvSpPr/>
            <p:nvPr/>
          </p:nvSpPr>
          <p:spPr>
            <a:xfrm>
              <a:off x="923092" y="2786784"/>
              <a:ext cx="1184832" cy="316102"/>
            </a:xfrm>
            <a:prstGeom prst="rect">
              <a:avLst/>
            </a:prstGeom>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t>
              </a:r>
            </a:p>
          </p:txBody>
        </p:sp>
      </p:grpSp>
      <p:cxnSp>
        <p:nvCxnSpPr>
          <p:cNvPr id="18" name="コネクタ: カギ線 17">
            <a:extLst>
              <a:ext uri="{FF2B5EF4-FFF2-40B4-BE49-F238E27FC236}">
                <a16:creationId xmlns:a16="http://schemas.microsoft.com/office/drawing/2014/main" id="{6E8DFA65-2EA5-24D3-61BE-694E79EDDC15}"/>
              </a:ext>
            </a:extLst>
          </p:cNvPr>
          <p:cNvCxnSpPr>
            <a:cxnSpLocks/>
            <a:stCxn id="12" idx="1"/>
            <a:endCxn id="66" idx="3"/>
          </p:cNvCxnSpPr>
          <p:nvPr/>
        </p:nvCxnSpPr>
        <p:spPr>
          <a:xfrm rot="10800000" flipV="1">
            <a:off x="2109536" y="1835300"/>
            <a:ext cx="2067468" cy="4748"/>
          </a:xfrm>
          <a:prstGeom prst="bentConnector3">
            <a:avLst>
              <a:gd name="adj1" fmla="val 50000"/>
            </a:avLst>
          </a:prstGeom>
          <a:noFill/>
          <a:ln w="6350">
            <a:solidFill>
              <a:schemeClr val="bg1">
                <a:lumMod val="50000"/>
              </a:schemeClr>
            </a:solidFill>
            <a:prstDash val="dash"/>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21" name="コネクタ: カギ線 20">
            <a:extLst>
              <a:ext uri="{FF2B5EF4-FFF2-40B4-BE49-F238E27FC236}">
                <a16:creationId xmlns:a16="http://schemas.microsoft.com/office/drawing/2014/main" id="{09DDD687-BAB3-7E68-39AC-FDDFAD420501}"/>
              </a:ext>
            </a:extLst>
          </p:cNvPr>
          <p:cNvCxnSpPr>
            <a:cxnSpLocks/>
            <a:stCxn id="12" idx="1"/>
            <a:endCxn id="69" idx="3"/>
          </p:cNvCxnSpPr>
          <p:nvPr/>
        </p:nvCxnSpPr>
        <p:spPr>
          <a:xfrm rot="10800000" flipV="1">
            <a:off x="2109536" y="1835300"/>
            <a:ext cx="2067468" cy="373010"/>
          </a:xfrm>
          <a:prstGeom prst="bentConnector3">
            <a:avLst>
              <a:gd name="adj1" fmla="val 50000"/>
            </a:avLst>
          </a:prstGeom>
          <a:noFill/>
          <a:ln w="6350">
            <a:solidFill>
              <a:schemeClr val="bg1">
                <a:lumMod val="50000"/>
              </a:schemeClr>
            </a:solidFill>
            <a:prstDash val="dash"/>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24" name="コネクタ: カギ線 23">
            <a:extLst>
              <a:ext uri="{FF2B5EF4-FFF2-40B4-BE49-F238E27FC236}">
                <a16:creationId xmlns:a16="http://schemas.microsoft.com/office/drawing/2014/main" id="{B0EEB188-8F95-C738-4A79-BD2CAF41B0D6}"/>
              </a:ext>
            </a:extLst>
          </p:cNvPr>
          <p:cNvCxnSpPr>
            <a:cxnSpLocks/>
            <a:stCxn id="12" idx="1"/>
            <a:endCxn id="70" idx="3"/>
          </p:cNvCxnSpPr>
          <p:nvPr/>
        </p:nvCxnSpPr>
        <p:spPr>
          <a:xfrm rot="10800000" flipV="1">
            <a:off x="2109536" y="1835300"/>
            <a:ext cx="2067468" cy="741272"/>
          </a:xfrm>
          <a:prstGeom prst="bentConnector3">
            <a:avLst>
              <a:gd name="adj1" fmla="val 50000"/>
            </a:avLst>
          </a:prstGeom>
          <a:noFill/>
          <a:ln w="6350">
            <a:solidFill>
              <a:schemeClr val="bg1">
                <a:lumMod val="50000"/>
              </a:schemeClr>
            </a:solidFill>
            <a:prstDash val="dash"/>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14" name="フローチャート: 磁気ディスク 13">
            <a:extLst>
              <a:ext uri="{FF2B5EF4-FFF2-40B4-BE49-F238E27FC236}">
                <a16:creationId xmlns:a16="http://schemas.microsoft.com/office/drawing/2014/main" id="{729EC2D9-08F7-DB8D-E044-4D1B45CD436D}"/>
              </a:ext>
            </a:extLst>
          </p:cNvPr>
          <p:cNvSpPr/>
          <p:nvPr/>
        </p:nvSpPr>
        <p:spPr bwMode="auto">
          <a:xfrm>
            <a:off x="6135648" y="1960474"/>
            <a:ext cx="914400" cy="612648"/>
          </a:xfrm>
          <a:prstGeom prst="flowChartMagneticDisk">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r>
              <a:rPr kumimoji="0"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t>n8n</a:t>
            </a: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専用</a:t>
            </a:r>
          </a:p>
        </p:txBody>
      </p:sp>
      <p:sp>
        <p:nvSpPr>
          <p:cNvPr id="16" name="フローチャート: 磁気ディスク 15">
            <a:extLst>
              <a:ext uri="{FF2B5EF4-FFF2-40B4-BE49-F238E27FC236}">
                <a16:creationId xmlns:a16="http://schemas.microsoft.com/office/drawing/2014/main" id="{32286389-71E2-C953-1678-E1072EE03890}"/>
              </a:ext>
            </a:extLst>
          </p:cNvPr>
          <p:cNvSpPr/>
          <p:nvPr/>
        </p:nvSpPr>
        <p:spPr bwMode="auto">
          <a:xfrm>
            <a:off x="6052952" y="2616872"/>
            <a:ext cx="914400" cy="612648"/>
          </a:xfrm>
          <a:prstGeom prst="flowChartMagneticDisk">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584200" fontAlgn="auto" latinLnBrk="1" hangingPunct="0">
              <a:spcBef>
                <a:spcPts val="0"/>
              </a:spcBef>
              <a:spcAft>
                <a:spcPts val="0"/>
              </a:spcAft>
            </a:pPr>
            <a:r>
              <a:rPr kumimoji="0"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案件固有</a:t>
            </a:r>
          </a:p>
        </p:txBody>
      </p:sp>
      <p:cxnSp>
        <p:nvCxnSpPr>
          <p:cNvPr id="17" name="コネクタ: カギ線 16">
            <a:extLst>
              <a:ext uri="{FF2B5EF4-FFF2-40B4-BE49-F238E27FC236}">
                <a16:creationId xmlns:a16="http://schemas.microsoft.com/office/drawing/2014/main" id="{D7656146-19F5-9BC7-BC04-37CFCE877F18}"/>
              </a:ext>
            </a:extLst>
          </p:cNvPr>
          <p:cNvCxnSpPr>
            <a:cxnSpLocks/>
            <a:stCxn id="14" idx="2"/>
            <a:endCxn id="12" idx="3"/>
          </p:cNvCxnSpPr>
          <p:nvPr/>
        </p:nvCxnSpPr>
        <p:spPr>
          <a:xfrm rot="10800000">
            <a:off x="5156204" y="1835300"/>
            <a:ext cx="979444" cy="431498"/>
          </a:xfrm>
          <a:prstGeom prst="bentConnector3">
            <a:avLst>
              <a:gd name="adj1" fmla="val 50000"/>
            </a:avLst>
          </a:prstGeom>
          <a:noFill/>
          <a:ln w="6350">
            <a:solidFill>
              <a:schemeClr val="bg1">
                <a:lumMod val="50000"/>
              </a:schemeClr>
            </a:solidFill>
            <a:prstDash val="dash"/>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22" name="コネクタ: カギ線 21">
            <a:extLst>
              <a:ext uri="{FF2B5EF4-FFF2-40B4-BE49-F238E27FC236}">
                <a16:creationId xmlns:a16="http://schemas.microsoft.com/office/drawing/2014/main" id="{134D0521-D6C7-089C-664A-D5D330F89DC7}"/>
              </a:ext>
            </a:extLst>
          </p:cNvPr>
          <p:cNvCxnSpPr>
            <a:cxnSpLocks/>
            <a:stCxn id="16" idx="2"/>
            <a:endCxn id="12" idx="3"/>
          </p:cNvCxnSpPr>
          <p:nvPr/>
        </p:nvCxnSpPr>
        <p:spPr>
          <a:xfrm rot="10800000">
            <a:off x="5156204" y="1835300"/>
            <a:ext cx="896748" cy="1087896"/>
          </a:xfrm>
          <a:prstGeom prst="bentConnector3">
            <a:avLst>
              <a:gd name="adj1" fmla="val 50000"/>
            </a:avLst>
          </a:prstGeom>
          <a:noFill/>
          <a:ln w="6350">
            <a:solidFill>
              <a:schemeClr val="bg1">
                <a:lumMod val="50000"/>
              </a:schemeClr>
            </a:solidFill>
            <a:prstDash val="dash"/>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30" name="コネクタ: カギ線 29">
            <a:extLst>
              <a:ext uri="{FF2B5EF4-FFF2-40B4-BE49-F238E27FC236}">
                <a16:creationId xmlns:a16="http://schemas.microsoft.com/office/drawing/2014/main" id="{F13F23A7-8D31-8D1A-7CF2-60D765F64342}"/>
              </a:ext>
            </a:extLst>
          </p:cNvPr>
          <p:cNvCxnSpPr>
            <a:cxnSpLocks/>
            <a:stCxn id="16" idx="3"/>
            <a:endCxn id="15" idx="3"/>
          </p:cNvCxnSpPr>
          <p:nvPr/>
        </p:nvCxnSpPr>
        <p:spPr>
          <a:xfrm rot="5400000" flipH="1">
            <a:off x="5535616" y="2254984"/>
            <a:ext cx="595124" cy="1353948"/>
          </a:xfrm>
          <a:prstGeom prst="bentConnector4">
            <a:avLst>
              <a:gd name="adj1" fmla="val -38412"/>
              <a:gd name="adj2" fmla="val 66884"/>
            </a:avLst>
          </a:prstGeom>
          <a:noFill/>
          <a:ln w="6350">
            <a:solidFill>
              <a:schemeClr val="bg1">
                <a:lumMod val="50000"/>
              </a:schemeClr>
            </a:solidFill>
            <a:prstDash val="dash"/>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35" name="コネクタ: カギ線 34">
            <a:extLst>
              <a:ext uri="{FF2B5EF4-FFF2-40B4-BE49-F238E27FC236}">
                <a16:creationId xmlns:a16="http://schemas.microsoft.com/office/drawing/2014/main" id="{9263CA3B-CAF6-DC34-46D7-CB5FAD95C534}"/>
              </a:ext>
            </a:extLst>
          </p:cNvPr>
          <p:cNvCxnSpPr>
            <a:cxnSpLocks/>
            <a:stCxn id="14" idx="2"/>
            <a:endCxn id="15" idx="3"/>
          </p:cNvCxnSpPr>
          <p:nvPr/>
        </p:nvCxnSpPr>
        <p:spPr>
          <a:xfrm rot="10800000" flipV="1">
            <a:off x="5156204" y="2266798"/>
            <a:ext cx="979444" cy="367598"/>
          </a:xfrm>
          <a:prstGeom prst="bentConnector3">
            <a:avLst>
              <a:gd name="adj1" fmla="val 50000"/>
            </a:avLst>
          </a:prstGeom>
          <a:noFill/>
          <a:ln w="6350">
            <a:solidFill>
              <a:schemeClr val="bg1">
                <a:lumMod val="50000"/>
              </a:schemeClr>
            </a:solidFill>
            <a:prstDash val="dash"/>
            <a:headEnd type="triangle"/>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5210116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4162&quot;&gt;&lt;version val=&quot;2703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Y/%m/%d&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gdyTtjIS21a0UPYxunXJr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企画書テンプレートRLS14ver">
  <a:themeElements>
    <a:clrScheme name="ユーザー定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B2B2B2"/>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EECFE"/>
        </a:solidFill>
        <a:ln w="12700" cap="flat" cmpd="sng" algn="ctr">
          <a:solidFill>
            <a:srgbClr val="FF0066"/>
          </a:solidFill>
          <a:prstDash val="solid"/>
          <a:round/>
          <a:headEnd type="none" w="med" len="med"/>
          <a:tailEnd type="none" w="med" len="med"/>
        </a:ln>
        <a:effectLst/>
      </a:spPr>
      <a:bodyPr vert="horz" wrap="square" lIns="0" tIns="72000" rIns="0" bIns="72000" numCol="1" rtlCol="0" anchor="ctr" anchorCtr="0" compatLnSpc="1">
        <a:prstTxWarp prst="textNoShape">
          <a:avLst/>
        </a:prstTxWarp>
      </a:bodyPr>
      <a:lstStyle>
        <a:defPPr algn="ctr" fontAlgn="auto">
          <a:spcBef>
            <a:spcPts val="0"/>
          </a:spcBef>
          <a:spcAft>
            <a:spcPts val="0"/>
          </a:spcAft>
          <a:defRPr kumimoji="0" sz="1100" kern="0" dirty="0" smtClean="0">
            <a:solidFill>
              <a:srgbClr val="FF0066"/>
            </a:solidFill>
            <a:latin typeface="Meiryo UI" panose="020B0604030504040204" pitchFamily="50" charset="-128"/>
            <a:ea typeface="Meiryo UI" panose="020B0604030504040204" pitchFamily="50" charset="-128"/>
            <a:cs typeface="メイリオ" panose="020B0604030504040204" pitchFamily="50" charset="-128"/>
          </a:defRPr>
        </a:defPPr>
      </a:lst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3413</Words>
  <Application>Microsoft Office PowerPoint</Application>
  <PresentationFormat>ワイド画面</PresentationFormat>
  <Paragraphs>655</Paragraphs>
  <Slides>21</Slides>
  <Notes>20</Notes>
  <HiddenSlides>0</HiddenSlides>
  <MMClips>0</MMClips>
  <ScaleCrop>false</ScaleCrop>
  <HeadingPairs>
    <vt:vector size="8" baseType="variant">
      <vt:variant>
        <vt:lpstr>使用されているフォント</vt:lpstr>
      </vt:variant>
      <vt:variant>
        <vt:i4>5</vt:i4>
      </vt:variant>
      <vt:variant>
        <vt:lpstr>テーマ</vt:lpstr>
      </vt:variant>
      <vt:variant>
        <vt:i4>1</vt:i4>
      </vt:variant>
      <vt:variant>
        <vt:lpstr>埋め込まれた OLE サーバー</vt:lpstr>
      </vt:variant>
      <vt:variant>
        <vt:i4>1</vt:i4>
      </vt:variant>
      <vt:variant>
        <vt:lpstr>スライド タイトル</vt:lpstr>
      </vt:variant>
      <vt:variant>
        <vt:i4>21</vt:i4>
      </vt:variant>
    </vt:vector>
  </HeadingPairs>
  <TitlesOfParts>
    <vt:vector size="28" baseType="lpstr">
      <vt:lpstr>Meiryo UI</vt:lpstr>
      <vt:lpstr>MS UI Gothic</vt:lpstr>
      <vt:lpstr>游ゴシック</vt:lpstr>
      <vt:lpstr>Arial</vt:lpstr>
      <vt:lpstr>Wingdings</vt:lpstr>
      <vt:lpstr>企画書テンプレートRLS14ver</vt:lpstr>
      <vt:lpstr>think-cell スライド</vt:lpstr>
      <vt:lpstr>AIエージェント導入進捗状況について</vt:lpstr>
      <vt:lpstr>Agenda</vt:lpstr>
      <vt:lpstr>n8nのBPS導入状況について（１/２）</vt:lpstr>
      <vt:lpstr>n8nのBPS導入状況について（２/２）</vt:lpstr>
      <vt:lpstr>大規模なAIエージェントの展開における目指すべきエコシステムについて</vt:lpstr>
      <vt:lpstr>パートナーに求めるスキル・ノウハウ</vt:lpstr>
      <vt:lpstr>パートナー選定について</vt:lpstr>
      <vt:lpstr>最終的に構築したいAIエージェント・アーキテクチャのイメージ</vt:lpstr>
      <vt:lpstr>LinkX Japan社のノウハウとRの構築実績</vt:lpstr>
      <vt:lpstr>進め方について</vt:lpstr>
      <vt:lpstr>前提：1業務にかかるn8nの内製工数のイメージ</vt:lpstr>
      <vt:lpstr>リソース計画初期フェーズ</vt:lpstr>
      <vt:lpstr>リソース確保プラン</vt:lpstr>
      <vt:lpstr>採用チャネルごとの進め方</vt:lpstr>
      <vt:lpstr>エグゼクティブサマリー</vt:lpstr>
      <vt:lpstr>AIエージェントソリューションのエコシステム</vt:lpstr>
      <vt:lpstr>業務・運営領域</vt:lpstr>
      <vt:lpstr>データ・アセット領域</vt:lpstr>
      <vt:lpstr>可視化・分析領域</vt:lpstr>
      <vt:lpstr>進め方</vt:lpstr>
      <vt:lpstr>AIエージェントの大規模運用に伴う内製の要となるアーキテクチャ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modified xsi:type="dcterms:W3CDTF">2025-11-30T13:18:06Z</dcterms:modified>
</cp:coreProperties>
</file>