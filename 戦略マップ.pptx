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heme/theme5.xml" ContentType="application/vnd.openxmlformats-officedocument.theme+xml"/>
  <Override PartName="/ppt/tags/tag58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87" r:id="rId5"/>
    <p:sldMasterId id="2147483714" r:id="rId6"/>
    <p:sldMasterId id="2147483727" r:id="rId7"/>
  </p:sldMasterIdLst>
  <p:notesMasterIdLst>
    <p:notesMasterId r:id="rId9"/>
  </p:notesMasterIdLst>
  <p:sldIdLst>
    <p:sldId id="2147375830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C74D1B05-F745-4821-9988-6A4753E06D5A}">
          <p14:sldIdLst/>
        </p14:section>
        <p14:section name="説明資料" id="{2DC3D023-5C47-48C9-B61E-01AE25E52B6D}">
          <p14:sldIdLst>
            <p14:sldId id="2147375830"/>
          </p14:sldIdLst>
        </p14:section>
        <p14:section name="APPENDIX" id="{DCD2BAD8-F3B8-4B11-9075-710FFD42517A}">
          <p14:sldIdLst/>
        </p14:section>
        <p14:section name="検討工程でコンサルを入れる理由" id="{4041B254-4071-4DF5-982E-2C3BA481E7FF}">
          <p14:sldIdLst/>
        </p14:section>
        <p14:section name="WORK" id="{B76E4037-F378-4EC6-A0A1-3DED0B85409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965707-383C-1590-7E1E-1CC0529CB55F}" name="大島 靖弘" initials="大靖" userId="S::yasuhiro_oshima@r.recruit.co.jp::28eeaa14-31cc-4ece-87ec-e8962a8a84d4" providerId="AD"/>
  <p188:author id="{6431D53F-952F-5F50-953F-364987793893}" name="柳 健太郎" initials="柳" userId="S::kentaro_yanagi@waku-2.com::e70dbdbe-df40-49ae-a86a-1e8d7be31622" providerId="AD"/>
  <p188:author id="{F1F32761-01E8-6056-7038-BB44C368A65E}" name="廣重 仁美" initials="廣仁" userId="S::hitomi_hiroshige@r.recruit.co.jp::c84703b0-159c-4dcd-9b70-45758aeefaa2" providerId="AD"/>
  <p188:author id="{D24CD376-B6C9-3489-6D9D-E30C1787331D}" name="七田　昌俊" initials="M.S." userId="七田　昌俊" providerId="None"/>
  <p188:author id="{6460BEA9-7274-72F9-072B-5A6B86DB92DA}" name="佐伯 奈々" initials="佐伯" userId="S::nana_saeki@r.recruit.co.jp::4e96e5c6-a182-4590-8066-b53b29189d21" providerId="AD"/>
  <p188:author id="{1C87C6BB-0E83-6D4C-4D1C-CF848BA4275F}" name="紺谷 龍太郎" initials="紺谷" userId="S::ryutaro_konya@waku-2.com::92c16fd9-bfdd-4abc-9dc0-c31ed4ed90b6" providerId="AD"/>
  <p188:author id="{355150C8-2B5B-65E8-B901-E35A8F093439}" name="恒屋 雄治" initials="恒屋" userId="S::y_tsuneya@r.recruit.co.jp::eb5c1709-198a-482d-8458-73fb0d140cd6" providerId="AD"/>
  <p188:author id="{F60350E1-ED74-C168-7D68-2E4689A28705}" name="土久 穂高" initials="土穂" userId="S::do9h@r.recruit.co.jp::43519758-b9b7-42e7-8b1b-732548645f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2B9"/>
    <a:srgbClr val="FFDDDD"/>
    <a:srgbClr val="C2FFF0"/>
    <a:srgbClr val="FFCCFF"/>
    <a:srgbClr val="E7F3FF"/>
    <a:srgbClr val="404040"/>
    <a:srgbClr val="FF6666"/>
    <a:srgbClr val="FFCCCC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7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E2322-BDA3-4EEB-BC4E-E178FFD202E9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8173A-8754-48DB-9150-A006ED359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67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7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0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4" Type="http://schemas.openxmlformats.org/officeDocument/2006/relationships/image" Target="../media/image7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4" Type="http://schemas.openxmlformats.org/officeDocument/2006/relationships/image" Target="../media/image8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4" Type="http://schemas.openxmlformats.org/officeDocument/2006/relationships/image" Target="../media/image9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4" Type="http://schemas.openxmlformats.org/officeDocument/2006/relationships/image" Target="../media/image1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4" Type="http://schemas.openxmlformats.org/officeDocument/2006/relationships/image" Target="../media/image1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3.xml"/><Relationship Id="rId4" Type="http://schemas.openxmlformats.org/officeDocument/2006/relationships/image" Target="../media/image2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4.xml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5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6.xml"/><Relationship Id="rId4" Type="http://schemas.openxmlformats.org/officeDocument/2006/relationships/image" Target="../media/image5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7.xml"/><Relationship Id="rId4" Type="http://schemas.openxmlformats.org/officeDocument/2006/relationships/image" Target="../media/image6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Relationship Id="rId4" Type="http://schemas.openxmlformats.org/officeDocument/2006/relationships/image" Target="../media/image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Relationship Id="rId4" Type="http://schemas.openxmlformats.org/officeDocument/2006/relationships/image" Target="../media/image8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Relationship Id="rId4" Type="http://schemas.openxmlformats.org/officeDocument/2006/relationships/image" Target="../media/image9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Relationship Id="rId4" Type="http://schemas.openxmlformats.org/officeDocument/2006/relationships/image" Target="../media/image10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Relationship Id="rId4" Type="http://schemas.openxmlformats.org/officeDocument/2006/relationships/image" Target="../media/image1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Relationship Id="rId4" Type="http://schemas.openxmlformats.org/officeDocument/2006/relationships/image" Target="../media/image12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6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7.xml"/><Relationship Id="rId4" Type="http://schemas.openxmlformats.org/officeDocument/2006/relationships/image" Target="../media/image2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Relationship Id="rId4" Type="http://schemas.openxmlformats.org/officeDocument/2006/relationships/image" Target="../media/image3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Relationship Id="rId4" Type="http://schemas.openxmlformats.org/officeDocument/2006/relationships/image" Target="../media/image4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Relationship Id="rId4" Type="http://schemas.openxmlformats.org/officeDocument/2006/relationships/image" Target="../media/image5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1.xml"/><Relationship Id="rId4" Type="http://schemas.openxmlformats.org/officeDocument/2006/relationships/image" Target="../media/image6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2.xml"/><Relationship Id="rId4" Type="http://schemas.openxmlformats.org/officeDocument/2006/relationships/image" Target="../media/image7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3.xml"/><Relationship Id="rId4" Type="http://schemas.openxmlformats.org/officeDocument/2006/relationships/image" Target="../media/image8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4.xml"/><Relationship Id="rId4" Type="http://schemas.openxmlformats.org/officeDocument/2006/relationships/image" Target="../media/image9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5.xml"/><Relationship Id="rId4" Type="http://schemas.openxmlformats.org/officeDocument/2006/relationships/image" Target="../media/image10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6.xml"/><Relationship Id="rId4" Type="http://schemas.openxmlformats.org/officeDocument/2006/relationships/image" Target="../media/image1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7.xml"/><Relationship Id="rId4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692364C5-ABC3-0C4F-8E0D-6F66898789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276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692364C5-ABC3-0C4F-8E0D-6F6689878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1445" y="2362200"/>
            <a:ext cx="10363200" cy="1143000"/>
          </a:xfrm>
        </p:spPr>
        <p:txBody>
          <a:bodyPr/>
          <a:lstStyle>
            <a:lvl1pPr algn="r">
              <a:defRPr sz="24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70245" y="3141666"/>
            <a:ext cx="8534400" cy="719137"/>
          </a:xfrm>
        </p:spPr>
        <p:txBody>
          <a:bodyPr/>
          <a:lstStyle>
            <a:lvl1pPr marL="0" indent="0" algn="r">
              <a:spcBef>
                <a:spcPct val="0"/>
              </a:spcBef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323E333F-0F6C-4FC7-A7F3-F21A7CDFE59D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/>
          <p:cNvSpPr/>
          <p:nvPr userDrawn="1"/>
        </p:nvSpPr>
        <p:spPr>
          <a:xfrm flipV="1">
            <a:off x="95333" y="3140971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 b="0" i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8646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2539CB52-F8E0-324D-8D5D-5FB7D93F8C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361565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2539CB52-F8E0-324D-8D5D-5FB7D93F8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6521" y="692699"/>
            <a:ext cx="11525251" cy="1007493"/>
          </a:xfrm>
        </p:spPr>
        <p:txBody>
          <a:bodyPr/>
          <a:lstStyle>
            <a:lvl1pPr marL="265113" indent="-265113">
              <a:buFont typeface="Arial" charset="0"/>
              <a:buChar char="•"/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804833" y="6627168"/>
            <a:ext cx="2540000" cy="230832"/>
          </a:xfrm>
          <a:ln/>
        </p:spPr>
        <p:txBody>
          <a:bodyPr/>
          <a:lstStyle>
            <a:lvl1pPr>
              <a:defRPr sz="11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CFF65B-A8B2-A742-960E-AEE2B0C95AC6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61E06D-0804-AA4D-AD56-81FE58AB9EB9}"/>
              </a:ext>
            </a:extLst>
          </p:cNvPr>
          <p:cNvSpPr txBox="1"/>
          <p:nvPr userDrawn="1"/>
        </p:nvSpPr>
        <p:spPr bwMode="auto">
          <a:xfrm>
            <a:off x="9713699" y="6629400"/>
            <a:ext cx="247375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 2023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922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C17DF3C4-48CE-2A4C-8633-E29AA26FCC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618396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C17DF3C4-48CE-2A4C-8633-E29AA26FCC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2000" b="1" cap="all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CFE70743-B45D-4C2D-9F53-822380FBB92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4253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AFF8BF78-A82D-144F-A06A-BED1933A7A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26729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AFF8BF78-A82D-144F-A06A-BED1933A7A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45535" y="692153"/>
            <a:ext cx="5659967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08702" y="692153"/>
            <a:ext cx="5662084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02576F8-CB8C-4CDF-ACDC-D9135E817F8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711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9B29765F-6ABE-2E4D-B364-7AE8BACD5E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292042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9B29765F-6ABE-2E4D-B364-7AE8BACD5E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28" y="130622"/>
            <a:ext cx="10972800" cy="4180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D9A2BBE0-68D9-49E1-B41C-BF65AA65B2C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350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4164698E-3811-7D49-917E-15A0B950E1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95158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4164698E-3811-7D49-917E-15A0B950E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B6271AF-593C-4C79-9441-ADA0DF590AB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3939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24805EEF-BFD5-7E47-BA23-F01AA4AA67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10125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24805EEF-BFD5-7E47-BA23-F01AA4AA6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853161F5-28EC-49E7-9F6A-699FC97E317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1134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BB5EF93E-423E-0047-AE03-185A4C6EC3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47568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BB5EF93E-423E-0047-AE03-185A4C6EC3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28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2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6120A1F-D72B-4AFE-8DCD-89ACC908B363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3039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F44FC124-4ED1-5944-AD3A-7978DDA840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143560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F44FC124-4ED1-5944-AD3A-7978DDA84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CBEFAA3-D428-4015-B0E7-F87178EBC26E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779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AE9A338-8EF3-E24E-B257-6BFAC36AF9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722011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AE9A338-8EF3-E24E-B257-6BFAC36AF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57521FA-AC5D-4361-92AE-96CAB981DE4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0718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A0440156-9821-C843-B741-1CF8406E45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54062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A0440156-9821-C843-B741-1CF8406E4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79419" y="152403"/>
            <a:ext cx="289136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03202" y="152403"/>
            <a:ext cx="847301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DD5941B-7BC5-40EA-BF7E-4FB4EBB3F66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92182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5213273"/>
              </p:ext>
            </p:extLst>
          </p:nvPr>
        </p:nvGraphicFramePr>
        <p:xfrm>
          <a:off x="1965" y="160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270" imgH="270" progId="TCLayout.ActiveDocument.1">
                  <p:embed/>
                </p:oleObj>
              </mc:Choice>
              <mc:Fallback>
                <p:oleObj name="think-cell スライド" r:id="rId3" imgW="270" imgH="270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" y="1604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タイトル 4"/>
          <p:cNvSpPr>
            <a:spLocks noGrp="1"/>
          </p:cNvSpPr>
          <p:nvPr>
            <p:ph type="title"/>
          </p:nvPr>
        </p:nvSpPr>
        <p:spPr>
          <a:xfrm>
            <a:off x="240000" y="152417"/>
            <a:ext cx="11712000" cy="37941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239741" y="692696"/>
            <a:ext cx="11712543" cy="720000"/>
          </a:xfrm>
          <a:prstGeom prst="rect">
            <a:avLst/>
          </a:prstGeom>
        </p:spPr>
        <p:txBody>
          <a:bodyPr anchor="t"/>
          <a:lstStyle>
            <a:lvl1pPr marL="263776" indent="-263776">
              <a:buClrTx/>
              <a:buFont typeface="Arial" panose="020B0604020202020204" pitchFamily="34" charset="0"/>
              <a:buChar char="•"/>
              <a:defRPr sz="1477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599357" indent="-263776">
              <a:buFont typeface="Wingdings" panose="05000000000000000000" pitchFamily="2" charset="2"/>
              <a:buChar char="ü"/>
              <a:defRPr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1"/>
            <a:endParaRPr kumimoji="1" lang="en-US" altLang="ja-JP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3"/>
          </p:nvPr>
        </p:nvSpPr>
        <p:spPr>
          <a:xfrm>
            <a:off x="239741" y="6309352"/>
            <a:ext cx="11712543" cy="2880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Font typeface="Arial" panose="020B0604020202020204" pitchFamily="34" charset="0"/>
              <a:buNone/>
              <a:defRPr sz="738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335581" indent="0">
              <a:buFont typeface="Wingdings" panose="05000000000000000000" pitchFamily="2" charset="2"/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3136871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11" descr="名称未設定-1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49684" y="5770564"/>
            <a:ext cx="3655483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図 10" descr="リクルート＿パワーポイント＿元データ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1717867" cy="531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7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3874956" y="2557196"/>
            <a:ext cx="6833789" cy="1586089"/>
          </a:xfrm>
        </p:spPr>
        <p:txBody>
          <a:bodyPr/>
          <a:lstStyle>
            <a:lvl1pPr algn="r">
              <a:defRPr sz="2400">
                <a:solidFill>
                  <a:srgbClr val="34464D"/>
                </a:solidFill>
                <a:latin typeface="+mn-ea"/>
                <a:ea typeface="+mn-ea"/>
                <a:cs typeface="ＭＳ ゴシック"/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35607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692364C5-ABC3-0C4F-8E0D-6F66898789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692364C5-ABC3-0C4F-8E0D-6F6689878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1445" y="2362200"/>
            <a:ext cx="10363200" cy="1143000"/>
          </a:xfrm>
        </p:spPr>
        <p:txBody>
          <a:bodyPr/>
          <a:lstStyle>
            <a:lvl1pPr algn="r">
              <a:defRPr sz="24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70245" y="3141666"/>
            <a:ext cx="8534400" cy="719137"/>
          </a:xfrm>
        </p:spPr>
        <p:txBody>
          <a:bodyPr/>
          <a:lstStyle>
            <a:lvl1pPr marL="0" indent="0" algn="r">
              <a:spcBef>
                <a:spcPct val="0"/>
              </a:spcBef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323E333F-0F6C-4FC7-A7F3-F21A7CDFE59D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/>
          <p:cNvSpPr/>
          <p:nvPr userDrawn="1"/>
        </p:nvSpPr>
        <p:spPr>
          <a:xfrm flipV="1">
            <a:off x="95333" y="3140971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 b="0" i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9961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2539CB52-F8E0-324D-8D5D-5FB7D93F8C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2539CB52-F8E0-324D-8D5D-5FB7D93F8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6521" y="692699"/>
            <a:ext cx="11525251" cy="1007493"/>
          </a:xfrm>
        </p:spPr>
        <p:txBody>
          <a:bodyPr/>
          <a:lstStyle>
            <a:lvl1pPr marL="0" indent="0">
              <a:buFont typeface="Arial" charset="0"/>
              <a:buNone/>
              <a:defRPr sz="18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>
              <a:defRPr sz="18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>
              <a:defRPr sz="18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>
              <a:defRPr sz="18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>
              <a:defRPr sz="18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804833" y="6627168"/>
            <a:ext cx="2540000" cy="230832"/>
          </a:xfrm>
          <a:ln/>
        </p:spPr>
        <p:txBody>
          <a:bodyPr/>
          <a:lstStyle>
            <a:lvl1pPr>
              <a:defRPr sz="11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1663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C17DF3C4-48CE-2A4C-8633-E29AA26FCC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C17DF3C4-48CE-2A4C-8633-E29AA26FCC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2000" b="1" cap="all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CFE70743-B45D-4C2D-9F53-822380FBB92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44123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AFF8BF78-A82D-144F-A06A-BED1933A7A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AFF8BF78-A82D-144F-A06A-BED1933A7A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45535" y="692153"/>
            <a:ext cx="5659967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08702" y="692153"/>
            <a:ext cx="5662084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02576F8-CB8C-4CDF-ACDC-D9135E817F8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71586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9B29765F-6ABE-2E4D-B364-7AE8BACD5E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9B29765F-6ABE-2E4D-B364-7AE8BACD5E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28" y="130622"/>
            <a:ext cx="10972800" cy="4180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D9A2BBE0-68D9-49E1-B41C-BF65AA65B2C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300268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4164698E-3811-7D49-917E-15A0B950E1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4164698E-3811-7D49-917E-15A0B950E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B6271AF-593C-4C79-9441-ADA0DF590AB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473686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24805EEF-BFD5-7E47-BA23-F01AA4AA67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24805EEF-BFD5-7E47-BA23-F01AA4AA6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853161F5-28EC-49E7-9F6A-699FC97E317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230147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BB5EF93E-423E-0047-AE03-185A4C6EC3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BB5EF93E-423E-0047-AE03-185A4C6EC3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28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2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6120A1F-D72B-4AFE-8DCD-89ACC908B363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974781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F44FC124-4ED1-5944-AD3A-7978DDA840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F44FC124-4ED1-5944-AD3A-7978DDA84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CBEFAA3-D428-4015-B0E7-F87178EBC26E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66344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AE9A338-8EF3-E24E-B257-6BFAC36AF9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AE9A338-8EF3-E24E-B257-6BFAC36AF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57521FA-AC5D-4361-92AE-96CAB981DE4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283454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A0440156-9821-C843-B741-1CF8406E45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A0440156-9821-C843-B741-1CF8406E4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79419" y="152403"/>
            <a:ext cx="289136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03202" y="152403"/>
            <a:ext cx="847301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DD5941B-7BC5-40EA-BF7E-4FB4EBB3F66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358811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5" y="160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270" imgH="270" progId="TCLayout.ActiveDocument.1">
                  <p:embed/>
                </p:oleObj>
              </mc:Choice>
              <mc:Fallback>
                <p:oleObj name="think-cell スライド" r:id="rId3" imgW="270" imgH="270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" y="1604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タイトル 4"/>
          <p:cNvSpPr>
            <a:spLocks noGrp="1"/>
          </p:cNvSpPr>
          <p:nvPr>
            <p:ph type="title"/>
          </p:nvPr>
        </p:nvSpPr>
        <p:spPr>
          <a:xfrm>
            <a:off x="240000" y="152417"/>
            <a:ext cx="11712000" cy="37941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239741" y="692696"/>
            <a:ext cx="11712543" cy="720000"/>
          </a:xfrm>
          <a:prstGeom prst="rect">
            <a:avLst/>
          </a:prstGeom>
        </p:spPr>
        <p:txBody>
          <a:bodyPr anchor="t"/>
          <a:lstStyle>
            <a:lvl1pPr marL="263776" indent="-263776">
              <a:buClrTx/>
              <a:buFont typeface="Arial" panose="020B0604020202020204" pitchFamily="34" charset="0"/>
              <a:buChar char="•"/>
              <a:defRPr sz="1477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599357" indent="-263776">
              <a:buFont typeface="Wingdings" panose="05000000000000000000" pitchFamily="2" charset="2"/>
              <a:buChar char="ü"/>
              <a:defRPr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1"/>
            <a:endParaRPr kumimoji="1" lang="en-US" altLang="ja-JP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3"/>
          </p:nvPr>
        </p:nvSpPr>
        <p:spPr>
          <a:xfrm>
            <a:off x="239741" y="6309352"/>
            <a:ext cx="11712543" cy="2880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Font typeface="Arial" panose="020B0604020202020204" pitchFamily="34" charset="0"/>
              <a:buNone/>
              <a:defRPr sz="738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335581" indent="0">
              <a:buFont typeface="Wingdings" panose="05000000000000000000" pitchFamily="2" charset="2"/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607070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通常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270" imgH="270" progId="TCLayout.ActiveDocument.1">
                  <p:embed/>
                </p:oleObj>
              </mc:Choice>
              <mc:Fallback>
                <p:oleObj name="think-cell スライド" r:id="rId3" imgW="270" imgH="270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03384" y="5836762"/>
            <a:ext cx="10800862" cy="5457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メッセージの入力（</a:t>
            </a:r>
            <a:r>
              <a:rPr lang="en-US" altLang="ja-JP"/>
              <a:t>50</a:t>
            </a:r>
            <a:r>
              <a:rPr lang="ja-JP" altLang="en-US"/>
              <a:t>文字以内）</a:t>
            </a:r>
            <a:endParaRPr lang="en-US" altLang="ja-JP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7264" y="0"/>
            <a:ext cx="11303332" cy="49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スライドタイトルの入力</a:t>
            </a:r>
          </a:p>
        </p:txBody>
      </p:sp>
    </p:spTree>
    <p:extLst>
      <p:ext uri="{BB962C8B-B14F-4D97-AF65-F5344CB8AC3E}">
        <p14:creationId xmlns:p14="http://schemas.microsoft.com/office/powerpoint/2010/main" val="16142416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692364C5-ABC3-0C4F-8E0D-6F66898789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692364C5-ABC3-0C4F-8E0D-6F6689878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1445" y="2362200"/>
            <a:ext cx="10363200" cy="1143000"/>
          </a:xfrm>
        </p:spPr>
        <p:txBody>
          <a:bodyPr/>
          <a:lstStyle>
            <a:lvl1pPr algn="r">
              <a:defRPr sz="24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70245" y="3141666"/>
            <a:ext cx="8534400" cy="719137"/>
          </a:xfrm>
        </p:spPr>
        <p:txBody>
          <a:bodyPr/>
          <a:lstStyle>
            <a:lvl1pPr marL="0" indent="0" algn="r">
              <a:spcBef>
                <a:spcPct val="0"/>
              </a:spcBef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323E333F-0F6C-4FC7-A7F3-F21A7CDFE59D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/>
          <p:cNvSpPr/>
          <p:nvPr userDrawn="1"/>
        </p:nvSpPr>
        <p:spPr>
          <a:xfrm flipV="1">
            <a:off x="95333" y="3140971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 b="0" i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71070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2539CB52-F8E0-324D-8D5D-5FB7D93F8C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2539CB52-F8E0-324D-8D5D-5FB7D93F8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6521" y="692699"/>
            <a:ext cx="11525251" cy="1007493"/>
          </a:xfrm>
        </p:spPr>
        <p:txBody>
          <a:bodyPr/>
          <a:lstStyle>
            <a:lvl1pPr marL="265113" indent="-265113">
              <a:buFont typeface="Arial" charset="0"/>
              <a:buChar char="•"/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804833" y="6627168"/>
            <a:ext cx="2540000" cy="230832"/>
          </a:xfrm>
          <a:ln/>
        </p:spPr>
        <p:txBody>
          <a:bodyPr/>
          <a:lstStyle>
            <a:lvl1pPr>
              <a:defRPr sz="11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623297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C17DF3C4-48CE-2A4C-8633-E29AA26FCC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C17DF3C4-48CE-2A4C-8633-E29AA26FCC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2000" b="1" cap="all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CFE70743-B45D-4C2D-9F53-822380FBB92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135220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AFF8BF78-A82D-144F-A06A-BED1933A7A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AFF8BF78-A82D-144F-A06A-BED1933A7A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45535" y="692153"/>
            <a:ext cx="5659967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08702" y="692153"/>
            <a:ext cx="5662084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02576F8-CB8C-4CDF-ACDC-D9135E817F8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246056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9B29765F-6ABE-2E4D-B364-7AE8BACD5E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9B29765F-6ABE-2E4D-B364-7AE8BACD5E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28" y="130622"/>
            <a:ext cx="10972800" cy="4180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D9A2BBE0-68D9-49E1-B41C-BF65AA65B2C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898073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4164698E-3811-7D49-917E-15A0B950E1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4164698E-3811-7D49-917E-15A0B950E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B6271AF-593C-4C79-9441-ADA0DF590AB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336251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24805EEF-BFD5-7E47-BA23-F01AA4AA67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24805EEF-BFD5-7E47-BA23-F01AA4AA6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853161F5-28EC-49E7-9F6A-699FC97E317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099703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BB5EF93E-423E-0047-AE03-185A4C6EC3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BB5EF93E-423E-0047-AE03-185A4C6EC3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28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2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6120A1F-D72B-4AFE-8DCD-89ACC908B363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485813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F44FC124-4ED1-5944-AD3A-7978DDA840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F44FC124-4ED1-5944-AD3A-7978DDA84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CBEFAA3-D428-4015-B0E7-F87178EBC26E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421289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AE9A338-8EF3-E24E-B257-6BFAC36AF9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AE9A338-8EF3-E24E-B257-6BFAC36AF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57521FA-AC5D-4361-92AE-96CAB981DE4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370408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A0440156-9821-C843-B741-1CF8406E45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A0440156-9821-C843-B741-1CF8406E4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79419" y="152403"/>
            <a:ext cx="289136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03202" y="152403"/>
            <a:ext cx="847301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DD5941B-7BC5-40EA-BF7E-4FB4EBB3F66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795700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5" y="160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270" imgH="270" progId="TCLayout.ActiveDocument.1">
                  <p:embed/>
                </p:oleObj>
              </mc:Choice>
              <mc:Fallback>
                <p:oleObj name="think-cell スライド" r:id="rId3" imgW="270" imgH="270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" y="1604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タイトル 4"/>
          <p:cNvSpPr>
            <a:spLocks noGrp="1"/>
          </p:cNvSpPr>
          <p:nvPr>
            <p:ph type="title"/>
          </p:nvPr>
        </p:nvSpPr>
        <p:spPr>
          <a:xfrm>
            <a:off x="240000" y="152417"/>
            <a:ext cx="11712000" cy="37941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239741" y="692696"/>
            <a:ext cx="11712543" cy="720000"/>
          </a:xfrm>
          <a:prstGeom prst="rect">
            <a:avLst/>
          </a:prstGeom>
        </p:spPr>
        <p:txBody>
          <a:bodyPr anchor="t"/>
          <a:lstStyle>
            <a:lvl1pPr marL="263776" indent="-263776">
              <a:buClrTx/>
              <a:buFont typeface="Arial" panose="020B0604020202020204" pitchFamily="34" charset="0"/>
              <a:buChar char="•"/>
              <a:defRPr sz="1477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599357" indent="-263776">
              <a:buFont typeface="Wingdings" panose="05000000000000000000" pitchFamily="2" charset="2"/>
              <a:buChar char="ü"/>
              <a:defRPr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1"/>
            <a:endParaRPr kumimoji="1" lang="en-US" altLang="ja-JP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3"/>
          </p:nvPr>
        </p:nvSpPr>
        <p:spPr>
          <a:xfrm>
            <a:off x="239741" y="6309352"/>
            <a:ext cx="11712543" cy="2880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Font typeface="Arial" panose="020B0604020202020204" pitchFamily="34" charset="0"/>
              <a:buNone/>
              <a:defRPr sz="738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335581" indent="0">
              <a:buFont typeface="Wingdings" panose="05000000000000000000" pitchFamily="2" charset="2"/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39203661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692364C5-ABC3-0C4F-8E0D-6F66898789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692364C5-ABC3-0C4F-8E0D-6F6689878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1445" y="2362200"/>
            <a:ext cx="10363200" cy="1143000"/>
          </a:xfrm>
        </p:spPr>
        <p:txBody>
          <a:bodyPr/>
          <a:lstStyle>
            <a:lvl1pPr algn="r">
              <a:defRPr sz="24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70245" y="3141666"/>
            <a:ext cx="8534400" cy="719137"/>
          </a:xfrm>
        </p:spPr>
        <p:txBody>
          <a:bodyPr/>
          <a:lstStyle>
            <a:lvl1pPr marL="0" indent="0" algn="r">
              <a:spcBef>
                <a:spcPct val="0"/>
              </a:spcBef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323E333F-0F6C-4FC7-A7F3-F21A7CDFE59D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/>
          <p:cNvSpPr/>
          <p:nvPr userDrawn="1"/>
        </p:nvSpPr>
        <p:spPr>
          <a:xfrm flipV="1">
            <a:off x="95333" y="3140971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 b="0" i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92047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2539CB52-F8E0-324D-8D5D-5FB7D93F8C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2539CB52-F8E0-324D-8D5D-5FB7D93F8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6521" y="692699"/>
            <a:ext cx="11525251" cy="1007493"/>
          </a:xfrm>
        </p:spPr>
        <p:txBody>
          <a:bodyPr/>
          <a:lstStyle>
            <a:lvl1pPr marL="265113" indent="-265113">
              <a:buFont typeface="Arial" charset="0"/>
              <a:buChar char="•"/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804833" y="6627168"/>
            <a:ext cx="2540000" cy="230832"/>
          </a:xfrm>
          <a:ln/>
        </p:spPr>
        <p:txBody>
          <a:bodyPr/>
          <a:lstStyle>
            <a:lvl1pPr>
              <a:defRPr sz="11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CFF65B-A8B2-A742-960E-AEE2B0C95AC6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61E06D-0804-AA4D-AD56-81FE58AB9EB9}"/>
              </a:ext>
            </a:extLst>
          </p:cNvPr>
          <p:cNvSpPr txBox="1"/>
          <p:nvPr userDrawn="1"/>
        </p:nvSpPr>
        <p:spPr bwMode="auto">
          <a:xfrm>
            <a:off x="9713699" y="6629400"/>
            <a:ext cx="247375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 2020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61890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C17DF3C4-48CE-2A4C-8633-E29AA26FCC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C17DF3C4-48CE-2A4C-8633-E29AA26FCC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2000" b="1" cap="all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CFE70743-B45D-4C2D-9F53-822380FBB92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59694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AFF8BF78-A82D-144F-A06A-BED1933A7A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AFF8BF78-A82D-144F-A06A-BED1933A7A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45535" y="692153"/>
            <a:ext cx="5659967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08702" y="692153"/>
            <a:ext cx="5662084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02576F8-CB8C-4CDF-ACDC-D9135E817F8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96779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9B29765F-6ABE-2E4D-B364-7AE8BACD5E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9B29765F-6ABE-2E4D-B364-7AE8BACD5E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28" y="130622"/>
            <a:ext cx="10972800" cy="4180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D9A2BBE0-68D9-49E1-B41C-BF65AA65B2C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51730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4164698E-3811-7D49-917E-15A0B950E1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4164698E-3811-7D49-917E-15A0B950E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B6271AF-593C-4C79-9441-ADA0DF590AB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633550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24805EEF-BFD5-7E47-BA23-F01AA4AA67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24805EEF-BFD5-7E47-BA23-F01AA4AA6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853161F5-28EC-49E7-9F6A-699FC97E317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015082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BB5EF93E-423E-0047-AE03-185A4C6EC3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BB5EF93E-423E-0047-AE03-185A4C6EC3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28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2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6120A1F-D72B-4AFE-8DCD-89ACC908B363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26433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F44FC124-4ED1-5944-AD3A-7978DDA840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F44FC124-4ED1-5944-AD3A-7978DDA84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CBEFAA3-D428-4015-B0E7-F87178EBC26E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616150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AE9A338-8EF3-E24E-B257-6BFAC36AF9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AE9A338-8EF3-E24E-B257-6BFAC36AF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57521FA-AC5D-4361-92AE-96CAB981DE4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513236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A0440156-9821-C843-B741-1CF8406E45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A0440156-9821-C843-B741-1CF8406E4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79419" y="152403"/>
            <a:ext cx="289136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03202" y="152403"/>
            <a:ext cx="847301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DD5941B-7BC5-40EA-BF7E-4FB4EBB3F66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112670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5" y="160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270" imgH="270" progId="TCLayout.ActiveDocument.1">
                  <p:embed/>
                </p:oleObj>
              </mc:Choice>
              <mc:Fallback>
                <p:oleObj name="think-cell スライド" r:id="rId3" imgW="270" imgH="270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" y="1604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タイトル 4"/>
          <p:cNvSpPr>
            <a:spLocks noGrp="1"/>
          </p:cNvSpPr>
          <p:nvPr>
            <p:ph type="title"/>
          </p:nvPr>
        </p:nvSpPr>
        <p:spPr>
          <a:xfrm>
            <a:off x="240000" y="152417"/>
            <a:ext cx="11712000" cy="37941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239741" y="692696"/>
            <a:ext cx="11712543" cy="720000"/>
          </a:xfrm>
          <a:prstGeom prst="rect">
            <a:avLst/>
          </a:prstGeom>
        </p:spPr>
        <p:txBody>
          <a:bodyPr anchor="t"/>
          <a:lstStyle>
            <a:lvl1pPr marL="263776" indent="-263776">
              <a:buClrTx/>
              <a:buFont typeface="Arial" panose="020B0604020202020204" pitchFamily="34" charset="0"/>
              <a:buChar char="•"/>
              <a:defRPr sz="1477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599357" indent="-263776">
              <a:buFont typeface="Wingdings" panose="05000000000000000000" pitchFamily="2" charset="2"/>
              <a:buChar char="ü"/>
              <a:defRPr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1"/>
            <a:endParaRPr kumimoji="1" lang="en-US" altLang="ja-JP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3"/>
          </p:nvPr>
        </p:nvSpPr>
        <p:spPr>
          <a:xfrm>
            <a:off x="239741" y="6309352"/>
            <a:ext cx="11712543" cy="2880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Font typeface="Arial" panose="020B0604020202020204" pitchFamily="34" charset="0"/>
              <a:buNone/>
              <a:defRPr sz="738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335581" indent="0">
              <a:buFont typeface="Wingdings" panose="05000000000000000000" pitchFamily="2" charset="2"/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84880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NUL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NUL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5.xml"/><Relationship Id="rId16" Type="http://schemas.openxmlformats.org/officeDocument/2006/relationships/tags" Target="../tags/tag16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ags" Target="../tags/tag15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NULL"/><Relationship Id="rId2" Type="http://schemas.openxmlformats.org/officeDocument/2006/relationships/slideLayout" Target="../slideLayouts/slideLayout28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ags" Target="../tags/tag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ags" Target="../tags/tag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image" Target="NULL"/><Relationship Id="rId2" Type="http://schemas.openxmlformats.org/officeDocument/2006/relationships/slideLayout" Target="../slideLayouts/slideLayout40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tags" Target="../tags/tag45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ags" Target="../tags/tag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83E84B6F-E227-A249-B3CD-988C628065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287059294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7" imgW="3886200" imgH="5029200" progId="TCLayout.ActiveDocument.1">
                  <p:embed/>
                </p:oleObj>
              </mc:Choice>
              <mc:Fallback>
                <p:oleObj name="think-cell スライド" r:id="rId17" imgW="3886200" imgH="50292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83E84B6F-E227-A249-B3CD-988C628065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12D9CD71-4F79-BF42-8FF3-F5F2E4E3B1E8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1800" b="0" i="0" baseline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  <a:sym typeface="MS UI Gothic" panose="020B0600070205080204" pitchFamily="34" charset="-128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0125" y="836715"/>
            <a:ext cx="11525251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04833" y="6453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517E3F9-F1F1-46C5-A063-BEDE16EE36C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正方形/長方形 6"/>
          <p:cNvSpPr/>
          <p:nvPr/>
        </p:nvSpPr>
        <p:spPr>
          <a:xfrm flipV="1">
            <a:off x="95331" y="548682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 flipH="1" flipV="1">
            <a:off x="76627" y="6597354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2717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879475" rtl="0" eaLnBrk="1" fontAlgn="base" hangingPunct="1">
        <a:spcBef>
          <a:spcPct val="0"/>
        </a:spcBef>
        <a:spcAft>
          <a:spcPct val="0"/>
        </a:spcAft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  <a:sym typeface="MS UI Gothic" panose="020B0600070205080204" pitchFamily="34" charset="-128"/>
        </a:defRPr>
      </a:lvl1pPr>
      <a:lvl2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2pPr>
      <a:lvl3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3pPr>
      <a:lvl4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4pPr>
      <a:lvl5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5pPr>
      <a:lvl6pPr marL="4572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6pPr>
      <a:lvl7pPr marL="9144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7pPr>
      <a:lvl8pPr marL="13716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8pPr>
      <a:lvl9pPr marL="18288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9pPr>
    </p:titleStyle>
    <p:bodyStyle>
      <a:lvl1pPr marL="265113" indent="-265113" algn="l" defTabSz="879475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1pPr>
      <a:lvl2pPr marL="622300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2pPr>
      <a:lvl3pPr marL="981075" indent="-179388" algn="l" defTabSz="879475" rtl="0" eaLnBrk="1" fontAlgn="base" hangingPunct="1">
        <a:spcBef>
          <a:spcPct val="20000"/>
        </a:spcBef>
        <a:spcAft>
          <a:spcPct val="0"/>
        </a:spcAft>
        <a:buChar char="•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3pPr>
      <a:lvl4pPr marL="1338263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4pPr>
      <a:lvl5pPr marL="17097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5pPr>
      <a:lvl6pPr marL="21669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6241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0813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5385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83E84B6F-E227-A249-B3CD-988C628065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7" imgW="3886200" imgH="5029200" progId="TCLayout.ActiveDocument.1">
                  <p:embed/>
                </p:oleObj>
              </mc:Choice>
              <mc:Fallback>
                <p:oleObj name="think-cell スライド" r:id="rId17" imgW="3886200" imgH="50292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83E84B6F-E227-A249-B3CD-988C628065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12D9CD71-4F79-BF42-8FF3-F5F2E4E3B1E8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1800" b="0" i="0" baseline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  <a:sym typeface="MS UI Gothic" panose="020B0600070205080204" pitchFamily="34" charset="-128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0125" y="836715"/>
            <a:ext cx="11525251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04833" y="6453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517E3F9-F1F1-46C5-A063-BEDE16EE36C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正方形/長方形 6"/>
          <p:cNvSpPr/>
          <p:nvPr/>
        </p:nvSpPr>
        <p:spPr>
          <a:xfrm flipV="1">
            <a:off x="95331" y="548682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 flipH="1" flipV="1">
            <a:off x="76627" y="6597354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959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40" r:id="rId13"/>
  </p:sldLayoutIdLst>
  <p:hf hdr="0" ftr="0" dt="0"/>
  <p:txStyles>
    <p:titleStyle>
      <a:lvl1pPr algn="l" defTabSz="879475" rtl="0" eaLnBrk="1" fontAlgn="base" hangingPunct="1">
        <a:spcBef>
          <a:spcPct val="0"/>
        </a:spcBef>
        <a:spcAft>
          <a:spcPct val="0"/>
        </a:spcAft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  <a:sym typeface="MS UI Gothic" panose="020B0600070205080204" pitchFamily="34" charset="-128"/>
        </a:defRPr>
      </a:lvl1pPr>
      <a:lvl2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2pPr>
      <a:lvl3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3pPr>
      <a:lvl4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4pPr>
      <a:lvl5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5pPr>
      <a:lvl6pPr marL="4572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6pPr>
      <a:lvl7pPr marL="9144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7pPr>
      <a:lvl8pPr marL="13716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8pPr>
      <a:lvl9pPr marL="18288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9pPr>
    </p:titleStyle>
    <p:bodyStyle>
      <a:lvl1pPr marL="265113" indent="-265113" algn="l" defTabSz="879475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1pPr>
      <a:lvl2pPr marL="622300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2pPr>
      <a:lvl3pPr marL="981075" indent="-179388" algn="l" defTabSz="879475" rtl="0" eaLnBrk="1" fontAlgn="base" hangingPunct="1">
        <a:spcBef>
          <a:spcPct val="20000"/>
        </a:spcBef>
        <a:spcAft>
          <a:spcPct val="0"/>
        </a:spcAft>
        <a:buChar char="•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3pPr>
      <a:lvl4pPr marL="1338263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4pPr>
      <a:lvl5pPr marL="17097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5pPr>
      <a:lvl6pPr marL="21669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6241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0813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5385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83E84B6F-E227-A249-B3CD-988C628065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6" imgW="3886200" imgH="5029200" progId="TCLayout.ActiveDocument.1">
                  <p:embed/>
                </p:oleObj>
              </mc:Choice>
              <mc:Fallback>
                <p:oleObj name="think-cell スライド" r:id="rId16" imgW="3886200" imgH="50292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83E84B6F-E227-A249-B3CD-988C628065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12D9CD71-4F79-BF42-8FF3-F5F2E4E3B1E8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1800" b="0" i="0" baseline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  <a:sym typeface="MS UI Gothic" panose="020B0600070205080204" pitchFamily="34" charset="-128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0125" y="836715"/>
            <a:ext cx="11525251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04833" y="6453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517E3F9-F1F1-46C5-A063-BEDE16EE36C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正方形/長方形 6"/>
          <p:cNvSpPr/>
          <p:nvPr/>
        </p:nvSpPr>
        <p:spPr>
          <a:xfrm flipV="1">
            <a:off x="95331" y="548682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 flipH="1" flipV="1">
            <a:off x="76627" y="6597354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258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hdr="0" ftr="0" dt="0"/>
  <p:txStyles>
    <p:titleStyle>
      <a:lvl1pPr algn="l" defTabSz="879475" rtl="0" eaLnBrk="1" fontAlgn="base" hangingPunct="1">
        <a:spcBef>
          <a:spcPct val="0"/>
        </a:spcBef>
        <a:spcAft>
          <a:spcPct val="0"/>
        </a:spcAft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  <a:sym typeface="MS UI Gothic" panose="020B0600070205080204" pitchFamily="34" charset="-128"/>
        </a:defRPr>
      </a:lvl1pPr>
      <a:lvl2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2pPr>
      <a:lvl3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3pPr>
      <a:lvl4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4pPr>
      <a:lvl5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5pPr>
      <a:lvl6pPr marL="4572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6pPr>
      <a:lvl7pPr marL="9144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7pPr>
      <a:lvl8pPr marL="13716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8pPr>
      <a:lvl9pPr marL="18288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9pPr>
    </p:titleStyle>
    <p:bodyStyle>
      <a:lvl1pPr marL="265113" indent="-265113" algn="l" defTabSz="879475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1pPr>
      <a:lvl2pPr marL="622300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2pPr>
      <a:lvl3pPr marL="981075" indent="-179388" algn="l" defTabSz="879475" rtl="0" eaLnBrk="1" fontAlgn="base" hangingPunct="1">
        <a:spcBef>
          <a:spcPct val="20000"/>
        </a:spcBef>
        <a:spcAft>
          <a:spcPct val="0"/>
        </a:spcAft>
        <a:buChar char="•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3pPr>
      <a:lvl4pPr marL="1338263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4pPr>
      <a:lvl5pPr marL="17097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5pPr>
      <a:lvl6pPr marL="21669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6241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0813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5385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83E84B6F-E227-A249-B3CD-988C628065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6" imgW="3886200" imgH="5029200" progId="TCLayout.ActiveDocument.1">
                  <p:embed/>
                </p:oleObj>
              </mc:Choice>
              <mc:Fallback>
                <p:oleObj name="think-cell スライド" r:id="rId16" imgW="3886200" imgH="50292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83E84B6F-E227-A249-B3CD-988C628065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12D9CD71-4F79-BF42-8FF3-F5F2E4E3B1E8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1800" b="0" i="0" baseline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  <a:sym typeface="MS UI Gothic" panose="020B0600070205080204" pitchFamily="34" charset="-128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0125" y="836715"/>
            <a:ext cx="11525251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04833" y="6453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517E3F9-F1F1-46C5-A063-BEDE16EE36C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正方形/長方形 6"/>
          <p:cNvSpPr/>
          <p:nvPr/>
        </p:nvSpPr>
        <p:spPr>
          <a:xfrm flipV="1">
            <a:off x="95331" y="548682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 flipH="1" flipV="1">
            <a:off x="76627" y="6597354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0760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hf hdr="0" ftr="0" dt="0"/>
  <p:txStyles>
    <p:titleStyle>
      <a:lvl1pPr algn="l" defTabSz="879475" rtl="0" eaLnBrk="1" fontAlgn="base" hangingPunct="1">
        <a:spcBef>
          <a:spcPct val="0"/>
        </a:spcBef>
        <a:spcAft>
          <a:spcPct val="0"/>
        </a:spcAft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  <a:sym typeface="MS UI Gothic" panose="020B0600070205080204" pitchFamily="34" charset="-128"/>
        </a:defRPr>
      </a:lvl1pPr>
      <a:lvl2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2pPr>
      <a:lvl3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3pPr>
      <a:lvl4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4pPr>
      <a:lvl5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5pPr>
      <a:lvl6pPr marL="4572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6pPr>
      <a:lvl7pPr marL="9144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7pPr>
      <a:lvl8pPr marL="13716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8pPr>
      <a:lvl9pPr marL="18288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9pPr>
    </p:titleStyle>
    <p:bodyStyle>
      <a:lvl1pPr marL="265113" indent="-265113" algn="l" defTabSz="879475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1pPr>
      <a:lvl2pPr marL="622300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2pPr>
      <a:lvl3pPr marL="981075" indent="-179388" algn="l" defTabSz="879475" rtl="0" eaLnBrk="1" fontAlgn="base" hangingPunct="1">
        <a:spcBef>
          <a:spcPct val="20000"/>
        </a:spcBef>
        <a:spcAft>
          <a:spcPct val="0"/>
        </a:spcAft>
        <a:buChar char="•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3pPr>
      <a:lvl4pPr marL="1338263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4pPr>
      <a:lvl5pPr marL="17097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5pPr>
      <a:lvl6pPr marL="21669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6241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0813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5385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58.xml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44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60" imgH="360" progId="TCLayout.ActiveDocument.1">
                  <p:embed/>
                </p:oleObj>
              </mc:Choice>
              <mc:Fallback>
                <p:oleObj name="think-cell スライド" r:id="rId3" imgW="360" imgH="360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4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44334" y="0"/>
            <a:ext cx="11303332" cy="499222"/>
          </a:xfrm>
        </p:spPr>
        <p:txBody>
          <a:bodyPr vert="horz"/>
          <a:lstStyle/>
          <a:p>
            <a:r>
              <a:rPr lang="ja-JP" altLang="en-US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本プロジェクトの戦略マップと</a:t>
            </a:r>
            <a:r>
              <a:rPr lang="en-US" altLang="ja-JP" kern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LinkX</a:t>
            </a:r>
            <a:r>
              <a:rPr lang="ja-JP" altLang="en-US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社の役割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1D76DEEA-D2DB-314F-2DEC-D86A3B42EDFC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ctr">
              <a:defRPr kumimoji="0" sz="12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fld id="{323E333F-0F6C-4FC7-A7F3-F21A7CDFE59D}" type="slidenum">
              <a:rPr lang="en-US" altLang="ja-JP" smtClean="0"/>
              <a:pPr/>
              <a:t>1</a:t>
            </a:fld>
            <a:endParaRPr lang="en-US" altLang="ja-JP"/>
          </a:p>
        </p:txBody>
      </p:sp>
      <p:sp>
        <p:nvSpPr>
          <p:cNvPr id="4" name="Google Shape;43;p2">
            <a:extLst>
              <a:ext uri="{FF2B5EF4-FFF2-40B4-BE49-F238E27FC236}">
                <a16:creationId xmlns:a16="http://schemas.microsoft.com/office/drawing/2014/main" id="{6BD92820-E8A0-1446-0567-C2F8E1ABA8ED}"/>
              </a:ext>
            </a:extLst>
          </p:cNvPr>
          <p:cNvSpPr/>
          <p:nvPr/>
        </p:nvSpPr>
        <p:spPr>
          <a:xfrm>
            <a:off x="332461" y="622785"/>
            <a:ext cx="11815576" cy="1005840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LinkX</a:t>
            </a:r>
            <a:r>
              <a:rPr lang="ja-JP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社は</a:t>
            </a:r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AI</a:t>
            </a:r>
            <a:r>
              <a:rPr lang="ja-JP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の技術伝承だけでなく、エージェント管理やデータガバナンス含めた基礎技術の要を担う。</a:t>
            </a:r>
            <a:endParaRPr lang="en-US" altLang="ja-JP" dirty="0">
              <a:solidFill>
                <a:schemeClr val="tx1">
                  <a:lumMod val="65000"/>
                  <a:lumOff val="3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7" name="コネクタ: 曲線 26">
            <a:extLst>
              <a:ext uri="{FF2B5EF4-FFF2-40B4-BE49-F238E27FC236}">
                <a16:creationId xmlns:a16="http://schemas.microsoft.com/office/drawing/2014/main" id="{94BD5C51-35CA-1E80-4D6E-31FECAB2968C}"/>
              </a:ext>
            </a:extLst>
          </p:cNvPr>
          <p:cNvCxnSpPr>
            <a:cxnSpLocks/>
            <a:stCxn id="77" idx="0"/>
            <a:endCxn id="73" idx="2"/>
          </p:cNvCxnSpPr>
          <p:nvPr/>
        </p:nvCxnSpPr>
        <p:spPr>
          <a:xfrm rot="5400000" flipH="1" flipV="1">
            <a:off x="6379173" y="1801634"/>
            <a:ext cx="903512" cy="1469858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コネクタ: 曲線 27">
            <a:extLst>
              <a:ext uri="{FF2B5EF4-FFF2-40B4-BE49-F238E27FC236}">
                <a16:creationId xmlns:a16="http://schemas.microsoft.com/office/drawing/2014/main" id="{6D15AAB1-15F6-ED9F-C235-AC808A0353CE}"/>
              </a:ext>
            </a:extLst>
          </p:cNvPr>
          <p:cNvCxnSpPr>
            <a:cxnSpLocks/>
            <a:stCxn id="75" idx="0"/>
            <a:endCxn id="71" idx="2"/>
          </p:cNvCxnSpPr>
          <p:nvPr/>
        </p:nvCxnSpPr>
        <p:spPr>
          <a:xfrm rot="5400000" flipH="1" flipV="1">
            <a:off x="1145025" y="2446916"/>
            <a:ext cx="903512" cy="179294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9AE2D7B-7C52-9AFC-3FA0-6EC2E4BFAAF3}"/>
              </a:ext>
            </a:extLst>
          </p:cNvPr>
          <p:cNvSpPr/>
          <p:nvPr/>
        </p:nvSpPr>
        <p:spPr>
          <a:xfrm>
            <a:off x="330111" y="1238571"/>
            <a:ext cx="11531779" cy="1245467"/>
          </a:xfrm>
          <a:prstGeom prst="roundRect">
            <a:avLst>
              <a:gd name="adj" fmla="val 5704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2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学習と成長の視点</a:t>
            </a:r>
            <a:endParaRPr kumimoji="1" lang="ja-JP" altLang="en-US" sz="1200" b="1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50D2346A-AD0B-B80C-382C-032A0F9D9EB8}"/>
              </a:ext>
            </a:extLst>
          </p:cNvPr>
          <p:cNvSpPr/>
          <p:nvPr/>
        </p:nvSpPr>
        <p:spPr>
          <a:xfrm>
            <a:off x="330111" y="2589088"/>
            <a:ext cx="11531779" cy="1245467"/>
          </a:xfrm>
          <a:prstGeom prst="roundRect">
            <a:avLst>
              <a:gd name="adj" fmla="val 5704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2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内部プロセスの視点</a:t>
            </a:r>
            <a:endParaRPr kumimoji="1" lang="ja-JP" altLang="en-US" sz="1200" b="1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C54487DE-C1C4-3FF4-A99D-17D1A208D50A}"/>
              </a:ext>
            </a:extLst>
          </p:cNvPr>
          <p:cNvSpPr/>
          <p:nvPr/>
        </p:nvSpPr>
        <p:spPr>
          <a:xfrm>
            <a:off x="330111" y="3939605"/>
            <a:ext cx="11531779" cy="1245467"/>
          </a:xfrm>
          <a:prstGeom prst="roundRect">
            <a:avLst>
              <a:gd name="adj" fmla="val 5704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2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顧客（社内ユーザー）の視点</a:t>
            </a:r>
            <a:endParaRPr kumimoji="1" lang="ja-JP" altLang="en-US" sz="1200" b="1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C5CC5BA9-3D41-0186-4CF8-2F90A862DE0B}"/>
              </a:ext>
            </a:extLst>
          </p:cNvPr>
          <p:cNvSpPr/>
          <p:nvPr/>
        </p:nvSpPr>
        <p:spPr>
          <a:xfrm>
            <a:off x="330111" y="5290122"/>
            <a:ext cx="11531779" cy="1245467"/>
          </a:xfrm>
          <a:prstGeom prst="roundRect">
            <a:avLst>
              <a:gd name="adj" fmla="val 5704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2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財務の視点</a:t>
            </a:r>
            <a:endParaRPr kumimoji="1" lang="ja-JP" altLang="en-US" sz="1200" b="1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4" name="コネクタ: 曲線 63">
            <a:extLst>
              <a:ext uri="{FF2B5EF4-FFF2-40B4-BE49-F238E27FC236}">
                <a16:creationId xmlns:a16="http://schemas.microsoft.com/office/drawing/2014/main" id="{E55BB4D2-5E96-FF3E-C575-1FA6E6CC5365}"/>
              </a:ext>
            </a:extLst>
          </p:cNvPr>
          <p:cNvCxnSpPr>
            <a:cxnSpLocks/>
            <a:stCxn id="96" idx="0"/>
            <a:endCxn id="79" idx="2"/>
          </p:cNvCxnSpPr>
          <p:nvPr/>
        </p:nvCxnSpPr>
        <p:spPr>
          <a:xfrm rot="5400000" flipH="1" flipV="1">
            <a:off x="7526389" y="3474793"/>
            <a:ext cx="903512" cy="824575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コネクタ: 曲線 64">
            <a:extLst>
              <a:ext uri="{FF2B5EF4-FFF2-40B4-BE49-F238E27FC236}">
                <a16:creationId xmlns:a16="http://schemas.microsoft.com/office/drawing/2014/main" id="{B5A0541F-AD5E-DA36-5BD7-DAEFDF290B26}"/>
              </a:ext>
            </a:extLst>
          </p:cNvPr>
          <p:cNvCxnSpPr>
            <a:cxnSpLocks/>
            <a:stCxn id="96" idx="0"/>
            <a:endCxn id="77" idx="2"/>
          </p:cNvCxnSpPr>
          <p:nvPr/>
        </p:nvCxnSpPr>
        <p:spPr>
          <a:xfrm rot="16200000" flipV="1">
            <a:off x="6379173" y="3152151"/>
            <a:ext cx="903512" cy="1469858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1634BB0E-5F92-489A-01A9-E9A7277702EB}"/>
              </a:ext>
            </a:extLst>
          </p:cNvPr>
          <p:cNvSpPr/>
          <p:nvPr/>
        </p:nvSpPr>
        <p:spPr>
          <a:xfrm>
            <a:off x="669386" y="1637802"/>
            <a:ext cx="2034083" cy="447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AI</a:t>
            </a: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内製化部隊の構築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1" dirty="0" err="1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LinkX</a:t>
            </a:r>
            <a:r>
              <a:rPr kumimoji="0" lang="ja-JP" altLang="en-US" sz="10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社：技術伝承</a:t>
            </a:r>
            <a:endParaRPr kumimoji="0" lang="ja-JP" altLang="en-US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AADEAC9-7493-DD39-894A-A1030AECBFE9}"/>
              </a:ext>
            </a:extLst>
          </p:cNvPr>
          <p:cNvSpPr/>
          <p:nvPr/>
        </p:nvSpPr>
        <p:spPr>
          <a:xfrm>
            <a:off x="3609101" y="1637802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AI</a:t>
            </a: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活用・推進の文化・マインド醸成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7582F0CF-CF8C-224D-6481-9078473892FA}"/>
              </a:ext>
            </a:extLst>
          </p:cNvPr>
          <p:cNvSpPr/>
          <p:nvPr/>
        </p:nvSpPr>
        <p:spPr>
          <a:xfrm>
            <a:off x="6548816" y="1637802"/>
            <a:ext cx="2034083" cy="447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技術標準化（</a:t>
            </a:r>
            <a:r>
              <a:rPr kumimoji="0" lang="en-US" altLang="ja-JP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n8n×AI</a:t>
            </a: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基盤）</a:t>
            </a:r>
            <a:endParaRPr kumimoji="0" lang="en-US" altLang="ja-JP" sz="10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1" i="0" u="none" strike="noStrike" cap="none" spc="0" normalizeH="0" baseline="0" dirty="0" err="1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LinkX</a:t>
            </a:r>
            <a:r>
              <a:rPr kumimoji="0" lang="ja-JP" altLang="en-US" sz="1000" b="1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社：設計</a:t>
            </a:r>
            <a:endParaRPr kumimoji="0" lang="en-US" altLang="ja-JP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5CC53CED-B6A6-EA57-DDB8-8C99EE2D7A63}"/>
              </a:ext>
            </a:extLst>
          </p:cNvPr>
          <p:cNvSpPr/>
          <p:nvPr/>
        </p:nvSpPr>
        <p:spPr>
          <a:xfrm>
            <a:off x="9488531" y="1637802"/>
            <a:ext cx="2034083" cy="447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データガバナンス整備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1" dirty="0" err="1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LinkX</a:t>
            </a:r>
            <a:r>
              <a:rPr kumimoji="0" lang="ja-JP" altLang="en-US" sz="10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社：必須要素の整理</a:t>
            </a:r>
            <a:endParaRPr kumimoji="0" lang="ja-JP" altLang="en-US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A9ABDD07-9EDB-19B4-6040-98DAB890849D}"/>
              </a:ext>
            </a:extLst>
          </p:cNvPr>
          <p:cNvSpPr/>
          <p:nvPr/>
        </p:nvSpPr>
        <p:spPr>
          <a:xfrm>
            <a:off x="490092" y="2988319"/>
            <a:ext cx="2034083" cy="447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n8n</a:t>
            </a: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による業務自動化基盤構築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algn="ctr" defTabSz="584200" latinLnBrk="1" hangingPunct="0"/>
            <a:r>
              <a:rPr kumimoji="0" lang="en-US" altLang="ja-JP" sz="1000" b="1" dirty="0" err="1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LinkX</a:t>
            </a:r>
            <a:r>
              <a:rPr kumimoji="0" lang="ja-JP" altLang="en-US" sz="10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社：構築支援</a:t>
            </a:r>
            <a:endParaRPr kumimoji="0" lang="ja-JP" altLang="en-US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F1A9A1E-BF10-4FE7-C74F-FA74A5DA2966}"/>
              </a:ext>
            </a:extLst>
          </p:cNvPr>
          <p:cNvSpPr/>
          <p:nvPr/>
        </p:nvSpPr>
        <p:spPr>
          <a:xfrm>
            <a:off x="2784525" y="2988319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継続的業務改善（</a:t>
            </a:r>
            <a:r>
              <a:rPr kumimoji="0" lang="en-US" altLang="ja-JP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PDCA</a:t>
            </a: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）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0F813713-85FC-680D-4229-0028821CF430}"/>
              </a:ext>
            </a:extLst>
          </p:cNvPr>
          <p:cNvSpPr/>
          <p:nvPr/>
        </p:nvSpPr>
        <p:spPr>
          <a:xfrm>
            <a:off x="5078958" y="2988319"/>
            <a:ext cx="2034083" cy="447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n8n×AI</a:t>
            </a: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エージェント統合基盤構築</a:t>
            </a:r>
            <a:endParaRPr kumimoji="0" lang="en-US" altLang="ja-JP" sz="10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1" i="0" u="none" strike="noStrike" cap="none" spc="0" normalizeH="0" baseline="0" dirty="0" err="1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LinkX</a:t>
            </a:r>
            <a:r>
              <a:rPr kumimoji="0" lang="ja-JP" altLang="en-US" sz="1000" b="1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社：設計・構築支援</a:t>
            </a:r>
            <a:endParaRPr kumimoji="0" lang="en-US" altLang="ja-JP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7D249954-85F0-FA67-CE68-8E1708A15777}"/>
              </a:ext>
            </a:extLst>
          </p:cNvPr>
          <p:cNvSpPr/>
          <p:nvPr/>
        </p:nvSpPr>
        <p:spPr>
          <a:xfrm>
            <a:off x="9667825" y="2988319"/>
            <a:ext cx="2034083" cy="447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AI</a:t>
            </a: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エージェント管理・統制基盤構築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1" dirty="0" err="1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LinkX</a:t>
            </a:r>
            <a:r>
              <a:rPr kumimoji="0" lang="ja-JP" altLang="en-US" sz="10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社：設計・構築支援</a:t>
            </a:r>
            <a:endParaRPr kumimoji="0" lang="ja-JP" altLang="en-US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0D93B05E-039C-3F41-043C-CEF4DCAF541E}"/>
              </a:ext>
            </a:extLst>
          </p:cNvPr>
          <p:cNvSpPr/>
          <p:nvPr/>
        </p:nvSpPr>
        <p:spPr>
          <a:xfrm>
            <a:off x="7373391" y="2988319"/>
            <a:ext cx="2034083" cy="447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データ</a:t>
            </a: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フロー可視化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1" dirty="0" err="1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LinkX</a:t>
            </a:r>
            <a:r>
              <a:rPr kumimoji="0" lang="ja-JP" altLang="en-US" sz="10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社：基礎の定義</a:t>
            </a:r>
            <a:endParaRPr kumimoji="0" lang="ja-JP" altLang="en-US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cxnSp>
        <p:nvCxnSpPr>
          <p:cNvPr id="83" name="コネクタ: 曲線 82">
            <a:extLst>
              <a:ext uri="{FF2B5EF4-FFF2-40B4-BE49-F238E27FC236}">
                <a16:creationId xmlns:a16="http://schemas.microsoft.com/office/drawing/2014/main" id="{19D7413D-F820-942E-F261-E19425C75935}"/>
              </a:ext>
            </a:extLst>
          </p:cNvPr>
          <p:cNvCxnSpPr>
            <a:cxnSpLocks/>
            <a:stCxn id="76" idx="0"/>
            <a:endCxn id="72" idx="2"/>
          </p:cNvCxnSpPr>
          <p:nvPr/>
        </p:nvCxnSpPr>
        <p:spPr>
          <a:xfrm rot="5400000" flipH="1" flipV="1">
            <a:off x="3762099" y="2124275"/>
            <a:ext cx="903512" cy="824576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コネクタ: 曲線 87">
            <a:extLst>
              <a:ext uri="{FF2B5EF4-FFF2-40B4-BE49-F238E27FC236}">
                <a16:creationId xmlns:a16="http://schemas.microsoft.com/office/drawing/2014/main" id="{E270DF63-D0DC-C105-9041-8F864A4E9219}"/>
              </a:ext>
            </a:extLst>
          </p:cNvPr>
          <p:cNvCxnSpPr>
            <a:cxnSpLocks/>
            <a:stCxn id="78" idx="0"/>
            <a:endCxn id="73" idx="2"/>
          </p:cNvCxnSpPr>
          <p:nvPr/>
        </p:nvCxnSpPr>
        <p:spPr>
          <a:xfrm rot="16200000" flipV="1">
            <a:off x="8673607" y="977058"/>
            <a:ext cx="903512" cy="3119009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AA6071D4-6B7E-15B4-6760-28956657E368}"/>
              </a:ext>
            </a:extLst>
          </p:cNvPr>
          <p:cNvCxnSpPr>
            <a:cxnSpLocks/>
            <a:stCxn id="79" idx="0"/>
            <a:endCxn id="74" idx="2"/>
          </p:cNvCxnSpPr>
          <p:nvPr/>
        </p:nvCxnSpPr>
        <p:spPr>
          <a:xfrm rot="5400000" flipH="1" flipV="1">
            <a:off x="8996247" y="1478993"/>
            <a:ext cx="903512" cy="2115140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A814319A-4A73-9B28-0F7C-94A584D3C578}"/>
              </a:ext>
            </a:extLst>
          </p:cNvPr>
          <p:cNvSpPr/>
          <p:nvPr/>
        </p:nvSpPr>
        <p:spPr>
          <a:xfrm>
            <a:off x="6548816" y="4338836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業務の透明性向上</a:t>
            </a:r>
            <a:endParaRPr kumimoji="0" lang="en-US" altLang="ja-JP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CABDFEB5-3331-F02A-880D-410E29DE18D9}"/>
              </a:ext>
            </a:extLst>
          </p:cNvPr>
          <p:cNvSpPr/>
          <p:nvPr/>
        </p:nvSpPr>
        <p:spPr>
          <a:xfrm>
            <a:off x="9488531" y="4338836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AI</a:t>
            </a: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エージェント改善による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業務高度化の推進</a:t>
            </a:r>
            <a:endParaRPr kumimoji="0" lang="en-US" altLang="ja-JP" sz="100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cxnSp>
        <p:nvCxnSpPr>
          <p:cNvPr id="99" name="コネクタ: 曲線 98">
            <a:extLst>
              <a:ext uri="{FF2B5EF4-FFF2-40B4-BE49-F238E27FC236}">
                <a16:creationId xmlns:a16="http://schemas.microsoft.com/office/drawing/2014/main" id="{687B8041-2393-4827-C09C-704A55675F72}"/>
              </a:ext>
            </a:extLst>
          </p:cNvPr>
          <p:cNvCxnSpPr>
            <a:cxnSpLocks/>
            <a:stCxn id="94" idx="0"/>
            <a:endCxn id="76" idx="2"/>
          </p:cNvCxnSpPr>
          <p:nvPr/>
        </p:nvCxnSpPr>
        <p:spPr>
          <a:xfrm rot="5400000" flipH="1" flipV="1">
            <a:off x="2345115" y="2776637"/>
            <a:ext cx="797765" cy="2115140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コネクタ: 曲線 102">
            <a:extLst>
              <a:ext uri="{FF2B5EF4-FFF2-40B4-BE49-F238E27FC236}">
                <a16:creationId xmlns:a16="http://schemas.microsoft.com/office/drawing/2014/main" id="{15D023D9-9068-ADBB-99EE-704F2C1FFAF2}"/>
              </a:ext>
            </a:extLst>
          </p:cNvPr>
          <p:cNvCxnSpPr>
            <a:cxnSpLocks/>
            <a:stCxn id="94" idx="0"/>
            <a:endCxn id="75" idx="2"/>
          </p:cNvCxnSpPr>
          <p:nvPr/>
        </p:nvCxnSpPr>
        <p:spPr>
          <a:xfrm rot="16200000" flipV="1">
            <a:off x="1197899" y="3744560"/>
            <a:ext cx="797765" cy="179293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7EBF007F-41B2-7283-EEBB-42392D1B407A}"/>
              </a:ext>
            </a:extLst>
          </p:cNvPr>
          <p:cNvSpPr/>
          <p:nvPr/>
        </p:nvSpPr>
        <p:spPr>
          <a:xfrm>
            <a:off x="669385" y="4233089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AI</a:t>
            </a: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エージェントの業務支援による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バックオフィス業務負荷軽減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3EBB6C0C-3049-E297-6AC6-8262E2E0787B}"/>
              </a:ext>
            </a:extLst>
          </p:cNvPr>
          <p:cNvSpPr/>
          <p:nvPr/>
        </p:nvSpPr>
        <p:spPr>
          <a:xfrm>
            <a:off x="3609101" y="4485087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高付加価値業務へのシフト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cxnSp>
        <p:nvCxnSpPr>
          <p:cNvPr id="106" name="コネクタ: 曲線 105">
            <a:extLst>
              <a:ext uri="{FF2B5EF4-FFF2-40B4-BE49-F238E27FC236}">
                <a16:creationId xmlns:a16="http://schemas.microsoft.com/office/drawing/2014/main" id="{76F6F8EF-2F97-9745-7DC0-6B0191E67677}"/>
              </a:ext>
            </a:extLst>
          </p:cNvPr>
          <p:cNvCxnSpPr>
            <a:cxnSpLocks/>
            <a:stCxn id="95" idx="1"/>
            <a:endCxn id="94" idx="3"/>
          </p:cNvCxnSpPr>
          <p:nvPr/>
        </p:nvCxnSpPr>
        <p:spPr>
          <a:xfrm rot="10800000">
            <a:off x="2703469" y="4456592"/>
            <a:ext cx="905633" cy="251998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コネクタ: 曲線 114">
            <a:extLst>
              <a:ext uri="{FF2B5EF4-FFF2-40B4-BE49-F238E27FC236}">
                <a16:creationId xmlns:a16="http://schemas.microsoft.com/office/drawing/2014/main" id="{7285B1A3-887E-A50E-4250-27292598443E}"/>
              </a:ext>
            </a:extLst>
          </p:cNvPr>
          <p:cNvCxnSpPr>
            <a:cxnSpLocks/>
            <a:stCxn id="97" idx="0"/>
            <a:endCxn id="78" idx="2"/>
          </p:cNvCxnSpPr>
          <p:nvPr/>
        </p:nvCxnSpPr>
        <p:spPr>
          <a:xfrm rot="5400000" flipH="1" flipV="1">
            <a:off x="10143464" y="3797433"/>
            <a:ext cx="903512" cy="179294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AA4AA65C-95A2-3F4E-6609-3F3FC93ACD5F}"/>
              </a:ext>
            </a:extLst>
          </p:cNvPr>
          <p:cNvSpPr/>
          <p:nvPr/>
        </p:nvSpPr>
        <p:spPr>
          <a:xfrm>
            <a:off x="490092" y="5689353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業務コストの削減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AA16DFD9-8DDA-B84F-7F94-088BA197D939}"/>
              </a:ext>
            </a:extLst>
          </p:cNvPr>
          <p:cNvSpPr/>
          <p:nvPr/>
        </p:nvSpPr>
        <p:spPr>
          <a:xfrm>
            <a:off x="2784525" y="5689353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外注費削減（内製化効果）</a:t>
            </a:r>
            <a:endParaRPr kumimoji="0" lang="en-US" altLang="ja-JP" sz="1000" b="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6429284-1CFC-F3D5-45FA-1A41A5BD8EBC}"/>
              </a:ext>
            </a:extLst>
          </p:cNvPr>
          <p:cNvSpPr/>
          <p:nvPr/>
        </p:nvSpPr>
        <p:spPr>
          <a:xfrm>
            <a:off x="5078957" y="5635953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関節業務生産性向上</a:t>
            </a:r>
            <a:endParaRPr kumimoji="0" lang="en-US" altLang="ja-JP" sz="10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18BF20E-460C-98FD-B6DD-BBED97787A85}"/>
              </a:ext>
            </a:extLst>
          </p:cNvPr>
          <p:cNvSpPr/>
          <p:nvPr/>
        </p:nvSpPr>
        <p:spPr>
          <a:xfrm>
            <a:off x="9667824" y="5635953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AI</a:t>
            </a: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エージェント・データ活用による</a:t>
            </a:r>
            <a:br>
              <a:rPr kumimoji="0" lang="en-US" altLang="ja-JP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意思決定高度化</a:t>
            </a:r>
            <a:endParaRPr kumimoji="0" lang="ja-JP" altLang="en-US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8C39202B-1D22-D45A-F354-DD16222CDA30}"/>
              </a:ext>
            </a:extLst>
          </p:cNvPr>
          <p:cNvSpPr/>
          <p:nvPr/>
        </p:nvSpPr>
        <p:spPr>
          <a:xfrm>
            <a:off x="7373391" y="5859455"/>
            <a:ext cx="2034083" cy="44700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AI</a:t>
            </a: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投資の資産化（</a:t>
            </a:r>
            <a:r>
              <a:rPr kumimoji="0" lang="en-US" altLang="ja-JP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ROI</a:t>
            </a:r>
            <a:r>
              <a:rPr kumimoji="0" lang="ja-JP" altLang="en-US" sz="10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最大化）</a:t>
            </a:r>
            <a:endParaRPr kumimoji="0" lang="ja-JP" altLang="en-US" sz="1000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cxnSp>
        <p:nvCxnSpPr>
          <p:cNvPr id="138" name="コネクタ: 曲線 137">
            <a:extLst>
              <a:ext uri="{FF2B5EF4-FFF2-40B4-BE49-F238E27FC236}">
                <a16:creationId xmlns:a16="http://schemas.microsoft.com/office/drawing/2014/main" id="{19F17207-2B78-7B56-3F46-D08F02FA46DB}"/>
              </a:ext>
            </a:extLst>
          </p:cNvPr>
          <p:cNvCxnSpPr>
            <a:cxnSpLocks/>
            <a:stCxn id="132" idx="0"/>
            <a:endCxn id="94" idx="2"/>
          </p:cNvCxnSpPr>
          <p:nvPr/>
        </p:nvCxnSpPr>
        <p:spPr>
          <a:xfrm rot="5400000" flipH="1" flipV="1">
            <a:off x="1092151" y="5095078"/>
            <a:ext cx="1009259" cy="179293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1" name="コネクタ: 曲線 140">
            <a:extLst>
              <a:ext uri="{FF2B5EF4-FFF2-40B4-BE49-F238E27FC236}">
                <a16:creationId xmlns:a16="http://schemas.microsoft.com/office/drawing/2014/main" id="{56CC89F4-0C5F-5BAE-7E6B-AE6F6594CC1C}"/>
              </a:ext>
            </a:extLst>
          </p:cNvPr>
          <p:cNvCxnSpPr>
            <a:cxnSpLocks/>
            <a:stCxn id="133" idx="0"/>
            <a:endCxn id="94" idx="2"/>
          </p:cNvCxnSpPr>
          <p:nvPr/>
        </p:nvCxnSpPr>
        <p:spPr>
          <a:xfrm rot="16200000" flipV="1">
            <a:off x="2239368" y="4127154"/>
            <a:ext cx="1009259" cy="2115140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コネクタ: 曲線 144">
            <a:extLst>
              <a:ext uri="{FF2B5EF4-FFF2-40B4-BE49-F238E27FC236}">
                <a16:creationId xmlns:a16="http://schemas.microsoft.com/office/drawing/2014/main" id="{7678CF0D-F62C-8F69-9F2B-CA327F9512E7}"/>
              </a:ext>
            </a:extLst>
          </p:cNvPr>
          <p:cNvCxnSpPr>
            <a:cxnSpLocks/>
            <a:stCxn id="135" idx="0"/>
            <a:endCxn id="96" idx="2"/>
          </p:cNvCxnSpPr>
          <p:nvPr/>
        </p:nvCxnSpPr>
        <p:spPr>
          <a:xfrm rot="16200000" flipV="1">
            <a:off x="8700306" y="3651393"/>
            <a:ext cx="850112" cy="3119008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8" name="コネクタ: 曲線 147">
            <a:extLst>
              <a:ext uri="{FF2B5EF4-FFF2-40B4-BE49-F238E27FC236}">
                <a16:creationId xmlns:a16="http://schemas.microsoft.com/office/drawing/2014/main" id="{BAB306B8-0BCB-19D8-1D39-8D93C0639DF6}"/>
              </a:ext>
            </a:extLst>
          </p:cNvPr>
          <p:cNvCxnSpPr>
            <a:cxnSpLocks/>
            <a:stCxn id="134" idx="0"/>
            <a:endCxn id="95" idx="2"/>
          </p:cNvCxnSpPr>
          <p:nvPr/>
        </p:nvCxnSpPr>
        <p:spPr>
          <a:xfrm rot="16200000" flipV="1">
            <a:off x="5009141" y="4549095"/>
            <a:ext cx="703861" cy="1469856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コネクタ: 曲線 152">
            <a:extLst>
              <a:ext uri="{FF2B5EF4-FFF2-40B4-BE49-F238E27FC236}">
                <a16:creationId xmlns:a16="http://schemas.microsoft.com/office/drawing/2014/main" id="{6E256812-7350-7CE7-9E89-495C717D4369}"/>
              </a:ext>
            </a:extLst>
          </p:cNvPr>
          <p:cNvCxnSpPr>
            <a:cxnSpLocks/>
            <a:stCxn id="134" idx="0"/>
            <a:endCxn id="94" idx="2"/>
          </p:cNvCxnSpPr>
          <p:nvPr/>
        </p:nvCxnSpPr>
        <p:spPr>
          <a:xfrm rot="16200000" flipV="1">
            <a:off x="3413284" y="2953238"/>
            <a:ext cx="955859" cy="4409572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7" name="コネクタ: 曲線 156">
            <a:extLst>
              <a:ext uri="{FF2B5EF4-FFF2-40B4-BE49-F238E27FC236}">
                <a16:creationId xmlns:a16="http://schemas.microsoft.com/office/drawing/2014/main" id="{184805E3-5123-0771-F2A4-A50F58DD62CE}"/>
              </a:ext>
            </a:extLst>
          </p:cNvPr>
          <p:cNvCxnSpPr>
            <a:cxnSpLocks/>
            <a:stCxn id="135" idx="0"/>
            <a:endCxn id="97" idx="2"/>
          </p:cNvCxnSpPr>
          <p:nvPr/>
        </p:nvCxnSpPr>
        <p:spPr>
          <a:xfrm rot="16200000" flipV="1">
            <a:off x="10170164" y="5121250"/>
            <a:ext cx="850112" cy="179293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コネクタ: 曲線 163">
            <a:extLst>
              <a:ext uri="{FF2B5EF4-FFF2-40B4-BE49-F238E27FC236}">
                <a16:creationId xmlns:a16="http://schemas.microsoft.com/office/drawing/2014/main" id="{11EABFC4-ED73-CF34-946C-9FD930422D4C}"/>
              </a:ext>
            </a:extLst>
          </p:cNvPr>
          <p:cNvCxnSpPr>
            <a:cxnSpLocks/>
            <a:stCxn id="136" idx="3"/>
            <a:endCxn id="135" idx="1"/>
          </p:cNvCxnSpPr>
          <p:nvPr/>
        </p:nvCxnSpPr>
        <p:spPr>
          <a:xfrm flipV="1">
            <a:off x="9407474" y="5859456"/>
            <a:ext cx="260350" cy="223502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7" name="コネクタ: 曲線 166">
            <a:extLst>
              <a:ext uri="{FF2B5EF4-FFF2-40B4-BE49-F238E27FC236}">
                <a16:creationId xmlns:a16="http://schemas.microsoft.com/office/drawing/2014/main" id="{098145CB-E148-B44F-916F-0F667DC04506}"/>
              </a:ext>
            </a:extLst>
          </p:cNvPr>
          <p:cNvCxnSpPr>
            <a:cxnSpLocks/>
            <a:stCxn id="136" idx="1"/>
            <a:endCxn id="134" idx="3"/>
          </p:cNvCxnSpPr>
          <p:nvPr/>
        </p:nvCxnSpPr>
        <p:spPr>
          <a:xfrm rot="10800000">
            <a:off x="7113041" y="5859456"/>
            <a:ext cx="260351" cy="223502"/>
          </a:xfrm>
          <a:prstGeom prst="curved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F4846D5C-7537-6867-DFDA-8064A83F02D4}"/>
              </a:ext>
            </a:extLst>
          </p:cNvPr>
          <p:cNvSpPr/>
          <p:nvPr/>
        </p:nvSpPr>
        <p:spPr>
          <a:xfrm>
            <a:off x="11013682" y="1014413"/>
            <a:ext cx="847985" cy="2069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00" b="0" i="0" u="none" strike="noStrike" cap="none" spc="0" normalizeH="0" baseline="0" dirty="0" err="1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LinkX</a:t>
            </a:r>
            <a:r>
              <a:rPr kumimoji="0" lang="ja-JP" altLang="en-US" sz="10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5000"/>
                    <a:lumOff val="35000"/>
                  </a:schemeClr>
                </a:solidFill>
                <a:effectLst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社範囲</a:t>
            </a:r>
            <a:endParaRPr kumimoji="0" lang="en-US" altLang="ja-JP" sz="1000" b="1" i="0" u="none" strike="noStrike" cap="none" spc="0" normalizeH="0" baseline="0" dirty="0">
              <a:ln>
                <a:noFill/>
              </a:ln>
              <a:solidFill>
                <a:schemeClr val="accent4">
                  <a:lumMod val="65000"/>
                  <a:lumOff val="35000"/>
                </a:schemeClr>
              </a:solidFill>
              <a:effectLst/>
              <a:uFillTx/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39361099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potWIdYMJl6F809y9Vx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potWIdYMJl6F809y9Vx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potWIdYMJl6F809y9V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potWIdYMJl6F809y9Vx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企画書テンプレートRLS14ver">
  <a:themeElements>
    <a:clrScheme name="3_JJ Division 企画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 w="9525">
          <a:solidFill>
            <a:schemeClr val="bg1">
              <a:lumMod val="50000"/>
            </a:schemeClr>
          </a:solidFill>
        </a:ln>
      </a:spPr>
      <a:bodyPr vert="horz" lIns="36000" tIns="36000" rIns="36000" bIns="36000" rtlCol="0" anchor="ctr"/>
      <a:lstStyle>
        <a:defPPr algn="ctr">
          <a:defRPr kumimoji="1" sz="1400" dirty="0">
            <a:solidFill>
              <a:schemeClr val="accent4">
                <a:lumMod val="65000"/>
                <a:lumOff val="35000"/>
              </a:schemeClr>
            </a:solidFill>
            <a:latin typeface="+mn-ea"/>
            <a:cs typeface="Hiragino Kaku Gothic Pro W3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wrap="none" rtlCol="0">
        <a:spAutoFit/>
      </a:bodyPr>
      <a:lstStyle>
        <a:defPPr algn="l">
          <a:defRPr kumimoji="1" sz="1600" dirty="0" smtClean="0">
            <a:solidFill>
              <a:schemeClr val="accent4">
                <a:lumMod val="65000"/>
                <a:lumOff val="35000"/>
              </a:schemeClr>
            </a:solidFill>
            <a:latin typeface="MS UI Gothic" panose="020B0600070205080204" pitchFamily="50" charset="-128"/>
            <a:ea typeface="MS UI Gothic" panose="020B0600070205080204" pitchFamily="50" charset="-128"/>
            <a:cs typeface="メイリオ"/>
          </a:defRPr>
        </a:defPPr>
      </a:lstStyle>
    </a:txDef>
  </a:objectDefaults>
  <a:extraClrSchemeLst>
    <a:extraClrScheme>
      <a:clrScheme name="3_JJ Division 企画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JJ Division 企画Ｇ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企画書テンプレートRLS14ver">
  <a:themeElements>
    <a:clrScheme name="3_JJ Division 企画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_JJ Division 企画Ｇ">
      <a:majorFont>
        <a:latin typeface="MS UI Gothic"/>
        <a:ea typeface="MS UI Gothic"/>
        <a:cs typeface=""/>
      </a:majorFont>
      <a:minorFont>
        <a:latin typeface="MS UI Gothic"/>
        <a:ea typeface="MS UI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 w="9525">
          <a:solidFill>
            <a:schemeClr val="bg1">
              <a:lumMod val="50000"/>
            </a:schemeClr>
          </a:solidFill>
        </a:ln>
      </a:spPr>
      <a:bodyPr vert="horz" rtlCol="0" anchor="ctr"/>
      <a:lstStyle>
        <a:defPPr algn="ctr">
          <a:defRPr kumimoji="1" sz="1400" dirty="0" smtClean="0">
            <a:solidFill>
              <a:schemeClr val="accent4">
                <a:lumMod val="65000"/>
                <a:lumOff val="35000"/>
              </a:schemeClr>
            </a:solidFill>
            <a:latin typeface="+mn-ea"/>
            <a:cs typeface="Hiragino Kaku Gothic Pro W3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wrap="none" rtlCol="0">
        <a:spAutoFit/>
      </a:bodyPr>
      <a:lstStyle>
        <a:defPPr algn="l">
          <a:defRPr kumimoji="1" sz="1600" dirty="0" smtClean="0">
            <a:solidFill>
              <a:schemeClr val="accent4">
                <a:lumMod val="65000"/>
                <a:lumOff val="35000"/>
              </a:schemeClr>
            </a:solidFill>
            <a:latin typeface="MS UI Gothic" panose="020B0600070205080204" pitchFamily="50" charset="-128"/>
            <a:ea typeface="MS UI Gothic" panose="020B0600070205080204" pitchFamily="50" charset="-128"/>
            <a:cs typeface="メイリオ"/>
          </a:defRPr>
        </a:defPPr>
      </a:lstStyle>
    </a:txDef>
  </a:objectDefaults>
  <a:extraClrSchemeLst>
    <a:extraClrScheme>
      <a:clrScheme name="3_JJ Division 企画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JJ Division 企画Ｇ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企画書テンプレートRLS14ver">
  <a:themeElements>
    <a:clrScheme name="ユーザー定義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3333CC"/>
      </a:folHlink>
    </a:clrScheme>
    <a:fontScheme name="3_JJ Division 企画Ｇ">
      <a:majorFont>
        <a:latin typeface="MS UI Gothic"/>
        <a:ea typeface="MS UI Gothic"/>
        <a:cs typeface=""/>
      </a:majorFont>
      <a:minorFont>
        <a:latin typeface="MS UI Gothic"/>
        <a:ea typeface="MS UI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 w="9525">
          <a:solidFill>
            <a:schemeClr val="bg1">
              <a:lumMod val="50000"/>
            </a:schemeClr>
          </a:solidFill>
        </a:ln>
      </a:spPr>
      <a:bodyPr vert="horz" rtlCol="0" anchor="ctr"/>
      <a:lstStyle>
        <a:defPPr algn="ctr">
          <a:defRPr kumimoji="1" sz="1400" dirty="0" smtClean="0">
            <a:solidFill>
              <a:schemeClr val="accent4">
                <a:lumMod val="65000"/>
                <a:lumOff val="35000"/>
              </a:schemeClr>
            </a:solidFill>
            <a:latin typeface="Meiryo UI" panose="020B0604030504040204" pitchFamily="50" charset="-128"/>
            <a:ea typeface="Meiryo UI" panose="020B0604030504040204" pitchFamily="50" charset="-128"/>
            <a:cs typeface="Hiragino Kaku Gothic Pro W3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wrap="none" rtlCol="0">
        <a:spAutoFit/>
      </a:bodyPr>
      <a:lstStyle>
        <a:defPPr algn="l">
          <a:defRPr kumimoji="1" sz="1600" dirty="0" smtClean="0">
            <a:solidFill>
              <a:schemeClr val="accent4">
                <a:lumMod val="65000"/>
                <a:lumOff val="35000"/>
              </a:schemeClr>
            </a:solidFill>
            <a:latin typeface="MS UI Gothic" panose="020B0600070205080204" pitchFamily="50" charset="-128"/>
            <a:ea typeface="MS UI Gothic" panose="020B0600070205080204" pitchFamily="50" charset="-128"/>
            <a:cs typeface="メイリオ"/>
          </a:defRPr>
        </a:defPPr>
      </a:lstStyle>
    </a:txDef>
  </a:objectDefaults>
  <a:extraClrSchemeLst>
    <a:extraClrScheme>
      <a:clrScheme name="3_JJ Division 企画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JJ Division 企画Ｇ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資料フォーマット.pptx" id="{A07E70FC-B80E-48CD-A117-A47FB0E8A70F}" vid="{D0203C7F-9D8B-48F9-B083-DE4B79D92818}"/>
    </a:ext>
  </a:extLst>
</a:theme>
</file>

<file path=ppt/theme/theme4.xml><?xml version="1.0" encoding="utf-8"?>
<a:theme xmlns:a="http://schemas.openxmlformats.org/drawingml/2006/main" name="5_企画書テンプレートRLS14ver">
  <a:themeElements>
    <a:clrScheme name="ユーザー定義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3333CC"/>
      </a:folHlink>
    </a:clrScheme>
    <a:fontScheme name="3_JJ Division 企画Ｇ">
      <a:majorFont>
        <a:latin typeface="MS UI Gothic"/>
        <a:ea typeface="MS UI Gothic"/>
        <a:cs typeface=""/>
      </a:majorFont>
      <a:minorFont>
        <a:latin typeface="MS UI Gothic"/>
        <a:ea typeface="MS UI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 w="9525">
          <a:solidFill>
            <a:schemeClr val="bg1">
              <a:lumMod val="50000"/>
            </a:schemeClr>
          </a:solidFill>
        </a:ln>
      </a:spPr>
      <a:bodyPr vert="horz" rtlCol="0" anchor="ctr"/>
      <a:lstStyle>
        <a:defPPr algn="ctr">
          <a:defRPr kumimoji="1" sz="1400" dirty="0" smtClean="0">
            <a:solidFill>
              <a:schemeClr val="accent4">
                <a:lumMod val="65000"/>
                <a:lumOff val="35000"/>
              </a:schemeClr>
            </a:solidFill>
            <a:latin typeface="Meiryo UI" panose="020B0604030504040204" pitchFamily="50" charset="-128"/>
            <a:ea typeface="Meiryo UI" panose="020B0604030504040204" pitchFamily="50" charset="-128"/>
            <a:cs typeface="Hiragino Kaku Gothic Pro W3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wrap="none" rtlCol="0">
        <a:spAutoFit/>
      </a:bodyPr>
      <a:lstStyle>
        <a:defPPr algn="l">
          <a:defRPr kumimoji="1" sz="1600" dirty="0" smtClean="0">
            <a:solidFill>
              <a:schemeClr val="accent4">
                <a:lumMod val="65000"/>
                <a:lumOff val="35000"/>
              </a:schemeClr>
            </a:solidFill>
            <a:latin typeface="MS UI Gothic" panose="020B0600070205080204" pitchFamily="50" charset="-128"/>
            <a:ea typeface="MS UI Gothic" panose="020B0600070205080204" pitchFamily="50" charset="-128"/>
            <a:cs typeface="メイリオ"/>
          </a:defRPr>
        </a:defPPr>
      </a:lstStyle>
    </a:txDef>
  </a:objectDefaults>
  <a:extraClrSchemeLst>
    <a:extraClrScheme>
      <a:clrScheme name="3_JJ Division 企画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JJ Division 企画Ｇ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資料フォーマット.pptx" id="{A07E70FC-B80E-48CD-A117-A47FB0E8A70F}" vid="{D0203C7F-9D8B-48F9-B083-DE4B79D92818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BC7193C5000614D902DFE8DB2D504A0" ma:contentTypeVersion="10" ma:contentTypeDescription="新しいドキュメントを作成します。" ma:contentTypeScope="" ma:versionID="5bdfb082c6b5f485876ed098d1aba435">
  <xsd:schema xmlns:xsd="http://www.w3.org/2001/XMLSchema" xmlns:xs="http://www.w3.org/2001/XMLSchema" xmlns:p="http://schemas.microsoft.com/office/2006/metadata/properties" xmlns:ns2="6d1bb7b3-1a78-4edb-9d24-6d6293c5661b" xmlns:ns3="f52ec0e6-5720-4074-b74f-ed0a3473655d" targetNamespace="http://schemas.microsoft.com/office/2006/metadata/properties" ma:root="true" ma:fieldsID="f9a05aec5cbd8dcc8973064e25e971cd" ns2:_="" ns3:_="">
    <xsd:import namespace="6d1bb7b3-1a78-4edb-9d24-6d6293c5661b"/>
    <xsd:import namespace="f52ec0e6-5720-4074-b74f-ed0a347365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bb7b3-1a78-4edb-9d24-6d6293c566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2ec0e6-5720-4074-b74f-ed0a3473655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52ec0e6-5720-4074-b74f-ed0a3473655d">
      <UserInfo>
        <DisplayName>木村 茂史</DisplayName>
        <AccountId>15</AccountId>
        <AccountType/>
      </UserInfo>
      <UserInfo>
        <DisplayName>山形 舞</DisplayName>
        <AccountId>16</AccountId>
        <AccountType/>
      </UserInfo>
      <UserInfo>
        <DisplayName>佐々木 愛</DisplayName>
        <AccountId>17</AccountId>
        <AccountType/>
      </UserInfo>
      <UserInfo>
        <DisplayName>丸田 志穂</DisplayName>
        <AccountId>18</AccountId>
        <AccountType/>
      </UserInfo>
      <UserInfo>
        <DisplayName>坂口 諒</DisplayName>
        <AccountId>19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DEF686A-51F8-4D09-A86E-1ADB230C38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1bb7b3-1a78-4edb-9d24-6d6293c5661b"/>
    <ds:schemaRef ds:uri="f52ec0e6-5720-4074-b74f-ed0a347365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141BD7-758F-4617-9716-1DCB9409EB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12C807-2F06-4126-A938-618AA2560249}">
  <ds:schemaRefs>
    <ds:schemaRef ds:uri="http://schemas.microsoft.com/office/infopath/2007/PartnerControls"/>
    <ds:schemaRef ds:uri="95670f31-b13c-4631-9652-d49cf141d6c8"/>
    <ds:schemaRef ds:uri="http://purl.org/dc/terms/"/>
    <ds:schemaRef ds:uri="c5c3b17e-7e15-4423-952c-b54f49294368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ba719917-70bb-4a4b-8475-53935d678f0b"/>
    <ds:schemaRef ds:uri="cb179e9c-c8c9-4517-ab57-212c427650ba"/>
    <ds:schemaRef ds:uri="f52ec0e6-5720-4074-b74f-ed0a3473655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3359</TotalTime>
  <Words>212</Words>
  <Application>Microsoft Office PowerPoint</Application>
  <PresentationFormat>ワイド画面</PresentationFormat>
  <Paragraphs>35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2" baseType="lpstr">
      <vt:lpstr>Meiryo UI</vt:lpstr>
      <vt:lpstr>MS UI Gothic</vt:lpstr>
      <vt:lpstr>Meiryo</vt:lpstr>
      <vt:lpstr>游ゴシック</vt:lpstr>
      <vt:lpstr>Arial</vt:lpstr>
      <vt:lpstr>Wingdings</vt:lpstr>
      <vt:lpstr>企画書テンプレートRLS14ver</vt:lpstr>
      <vt:lpstr>3_企画書テンプレートRLS14ver</vt:lpstr>
      <vt:lpstr>4_企画書テンプレートRLS14ver</vt:lpstr>
      <vt:lpstr>5_企画書テンプレートRLS14ver</vt:lpstr>
      <vt:lpstr>think-cell スライド</vt:lpstr>
      <vt:lpstr>本プロジェクトの戦略マップとLinkX社の役割</vt:lpstr>
    </vt:vector>
  </TitlesOfParts>
  <Company>RECRUIT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【前提】売上・債権の仕訳データ作成までのデータ流入経路</dc:title>
  <dc:creator>佐伯 奈々</dc:creator>
  <cp:lastModifiedBy>越智 啓人</cp:lastModifiedBy>
  <cp:revision>43</cp:revision>
  <dcterms:created xsi:type="dcterms:W3CDTF">2022-12-19T07:46:21Z</dcterms:created>
  <dcterms:modified xsi:type="dcterms:W3CDTF">2026-03-03T21:44:51Z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0x0101006BC7193C5000614D902DFE8DB2D504A0</vt:lpwstr>
  </property>
  <property fmtid="{D5CDD505-2E9C-101B-9397-08002B2CF9AE}" pid="3" name="MediaServiceImageTags">
    <vt:lpwstr/>
  </property>
</Properties>
</file>