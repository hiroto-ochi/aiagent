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notesMasterIdLst>
    <p:notesMasterId r:id="rId6"/>
  </p:notesMasterIdLst>
  <p:sldIdLst>
    <p:sldId id="1194" r:id="rId5"/>
  </p:sldIdLst>
  <p:sldSz cx="12192000" cy="6858000"/>
  <p:notesSz cx="6794500" cy="9931400"/>
  <p:custDataLst>
    <p:tags r:id="rId7"/>
  </p:custDataLst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清水 吉直" initials="清水" lastIdx="17" clrIdx="0"/>
  <p:cmAuthor id="2" name="Takeshi Imagawa" initials="TI" lastIdx="9" clrIdx="1"/>
  <p:cmAuthor id="3" name="裕子 根本" initials="裕子" lastIdx="19" clrIdx="2">
    <p:extLst>
      <p:ext uri="{19B8F6BF-5375-455C-9EA6-DF929625EA0E}">
        <p15:presenceInfo xmlns:p15="http://schemas.microsoft.com/office/powerpoint/2012/main" userId="裕子 根本" providerId="None"/>
      </p:ext>
    </p:extLst>
  </p:cmAuthor>
  <p:cmAuthor id="4" name="根本 裕子" initials="根裕" lastIdx="9" clrIdx="3">
    <p:extLst>
      <p:ext uri="{19B8F6BF-5375-455C-9EA6-DF929625EA0E}">
        <p15:presenceInfo xmlns:p15="http://schemas.microsoft.com/office/powerpoint/2012/main" userId="S::yuko_nemoto@r.recruit.co.jp::a0ff259c-5b8d-43f5-aa55-fb66e409d1d0" providerId="AD"/>
      </p:ext>
    </p:extLst>
  </p:cmAuthor>
  <p:cmAuthor id="5" name="栁田 善彦" initials="栁善" lastIdx="25" clrIdx="4">
    <p:extLst>
      <p:ext uri="{19B8F6BF-5375-455C-9EA6-DF929625EA0E}">
        <p15:presenceInfo xmlns:p15="http://schemas.microsoft.com/office/powerpoint/2012/main" userId="S::yoshihiko_yanagi@r.recruit.co.jp::102d6f35-e30d-49dc-96a7-86c3c7093515" providerId="AD"/>
      </p:ext>
    </p:extLst>
  </p:cmAuthor>
  <p:cmAuthor id="6" name="藤原 準一" initials="藤原" lastIdx="8" clrIdx="5">
    <p:extLst>
      <p:ext uri="{19B8F6BF-5375-455C-9EA6-DF929625EA0E}">
        <p15:presenceInfo xmlns:p15="http://schemas.microsoft.com/office/powerpoint/2012/main" userId="S::j_fujiwara@r.recruit.co.jp::16db4776-194c-4b8f-9de6-00dc20cd1eb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0080FF"/>
    <a:srgbClr val="00B0F0"/>
    <a:srgbClr val="E4EAF7"/>
    <a:srgbClr val="DEEBF7"/>
    <a:srgbClr val="F7FADC"/>
    <a:srgbClr val="F0F5BA"/>
    <a:srgbClr val="BAF5E2"/>
    <a:srgbClr val="7F7F7F"/>
    <a:srgbClr val="585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BE34AF-347A-4279-3D6D-8EF106BC7D7C}" v="2" dt="2024-04-03T00:59:06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中間スタイル 1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9631B5-78F2-41C9-869B-9F39066F8104}" styleName="中間スタイル 3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淡色スタイル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スタイル/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中間スタイル 3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>
        <p:guide orient="horz" pos="110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F15BF457-9B3F-4CCE-BE76-BABC711300F6}" type="datetimeFigureOut">
              <a:rPr lang="ja-JP" altLang="en-US" smtClean="0"/>
              <a:pPr>
                <a:defRPr/>
              </a:pPr>
              <a:t>2026/1/6</a:t>
            </a:fld>
            <a:endParaRPr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9450" y="4718050"/>
            <a:ext cx="5435600" cy="4468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1FBF1EA7-1322-4E8A-8143-24868A27BA7C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034362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S UI 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S UI Gothic" panose="020B0600070205080204" pitchFamily="34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S UI Gothic" panose="020B0600070205080204" pitchFamily="34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S UI Gothic" panose="020B0600070205080204" pitchFamily="34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S UI Gothic" panose="020B0600070205080204" pitchFamily="34" charset="-128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6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7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8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0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692364C5-ABC3-0C4F-8E0D-6F66898789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305754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692364C5-ABC3-0C4F-8E0D-6F66898789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41445" y="2362200"/>
            <a:ext cx="10363200" cy="1143000"/>
          </a:xfrm>
        </p:spPr>
        <p:txBody>
          <a:bodyPr/>
          <a:lstStyle>
            <a:lvl1pPr algn="r">
              <a:defRPr sz="240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370245" y="3141666"/>
            <a:ext cx="8534400" cy="719137"/>
          </a:xfrm>
        </p:spPr>
        <p:txBody>
          <a:bodyPr/>
          <a:lstStyle>
            <a:lvl1pPr marL="0" indent="0" algn="r">
              <a:spcBef>
                <a:spcPct val="0"/>
              </a:spcBef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323E333F-0F6C-4FC7-A7F3-F21A7CDFE59D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正方形/長方形 7"/>
          <p:cNvSpPr/>
          <p:nvPr userDrawn="1"/>
        </p:nvSpPr>
        <p:spPr>
          <a:xfrm flipV="1">
            <a:off x="95333" y="3140971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 b="0" i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MS UI 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2539CB52-F8E0-324D-8D5D-5FB7D93F8C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509716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7" name="オブジェクト 6" hidden="1">
                        <a:extLst>
                          <a:ext uri="{FF2B5EF4-FFF2-40B4-BE49-F238E27FC236}">
                            <a16:creationId xmlns:a16="http://schemas.microsoft.com/office/drawing/2014/main" id="{2539CB52-F8E0-324D-8D5D-5FB7D93F8C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36521" y="692699"/>
            <a:ext cx="11525251" cy="1007493"/>
          </a:xfrm>
        </p:spPr>
        <p:txBody>
          <a:bodyPr/>
          <a:lstStyle>
            <a:lvl1pPr marL="265113" indent="-265113">
              <a:buFont typeface="Arial" charset="0"/>
              <a:buChar char="•"/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804833" y="6627168"/>
            <a:ext cx="2540000" cy="230832"/>
          </a:xfrm>
          <a:ln/>
        </p:spPr>
        <p:txBody>
          <a:bodyPr/>
          <a:lstStyle>
            <a:lvl1pPr>
              <a:defRPr sz="11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CFF65B-A8B2-A742-960E-AEE2B0C95AC6}"/>
              </a:ext>
            </a:extLst>
          </p:cNvPr>
          <p:cNvSpPr txBox="1"/>
          <p:nvPr userDrawn="1"/>
        </p:nvSpPr>
        <p:spPr bwMode="auto">
          <a:xfrm>
            <a:off x="1" y="6629400"/>
            <a:ext cx="127631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Strictly Confidential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61E06D-0804-AA4D-AD56-81FE58AB9EB9}"/>
              </a:ext>
            </a:extLst>
          </p:cNvPr>
          <p:cNvSpPr txBox="1"/>
          <p:nvPr userDrawn="1"/>
        </p:nvSpPr>
        <p:spPr bwMode="auto">
          <a:xfrm>
            <a:off x="10040712" y="6629400"/>
            <a:ext cx="21467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All Rights Reserved Recruit Co, Ltd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C17DF3C4-48CE-2A4C-8633-E29AA26FCCD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311113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C17DF3C4-48CE-2A4C-8633-E29AA26FCC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2000" b="1" cap="all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CFE70743-B45D-4C2D-9F53-822380FBB922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AFF8BF78-A82D-144F-A06A-BED1933A7A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978939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AFF8BF78-A82D-144F-A06A-BED1933A7A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45535" y="692153"/>
            <a:ext cx="5659967" cy="5688013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08702" y="692153"/>
            <a:ext cx="5662084" cy="5688013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702576F8-CB8C-4CDF-ACDC-D9135E817F8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A7A718E-09E9-43E4-BDD4-824E79084722}"/>
              </a:ext>
            </a:extLst>
          </p:cNvPr>
          <p:cNvSpPr txBox="1"/>
          <p:nvPr userDrawn="1"/>
        </p:nvSpPr>
        <p:spPr bwMode="auto">
          <a:xfrm>
            <a:off x="1" y="6629400"/>
            <a:ext cx="127631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Strictly Confidential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94E451A-799B-4190-8CA8-90260FE142D0}"/>
              </a:ext>
            </a:extLst>
          </p:cNvPr>
          <p:cNvSpPr txBox="1"/>
          <p:nvPr userDrawn="1"/>
        </p:nvSpPr>
        <p:spPr bwMode="auto">
          <a:xfrm>
            <a:off x="10040712" y="6629400"/>
            <a:ext cx="21467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All Rights Reserved Recruit Co, Ltd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9B29765F-6ABE-2E4D-B364-7AE8BACD5E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478608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9B29765F-6ABE-2E4D-B364-7AE8BACD5E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328" y="130622"/>
            <a:ext cx="10972800" cy="418058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D9A2BBE0-68D9-49E1-B41C-BF65AA65B2CB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9521550-3B9A-4BFD-8B86-E52C6EA017E6}"/>
              </a:ext>
            </a:extLst>
          </p:cNvPr>
          <p:cNvSpPr txBox="1"/>
          <p:nvPr userDrawn="1"/>
        </p:nvSpPr>
        <p:spPr bwMode="auto">
          <a:xfrm>
            <a:off x="1" y="6629400"/>
            <a:ext cx="127631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Strictly Confidential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4DBAE18-B8F5-4B20-A240-04E8BCA29385}"/>
              </a:ext>
            </a:extLst>
          </p:cNvPr>
          <p:cNvSpPr txBox="1"/>
          <p:nvPr userDrawn="1"/>
        </p:nvSpPr>
        <p:spPr bwMode="auto">
          <a:xfrm>
            <a:off x="10040712" y="6629400"/>
            <a:ext cx="21467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All Rights Reserved Recruit Co, Ltd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4164698E-3811-7D49-917E-15A0B950E1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2615255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4164698E-3811-7D49-917E-15A0B950E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FB6271AF-593C-4C79-9441-ADA0DF590AB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CF44BF1-743A-4BAF-85DA-4D7B0A1463CB}"/>
              </a:ext>
            </a:extLst>
          </p:cNvPr>
          <p:cNvSpPr txBox="1"/>
          <p:nvPr userDrawn="1"/>
        </p:nvSpPr>
        <p:spPr bwMode="auto">
          <a:xfrm>
            <a:off x="1" y="6629400"/>
            <a:ext cx="127631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Strictly Confidential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ADA57F1-1A65-4705-BF5A-AF061CEF85C3}"/>
              </a:ext>
            </a:extLst>
          </p:cNvPr>
          <p:cNvSpPr txBox="1"/>
          <p:nvPr userDrawn="1"/>
        </p:nvSpPr>
        <p:spPr bwMode="auto">
          <a:xfrm>
            <a:off x="10040712" y="6629400"/>
            <a:ext cx="21467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All Rights Reserved Recruit Co, Ltd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24805EEF-BFD5-7E47-BA23-F01AA4AA67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315357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24805EEF-BFD5-7E47-BA23-F01AA4AA67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853161F5-28EC-49E7-9F6A-699FC97E3172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FB0914-A87B-4789-AF01-E48F55A733D7}"/>
              </a:ext>
            </a:extLst>
          </p:cNvPr>
          <p:cNvSpPr txBox="1"/>
          <p:nvPr userDrawn="1"/>
        </p:nvSpPr>
        <p:spPr bwMode="auto">
          <a:xfrm>
            <a:off x="1" y="6629400"/>
            <a:ext cx="127631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Strictly Confidential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9D50ADF-DB7E-4E2C-8523-B25A7F423CF7}"/>
              </a:ext>
            </a:extLst>
          </p:cNvPr>
          <p:cNvSpPr txBox="1"/>
          <p:nvPr userDrawn="1"/>
        </p:nvSpPr>
        <p:spPr bwMode="auto">
          <a:xfrm>
            <a:off x="10040712" y="6629400"/>
            <a:ext cx="21467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All Rights Reserved Recruit Co, Ltd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BB5EF93E-423E-0047-AE03-185A4C6EC3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561022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BB5EF93E-423E-0047-AE03-185A4C6EC3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28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2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6120A1F-D72B-4AFE-8DCD-89ACC908B363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F44FC124-4ED1-5944-AD3A-7978DDA840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765933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F44FC124-4ED1-5944-AD3A-7978DDA840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CBEFAA3-D428-4015-B0E7-F87178EBC26E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DAE9A338-8EF3-E24E-B257-6BFAC36AF9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315972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DAE9A338-8EF3-E24E-B257-6BFAC36AF9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757521FA-AC5D-4361-92AE-96CAB981DE4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A0440156-9821-C843-B741-1CF8406E45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007288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A0440156-9821-C843-B741-1CF8406E45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79419" y="152403"/>
            <a:ext cx="2891367" cy="6227763"/>
          </a:xfrm>
        </p:spPr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203202" y="152403"/>
            <a:ext cx="8473017" cy="6227763"/>
          </a:xfrm>
        </p:spPr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1DD5941B-7BC5-40EA-BF7E-4FB4EBB3F66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419877"/>
              </p:ext>
            </p:extLst>
          </p:nvPr>
        </p:nvGraphicFramePr>
        <p:xfrm>
          <a:off x="1965" y="1604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270" imgH="270" progId="TCLayout.ActiveDocument.1">
                  <p:embed/>
                </p:oleObj>
              </mc:Choice>
              <mc:Fallback>
                <p:oleObj name="think-cell スライド" r:id="rId3" imgW="270" imgH="270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5" y="1604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タイトル 4"/>
          <p:cNvSpPr>
            <a:spLocks noGrp="1"/>
          </p:cNvSpPr>
          <p:nvPr>
            <p:ph type="title"/>
          </p:nvPr>
        </p:nvSpPr>
        <p:spPr>
          <a:xfrm>
            <a:off x="240000" y="152417"/>
            <a:ext cx="11712000" cy="37941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0" name="テキスト プレースホルダー 10"/>
          <p:cNvSpPr>
            <a:spLocks noGrp="1"/>
          </p:cNvSpPr>
          <p:nvPr>
            <p:ph type="body" sz="quarter" idx="12"/>
          </p:nvPr>
        </p:nvSpPr>
        <p:spPr>
          <a:xfrm>
            <a:off x="239741" y="692696"/>
            <a:ext cx="11712543" cy="720000"/>
          </a:xfrm>
          <a:prstGeom prst="rect">
            <a:avLst/>
          </a:prstGeom>
        </p:spPr>
        <p:txBody>
          <a:bodyPr anchor="t"/>
          <a:lstStyle>
            <a:lvl1pPr marL="263776" indent="-263776">
              <a:buClrTx/>
              <a:buFont typeface="Arial" panose="020B0604020202020204" pitchFamily="34" charset="0"/>
              <a:buChar char="•"/>
              <a:defRPr sz="1477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599357" indent="-263776">
              <a:buFont typeface="Wingdings" panose="05000000000000000000" pitchFamily="2" charset="2"/>
              <a:buChar char="ü"/>
              <a:defRPr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1"/>
            <a:endParaRPr kumimoji="1" lang="en-US" altLang="ja-JP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3"/>
          </p:nvPr>
        </p:nvSpPr>
        <p:spPr>
          <a:xfrm>
            <a:off x="239741" y="6309352"/>
            <a:ext cx="11712543" cy="288000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Font typeface="Arial" panose="020B0604020202020204" pitchFamily="34" charset="0"/>
              <a:buNone/>
              <a:defRPr sz="738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335581" indent="0">
              <a:buFont typeface="Wingdings" panose="05000000000000000000" pitchFamily="2" charset="2"/>
              <a:buNone/>
              <a:defRPr/>
            </a:lvl2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307531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NULL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83E84B6F-E227-A249-B3CD-988C628065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813705218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6" imgW="3886200" imgH="5029200" progId="TCLayout.ActiveDocument.1">
                  <p:embed/>
                </p:oleObj>
              </mc:Choice>
              <mc:Fallback>
                <p:oleObj name="think-cell スライド" r:id="rId16" imgW="3886200" imgH="5029200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83E84B6F-E227-A249-B3CD-988C628065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12D9CD71-4F79-BF42-8FF3-F5F2E4E3B1E8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1" y="0"/>
            <a:ext cx="211667" cy="158750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1800" b="0" i="0" baseline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Hiragino Kaku Gothic Pro W3" charset="-128"/>
              <a:sym typeface="MS UI Gothic" panose="020B0600070205080204" pitchFamily="34" charset="-128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0125" y="836715"/>
            <a:ext cx="11525251" cy="568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804833" y="64531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517E3F9-F1F1-46C5-A063-BEDE16EE36C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正方形/長方形 6"/>
          <p:cNvSpPr/>
          <p:nvPr/>
        </p:nvSpPr>
        <p:spPr>
          <a:xfrm flipV="1">
            <a:off x="95331" y="548682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S PGothic" charset="-128"/>
              <a:sym typeface="MS UI Gothic" panose="020B0600070205080204" pitchFamily="34" charset="-128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 flipH="1" flipV="1">
            <a:off x="76627" y="6597354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S PGothic" charset="-128"/>
              <a:sym typeface="MS UI Gothic" panose="020B0600070205080204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70" r:id="rId1"/>
    <p:sldLayoutId id="2147485260" r:id="rId2"/>
    <p:sldLayoutId id="2147485261" r:id="rId3"/>
    <p:sldLayoutId id="2147485262" r:id="rId4"/>
    <p:sldLayoutId id="2147485263" r:id="rId5"/>
    <p:sldLayoutId id="2147485264" r:id="rId6"/>
    <p:sldLayoutId id="2147485265" r:id="rId7"/>
    <p:sldLayoutId id="2147485266" r:id="rId8"/>
    <p:sldLayoutId id="2147485267" r:id="rId9"/>
    <p:sldLayoutId id="2147485268" r:id="rId10"/>
    <p:sldLayoutId id="2147485269" r:id="rId11"/>
    <p:sldLayoutId id="2147485271" r:id="rId12"/>
  </p:sldLayoutIdLst>
  <p:hf hdr="0" ftr="0" dt="0"/>
  <p:txStyles>
    <p:titleStyle>
      <a:lvl1pPr algn="l" defTabSz="879475" rtl="0" eaLnBrk="1" fontAlgn="base" hangingPunct="1">
        <a:spcBef>
          <a:spcPct val="0"/>
        </a:spcBef>
        <a:spcAft>
          <a:spcPct val="0"/>
        </a:spcAft>
        <a:defRPr kumimoji="1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  <a:sym typeface="MS UI Gothic" panose="020B0600070205080204" pitchFamily="34" charset="-128"/>
        </a:defRPr>
      </a:lvl1pPr>
      <a:lvl2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2pPr>
      <a:lvl3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3pPr>
      <a:lvl4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4pPr>
      <a:lvl5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5pPr>
      <a:lvl6pPr marL="4572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6pPr>
      <a:lvl7pPr marL="9144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7pPr>
      <a:lvl8pPr marL="13716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8pPr>
      <a:lvl9pPr marL="18288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9pPr>
    </p:titleStyle>
    <p:bodyStyle>
      <a:lvl1pPr marL="265113" indent="-265113" algn="l" defTabSz="879475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defRPr kumimoji="1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1pPr>
      <a:lvl2pPr marL="622300" indent="-177800" algn="l" defTabSz="879475" rtl="0" eaLnBrk="1" fontAlgn="base" hangingPunct="1">
        <a:spcBef>
          <a:spcPct val="20000"/>
        </a:spcBef>
        <a:spcAft>
          <a:spcPct val="0"/>
        </a:spcAft>
        <a:buChar char="–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2pPr>
      <a:lvl3pPr marL="981075" indent="-179388" algn="l" defTabSz="879475" rtl="0" eaLnBrk="1" fontAlgn="base" hangingPunct="1">
        <a:spcBef>
          <a:spcPct val="20000"/>
        </a:spcBef>
        <a:spcAft>
          <a:spcPct val="0"/>
        </a:spcAft>
        <a:buChar char="•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3pPr>
      <a:lvl4pPr marL="1338263" indent="-177800" algn="l" defTabSz="879475" rtl="0" eaLnBrk="1" fontAlgn="base" hangingPunct="1">
        <a:spcBef>
          <a:spcPct val="20000"/>
        </a:spcBef>
        <a:spcAft>
          <a:spcPct val="0"/>
        </a:spcAft>
        <a:buChar char="–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4pPr>
      <a:lvl5pPr marL="17097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5pPr>
      <a:lvl6pPr marL="21669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6241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0813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5385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Meiryo UI"/>
                <a:ea typeface="Meiryo UI"/>
                <a:cs typeface="Arial"/>
              </a:rPr>
              <a:t>n8n×Azure</a:t>
            </a:r>
            <a:r>
              <a:rPr lang="ja-JP" altLang="en-US" dirty="0">
                <a:latin typeface="Meiryo UI"/>
                <a:ea typeface="Meiryo UI"/>
                <a:cs typeface="Arial"/>
              </a:rPr>
              <a:t>の</a:t>
            </a:r>
            <a:r>
              <a:rPr lang="en-US" altLang="ja-JP" dirty="0">
                <a:latin typeface="Meiryo UI"/>
                <a:ea typeface="Meiryo UI"/>
                <a:cs typeface="Arial"/>
              </a:rPr>
              <a:t>AI</a:t>
            </a:r>
            <a:r>
              <a:rPr lang="ja-JP" altLang="en-US" dirty="0">
                <a:latin typeface="Meiryo UI"/>
                <a:ea typeface="Meiryo UI"/>
                <a:cs typeface="Arial"/>
              </a:rPr>
              <a:t>エージェント基盤全体像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1</a:t>
            </a:fld>
            <a:endParaRPr lang="en-US" altLang="ja-JP"/>
          </a:p>
        </p:txBody>
      </p:sp>
      <p:sp>
        <p:nvSpPr>
          <p:cNvPr id="302" name="Content Placeholder 1">
            <a:extLst>
              <a:ext uri="{FF2B5EF4-FFF2-40B4-BE49-F238E27FC236}">
                <a16:creationId xmlns:a16="http://schemas.microsoft.com/office/drawing/2014/main" id="{B2A9E6FF-D095-F838-BC7D-9AB1F8FB7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521" y="692700"/>
            <a:ext cx="11525251" cy="630322"/>
          </a:xfrm>
        </p:spPr>
        <p:txBody>
          <a:bodyPr/>
          <a:lstStyle/>
          <a:p>
            <a:pPr marL="264795" indent="-264795"/>
            <a:r>
              <a:rPr lang="en-US" altLang="ja-JP" dirty="0">
                <a:latin typeface="Meiryo UI"/>
                <a:ea typeface="Meiryo UI"/>
                <a:cs typeface="Arial"/>
              </a:rPr>
              <a:t>n8n</a:t>
            </a:r>
            <a:r>
              <a:rPr lang="ja-JP" altLang="en-US" dirty="0">
                <a:latin typeface="Meiryo UI"/>
                <a:ea typeface="Meiryo UI"/>
                <a:cs typeface="Arial"/>
              </a:rPr>
              <a:t>（</a:t>
            </a:r>
            <a:r>
              <a:rPr lang="en-US" altLang="ja-JP" dirty="0">
                <a:latin typeface="Meiryo UI"/>
                <a:ea typeface="Meiryo UI"/>
                <a:cs typeface="Arial"/>
              </a:rPr>
              <a:t>AI</a:t>
            </a:r>
            <a:r>
              <a:rPr lang="ja-JP" altLang="en-US" dirty="0">
                <a:latin typeface="Meiryo UI"/>
                <a:ea typeface="Meiryo UI"/>
                <a:cs typeface="Arial"/>
              </a:rPr>
              <a:t>エージェント）で業務を動かし、</a:t>
            </a:r>
            <a:r>
              <a:rPr lang="en-US" altLang="ja-JP" dirty="0">
                <a:latin typeface="Meiryo UI"/>
                <a:ea typeface="Meiryo UI"/>
                <a:cs typeface="Arial"/>
              </a:rPr>
              <a:t>Fabric</a:t>
            </a:r>
            <a:r>
              <a:rPr lang="ja-JP" altLang="en-US" dirty="0">
                <a:latin typeface="Meiryo UI"/>
                <a:ea typeface="Meiryo UI"/>
                <a:cs typeface="Arial"/>
              </a:rPr>
              <a:t>で業務の“価値”を証明する構成としました。</a:t>
            </a:r>
            <a:endParaRPr lang="ja-JP" altLang="en-US" dirty="0"/>
          </a:p>
        </p:txBody>
      </p:sp>
      <p:cxnSp>
        <p:nvCxnSpPr>
          <p:cNvPr id="187" name="直線コネクタ 186">
            <a:extLst>
              <a:ext uri="{FF2B5EF4-FFF2-40B4-BE49-F238E27FC236}">
                <a16:creationId xmlns:a16="http://schemas.microsoft.com/office/drawing/2014/main" id="{9135A5DD-69F0-B75C-99AA-652216F349AA}"/>
              </a:ext>
            </a:extLst>
          </p:cNvPr>
          <p:cNvCxnSpPr>
            <a:cxnSpLocks/>
          </p:cNvCxnSpPr>
          <p:nvPr/>
        </p:nvCxnSpPr>
        <p:spPr>
          <a:xfrm>
            <a:off x="104775" y="2689597"/>
            <a:ext cx="11925300" cy="0"/>
          </a:xfrm>
          <a:prstGeom prst="line">
            <a:avLst/>
          </a:prstGeom>
          <a:noFill/>
          <a:ln w="6350" cap="flat" cmpd="sng" algn="ctr">
            <a:solidFill>
              <a:srgbClr val="4F81BD">
                <a:lumMod val="60000"/>
                <a:lumOff val="40000"/>
              </a:srgbClr>
            </a:solidFill>
            <a:prstDash val="solid"/>
          </a:ln>
          <a:effectLst/>
        </p:spPr>
      </p:cxnSp>
      <p:cxnSp>
        <p:nvCxnSpPr>
          <p:cNvPr id="215" name="直線コネクタ 214">
            <a:extLst>
              <a:ext uri="{FF2B5EF4-FFF2-40B4-BE49-F238E27FC236}">
                <a16:creationId xmlns:a16="http://schemas.microsoft.com/office/drawing/2014/main" id="{D9865090-7851-D915-0984-6CB3E8359B3F}"/>
              </a:ext>
            </a:extLst>
          </p:cNvPr>
          <p:cNvCxnSpPr>
            <a:cxnSpLocks/>
          </p:cNvCxnSpPr>
          <p:nvPr/>
        </p:nvCxnSpPr>
        <p:spPr>
          <a:xfrm>
            <a:off x="104775" y="1772100"/>
            <a:ext cx="11925300" cy="0"/>
          </a:xfrm>
          <a:prstGeom prst="line">
            <a:avLst/>
          </a:prstGeom>
          <a:noFill/>
          <a:ln w="6350" cap="flat" cmpd="sng" algn="ctr">
            <a:solidFill>
              <a:srgbClr val="4F81BD">
                <a:lumMod val="60000"/>
                <a:lumOff val="40000"/>
              </a:srgbClr>
            </a:solidFill>
            <a:prstDash val="solid"/>
          </a:ln>
          <a:effectLst/>
        </p:spPr>
      </p:cxnSp>
      <p:sp>
        <p:nvSpPr>
          <p:cNvPr id="217" name="フローチャート: 処理 216">
            <a:extLst>
              <a:ext uri="{FF2B5EF4-FFF2-40B4-BE49-F238E27FC236}">
                <a16:creationId xmlns:a16="http://schemas.microsoft.com/office/drawing/2014/main" id="{F5B212A0-200E-9763-9CD6-76E53387E0EF}"/>
              </a:ext>
            </a:extLst>
          </p:cNvPr>
          <p:cNvSpPr/>
          <p:nvPr/>
        </p:nvSpPr>
        <p:spPr>
          <a:xfrm>
            <a:off x="104775" y="1778517"/>
            <a:ext cx="986021" cy="911080"/>
          </a:xfrm>
          <a:prstGeom prst="flowChartProcess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marL="0" marR="0" lvl="0" indent="0" algn="ctr" defTabSz="879475" eaLnBrk="1" latinLnBrk="0" hangingPunct="1">
              <a:lnSpc>
                <a:spcPct val="100000"/>
              </a:lnSpc>
              <a:buClr>
                <a:schemeClr val="accent2"/>
              </a:buClr>
              <a:buSzTx/>
              <a:buFontTx/>
              <a:buNone/>
              <a:tabLst/>
              <a:defRPr/>
            </a:pPr>
            <a:r>
              <a:rPr lang="ja-JP" altLang="en-US" sz="1100" b="1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システム</a:t>
            </a:r>
            <a:endParaRPr lang="en-US" altLang="ja-JP" sz="1100" b="1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1" name="矢印: 五方向 160">
            <a:extLst>
              <a:ext uri="{FF2B5EF4-FFF2-40B4-BE49-F238E27FC236}">
                <a16:creationId xmlns:a16="http://schemas.microsoft.com/office/drawing/2014/main" id="{1ACEDAE7-C8B3-C356-7DD4-9952331266AD}"/>
              </a:ext>
            </a:extLst>
          </p:cNvPr>
          <p:cNvSpPr/>
          <p:nvPr/>
        </p:nvSpPr>
        <p:spPr>
          <a:xfrm>
            <a:off x="1090798" y="1361339"/>
            <a:ext cx="1316977" cy="350664"/>
          </a:xfrm>
          <a:prstGeom prst="homePlate">
            <a:avLst>
              <a:gd name="adj" fmla="val 30088"/>
            </a:avLst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marL="0" indent="0" algn="ctr" defTabSz="879475" eaLnBrk="1" hangingPunct="1">
              <a:buClr>
                <a:schemeClr val="accent2"/>
              </a:buClr>
              <a:buFontTx/>
              <a:buNone/>
            </a:pPr>
            <a:r>
              <a:rPr lang="ja-JP" altLang="en-US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業務処理</a:t>
            </a:r>
            <a:endParaRPr lang="en-US" altLang="ja-JP" sz="11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2" name="矢印: 五方向 161">
            <a:extLst>
              <a:ext uri="{FF2B5EF4-FFF2-40B4-BE49-F238E27FC236}">
                <a16:creationId xmlns:a16="http://schemas.microsoft.com/office/drawing/2014/main" id="{A8B5F993-29E2-CCC1-2563-43B60DC1E961}"/>
              </a:ext>
            </a:extLst>
          </p:cNvPr>
          <p:cNvSpPr/>
          <p:nvPr/>
        </p:nvSpPr>
        <p:spPr>
          <a:xfrm>
            <a:off x="3838991" y="1361339"/>
            <a:ext cx="1316977" cy="350664"/>
          </a:xfrm>
          <a:prstGeom prst="homePlate">
            <a:avLst>
              <a:gd name="adj" fmla="val 30088"/>
            </a:avLst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marL="0" indent="0" algn="ctr" defTabSz="879475" eaLnBrk="1" hangingPunct="1">
              <a:buClr>
                <a:schemeClr val="accent2"/>
              </a:buClr>
              <a:buFontTx/>
              <a:buNone/>
            </a:pPr>
            <a:r>
              <a:rPr lang="ja-JP" altLang="en-US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データ連携・受付処理</a:t>
            </a:r>
            <a:endParaRPr lang="en-US" altLang="ja-JP" sz="11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3" name="矢印: 五方向 162">
            <a:extLst>
              <a:ext uri="{FF2B5EF4-FFF2-40B4-BE49-F238E27FC236}">
                <a16:creationId xmlns:a16="http://schemas.microsoft.com/office/drawing/2014/main" id="{1A61B26F-34C3-B83E-C8DE-FCD552A78847}"/>
              </a:ext>
            </a:extLst>
          </p:cNvPr>
          <p:cNvSpPr/>
          <p:nvPr/>
        </p:nvSpPr>
        <p:spPr>
          <a:xfrm>
            <a:off x="5213087" y="1361339"/>
            <a:ext cx="1316977" cy="350664"/>
          </a:xfrm>
          <a:prstGeom prst="homePlate">
            <a:avLst>
              <a:gd name="adj" fmla="val 30088"/>
            </a:avLst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algn="ctr" defTabSz="879475">
              <a:buClr>
                <a:schemeClr val="accent2"/>
              </a:buClr>
            </a:pPr>
            <a:r>
              <a: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lang="ja-JP" altLang="en-US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次</a:t>
            </a:r>
            <a:r>
              <a:rPr lang="ja-JP" altLang="en-US" sz="110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データ格納</a:t>
            </a:r>
            <a:endParaRPr lang="en-US" altLang="ja-JP" sz="11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4" name="矢印: 五方向 163">
            <a:extLst>
              <a:ext uri="{FF2B5EF4-FFF2-40B4-BE49-F238E27FC236}">
                <a16:creationId xmlns:a16="http://schemas.microsoft.com/office/drawing/2014/main" id="{B3166FEE-FD82-580F-4C70-954AF854BFF8}"/>
              </a:ext>
            </a:extLst>
          </p:cNvPr>
          <p:cNvSpPr/>
          <p:nvPr/>
        </p:nvSpPr>
        <p:spPr>
          <a:xfrm>
            <a:off x="6587183" y="1361339"/>
            <a:ext cx="1316977" cy="350664"/>
          </a:xfrm>
          <a:prstGeom prst="homePlate">
            <a:avLst>
              <a:gd name="adj" fmla="val 30088"/>
            </a:avLst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algn="ctr" defTabSz="879475">
              <a:buClr>
                <a:schemeClr val="accent2"/>
              </a:buClr>
            </a:pPr>
            <a:r>
              <a:rPr lang="ja-JP" altLang="en-US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構造化・整形処理</a:t>
            </a:r>
            <a:endParaRPr lang="en-US" altLang="ja-JP" sz="11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5" name="矢印: 五方向 164">
            <a:extLst>
              <a:ext uri="{FF2B5EF4-FFF2-40B4-BE49-F238E27FC236}">
                <a16:creationId xmlns:a16="http://schemas.microsoft.com/office/drawing/2014/main" id="{E3ECFE64-D901-6CFC-73C1-2109B8850BFA}"/>
              </a:ext>
            </a:extLst>
          </p:cNvPr>
          <p:cNvSpPr/>
          <p:nvPr/>
        </p:nvSpPr>
        <p:spPr>
          <a:xfrm>
            <a:off x="7961279" y="1361339"/>
            <a:ext cx="1316977" cy="350664"/>
          </a:xfrm>
          <a:prstGeom prst="homePlate">
            <a:avLst>
              <a:gd name="adj" fmla="val 30088"/>
            </a:avLst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algn="ctr" defTabSz="879475">
              <a:buClr>
                <a:schemeClr val="accent2"/>
              </a:buClr>
            </a:pPr>
            <a:r>
              <a:rPr lang="ja-JP" altLang="en-US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指標化・集約処理</a:t>
            </a:r>
            <a:endParaRPr lang="en-US" altLang="ja-JP" sz="11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6" name="矢印: 五方向 165">
            <a:extLst>
              <a:ext uri="{FF2B5EF4-FFF2-40B4-BE49-F238E27FC236}">
                <a16:creationId xmlns:a16="http://schemas.microsoft.com/office/drawing/2014/main" id="{C1F6B452-02E4-6340-1F9E-440B4CD5E263}"/>
              </a:ext>
            </a:extLst>
          </p:cNvPr>
          <p:cNvSpPr/>
          <p:nvPr/>
        </p:nvSpPr>
        <p:spPr>
          <a:xfrm>
            <a:off x="9335375" y="1361339"/>
            <a:ext cx="1316977" cy="350664"/>
          </a:xfrm>
          <a:prstGeom prst="homePlate">
            <a:avLst>
              <a:gd name="adj" fmla="val 30088"/>
            </a:avLst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algn="ctr" defTabSz="879475">
              <a:buClr>
                <a:schemeClr val="accent2"/>
              </a:buClr>
            </a:pPr>
            <a:r>
              <a:rPr lang="ja-JP" altLang="en-US" sz="110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可視化・</a:t>
            </a:r>
            <a:endParaRPr lang="en-US" altLang="ja-JP" sz="11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 defTabSz="879475">
              <a:buClr>
                <a:schemeClr val="accent2"/>
              </a:buClr>
            </a:pPr>
            <a:r>
              <a:rPr lang="ja-JP" altLang="en-US" sz="110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分析処理</a:t>
            </a:r>
            <a:endParaRPr lang="en-US" altLang="ja-JP" sz="11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7" name="矢印: 五方向 166">
            <a:extLst>
              <a:ext uri="{FF2B5EF4-FFF2-40B4-BE49-F238E27FC236}">
                <a16:creationId xmlns:a16="http://schemas.microsoft.com/office/drawing/2014/main" id="{7F677EDD-BD16-0E38-5B47-8FFA02C70AD7}"/>
              </a:ext>
            </a:extLst>
          </p:cNvPr>
          <p:cNvSpPr/>
          <p:nvPr/>
        </p:nvSpPr>
        <p:spPr>
          <a:xfrm>
            <a:off x="2464894" y="1361339"/>
            <a:ext cx="1316977" cy="350664"/>
          </a:xfrm>
          <a:prstGeom prst="homePlate">
            <a:avLst>
              <a:gd name="adj" fmla="val 30088"/>
            </a:avLst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marL="0" indent="0" algn="ctr" defTabSz="879475" eaLnBrk="1" hangingPunct="1">
              <a:buClr>
                <a:schemeClr val="accent2"/>
              </a:buClr>
              <a:buFontTx/>
              <a:buNone/>
            </a:pPr>
            <a:r>
              <a:rPr lang="ja-JP" altLang="en-US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自動処理・</a:t>
            </a:r>
            <a:endParaRPr lang="en-US" altLang="ja-JP" sz="11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ctr" defTabSz="879475" eaLnBrk="1" hangingPunct="1">
              <a:buClr>
                <a:schemeClr val="accent2"/>
              </a:buClr>
              <a:buFontTx/>
              <a:buNone/>
            </a:pPr>
            <a:r>
              <a:rPr lang="ja-JP" altLang="en-US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イベント</a:t>
            </a:r>
            <a:r>
              <a: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ログ生成</a:t>
            </a:r>
            <a:endParaRPr lang="en-US" altLang="ja-JP" sz="11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8" name="矢印: 五方向 167">
            <a:extLst>
              <a:ext uri="{FF2B5EF4-FFF2-40B4-BE49-F238E27FC236}">
                <a16:creationId xmlns:a16="http://schemas.microsoft.com/office/drawing/2014/main" id="{AF9F3A69-3917-DF31-D66B-5491B65078AD}"/>
              </a:ext>
            </a:extLst>
          </p:cNvPr>
          <p:cNvSpPr/>
          <p:nvPr/>
        </p:nvSpPr>
        <p:spPr>
          <a:xfrm>
            <a:off x="10709468" y="1361339"/>
            <a:ext cx="1316977" cy="350664"/>
          </a:xfrm>
          <a:prstGeom prst="homePlate">
            <a:avLst>
              <a:gd name="adj" fmla="val 30088"/>
            </a:avLst>
          </a:prstGeom>
          <a:solidFill>
            <a:sysClr val="window" lastClr="FFFFFF">
              <a:lumMod val="95000"/>
            </a:sysClr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algn="ctr" defTabSz="879475">
              <a:buClr>
                <a:schemeClr val="accent2"/>
              </a:buClr>
            </a:pPr>
            <a:r>
              <a:rPr lang="ja-JP" altLang="en-US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アプリ管理</a:t>
            </a:r>
            <a:endParaRPr lang="en-US" altLang="ja-JP" sz="11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4" name="フローチャート: 処理 223">
            <a:extLst>
              <a:ext uri="{FF2B5EF4-FFF2-40B4-BE49-F238E27FC236}">
                <a16:creationId xmlns:a16="http://schemas.microsoft.com/office/drawing/2014/main" id="{1ED9566F-BE63-FE38-DC92-7D72D4DD302F}"/>
              </a:ext>
            </a:extLst>
          </p:cNvPr>
          <p:cNvSpPr/>
          <p:nvPr/>
        </p:nvSpPr>
        <p:spPr>
          <a:xfrm>
            <a:off x="1090798" y="1822534"/>
            <a:ext cx="1316977" cy="238585"/>
          </a:xfrm>
          <a:prstGeom prst="flowChartProcess">
            <a:avLst/>
          </a:prstGeom>
          <a:solidFill>
            <a:srgbClr val="E5F2FA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algn="ctr" defTabSz="879475">
              <a:buClr>
                <a:schemeClr val="accent2"/>
              </a:buClr>
            </a:pPr>
            <a:r>
              <a:rPr lang="ja-JP" altLang="en-US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スプシ＋</a:t>
            </a:r>
            <a:r>
              <a: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GAS</a:t>
            </a:r>
          </a:p>
        </p:txBody>
      </p:sp>
      <p:sp>
        <p:nvSpPr>
          <p:cNvPr id="312" name="フローチャート: 処理 311">
            <a:extLst>
              <a:ext uri="{FF2B5EF4-FFF2-40B4-BE49-F238E27FC236}">
                <a16:creationId xmlns:a16="http://schemas.microsoft.com/office/drawing/2014/main" id="{AFC49A19-09AA-8A98-3563-8B2A7C466EDD}"/>
              </a:ext>
            </a:extLst>
          </p:cNvPr>
          <p:cNvSpPr/>
          <p:nvPr/>
        </p:nvSpPr>
        <p:spPr>
          <a:xfrm>
            <a:off x="1090797" y="2111940"/>
            <a:ext cx="1316977" cy="238585"/>
          </a:xfrm>
          <a:prstGeom prst="flowChartProcess">
            <a:avLst/>
          </a:prstGeom>
          <a:solidFill>
            <a:srgbClr val="E5F2FA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algn="ctr" defTabSz="879475">
              <a:buClr>
                <a:schemeClr val="accent2"/>
              </a:buClr>
            </a:pPr>
            <a:r>
              <a: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Teams / Slack</a:t>
            </a:r>
          </a:p>
        </p:txBody>
      </p:sp>
      <p:sp>
        <p:nvSpPr>
          <p:cNvPr id="313" name="フローチャート: 処理 312">
            <a:extLst>
              <a:ext uri="{FF2B5EF4-FFF2-40B4-BE49-F238E27FC236}">
                <a16:creationId xmlns:a16="http://schemas.microsoft.com/office/drawing/2014/main" id="{7BEBC86D-29E4-7DF5-4DA5-36985DB11E24}"/>
              </a:ext>
            </a:extLst>
          </p:cNvPr>
          <p:cNvSpPr/>
          <p:nvPr/>
        </p:nvSpPr>
        <p:spPr>
          <a:xfrm>
            <a:off x="1090796" y="2401347"/>
            <a:ext cx="1316977" cy="238585"/>
          </a:xfrm>
          <a:prstGeom prst="flowChartProcess">
            <a:avLst/>
          </a:prstGeom>
          <a:solidFill>
            <a:srgbClr val="E5F2FA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algn="ctr" defTabSz="879475">
              <a:buClr>
                <a:schemeClr val="accent2"/>
              </a:buClr>
            </a:pPr>
            <a:r>
              <a:rPr lang="ja-JP" altLang="en-US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その他</a:t>
            </a:r>
            <a:r>
              <a: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外部</a:t>
            </a:r>
            <a:r>
              <a: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SaaS</a:t>
            </a:r>
            <a:r>
              <a:rPr lang="ja-JP" altLang="en-US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など</a:t>
            </a:r>
            <a:r>
              <a: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</p:txBody>
      </p:sp>
      <p:sp>
        <p:nvSpPr>
          <p:cNvPr id="316" name="フローチャート: 処理 315">
            <a:extLst>
              <a:ext uri="{FF2B5EF4-FFF2-40B4-BE49-F238E27FC236}">
                <a16:creationId xmlns:a16="http://schemas.microsoft.com/office/drawing/2014/main" id="{7CADF1DC-CEB6-C301-2B44-9D691A34A25D}"/>
              </a:ext>
            </a:extLst>
          </p:cNvPr>
          <p:cNvSpPr/>
          <p:nvPr/>
        </p:nvSpPr>
        <p:spPr>
          <a:xfrm>
            <a:off x="3838989" y="1822534"/>
            <a:ext cx="1316977" cy="414000"/>
          </a:xfrm>
          <a:prstGeom prst="flowChartProcess">
            <a:avLst/>
          </a:prstGeom>
          <a:solidFill>
            <a:srgbClr val="E5F2FA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algn="ctr" defTabSz="879475">
              <a:buClr>
                <a:schemeClr val="accent2"/>
              </a:buClr>
            </a:pPr>
            <a:r>
              <a: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Azure Functions</a:t>
            </a:r>
            <a:endParaRPr lang="en-US" altLang="ja-JP" sz="9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7" name="フローチャート: 処理 316">
            <a:extLst>
              <a:ext uri="{FF2B5EF4-FFF2-40B4-BE49-F238E27FC236}">
                <a16:creationId xmlns:a16="http://schemas.microsoft.com/office/drawing/2014/main" id="{77127739-EE9F-3E52-EDDF-C26C2E1A104C}"/>
              </a:ext>
            </a:extLst>
          </p:cNvPr>
          <p:cNvSpPr/>
          <p:nvPr/>
        </p:nvSpPr>
        <p:spPr>
          <a:xfrm>
            <a:off x="5213088" y="1821055"/>
            <a:ext cx="1316976" cy="413047"/>
          </a:xfrm>
          <a:prstGeom prst="flowChartProcess">
            <a:avLst/>
          </a:prstGeom>
          <a:solidFill>
            <a:srgbClr val="E5F2FA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algn="ctr" defTabSz="879475">
              <a:buClr>
                <a:schemeClr val="accent2"/>
              </a:buClr>
            </a:pPr>
            <a:r>
              <a:rPr lang="en-US" altLang="ja-JP" sz="1100" dirty="0">
                <a:solidFill>
                  <a:srgbClr val="008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Fabric</a:t>
            </a:r>
            <a:r>
              <a:rPr lang="ja-JP" altLang="en-US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Lakehouse</a:t>
            </a:r>
          </a:p>
          <a:p>
            <a:pPr algn="ctr" defTabSz="879475">
              <a:buClr>
                <a:schemeClr val="accent2"/>
              </a:buClr>
            </a:pPr>
            <a:r>
              <a: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Bronze</a:t>
            </a:r>
            <a:endParaRPr lang="en-US" altLang="ja-JP" sz="9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20" name="グループ化 319">
            <a:extLst>
              <a:ext uri="{FF2B5EF4-FFF2-40B4-BE49-F238E27FC236}">
                <a16:creationId xmlns:a16="http://schemas.microsoft.com/office/drawing/2014/main" id="{3CDF40D3-1E80-74F4-36BC-4B7EC05A0FBC}"/>
              </a:ext>
            </a:extLst>
          </p:cNvPr>
          <p:cNvGrpSpPr/>
          <p:nvPr/>
        </p:nvGrpSpPr>
        <p:grpSpPr>
          <a:xfrm>
            <a:off x="10709468" y="1821054"/>
            <a:ext cx="1316978" cy="407795"/>
            <a:chOff x="10761342" y="3209095"/>
            <a:chExt cx="1182366" cy="581950"/>
          </a:xfrm>
        </p:grpSpPr>
        <p:sp>
          <p:nvSpPr>
            <p:cNvPr id="321" name="直角三角形 320">
              <a:extLst>
                <a:ext uri="{FF2B5EF4-FFF2-40B4-BE49-F238E27FC236}">
                  <a16:creationId xmlns:a16="http://schemas.microsoft.com/office/drawing/2014/main" id="{E2393BCA-FBFC-A6BD-3852-7952A3FE43D3}"/>
                </a:ext>
              </a:extLst>
            </p:cNvPr>
            <p:cNvSpPr/>
            <p:nvPr/>
          </p:nvSpPr>
          <p:spPr>
            <a:xfrm flipH="1">
              <a:off x="10761342" y="3209095"/>
              <a:ext cx="1182366" cy="576026"/>
            </a:xfrm>
            <a:prstGeom prst="rtTriangle">
              <a:avLst/>
            </a:prstGeom>
            <a:solidFill>
              <a:srgbClr val="E5F2FA"/>
            </a:solidFill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wrap="none" lIns="58471" tIns="58471" rIns="58471" bIns="58471" rtlCol="0" anchor="ctr" anchorCtr="0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ja-JP" sz="974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j-lt"/>
                <a:ea typeface="メイリオ" panose="020B0604030504040204" pitchFamily="50" charset="-128"/>
                <a:cs typeface="+mn-cs"/>
              </a:endParaRPr>
            </a:p>
          </p:txBody>
        </p:sp>
        <p:grpSp>
          <p:nvGrpSpPr>
            <p:cNvPr id="322" name="グループ化 321">
              <a:extLst>
                <a:ext uri="{FF2B5EF4-FFF2-40B4-BE49-F238E27FC236}">
                  <a16:creationId xmlns:a16="http://schemas.microsoft.com/office/drawing/2014/main" id="{0D59FBC0-24ED-98D7-8D72-C1A576E6F203}"/>
                </a:ext>
              </a:extLst>
            </p:cNvPr>
            <p:cNvGrpSpPr/>
            <p:nvPr/>
          </p:nvGrpSpPr>
          <p:grpSpPr>
            <a:xfrm>
              <a:off x="10761342" y="3209095"/>
              <a:ext cx="1182366" cy="581950"/>
              <a:chOff x="3726203" y="1701000"/>
              <a:chExt cx="1584000" cy="727389"/>
            </a:xfrm>
            <a:solidFill>
              <a:srgbClr val="E5F2FA"/>
            </a:solidFill>
          </p:grpSpPr>
          <p:sp>
            <p:nvSpPr>
              <p:cNvPr id="323" name="直角三角形 322">
                <a:extLst>
                  <a:ext uri="{FF2B5EF4-FFF2-40B4-BE49-F238E27FC236}">
                    <a16:creationId xmlns:a16="http://schemas.microsoft.com/office/drawing/2014/main" id="{3CB33AF2-20E8-0907-5053-F171CC0E23BD}"/>
                  </a:ext>
                </a:extLst>
              </p:cNvPr>
              <p:cNvSpPr/>
              <p:nvPr/>
            </p:nvSpPr>
            <p:spPr>
              <a:xfrm flipV="1">
                <a:off x="3726203" y="1701000"/>
                <a:ext cx="1584000" cy="719985"/>
              </a:xfrm>
              <a:prstGeom prst="rtTriangle">
                <a:avLst/>
              </a:prstGeom>
              <a:grpFill/>
              <a:ln w="9525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</a:ln>
              <a:effectLst/>
            </p:spPr>
            <p:txBody>
              <a:bodyPr wrap="none" lIns="58471" tIns="58471" rIns="58471" bIns="58471" rtlCol="0" anchor="ctr" anchorCtr="0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ja-JP" sz="974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j-lt"/>
                  <a:ea typeface="メイリオ" panose="020B0604030504040204" pitchFamily="50" charset="-128"/>
                  <a:cs typeface="+mn-cs"/>
                </a:endParaRPr>
              </a:p>
            </p:txBody>
          </p:sp>
          <p:sp>
            <p:nvSpPr>
              <p:cNvPr id="324" name="フローチャート: 処理 323">
                <a:extLst>
                  <a:ext uri="{FF2B5EF4-FFF2-40B4-BE49-F238E27FC236}">
                    <a16:creationId xmlns:a16="http://schemas.microsoft.com/office/drawing/2014/main" id="{FE65B4EB-838D-A9BC-5FF6-4FDFC954667C}"/>
                  </a:ext>
                </a:extLst>
              </p:cNvPr>
              <p:cNvSpPr/>
              <p:nvPr/>
            </p:nvSpPr>
            <p:spPr>
              <a:xfrm>
                <a:off x="3726203" y="1708845"/>
                <a:ext cx="1008000" cy="360000"/>
              </a:xfrm>
              <a:prstGeom prst="flowChartProcess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wrap="none" lIns="58471" tIns="58471" rIns="58471" bIns="58471" rtlCol="0" anchor="ctr" anchorCtr="0"/>
              <a:lstStyle/>
              <a:p>
                <a:pPr marL="0" marR="0" lvl="0" indent="0" algn="ctr" defTabSz="879475" eaLnBrk="1" latinLnBrk="0" hangingPunct="1">
                  <a:lnSpc>
                    <a:spcPct val="100000"/>
                  </a:lnSpc>
                  <a:buClr>
                    <a:schemeClr val="accent2"/>
                  </a:buClr>
                  <a:buSzTx/>
                  <a:buFontTx/>
                  <a:buNone/>
                  <a:tabLst/>
                  <a:defRPr/>
                </a:pPr>
                <a:r>
                  <a:rPr lang="en-US" altLang="ja-JP" sz="1100" dirty="0" err="1">
                    <a:solidFill>
                      <a:schemeClr val="accent4">
                        <a:lumMod val="65000"/>
                        <a:lumOff val="3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WebApps</a:t>
                </a:r>
                <a:endPara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25" name="フローチャート: 処理 324">
                <a:extLst>
                  <a:ext uri="{FF2B5EF4-FFF2-40B4-BE49-F238E27FC236}">
                    <a16:creationId xmlns:a16="http://schemas.microsoft.com/office/drawing/2014/main" id="{AE31FE12-F19F-947D-3B4A-B4537E25A734}"/>
                  </a:ext>
                </a:extLst>
              </p:cNvPr>
              <p:cNvSpPr/>
              <p:nvPr/>
            </p:nvSpPr>
            <p:spPr>
              <a:xfrm>
                <a:off x="4302203" y="2068389"/>
                <a:ext cx="1008000" cy="360000"/>
              </a:xfrm>
              <a:prstGeom prst="flowChartProcess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wrap="none" lIns="58471" tIns="58471" rIns="58471" bIns="58471" rtlCol="0" anchor="ctr" anchorCtr="0"/>
              <a:lstStyle/>
              <a:p>
                <a:pPr marL="0" marR="0" lvl="0" indent="0" algn="ctr" defTabSz="879475" eaLnBrk="1" latinLnBrk="0" hangingPunct="1">
                  <a:lnSpc>
                    <a:spcPct val="100000"/>
                  </a:lnSpc>
                  <a:buClr>
                    <a:schemeClr val="accent2"/>
                  </a:buClr>
                  <a:buSzTx/>
                  <a:buFontTx/>
                  <a:buNone/>
                  <a:tabLst/>
                  <a:defRPr/>
                </a:pPr>
                <a:r>
                  <a:rPr lang="en-US" altLang="ja-JP" sz="1100" dirty="0">
                    <a:solidFill>
                      <a:schemeClr val="accent4">
                        <a:lumMod val="65000"/>
                        <a:lumOff val="3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GitHub</a:t>
                </a:r>
              </a:p>
            </p:txBody>
          </p:sp>
        </p:grpSp>
      </p:grpSp>
      <p:sp>
        <p:nvSpPr>
          <p:cNvPr id="326" name="フローチャート: 処理 325">
            <a:extLst>
              <a:ext uri="{FF2B5EF4-FFF2-40B4-BE49-F238E27FC236}">
                <a16:creationId xmlns:a16="http://schemas.microsoft.com/office/drawing/2014/main" id="{16422E74-4697-A2B5-E3B4-368303E9D14C}"/>
              </a:ext>
            </a:extLst>
          </p:cNvPr>
          <p:cNvSpPr/>
          <p:nvPr/>
        </p:nvSpPr>
        <p:spPr>
          <a:xfrm>
            <a:off x="6587178" y="1821055"/>
            <a:ext cx="1316976" cy="413047"/>
          </a:xfrm>
          <a:prstGeom prst="flowChartProcess">
            <a:avLst/>
          </a:prstGeom>
          <a:solidFill>
            <a:srgbClr val="E5F2FA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algn="ctr" defTabSz="879475">
              <a:buClr>
                <a:schemeClr val="accent2"/>
              </a:buClr>
            </a:pPr>
            <a:r>
              <a:rPr lang="en-US" altLang="ja-JP" sz="1100" dirty="0">
                <a:solidFill>
                  <a:srgbClr val="008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Fabric</a:t>
            </a:r>
            <a:r>
              <a:rPr lang="ja-JP" altLang="en-US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Lakehouse</a:t>
            </a:r>
          </a:p>
          <a:p>
            <a:pPr algn="ctr" defTabSz="879475">
              <a:buClr>
                <a:schemeClr val="accent2"/>
              </a:buClr>
            </a:pPr>
            <a:r>
              <a: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Silver / Notebook</a:t>
            </a:r>
            <a:endParaRPr lang="en-US" altLang="ja-JP" sz="9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7" name="フローチャート: 処理 326">
            <a:extLst>
              <a:ext uri="{FF2B5EF4-FFF2-40B4-BE49-F238E27FC236}">
                <a16:creationId xmlns:a16="http://schemas.microsoft.com/office/drawing/2014/main" id="{773ED2DA-FD93-DFB6-8088-640922A96A3A}"/>
              </a:ext>
            </a:extLst>
          </p:cNvPr>
          <p:cNvSpPr/>
          <p:nvPr/>
        </p:nvSpPr>
        <p:spPr>
          <a:xfrm>
            <a:off x="7961286" y="1821055"/>
            <a:ext cx="1316976" cy="413047"/>
          </a:xfrm>
          <a:prstGeom prst="flowChartProcess">
            <a:avLst/>
          </a:prstGeom>
          <a:solidFill>
            <a:srgbClr val="E5F2FA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algn="ctr" defTabSz="879475">
              <a:buClr>
                <a:schemeClr val="accent2"/>
              </a:buClr>
            </a:pPr>
            <a:r>
              <a:rPr lang="en-US" altLang="ja-JP" sz="1100" dirty="0">
                <a:solidFill>
                  <a:srgbClr val="008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Fabric</a:t>
            </a:r>
            <a:r>
              <a:rPr lang="ja-JP" altLang="en-US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Lakehouse</a:t>
            </a:r>
          </a:p>
          <a:p>
            <a:pPr algn="ctr" defTabSz="879475">
              <a:buClr>
                <a:schemeClr val="accent2"/>
              </a:buClr>
            </a:pPr>
            <a:r>
              <a: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Gold / Warehouse</a:t>
            </a:r>
            <a:endParaRPr lang="en-US" altLang="ja-JP" sz="9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8" name="フローチャート: 処理 327">
            <a:extLst>
              <a:ext uri="{FF2B5EF4-FFF2-40B4-BE49-F238E27FC236}">
                <a16:creationId xmlns:a16="http://schemas.microsoft.com/office/drawing/2014/main" id="{FF04F7BB-D31F-0544-5020-20F540DD6C0C}"/>
              </a:ext>
            </a:extLst>
          </p:cNvPr>
          <p:cNvSpPr/>
          <p:nvPr/>
        </p:nvSpPr>
        <p:spPr>
          <a:xfrm>
            <a:off x="9335376" y="1821055"/>
            <a:ext cx="1316976" cy="413047"/>
          </a:xfrm>
          <a:prstGeom prst="flowChartProcess">
            <a:avLst/>
          </a:prstGeom>
          <a:solidFill>
            <a:srgbClr val="E5F2FA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algn="ctr" defTabSz="879475">
              <a:buClr>
                <a:schemeClr val="accent2"/>
              </a:buClr>
            </a:pPr>
            <a:r>
              <a:rPr lang="en-US" altLang="ja-JP" sz="1100" dirty="0">
                <a:solidFill>
                  <a:srgbClr val="0080FF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Fabric</a:t>
            </a:r>
            <a:r>
              <a:rPr lang="ja-JP" altLang="en-US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100" dirty="0" err="1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PowerBI</a:t>
            </a:r>
            <a:endParaRPr lang="en-US" altLang="ja-JP" sz="9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29" name="グループ化 328">
            <a:extLst>
              <a:ext uri="{FF2B5EF4-FFF2-40B4-BE49-F238E27FC236}">
                <a16:creationId xmlns:a16="http://schemas.microsoft.com/office/drawing/2014/main" id="{2B6381A0-F149-24B3-5F9B-AD6844DF4534}"/>
              </a:ext>
            </a:extLst>
          </p:cNvPr>
          <p:cNvGrpSpPr/>
          <p:nvPr/>
        </p:nvGrpSpPr>
        <p:grpSpPr>
          <a:xfrm>
            <a:off x="2464880" y="1821054"/>
            <a:ext cx="1316978" cy="407795"/>
            <a:chOff x="10761342" y="3209095"/>
            <a:chExt cx="1182366" cy="581950"/>
          </a:xfrm>
        </p:grpSpPr>
        <p:sp>
          <p:nvSpPr>
            <p:cNvPr id="330" name="直角三角形 329">
              <a:extLst>
                <a:ext uri="{FF2B5EF4-FFF2-40B4-BE49-F238E27FC236}">
                  <a16:creationId xmlns:a16="http://schemas.microsoft.com/office/drawing/2014/main" id="{FA3C5B21-6FF9-C9EA-2BFF-5D1185F08EAD}"/>
                </a:ext>
              </a:extLst>
            </p:cNvPr>
            <p:cNvSpPr/>
            <p:nvPr/>
          </p:nvSpPr>
          <p:spPr>
            <a:xfrm flipH="1">
              <a:off x="10761342" y="3209095"/>
              <a:ext cx="1182366" cy="576026"/>
            </a:xfrm>
            <a:prstGeom prst="rtTriangle">
              <a:avLst/>
            </a:prstGeom>
            <a:solidFill>
              <a:srgbClr val="E5F2FA"/>
            </a:solidFill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wrap="none" lIns="58471" tIns="58471" rIns="58471" bIns="58471" rtlCol="0" anchor="ctr" anchorCtr="0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ja-JP" sz="974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j-lt"/>
                <a:ea typeface="メイリオ" panose="020B0604030504040204" pitchFamily="50" charset="-128"/>
                <a:cs typeface="+mn-cs"/>
              </a:endParaRPr>
            </a:p>
          </p:txBody>
        </p:sp>
        <p:grpSp>
          <p:nvGrpSpPr>
            <p:cNvPr id="331" name="グループ化 330">
              <a:extLst>
                <a:ext uri="{FF2B5EF4-FFF2-40B4-BE49-F238E27FC236}">
                  <a16:creationId xmlns:a16="http://schemas.microsoft.com/office/drawing/2014/main" id="{C69BB6D6-DB5E-A494-B233-ADBF44EEA87C}"/>
                </a:ext>
              </a:extLst>
            </p:cNvPr>
            <p:cNvGrpSpPr/>
            <p:nvPr/>
          </p:nvGrpSpPr>
          <p:grpSpPr>
            <a:xfrm>
              <a:off x="10761342" y="3209095"/>
              <a:ext cx="1182366" cy="581950"/>
              <a:chOff x="3726203" y="1701000"/>
              <a:chExt cx="1584000" cy="727389"/>
            </a:xfrm>
            <a:solidFill>
              <a:srgbClr val="E5F2FA"/>
            </a:solidFill>
          </p:grpSpPr>
          <p:sp>
            <p:nvSpPr>
              <p:cNvPr id="332" name="直角三角形 331">
                <a:extLst>
                  <a:ext uri="{FF2B5EF4-FFF2-40B4-BE49-F238E27FC236}">
                    <a16:creationId xmlns:a16="http://schemas.microsoft.com/office/drawing/2014/main" id="{B4A6C717-03E4-E4F8-AA12-9A56CA399F47}"/>
                  </a:ext>
                </a:extLst>
              </p:cNvPr>
              <p:cNvSpPr/>
              <p:nvPr/>
            </p:nvSpPr>
            <p:spPr>
              <a:xfrm flipV="1">
                <a:off x="3726203" y="1701000"/>
                <a:ext cx="1584000" cy="719985"/>
              </a:xfrm>
              <a:prstGeom prst="rtTriangle">
                <a:avLst/>
              </a:prstGeom>
              <a:grpFill/>
              <a:ln w="9525" cap="flat" cmpd="sng" algn="ctr">
                <a:solidFill>
                  <a:sysClr val="windowText" lastClr="000000">
                    <a:lumMod val="50000"/>
                    <a:lumOff val="50000"/>
                  </a:sysClr>
                </a:solidFill>
                <a:prstDash val="solid"/>
              </a:ln>
              <a:effectLst/>
            </p:spPr>
            <p:txBody>
              <a:bodyPr wrap="none" lIns="58471" tIns="58471" rIns="58471" bIns="58471" rtlCol="0" anchor="ctr" anchorCtr="0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ja-JP" sz="974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+mj-lt"/>
                  <a:ea typeface="メイリオ" panose="020B0604030504040204" pitchFamily="50" charset="-128"/>
                  <a:cs typeface="+mn-cs"/>
                </a:endParaRPr>
              </a:p>
            </p:txBody>
          </p:sp>
          <p:sp>
            <p:nvSpPr>
              <p:cNvPr id="333" name="フローチャート: 処理 332">
                <a:extLst>
                  <a:ext uri="{FF2B5EF4-FFF2-40B4-BE49-F238E27FC236}">
                    <a16:creationId xmlns:a16="http://schemas.microsoft.com/office/drawing/2014/main" id="{65577741-E3C5-D02D-5668-EC1BD47B82CE}"/>
                  </a:ext>
                </a:extLst>
              </p:cNvPr>
              <p:cNvSpPr/>
              <p:nvPr/>
            </p:nvSpPr>
            <p:spPr>
              <a:xfrm>
                <a:off x="3726203" y="1708845"/>
                <a:ext cx="1008000" cy="360000"/>
              </a:xfrm>
              <a:prstGeom prst="flowChartProcess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wrap="none" lIns="58471" tIns="58471" rIns="58471" bIns="58471" rtlCol="0" anchor="ctr" anchorCtr="0"/>
              <a:lstStyle/>
              <a:p>
                <a:pPr marL="0" marR="0" lvl="0" indent="0" algn="ctr" defTabSz="879475" eaLnBrk="1" latinLnBrk="0" hangingPunct="1">
                  <a:lnSpc>
                    <a:spcPct val="100000"/>
                  </a:lnSpc>
                  <a:buClr>
                    <a:schemeClr val="accent2"/>
                  </a:buClr>
                  <a:buSzTx/>
                  <a:buFontTx/>
                  <a:buNone/>
                  <a:tabLst/>
                  <a:defRPr/>
                </a:pPr>
                <a:r>
                  <a:rPr lang="en-US" altLang="ja-JP" sz="1100" dirty="0">
                    <a:solidFill>
                      <a:srgbClr val="0080FF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n8n</a:t>
                </a:r>
                <a:r>
                  <a:rPr lang="en-US" altLang="ja-JP" sz="800" dirty="0">
                    <a:solidFill>
                      <a:srgbClr val="595959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(</a:t>
                </a:r>
                <a:r>
                  <a:rPr lang="en-US" altLang="ja-JP" sz="800" dirty="0" err="1">
                    <a:solidFill>
                      <a:srgbClr val="595959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postgre</a:t>
                </a:r>
                <a:r>
                  <a:rPr lang="en-US" altLang="ja-JP" sz="800" dirty="0">
                    <a:solidFill>
                      <a:srgbClr val="595959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)</a:t>
                </a:r>
              </a:p>
            </p:txBody>
          </p:sp>
          <p:sp>
            <p:nvSpPr>
              <p:cNvPr id="334" name="フローチャート: 処理 333">
                <a:extLst>
                  <a:ext uri="{FF2B5EF4-FFF2-40B4-BE49-F238E27FC236}">
                    <a16:creationId xmlns:a16="http://schemas.microsoft.com/office/drawing/2014/main" id="{B60192A7-E1C9-B7DD-A3E6-36BD204B24B1}"/>
                  </a:ext>
                </a:extLst>
              </p:cNvPr>
              <p:cNvSpPr/>
              <p:nvPr/>
            </p:nvSpPr>
            <p:spPr>
              <a:xfrm>
                <a:off x="4302203" y="2068389"/>
                <a:ext cx="1008000" cy="360000"/>
              </a:xfrm>
              <a:prstGeom prst="flowChartProcess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wrap="none" lIns="58471" tIns="58471" rIns="58471" bIns="58471" rtlCol="0" anchor="ctr" anchorCtr="0"/>
              <a:lstStyle/>
              <a:p>
                <a:pPr marL="0" marR="0" lvl="0" indent="0" algn="ctr" defTabSz="879475" eaLnBrk="1" latinLnBrk="0" hangingPunct="1">
                  <a:lnSpc>
                    <a:spcPct val="100000"/>
                  </a:lnSpc>
                  <a:buClr>
                    <a:schemeClr val="accent2"/>
                  </a:buClr>
                  <a:buSzTx/>
                  <a:buFontTx/>
                  <a:buNone/>
                  <a:tabLst/>
                  <a:defRPr/>
                </a:pPr>
                <a:r>
                  <a:rPr lang="en-US" altLang="ja-JP" sz="1100" dirty="0" err="1">
                    <a:solidFill>
                      <a:schemeClr val="accent4">
                        <a:lumMod val="65000"/>
                        <a:lumOff val="35000"/>
                      </a:scheme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WebApps</a:t>
                </a:r>
                <a:endPara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</p:grpSp>
      <p:sp>
        <p:nvSpPr>
          <p:cNvPr id="318" name="フローチャート: 処理 317">
            <a:extLst>
              <a:ext uri="{FF2B5EF4-FFF2-40B4-BE49-F238E27FC236}">
                <a16:creationId xmlns:a16="http://schemas.microsoft.com/office/drawing/2014/main" id="{63ADC920-9CDB-FB20-B0D9-2163C0C453E8}"/>
              </a:ext>
            </a:extLst>
          </p:cNvPr>
          <p:cNvSpPr/>
          <p:nvPr/>
        </p:nvSpPr>
        <p:spPr>
          <a:xfrm>
            <a:off x="2464892" y="2226112"/>
            <a:ext cx="9561553" cy="413047"/>
          </a:xfrm>
          <a:prstGeom prst="flowChartProcess">
            <a:avLst/>
          </a:prstGeom>
          <a:solidFill>
            <a:srgbClr val="E5F2FA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none" lIns="58471" tIns="58471" rIns="58471" bIns="58471" rtlCol="0" anchor="ctr" anchorCtr="0"/>
          <a:lstStyle/>
          <a:p>
            <a:pPr algn="ctr" defTabSz="879475">
              <a:buClr>
                <a:schemeClr val="accent2"/>
              </a:buClr>
            </a:pPr>
            <a:r>
              <a: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Azure</a:t>
            </a:r>
            <a:endParaRPr lang="en-US" altLang="ja-JP" sz="900" dirty="0">
              <a:solidFill>
                <a:schemeClr val="accent4">
                  <a:lumMod val="65000"/>
                  <a:lumOff val="3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52" name="グループ化 351">
            <a:extLst>
              <a:ext uri="{FF2B5EF4-FFF2-40B4-BE49-F238E27FC236}">
                <a16:creationId xmlns:a16="http://schemas.microsoft.com/office/drawing/2014/main" id="{54D732DB-D50F-A7E8-6686-E4645984513F}"/>
              </a:ext>
            </a:extLst>
          </p:cNvPr>
          <p:cNvGrpSpPr/>
          <p:nvPr/>
        </p:nvGrpSpPr>
        <p:grpSpPr>
          <a:xfrm>
            <a:off x="101145" y="2696013"/>
            <a:ext cx="11925300" cy="911080"/>
            <a:chOff x="101145" y="2696013"/>
            <a:chExt cx="11925300" cy="911080"/>
          </a:xfrm>
        </p:grpSpPr>
        <p:cxnSp>
          <p:nvCxnSpPr>
            <p:cNvPr id="338" name="直線コネクタ 337">
              <a:extLst>
                <a:ext uri="{FF2B5EF4-FFF2-40B4-BE49-F238E27FC236}">
                  <a16:creationId xmlns:a16="http://schemas.microsoft.com/office/drawing/2014/main" id="{ADB1F2C4-1C2A-400D-6748-39E0BEF209BB}"/>
                </a:ext>
              </a:extLst>
            </p:cNvPr>
            <p:cNvCxnSpPr>
              <a:cxnSpLocks/>
            </p:cNvCxnSpPr>
            <p:nvPr/>
          </p:nvCxnSpPr>
          <p:spPr>
            <a:xfrm>
              <a:off x="101145" y="3607093"/>
              <a:ext cx="11925300" cy="0"/>
            </a:xfrm>
            <a:prstGeom prst="line">
              <a:avLst/>
            </a:prstGeom>
            <a:noFill/>
            <a:ln w="635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</p:cxnSp>
        <p:sp>
          <p:nvSpPr>
            <p:cNvPr id="339" name="フローチャート: 処理 338">
              <a:extLst>
                <a:ext uri="{FF2B5EF4-FFF2-40B4-BE49-F238E27FC236}">
                  <a16:creationId xmlns:a16="http://schemas.microsoft.com/office/drawing/2014/main" id="{AD01926A-17BC-4C8B-2B72-655E61340F60}"/>
                </a:ext>
              </a:extLst>
            </p:cNvPr>
            <p:cNvSpPr/>
            <p:nvPr/>
          </p:nvSpPr>
          <p:spPr>
            <a:xfrm>
              <a:off x="101145" y="2696013"/>
              <a:ext cx="986021" cy="911080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ctr" anchorCtr="0"/>
            <a:lstStyle/>
            <a:p>
              <a:pPr marL="0" marR="0" lvl="0" indent="0" algn="ctr" defTabSz="879475" eaLnBrk="1" latinLnBrk="0" hangingPunct="1">
                <a:lnSpc>
                  <a:spcPct val="100000"/>
                </a:lnSpc>
                <a:buClr>
                  <a:schemeClr val="accent2"/>
                </a:buClr>
                <a:buSzTx/>
                <a:buFontTx/>
                <a:buNone/>
                <a:tabLst/>
                <a:defRPr/>
              </a:pPr>
              <a:r>
                <a:rPr lang="ja-JP" altLang="en-US" sz="1100" b="1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役割</a:t>
              </a:r>
              <a:endParaRPr lang="en-US" altLang="ja-JP" sz="1100" b="1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0" name="フローチャート: 処理 339">
              <a:extLst>
                <a:ext uri="{FF2B5EF4-FFF2-40B4-BE49-F238E27FC236}">
                  <a16:creationId xmlns:a16="http://schemas.microsoft.com/office/drawing/2014/main" id="{E3AA38E6-1C7D-BE77-AED3-8BA4416D5EBF}"/>
                </a:ext>
              </a:extLst>
            </p:cNvPr>
            <p:cNvSpPr/>
            <p:nvPr/>
          </p:nvSpPr>
          <p:spPr>
            <a:xfrm>
              <a:off x="1087168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データの発生源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人の入力</a:t>
              </a: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判断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3" name="フローチャート: 処理 342">
              <a:extLst>
                <a:ext uri="{FF2B5EF4-FFF2-40B4-BE49-F238E27FC236}">
                  <a16:creationId xmlns:a16="http://schemas.microsoft.com/office/drawing/2014/main" id="{2D172A32-711F-6826-A994-BF9EC51253A6}"/>
                </a:ext>
              </a:extLst>
            </p:cNvPr>
            <p:cNvSpPr/>
            <p:nvPr/>
          </p:nvSpPr>
          <p:spPr>
            <a:xfrm>
              <a:off x="2464880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業務の自動実行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複数システムの仲介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案件イベント発生源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ROI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ログの生成元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6" name="フローチャート: 処理 345">
              <a:extLst>
                <a:ext uri="{FF2B5EF4-FFF2-40B4-BE49-F238E27FC236}">
                  <a16:creationId xmlns:a16="http://schemas.microsoft.com/office/drawing/2014/main" id="{3FEB13C0-5CEE-070C-8EB7-7F10CA2844EE}"/>
                </a:ext>
              </a:extLst>
            </p:cNvPr>
            <p:cNvSpPr/>
            <p:nvPr/>
          </p:nvSpPr>
          <p:spPr>
            <a:xfrm>
              <a:off x="5213307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全ての生イベント保存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再計算</a:t>
              </a: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再加工起点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7" name="フローチャート: 処理 346">
              <a:extLst>
                <a:ext uri="{FF2B5EF4-FFF2-40B4-BE49-F238E27FC236}">
                  <a16:creationId xmlns:a16="http://schemas.microsoft.com/office/drawing/2014/main" id="{7AFD4C8A-71DE-6761-3145-22219FCAAE61}"/>
                </a:ext>
              </a:extLst>
            </p:cNvPr>
            <p:cNvSpPr/>
            <p:nvPr/>
          </p:nvSpPr>
          <p:spPr>
            <a:xfrm>
              <a:off x="3838988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n8n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と</a:t>
              </a: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Fabric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間の</a:t>
              </a:r>
              <a:b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ゲートウェイ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バリデーション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スキーマの安定化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8" name="フローチャート: 処理 347">
              <a:extLst>
                <a:ext uri="{FF2B5EF4-FFF2-40B4-BE49-F238E27FC236}">
                  <a16:creationId xmlns:a16="http://schemas.microsoft.com/office/drawing/2014/main" id="{94E482C1-B61A-6279-447A-907359DC9EA6}"/>
                </a:ext>
              </a:extLst>
            </p:cNvPr>
            <p:cNvSpPr/>
            <p:nvPr/>
          </p:nvSpPr>
          <p:spPr>
            <a:xfrm>
              <a:off x="6587415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分析形式への整形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正規化</a:t>
              </a: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型変換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ビジネスロジック反映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9" name="フローチャート: 処理 348">
              <a:extLst>
                <a:ext uri="{FF2B5EF4-FFF2-40B4-BE49-F238E27FC236}">
                  <a16:creationId xmlns:a16="http://schemas.microsoft.com/office/drawing/2014/main" id="{6B1EF353-873B-F6F9-DD5D-E0B3E235DD08}"/>
                </a:ext>
              </a:extLst>
            </p:cNvPr>
            <p:cNvSpPr/>
            <p:nvPr/>
          </p:nvSpPr>
          <p:spPr>
            <a:xfrm>
              <a:off x="7961279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KPI/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経営指標定義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ダッシュボード連携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50" name="フローチャート: 処理 349">
              <a:extLst>
                <a:ext uri="{FF2B5EF4-FFF2-40B4-BE49-F238E27FC236}">
                  <a16:creationId xmlns:a16="http://schemas.microsoft.com/office/drawing/2014/main" id="{00C77E03-710D-69BE-F1F1-B5809BE8BD06}"/>
                </a:ext>
              </a:extLst>
            </p:cNvPr>
            <p:cNvSpPr/>
            <p:nvPr/>
          </p:nvSpPr>
          <p:spPr>
            <a:xfrm>
              <a:off x="9335387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状況の可視化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意思決定支援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経営</a:t>
              </a: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現場への展開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改善の提案起点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51" name="フローチャート: 処理 350">
              <a:extLst>
                <a:ext uri="{FF2B5EF4-FFF2-40B4-BE49-F238E27FC236}">
                  <a16:creationId xmlns:a16="http://schemas.microsoft.com/office/drawing/2014/main" id="{E85FA186-92B6-C6AC-180A-A53DDB4F72BA}"/>
                </a:ext>
              </a:extLst>
            </p:cNvPr>
            <p:cNvSpPr/>
            <p:nvPr/>
          </p:nvSpPr>
          <p:spPr>
            <a:xfrm>
              <a:off x="10709251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MCP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アプリ展開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ソースコード管理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353" name="グループ化 352">
            <a:extLst>
              <a:ext uri="{FF2B5EF4-FFF2-40B4-BE49-F238E27FC236}">
                <a16:creationId xmlns:a16="http://schemas.microsoft.com/office/drawing/2014/main" id="{C2CD8140-19B6-D205-CBC9-00850277CC4B}"/>
              </a:ext>
            </a:extLst>
          </p:cNvPr>
          <p:cNvGrpSpPr/>
          <p:nvPr/>
        </p:nvGrpSpPr>
        <p:grpSpPr>
          <a:xfrm>
            <a:off x="100928" y="3613508"/>
            <a:ext cx="11925300" cy="911080"/>
            <a:chOff x="101145" y="2696013"/>
            <a:chExt cx="11925300" cy="911080"/>
          </a:xfrm>
        </p:grpSpPr>
        <p:cxnSp>
          <p:nvCxnSpPr>
            <p:cNvPr id="354" name="直線コネクタ 353">
              <a:extLst>
                <a:ext uri="{FF2B5EF4-FFF2-40B4-BE49-F238E27FC236}">
                  <a16:creationId xmlns:a16="http://schemas.microsoft.com/office/drawing/2014/main" id="{A1E1A56E-B897-3DF5-1090-6986D7A20CF8}"/>
                </a:ext>
              </a:extLst>
            </p:cNvPr>
            <p:cNvCxnSpPr>
              <a:cxnSpLocks/>
            </p:cNvCxnSpPr>
            <p:nvPr/>
          </p:nvCxnSpPr>
          <p:spPr>
            <a:xfrm>
              <a:off x="101145" y="3607093"/>
              <a:ext cx="11925300" cy="0"/>
            </a:xfrm>
            <a:prstGeom prst="line">
              <a:avLst/>
            </a:prstGeom>
            <a:noFill/>
            <a:ln w="635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</p:cxnSp>
        <p:sp>
          <p:nvSpPr>
            <p:cNvPr id="355" name="フローチャート: 処理 354">
              <a:extLst>
                <a:ext uri="{FF2B5EF4-FFF2-40B4-BE49-F238E27FC236}">
                  <a16:creationId xmlns:a16="http://schemas.microsoft.com/office/drawing/2014/main" id="{927A5A89-F405-051A-B0CD-9E1280BF4224}"/>
                </a:ext>
              </a:extLst>
            </p:cNvPr>
            <p:cNvSpPr/>
            <p:nvPr/>
          </p:nvSpPr>
          <p:spPr>
            <a:xfrm>
              <a:off x="101145" y="2696013"/>
              <a:ext cx="986021" cy="911080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ctr" anchorCtr="0"/>
            <a:lstStyle/>
            <a:p>
              <a:pPr marL="0" marR="0" lvl="0" indent="0" algn="ctr" defTabSz="879475" eaLnBrk="1" latinLnBrk="0" hangingPunct="1">
                <a:lnSpc>
                  <a:spcPct val="100000"/>
                </a:lnSpc>
                <a:buClr>
                  <a:schemeClr val="accent2"/>
                </a:buClr>
                <a:buSzTx/>
                <a:buFontTx/>
                <a:buNone/>
                <a:tabLst/>
                <a:defRPr/>
              </a:pPr>
              <a:r>
                <a:rPr lang="ja-JP" altLang="en-US" sz="1100" b="1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構築担当</a:t>
              </a:r>
              <a:endParaRPr lang="en-US" altLang="ja-JP" sz="1100" b="1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56" name="フローチャート: 処理 355">
              <a:extLst>
                <a:ext uri="{FF2B5EF4-FFF2-40B4-BE49-F238E27FC236}">
                  <a16:creationId xmlns:a16="http://schemas.microsoft.com/office/drawing/2014/main" id="{25D88985-C56F-9663-80FA-09FB2D135807}"/>
                </a:ext>
              </a:extLst>
            </p:cNvPr>
            <p:cNvSpPr/>
            <p:nvPr/>
          </p:nvSpPr>
          <p:spPr>
            <a:xfrm>
              <a:off x="1087168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defTabSz="879475">
                <a:buClr>
                  <a:srgbClr val="595959"/>
                </a:buClr>
              </a:pPr>
              <a:r>
                <a:rPr lang="ja-JP" altLang="en-US" sz="1100" b="1" u="sng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設計・開発</a:t>
              </a:r>
              <a:endParaRPr lang="en-US" altLang="ja-JP" sz="1100" b="1" u="sng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内製部隊</a:t>
              </a: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</a:t>
              </a:r>
              <a:r>
                <a:rPr lang="en-US" altLang="ja-JP" sz="1100" dirty="0" err="1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LinkX</a:t>
              </a:r>
              <a:endParaRPr lang="en-US" altLang="ja-JP" sz="1100" b="1" u="sng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57" name="フローチャート: 処理 356">
              <a:extLst>
                <a:ext uri="{FF2B5EF4-FFF2-40B4-BE49-F238E27FC236}">
                  <a16:creationId xmlns:a16="http://schemas.microsoft.com/office/drawing/2014/main" id="{A9CA3F35-BA01-70EF-1825-E33751E4AAB0}"/>
                </a:ext>
              </a:extLst>
            </p:cNvPr>
            <p:cNvSpPr/>
            <p:nvPr/>
          </p:nvSpPr>
          <p:spPr>
            <a:xfrm>
              <a:off x="2464880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defTabSz="879475">
                <a:buClr>
                  <a:srgbClr val="595959"/>
                </a:buClr>
              </a:pPr>
              <a:r>
                <a:rPr lang="ja-JP" altLang="en-US" sz="1100" b="1" u="sng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設計</a:t>
              </a:r>
              <a:endParaRPr lang="en-US" altLang="ja-JP" sz="1100" b="1" u="sng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内製部隊</a:t>
              </a: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</a:t>
              </a:r>
              <a:r>
                <a:rPr lang="en-US" altLang="ja-JP" sz="1100" dirty="0" err="1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LinkX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defTabSz="879475">
                <a:buClr>
                  <a:srgbClr val="595959"/>
                </a:buClr>
              </a:pPr>
              <a:r>
                <a:rPr lang="ja-JP" altLang="en-US" sz="1100" b="1" u="sng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開発</a:t>
              </a:r>
              <a:endParaRPr lang="en-US" altLang="ja-JP" sz="1100" b="1" u="sng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内製部隊</a:t>
              </a: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/DSK</a:t>
              </a:r>
            </a:p>
          </p:txBody>
        </p:sp>
        <p:sp>
          <p:nvSpPr>
            <p:cNvPr id="358" name="フローチャート: 処理 357">
              <a:extLst>
                <a:ext uri="{FF2B5EF4-FFF2-40B4-BE49-F238E27FC236}">
                  <a16:creationId xmlns:a16="http://schemas.microsoft.com/office/drawing/2014/main" id="{DD998756-8F73-4641-9B67-9F64928752E2}"/>
                </a:ext>
              </a:extLst>
            </p:cNvPr>
            <p:cNvSpPr/>
            <p:nvPr/>
          </p:nvSpPr>
          <p:spPr>
            <a:xfrm>
              <a:off x="5213307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defTabSz="879475">
                <a:buClr>
                  <a:srgbClr val="595959"/>
                </a:buClr>
              </a:pPr>
              <a:r>
                <a:rPr lang="ja-JP" altLang="en-US" sz="1100" b="1" u="sng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設計</a:t>
              </a:r>
              <a:endParaRPr lang="en-US" altLang="ja-JP" sz="1100" b="1" u="sng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en-US" altLang="ja-JP" sz="1100" dirty="0" err="1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LinkX</a:t>
              </a: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/MS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パートナー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defTabSz="879475">
                <a:buClr>
                  <a:srgbClr val="595959"/>
                </a:buClr>
              </a:pPr>
              <a:r>
                <a:rPr lang="ja-JP" altLang="en-US" sz="1100" b="1" u="sng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開発</a:t>
              </a:r>
              <a:endParaRPr lang="en-US" altLang="ja-JP" sz="1100" b="1" u="sng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MS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パートナー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59" name="フローチャート: 処理 358">
              <a:extLst>
                <a:ext uri="{FF2B5EF4-FFF2-40B4-BE49-F238E27FC236}">
                  <a16:creationId xmlns:a16="http://schemas.microsoft.com/office/drawing/2014/main" id="{8F2BABDA-52C6-3F50-0D93-4F7CA3BEDB83}"/>
                </a:ext>
              </a:extLst>
            </p:cNvPr>
            <p:cNvSpPr/>
            <p:nvPr/>
          </p:nvSpPr>
          <p:spPr>
            <a:xfrm>
              <a:off x="3838988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defTabSz="879475">
                <a:buClr>
                  <a:srgbClr val="595959"/>
                </a:buClr>
              </a:pPr>
              <a:r>
                <a:rPr lang="ja-JP" altLang="en-US" sz="1100" b="1" u="sng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設計</a:t>
              </a:r>
              <a:endParaRPr lang="en-US" altLang="ja-JP" sz="1100" b="1" u="sng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en-US" altLang="ja-JP" sz="1100" dirty="0" err="1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LinkX</a:t>
              </a: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/MS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パートナー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defTabSz="879475">
                <a:buClr>
                  <a:srgbClr val="595959"/>
                </a:buClr>
              </a:pPr>
              <a:r>
                <a:rPr lang="ja-JP" altLang="en-US" sz="1100" b="1" u="sng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開発</a:t>
              </a:r>
              <a:endParaRPr lang="en-US" altLang="ja-JP" sz="1100" b="1" u="sng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MS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パートナー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60" name="フローチャート: 処理 359">
              <a:extLst>
                <a:ext uri="{FF2B5EF4-FFF2-40B4-BE49-F238E27FC236}">
                  <a16:creationId xmlns:a16="http://schemas.microsoft.com/office/drawing/2014/main" id="{955785DD-9CF2-E93A-5FE9-60098B981F48}"/>
                </a:ext>
              </a:extLst>
            </p:cNvPr>
            <p:cNvSpPr/>
            <p:nvPr/>
          </p:nvSpPr>
          <p:spPr>
            <a:xfrm>
              <a:off x="6587415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defTabSz="879475">
                <a:buClr>
                  <a:srgbClr val="595959"/>
                </a:buClr>
              </a:pPr>
              <a:r>
                <a:rPr lang="ja-JP" altLang="en-US" sz="1100" b="1" u="sng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設計</a:t>
              </a:r>
              <a:endParaRPr lang="en-US" altLang="ja-JP" sz="1100" b="1" u="sng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en-US" altLang="ja-JP" sz="1100" dirty="0" err="1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LinkX</a:t>
              </a: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/MS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パートナー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defTabSz="879475">
                <a:buClr>
                  <a:srgbClr val="595959"/>
                </a:buClr>
              </a:pPr>
              <a:r>
                <a:rPr lang="ja-JP" altLang="en-US" sz="1100" b="1" u="sng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開発</a:t>
              </a:r>
              <a:endParaRPr lang="en-US" altLang="ja-JP" sz="1100" b="1" u="sng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MS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パートナー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61" name="フローチャート: 処理 360">
              <a:extLst>
                <a:ext uri="{FF2B5EF4-FFF2-40B4-BE49-F238E27FC236}">
                  <a16:creationId xmlns:a16="http://schemas.microsoft.com/office/drawing/2014/main" id="{B0942121-963F-D7FB-557F-7CF3F078F0F8}"/>
                </a:ext>
              </a:extLst>
            </p:cNvPr>
            <p:cNvSpPr/>
            <p:nvPr/>
          </p:nvSpPr>
          <p:spPr>
            <a:xfrm>
              <a:off x="7961279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defTabSz="879475">
                <a:buClr>
                  <a:srgbClr val="595959"/>
                </a:buClr>
              </a:pPr>
              <a:r>
                <a:rPr lang="ja-JP" altLang="en-US" sz="1100" b="1" u="sng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設計</a:t>
              </a:r>
              <a:endParaRPr lang="en-US" altLang="ja-JP" sz="1100" b="1" u="sng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en-US" altLang="ja-JP" sz="1100" dirty="0" err="1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LinkX</a:t>
              </a: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/MS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パートナー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defTabSz="879475">
                <a:buClr>
                  <a:srgbClr val="595959"/>
                </a:buClr>
              </a:pPr>
              <a:r>
                <a:rPr lang="ja-JP" altLang="en-US" sz="1100" b="1" u="sng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開発</a:t>
              </a:r>
              <a:endParaRPr lang="en-US" altLang="ja-JP" sz="1100" b="1" u="sng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MS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パートナー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62" name="フローチャート: 処理 361">
              <a:extLst>
                <a:ext uri="{FF2B5EF4-FFF2-40B4-BE49-F238E27FC236}">
                  <a16:creationId xmlns:a16="http://schemas.microsoft.com/office/drawing/2014/main" id="{A4F36742-47AB-B4BB-8955-71E43250307E}"/>
                </a:ext>
              </a:extLst>
            </p:cNvPr>
            <p:cNvSpPr/>
            <p:nvPr/>
          </p:nvSpPr>
          <p:spPr>
            <a:xfrm>
              <a:off x="9335387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defTabSz="879475">
                <a:buClr>
                  <a:srgbClr val="595959"/>
                </a:buClr>
              </a:pPr>
              <a:r>
                <a:rPr lang="ja-JP" altLang="en-US" sz="1100" b="1" u="sng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設計</a:t>
              </a:r>
              <a:endParaRPr lang="en-US" altLang="ja-JP" sz="1100" b="1" u="sng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en-US" altLang="ja-JP" sz="1100" dirty="0" err="1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LinkX</a:t>
              </a: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/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内製部隊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defTabSz="879475">
                <a:buClr>
                  <a:srgbClr val="595959"/>
                </a:buClr>
              </a:pPr>
              <a:r>
                <a:rPr lang="ja-JP" altLang="en-US" sz="1100" b="1" u="sng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開発</a:t>
              </a:r>
              <a:endParaRPr lang="en-US" altLang="ja-JP" sz="1100" b="1" u="sng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MS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パートナー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63" name="フローチャート: 処理 362">
              <a:extLst>
                <a:ext uri="{FF2B5EF4-FFF2-40B4-BE49-F238E27FC236}">
                  <a16:creationId xmlns:a16="http://schemas.microsoft.com/office/drawing/2014/main" id="{02E43D53-CB13-FCFE-5BA7-0038D5A23F48}"/>
                </a:ext>
              </a:extLst>
            </p:cNvPr>
            <p:cNvSpPr/>
            <p:nvPr/>
          </p:nvSpPr>
          <p:spPr>
            <a:xfrm>
              <a:off x="10709251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defTabSz="879475">
                <a:buClr>
                  <a:srgbClr val="595959"/>
                </a:buClr>
              </a:pPr>
              <a:r>
                <a:rPr lang="ja-JP" altLang="en-US" sz="1100" b="1" u="sng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設計・開発</a:t>
              </a:r>
              <a:endParaRPr lang="en-US" altLang="ja-JP" sz="1100" b="1" u="sng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en-US" altLang="ja-JP" sz="1100" dirty="0" err="1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LinkX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(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副</a:t>
              </a: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)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内製部隊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71414B4-AE5C-DF70-892F-4C2325AA5AF2}"/>
              </a:ext>
            </a:extLst>
          </p:cNvPr>
          <p:cNvGrpSpPr/>
          <p:nvPr/>
        </p:nvGrpSpPr>
        <p:grpSpPr>
          <a:xfrm>
            <a:off x="100711" y="4531002"/>
            <a:ext cx="11925300" cy="911080"/>
            <a:chOff x="101145" y="2696013"/>
            <a:chExt cx="11925300" cy="911080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5C1B5B36-1282-C913-DC0E-E428092C6343}"/>
                </a:ext>
              </a:extLst>
            </p:cNvPr>
            <p:cNvCxnSpPr>
              <a:cxnSpLocks/>
            </p:cNvCxnSpPr>
            <p:nvPr/>
          </p:nvCxnSpPr>
          <p:spPr>
            <a:xfrm>
              <a:off x="101145" y="3607093"/>
              <a:ext cx="11925300" cy="0"/>
            </a:xfrm>
            <a:prstGeom prst="line">
              <a:avLst/>
            </a:prstGeom>
            <a:noFill/>
            <a:ln w="635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</p:cxnSp>
        <p:sp>
          <p:nvSpPr>
            <p:cNvPr id="6" name="フローチャート: 処理 5">
              <a:extLst>
                <a:ext uri="{FF2B5EF4-FFF2-40B4-BE49-F238E27FC236}">
                  <a16:creationId xmlns:a16="http://schemas.microsoft.com/office/drawing/2014/main" id="{4C8F1D13-ABD8-DC78-6283-BBF3DEB6B87B}"/>
                </a:ext>
              </a:extLst>
            </p:cNvPr>
            <p:cNvSpPr/>
            <p:nvPr/>
          </p:nvSpPr>
          <p:spPr>
            <a:xfrm>
              <a:off x="101145" y="2696013"/>
              <a:ext cx="986021" cy="911080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ctr" anchorCtr="0"/>
            <a:lstStyle/>
            <a:p>
              <a:pPr marL="0" marR="0" lvl="0" indent="0" algn="ctr" defTabSz="879475" eaLnBrk="1" latinLnBrk="0" hangingPunct="1">
                <a:lnSpc>
                  <a:spcPct val="100000"/>
                </a:lnSpc>
                <a:buClr>
                  <a:schemeClr val="accent2"/>
                </a:buClr>
                <a:buSzTx/>
                <a:buFontTx/>
                <a:buNone/>
                <a:tabLst/>
                <a:defRPr/>
              </a:pPr>
              <a:r>
                <a:rPr lang="ja-JP" altLang="en-US" sz="1100" b="1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運用担当</a:t>
              </a:r>
              <a:endParaRPr lang="en-US" altLang="ja-JP" sz="1100" b="1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7" name="フローチャート: 処理 6">
              <a:extLst>
                <a:ext uri="{FF2B5EF4-FFF2-40B4-BE49-F238E27FC236}">
                  <a16:creationId xmlns:a16="http://schemas.microsoft.com/office/drawing/2014/main" id="{338511CA-CC34-C722-1DE7-43C537DBD05B}"/>
                </a:ext>
              </a:extLst>
            </p:cNvPr>
            <p:cNvSpPr/>
            <p:nvPr/>
          </p:nvSpPr>
          <p:spPr>
            <a:xfrm>
              <a:off x="1087168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業務ユーザー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" name="フローチャート: 処理 7">
              <a:extLst>
                <a:ext uri="{FF2B5EF4-FFF2-40B4-BE49-F238E27FC236}">
                  <a16:creationId xmlns:a16="http://schemas.microsoft.com/office/drawing/2014/main" id="{7C0FB415-E1C7-55BF-7086-2E03526B9574}"/>
                </a:ext>
              </a:extLst>
            </p:cNvPr>
            <p:cNvSpPr/>
            <p:nvPr/>
          </p:nvSpPr>
          <p:spPr>
            <a:xfrm>
              <a:off x="2464880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en-US" altLang="ja-JP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AI</a:t>
              </a: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エージェント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各種処理システム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" name="フローチャート: 処理 8">
              <a:extLst>
                <a:ext uri="{FF2B5EF4-FFF2-40B4-BE49-F238E27FC236}">
                  <a16:creationId xmlns:a16="http://schemas.microsoft.com/office/drawing/2014/main" id="{D40665D1-B698-443E-4511-7C881311DA4B}"/>
                </a:ext>
              </a:extLst>
            </p:cNvPr>
            <p:cNvSpPr/>
            <p:nvPr/>
          </p:nvSpPr>
          <p:spPr>
            <a:xfrm>
              <a:off x="5213307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システム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フローチャート: 処理 9">
              <a:extLst>
                <a:ext uri="{FF2B5EF4-FFF2-40B4-BE49-F238E27FC236}">
                  <a16:creationId xmlns:a16="http://schemas.microsoft.com/office/drawing/2014/main" id="{A4C1C0FE-364C-B155-0CC4-15CE026F5844}"/>
                </a:ext>
              </a:extLst>
            </p:cNvPr>
            <p:cNvSpPr/>
            <p:nvPr/>
          </p:nvSpPr>
          <p:spPr>
            <a:xfrm>
              <a:off x="3838988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システム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フローチャート: 処理 10">
              <a:extLst>
                <a:ext uri="{FF2B5EF4-FFF2-40B4-BE49-F238E27FC236}">
                  <a16:creationId xmlns:a16="http://schemas.microsoft.com/office/drawing/2014/main" id="{8BA2AFF1-8986-7EB8-44AF-D992A83C1FF1}"/>
                </a:ext>
              </a:extLst>
            </p:cNvPr>
            <p:cNvSpPr/>
            <p:nvPr/>
          </p:nvSpPr>
          <p:spPr>
            <a:xfrm>
              <a:off x="6587415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システム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フローチャート: 処理 11">
              <a:extLst>
                <a:ext uri="{FF2B5EF4-FFF2-40B4-BE49-F238E27FC236}">
                  <a16:creationId xmlns:a16="http://schemas.microsoft.com/office/drawing/2014/main" id="{0C7EC0E3-4B09-6FB0-4C38-D77A02C80F05}"/>
                </a:ext>
              </a:extLst>
            </p:cNvPr>
            <p:cNvSpPr/>
            <p:nvPr/>
          </p:nvSpPr>
          <p:spPr>
            <a:xfrm>
              <a:off x="7961279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システム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フローチャート: 処理 12">
              <a:extLst>
                <a:ext uri="{FF2B5EF4-FFF2-40B4-BE49-F238E27FC236}">
                  <a16:creationId xmlns:a16="http://schemas.microsoft.com/office/drawing/2014/main" id="{768916A9-F65E-D585-1366-0BB438708222}"/>
                </a:ext>
              </a:extLst>
            </p:cNvPr>
            <p:cNvSpPr/>
            <p:nvPr/>
          </p:nvSpPr>
          <p:spPr>
            <a:xfrm>
              <a:off x="9335387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分析担当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業務ユーザー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管理層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ローチャート: 処理 13">
              <a:extLst>
                <a:ext uri="{FF2B5EF4-FFF2-40B4-BE49-F238E27FC236}">
                  <a16:creationId xmlns:a16="http://schemas.microsoft.com/office/drawing/2014/main" id="{B44840C4-8006-C9C6-6126-880F8AA374EF}"/>
                </a:ext>
              </a:extLst>
            </p:cNvPr>
            <p:cNvSpPr/>
            <p:nvPr/>
          </p:nvSpPr>
          <p:spPr>
            <a:xfrm>
              <a:off x="10709251" y="2735070"/>
              <a:ext cx="1316977" cy="823813"/>
            </a:xfrm>
            <a:prstGeom prst="flowChartProcess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wrap="none" lIns="58471" tIns="58471" rIns="58471" bIns="58471" rtlCol="0" anchor="t" anchorCtr="0"/>
            <a:lstStyle/>
            <a:p>
              <a:pPr marL="85725" indent="-85725" defTabSz="879475">
                <a:buClr>
                  <a:srgbClr val="595959"/>
                </a:buClr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accent4">
                      <a:lumMod val="65000"/>
                      <a:lumOff val="3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開発担当</a:t>
              </a:r>
              <a:endParaRPr lang="en-US" altLang="ja-JP" sz="1100" dirty="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27663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4162&quot;&gt;&lt;version val=&quot;270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5potWIdYMJl6F809y9Vx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企画書テンプレートRLS14ver">
  <a:themeElements>
    <a:clrScheme name="3_JJ Division 企画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ユーザー定義 2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00"/>
        </a:solidFill>
        <a:ln w="9525">
          <a:solidFill>
            <a:schemeClr val="bg1">
              <a:lumMod val="50000"/>
            </a:schemeClr>
          </a:solidFill>
        </a:ln>
      </a:spPr>
      <a:bodyPr vert="horz" rtlCol="0" anchor="ctr"/>
      <a:lstStyle>
        <a:defPPr algn="ctr">
          <a:defRPr kumimoji="1" sz="1400" dirty="0" smtClean="0">
            <a:solidFill>
              <a:schemeClr val="accent4">
                <a:lumMod val="65000"/>
                <a:lumOff val="35000"/>
              </a:schemeClr>
            </a:solidFill>
            <a:latin typeface="+mn-ea"/>
            <a:cs typeface="Hiragino Kaku Gothic Pro W3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 algn="l">
          <a:defRPr kumimoji="1" sz="1600" dirty="0" smtClean="0">
            <a:solidFill>
              <a:schemeClr val="accent4">
                <a:lumMod val="65000"/>
                <a:lumOff val="35000"/>
              </a:schemeClr>
            </a:solidFill>
            <a:latin typeface="Meiryo UI" panose="020B0604030504040204" pitchFamily="50" charset="-128"/>
            <a:ea typeface="Meiryo UI" panose="020B0604030504040204" pitchFamily="50" charset="-128"/>
            <a:cs typeface="メイリオ"/>
          </a:defRPr>
        </a:defPPr>
      </a:lstStyle>
    </a:txDef>
  </a:objectDefaults>
  <a:extraClrSchemeLst>
    <a:extraClrScheme>
      <a:clrScheme name="3_JJ Division 企画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JJ Division 企画Ｇ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EAF83FE5A3B0741ABFE8863C0A817DE" ma:contentTypeVersion="25" ma:contentTypeDescription="新しいドキュメントを作成します。" ma:contentTypeScope="" ma:versionID="bedcb010f039cdd58f9d19b71177c122">
  <xsd:schema xmlns:xsd="http://www.w3.org/2001/XMLSchema" xmlns:xs="http://www.w3.org/2001/XMLSchema" xmlns:p="http://schemas.microsoft.com/office/2006/metadata/properties" xmlns:ns2="2663f714-e648-46a2-8c75-0b4476465bbe" xmlns:ns3="68893545-e206-4c87-a1d0-cb18894f78fd" targetNamespace="http://schemas.microsoft.com/office/2006/metadata/properties" ma:root="true" ma:fieldsID="6404ca7b28d61a4b50b079207919d3df" ns2:_="" ns3:_="">
    <xsd:import namespace="2663f714-e648-46a2-8c75-0b4476465bbe"/>
    <xsd:import namespace="68893545-e206-4c87-a1d0-cb18894f78f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Flow_SignoffStatus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Location" minOccurs="0"/>
                <xsd:element ref="ns3:_x2605__x53c2__x7167_Only" minOccurs="0"/>
                <xsd:element ref="ns3:lcf76f155ced4ddcb4097134ff3c332f" minOccurs="0"/>
                <xsd:element ref="ns2:TaxCatchAll" minOccurs="0"/>
                <xsd:element ref="ns3:PreviewLink" minOccurs="0"/>
                <xsd:element ref="ns3:MediaServiceObjectDetectorVersions" minOccurs="0"/>
                <xsd:element ref="ns3:preview" minOccurs="0"/>
                <xsd:element ref="ns3:_x30d7__x30ec__x30d3__x30e5__x30fc_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63f714-e648-46a2-8c75-0b4476465bb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a3c643b4-1fe4-441b-9848-16d1594d1806}" ma:internalName="TaxCatchAll" ma:showField="CatchAllData" ma:web="2663f714-e648-46a2-8c75-0b4476465b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893545-e206-4c87-a1d0-cb18894f78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_Flow_SignoffStatus" ma:index="17" nillable="true" ma:displayName="承認の状態" ma:internalName="_x627f__x8a8d__x306e__x72b6__x614b_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x2605__x53c2__x7167_Only" ma:index="22" nillable="true" ma:displayName="★参照Only" ma:format="Dropdown" ma:internalName="_x2605__x53c2__x7167_Only">
      <xsd:simpleType>
        <xsd:restriction base="dms:Text">
          <xsd:maxLength value="255"/>
        </xsd:restriction>
      </xsd:simpleType>
    </xsd:element>
    <xsd:element name="lcf76f155ced4ddcb4097134ff3c332f" ma:index="24" nillable="true" ma:taxonomy="true" ma:internalName="lcf76f155ced4ddcb4097134ff3c332f" ma:taxonomyFieldName="MediaServiceImageTags" ma:displayName="画像タグ" ma:readOnly="false" ma:fieldId="{5cf76f15-5ced-4ddc-b409-7134ff3c332f}" ma:taxonomyMulti="true" ma:sspId="a3a9e2b4-bd26-462e-b1d1-efb57a7163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PreviewLink" ma:index="26" nillable="true" ma:displayName="PreviewLink" ma:format="Dropdown" ma:internalName="PreviewLink">
      <xsd:simpleType>
        <xsd:restriction base="dms:Text">
          <xsd:maxLength value="255"/>
        </xsd:restriction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preview" ma:index="28" nillable="true" ma:displayName="preview" ma:description="preview" ma:format="Dropdown" ma:internalName="preview">
      <xsd:simpleType>
        <xsd:restriction base="dms:Text">
          <xsd:maxLength value="255"/>
        </xsd:restriction>
      </xsd:simpleType>
    </xsd:element>
    <xsd:element name="_x30d7__x30ec__x30d3__x30e5__x30fc_" ma:index="29" nillable="true" ma:displayName="プレビュー" ma:format="Dropdown" ma:internalName="_x30d7__x30ec__x30d3__x30e5__x30fc_">
      <xsd:simpleType>
        <xsd:restriction base="dms:Text">
          <xsd:maxLength value="255"/>
        </xsd:restriction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>
    <_Flow_SignoffStatus xmlns="68893545-e206-4c87-a1d0-cb18894f78fd" xsi:nil="true"/>
    <_x2605__x53c2__x7167_Only xmlns="68893545-e206-4c87-a1d0-cb18894f78fd" xsi:nil="true"/>
    <TaxCatchAll xmlns="2663f714-e648-46a2-8c75-0b4476465bbe" xsi:nil="true"/>
    <lcf76f155ced4ddcb4097134ff3c332f xmlns="68893545-e206-4c87-a1d0-cb18894f78fd">
      <Terms xmlns="http://schemas.microsoft.com/office/infopath/2007/PartnerControls"/>
    </lcf76f155ced4ddcb4097134ff3c332f>
    <SharedWithUsers xmlns="2663f714-e648-46a2-8c75-0b4476465bbe">
      <UserInfo>
        <DisplayName>石本 久美子</DisplayName>
        <AccountId>1163</AccountId>
        <AccountType/>
      </UserInfo>
      <UserInfo>
        <DisplayName>池上 彩</DisplayName>
        <AccountId>1673</AccountId>
        <AccountType/>
      </UserInfo>
      <UserInfo>
        <DisplayName>長嶺 稜</DisplayName>
        <AccountId>262</AccountId>
        <AccountType/>
      </UserInfo>
      <UserInfo>
        <DisplayName>北原 卓実</DisplayName>
        <AccountId>637</AccountId>
        <AccountType/>
      </UserInfo>
    </SharedWithUsers>
    <PreviewLink xmlns="68893545-e206-4c87-a1d0-cb18894f78fd" xsi:nil="true"/>
    <preview xmlns="68893545-e206-4c87-a1d0-cb18894f78fd" xsi:nil="true"/>
    <_x30d7__x30ec__x30d3__x30e5__x30fc_ xmlns="68893545-e206-4c87-a1d0-cb18894f78f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A2F7194-C21C-45AB-8148-59CF745E91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63f714-e648-46a2-8c75-0b4476465bbe"/>
    <ds:schemaRef ds:uri="68893545-e206-4c87-a1d0-cb18894f78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E223CF-2E60-7248-B334-C62B424CF89B}">
  <ds:schemaRefs>
    <ds:schemaRef ds:uri="2663f714-e648-46a2-8c75-0b4476465bbe"/>
    <ds:schemaRef ds:uri="68893545-e206-4c87-a1d0-cb18894f78f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106ADAE-FD93-4FF4-9DFE-EE012FC8C9B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274</Words>
  <Application>Microsoft Office PowerPoint</Application>
  <PresentationFormat>ワイド画面</PresentationFormat>
  <Paragraphs>95</Paragraphs>
  <Slides>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 UI</vt:lpstr>
      <vt:lpstr>MS UI Gothic</vt:lpstr>
      <vt:lpstr>Arial</vt:lpstr>
      <vt:lpstr>Wingdings</vt:lpstr>
      <vt:lpstr>企画書テンプレートRLS14ver</vt:lpstr>
      <vt:lpstr>think-cell スライド</vt:lpstr>
      <vt:lpstr>n8n×AzureのAIエージェント基盤全体像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片山　亮</dc:creator>
  <cp:lastModifiedBy>越智 啓人</cp:lastModifiedBy>
  <cp:revision>24</cp:revision>
  <cp:lastPrinted>2018-07-02T06:06:58Z</cp:lastPrinted>
  <dcterms:modified xsi:type="dcterms:W3CDTF">2026-01-05T22:14:47Z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0x010100BEAF83FE5A3B0741ABFE8863C0A817DE</vt:lpwstr>
  </property>
  <property fmtid="{D5CDD505-2E9C-101B-9397-08002B2CF9AE}" pid="3" name="Order">
    <vt:r8>5092800</vt:r8>
  </property>
  <property fmtid="{D5CDD505-2E9C-101B-9397-08002B2CF9AE}" pid="4" name="ComplianceAssetId">
    <vt:lpwstr/>
  </property>
  <property fmtid="{D5CDD505-2E9C-101B-9397-08002B2CF9AE}" pid="5" name="MediaServiceImageTags">
    <vt:lpwstr/>
  </property>
</Properties>
</file>