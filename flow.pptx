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5.xml" ContentType="application/vnd.openxmlformats-officedocument.theme+xml"/>
  <Override PartName="/ppt/tags/tag5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87" r:id="rId5"/>
    <p:sldMasterId id="2147483714" r:id="rId6"/>
    <p:sldMasterId id="2147483727" r:id="rId7"/>
  </p:sldMasterIdLst>
  <p:notesMasterIdLst>
    <p:notesMasterId r:id="rId20"/>
  </p:notesMasterIdLst>
  <p:sldIdLst>
    <p:sldId id="2147375835" r:id="rId8"/>
    <p:sldId id="2472" r:id="rId9"/>
    <p:sldId id="2147375837" r:id="rId10"/>
    <p:sldId id="2147375836" r:id="rId11"/>
    <p:sldId id="2147476404" r:id="rId12"/>
    <p:sldId id="2147476406" r:id="rId13"/>
    <p:sldId id="2147476405" r:id="rId14"/>
    <p:sldId id="2147476411" r:id="rId15"/>
    <p:sldId id="2147476410" r:id="rId16"/>
    <p:sldId id="2147476409" r:id="rId17"/>
    <p:sldId id="2147476408" r:id="rId18"/>
    <p:sldId id="2147476407"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C74D1B05-F745-4821-9988-6A4753E06D5A}">
          <p14:sldIdLst/>
        </p14:section>
        <p14:section name="説明資料" id="{2DC3D023-5C47-48C9-B61E-01AE25E52B6D}">
          <p14:sldIdLst>
            <p14:sldId id="2147375835"/>
            <p14:sldId id="2472"/>
            <p14:sldId id="2147375837"/>
            <p14:sldId id="2147375836"/>
            <p14:sldId id="2147476404"/>
            <p14:sldId id="2147476406"/>
            <p14:sldId id="2147476405"/>
            <p14:sldId id="2147476411"/>
            <p14:sldId id="2147476410"/>
            <p14:sldId id="2147476409"/>
            <p14:sldId id="2147476408"/>
            <p14:sldId id="2147476407"/>
          </p14:sldIdLst>
        </p14:section>
        <p14:section name="APPENDIX" id="{DCD2BAD8-F3B8-4B11-9075-710FFD42517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65707-383C-1590-7E1E-1CC0529CB55F}" name="大島 靖弘" initials="大靖" userId="S::yasuhiro_oshima@r.recruit.co.jp::28eeaa14-31cc-4ece-87ec-e8962a8a84d4" providerId="AD"/>
  <p188:author id="{6431D53F-952F-5F50-953F-364987793893}" name="柳 健太郎" initials="柳" userId="S::kentaro_yanagi@waku-2.com::e70dbdbe-df40-49ae-a86a-1e8d7be31622" providerId="AD"/>
  <p188:author id="{F1F32761-01E8-6056-7038-BB44C368A65E}" name="廣重 仁美" initials="廣仁" userId="S::hitomi_hiroshige@r.recruit.co.jp::c84703b0-159c-4dcd-9b70-45758aeefaa2" providerId="AD"/>
  <p188:author id="{D24CD376-B6C9-3489-6D9D-E30C1787331D}" name="七田　昌俊" initials="M.S." userId="七田　昌俊" providerId="None"/>
  <p188:author id="{6460BEA9-7274-72F9-072B-5A6B86DB92DA}" name="佐伯 奈々" initials="佐伯" userId="S::nana_saeki@r.recruit.co.jp::4e96e5c6-a182-4590-8066-b53b29189d21" providerId="AD"/>
  <p188:author id="{1C87C6BB-0E83-6D4C-4D1C-CF848BA4275F}" name="紺谷 龍太郎" initials="紺谷" userId="S::ryutaro_konya@waku-2.com::92c16fd9-bfdd-4abc-9dc0-c31ed4ed90b6" providerId="AD"/>
  <p188:author id="{355150C8-2B5B-65E8-B901-E35A8F093439}" name="恒屋 雄治" initials="恒屋" userId="S::y_tsuneya@r.recruit.co.jp::eb5c1709-198a-482d-8458-73fb0d140cd6" providerId="AD"/>
  <p188:author id="{F60350E1-ED74-C168-7D68-2E4689A28705}" name="土久 穂高" initials="土穂" userId="S::do9h@r.recruit.co.jp::43519758-b9b7-42e7-8b1b-732548645f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EAA"/>
    <a:srgbClr val="E9E9FF"/>
    <a:srgbClr val="A5A5E9"/>
    <a:srgbClr val="2895D5"/>
    <a:srgbClr val="E6E6E6"/>
    <a:srgbClr val="BABAFF"/>
    <a:srgbClr val="FFFFCC"/>
    <a:srgbClr val="FFF2B9"/>
    <a:srgbClr val="FFDDDD"/>
    <a:srgbClr val="C2F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41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E2322-BDA3-4EEB-BC4E-E178FFD202E9}" type="datetimeFigureOut">
              <a:rPr kumimoji="1" lang="ja-JP" altLang="en-US" smtClean="0"/>
              <a:t>2026/5/6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173A-8754-48DB-9150-A006ED359F83}" type="slidenum">
              <a:rPr kumimoji="1" lang="ja-JP" altLang="en-US" smtClean="0"/>
              <a:t>‹#›</a:t>
            </a:fld>
            <a:endParaRPr kumimoji="1" lang="ja-JP" altLang="en-US"/>
          </a:p>
        </p:txBody>
      </p:sp>
    </p:spTree>
    <p:extLst>
      <p:ext uri="{BB962C8B-B14F-4D97-AF65-F5344CB8AC3E}">
        <p14:creationId xmlns:p14="http://schemas.microsoft.com/office/powerpoint/2010/main" val="3666676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99C3-C3FA-0B32-6202-8DC5FCA239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F8754D-D207-DCF0-5F05-6E52043923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B092AE-2C20-6D05-1631-804241CF914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6309D9FD-6134-F190-7268-9DB5B84518FF}"/>
              </a:ext>
            </a:extLst>
          </p:cNvPr>
          <p:cNvSpPr>
            <a:spLocks noGrp="1"/>
          </p:cNvSpPr>
          <p:nvPr>
            <p:ph type="sldNum" sz="quarter" idx="10"/>
          </p:nvPr>
        </p:nvSpPr>
        <p:spPr/>
        <p:txBody>
          <a:bodyPr/>
          <a:lstStyle/>
          <a:p>
            <a:pPr>
              <a:defRPr/>
            </a:pPr>
            <a:fld id="{1FBF1EA7-1322-4E8A-8143-24868A27BA7C}" type="slidenum">
              <a:rPr lang="ja-JP" altLang="en-US" smtClean="0"/>
              <a:pPr>
                <a:defRPr/>
              </a:pPr>
              <a:t>2</a:t>
            </a:fld>
            <a:endParaRPr lang="ja-JP" altLang="en-US"/>
          </a:p>
        </p:txBody>
      </p:sp>
    </p:spTree>
    <p:extLst>
      <p:ext uri="{BB962C8B-B14F-4D97-AF65-F5344CB8AC3E}">
        <p14:creationId xmlns:p14="http://schemas.microsoft.com/office/powerpoint/2010/main" val="619813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2CE50-94E8-C577-571F-668A5ECCBB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7CD9E2-6513-8C61-EAD8-AA65AE9FCC5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6E7E4F7-A671-5C51-BFAE-0F62BEACE4D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0381DD33-835E-26BD-25A2-9B26A9A7F344}"/>
              </a:ext>
            </a:extLst>
          </p:cNvPr>
          <p:cNvSpPr>
            <a:spLocks noGrp="1"/>
          </p:cNvSpPr>
          <p:nvPr>
            <p:ph type="sldNum" sz="quarter" idx="10"/>
          </p:nvPr>
        </p:nvSpPr>
        <p:spPr/>
        <p:txBody>
          <a:bodyPr/>
          <a:lstStyle/>
          <a:p>
            <a:pPr>
              <a:defRPr/>
            </a:pPr>
            <a:fld id="{1FBF1EA7-1322-4E8A-8143-24868A27BA7C}" type="slidenum">
              <a:rPr lang="ja-JP" altLang="en-US" smtClean="0"/>
              <a:pPr>
                <a:defRPr/>
              </a:pPr>
              <a:t>3</a:t>
            </a:fld>
            <a:endParaRPr lang="ja-JP" altLang="en-US"/>
          </a:p>
        </p:txBody>
      </p:sp>
    </p:spTree>
    <p:extLst>
      <p:ext uri="{BB962C8B-B14F-4D97-AF65-F5344CB8AC3E}">
        <p14:creationId xmlns:p14="http://schemas.microsoft.com/office/powerpoint/2010/main" val="285076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0BA89-7EA4-9394-522E-E5FF9170DF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2B5807-222E-C559-63CA-7A589148CA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C65B723-10D8-D09E-ACCE-4CD05F57A4D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0DE7C32-E476-FE96-D85E-1D8AA7426D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4096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C9450-5F40-032E-9EDD-7677D681B6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1B3AE4-AEEC-F906-BB9B-C65D7B7E1E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3D6F48-17C0-71AE-DC90-8A0B3CB08BE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2794323-0FD3-67EF-1699-A1163013E5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70040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33AE-F48C-586F-7793-13809D0F39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ECA89B-2EA0-E091-F040-9648954CD8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0680DFD-8C06-7F73-7442-E5D5942F40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06D0FD0-BA95-3ABB-3457-8291F1A8CB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30993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60AB4-82EB-E113-11BA-650517B0EF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590270-A218-0817-D176-DCF133AD94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5BC9F4-91DA-89F6-9130-EDABAC56DF2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730D3E4-8D60-0EB4-4FC8-49B87B3764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487488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F1AE5-CD6D-BB28-9231-18EE087D78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CF64E9-3A91-2185-93FC-40C8E99B89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9B04C7-3BEE-F7F1-142A-34626D4E852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8F061E-9405-4A8C-F911-4A775A1539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227307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A33A8-86EF-6A63-64B8-362BD24AF5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2CD048-667C-7775-B7C3-A8E3FC854AC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8F6AC1F-90CD-DFB8-7E3F-2DEDADAA0D6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F6B206F-504B-BD68-71A1-D7C469BCCB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0204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8DB8-69B3-9CDC-2803-27A2725B4C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684690-1680-AAAC-FFEE-6F941670190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80E4FD-CCD8-B7C9-6D02-05C65310277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AD834DD-76A1-24AC-2D1C-F223553EC0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876356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27ED-C1F5-6DC6-9FFD-43189C177D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0D7844-A569-1AD7-0D03-1E4102165B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09F8E2-788A-A075-4C88-CA20A455D87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EA68E81-8431-527B-9D81-2E90F5926A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73723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0.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2.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6.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7.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8.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9.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10.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1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6.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7.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8.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9.xml"/><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0.xml"/><Relationship Id="rId4"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1.xml"/><Relationship Id="rId4" Type="http://schemas.openxmlformats.org/officeDocument/2006/relationships/image" Target="../media/image6.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2.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3.xml"/><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4.xml"/><Relationship Id="rId4" Type="http://schemas.openxmlformats.org/officeDocument/2006/relationships/image" Target="../media/image9.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5.xml"/><Relationship Id="rId4" Type="http://schemas.openxmlformats.org/officeDocument/2006/relationships/image" Target="../media/image10.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6.xml"/><Relationship Id="rId4" Type="http://schemas.openxmlformats.org/officeDocument/2006/relationships/image" Target="../media/image1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7.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27410127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0864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28236156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2023</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13892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3086183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39425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10826729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1671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34029204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312350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29195158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83939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317910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111134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6647568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33039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3411435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1477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597220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21071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14654062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29218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75213273"/>
              </p:ext>
            </p:ext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13687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タイトル スライド">
    <p:spTree>
      <p:nvGrpSpPr>
        <p:cNvPr id="1" name=""/>
        <p:cNvGrpSpPr/>
        <p:nvPr/>
      </p:nvGrpSpPr>
      <p:grpSpPr>
        <a:xfrm>
          <a:off x="0" y="0"/>
          <a:ext cx="0" cy="0"/>
          <a:chOff x="0" y="0"/>
          <a:chExt cx="0" cy="0"/>
        </a:xfrm>
      </p:grpSpPr>
      <p:pic>
        <p:nvPicPr>
          <p:cNvPr id="3" name="図 11" descr="名称未設定-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49684" y="5770564"/>
            <a:ext cx="3655483" cy="719137"/>
          </a:xfrm>
          <a:prstGeom prst="rect">
            <a:avLst/>
          </a:prstGeom>
          <a:noFill/>
          <a:ln w="9525">
            <a:noFill/>
            <a:miter lim="800000"/>
            <a:headEnd/>
            <a:tailEnd/>
          </a:ln>
        </p:spPr>
      </p:pic>
      <p:pic>
        <p:nvPicPr>
          <p:cNvPr id="4" name="図 10" descr="リクルート＿パワーポイント＿元データ.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1717867" cy="5316538"/>
          </a:xfrm>
          <a:prstGeom prst="rect">
            <a:avLst/>
          </a:prstGeom>
          <a:noFill/>
          <a:ln w="9525">
            <a:noFill/>
            <a:miter lim="800000"/>
            <a:headEnd/>
            <a:tailEnd/>
          </a:ln>
        </p:spPr>
      </p:pic>
      <p:sp>
        <p:nvSpPr>
          <p:cNvPr id="6157" name="Rectangle 13"/>
          <p:cNvSpPr>
            <a:spLocks noGrp="1" noChangeArrowheads="1"/>
          </p:cNvSpPr>
          <p:nvPr>
            <p:ph type="ctrTitle"/>
          </p:nvPr>
        </p:nvSpPr>
        <p:spPr>
          <a:xfrm>
            <a:off x="3874956" y="2557196"/>
            <a:ext cx="6833789" cy="1586089"/>
          </a:xfrm>
        </p:spPr>
        <p:txBody>
          <a:bodyPr/>
          <a:lstStyle>
            <a:lvl1pPr algn="r">
              <a:defRPr sz="2400">
                <a:solidFill>
                  <a:srgbClr val="34464D"/>
                </a:solidFill>
                <a:latin typeface="+mn-ea"/>
                <a:ea typeface="+mn-ea"/>
                <a:cs typeface="ＭＳ ゴシック"/>
              </a:defRPr>
            </a:lvl1pPr>
          </a:lstStyle>
          <a:p>
            <a:pPr lvl="0"/>
            <a:r>
              <a:rPr lang="ja-JP" altLang="en-US" noProof="0"/>
              <a:t>マスター タイトルの書式設定</a:t>
            </a:r>
          </a:p>
        </p:txBody>
      </p:sp>
    </p:spTree>
    <p:extLst>
      <p:ext uri="{BB962C8B-B14F-4D97-AF65-F5344CB8AC3E}">
        <p14:creationId xmlns:p14="http://schemas.microsoft.com/office/powerpoint/2010/main" val="133560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63996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0" indent="0">
              <a:buFont typeface="Arial" charset="0"/>
              <a:buNone/>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411663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4044123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37158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63002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347368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2623014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897478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4266344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928345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435881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1607070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通常スライド">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5" name="Rectangle 3"/>
          <p:cNvSpPr>
            <a:spLocks noGrp="1" noChangeArrowheads="1"/>
          </p:cNvSpPr>
          <p:nvPr>
            <p:ph idx="1"/>
          </p:nvPr>
        </p:nvSpPr>
        <p:spPr bwMode="auto">
          <a:xfrm>
            <a:off x="703384" y="5836762"/>
            <a:ext cx="10800862" cy="545783"/>
          </a:xfrm>
          <a:prstGeom prst="rect">
            <a:avLst/>
          </a:prstGeom>
          <a:noFill/>
          <a:ln w="9525">
            <a:solidFill>
              <a:schemeClr val="tx1"/>
            </a:solidFill>
            <a:miter lim="800000"/>
            <a:headEnd/>
            <a:tailEnd/>
          </a:ln>
        </p:spPr>
        <p:txBody>
          <a:bodyPr vert="horz" wrap="square" lIns="0" tIns="0" rIns="0" bIns="0" numCol="1" anchor="ctr" anchorCtr="0" compatLnSpc="1">
            <a:prstTxWarp prst="textNoShape">
              <a:avLst/>
            </a:prstTxWarp>
          </a:bodyPr>
          <a:lstStyle/>
          <a:p>
            <a:pPr lvl="0"/>
            <a:r>
              <a:rPr lang="ja-JP" altLang="en-US"/>
              <a:t>メッセージの入力（</a:t>
            </a:r>
            <a:r>
              <a:rPr lang="en-US" altLang="ja-JP"/>
              <a:t>50</a:t>
            </a:r>
            <a:r>
              <a:rPr lang="ja-JP" altLang="en-US"/>
              <a:t>文字以内）</a:t>
            </a:r>
            <a:endParaRPr lang="en-US" altLang="ja-JP"/>
          </a:p>
        </p:txBody>
      </p:sp>
      <p:sp>
        <p:nvSpPr>
          <p:cNvPr id="7" name="Rectangle 2"/>
          <p:cNvSpPr>
            <a:spLocks noGrp="1" noChangeArrowheads="1"/>
          </p:cNvSpPr>
          <p:nvPr>
            <p:ph type="title"/>
          </p:nvPr>
        </p:nvSpPr>
        <p:spPr bwMode="auto">
          <a:xfrm>
            <a:off x="447264" y="0"/>
            <a:ext cx="11303332" cy="499222"/>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ja-JP" altLang="en-US"/>
              <a:t>スライドタイトルの入力</a:t>
            </a:r>
          </a:p>
        </p:txBody>
      </p:sp>
    </p:spTree>
    <p:extLst>
      <p:ext uri="{BB962C8B-B14F-4D97-AF65-F5344CB8AC3E}">
        <p14:creationId xmlns:p14="http://schemas.microsoft.com/office/powerpoint/2010/main" val="16142416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467107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39623297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5135220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6246056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9898073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1336251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6099703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1485813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0421289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9370408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9795700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9203661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18492047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2020</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42661890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16059694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33967790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0517309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963355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4015082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2264331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9616150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1513236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2112670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2848808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NUL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oleObject" Target="../embeddings/oleObject1.bin"/><Relationship Id="rId2" Type="http://schemas.openxmlformats.org/officeDocument/2006/relationships/slideLayout" Target="../slideLayouts/slideLayout15.xml"/><Relationship Id="rId16" Type="http://schemas.openxmlformats.org/officeDocument/2006/relationships/tags" Target="../tags/tag16.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ags" Target="../tags/tag15.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image" Target="NULL"/><Relationship Id="rId2" Type="http://schemas.openxmlformats.org/officeDocument/2006/relationships/slideLayout" Target="../slideLayouts/slideLayout28.xml"/><Relationship Id="rId16" Type="http://schemas.openxmlformats.org/officeDocument/2006/relationships/oleObject" Target="../embeddings/oleObject1.bin"/><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ags" Target="../tags/tag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ags" Target="../tags/tag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image" Target="NULL"/><Relationship Id="rId2" Type="http://schemas.openxmlformats.org/officeDocument/2006/relationships/slideLayout" Target="../slideLayouts/slideLayout40.xml"/><Relationship Id="rId16" Type="http://schemas.openxmlformats.org/officeDocument/2006/relationships/oleObject" Target="../embeddings/oleObject1.bin"/><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ags" Target="../tags/tag45.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ags" Target="../tags/tag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extLst>
              <p:ext uri="{D42A27DB-BD31-4B8C-83A1-F6EECF244321}">
                <p14:modId xmlns:p14="http://schemas.microsoft.com/office/powerpoint/2010/main" val="228705929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04271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14395951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40"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2625837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93076058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6.xml"/><Relationship Id="rId1" Type="http://schemas.openxmlformats.org/officeDocument/2006/relationships/tags" Target="../tags/tag5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jpeg"/><Relationship Id="rId12"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jpe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6.xml"/><Relationship Id="rId1" Type="http://schemas.openxmlformats.org/officeDocument/2006/relationships/tags" Target="../tags/tag59.xml"/><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33.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3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業務改革の目指す方向性と実現に必要な要素</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01537" y="655913"/>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marR="0" lvl="0" indent="-285750" defTabSz="879475" fontAlgn="base">
              <a:lnSpc>
                <a:spcPct val="115000"/>
              </a:lnSpc>
              <a:spcBef>
                <a:spcPct val="20000"/>
              </a:spcBef>
              <a:spcAft>
                <a:spcPct val="0"/>
              </a:spcAft>
              <a:buClr>
                <a:schemeClr val="accent2"/>
              </a:buClr>
              <a:buFont typeface="Arial" panose="020B0604020202020204" pitchFamily="34" charset="0"/>
              <a:buChar cha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単純な</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BPR</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ではなく、</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エージェントを軸としたデータ起点型の業務に改革するために、</a:t>
            </a:r>
            <a:b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b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最適なサービス基盤と基盤を支える開発部隊、特に</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エージェントを熟知したパートナーの存在が不可欠である。</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endParaRPr>
          </a:p>
          <a:p>
            <a:pPr marL="285750" marR="0" lvl="0" indent="-285750" defTabSz="879475" fontAlgn="base">
              <a:lnSpc>
                <a:spcPct val="115000"/>
              </a:lnSpc>
              <a:spcBef>
                <a:spcPct val="20000"/>
              </a:spcBef>
              <a:spcAft>
                <a:spcPct val="0"/>
              </a:spcAft>
              <a:buClr>
                <a:schemeClr val="accent2"/>
              </a:buClr>
              <a:buFont typeface="Arial" panose="020B0604020202020204" pitchFamily="34" charset="0"/>
              <a:buChar char="•"/>
            </a:pP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n8n</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や最新の</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エージェント構築に実績のある</a:t>
            </a:r>
            <a:r>
              <a:rPr lang="en-US" altLang="ja-JP" sz="1600" kern="0" dirty="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LinkX</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 Japan</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社をパートナーにおくことで、内製化の促進を行う。</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endParaRPr>
          </a:p>
        </p:txBody>
      </p:sp>
      <p:grpSp>
        <p:nvGrpSpPr>
          <p:cNvPr id="18" name="グループ化 17">
            <a:extLst>
              <a:ext uri="{FF2B5EF4-FFF2-40B4-BE49-F238E27FC236}">
                <a16:creationId xmlns:a16="http://schemas.microsoft.com/office/drawing/2014/main" id="{84D98188-8AE5-43E4-5700-77E7D565F67C}"/>
              </a:ext>
            </a:extLst>
          </p:cNvPr>
          <p:cNvGrpSpPr/>
          <p:nvPr/>
        </p:nvGrpSpPr>
        <p:grpSpPr>
          <a:xfrm>
            <a:off x="578838" y="1806580"/>
            <a:ext cx="11034324" cy="4772817"/>
            <a:chOff x="578838" y="1756545"/>
            <a:chExt cx="11034324" cy="4772817"/>
          </a:xfrm>
        </p:grpSpPr>
        <p:sp>
          <p:nvSpPr>
            <p:cNvPr id="11" name="正方形/長方形 10">
              <a:extLst>
                <a:ext uri="{FF2B5EF4-FFF2-40B4-BE49-F238E27FC236}">
                  <a16:creationId xmlns:a16="http://schemas.microsoft.com/office/drawing/2014/main" id="{CA3E06F3-4993-E402-636A-7C8700B48E98}"/>
                </a:ext>
              </a:extLst>
            </p:cNvPr>
            <p:cNvSpPr/>
            <p:nvPr/>
          </p:nvSpPr>
          <p:spPr>
            <a:xfrm>
              <a:off x="649729" y="5547191"/>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10" name="正方形/長方形 9">
              <a:extLst>
                <a:ext uri="{FF2B5EF4-FFF2-40B4-BE49-F238E27FC236}">
                  <a16:creationId xmlns:a16="http://schemas.microsoft.com/office/drawing/2014/main" id="{4EE6FF47-BC3A-683F-F883-D34BEB6691C0}"/>
                </a:ext>
              </a:extLst>
            </p:cNvPr>
            <p:cNvSpPr/>
            <p:nvPr/>
          </p:nvSpPr>
          <p:spPr>
            <a:xfrm>
              <a:off x="659235" y="4157021"/>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9" name="正方形/長方形 8">
              <a:extLst>
                <a:ext uri="{FF2B5EF4-FFF2-40B4-BE49-F238E27FC236}">
                  <a16:creationId xmlns:a16="http://schemas.microsoft.com/office/drawing/2014/main" id="{AF96041E-A33A-EC9E-E327-F40D4B5C9DBB}"/>
                </a:ext>
              </a:extLst>
            </p:cNvPr>
            <p:cNvSpPr/>
            <p:nvPr/>
          </p:nvSpPr>
          <p:spPr>
            <a:xfrm>
              <a:off x="649729" y="2723004"/>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7" name="正方形/長方形 6">
              <a:extLst>
                <a:ext uri="{FF2B5EF4-FFF2-40B4-BE49-F238E27FC236}">
                  <a16:creationId xmlns:a16="http://schemas.microsoft.com/office/drawing/2014/main" id="{0C3AA127-F007-423C-7A3C-5AED73130760}"/>
                </a:ext>
              </a:extLst>
            </p:cNvPr>
            <p:cNvSpPr/>
            <p:nvPr/>
          </p:nvSpPr>
          <p:spPr>
            <a:xfrm>
              <a:off x="2112205" y="1880797"/>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C5450C8B-1564-1DEB-AA42-A7EFC382E2B7}"/>
                </a:ext>
              </a:extLst>
            </p:cNvPr>
            <p:cNvSpPr/>
            <p:nvPr/>
          </p:nvSpPr>
          <p:spPr>
            <a:xfrm>
              <a:off x="578838" y="1756545"/>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サービス提供業務</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3" name="正方形/長方形 12">
              <a:extLst>
                <a:ext uri="{FF2B5EF4-FFF2-40B4-BE49-F238E27FC236}">
                  <a16:creationId xmlns:a16="http://schemas.microsoft.com/office/drawing/2014/main" id="{2473DFB7-A570-22BA-388A-DFEFBDC01F1C}"/>
                </a:ext>
              </a:extLst>
            </p:cNvPr>
            <p:cNvSpPr/>
            <p:nvPr/>
          </p:nvSpPr>
          <p:spPr>
            <a:xfrm>
              <a:off x="2112205" y="3310436"/>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22ACCB8C-93F4-B36C-ECE0-99769350FC54}"/>
                </a:ext>
              </a:extLst>
            </p:cNvPr>
            <p:cNvSpPr/>
            <p:nvPr/>
          </p:nvSpPr>
          <p:spPr>
            <a:xfrm>
              <a:off x="578838" y="3186184"/>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879475" fontAlgn="base" latinLnBrk="1">
                <a:spcBef>
                  <a:spcPct val="0"/>
                </a:spcBef>
                <a:spcAft>
                  <a:spcPct val="0"/>
                </a:spcAf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サービス提供基盤</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6" name="正方形/長方形 15">
              <a:extLst>
                <a:ext uri="{FF2B5EF4-FFF2-40B4-BE49-F238E27FC236}">
                  <a16:creationId xmlns:a16="http://schemas.microsoft.com/office/drawing/2014/main" id="{00497C8E-BFE8-AAA7-32FE-B42DFD66C825}"/>
                </a:ext>
              </a:extLst>
            </p:cNvPr>
            <p:cNvSpPr/>
            <p:nvPr/>
          </p:nvSpPr>
          <p:spPr>
            <a:xfrm>
              <a:off x="2112205" y="4740075"/>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619793C1-2B66-DC31-DB59-5078AF7088D2}"/>
                </a:ext>
              </a:extLst>
            </p:cNvPr>
            <p:cNvSpPr/>
            <p:nvPr/>
          </p:nvSpPr>
          <p:spPr>
            <a:xfrm>
              <a:off x="2590520" y="2199240"/>
              <a:ext cx="5359298" cy="1028148"/>
            </a:xfrm>
            <a:prstGeom prst="rect">
              <a:avLst/>
            </a:prstGeom>
            <a:solidFill>
              <a:srgbClr val="E9E9FF"/>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900" dirty="0">
                <a:solidFill>
                  <a:schemeClr val="accent4">
                    <a:lumMod val="65000"/>
                    <a:lumOff val="35000"/>
                  </a:schemeClr>
                </a:solidFill>
                <a:latin typeface="+mn-ea"/>
                <a:cs typeface="Hiragino Kaku Gothic Pro W3" charset="-128"/>
              </a:endParaRPr>
            </a:p>
          </p:txBody>
        </p:sp>
        <p:sp>
          <p:nvSpPr>
            <p:cNvPr id="45" name="矢印: 五方向 44">
              <a:extLst>
                <a:ext uri="{FF2B5EF4-FFF2-40B4-BE49-F238E27FC236}">
                  <a16:creationId xmlns:a16="http://schemas.microsoft.com/office/drawing/2014/main" id="{DE314867-C2F2-FFB2-9485-F8A1F3429F63}"/>
                </a:ext>
              </a:extLst>
            </p:cNvPr>
            <p:cNvSpPr/>
            <p:nvPr/>
          </p:nvSpPr>
          <p:spPr>
            <a:xfrm>
              <a:off x="2671716" y="2441767"/>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現状業務</a:t>
              </a:r>
            </a:p>
          </p:txBody>
        </p:sp>
        <p:sp>
          <p:nvSpPr>
            <p:cNvPr id="46" name="矢印: 五方向 45">
              <a:extLst>
                <a:ext uri="{FF2B5EF4-FFF2-40B4-BE49-F238E27FC236}">
                  <a16:creationId xmlns:a16="http://schemas.microsoft.com/office/drawing/2014/main" id="{2FE2ECDC-391F-FE08-6B86-98517807C96A}"/>
                </a:ext>
              </a:extLst>
            </p:cNvPr>
            <p:cNvSpPr/>
            <p:nvPr/>
          </p:nvSpPr>
          <p:spPr>
            <a:xfrm>
              <a:off x="3386886" y="2441767"/>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BPR</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47" name="矢印: 五方向 46">
              <a:extLst>
                <a:ext uri="{FF2B5EF4-FFF2-40B4-BE49-F238E27FC236}">
                  <a16:creationId xmlns:a16="http://schemas.microsoft.com/office/drawing/2014/main" id="{6E330AE9-EAAD-D40E-2B6B-CF37AF4D786C}"/>
                </a:ext>
              </a:extLst>
            </p:cNvPr>
            <p:cNvSpPr/>
            <p:nvPr/>
          </p:nvSpPr>
          <p:spPr>
            <a:xfrm>
              <a:off x="4102057" y="2441767"/>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ERP</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導入</a:t>
              </a:r>
            </a:p>
          </p:txBody>
        </p:sp>
        <p:cxnSp>
          <p:nvCxnSpPr>
            <p:cNvPr id="49" name="直線コネクタ 48">
              <a:extLst>
                <a:ext uri="{FF2B5EF4-FFF2-40B4-BE49-F238E27FC236}">
                  <a16:creationId xmlns:a16="http://schemas.microsoft.com/office/drawing/2014/main" id="{4FFE7422-6574-F7F7-D327-4F2F8C37A9EA}"/>
                </a:ext>
              </a:extLst>
            </p:cNvPr>
            <p:cNvCxnSpPr/>
            <p:nvPr/>
          </p:nvCxnSpPr>
          <p:spPr>
            <a:xfrm>
              <a:off x="2671716" y="2385191"/>
              <a:ext cx="2383637" cy="0"/>
            </a:xfrm>
            <a:prstGeom prst="line">
              <a:avLst/>
            </a:prstGeom>
            <a:noFill/>
            <a:ln w="9525" cap="flat" cmpd="sng" algn="ctr">
              <a:solidFill>
                <a:srgbClr val="000000"/>
              </a:solidFill>
              <a:prstDash val="solid"/>
            </a:ln>
            <a:effectLst/>
          </p:spPr>
        </p:cxnSp>
        <p:sp>
          <p:nvSpPr>
            <p:cNvPr id="50" name="テキスト ボックス 49">
              <a:extLst>
                <a:ext uri="{FF2B5EF4-FFF2-40B4-BE49-F238E27FC236}">
                  <a16:creationId xmlns:a16="http://schemas.microsoft.com/office/drawing/2014/main" id="{A3FC3E22-6687-6126-73A6-049B7A8EFE85}"/>
                </a:ext>
              </a:extLst>
            </p:cNvPr>
            <p:cNvSpPr txBox="1"/>
            <p:nvPr/>
          </p:nvSpPr>
          <p:spPr>
            <a:xfrm>
              <a:off x="2955929" y="2264316"/>
              <a:ext cx="1815211"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これまでの業務改革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（業務起点）</a:t>
              </a:r>
              <a:endPar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4" name="円柱 53">
              <a:extLst>
                <a:ext uri="{FF2B5EF4-FFF2-40B4-BE49-F238E27FC236}">
                  <a16:creationId xmlns:a16="http://schemas.microsoft.com/office/drawing/2014/main" id="{C615F096-7B3F-CC6E-9174-1BB152176885}"/>
                </a:ext>
              </a:extLst>
            </p:cNvPr>
            <p:cNvSpPr/>
            <p:nvPr/>
          </p:nvSpPr>
          <p:spPr>
            <a:xfrm>
              <a:off x="4340090" y="2687970"/>
              <a:ext cx="715091" cy="248752"/>
            </a:xfrm>
            <a:prstGeom prst="can">
              <a:avLst/>
            </a:prstGeom>
            <a:noFill/>
            <a:ln w="9525" cap="flat" cmpd="sng" algn="ctr">
              <a:solidFill>
                <a:srgbClr val="000000">
                  <a:lumMod val="65000"/>
                  <a:lumOff val="35000"/>
                </a:srgbClr>
              </a:solidFill>
              <a:prstDash val="solid"/>
            </a:ln>
            <a:effectLst/>
          </p:spPr>
          <p:txBody>
            <a:bodyPr vert="horz" lIns="36000" tIns="0" rIns="36000" bIns="0" rtlCol="0" anchor="ctr">
              <a:noAutofit/>
            </a:bodyPr>
            <a:lstStyle/>
            <a:p>
              <a:pPr algn="ctr"/>
              <a:r>
                <a:rPr kumimoji="0" lang="ja-JP" altLang="en-US" sz="900" kern="0" dirty="0">
                  <a:solidFill>
                    <a:srgbClr val="000000"/>
                  </a:solidFill>
                  <a:latin typeface="Meiryo UI"/>
                  <a:ea typeface="Meiryo UI"/>
                </a:rPr>
                <a:t>会計データ</a:t>
              </a:r>
            </a:p>
          </p:txBody>
        </p:sp>
        <p:cxnSp>
          <p:nvCxnSpPr>
            <p:cNvPr id="55" name="直線矢印コネクタ 54">
              <a:extLst>
                <a:ext uri="{FF2B5EF4-FFF2-40B4-BE49-F238E27FC236}">
                  <a16:creationId xmlns:a16="http://schemas.microsoft.com/office/drawing/2014/main" id="{89185DA7-1B39-95B0-448E-D117B6648926}"/>
                </a:ext>
              </a:extLst>
            </p:cNvPr>
            <p:cNvCxnSpPr>
              <a:stCxn id="47" idx="2"/>
              <a:endCxn id="54" idx="1"/>
            </p:cNvCxnSpPr>
            <p:nvPr/>
          </p:nvCxnSpPr>
          <p:spPr>
            <a:xfrm>
              <a:off x="4400011" y="2607601"/>
              <a:ext cx="297624" cy="80368"/>
            </a:xfrm>
            <a:prstGeom prst="straightConnector1">
              <a:avLst/>
            </a:prstGeom>
            <a:noFill/>
            <a:ln w="9525" cap="flat" cmpd="sng" algn="ctr">
              <a:solidFill>
                <a:schemeClr val="tx1"/>
              </a:solidFill>
              <a:prstDash val="solid"/>
              <a:tailEnd type="triangle"/>
            </a:ln>
            <a:effectLst/>
          </p:spPr>
        </p:cxnSp>
        <p:sp>
          <p:nvSpPr>
            <p:cNvPr id="56" name="テキスト ボックス 55">
              <a:extLst>
                <a:ext uri="{FF2B5EF4-FFF2-40B4-BE49-F238E27FC236}">
                  <a16:creationId xmlns:a16="http://schemas.microsoft.com/office/drawing/2014/main" id="{457A4C9F-7AA5-F5B1-0989-FE070EB9AD92}"/>
                </a:ext>
              </a:extLst>
            </p:cNvPr>
            <p:cNvSpPr txBox="1"/>
            <p:nvPr/>
          </p:nvSpPr>
          <p:spPr>
            <a:xfrm>
              <a:off x="4465214" y="3077151"/>
              <a:ext cx="469099" cy="90814"/>
            </a:xfrm>
            <a:prstGeom prst="rect">
              <a:avLst/>
            </a:prstGeom>
            <a:noFill/>
          </p:spPr>
          <p:txBody>
            <a:bodyPr wrap="none" lIns="0" tIns="0" rIns="0" bIns="0" rtlCol="0">
              <a:spAutoFit/>
            </a:bodyPr>
            <a:lstStyle/>
            <a:p>
              <a:pPr defTabSz="987415" fontAlgn="base"/>
              <a:r>
                <a:rPr lang="ja-JP" altLang="en-US" sz="800" kern="0" dirty="0">
                  <a:solidFill>
                    <a:srgbClr val="000000"/>
                  </a:solidFill>
                  <a:latin typeface="Meiryo UI" panose="020B0604030504040204" pitchFamily="50" charset="-128"/>
                  <a:ea typeface="Meiryo UI" panose="020B0604030504040204" pitchFamily="50" charset="-128"/>
                </a:rPr>
                <a:t>データ集計</a:t>
              </a:r>
            </a:p>
          </p:txBody>
        </p:sp>
        <p:cxnSp>
          <p:nvCxnSpPr>
            <p:cNvPr id="57" name="直線矢印コネクタ 56">
              <a:extLst>
                <a:ext uri="{FF2B5EF4-FFF2-40B4-BE49-F238E27FC236}">
                  <a16:creationId xmlns:a16="http://schemas.microsoft.com/office/drawing/2014/main" id="{AA4A2B51-BDDB-D7FB-081A-F7A6DFDC650F}"/>
                </a:ext>
              </a:extLst>
            </p:cNvPr>
            <p:cNvCxnSpPr>
              <a:cxnSpLocks/>
              <a:stCxn id="54" idx="3"/>
              <a:endCxn id="56" idx="0"/>
            </p:cNvCxnSpPr>
            <p:nvPr/>
          </p:nvCxnSpPr>
          <p:spPr>
            <a:xfrm>
              <a:off x="4697636" y="2936722"/>
              <a:ext cx="2128" cy="140429"/>
            </a:xfrm>
            <a:prstGeom prst="straightConnector1">
              <a:avLst/>
            </a:prstGeom>
            <a:noFill/>
            <a:ln w="9525" cap="flat" cmpd="sng" algn="ctr">
              <a:solidFill>
                <a:schemeClr val="tx1"/>
              </a:solidFill>
              <a:prstDash val="solid"/>
              <a:tailEnd type="triangle"/>
            </a:ln>
            <a:effectLst/>
          </p:spPr>
        </p:cxnSp>
        <p:cxnSp>
          <p:nvCxnSpPr>
            <p:cNvPr id="52" name="直線コネクタ 51">
              <a:extLst>
                <a:ext uri="{FF2B5EF4-FFF2-40B4-BE49-F238E27FC236}">
                  <a16:creationId xmlns:a16="http://schemas.microsoft.com/office/drawing/2014/main" id="{A9D458D8-9057-F76C-0557-449C114CB655}"/>
                </a:ext>
              </a:extLst>
            </p:cNvPr>
            <p:cNvCxnSpPr/>
            <p:nvPr/>
          </p:nvCxnSpPr>
          <p:spPr>
            <a:xfrm>
              <a:off x="5484826" y="2385191"/>
              <a:ext cx="2383637" cy="0"/>
            </a:xfrm>
            <a:prstGeom prst="line">
              <a:avLst/>
            </a:prstGeom>
            <a:noFill/>
            <a:ln w="9525" cap="flat" cmpd="sng" algn="ctr">
              <a:solidFill>
                <a:srgbClr val="000000"/>
              </a:solidFill>
              <a:prstDash val="solid"/>
            </a:ln>
            <a:effectLst/>
          </p:spPr>
        </p:cxnSp>
        <p:sp>
          <p:nvSpPr>
            <p:cNvPr id="53" name="テキスト ボックス 52">
              <a:extLst>
                <a:ext uri="{FF2B5EF4-FFF2-40B4-BE49-F238E27FC236}">
                  <a16:creationId xmlns:a16="http://schemas.microsoft.com/office/drawing/2014/main" id="{9369EEC1-C985-51E8-41E1-28604248E56E}"/>
                </a:ext>
              </a:extLst>
            </p:cNvPr>
            <p:cNvSpPr txBox="1"/>
            <p:nvPr/>
          </p:nvSpPr>
          <p:spPr>
            <a:xfrm>
              <a:off x="5752892" y="2264320"/>
              <a:ext cx="1847504"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これからの業務改革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（データ起点）</a:t>
              </a:r>
            </a:p>
          </p:txBody>
        </p:sp>
        <p:sp>
          <p:nvSpPr>
            <p:cNvPr id="58" name="円柱 57">
              <a:extLst>
                <a:ext uri="{FF2B5EF4-FFF2-40B4-BE49-F238E27FC236}">
                  <a16:creationId xmlns:a16="http://schemas.microsoft.com/office/drawing/2014/main" id="{662AD2B6-E0AF-AF35-5A59-66E054079BE1}"/>
                </a:ext>
              </a:extLst>
            </p:cNvPr>
            <p:cNvSpPr/>
            <p:nvPr/>
          </p:nvSpPr>
          <p:spPr>
            <a:xfrm>
              <a:off x="6326731" y="2630247"/>
              <a:ext cx="715091" cy="364198"/>
            </a:xfrm>
            <a:prstGeom prst="can">
              <a:avLst/>
            </a:prstGeom>
            <a:noFill/>
            <a:ln w="9525" cap="flat" cmpd="sng" algn="ctr">
              <a:solidFill>
                <a:srgbClr val="000000">
                  <a:lumMod val="65000"/>
                  <a:lumOff val="35000"/>
                </a:srgbClr>
              </a:solidFill>
              <a:prstDash val="solid"/>
            </a:ln>
            <a:effectLst/>
          </p:spPr>
          <p:txBody>
            <a:bodyPr vert="horz" lIns="36000" tIns="0" rIns="36000" bIns="0" rtlCol="0" anchor="ctr">
              <a:noAutofit/>
            </a:bodyPr>
            <a:lstStyle/>
            <a:p>
              <a:pPr algn="ctr"/>
              <a:r>
                <a:rPr kumimoji="0" lang="en-US" altLang="ja-JP" sz="900" kern="0" dirty="0">
                  <a:solidFill>
                    <a:srgbClr val="000000"/>
                  </a:solidFill>
                  <a:latin typeface="Meiryo UI"/>
                  <a:ea typeface="Meiryo UI"/>
                </a:rPr>
                <a:t>AI</a:t>
              </a:r>
              <a:r>
                <a:rPr kumimoji="0" lang="ja-JP" altLang="en-US" sz="900" kern="0" dirty="0">
                  <a:solidFill>
                    <a:srgbClr val="000000"/>
                  </a:solidFill>
                  <a:latin typeface="Meiryo UI"/>
                  <a:ea typeface="Meiryo UI"/>
                </a:rPr>
                <a:t>エージェント</a:t>
              </a:r>
              <a:endParaRPr kumimoji="0" lang="en-US" altLang="ja-JP" sz="900" kern="0" dirty="0">
                <a:solidFill>
                  <a:srgbClr val="000000"/>
                </a:solidFill>
                <a:latin typeface="Meiryo UI"/>
                <a:ea typeface="Meiryo UI"/>
              </a:endParaRPr>
            </a:p>
            <a:p>
              <a:pPr algn="ctr"/>
              <a:r>
                <a:rPr kumimoji="0" lang="ja-JP" altLang="en-US" sz="900" kern="0" dirty="0">
                  <a:solidFill>
                    <a:srgbClr val="000000"/>
                  </a:solidFill>
                  <a:latin typeface="Meiryo UI"/>
                  <a:ea typeface="Meiryo UI"/>
                </a:rPr>
                <a:t>データ</a:t>
              </a:r>
            </a:p>
          </p:txBody>
        </p:sp>
        <p:sp>
          <p:nvSpPr>
            <p:cNvPr id="59" name="四角形: 角を丸くする 58">
              <a:extLst>
                <a:ext uri="{FF2B5EF4-FFF2-40B4-BE49-F238E27FC236}">
                  <a16:creationId xmlns:a16="http://schemas.microsoft.com/office/drawing/2014/main" id="{86F40312-D847-231F-58F9-1B7F4740F296}"/>
                </a:ext>
              </a:extLst>
            </p:cNvPr>
            <p:cNvSpPr/>
            <p:nvPr/>
          </p:nvSpPr>
          <p:spPr>
            <a:xfrm>
              <a:off x="5493969" y="2478001"/>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panose="020B0604030504040204" pitchFamily="50" charset="-128"/>
                  <a:ea typeface="Meiryo UI" panose="020B0604030504040204" pitchFamily="50" charset="-128"/>
                </a:rPr>
                <a:t>ユーザー</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0" name="四角形: 角を丸くする 59">
              <a:extLst>
                <a:ext uri="{FF2B5EF4-FFF2-40B4-BE49-F238E27FC236}">
                  <a16:creationId xmlns:a16="http://schemas.microsoft.com/office/drawing/2014/main" id="{E3BD4CCC-8E44-A6DE-E5F4-A9E6FC0F0A7D}"/>
                </a:ext>
              </a:extLst>
            </p:cNvPr>
            <p:cNvSpPr/>
            <p:nvPr/>
          </p:nvSpPr>
          <p:spPr>
            <a:xfrm>
              <a:off x="5493969" y="2947926"/>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開発</a:t>
              </a:r>
            </a:p>
          </p:txBody>
        </p:sp>
        <p:sp>
          <p:nvSpPr>
            <p:cNvPr id="61" name="四角形: 角を丸くする 60">
              <a:extLst>
                <a:ext uri="{FF2B5EF4-FFF2-40B4-BE49-F238E27FC236}">
                  <a16:creationId xmlns:a16="http://schemas.microsoft.com/office/drawing/2014/main" id="{390C5469-4D9C-AD58-95FC-8FEB0F90BF6E}"/>
                </a:ext>
              </a:extLst>
            </p:cNvPr>
            <p:cNvSpPr/>
            <p:nvPr/>
          </p:nvSpPr>
          <p:spPr>
            <a:xfrm>
              <a:off x="7344221" y="2947926"/>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製品</a:t>
              </a:r>
            </a:p>
          </p:txBody>
        </p:sp>
        <p:sp>
          <p:nvSpPr>
            <p:cNvPr id="62" name="四角形: 角を丸くする 61">
              <a:extLst>
                <a:ext uri="{FF2B5EF4-FFF2-40B4-BE49-F238E27FC236}">
                  <a16:creationId xmlns:a16="http://schemas.microsoft.com/office/drawing/2014/main" id="{E537B528-010E-8138-5D2F-69D944668694}"/>
                </a:ext>
              </a:extLst>
            </p:cNvPr>
            <p:cNvSpPr/>
            <p:nvPr/>
          </p:nvSpPr>
          <p:spPr>
            <a:xfrm>
              <a:off x="7344221" y="2478001"/>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a:t>
              </a:r>
            </a:p>
          </p:txBody>
        </p:sp>
        <p:sp>
          <p:nvSpPr>
            <p:cNvPr id="63" name="円弧 62">
              <a:extLst>
                <a:ext uri="{FF2B5EF4-FFF2-40B4-BE49-F238E27FC236}">
                  <a16:creationId xmlns:a16="http://schemas.microsoft.com/office/drawing/2014/main" id="{9B6CF2F5-7993-CEC8-26A2-FACBE76A9F88}"/>
                </a:ext>
              </a:extLst>
            </p:cNvPr>
            <p:cNvSpPr/>
            <p:nvPr/>
          </p:nvSpPr>
          <p:spPr>
            <a:xfrm rot="1483682">
              <a:off x="5912370" y="2621849"/>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4" name="円弧 63">
              <a:extLst>
                <a:ext uri="{FF2B5EF4-FFF2-40B4-BE49-F238E27FC236}">
                  <a16:creationId xmlns:a16="http://schemas.microsoft.com/office/drawing/2014/main" id="{471B4A54-0AC8-4816-616B-81686BF8D346}"/>
                </a:ext>
              </a:extLst>
            </p:cNvPr>
            <p:cNvSpPr/>
            <p:nvPr/>
          </p:nvSpPr>
          <p:spPr>
            <a:xfrm rot="19491382">
              <a:off x="5912370" y="2879613"/>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5" name="円弧 64">
              <a:extLst>
                <a:ext uri="{FF2B5EF4-FFF2-40B4-BE49-F238E27FC236}">
                  <a16:creationId xmlns:a16="http://schemas.microsoft.com/office/drawing/2014/main" id="{7B3A992D-D8E9-2B92-38C3-98682648713E}"/>
                </a:ext>
              </a:extLst>
            </p:cNvPr>
            <p:cNvSpPr/>
            <p:nvPr/>
          </p:nvSpPr>
          <p:spPr>
            <a:xfrm rot="8236938">
              <a:off x="6974497" y="2621849"/>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000000"/>
                </a:solidFill>
                <a:effectLst/>
                <a:highlight>
                  <a:srgbClr val="FFFF00"/>
                </a:highlight>
                <a:uLnTx/>
                <a:uFillTx/>
                <a:latin typeface="Meiryo UI" panose="020B0604030504040204" pitchFamily="50" charset="-128"/>
                <a:ea typeface="Meiryo UI" panose="020B0604030504040204" pitchFamily="50" charset="-128"/>
              </a:endParaRPr>
            </a:p>
          </p:txBody>
        </p:sp>
        <p:sp>
          <p:nvSpPr>
            <p:cNvPr id="66" name="円弧 65">
              <a:extLst>
                <a:ext uri="{FF2B5EF4-FFF2-40B4-BE49-F238E27FC236}">
                  <a16:creationId xmlns:a16="http://schemas.microsoft.com/office/drawing/2014/main" id="{FD5735ED-37B9-79EB-E166-BE7747745045}"/>
                </a:ext>
              </a:extLst>
            </p:cNvPr>
            <p:cNvSpPr/>
            <p:nvPr/>
          </p:nvSpPr>
          <p:spPr>
            <a:xfrm rot="12345559">
              <a:off x="6974496" y="2879613"/>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7" name="テキスト ボックス 66">
              <a:extLst>
                <a:ext uri="{FF2B5EF4-FFF2-40B4-BE49-F238E27FC236}">
                  <a16:creationId xmlns:a16="http://schemas.microsoft.com/office/drawing/2014/main" id="{5121AA0F-C5F5-AA5F-DC15-C42102F3D689}"/>
                </a:ext>
              </a:extLst>
            </p:cNvPr>
            <p:cNvSpPr txBox="1"/>
            <p:nvPr/>
          </p:nvSpPr>
          <p:spPr>
            <a:xfrm>
              <a:off x="6385141" y="2480080"/>
              <a:ext cx="598271" cy="90814"/>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①データ蓄積</a:t>
              </a:r>
            </a:p>
          </p:txBody>
        </p:sp>
        <p:sp>
          <p:nvSpPr>
            <p:cNvPr id="68" name="テキスト ボックス 67">
              <a:extLst>
                <a:ext uri="{FF2B5EF4-FFF2-40B4-BE49-F238E27FC236}">
                  <a16:creationId xmlns:a16="http://schemas.microsoft.com/office/drawing/2014/main" id="{B782837F-8CE9-556F-A17D-27EA27FB2625}"/>
                </a:ext>
              </a:extLst>
            </p:cNvPr>
            <p:cNvSpPr txBox="1"/>
            <p:nvPr/>
          </p:nvSpPr>
          <p:spPr>
            <a:xfrm>
              <a:off x="5675431" y="2750474"/>
              <a:ext cx="307777" cy="123111"/>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③改善</a:t>
              </a:r>
            </a:p>
          </p:txBody>
        </p:sp>
        <p:sp>
          <p:nvSpPr>
            <p:cNvPr id="69" name="テキスト ボックス 68">
              <a:extLst>
                <a:ext uri="{FF2B5EF4-FFF2-40B4-BE49-F238E27FC236}">
                  <a16:creationId xmlns:a16="http://schemas.microsoft.com/office/drawing/2014/main" id="{4D38B32D-5926-FDA1-B1C8-828295994312}"/>
                </a:ext>
              </a:extLst>
            </p:cNvPr>
            <p:cNvSpPr txBox="1"/>
            <p:nvPr/>
          </p:nvSpPr>
          <p:spPr>
            <a:xfrm>
              <a:off x="6384290" y="3026030"/>
              <a:ext cx="668453" cy="123111"/>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②可視化・分析</a:t>
              </a:r>
            </a:p>
          </p:txBody>
        </p:sp>
        <p:sp>
          <p:nvSpPr>
            <p:cNvPr id="74" name="矢印: 山形 73">
              <a:extLst>
                <a:ext uri="{FF2B5EF4-FFF2-40B4-BE49-F238E27FC236}">
                  <a16:creationId xmlns:a16="http://schemas.microsoft.com/office/drawing/2014/main" id="{DDEDD2D4-1F49-B8BD-6674-2CE23825F404}"/>
                </a:ext>
              </a:extLst>
            </p:cNvPr>
            <p:cNvSpPr/>
            <p:nvPr/>
          </p:nvSpPr>
          <p:spPr>
            <a:xfrm>
              <a:off x="5176016" y="2427061"/>
              <a:ext cx="188305" cy="572507"/>
            </a:xfrm>
            <a:prstGeom prst="chevron">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88A19D6F-625F-EC39-AB12-9026FC6B8AD9}"/>
                </a:ext>
              </a:extLst>
            </p:cNvPr>
            <p:cNvSpPr/>
            <p:nvPr/>
          </p:nvSpPr>
          <p:spPr>
            <a:xfrm>
              <a:off x="8412287" y="1756545"/>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デジタルフィードバックループの</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概念を踏襲したエコシステムの確立</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2" name="正方形/長方形 81">
              <a:extLst>
                <a:ext uri="{FF2B5EF4-FFF2-40B4-BE49-F238E27FC236}">
                  <a16:creationId xmlns:a16="http://schemas.microsoft.com/office/drawing/2014/main" id="{20DFC8B5-A2F5-96C0-CBEB-AD7CCF459D6A}"/>
                </a:ext>
              </a:extLst>
            </p:cNvPr>
            <p:cNvSpPr/>
            <p:nvPr/>
          </p:nvSpPr>
          <p:spPr>
            <a:xfrm>
              <a:off x="8412287" y="3186184"/>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変化に強く柔軟性の高い</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エージェントサービス基盤の確立</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3" name="正方形/長方形 82">
              <a:extLst>
                <a:ext uri="{FF2B5EF4-FFF2-40B4-BE49-F238E27FC236}">
                  <a16:creationId xmlns:a16="http://schemas.microsoft.com/office/drawing/2014/main" id="{3E73C1A5-523F-6732-20CC-998C40EE643A}"/>
                </a:ext>
              </a:extLst>
            </p:cNvPr>
            <p:cNvSpPr/>
            <p:nvPr/>
          </p:nvSpPr>
          <p:spPr>
            <a:xfrm>
              <a:off x="8412287" y="4615823"/>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社内業務の</a:t>
              </a: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エージェント化を促進する</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内製部隊の確立と</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最先端の</a:t>
              </a: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技術を擁するパートナー連携</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 name="正方形/長方形 7">
              <a:extLst>
                <a:ext uri="{FF2B5EF4-FFF2-40B4-BE49-F238E27FC236}">
                  <a16:creationId xmlns:a16="http://schemas.microsoft.com/office/drawing/2014/main" id="{5FE6F897-2EC1-A0BE-C5C5-BA9E31D9E885}"/>
                </a:ext>
              </a:extLst>
            </p:cNvPr>
            <p:cNvSpPr/>
            <p:nvPr/>
          </p:nvSpPr>
          <p:spPr>
            <a:xfrm>
              <a:off x="2272206" y="3723012"/>
              <a:ext cx="999602" cy="83988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フロントエンド</a:t>
              </a:r>
              <a:endParaRPr kumimoji="0" lang="en-US" altLang="ja-JP" sz="900" kern="0" dirty="0">
                <a:solidFill>
                  <a:srgbClr val="000000"/>
                </a:solidFill>
                <a:latin typeface="Meiryo UI"/>
                <a:ea typeface="Meiryo UI"/>
                <a:cs typeface="Hiragino Kaku Gothic Pro W3"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サービス</a:t>
              </a:r>
            </a:p>
          </p:txBody>
        </p:sp>
        <p:sp>
          <p:nvSpPr>
            <p:cNvPr id="15" name="正方形/長方形 14">
              <a:extLst>
                <a:ext uri="{FF2B5EF4-FFF2-40B4-BE49-F238E27FC236}">
                  <a16:creationId xmlns:a16="http://schemas.microsoft.com/office/drawing/2014/main" id="{1F87C50E-8B53-6673-D552-75C691619F0C}"/>
                </a:ext>
              </a:extLst>
            </p:cNvPr>
            <p:cNvSpPr/>
            <p:nvPr/>
          </p:nvSpPr>
          <p:spPr bwMode="auto">
            <a:xfrm>
              <a:off x="2346974" y="4029216"/>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kern="0" dirty="0">
                  <a:solidFill>
                    <a:srgbClr val="000000"/>
                  </a:solidFill>
                  <a:latin typeface="Meiryo UI"/>
                  <a:ea typeface="Meiryo UI"/>
                  <a:cs typeface="Meiryo UI" panose="020B0604030504040204" pitchFamily="50" charset="-128"/>
                </a:rPr>
                <a:t>様々なサービス</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19" name="正方形/長方形 18">
              <a:extLst>
                <a:ext uri="{FF2B5EF4-FFF2-40B4-BE49-F238E27FC236}">
                  <a16:creationId xmlns:a16="http://schemas.microsoft.com/office/drawing/2014/main" id="{AD2C6BB9-01BD-8F14-AD53-DA2C7682EA32}"/>
                </a:ext>
              </a:extLst>
            </p:cNvPr>
            <p:cNvSpPr/>
            <p:nvPr/>
          </p:nvSpPr>
          <p:spPr>
            <a:xfrm>
              <a:off x="3499036" y="3723012"/>
              <a:ext cx="999603"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AI</a:t>
              </a: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エージェントツール</a:t>
              </a:r>
            </a:p>
          </p:txBody>
        </p:sp>
        <p:sp>
          <p:nvSpPr>
            <p:cNvPr id="20" name="正方形/長方形 19">
              <a:extLst>
                <a:ext uri="{FF2B5EF4-FFF2-40B4-BE49-F238E27FC236}">
                  <a16:creationId xmlns:a16="http://schemas.microsoft.com/office/drawing/2014/main" id="{C8FC1AF3-35CB-E663-29EF-724F12C99008}"/>
                </a:ext>
              </a:extLst>
            </p:cNvPr>
            <p:cNvSpPr/>
            <p:nvPr/>
          </p:nvSpPr>
          <p:spPr>
            <a:xfrm>
              <a:off x="3499036" y="4154942"/>
              <a:ext cx="4683686"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a:ea typeface="Meiryo UI"/>
                  <a:cs typeface="Hiragino Kaku Gothic Pro W3" charset="-128"/>
                </a:rPr>
                <a:t>インフラ基盤</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1" name="正方形/長方形 20">
              <a:extLst>
                <a:ext uri="{FF2B5EF4-FFF2-40B4-BE49-F238E27FC236}">
                  <a16:creationId xmlns:a16="http://schemas.microsoft.com/office/drawing/2014/main" id="{2C5294EA-EFCF-BD4D-7A6B-8DAD546665F9}"/>
                </a:ext>
              </a:extLst>
            </p:cNvPr>
            <p:cNvSpPr/>
            <p:nvPr/>
          </p:nvSpPr>
          <p:spPr>
            <a:xfrm>
              <a:off x="4725867" y="3722870"/>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kern="0" dirty="0">
                  <a:solidFill>
                    <a:srgbClr val="000000"/>
                  </a:solidFill>
                  <a:latin typeface="Meiryo UI"/>
                  <a:ea typeface="Meiryo UI"/>
                  <a:cs typeface="Hiragino Kaku Gothic Pro W3" charset="-128"/>
                </a:rPr>
                <a:t>AI</a:t>
              </a:r>
              <a:r>
                <a:rPr kumimoji="0" lang="ja-JP" altLang="en-US" sz="900" kern="0" dirty="0">
                  <a:solidFill>
                    <a:srgbClr val="000000"/>
                  </a:solidFill>
                  <a:latin typeface="Meiryo UI"/>
                  <a:ea typeface="Meiryo UI"/>
                  <a:cs typeface="Hiragino Kaku Gothic Pro W3" charset="-128"/>
                </a:rPr>
                <a:t>モデル</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2" name="正方形/長方形 21">
              <a:extLst>
                <a:ext uri="{FF2B5EF4-FFF2-40B4-BE49-F238E27FC236}">
                  <a16:creationId xmlns:a16="http://schemas.microsoft.com/office/drawing/2014/main" id="{B5022A80-C03E-83A3-CA90-74A3BA91367D}"/>
                </a:ext>
              </a:extLst>
            </p:cNvPr>
            <p:cNvSpPr/>
            <p:nvPr/>
          </p:nvSpPr>
          <p:spPr>
            <a:xfrm>
              <a:off x="5953895" y="3722870"/>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DB</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3" name="正方形/長方形 22">
              <a:extLst>
                <a:ext uri="{FF2B5EF4-FFF2-40B4-BE49-F238E27FC236}">
                  <a16:creationId xmlns:a16="http://schemas.microsoft.com/office/drawing/2014/main" id="{CB340AAA-153C-E7BC-6E7A-6E8EC5CAB614}"/>
                </a:ext>
              </a:extLst>
            </p:cNvPr>
            <p:cNvSpPr/>
            <p:nvPr/>
          </p:nvSpPr>
          <p:spPr>
            <a:xfrm>
              <a:off x="7181922" y="3722870"/>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a:ea typeface="Meiryo UI"/>
                  <a:cs typeface="Hiragino Kaku Gothic Pro W3" charset="-128"/>
                </a:rPr>
                <a:t>データ分析</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4" name="乗算記号 23">
              <a:extLst>
                <a:ext uri="{FF2B5EF4-FFF2-40B4-BE49-F238E27FC236}">
                  <a16:creationId xmlns:a16="http://schemas.microsoft.com/office/drawing/2014/main" id="{80AA0F4D-C999-C6A5-6354-F8C9BBAC2BBB}"/>
                </a:ext>
              </a:extLst>
            </p:cNvPr>
            <p:cNvSpPr/>
            <p:nvPr/>
          </p:nvSpPr>
          <p:spPr>
            <a:xfrm>
              <a:off x="3272235" y="4029418"/>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5" name="乗算記号 24">
              <a:extLst>
                <a:ext uri="{FF2B5EF4-FFF2-40B4-BE49-F238E27FC236}">
                  <a16:creationId xmlns:a16="http://schemas.microsoft.com/office/drawing/2014/main" id="{1DE8AA1B-4B80-6405-0791-12A2A60EECAB}"/>
                </a:ext>
              </a:extLst>
            </p:cNvPr>
            <p:cNvSpPr/>
            <p:nvPr/>
          </p:nvSpPr>
          <p:spPr>
            <a:xfrm>
              <a:off x="4497395" y="3825809"/>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6" name="乗算記号 25">
              <a:extLst>
                <a:ext uri="{FF2B5EF4-FFF2-40B4-BE49-F238E27FC236}">
                  <a16:creationId xmlns:a16="http://schemas.microsoft.com/office/drawing/2014/main" id="{60B7F90B-A2A8-A4D2-F8CA-B48711710097}"/>
                </a:ext>
              </a:extLst>
            </p:cNvPr>
            <p:cNvSpPr/>
            <p:nvPr/>
          </p:nvSpPr>
          <p:spPr>
            <a:xfrm>
              <a:off x="5725898" y="3825809"/>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7" name="乗算記号 26">
              <a:extLst>
                <a:ext uri="{FF2B5EF4-FFF2-40B4-BE49-F238E27FC236}">
                  <a16:creationId xmlns:a16="http://schemas.microsoft.com/office/drawing/2014/main" id="{20E25F2E-7E8E-C825-50EA-37506D9A31FC}"/>
                </a:ext>
              </a:extLst>
            </p:cNvPr>
            <p:cNvSpPr/>
            <p:nvPr/>
          </p:nvSpPr>
          <p:spPr>
            <a:xfrm>
              <a:off x="6954401" y="3825809"/>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696F4DAF-32CA-8568-570D-57B27BF83D9D}"/>
                </a:ext>
              </a:extLst>
            </p:cNvPr>
            <p:cNvSpPr/>
            <p:nvPr/>
          </p:nvSpPr>
          <p:spPr bwMode="auto">
            <a:xfrm>
              <a:off x="2346974" y="4245195"/>
              <a:ext cx="841738" cy="172469"/>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000000"/>
                  </a:solidFill>
                  <a:latin typeface="Meiryo UI"/>
                  <a:ea typeface="Meiryo UI"/>
                  <a:cs typeface="Meiryo UI" panose="020B0604030504040204" pitchFamily="50" charset="-128"/>
                </a:rPr>
                <a:t>：</a:t>
              </a:r>
              <a:endParaRPr kumimoji="0" lang="ja-JP" altLang="en-US" sz="12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29" name="正方形/長方形 28">
              <a:extLst>
                <a:ext uri="{FF2B5EF4-FFF2-40B4-BE49-F238E27FC236}">
                  <a16:creationId xmlns:a16="http://schemas.microsoft.com/office/drawing/2014/main" id="{B5440936-AEA9-4040-7902-C604D9225089}"/>
                </a:ext>
              </a:extLst>
            </p:cNvPr>
            <p:cNvSpPr/>
            <p:nvPr/>
          </p:nvSpPr>
          <p:spPr bwMode="auto">
            <a:xfrm>
              <a:off x="3578267"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拡張性の高い</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ローコードツール</a:t>
              </a:r>
            </a:p>
          </p:txBody>
        </p:sp>
        <p:sp>
          <p:nvSpPr>
            <p:cNvPr id="30" name="正方形/長方形 29">
              <a:extLst>
                <a:ext uri="{FF2B5EF4-FFF2-40B4-BE49-F238E27FC236}">
                  <a16:creationId xmlns:a16="http://schemas.microsoft.com/office/drawing/2014/main" id="{B6C5C32F-8E92-9F62-EBB1-7ACDDF412F59}"/>
                </a:ext>
              </a:extLst>
            </p:cNvPr>
            <p:cNvSpPr/>
            <p:nvPr/>
          </p:nvSpPr>
          <p:spPr bwMode="auto">
            <a:xfrm>
              <a:off x="4805398"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1</a:t>
              </a: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つに依存せず多様に</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選択可能なモデル</a:t>
              </a:r>
            </a:p>
          </p:txBody>
        </p:sp>
        <p:sp>
          <p:nvSpPr>
            <p:cNvPr id="31" name="正方形/長方形 30">
              <a:extLst>
                <a:ext uri="{FF2B5EF4-FFF2-40B4-BE49-F238E27FC236}">
                  <a16:creationId xmlns:a16="http://schemas.microsoft.com/office/drawing/2014/main" id="{605A7EC1-F7C8-6F9B-C4DC-63A1DAB88741}"/>
                </a:ext>
              </a:extLst>
            </p:cNvPr>
            <p:cNvSpPr/>
            <p:nvPr/>
          </p:nvSpPr>
          <p:spPr bwMode="auto">
            <a:xfrm>
              <a:off x="6032529"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AI</a:t>
              </a:r>
              <a:r>
                <a:rPr kumimoji="0" lang="ja-JP" altLang="en-US" sz="700" kern="0" dirty="0">
                  <a:solidFill>
                    <a:srgbClr val="000000"/>
                  </a:solidFill>
                  <a:latin typeface="Meiryo UI"/>
                  <a:ea typeface="Meiryo UI"/>
                  <a:cs typeface="Meiryo UI" panose="020B0604030504040204" pitchFamily="50" charset="-128"/>
                </a:rPr>
                <a:t>と相性の良い</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汎用的な</a:t>
              </a: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DB</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2" name="正方形/長方形 31">
              <a:extLst>
                <a:ext uri="{FF2B5EF4-FFF2-40B4-BE49-F238E27FC236}">
                  <a16:creationId xmlns:a16="http://schemas.microsoft.com/office/drawing/2014/main" id="{8F75AEAA-C165-3229-649E-03CB3278875C}"/>
                </a:ext>
              </a:extLst>
            </p:cNvPr>
            <p:cNvSpPr/>
            <p:nvPr/>
          </p:nvSpPr>
          <p:spPr bwMode="auto">
            <a:xfrm>
              <a:off x="7259660" y="3892175"/>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エージェント管理・</a:t>
              </a:r>
              <a:r>
                <a:rPr kumimoji="0" lang="ja-JP" altLang="en-US" sz="700" kern="0" dirty="0">
                  <a:solidFill>
                    <a:srgbClr val="000000"/>
                  </a:solidFill>
                  <a:latin typeface="Meiryo UI"/>
                  <a:ea typeface="Meiryo UI"/>
                  <a:cs typeface="Meiryo UI" panose="020B0604030504040204" pitchFamily="50" charset="-128"/>
                </a:rPr>
                <a:t>分析</a:t>
              </a:r>
              <a:br>
                <a:rPr kumimoji="0" lang="en-US" altLang="ja-JP" sz="700" kern="0" dirty="0">
                  <a:solidFill>
                    <a:srgbClr val="000000"/>
                  </a:solidFill>
                  <a:latin typeface="Meiryo UI"/>
                  <a:ea typeface="Meiryo UI"/>
                  <a:cs typeface="Meiryo UI" panose="020B0604030504040204" pitchFamily="50" charset="-128"/>
                </a:rPr>
              </a:br>
              <a:r>
                <a:rPr kumimoji="0" lang="ja-JP" altLang="en-US" sz="700" kern="0" dirty="0">
                  <a:solidFill>
                    <a:srgbClr val="000000"/>
                  </a:solidFill>
                  <a:latin typeface="Meiryo UI"/>
                  <a:ea typeface="Meiryo UI"/>
                  <a:cs typeface="Meiryo UI" panose="020B0604030504040204" pitchFamily="50" charset="-128"/>
                </a:rPr>
                <a:t>に強いプラットフォーム</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3" name="正方形/長方形 32">
              <a:extLst>
                <a:ext uri="{FF2B5EF4-FFF2-40B4-BE49-F238E27FC236}">
                  <a16:creationId xmlns:a16="http://schemas.microsoft.com/office/drawing/2014/main" id="{0BE02391-B8B4-4ED7-86C1-2B18DF3E4FE4}"/>
                </a:ext>
              </a:extLst>
            </p:cNvPr>
            <p:cNvSpPr/>
            <p:nvPr/>
          </p:nvSpPr>
          <p:spPr bwMode="auto">
            <a:xfrm>
              <a:off x="5420010" y="4322583"/>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kern="0" dirty="0">
                  <a:solidFill>
                    <a:srgbClr val="000000"/>
                  </a:solidFill>
                  <a:latin typeface="Meiryo UI"/>
                  <a:ea typeface="Meiryo UI"/>
                  <a:cs typeface="Meiryo UI" panose="020B0604030504040204" pitchFamily="50" charset="-128"/>
                </a:rPr>
                <a:t>セキュリティに強く</a:t>
              </a:r>
              <a:br>
                <a:rPr kumimoji="0" lang="en-US" altLang="ja-JP" sz="700" kern="0" dirty="0">
                  <a:solidFill>
                    <a:srgbClr val="000000"/>
                  </a:solidFill>
                  <a:latin typeface="Meiryo UI"/>
                  <a:ea typeface="Meiryo UI"/>
                  <a:cs typeface="Meiryo UI" panose="020B0604030504040204" pitchFamily="50" charset="-128"/>
                </a:rPr>
              </a:br>
              <a:r>
                <a:rPr kumimoji="0" lang="ja-JP" altLang="en-US" sz="700" kern="0" dirty="0">
                  <a:solidFill>
                    <a:srgbClr val="000000"/>
                  </a:solidFill>
                  <a:latin typeface="Meiryo UI"/>
                  <a:ea typeface="Meiryo UI"/>
                  <a:cs typeface="Meiryo UI" panose="020B0604030504040204" pitchFamily="50" charset="-128"/>
                </a:rPr>
                <a:t>多機能な基盤</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4" name="右大かっこ 33">
              <a:extLst>
                <a:ext uri="{FF2B5EF4-FFF2-40B4-BE49-F238E27FC236}">
                  <a16:creationId xmlns:a16="http://schemas.microsoft.com/office/drawing/2014/main" id="{10B678B8-2007-CA51-8AC1-0C846A7AF62C}"/>
                </a:ext>
              </a:extLst>
            </p:cNvPr>
            <p:cNvSpPr/>
            <p:nvPr/>
          </p:nvSpPr>
          <p:spPr>
            <a:xfrm rot="16200000">
              <a:off x="5190237" y="563318"/>
              <a:ext cx="73152" cy="5911595"/>
            </a:xfrm>
            <a:prstGeom prst="rightBracket">
              <a:avLst/>
            </a:prstGeom>
            <a:ln w="19050">
              <a:solidFill>
                <a:srgbClr val="A5A5E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BAD0580F-362F-705C-6903-A34D86466291}"/>
                </a:ext>
              </a:extLst>
            </p:cNvPr>
            <p:cNvCxnSpPr>
              <a:cxnSpLocks/>
              <a:stCxn id="74" idx="2"/>
              <a:endCxn id="34" idx="2"/>
            </p:cNvCxnSpPr>
            <p:nvPr/>
          </p:nvCxnSpPr>
          <p:spPr>
            <a:xfrm>
              <a:off x="5223092" y="2999568"/>
              <a:ext cx="3722" cy="482972"/>
            </a:xfrm>
            <a:prstGeom prst="line">
              <a:avLst/>
            </a:prstGeom>
            <a:ln w="19050">
              <a:solidFill>
                <a:srgbClr val="A5A5E9"/>
              </a:solidFill>
              <a:prstDash val="solid"/>
              <a:headEnd type="oval"/>
            </a:ln>
          </p:spPr>
          <p:style>
            <a:lnRef idx="1">
              <a:schemeClr val="accent1"/>
            </a:lnRef>
            <a:fillRef idx="0">
              <a:schemeClr val="accent1"/>
            </a:fillRef>
            <a:effectRef idx="0">
              <a:schemeClr val="accent1"/>
            </a:effectRef>
            <a:fontRef idx="minor">
              <a:schemeClr val="tx1"/>
            </a:fontRef>
          </p:style>
        </p:cxnSp>
        <p:sp>
          <p:nvSpPr>
            <p:cNvPr id="113" name="二等辺三角形 112">
              <a:extLst>
                <a:ext uri="{FF2B5EF4-FFF2-40B4-BE49-F238E27FC236}">
                  <a16:creationId xmlns:a16="http://schemas.microsoft.com/office/drawing/2014/main" id="{6BB4252F-FE76-FA11-87FA-21BDA37570DE}"/>
                </a:ext>
              </a:extLst>
            </p:cNvPr>
            <p:cNvSpPr/>
            <p:nvPr/>
          </p:nvSpPr>
          <p:spPr>
            <a:xfrm rot="10800000" flipV="1">
              <a:off x="4743092" y="4771394"/>
              <a:ext cx="1054152" cy="180000"/>
            </a:xfrm>
            <a:prstGeom prst="triangle">
              <a:avLst/>
            </a:prstGeom>
            <a:solidFill>
              <a:srgbClr val="A5A5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solidFill>
                  <a:schemeClr val="tx1"/>
                </a:solidFill>
                <a:latin typeface="+mj-lt"/>
                <a:ea typeface="BIZ UDPゴシック" panose="020B0400000000000000" pitchFamily="50" charset="-128"/>
              </a:endParaRPr>
            </a:p>
          </p:txBody>
        </p:sp>
        <p:grpSp>
          <p:nvGrpSpPr>
            <p:cNvPr id="115" name="グループ化 114">
              <a:extLst>
                <a:ext uri="{FF2B5EF4-FFF2-40B4-BE49-F238E27FC236}">
                  <a16:creationId xmlns:a16="http://schemas.microsoft.com/office/drawing/2014/main" id="{D7520DC5-5C62-6049-84E2-8C78EBD4C198}"/>
                </a:ext>
              </a:extLst>
            </p:cNvPr>
            <p:cNvGrpSpPr/>
            <p:nvPr/>
          </p:nvGrpSpPr>
          <p:grpSpPr>
            <a:xfrm>
              <a:off x="3043771" y="5208657"/>
              <a:ext cx="2144723" cy="727871"/>
              <a:chOff x="3390840" y="4887277"/>
              <a:chExt cx="2144723" cy="727871"/>
            </a:xfrm>
          </p:grpSpPr>
          <p:sp>
            <p:nvSpPr>
              <p:cNvPr id="97" name="正方形/長方形 96">
                <a:extLst>
                  <a:ext uri="{FF2B5EF4-FFF2-40B4-BE49-F238E27FC236}">
                    <a16:creationId xmlns:a16="http://schemas.microsoft.com/office/drawing/2014/main" id="{7AE03813-BD1B-B3B4-D13A-55014CC93933}"/>
                  </a:ext>
                </a:extLst>
              </p:cNvPr>
              <p:cNvSpPr/>
              <p:nvPr/>
            </p:nvSpPr>
            <p:spPr>
              <a:xfrm>
                <a:off x="3390840" y="5256205"/>
                <a:ext cx="2144723" cy="358943"/>
              </a:xfrm>
              <a:prstGeom prst="rect">
                <a:avLst/>
              </a:prstGeom>
              <a:noFill/>
            </p:spPr>
            <p:txBody>
              <a:bodyPr vert="horz" lIns="0" tIns="0" rIns="0" bIns="14400" rtlCol="0" anchor="ctr" anchorCtr="0">
                <a:noAutofit/>
              </a:bodyPr>
              <a:lstStyle/>
              <a:p>
                <a:pPr marL="0" marR="0" lvl="0" indent="0" algn="ctr" defTabSz="514337" eaLnBrk="1" fontAlgn="auto" latinLnBrk="0" hangingPunct="1">
                  <a:lnSpc>
                    <a:spcPct val="100000"/>
                  </a:lnSpc>
                  <a:spcBef>
                    <a:spcPct val="0"/>
                  </a:spcBef>
                  <a:spcAft>
                    <a:spcPts val="0"/>
                  </a:spcAft>
                  <a:buClrTx/>
                  <a:buSzTx/>
                  <a:buFontTx/>
                  <a:buNone/>
                  <a:tabLst/>
                  <a:defRPr/>
                </a:pPr>
                <a:r>
                  <a:rPr kumimoji="0"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内製部隊</a:t>
                </a:r>
                <a:endParaRPr kumimoji="0"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nvGrpSpPr>
              <p:cNvPr id="110" name="グループ化 109">
                <a:extLst>
                  <a:ext uri="{FF2B5EF4-FFF2-40B4-BE49-F238E27FC236}">
                    <a16:creationId xmlns:a16="http://schemas.microsoft.com/office/drawing/2014/main" id="{9E56F6A9-4A45-C2F6-D513-23524EF8C6B3}"/>
                  </a:ext>
                </a:extLst>
              </p:cNvPr>
              <p:cNvGrpSpPr/>
              <p:nvPr/>
            </p:nvGrpSpPr>
            <p:grpSpPr>
              <a:xfrm>
                <a:off x="3390840" y="4887277"/>
                <a:ext cx="2144723" cy="363347"/>
                <a:chOff x="3390840" y="4963477"/>
                <a:chExt cx="2144723" cy="363347"/>
              </a:xfrm>
            </p:grpSpPr>
            <p:pic>
              <p:nvPicPr>
                <p:cNvPr id="93" name="図 92">
                  <a:extLst>
                    <a:ext uri="{FF2B5EF4-FFF2-40B4-BE49-F238E27FC236}">
                      <a16:creationId xmlns:a16="http://schemas.microsoft.com/office/drawing/2014/main" id="{38077389-DFF2-5935-7686-97B3E64DAF5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390840" y="4963477"/>
                  <a:ext cx="363347" cy="363347"/>
                </a:xfrm>
                <a:prstGeom prst="rect">
                  <a:avLst/>
                </a:prstGeom>
              </p:spPr>
            </p:pic>
            <p:pic>
              <p:nvPicPr>
                <p:cNvPr id="94" name="図 93">
                  <a:extLst>
                    <a:ext uri="{FF2B5EF4-FFF2-40B4-BE49-F238E27FC236}">
                      <a16:creationId xmlns:a16="http://schemas.microsoft.com/office/drawing/2014/main" id="{AEC508E8-BBDB-2B47-1CE3-1FC37C148E0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747115" y="4963477"/>
                  <a:ext cx="363347" cy="363347"/>
                </a:xfrm>
                <a:prstGeom prst="rect">
                  <a:avLst/>
                </a:prstGeom>
              </p:spPr>
            </p:pic>
            <p:pic>
              <p:nvPicPr>
                <p:cNvPr id="98" name="図 97">
                  <a:extLst>
                    <a:ext uri="{FF2B5EF4-FFF2-40B4-BE49-F238E27FC236}">
                      <a16:creationId xmlns:a16="http://schemas.microsoft.com/office/drawing/2014/main" id="{E5E21016-204F-8305-5FA5-3ACD0C01C32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103390" y="4963477"/>
                  <a:ext cx="363347" cy="363347"/>
                </a:xfrm>
                <a:prstGeom prst="rect">
                  <a:avLst/>
                </a:prstGeom>
              </p:spPr>
            </p:pic>
            <p:pic>
              <p:nvPicPr>
                <p:cNvPr id="99" name="図 98">
                  <a:extLst>
                    <a:ext uri="{FF2B5EF4-FFF2-40B4-BE49-F238E27FC236}">
                      <a16:creationId xmlns:a16="http://schemas.microsoft.com/office/drawing/2014/main" id="{AE3A458E-0AC7-A6BD-A5C2-296385F73C44}"/>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459665" y="4963477"/>
                  <a:ext cx="363347" cy="363347"/>
                </a:xfrm>
                <a:prstGeom prst="rect">
                  <a:avLst/>
                </a:prstGeom>
              </p:spPr>
            </p:pic>
            <p:pic>
              <p:nvPicPr>
                <p:cNvPr id="107" name="図 106">
                  <a:extLst>
                    <a:ext uri="{FF2B5EF4-FFF2-40B4-BE49-F238E27FC236}">
                      <a16:creationId xmlns:a16="http://schemas.microsoft.com/office/drawing/2014/main" id="{A84488F6-CCB1-5A1E-E909-ED5C2A1A58FB}"/>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815940" y="4963477"/>
                  <a:ext cx="363347" cy="363347"/>
                </a:xfrm>
                <a:prstGeom prst="rect">
                  <a:avLst/>
                </a:prstGeom>
              </p:spPr>
            </p:pic>
            <p:pic>
              <p:nvPicPr>
                <p:cNvPr id="109" name="図 108">
                  <a:extLst>
                    <a:ext uri="{FF2B5EF4-FFF2-40B4-BE49-F238E27FC236}">
                      <a16:creationId xmlns:a16="http://schemas.microsoft.com/office/drawing/2014/main" id="{D93C212A-A148-F28E-376C-9BBE9859EEC2}"/>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5172216" y="4963477"/>
                  <a:ext cx="363347" cy="363347"/>
                </a:xfrm>
                <a:prstGeom prst="rect">
                  <a:avLst/>
                </a:prstGeom>
              </p:spPr>
            </p:pic>
          </p:grpSp>
        </p:grpSp>
        <p:grpSp>
          <p:nvGrpSpPr>
            <p:cNvPr id="116" name="グループ化 115">
              <a:extLst>
                <a:ext uri="{FF2B5EF4-FFF2-40B4-BE49-F238E27FC236}">
                  <a16:creationId xmlns:a16="http://schemas.microsoft.com/office/drawing/2014/main" id="{06062324-E606-D81D-1B7E-06616ACCEC98}"/>
                </a:ext>
              </a:extLst>
            </p:cNvPr>
            <p:cNvGrpSpPr/>
            <p:nvPr/>
          </p:nvGrpSpPr>
          <p:grpSpPr>
            <a:xfrm>
              <a:off x="6416754" y="5208657"/>
              <a:ext cx="1079814" cy="727871"/>
              <a:chOff x="6094955" y="4887277"/>
              <a:chExt cx="1079814" cy="727871"/>
            </a:xfrm>
          </p:grpSpPr>
          <p:grpSp>
            <p:nvGrpSpPr>
              <p:cNvPr id="106" name="グループ化 105">
                <a:extLst>
                  <a:ext uri="{FF2B5EF4-FFF2-40B4-BE49-F238E27FC236}">
                    <a16:creationId xmlns:a16="http://schemas.microsoft.com/office/drawing/2014/main" id="{944C32D3-8E72-3AD2-4191-CAECE39F9B02}"/>
                  </a:ext>
                </a:extLst>
              </p:cNvPr>
              <p:cNvGrpSpPr/>
              <p:nvPr/>
            </p:nvGrpSpPr>
            <p:grpSpPr>
              <a:xfrm>
                <a:off x="6094955" y="4887277"/>
                <a:ext cx="1077507" cy="363347"/>
                <a:chOff x="8969554" y="6044291"/>
                <a:chExt cx="1077507" cy="363347"/>
              </a:xfrm>
            </p:grpSpPr>
            <p:pic>
              <p:nvPicPr>
                <p:cNvPr id="92" name="図 91">
                  <a:extLst>
                    <a:ext uri="{FF2B5EF4-FFF2-40B4-BE49-F238E27FC236}">
                      <a16:creationId xmlns:a16="http://schemas.microsoft.com/office/drawing/2014/main" id="{11B1F1B7-C957-0675-3346-596CECE283FA}"/>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683714" y="6044291"/>
                  <a:ext cx="363347" cy="363347"/>
                </a:xfrm>
                <a:prstGeom prst="rect">
                  <a:avLst/>
                </a:prstGeom>
              </p:spPr>
            </p:pic>
            <p:pic>
              <p:nvPicPr>
                <p:cNvPr id="90" name="図 89">
                  <a:extLst>
                    <a:ext uri="{FF2B5EF4-FFF2-40B4-BE49-F238E27FC236}">
                      <a16:creationId xmlns:a16="http://schemas.microsoft.com/office/drawing/2014/main" id="{8BF5271B-436C-EF2F-D704-6FB309F9488D}"/>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969554" y="6044291"/>
                  <a:ext cx="363347" cy="363347"/>
                </a:xfrm>
                <a:prstGeom prst="rect">
                  <a:avLst/>
                </a:prstGeom>
              </p:spPr>
            </p:pic>
            <p:pic>
              <p:nvPicPr>
                <p:cNvPr id="91" name="図 90">
                  <a:extLst>
                    <a:ext uri="{FF2B5EF4-FFF2-40B4-BE49-F238E27FC236}">
                      <a16:creationId xmlns:a16="http://schemas.microsoft.com/office/drawing/2014/main" id="{C50F0FBF-1E07-0FF5-9DD2-551190C30C45}"/>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326634" y="6044291"/>
                  <a:ext cx="363347" cy="363347"/>
                </a:xfrm>
                <a:prstGeom prst="rect">
                  <a:avLst/>
                </a:prstGeom>
              </p:spPr>
            </p:pic>
          </p:grpSp>
          <p:sp>
            <p:nvSpPr>
              <p:cNvPr id="111" name="正方形/長方形 110">
                <a:extLst>
                  <a:ext uri="{FF2B5EF4-FFF2-40B4-BE49-F238E27FC236}">
                    <a16:creationId xmlns:a16="http://schemas.microsoft.com/office/drawing/2014/main" id="{3FE43999-3B9B-AC37-A1DE-E7606B68CE53}"/>
                  </a:ext>
                </a:extLst>
              </p:cNvPr>
              <p:cNvSpPr/>
              <p:nvPr/>
            </p:nvSpPr>
            <p:spPr>
              <a:xfrm>
                <a:off x="6097262" y="5256205"/>
                <a:ext cx="1077507" cy="358943"/>
              </a:xfrm>
              <a:prstGeom prst="rect">
                <a:avLst/>
              </a:prstGeom>
              <a:noFill/>
            </p:spPr>
            <p:txBody>
              <a:bodyPr vert="horz" lIns="0" tIns="0" rIns="0" bIns="14400" rtlCol="0" anchor="ctr" anchorCtr="0">
                <a:noAutofit/>
              </a:bodyPr>
              <a:lstStyle/>
              <a:p>
                <a:pPr marL="0" marR="0" lvl="0" indent="0" algn="ctr" defTabSz="514337" eaLnBrk="1" fontAlgn="auto" latinLnBrk="0" hangingPunct="1">
                  <a:lnSpc>
                    <a:spcPct val="100000"/>
                  </a:lnSpc>
                  <a:spcBef>
                    <a:spcPct val="0"/>
                  </a:spcBef>
                  <a:spcAft>
                    <a:spcPts val="0"/>
                  </a:spcAft>
                  <a:buClrTx/>
                  <a:buSzTx/>
                  <a:buFontTx/>
                  <a:buNone/>
                  <a:tabLst/>
                  <a:defRPr/>
                </a:pPr>
                <a:r>
                  <a:rPr kumimoji="0" lang="ja-JP" altLang="en-US" sz="1400" kern="0" dirty="0">
                    <a:solidFill>
                      <a:srgbClr val="0E0EAA"/>
                    </a:solidFill>
                    <a:latin typeface="Meiryo UI" panose="020B0604030504040204" pitchFamily="50" charset="-128"/>
                    <a:ea typeface="Meiryo UI" panose="020B0604030504040204" pitchFamily="50" charset="-128"/>
                  </a:rPr>
                  <a:t>パートナー</a:t>
                </a:r>
                <a:endParaRPr kumimoji="0" lang="en-US" altLang="ja-JP" sz="1400" b="0" i="0" u="none" strike="noStrike" kern="0" cap="none" spc="0" normalizeH="0" baseline="0" noProof="0" dirty="0">
                  <a:ln>
                    <a:noFill/>
                  </a:ln>
                  <a:solidFill>
                    <a:srgbClr val="0E0EAA"/>
                  </a:solidFill>
                  <a:effectLst/>
                  <a:uLnTx/>
                  <a:uFillTx/>
                  <a:latin typeface="Meiryo UI" panose="020B0604030504040204" pitchFamily="50" charset="-128"/>
                  <a:ea typeface="Meiryo UI" panose="020B0604030504040204" pitchFamily="50" charset="-128"/>
                </a:endParaRPr>
              </a:p>
            </p:txBody>
          </p:sp>
        </p:grpSp>
        <p:sp>
          <p:nvSpPr>
            <p:cNvPr id="117" name="矢印: 左 116">
              <a:extLst>
                <a:ext uri="{FF2B5EF4-FFF2-40B4-BE49-F238E27FC236}">
                  <a16:creationId xmlns:a16="http://schemas.microsoft.com/office/drawing/2014/main" id="{B5976BDA-7874-512D-3333-271495A18D73}"/>
                </a:ext>
              </a:extLst>
            </p:cNvPr>
            <p:cNvSpPr/>
            <p:nvPr/>
          </p:nvSpPr>
          <p:spPr>
            <a:xfrm>
              <a:off x="5313420" y="5372331"/>
              <a:ext cx="978408" cy="400523"/>
            </a:xfrm>
            <a:prstGeom prst="leftArrow">
              <a:avLst>
                <a:gd name="adj1" fmla="val 73309"/>
                <a:gd name="adj2" fmla="val 65467"/>
              </a:avLst>
            </a:prstGeom>
            <a:solidFill>
              <a:srgbClr val="0E0EAA"/>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900" dirty="0">
                  <a:solidFill>
                    <a:schemeClr val="bg1"/>
                  </a:solidFill>
                  <a:latin typeface="Meiryo UI" panose="020B0604030504040204" pitchFamily="50" charset="-128"/>
                  <a:ea typeface="Meiryo UI" panose="020B0604030504040204" pitchFamily="50" charset="-128"/>
                  <a:cs typeface="Hiragino Kaku Gothic Pro W3" charset="-128"/>
                </a:rPr>
                <a:t>最先端の</a:t>
              </a:r>
              <a:br>
                <a:rPr lang="en-US" altLang="ja-JP" sz="900" dirty="0">
                  <a:solidFill>
                    <a:schemeClr val="bg1"/>
                  </a:solidFill>
                  <a:latin typeface="Meiryo UI" panose="020B0604030504040204" pitchFamily="50" charset="-128"/>
                  <a:ea typeface="Meiryo UI" panose="020B0604030504040204" pitchFamily="50" charset="-128"/>
                  <a:cs typeface="Hiragino Kaku Gothic Pro W3" charset="-128"/>
                </a:rPr>
              </a:br>
              <a:r>
                <a:rPr lang="en-US" altLang="ja-JP" sz="900" dirty="0">
                  <a:solidFill>
                    <a:schemeClr val="bg1"/>
                  </a:solidFill>
                  <a:latin typeface="Meiryo UI" panose="020B0604030504040204" pitchFamily="50" charset="-128"/>
                  <a:ea typeface="Meiryo UI" panose="020B0604030504040204" pitchFamily="50" charset="-128"/>
                  <a:cs typeface="Hiragino Kaku Gothic Pro W3" charset="-128"/>
                </a:rPr>
                <a:t>AI</a:t>
              </a:r>
              <a:r>
                <a:rPr lang="ja-JP" altLang="en-US" sz="900" dirty="0">
                  <a:solidFill>
                    <a:schemeClr val="bg1"/>
                  </a:solidFill>
                  <a:latin typeface="Meiryo UI" panose="020B0604030504040204" pitchFamily="50" charset="-128"/>
                  <a:ea typeface="Meiryo UI" panose="020B0604030504040204" pitchFamily="50" charset="-128"/>
                  <a:cs typeface="Hiragino Kaku Gothic Pro W3" charset="-128"/>
                </a:rPr>
                <a:t>技術支援</a:t>
              </a:r>
              <a:endParaRPr kumimoji="1" lang="ja-JP" altLang="en-US" sz="900" dirty="0">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122" name="L 字 121">
              <a:extLst>
                <a:ext uri="{FF2B5EF4-FFF2-40B4-BE49-F238E27FC236}">
                  <a16:creationId xmlns:a16="http://schemas.microsoft.com/office/drawing/2014/main" id="{87C25FB9-763B-8CAE-9256-2E0696096128}"/>
                </a:ext>
              </a:extLst>
            </p:cNvPr>
            <p:cNvSpPr/>
            <p:nvPr/>
          </p:nvSpPr>
          <p:spPr>
            <a:xfrm flipH="1">
              <a:off x="6354378" y="5056806"/>
              <a:ext cx="1212556" cy="979421"/>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grpSp>
      <p:sp>
        <p:nvSpPr>
          <p:cNvPr id="17" name="正方形/長方形 16">
            <a:extLst>
              <a:ext uri="{FF2B5EF4-FFF2-40B4-BE49-F238E27FC236}">
                <a16:creationId xmlns:a16="http://schemas.microsoft.com/office/drawing/2014/main" id="{FE2CE3C7-ED1C-FACD-6E84-10DD507EAA36}"/>
              </a:ext>
            </a:extLst>
          </p:cNvPr>
          <p:cNvSpPr/>
          <p:nvPr/>
        </p:nvSpPr>
        <p:spPr>
          <a:xfrm>
            <a:off x="578838" y="4615823"/>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サービス提供者</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Tree>
    <p:extLst>
      <p:ext uri="{BB962C8B-B14F-4D97-AF65-F5344CB8AC3E}">
        <p14:creationId xmlns:p14="http://schemas.microsoft.com/office/powerpoint/2010/main" val="156991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186E-4FE4-4FD3-B64C-5DEEBF86348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0E9EA9B-90FD-3BDA-8E41-DCAB25579D1D}"/>
              </a:ext>
            </a:extLst>
          </p:cNvPr>
          <p:cNvSpPr>
            <a:spLocks noGrp="1"/>
          </p:cNvSpPr>
          <p:nvPr>
            <p:ph type="title"/>
          </p:nvPr>
        </p:nvSpPr>
        <p:spPr/>
        <p:txBody>
          <a:bodyPr/>
          <a:lstStyle/>
          <a:p>
            <a:r>
              <a:rPr lang="ja-JP" altLang="en-US" dirty="0"/>
              <a:t>デジタルフィードバックループを踏襲した</a:t>
            </a:r>
            <a:r>
              <a:rPr lang="en-US" altLang="ja-JP" dirty="0"/>
              <a:t>AI</a:t>
            </a:r>
            <a:r>
              <a:rPr lang="ja-JP" altLang="en-US" dirty="0"/>
              <a:t>エージェントによるエコシステム</a:t>
            </a:r>
            <a:endParaRPr kumimoji="1" lang="ja-JP" altLang="en-US" dirty="0"/>
          </a:p>
        </p:txBody>
      </p:sp>
      <p:sp>
        <p:nvSpPr>
          <p:cNvPr id="4" name="スライド番号プレースホルダー 3">
            <a:extLst>
              <a:ext uri="{FF2B5EF4-FFF2-40B4-BE49-F238E27FC236}">
                <a16:creationId xmlns:a16="http://schemas.microsoft.com/office/drawing/2014/main" id="{5C8B7A6F-0125-AEB3-0F9C-75905EB85F9E}"/>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2</a:t>
            </a:fld>
            <a:endParaRPr lang="en-US" altLang="ja-JP"/>
          </a:p>
        </p:txBody>
      </p:sp>
      <p:sp>
        <p:nvSpPr>
          <p:cNvPr id="2" name="コンテンツ プレースホルダー 5">
            <a:extLst>
              <a:ext uri="{FF2B5EF4-FFF2-40B4-BE49-F238E27FC236}">
                <a16:creationId xmlns:a16="http://schemas.microsoft.com/office/drawing/2014/main" id="{97EF3F2B-7CBA-C8E2-4D5F-37C8F9D3B567}"/>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BPS</a:t>
            </a:r>
            <a:r>
              <a:rPr lang="ja-JP" altLang="en-US" sz="1600" kern="0" dirty="0"/>
              <a:t>、経理、財務などあらゆる領域の複雑性の高い属人化した業務を</a:t>
            </a:r>
            <a:r>
              <a:rPr lang="en-US" altLang="ja-JP" sz="1600" kern="0" dirty="0"/>
              <a:t>AI</a:t>
            </a:r>
            <a:r>
              <a:rPr lang="ja-JP" altLang="en-US" sz="1600" kern="0" dirty="0"/>
              <a:t>エージェントに置き換えていくことを想定した場合、</a:t>
            </a:r>
            <a:br>
              <a:rPr lang="en-US" altLang="ja-JP" sz="1600" kern="0" dirty="0"/>
            </a:br>
            <a:r>
              <a:rPr lang="en-US" altLang="ja-JP" sz="1600" kern="0" dirty="0"/>
              <a:t>AI</a:t>
            </a:r>
            <a:r>
              <a:rPr lang="ja-JP" altLang="en-US" sz="1600" kern="0" dirty="0"/>
              <a:t>エージェントが担う業務や蓄積されたデータを</a:t>
            </a:r>
            <a:r>
              <a:rPr lang="en-US" altLang="ja-JP" sz="1600" kern="0" dirty="0"/>
              <a:t>PDCA</a:t>
            </a:r>
            <a:r>
              <a:rPr lang="ja-JP" altLang="en-US" sz="1600" kern="0" dirty="0"/>
              <a:t>サイクルのように循環させることが肝要である。</a:t>
            </a:r>
            <a:endParaRPr lang="en-US" altLang="ja-JP" sz="1600" kern="0" dirty="0"/>
          </a:p>
          <a:p>
            <a:pPr marL="285750" indent="-285750">
              <a:buFont typeface="Arial" panose="020B0604020202020204" pitchFamily="34" charset="0"/>
              <a:buChar char="•"/>
            </a:pPr>
            <a:r>
              <a:rPr lang="ja-JP" altLang="en-US" sz="1600" kern="0" dirty="0"/>
              <a:t>本取り組みでは、このデジタルフィードバックループ（</a:t>
            </a:r>
            <a:r>
              <a:rPr lang="en-US" altLang="ja-JP" sz="1600" kern="0" dirty="0"/>
              <a:t>MS</a:t>
            </a:r>
            <a:r>
              <a:rPr lang="ja-JP" altLang="en-US" sz="1600" kern="0" dirty="0"/>
              <a:t>社提唱）の考え方を基礎に、大規模な</a:t>
            </a:r>
            <a:r>
              <a:rPr lang="en-US" altLang="ja-JP" sz="1600" kern="0" dirty="0"/>
              <a:t>AI</a:t>
            </a:r>
            <a:r>
              <a:rPr lang="ja-JP" altLang="en-US" sz="1600" kern="0" dirty="0"/>
              <a:t>エージェントを展開できる状態を目指す。</a:t>
            </a:r>
            <a:endParaRPr lang="en-US" altLang="ja-JP" sz="1600" kern="0" dirty="0"/>
          </a:p>
        </p:txBody>
      </p:sp>
      <p:sp>
        <p:nvSpPr>
          <p:cNvPr id="65" name="四角形: 角を丸くする 64">
            <a:extLst>
              <a:ext uri="{FF2B5EF4-FFF2-40B4-BE49-F238E27FC236}">
                <a16:creationId xmlns:a16="http://schemas.microsoft.com/office/drawing/2014/main" id="{C3E82773-5850-46F6-A11B-F60152724DA9}"/>
              </a:ext>
            </a:extLst>
          </p:cNvPr>
          <p:cNvSpPr/>
          <p:nvPr/>
        </p:nvSpPr>
        <p:spPr>
          <a:xfrm>
            <a:off x="1077850" y="2231909"/>
            <a:ext cx="5042456" cy="206753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業務・運営領域</a:t>
            </a:r>
          </a:p>
        </p:txBody>
      </p:sp>
      <p:sp>
        <p:nvSpPr>
          <p:cNvPr id="66" name="四角形: 角を丸くする 65">
            <a:extLst>
              <a:ext uri="{FF2B5EF4-FFF2-40B4-BE49-F238E27FC236}">
                <a16:creationId xmlns:a16="http://schemas.microsoft.com/office/drawing/2014/main" id="{D98934AB-A96A-3704-1A30-C5F1F179C2CF}"/>
              </a:ext>
            </a:extLst>
          </p:cNvPr>
          <p:cNvSpPr/>
          <p:nvPr/>
        </p:nvSpPr>
        <p:spPr>
          <a:xfrm>
            <a:off x="6259450" y="2231908"/>
            <a:ext cx="5042456" cy="206753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en-US" altLang="ja-JP"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エージェント・アーキテクチャ領域</a:t>
            </a:r>
          </a:p>
        </p:txBody>
      </p:sp>
      <p:sp>
        <p:nvSpPr>
          <p:cNvPr id="67" name="四角形: 角を丸くする 66">
            <a:extLst>
              <a:ext uri="{FF2B5EF4-FFF2-40B4-BE49-F238E27FC236}">
                <a16:creationId xmlns:a16="http://schemas.microsoft.com/office/drawing/2014/main" id="{1A59E068-E6F5-347F-1826-4EB67CD61790}"/>
              </a:ext>
            </a:extLst>
          </p:cNvPr>
          <p:cNvSpPr/>
          <p:nvPr/>
        </p:nvSpPr>
        <p:spPr>
          <a:xfrm>
            <a:off x="1077850" y="4438132"/>
            <a:ext cx="5042456" cy="2067443"/>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分析・改善領域</a:t>
            </a:r>
          </a:p>
        </p:txBody>
      </p:sp>
      <p:sp>
        <p:nvSpPr>
          <p:cNvPr id="69" name="四角形: 角を丸くする 68">
            <a:extLst>
              <a:ext uri="{FF2B5EF4-FFF2-40B4-BE49-F238E27FC236}">
                <a16:creationId xmlns:a16="http://schemas.microsoft.com/office/drawing/2014/main" id="{1AA8AF07-BFAF-B53D-8237-D67B0A9F4FF8}"/>
              </a:ext>
            </a:extLst>
          </p:cNvPr>
          <p:cNvSpPr/>
          <p:nvPr/>
        </p:nvSpPr>
        <p:spPr>
          <a:xfrm>
            <a:off x="6259450" y="4438132"/>
            <a:ext cx="5042456" cy="2067443"/>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データ・アセット領域</a:t>
            </a:r>
          </a:p>
        </p:txBody>
      </p:sp>
      <p:sp>
        <p:nvSpPr>
          <p:cNvPr id="49" name="矢印: 環状 48">
            <a:extLst>
              <a:ext uri="{FF2B5EF4-FFF2-40B4-BE49-F238E27FC236}">
                <a16:creationId xmlns:a16="http://schemas.microsoft.com/office/drawing/2014/main" id="{D8A0AA84-0776-D21C-046A-6A4292A0099F}"/>
              </a:ext>
            </a:extLst>
          </p:cNvPr>
          <p:cNvSpPr/>
          <p:nvPr/>
        </p:nvSpPr>
        <p:spPr bwMode="auto">
          <a:xfrm rot="16200000">
            <a:off x="4755397" y="2959306"/>
            <a:ext cx="2868962" cy="2868962"/>
          </a:xfrm>
          <a:prstGeom prst="circularArrow">
            <a:avLst>
              <a:gd name="adj1" fmla="val 12020"/>
              <a:gd name="adj2" fmla="val 1142319"/>
              <a:gd name="adj3" fmla="val 20016622"/>
              <a:gd name="adj4" fmla="val 21161829"/>
              <a:gd name="adj5" fmla="val 12500"/>
            </a:avLst>
          </a:prstGeom>
          <a:solidFill>
            <a:srgbClr val="7F7F7F">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46DFC4BD-EF65-079F-04E4-5B1E64CC50B3}"/>
              </a:ext>
            </a:extLst>
          </p:cNvPr>
          <p:cNvGrpSpPr/>
          <p:nvPr/>
        </p:nvGrpSpPr>
        <p:grpSpPr>
          <a:xfrm>
            <a:off x="5663106" y="3686702"/>
            <a:ext cx="1054523" cy="1338773"/>
            <a:chOff x="5569228" y="3244452"/>
            <a:chExt cx="1054523" cy="1338773"/>
          </a:xfrm>
        </p:grpSpPr>
        <p:sp>
          <p:nvSpPr>
            <p:cNvPr id="74" name="弦 73">
              <a:extLst>
                <a:ext uri="{FF2B5EF4-FFF2-40B4-BE49-F238E27FC236}">
                  <a16:creationId xmlns:a16="http://schemas.microsoft.com/office/drawing/2014/main" id="{CF9C814A-0245-C966-8468-19A792A61BBA}"/>
                </a:ext>
              </a:extLst>
            </p:cNvPr>
            <p:cNvSpPr/>
            <p:nvPr/>
          </p:nvSpPr>
          <p:spPr bwMode="auto">
            <a:xfrm>
              <a:off x="5569228"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5" name="弦 74">
              <a:extLst>
                <a:ext uri="{FF2B5EF4-FFF2-40B4-BE49-F238E27FC236}">
                  <a16:creationId xmlns:a16="http://schemas.microsoft.com/office/drawing/2014/main" id="{5F8687A8-3277-841F-9379-5295561BA6F9}"/>
                </a:ext>
              </a:extLst>
            </p:cNvPr>
            <p:cNvSpPr/>
            <p:nvPr/>
          </p:nvSpPr>
          <p:spPr bwMode="auto">
            <a:xfrm rot="10800000">
              <a:off x="5709351"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AD4C1AA1-E681-C005-F8E7-664A813E0F47}"/>
                </a:ext>
              </a:extLst>
            </p:cNvPr>
            <p:cNvSpPr/>
            <p:nvPr/>
          </p:nvSpPr>
          <p:spPr bwMode="auto">
            <a:xfrm>
              <a:off x="5661849"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人</a:t>
              </a:r>
              <a:endParaRPr lang="en-US" altLang="ja-JP" sz="12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306B09A6-563B-4F93-1DBB-09EDA78938DA}"/>
                </a:ext>
              </a:extLst>
            </p:cNvPr>
            <p:cNvSpPr/>
            <p:nvPr/>
          </p:nvSpPr>
          <p:spPr bwMode="auto">
            <a:xfrm>
              <a:off x="6168821"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a:solidFill>
                    <a:schemeClr val="accent4">
                      <a:lumMod val="65000"/>
                      <a:lumOff val="35000"/>
                    </a:schemeClr>
                  </a:solidFill>
                  <a:latin typeface="Meiryo UI" panose="020B0604030504040204" pitchFamily="50" charset="-128"/>
                  <a:ea typeface="Meiryo UI" panose="020B0604030504040204" pitchFamily="50" charset="-128"/>
                </a:rPr>
                <a:t>システム</a:t>
              </a:r>
              <a:endParaRPr lang="en-US" altLang="ja-JP" sz="1200">
                <a:solidFill>
                  <a:schemeClr val="accent4">
                    <a:lumMod val="65000"/>
                    <a:lumOff val="35000"/>
                  </a:schemeClr>
                </a:solidFill>
                <a:latin typeface="Meiryo UI" panose="020B0604030504040204" pitchFamily="50" charset="-128"/>
                <a:ea typeface="Meiryo UI" panose="020B0604030504040204" pitchFamily="50" charset="-128"/>
              </a:endParaRPr>
            </a:p>
          </p:txBody>
        </p:sp>
      </p:grpSp>
      <p:sp>
        <p:nvSpPr>
          <p:cNvPr id="5" name="テキスト ボックス 4">
            <a:extLst>
              <a:ext uri="{FF2B5EF4-FFF2-40B4-BE49-F238E27FC236}">
                <a16:creationId xmlns:a16="http://schemas.microsoft.com/office/drawing/2014/main" id="{E9AFB8B3-A342-23F9-71D3-CDC33CAEB7F2}"/>
              </a:ext>
            </a:extLst>
          </p:cNvPr>
          <p:cNvSpPr txBox="1"/>
          <p:nvPr/>
        </p:nvSpPr>
        <p:spPr bwMode="auto">
          <a:xfrm>
            <a:off x="1514076" y="2832443"/>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エージェント対象業務を増やしていく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BPS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経理：</a:t>
            </a: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財務：標準プロセス関連の業務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顧客管理：マスター登録・名寄せ関連の業務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法務：ナレッジ検索関連の業務</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51" name="テキスト ボックス 50">
            <a:extLst>
              <a:ext uri="{FF2B5EF4-FFF2-40B4-BE49-F238E27FC236}">
                <a16:creationId xmlns:a16="http://schemas.microsoft.com/office/drawing/2014/main" id="{E92D9963-601E-DB30-5E6D-03112F528266}"/>
              </a:ext>
            </a:extLst>
          </p:cNvPr>
          <p:cNvSpPr txBox="1"/>
          <p:nvPr/>
        </p:nvSpPr>
        <p:spPr bwMode="auto">
          <a:xfrm>
            <a:off x="7256243" y="2824592"/>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n8n×Azure</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サービスによる</a:t>
            </a: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ナレッジ検索関連の業務エージェント</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pic>
        <p:nvPicPr>
          <p:cNvPr id="53" name="グラフィックス 52" descr="ワークフロー 枠線">
            <a:extLst>
              <a:ext uri="{FF2B5EF4-FFF2-40B4-BE49-F238E27FC236}">
                <a16:creationId xmlns:a16="http://schemas.microsoft.com/office/drawing/2014/main" id="{46CE2C2D-6807-1F5E-CA40-47F22ED524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24276" y="2297697"/>
            <a:ext cx="579600" cy="579600"/>
          </a:xfrm>
          <a:prstGeom prst="rect">
            <a:avLst/>
          </a:prstGeom>
        </p:spPr>
      </p:pic>
      <p:pic>
        <p:nvPicPr>
          <p:cNvPr id="61" name="グラフィックス 60" descr="ロボット 枠線">
            <a:extLst>
              <a:ext uri="{FF2B5EF4-FFF2-40B4-BE49-F238E27FC236}">
                <a16:creationId xmlns:a16="http://schemas.microsoft.com/office/drawing/2014/main" id="{AB81C9C5-CF48-9B0B-1DAB-F913D6662B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7529" y="2297697"/>
            <a:ext cx="579600" cy="579600"/>
          </a:xfrm>
          <a:prstGeom prst="rect">
            <a:avLst/>
          </a:prstGeom>
        </p:spPr>
      </p:pic>
      <p:pic>
        <p:nvPicPr>
          <p:cNvPr id="63" name="グラフィックス 62" descr="データベース 枠線">
            <a:extLst>
              <a:ext uri="{FF2B5EF4-FFF2-40B4-BE49-F238E27FC236}">
                <a16:creationId xmlns:a16="http://schemas.microsoft.com/office/drawing/2014/main" id="{DE605D1A-83AE-104D-1609-BF721E26B8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86678" y="4447184"/>
            <a:ext cx="579600" cy="579600"/>
          </a:xfrm>
          <a:prstGeom prst="rect">
            <a:avLst/>
          </a:prstGeom>
        </p:spPr>
      </p:pic>
      <p:pic>
        <p:nvPicPr>
          <p:cNvPr id="71" name="グラフィックス 70" descr="棒グラフ (上昇) 枠線">
            <a:extLst>
              <a:ext uri="{FF2B5EF4-FFF2-40B4-BE49-F238E27FC236}">
                <a16:creationId xmlns:a16="http://schemas.microsoft.com/office/drawing/2014/main" id="{E14A68C6-3DC1-D4BD-8776-E78C81B059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86489" y="4447184"/>
            <a:ext cx="579600" cy="579600"/>
          </a:xfrm>
          <a:prstGeom prst="rect">
            <a:avLst/>
          </a:prstGeom>
          <a:scene3d>
            <a:camera prst="orthographicFront">
              <a:rot lat="0" lon="10800000" rev="0"/>
            </a:camera>
            <a:lightRig rig="threePt" dir="t"/>
          </a:scene3d>
        </p:spPr>
      </p:pic>
      <p:sp>
        <p:nvSpPr>
          <p:cNvPr id="72" name="テキスト ボックス 71">
            <a:extLst>
              <a:ext uri="{FF2B5EF4-FFF2-40B4-BE49-F238E27FC236}">
                <a16:creationId xmlns:a16="http://schemas.microsoft.com/office/drawing/2014/main" id="{8824B345-4DA7-F06E-3759-6C6DCADEC0DE}"/>
              </a:ext>
            </a:extLst>
          </p:cNvPr>
          <p:cNvSpPr txBox="1"/>
          <p:nvPr/>
        </p:nvSpPr>
        <p:spPr bwMode="auto">
          <a:xfrm>
            <a:off x="1514076" y="4965309"/>
            <a:ext cx="4170005" cy="1384995"/>
          </a:xfrm>
          <a:prstGeom prst="rect">
            <a:avLst/>
          </a:prstGeom>
          <a:noFill/>
          <a:ln w="9525">
            <a:noFill/>
            <a:miter lim="800000"/>
            <a:headEnd/>
            <a:tailEnd/>
          </a:ln>
        </p:spPr>
        <p:txBody>
          <a:bodyPr wrap="square" rtlCol="0">
            <a:spAutoFit/>
          </a:bodyPr>
          <a:lstStyle/>
          <a:p>
            <a:pPr>
              <a:defRPr/>
            </a:pP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大量のデータの可視化・分析を行い業務改善を進める</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ナレッジ検索関連の業務分析・改善</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73" name="テキスト ボックス 72">
            <a:extLst>
              <a:ext uri="{FF2B5EF4-FFF2-40B4-BE49-F238E27FC236}">
                <a16:creationId xmlns:a16="http://schemas.microsoft.com/office/drawing/2014/main" id="{98F597E0-56C5-B1BD-738D-F5995290A9A2}"/>
              </a:ext>
            </a:extLst>
          </p:cNvPr>
          <p:cNvSpPr txBox="1"/>
          <p:nvPr/>
        </p:nvSpPr>
        <p:spPr bwMode="auto">
          <a:xfrm>
            <a:off x="6695676" y="4965309"/>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エージェントの数に伴い利活用できるデータを増やしていく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ナレッジ検索関連の業務データ</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7" name="テキスト ボックス 6">
            <a:extLst>
              <a:ext uri="{FF2B5EF4-FFF2-40B4-BE49-F238E27FC236}">
                <a16:creationId xmlns:a16="http://schemas.microsoft.com/office/drawing/2014/main" id="{7714BC30-3D21-1B3C-7C9A-3D632EC52C61}"/>
              </a:ext>
            </a:extLst>
          </p:cNvPr>
          <p:cNvSpPr txBox="1"/>
          <p:nvPr/>
        </p:nvSpPr>
        <p:spPr bwMode="auto">
          <a:xfrm>
            <a:off x="5225899" y="3433942"/>
            <a:ext cx="48294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dirty="0">
                <a:solidFill>
                  <a:schemeClr val="accent4">
                    <a:lumMod val="65000"/>
                    <a:lumOff val="35000"/>
                  </a:schemeClr>
                </a:solidFill>
                <a:latin typeface="MS UI Gothic" panose="020B0600070205080204" pitchFamily="50" charset="-128"/>
                <a:ea typeface="MS UI Gothic" panose="020B0600070205080204" pitchFamily="50" charset="-128"/>
                <a:cs typeface="メイリオ"/>
              </a:rPr>
              <a:t>P</a:t>
            </a:r>
            <a:endParaRPr kumimoji="1" lang="ja-JP" altLang="en-US" sz="2000" b="1" dirty="0">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8" name="テキスト ボックス 7">
            <a:extLst>
              <a:ext uri="{FF2B5EF4-FFF2-40B4-BE49-F238E27FC236}">
                <a16:creationId xmlns:a16="http://schemas.microsoft.com/office/drawing/2014/main" id="{415A1A27-5BD4-22D8-98DC-23B90B1692FE}"/>
              </a:ext>
            </a:extLst>
          </p:cNvPr>
          <p:cNvSpPr txBox="1"/>
          <p:nvPr/>
        </p:nvSpPr>
        <p:spPr bwMode="auto">
          <a:xfrm>
            <a:off x="6765130" y="3385135"/>
            <a:ext cx="48294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D</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9" name="テキスト ボックス 8">
            <a:extLst>
              <a:ext uri="{FF2B5EF4-FFF2-40B4-BE49-F238E27FC236}">
                <a16:creationId xmlns:a16="http://schemas.microsoft.com/office/drawing/2014/main" id="{98820146-1EC4-2B6F-DB5C-D447597C3EC7}"/>
              </a:ext>
            </a:extLst>
          </p:cNvPr>
          <p:cNvSpPr txBox="1"/>
          <p:nvPr/>
        </p:nvSpPr>
        <p:spPr bwMode="auto">
          <a:xfrm>
            <a:off x="5929141" y="5117169"/>
            <a:ext cx="50147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C</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
        <p:nvSpPr>
          <p:cNvPr id="10" name="テキスト ボックス 9">
            <a:extLst>
              <a:ext uri="{FF2B5EF4-FFF2-40B4-BE49-F238E27FC236}">
                <a16:creationId xmlns:a16="http://schemas.microsoft.com/office/drawing/2014/main" id="{FE04C6AB-F7DC-7B12-F052-42788F8C0671}"/>
              </a:ext>
            </a:extLst>
          </p:cNvPr>
          <p:cNvSpPr txBox="1"/>
          <p:nvPr/>
        </p:nvSpPr>
        <p:spPr bwMode="auto">
          <a:xfrm>
            <a:off x="5157184" y="4501768"/>
            <a:ext cx="501477" cy="40011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ja-JP"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rPr>
              <a:t>A</a:t>
            </a:r>
            <a:endParaRPr kumimoji="1" lang="ja-JP" altLang="en-US" sz="2000" b="1">
              <a:solidFill>
                <a:schemeClr val="accent4">
                  <a:lumMod val="65000"/>
                  <a:lumOff val="35000"/>
                </a:schemeClr>
              </a:solidFill>
              <a:latin typeface="MS UI Gothic" panose="020B0600070205080204" pitchFamily="50" charset="-128"/>
              <a:ea typeface="MS UI Gothic" panose="020B0600070205080204" pitchFamily="50" charset="-128"/>
              <a:cs typeface="メイリオ"/>
            </a:endParaRPr>
          </a:p>
        </p:txBody>
      </p:sp>
    </p:spTree>
    <p:extLst>
      <p:ext uri="{BB962C8B-B14F-4D97-AF65-F5344CB8AC3E}">
        <p14:creationId xmlns:p14="http://schemas.microsoft.com/office/powerpoint/2010/main" val="610286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5320-5F48-5994-7E42-2A2F6B4F762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09E3D2F-93D3-BB1D-623E-C9BE09FAD40F}"/>
              </a:ext>
            </a:extLst>
          </p:cNvPr>
          <p:cNvSpPr>
            <a:spLocks noGrp="1"/>
          </p:cNvSpPr>
          <p:nvPr>
            <p:ph type="title"/>
          </p:nvPr>
        </p:nvSpPr>
        <p:spPr/>
        <p:txBody>
          <a:bodyPr/>
          <a:lstStyle/>
          <a:p>
            <a:r>
              <a:rPr lang="ja-JP" altLang="en-US" dirty="0"/>
              <a:t>構造化された</a:t>
            </a:r>
            <a:r>
              <a:rPr lang="en-US" altLang="ja-JP" dirty="0"/>
              <a:t>AI</a:t>
            </a:r>
            <a:r>
              <a:rPr lang="ja-JP" altLang="en-US" dirty="0"/>
              <a:t>エージェント基盤のアーキテクチャ</a:t>
            </a:r>
            <a:endParaRPr kumimoji="1" lang="ja-JP" altLang="en-US" dirty="0"/>
          </a:p>
        </p:txBody>
      </p:sp>
      <p:sp>
        <p:nvSpPr>
          <p:cNvPr id="4" name="スライド番号プレースホルダー 3">
            <a:extLst>
              <a:ext uri="{FF2B5EF4-FFF2-40B4-BE49-F238E27FC236}">
                <a16:creationId xmlns:a16="http://schemas.microsoft.com/office/drawing/2014/main" id="{0FF80475-7A8F-C87A-95BA-5A28CEDF4D7F}"/>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3</a:t>
            </a:fld>
            <a:endParaRPr lang="en-US" altLang="ja-JP"/>
          </a:p>
        </p:txBody>
      </p:sp>
      <p:sp>
        <p:nvSpPr>
          <p:cNvPr id="2" name="コンテンツ プレースホルダー 5">
            <a:extLst>
              <a:ext uri="{FF2B5EF4-FFF2-40B4-BE49-F238E27FC236}">
                <a16:creationId xmlns:a16="http://schemas.microsoft.com/office/drawing/2014/main" id="{03701320-0A55-8736-090B-B2F4A0C00109}"/>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AI</a:t>
            </a:r>
            <a:r>
              <a:rPr lang="ja-JP" altLang="en-US" sz="1600" kern="0" dirty="0"/>
              <a:t>エージェント基盤の構成要素を“</a:t>
            </a:r>
            <a:r>
              <a:rPr lang="en-US" altLang="ja-JP" sz="1600" kern="0" dirty="0"/>
              <a:t>AI</a:t>
            </a:r>
            <a:r>
              <a:rPr lang="ja-JP" altLang="en-US" sz="1600" kern="0" dirty="0"/>
              <a:t>エージェントツール”、“</a:t>
            </a:r>
            <a:r>
              <a:rPr lang="en-US" altLang="ja-JP" sz="1600" kern="0" dirty="0"/>
              <a:t>AI</a:t>
            </a:r>
            <a:r>
              <a:rPr lang="ja-JP" altLang="en-US" sz="1600" kern="0" dirty="0"/>
              <a:t>モデル”、“</a:t>
            </a:r>
            <a:r>
              <a:rPr lang="en-US" altLang="ja-JP" sz="1600" kern="0" dirty="0"/>
              <a:t>DB</a:t>
            </a:r>
            <a:r>
              <a:rPr lang="ja-JP" altLang="en-US" sz="1600" kern="0" dirty="0"/>
              <a:t>”、“データ分析”、“インフラ基盤”と分解することで、</a:t>
            </a:r>
            <a:br>
              <a:rPr lang="en-US" altLang="ja-JP" sz="1600" kern="0" dirty="0"/>
            </a:br>
            <a:r>
              <a:rPr lang="en-US" altLang="ja-JP" sz="1600" kern="0" dirty="0"/>
              <a:t>1</a:t>
            </a:r>
            <a:r>
              <a:rPr lang="ja-JP" altLang="en-US" sz="1600" kern="0" dirty="0"/>
              <a:t>つのサービスに依存させない、柔軟性の高いマイクロサービスアーキテクチャを実現する。</a:t>
            </a:r>
            <a:br>
              <a:rPr lang="en-US" altLang="ja-JP" sz="1600" kern="0" dirty="0"/>
            </a:br>
            <a:r>
              <a:rPr lang="en-US" altLang="ja-JP" sz="1600" kern="0" dirty="0"/>
              <a:t>※</a:t>
            </a:r>
            <a:r>
              <a:rPr lang="ja-JP" altLang="en-US" sz="1600" kern="0" dirty="0"/>
              <a:t>初期構想で使用するサービスはあくまで現時点と判断してください（状況によって変更可）</a:t>
            </a:r>
            <a:endParaRPr lang="en-US" altLang="ja-JP" sz="1600" kern="0" dirty="0"/>
          </a:p>
        </p:txBody>
      </p:sp>
      <p:pic>
        <p:nvPicPr>
          <p:cNvPr id="1026" name="Picture 2">
            <a:extLst>
              <a:ext uri="{FF2B5EF4-FFF2-40B4-BE49-F238E27FC236}">
                <a16:creationId xmlns:a16="http://schemas.microsoft.com/office/drawing/2014/main" id="{23BCD918-A90A-4F09-581A-34EEDA208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5758" y="6891980"/>
            <a:ext cx="81278" cy="45719"/>
          </a:xfrm>
          <a:prstGeom prst="rect">
            <a:avLst/>
          </a:prstGeom>
          <a:noFill/>
          <a:extLst>
            <a:ext uri="{909E8E84-426E-40DD-AFC4-6F175D3DCCD1}">
              <a14:hiddenFill xmlns:a14="http://schemas.microsoft.com/office/drawing/2010/main">
                <a:solidFill>
                  <a:srgbClr val="FFFFFF"/>
                </a:solidFill>
              </a14:hiddenFill>
            </a:ext>
          </a:extLst>
        </p:spPr>
      </p:pic>
      <p:sp>
        <p:nvSpPr>
          <p:cNvPr id="87" name="正方形/長方形 86">
            <a:extLst>
              <a:ext uri="{FF2B5EF4-FFF2-40B4-BE49-F238E27FC236}">
                <a16:creationId xmlns:a16="http://schemas.microsoft.com/office/drawing/2014/main" id="{15D3F6EE-81CE-CDDE-F52B-BD5998B4F4F0}"/>
              </a:ext>
            </a:extLst>
          </p:cNvPr>
          <p:cNvSpPr/>
          <p:nvPr/>
        </p:nvSpPr>
        <p:spPr bwMode="auto">
          <a:xfrm>
            <a:off x="206421" y="4433529"/>
            <a:ext cx="11779159" cy="216000"/>
          </a:xfrm>
          <a:prstGeom prst="rect">
            <a:avLst/>
          </a:prstGeom>
          <a:solidFill>
            <a:srgbClr val="7F7F7F"/>
          </a:solidFill>
          <a:ln w="12700" cap="flat" cmpd="sng" algn="ctr">
            <a:solidFill>
              <a:srgbClr val="7F7F7F"/>
            </a:solidFill>
            <a:prstDash val="solid"/>
            <a:miter lim="800000"/>
          </a:ln>
          <a:effectLst/>
        </p:spPr>
        <p:txBody>
          <a:bodyPr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algn="ctr" defTabSz="914400"/>
            <a:r>
              <a:rPr lang="ja-JP" altLang="en-US" sz="1200" b="1" dirty="0">
                <a:solidFill>
                  <a:schemeClr val="bg1"/>
                </a:solidFill>
                <a:latin typeface="Meiryo UI" panose="020B0604030504040204" pitchFamily="50" charset="-128"/>
                <a:ea typeface="Meiryo UI" panose="020B0604030504040204" pitchFamily="50" charset="-128"/>
              </a:rPr>
              <a:t>アーキテクチャのポイント整理</a:t>
            </a:r>
            <a:endParaRPr lang="en-US" altLang="ja-JP" sz="1200" b="1" dirty="0">
              <a:solidFill>
                <a:schemeClr val="bg1"/>
              </a:solidFill>
              <a:latin typeface="Meiryo UI" panose="020B0604030504040204" pitchFamily="50" charset="-128"/>
              <a:ea typeface="Meiryo UI" panose="020B0604030504040204" pitchFamily="50" charset="-128"/>
            </a:endParaRPr>
          </a:p>
        </p:txBody>
      </p:sp>
      <p:grpSp>
        <p:nvGrpSpPr>
          <p:cNvPr id="109" name="グループ化 108">
            <a:extLst>
              <a:ext uri="{FF2B5EF4-FFF2-40B4-BE49-F238E27FC236}">
                <a16:creationId xmlns:a16="http://schemas.microsoft.com/office/drawing/2014/main" id="{2A439025-A618-F95D-25E3-C269385A4C54}"/>
              </a:ext>
            </a:extLst>
          </p:cNvPr>
          <p:cNvGrpSpPr/>
          <p:nvPr/>
        </p:nvGrpSpPr>
        <p:grpSpPr>
          <a:xfrm>
            <a:off x="206421" y="4699765"/>
            <a:ext cx="11779159" cy="1755253"/>
            <a:chOff x="206421" y="4699765"/>
            <a:chExt cx="8402735" cy="1755253"/>
          </a:xfrm>
        </p:grpSpPr>
        <p:sp>
          <p:nvSpPr>
            <p:cNvPr id="107" name="正方形/長方形 106">
              <a:extLst>
                <a:ext uri="{FF2B5EF4-FFF2-40B4-BE49-F238E27FC236}">
                  <a16:creationId xmlns:a16="http://schemas.microsoft.com/office/drawing/2014/main" id="{62E8D0C8-FD98-8E82-8C2A-8A8E680968A5}"/>
                </a:ext>
              </a:extLst>
            </p:cNvPr>
            <p:cNvSpPr/>
            <p:nvPr/>
          </p:nvSpPr>
          <p:spPr bwMode="auto">
            <a:xfrm>
              <a:off x="206421"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indent="-88900" defTabSz="914400" fontAlgn="auto">
                <a:spcBef>
                  <a:spcPts val="0"/>
                </a:spcBef>
                <a:spcAft>
                  <a:spcPts val="0"/>
                </a:spcAft>
                <a:buFont typeface="Arial" panose="020B0604020202020204" pitchFamily="34" charset="0"/>
                <a:buChar char="•"/>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エージェントの構築が容易な拡張性の高いワークフロータイプのローコードを活用する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indent="-88900" defTabSz="914400" fontAlgn="auto">
                <a:spcBef>
                  <a:spcPts val="0"/>
                </a:spcBef>
                <a:spcAft>
                  <a:spcPts val="0"/>
                </a:spcAft>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様々なサービスとの接続や</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モデルの呼び出しが可能であり、非機能面の</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パフォーマンスも高いことが重要になる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8" name="正方形/長方形 107">
              <a:extLst>
                <a:ext uri="{FF2B5EF4-FFF2-40B4-BE49-F238E27FC236}">
                  <a16:creationId xmlns:a16="http://schemas.microsoft.com/office/drawing/2014/main" id="{E93E1FEB-4C4D-5354-F6EC-72245689256A}"/>
                </a:ext>
              </a:extLst>
            </p:cNvPr>
            <p:cNvSpPr/>
            <p:nvPr/>
          </p:nvSpPr>
          <p:spPr bwMode="auto">
            <a:xfrm>
              <a:off x="206421"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algn="ctr" defTabSz="914400" fontAlgn="auto">
                <a:spcBef>
                  <a:spcPts val="0"/>
                </a:spcBef>
                <a:spcAft>
                  <a:spcPts val="0"/>
                </a:spcAft>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①</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エージェントツール</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5" name="正方形/長方形 104">
              <a:extLst>
                <a:ext uri="{FF2B5EF4-FFF2-40B4-BE49-F238E27FC236}">
                  <a16:creationId xmlns:a16="http://schemas.microsoft.com/office/drawing/2014/main" id="{33709D2C-8F00-8B6E-AB52-359D43BE83D3}"/>
                </a:ext>
              </a:extLst>
            </p:cNvPr>
            <p:cNvSpPr/>
            <p:nvPr/>
          </p:nvSpPr>
          <p:spPr bwMode="auto">
            <a:xfrm>
              <a:off x="1894633"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つの</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モデルに依存することなく、</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多種多様なモデルが使用できる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特に</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大基盤のモデルの進化は早い</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ため、全て使用できることが必須条件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である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6" name="正方形/長方形 105">
              <a:extLst>
                <a:ext uri="{FF2B5EF4-FFF2-40B4-BE49-F238E27FC236}">
                  <a16:creationId xmlns:a16="http://schemas.microsoft.com/office/drawing/2014/main" id="{0FB4001B-EEAB-1660-1C34-5FC6FB88E09A}"/>
                </a:ext>
              </a:extLst>
            </p:cNvPr>
            <p:cNvSpPr/>
            <p:nvPr/>
          </p:nvSpPr>
          <p:spPr bwMode="auto">
            <a:xfrm>
              <a:off x="1894633"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②</a:t>
              </a:r>
              <a:r>
                <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モデル</a:t>
              </a:r>
              <a:endPar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03" name="正方形/長方形 102">
              <a:extLst>
                <a:ext uri="{FF2B5EF4-FFF2-40B4-BE49-F238E27FC236}">
                  <a16:creationId xmlns:a16="http://schemas.microsoft.com/office/drawing/2014/main" id="{A394B58E-EB36-BC96-1001-A1A585818205}"/>
                </a:ext>
              </a:extLst>
            </p:cNvPr>
            <p:cNvSpPr/>
            <p:nvPr/>
          </p:nvSpPr>
          <p:spPr bwMode="auto">
            <a:xfrm>
              <a:off x="3582845"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エージェントのマスターデータを格納</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するために</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つの汎用的な</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DB</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にする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汎用的であれば、他の基盤に移すことへの柔軟性も高くなり、ロックインをされない状態を作ることができる</a:t>
              </a:r>
            </a:p>
          </p:txBody>
        </p:sp>
        <p:sp>
          <p:nvSpPr>
            <p:cNvPr id="104" name="正方形/長方形 103">
              <a:extLst>
                <a:ext uri="{FF2B5EF4-FFF2-40B4-BE49-F238E27FC236}">
                  <a16:creationId xmlns:a16="http://schemas.microsoft.com/office/drawing/2014/main" id="{F4771CBD-9C1B-D8F6-FAD4-006F67885904}"/>
                </a:ext>
              </a:extLst>
            </p:cNvPr>
            <p:cNvSpPr/>
            <p:nvPr/>
          </p:nvSpPr>
          <p:spPr bwMode="auto">
            <a:xfrm>
              <a:off x="3582845"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③</a:t>
              </a:r>
              <a:r>
                <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p>
          </p:txBody>
        </p:sp>
        <p:sp>
          <p:nvSpPr>
            <p:cNvPr id="101" name="正方形/長方形 100">
              <a:extLst>
                <a:ext uri="{FF2B5EF4-FFF2-40B4-BE49-F238E27FC236}">
                  <a16:creationId xmlns:a16="http://schemas.microsoft.com/office/drawing/2014/main" id="{78D91362-4179-4019-BDC9-D06D71ECB8D5}"/>
                </a:ext>
              </a:extLst>
            </p:cNvPr>
            <p:cNvSpPr/>
            <p:nvPr/>
          </p:nvSpPr>
          <p:spPr bwMode="auto">
            <a:xfrm>
              <a:off x="5271057"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蓄積された</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エージェントデータを加工、分析するために使用する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特にデータレイクの機能だけでなく、</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BI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機能まで一気通貫でパッケージされたサービスだと学習コストなどがかからず、早期に改善サイクルがまわせる</a:t>
              </a:r>
            </a:p>
          </p:txBody>
        </p:sp>
        <p:sp>
          <p:nvSpPr>
            <p:cNvPr id="102" name="正方形/長方形 101">
              <a:extLst>
                <a:ext uri="{FF2B5EF4-FFF2-40B4-BE49-F238E27FC236}">
                  <a16:creationId xmlns:a16="http://schemas.microsoft.com/office/drawing/2014/main" id="{BAE6E54F-2AC6-B3A3-D3ED-A5820FEBC63A}"/>
                </a:ext>
              </a:extLst>
            </p:cNvPr>
            <p:cNvSpPr/>
            <p:nvPr/>
          </p:nvSpPr>
          <p:spPr bwMode="auto">
            <a:xfrm>
              <a:off x="5271057"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④データ分析</a:t>
              </a:r>
              <a:endPar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99" name="正方形/長方形 98">
              <a:extLst>
                <a:ext uri="{FF2B5EF4-FFF2-40B4-BE49-F238E27FC236}">
                  <a16:creationId xmlns:a16="http://schemas.microsoft.com/office/drawing/2014/main" id="{3849648A-20AD-B468-3E76-0E040E9D1A36}"/>
                </a:ext>
              </a:extLst>
            </p:cNvPr>
            <p:cNvSpPr/>
            <p:nvPr/>
          </p:nvSpPr>
          <p:spPr bwMode="auto">
            <a:xfrm>
              <a:off x="6959269" y="5093503"/>
              <a:ext cx="1649887" cy="1361515"/>
            </a:xfrm>
            <a:prstGeom prst="rect">
              <a:avLst/>
            </a:prstGeom>
            <a:no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データの取り扱いや外部サービスとの</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接続など、あらゆる面で高いセキュリティ要件が求められる</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88900" lvl="1" indent="-88900" defTabSz="914400">
                <a:buFont typeface="Arial" panose="020B0604020202020204" pitchFamily="34" charset="0"/>
                <a:buChar char="•"/>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機能面でも</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だけでなく従来の業務で使用するサービスとの接続し易さや</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親和性も重要になる</a:t>
              </a:r>
            </a:p>
          </p:txBody>
        </p:sp>
        <p:sp>
          <p:nvSpPr>
            <p:cNvPr id="100" name="正方形/長方形 99">
              <a:extLst>
                <a:ext uri="{FF2B5EF4-FFF2-40B4-BE49-F238E27FC236}">
                  <a16:creationId xmlns:a16="http://schemas.microsoft.com/office/drawing/2014/main" id="{ECA86AD7-D309-6E6F-F7DB-BDBAC78CFCC4}"/>
                </a:ext>
              </a:extLst>
            </p:cNvPr>
            <p:cNvSpPr/>
            <p:nvPr/>
          </p:nvSpPr>
          <p:spPr bwMode="auto">
            <a:xfrm>
              <a:off x="6959269" y="4699765"/>
              <a:ext cx="1649887" cy="360000"/>
            </a:xfrm>
            <a:prstGeom prst="rect">
              <a:avLst/>
            </a:prstGeom>
            <a:solidFill>
              <a:sysClr val="window" lastClr="FFFFFF">
                <a:lumMod val="95000"/>
              </a:sysClr>
            </a:solidFill>
            <a:ln w="9525" cap="flat" cmpd="sng" algn="ctr">
              <a:solidFill>
                <a:sysClr val="windowText" lastClr="000000">
                  <a:lumMod val="50000"/>
                  <a:lumOff val="50000"/>
                </a:sysClr>
              </a:solidFill>
              <a:prstDash val="solid"/>
            </a:ln>
            <a:effectLst/>
          </p:spPr>
          <p:txBody>
            <a:bodyPr lIns="38742" tIns="0" rIns="38742" bIns="0" rtlCol="0" anchor="ctr"/>
            <a:lstStyle>
              <a:defPPr>
                <a:defRPr lang="en-US"/>
              </a:defPPr>
              <a:lvl1pPr marL="0" algn="l" defTabSz="987415" rtl="0" eaLnBrk="1" latinLnBrk="0" hangingPunct="1">
                <a:defRPr sz="1944" kern="1200">
                  <a:solidFill>
                    <a:schemeClr val="tx1"/>
                  </a:solidFill>
                  <a:latin typeface="+mn-lt"/>
                  <a:ea typeface="+mn-ea"/>
                  <a:cs typeface="+mn-cs"/>
                </a:defRPr>
              </a:lvl1pPr>
              <a:lvl2pPr marL="493707" algn="l" defTabSz="987415" rtl="0" eaLnBrk="1" latinLnBrk="0" hangingPunct="1">
                <a:defRPr sz="1944" kern="1200">
                  <a:solidFill>
                    <a:schemeClr val="tx1"/>
                  </a:solidFill>
                  <a:latin typeface="+mn-lt"/>
                  <a:ea typeface="+mn-ea"/>
                  <a:cs typeface="+mn-cs"/>
                </a:defRPr>
              </a:lvl2pPr>
              <a:lvl3pPr marL="987415" algn="l" defTabSz="987415" rtl="0" eaLnBrk="1" latinLnBrk="0" hangingPunct="1">
                <a:defRPr sz="1944" kern="1200">
                  <a:solidFill>
                    <a:schemeClr val="tx1"/>
                  </a:solidFill>
                  <a:latin typeface="+mn-lt"/>
                  <a:ea typeface="+mn-ea"/>
                  <a:cs typeface="+mn-cs"/>
                </a:defRPr>
              </a:lvl3pPr>
              <a:lvl4pPr marL="1481122" algn="l" defTabSz="987415" rtl="0" eaLnBrk="1" latinLnBrk="0" hangingPunct="1">
                <a:defRPr sz="1944" kern="1200">
                  <a:solidFill>
                    <a:schemeClr val="tx1"/>
                  </a:solidFill>
                  <a:latin typeface="+mn-lt"/>
                  <a:ea typeface="+mn-ea"/>
                  <a:cs typeface="+mn-cs"/>
                </a:defRPr>
              </a:lvl4pPr>
              <a:lvl5pPr marL="1974830" algn="l" defTabSz="987415" rtl="0" eaLnBrk="1" latinLnBrk="0" hangingPunct="1">
                <a:defRPr sz="1944" kern="1200">
                  <a:solidFill>
                    <a:schemeClr val="tx1"/>
                  </a:solidFill>
                  <a:latin typeface="+mn-lt"/>
                  <a:ea typeface="+mn-ea"/>
                  <a:cs typeface="+mn-cs"/>
                </a:defRPr>
              </a:lvl5pPr>
              <a:lvl6pPr marL="2468537" algn="l" defTabSz="987415" rtl="0" eaLnBrk="1" latinLnBrk="0" hangingPunct="1">
                <a:defRPr sz="1944" kern="1200">
                  <a:solidFill>
                    <a:schemeClr val="tx1"/>
                  </a:solidFill>
                  <a:latin typeface="+mn-lt"/>
                  <a:ea typeface="+mn-ea"/>
                  <a:cs typeface="+mn-cs"/>
                </a:defRPr>
              </a:lvl6pPr>
              <a:lvl7pPr marL="2962245" algn="l" defTabSz="987415" rtl="0" eaLnBrk="1" latinLnBrk="0" hangingPunct="1">
                <a:defRPr sz="1944" kern="1200">
                  <a:solidFill>
                    <a:schemeClr val="tx1"/>
                  </a:solidFill>
                  <a:latin typeface="+mn-lt"/>
                  <a:ea typeface="+mn-ea"/>
                  <a:cs typeface="+mn-cs"/>
                </a:defRPr>
              </a:lvl7pPr>
              <a:lvl8pPr marL="3455952" algn="l" defTabSz="987415" rtl="0" eaLnBrk="1" latinLnBrk="0" hangingPunct="1">
                <a:defRPr sz="1944" kern="1200">
                  <a:solidFill>
                    <a:schemeClr val="tx1"/>
                  </a:solidFill>
                  <a:latin typeface="+mn-lt"/>
                  <a:ea typeface="+mn-ea"/>
                  <a:cs typeface="+mn-cs"/>
                </a:defRPr>
              </a:lvl8pPr>
              <a:lvl9pPr marL="3949659" algn="l" defTabSz="987415" rtl="0" eaLnBrk="1" latinLnBrk="0" hangingPunct="1">
                <a:defRPr sz="1944"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⑤インフラ基盤</a:t>
              </a:r>
              <a:endPar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grpSp>
      <p:grpSp>
        <p:nvGrpSpPr>
          <p:cNvPr id="111" name="グループ化 110">
            <a:extLst>
              <a:ext uri="{FF2B5EF4-FFF2-40B4-BE49-F238E27FC236}">
                <a16:creationId xmlns:a16="http://schemas.microsoft.com/office/drawing/2014/main" id="{B1EE43A1-C33C-7A16-EB1D-792EAC89DA60}"/>
              </a:ext>
            </a:extLst>
          </p:cNvPr>
          <p:cNvGrpSpPr/>
          <p:nvPr/>
        </p:nvGrpSpPr>
        <p:grpSpPr>
          <a:xfrm>
            <a:off x="295065" y="1995055"/>
            <a:ext cx="11601870" cy="2179236"/>
            <a:chOff x="295065" y="1995055"/>
            <a:chExt cx="11601870" cy="2179236"/>
          </a:xfrm>
        </p:grpSpPr>
        <p:sp>
          <p:nvSpPr>
            <p:cNvPr id="11" name="正方形/長方形 10">
              <a:extLst>
                <a:ext uri="{FF2B5EF4-FFF2-40B4-BE49-F238E27FC236}">
                  <a16:creationId xmlns:a16="http://schemas.microsoft.com/office/drawing/2014/main" id="{E5C1DB97-620C-393D-6141-A18C54A0290D}"/>
                </a:ext>
              </a:extLst>
            </p:cNvPr>
            <p:cNvSpPr/>
            <p:nvPr/>
          </p:nvSpPr>
          <p:spPr>
            <a:xfrm>
              <a:off x="295065" y="2461910"/>
              <a:ext cx="1955660" cy="1643179"/>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フロントエンドサービス</a:t>
              </a:r>
            </a:p>
          </p:txBody>
        </p:sp>
        <p:sp>
          <p:nvSpPr>
            <p:cNvPr id="12" name="正方形/長方形 11">
              <a:extLst>
                <a:ext uri="{FF2B5EF4-FFF2-40B4-BE49-F238E27FC236}">
                  <a16:creationId xmlns:a16="http://schemas.microsoft.com/office/drawing/2014/main" id="{AD4816AB-1EC6-7D2A-909E-E89A7570DA9A}"/>
                </a:ext>
              </a:extLst>
            </p:cNvPr>
            <p:cNvSpPr/>
            <p:nvPr/>
          </p:nvSpPr>
          <p:spPr bwMode="auto">
            <a:xfrm>
              <a:off x="441344" y="3060979"/>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2" name="正方形/長方形 21">
              <a:extLst>
                <a:ext uri="{FF2B5EF4-FFF2-40B4-BE49-F238E27FC236}">
                  <a16:creationId xmlns:a16="http://schemas.microsoft.com/office/drawing/2014/main" id="{2E47B5AA-392A-578C-7A96-5F9759717FC1}"/>
                </a:ext>
              </a:extLst>
            </p:cNvPr>
            <p:cNvSpPr/>
            <p:nvPr/>
          </p:nvSpPr>
          <p:spPr bwMode="auto">
            <a:xfrm>
              <a:off x="441344" y="3483529"/>
              <a:ext cx="1646808" cy="337425"/>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000000"/>
                  </a:solidFill>
                  <a:latin typeface="Meiryo UI"/>
                  <a:ea typeface="Meiryo UI"/>
                  <a:cs typeface="Meiryo UI" panose="020B0604030504040204" pitchFamily="50" charset="-128"/>
                </a:rPr>
                <a:t>：</a:t>
              </a:r>
              <a:endParaRPr kumimoji="0" lang="ja-JP" altLang="en-US" sz="12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13" name="正方形/長方形 12">
              <a:extLst>
                <a:ext uri="{FF2B5EF4-FFF2-40B4-BE49-F238E27FC236}">
                  <a16:creationId xmlns:a16="http://schemas.microsoft.com/office/drawing/2014/main" id="{9544DEFE-EC3A-8622-1F69-66EF31A8CD11}"/>
                </a:ext>
              </a:extLst>
            </p:cNvPr>
            <p:cNvSpPr/>
            <p:nvPr/>
          </p:nvSpPr>
          <p:spPr>
            <a:xfrm>
              <a:off x="2695282" y="2461910"/>
              <a:ext cx="1955662"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①</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エージェントツール</a:t>
              </a:r>
            </a:p>
          </p:txBody>
        </p:sp>
        <p:sp>
          <p:nvSpPr>
            <p:cNvPr id="14" name="正方形/長方形 13">
              <a:extLst>
                <a:ext uri="{FF2B5EF4-FFF2-40B4-BE49-F238E27FC236}">
                  <a16:creationId xmlns:a16="http://schemas.microsoft.com/office/drawing/2014/main" id="{A1DAE51D-8C18-2AA9-7D2B-853DD2C683FA}"/>
                </a:ext>
              </a:extLst>
            </p:cNvPr>
            <p:cNvSpPr/>
            <p:nvPr/>
          </p:nvSpPr>
          <p:spPr>
            <a:xfrm>
              <a:off x="2695282" y="3306954"/>
              <a:ext cx="916334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⑤インフラ基盤</a:t>
              </a:r>
            </a:p>
          </p:txBody>
        </p:sp>
        <p:sp>
          <p:nvSpPr>
            <p:cNvPr id="15" name="正方形/長方形 14">
              <a:extLst>
                <a:ext uri="{FF2B5EF4-FFF2-40B4-BE49-F238E27FC236}">
                  <a16:creationId xmlns:a16="http://schemas.microsoft.com/office/drawing/2014/main" id="{8BFAB617-CB5C-046F-EC60-FAEE1B4D1ED8}"/>
                </a:ext>
              </a:extLst>
            </p:cNvPr>
            <p:cNvSpPr/>
            <p:nvPr/>
          </p:nvSpPr>
          <p:spPr>
            <a:xfrm>
              <a:off x="5095501" y="2461632"/>
              <a:ext cx="195800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②</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モデル</a:t>
              </a:r>
            </a:p>
          </p:txBody>
        </p:sp>
        <p:sp>
          <p:nvSpPr>
            <p:cNvPr id="16" name="正方形/長方形 15">
              <a:extLst>
                <a:ext uri="{FF2B5EF4-FFF2-40B4-BE49-F238E27FC236}">
                  <a16:creationId xmlns:a16="http://schemas.microsoft.com/office/drawing/2014/main" id="{1CF0AAE7-37D5-3D2D-2B81-425EBC02804F}"/>
                </a:ext>
              </a:extLst>
            </p:cNvPr>
            <p:cNvSpPr/>
            <p:nvPr/>
          </p:nvSpPr>
          <p:spPr>
            <a:xfrm>
              <a:off x="7498062" y="2461632"/>
              <a:ext cx="195800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③</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DB</a:t>
              </a:r>
              <a:endPar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7" name="正方形/長方形 16">
              <a:extLst>
                <a:ext uri="{FF2B5EF4-FFF2-40B4-BE49-F238E27FC236}">
                  <a16:creationId xmlns:a16="http://schemas.microsoft.com/office/drawing/2014/main" id="{263E031E-564E-797D-18EC-8FEFCA696D77}"/>
                </a:ext>
              </a:extLst>
            </p:cNvPr>
            <p:cNvSpPr/>
            <p:nvPr/>
          </p:nvSpPr>
          <p:spPr>
            <a:xfrm>
              <a:off x="9900622" y="2461632"/>
              <a:ext cx="1958003" cy="798135"/>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algn="ctr">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④データ分析</a:t>
              </a:r>
            </a:p>
          </p:txBody>
        </p:sp>
        <p:sp>
          <p:nvSpPr>
            <p:cNvPr id="23" name="正方形/長方形 22">
              <a:extLst>
                <a:ext uri="{FF2B5EF4-FFF2-40B4-BE49-F238E27FC236}">
                  <a16:creationId xmlns:a16="http://schemas.microsoft.com/office/drawing/2014/main" id="{F836EDAC-2A0B-3F33-0B6E-74A022CD6AE7}"/>
                </a:ext>
              </a:extLst>
            </p:cNvPr>
            <p:cNvSpPr/>
            <p:nvPr/>
          </p:nvSpPr>
          <p:spPr bwMode="auto">
            <a:xfrm>
              <a:off x="2850293"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4" name="正方形/長方形 23">
              <a:extLst>
                <a:ext uri="{FF2B5EF4-FFF2-40B4-BE49-F238E27FC236}">
                  <a16:creationId xmlns:a16="http://schemas.microsoft.com/office/drawing/2014/main" id="{D4EA81F3-9939-3A24-00DA-DDFBAE8C60C5}"/>
                </a:ext>
              </a:extLst>
            </p:cNvPr>
            <p:cNvSpPr/>
            <p:nvPr/>
          </p:nvSpPr>
          <p:spPr bwMode="auto">
            <a:xfrm>
              <a:off x="5251099"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5" name="正方形/長方形 24">
              <a:extLst>
                <a:ext uri="{FF2B5EF4-FFF2-40B4-BE49-F238E27FC236}">
                  <a16:creationId xmlns:a16="http://schemas.microsoft.com/office/drawing/2014/main" id="{AC850E2B-C4EA-6E1E-0D9C-8FBBB5053D4D}"/>
                </a:ext>
              </a:extLst>
            </p:cNvPr>
            <p:cNvSpPr/>
            <p:nvPr/>
          </p:nvSpPr>
          <p:spPr bwMode="auto">
            <a:xfrm>
              <a:off x="7651905"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6" name="正方形/長方形 25">
              <a:extLst>
                <a:ext uri="{FF2B5EF4-FFF2-40B4-BE49-F238E27FC236}">
                  <a16:creationId xmlns:a16="http://schemas.microsoft.com/office/drawing/2014/main" id="{41B7AB41-751D-EFA1-662E-EC08D5CE9619}"/>
                </a:ext>
              </a:extLst>
            </p:cNvPr>
            <p:cNvSpPr/>
            <p:nvPr/>
          </p:nvSpPr>
          <p:spPr bwMode="auto">
            <a:xfrm>
              <a:off x="10052711" y="2792867"/>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27" name="正方形/長方形 26">
              <a:extLst>
                <a:ext uri="{FF2B5EF4-FFF2-40B4-BE49-F238E27FC236}">
                  <a16:creationId xmlns:a16="http://schemas.microsoft.com/office/drawing/2014/main" id="{75F0903B-4909-4099-EC96-A0113E6F582E}"/>
                </a:ext>
              </a:extLst>
            </p:cNvPr>
            <p:cNvSpPr/>
            <p:nvPr/>
          </p:nvSpPr>
          <p:spPr bwMode="auto">
            <a:xfrm>
              <a:off x="6453549" y="3634933"/>
              <a:ext cx="1646808" cy="408285"/>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endPar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pic>
          <p:nvPicPr>
            <p:cNvPr id="30" name="図 29" descr="アイコン&#10;&#10;AI 生成コンテンツは誤りを含む可能性があります。">
              <a:extLst>
                <a:ext uri="{FF2B5EF4-FFF2-40B4-BE49-F238E27FC236}">
                  <a16:creationId xmlns:a16="http://schemas.microsoft.com/office/drawing/2014/main" id="{D61F2AF5-96DB-88FB-FA11-F94F6C058C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0927" y="2822870"/>
              <a:ext cx="1085541" cy="348278"/>
            </a:xfrm>
            <a:prstGeom prst="rect">
              <a:avLst/>
            </a:prstGeom>
          </p:spPr>
        </p:pic>
        <p:grpSp>
          <p:nvGrpSpPr>
            <p:cNvPr id="39" name="グループ化 38">
              <a:extLst>
                <a:ext uri="{FF2B5EF4-FFF2-40B4-BE49-F238E27FC236}">
                  <a16:creationId xmlns:a16="http://schemas.microsoft.com/office/drawing/2014/main" id="{A6D3B8FE-25E4-1537-2158-5E5C1B1C3545}"/>
                </a:ext>
              </a:extLst>
            </p:cNvPr>
            <p:cNvGrpSpPr/>
            <p:nvPr/>
          </p:nvGrpSpPr>
          <p:grpSpPr>
            <a:xfrm>
              <a:off x="5558902" y="2816159"/>
              <a:ext cx="1031202" cy="360808"/>
              <a:chOff x="5553157" y="3393675"/>
              <a:chExt cx="1031202" cy="360808"/>
            </a:xfrm>
          </p:grpSpPr>
          <p:pic>
            <p:nvPicPr>
              <p:cNvPr id="1030" name="Picture 6" descr="How To Use Claude Code On Windows 11 - Dibujos Cute Para Imprimir">
                <a:extLst>
                  <a:ext uri="{FF2B5EF4-FFF2-40B4-BE49-F238E27FC236}">
                    <a16:creationId xmlns:a16="http://schemas.microsoft.com/office/drawing/2014/main" id="{F5BFD586-CC94-C771-8705-D987EE64FE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551" y="3393675"/>
                <a:ext cx="360808" cy="360808"/>
              </a:xfrm>
              <a:prstGeom prst="rect">
                <a:avLst/>
              </a:prstGeom>
              <a:noFill/>
              <a:extLst>
                <a:ext uri="{909E8E84-426E-40DD-AFC4-6F175D3DCCD1}">
                  <a14:hiddenFill xmlns:a14="http://schemas.microsoft.com/office/drawing/2010/main">
                    <a:solidFill>
                      <a:srgbClr val="FFFFFF"/>
                    </a:solidFill>
                  </a14:hiddenFill>
                </a:ext>
              </a:extLst>
            </p:spPr>
          </p:pic>
          <p:pic>
            <p:nvPicPr>
              <p:cNvPr id="34" name="図 33">
                <a:extLst>
                  <a:ext uri="{FF2B5EF4-FFF2-40B4-BE49-F238E27FC236}">
                    <a16:creationId xmlns:a16="http://schemas.microsoft.com/office/drawing/2014/main" id="{C9393090-D577-1749-F5AA-0280C8BF78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53157" y="3393675"/>
                <a:ext cx="360808" cy="360808"/>
              </a:xfrm>
              <a:prstGeom prst="rect">
                <a:avLst/>
              </a:prstGeom>
            </p:spPr>
          </p:pic>
        </p:grpSp>
        <p:pic>
          <p:nvPicPr>
            <p:cNvPr id="1038" name="Picture 14" descr="PostgreSQL Logo | Cabeza de elefante, Identidad visual, Software">
              <a:extLst>
                <a:ext uri="{FF2B5EF4-FFF2-40B4-BE49-F238E27FC236}">
                  <a16:creationId xmlns:a16="http://schemas.microsoft.com/office/drawing/2014/main" id="{BED68EAD-59AD-CE33-790C-DA96053E437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a:fillRect/>
            </a:stretch>
          </p:blipFill>
          <p:spPr bwMode="auto">
            <a:xfrm>
              <a:off x="7784934" y="2872497"/>
              <a:ext cx="1380751" cy="249023"/>
            </a:xfrm>
            <a:prstGeom prst="rect">
              <a:avLst/>
            </a:prstGeom>
            <a:noFill/>
            <a:extLst>
              <a:ext uri="{909E8E84-426E-40DD-AFC4-6F175D3DCCD1}">
                <a14:hiddenFill xmlns:a14="http://schemas.microsoft.com/office/drawing/2010/main">
                  <a:solidFill>
                    <a:srgbClr val="FFFFFF"/>
                  </a:solidFill>
                </a14:hiddenFill>
              </a:ext>
            </a:extLst>
          </p:spPr>
        </p:pic>
        <p:pic>
          <p:nvPicPr>
            <p:cNvPr id="38" name="図 37">
              <a:extLst>
                <a:ext uri="{FF2B5EF4-FFF2-40B4-BE49-F238E27FC236}">
                  <a16:creationId xmlns:a16="http://schemas.microsoft.com/office/drawing/2014/main" id="{84416BD3-6F33-3A9A-A727-B514A826999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10085306" y="2880593"/>
              <a:ext cx="1581618" cy="232833"/>
            </a:xfrm>
            <a:prstGeom prst="rect">
              <a:avLst/>
            </a:prstGeom>
          </p:spPr>
        </p:pic>
        <p:pic>
          <p:nvPicPr>
            <p:cNvPr id="40" name="図 39">
              <a:extLst>
                <a:ext uri="{FF2B5EF4-FFF2-40B4-BE49-F238E27FC236}">
                  <a16:creationId xmlns:a16="http://schemas.microsoft.com/office/drawing/2014/main" id="{7326CB44-E8D4-4C81-9018-4B5B5A972F62}"/>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a:xfrm>
              <a:off x="6556938" y="3700738"/>
              <a:ext cx="1440029" cy="276675"/>
            </a:xfrm>
            <a:prstGeom prst="rect">
              <a:avLst/>
            </a:prstGeom>
          </p:spPr>
        </p:pic>
        <p:grpSp>
          <p:nvGrpSpPr>
            <p:cNvPr id="45" name="グループ化 44">
              <a:extLst>
                <a:ext uri="{FF2B5EF4-FFF2-40B4-BE49-F238E27FC236}">
                  <a16:creationId xmlns:a16="http://schemas.microsoft.com/office/drawing/2014/main" id="{2BEDF925-7889-2D8E-8900-B338F6B1E69A}"/>
                </a:ext>
              </a:extLst>
            </p:cNvPr>
            <p:cNvGrpSpPr/>
            <p:nvPr/>
          </p:nvGrpSpPr>
          <p:grpSpPr>
            <a:xfrm>
              <a:off x="581060" y="3076664"/>
              <a:ext cx="1367376" cy="376915"/>
              <a:chOff x="548208" y="3071309"/>
              <a:chExt cx="1367376" cy="376915"/>
            </a:xfrm>
          </p:grpSpPr>
          <p:pic>
            <p:nvPicPr>
              <p:cNvPr id="42" name="図 41">
                <a:extLst>
                  <a:ext uri="{FF2B5EF4-FFF2-40B4-BE49-F238E27FC236}">
                    <a16:creationId xmlns:a16="http://schemas.microsoft.com/office/drawing/2014/main" id="{A77D0007-D163-FC04-A299-D81A4956FF50}"/>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a:xfrm>
                <a:off x="548208" y="3079318"/>
                <a:ext cx="288569" cy="360896"/>
              </a:xfrm>
              <a:prstGeom prst="rect">
                <a:avLst/>
              </a:prstGeom>
            </p:spPr>
          </p:pic>
          <p:pic>
            <p:nvPicPr>
              <p:cNvPr id="43" name="図 42">
                <a:extLst>
                  <a:ext uri="{FF2B5EF4-FFF2-40B4-BE49-F238E27FC236}">
                    <a16:creationId xmlns:a16="http://schemas.microsoft.com/office/drawing/2014/main" id="{B2FC7F88-E268-BAE5-05B0-AE12B489E038}"/>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a:xfrm>
                <a:off x="1068872" y="3071309"/>
                <a:ext cx="236086" cy="376915"/>
              </a:xfrm>
              <a:prstGeom prst="rect">
                <a:avLst/>
              </a:prstGeom>
            </p:spPr>
          </p:pic>
          <p:pic>
            <p:nvPicPr>
              <p:cNvPr id="44" name="図 43">
                <a:extLst>
                  <a:ext uri="{FF2B5EF4-FFF2-40B4-BE49-F238E27FC236}">
                    <a16:creationId xmlns:a16="http://schemas.microsoft.com/office/drawing/2014/main" id="{68AC0975-A07F-B73E-B633-122045B413FB}"/>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a:xfrm>
                <a:off x="1537052" y="3083372"/>
                <a:ext cx="378532" cy="352789"/>
              </a:xfrm>
              <a:prstGeom prst="rect">
                <a:avLst/>
              </a:prstGeom>
            </p:spPr>
          </p:pic>
        </p:grpSp>
        <p:cxnSp>
          <p:nvCxnSpPr>
            <p:cNvPr id="50" name="コネクタ: 曲線 49">
              <a:extLst>
                <a:ext uri="{FF2B5EF4-FFF2-40B4-BE49-F238E27FC236}">
                  <a16:creationId xmlns:a16="http://schemas.microsoft.com/office/drawing/2014/main" id="{364DB76C-0C3E-3453-04FF-BACD61BA90CA}"/>
                </a:ext>
              </a:extLst>
            </p:cNvPr>
            <p:cNvCxnSpPr>
              <a:cxnSpLocks/>
              <a:stCxn id="23" idx="1"/>
              <a:endCxn id="12" idx="3"/>
            </p:cNvCxnSpPr>
            <p:nvPr/>
          </p:nvCxnSpPr>
          <p:spPr>
            <a:xfrm rot="10800000" flipV="1">
              <a:off x="2088153" y="2997010"/>
              <a:ext cx="762141" cy="268112"/>
            </a:xfrm>
            <a:prstGeom prst="bent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2" name="コネクタ: 曲線 49">
              <a:extLst>
                <a:ext uri="{FF2B5EF4-FFF2-40B4-BE49-F238E27FC236}">
                  <a16:creationId xmlns:a16="http://schemas.microsoft.com/office/drawing/2014/main" id="{4AC33A63-366C-5000-E8BB-4C965DAD1875}"/>
                </a:ext>
              </a:extLst>
            </p:cNvPr>
            <p:cNvCxnSpPr>
              <a:cxnSpLocks/>
              <a:stCxn id="23" idx="3"/>
              <a:endCxn id="24" idx="1"/>
            </p:cNvCxnSpPr>
            <p:nvPr/>
          </p:nvCxnSpPr>
          <p:spPr>
            <a:xfrm>
              <a:off x="4497101" y="2997010"/>
              <a:ext cx="753998" cy="0"/>
            </a:xfrm>
            <a:prstGeom prst="straightConnector1">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6" name="コネクタ: 曲線 49">
              <a:extLst>
                <a:ext uri="{FF2B5EF4-FFF2-40B4-BE49-F238E27FC236}">
                  <a16:creationId xmlns:a16="http://schemas.microsoft.com/office/drawing/2014/main" id="{D4710FFB-CEF8-9C67-C23D-E4954A7EE2EF}"/>
                </a:ext>
              </a:extLst>
            </p:cNvPr>
            <p:cNvCxnSpPr>
              <a:cxnSpLocks/>
              <a:stCxn id="26" idx="1"/>
              <a:endCxn id="25" idx="3"/>
            </p:cNvCxnSpPr>
            <p:nvPr/>
          </p:nvCxnSpPr>
          <p:spPr>
            <a:xfrm flipH="1">
              <a:off x="9298713" y="2997010"/>
              <a:ext cx="753998" cy="0"/>
            </a:xfrm>
            <a:prstGeom prst="straightConnector1">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4" name="コネクタ: 曲線 49">
              <a:extLst>
                <a:ext uri="{FF2B5EF4-FFF2-40B4-BE49-F238E27FC236}">
                  <a16:creationId xmlns:a16="http://schemas.microsoft.com/office/drawing/2014/main" id="{119194C5-8E02-830F-392E-E48F4F39774F}"/>
                </a:ext>
              </a:extLst>
            </p:cNvPr>
            <p:cNvCxnSpPr>
              <a:cxnSpLocks/>
              <a:stCxn id="25" idx="1"/>
              <a:endCxn id="23" idx="0"/>
            </p:cNvCxnSpPr>
            <p:nvPr/>
          </p:nvCxnSpPr>
          <p:spPr>
            <a:xfrm rot="10800000">
              <a:off x="3673697" y="2792868"/>
              <a:ext cx="3978208" cy="204143"/>
            </a:xfrm>
            <a:prstGeom prst="bentConnector4">
              <a:avLst>
                <a:gd name="adj1" fmla="val 10153"/>
                <a:gd name="adj2" fmla="val 139815"/>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82" name="正方形/長方形 81">
              <a:extLst>
                <a:ext uri="{FF2B5EF4-FFF2-40B4-BE49-F238E27FC236}">
                  <a16:creationId xmlns:a16="http://schemas.microsoft.com/office/drawing/2014/main" id="{0B8A87A6-F30E-FC50-EDF3-FB96D422B282}"/>
                </a:ext>
              </a:extLst>
            </p:cNvPr>
            <p:cNvSpPr/>
            <p:nvPr/>
          </p:nvSpPr>
          <p:spPr bwMode="auto">
            <a:xfrm>
              <a:off x="2302402" y="3071594"/>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接続</a:t>
              </a:r>
            </a:p>
          </p:txBody>
        </p:sp>
        <p:sp>
          <p:nvSpPr>
            <p:cNvPr id="83" name="正方形/長方形 82">
              <a:extLst>
                <a:ext uri="{FF2B5EF4-FFF2-40B4-BE49-F238E27FC236}">
                  <a16:creationId xmlns:a16="http://schemas.microsoft.com/office/drawing/2014/main" id="{0AE02418-59CB-C49E-2D3E-1E73C53BD341}"/>
                </a:ext>
              </a:extLst>
            </p:cNvPr>
            <p:cNvSpPr/>
            <p:nvPr/>
          </p:nvSpPr>
          <p:spPr bwMode="auto">
            <a:xfrm>
              <a:off x="4698670" y="2940266"/>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呼出</a:t>
              </a:r>
            </a:p>
          </p:txBody>
        </p:sp>
        <p:sp>
          <p:nvSpPr>
            <p:cNvPr id="84" name="正方形/長方形 83">
              <a:extLst>
                <a:ext uri="{FF2B5EF4-FFF2-40B4-BE49-F238E27FC236}">
                  <a16:creationId xmlns:a16="http://schemas.microsoft.com/office/drawing/2014/main" id="{40F0D9DD-A073-CFD2-6BB6-367B91306998}"/>
                </a:ext>
              </a:extLst>
            </p:cNvPr>
            <p:cNvSpPr/>
            <p:nvPr/>
          </p:nvSpPr>
          <p:spPr bwMode="auto">
            <a:xfrm>
              <a:off x="7080996" y="2791730"/>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蓄積</a:t>
              </a:r>
            </a:p>
          </p:txBody>
        </p:sp>
        <p:sp>
          <p:nvSpPr>
            <p:cNvPr id="85" name="正方形/長方形 84">
              <a:extLst>
                <a:ext uri="{FF2B5EF4-FFF2-40B4-BE49-F238E27FC236}">
                  <a16:creationId xmlns:a16="http://schemas.microsoft.com/office/drawing/2014/main" id="{E65F8C64-69E8-DD56-2993-D4383437FBBB}"/>
                </a:ext>
              </a:extLst>
            </p:cNvPr>
            <p:cNvSpPr/>
            <p:nvPr/>
          </p:nvSpPr>
          <p:spPr bwMode="auto">
            <a:xfrm>
              <a:off x="9505111" y="2929723"/>
              <a:ext cx="341202" cy="112593"/>
            </a:xfrm>
            <a:prstGeom prst="rect">
              <a:avLst/>
            </a:prstGeom>
            <a:solidFill>
              <a:srgbClr val="FFFFFF"/>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R="0" lvl="0" indent="0" algn="ctr" fontAlgn="auto">
                <a:lnSpc>
                  <a:spcPct val="100000"/>
                </a:lnSpc>
                <a:spcBef>
                  <a:spcPts val="0"/>
                </a:spcBef>
                <a:spcAft>
                  <a:spcPts val="0"/>
                </a:spcAft>
                <a:buClrTx/>
                <a:buSzTx/>
                <a:buFontTx/>
                <a:buNone/>
                <a:tabLst/>
                <a:defRPr/>
              </a:pPr>
              <a:r>
                <a:rPr lang="ja-JP" altLang="en-US" sz="9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解析</a:t>
              </a:r>
            </a:p>
          </p:txBody>
        </p:sp>
        <p:sp>
          <p:nvSpPr>
            <p:cNvPr id="110" name="四角形: 角を丸くする 109">
              <a:extLst>
                <a:ext uri="{FF2B5EF4-FFF2-40B4-BE49-F238E27FC236}">
                  <a16:creationId xmlns:a16="http://schemas.microsoft.com/office/drawing/2014/main" id="{254BAF1A-DADB-08BB-8FE1-9A73A9B5F66F}"/>
                </a:ext>
              </a:extLst>
            </p:cNvPr>
            <p:cNvSpPr/>
            <p:nvPr/>
          </p:nvSpPr>
          <p:spPr>
            <a:xfrm>
              <a:off x="2609449" y="1995055"/>
              <a:ext cx="9287486" cy="2179236"/>
            </a:xfrm>
            <a:prstGeom prst="roundRect">
              <a:avLst>
                <a:gd name="adj" fmla="val 5704"/>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79475">
                <a:spcBef>
                  <a:spcPct val="20000"/>
                </a:spcBef>
                <a:buClr>
                  <a:schemeClr val="accent2"/>
                </a:buClr>
              </a:pPr>
              <a:r>
                <a:rPr lang="en-US" altLang="ja-JP" sz="16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エージェント基盤の初期構想</a:t>
              </a:r>
            </a:p>
          </p:txBody>
        </p:sp>
      </p:grpSp>
    </p:spTree>
    <p:extLst>
      <p:ext uri="{BB962C8B-B14F-4D97-AF65-F5344CB8AC3E}">
        <p14:creationId xmlns:p14="http://schemas.microsoft.com/office/powerpoint/2010/main" val="867527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C029-3DF8-A2A6-C853-55814FDA0EA6}"/>
            </a:ext>
          </a:extLst>
        </p:cNvPr>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038C736-82DF-550C-FB49-EEAB7A8AFB4F}"/>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a:extLst>
                          <a:ext uri="{FF2B5EF4-FFF2-40B4-BE49-F238E27FC236}">
                            <a16:creationId xmlns:a16="http://schemas.microsoft.com/office/drawing/2014/main" id="{7038C736-82DF-550C-FB49-EEAB7A8AFB4F}"/>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6418875D-046C-ACB4-D1E1-AF78C0E80651}"/>
              </a:ext>
            </a:extLst>
          </p:cNvPr>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本プロジェクトにおける</a:t>
            </a:r>
            <a:r>
              <a:rPr lang="en-US" altLang="ja-JP" kern="1200" dirty="0" err="1">
                <a:solidFill>
                  <a:schemeClr val="tx1">
                    <a:lumMod val="65000"/>
                    <a:lumOff val="35000"/>
                  </a:schemeClr>
                </a:solidFill>
                <a:cs typeface="Arial" panose="020B0604020202020204" pitchFamily="34" charset="0"/>
              </a:rPr>
              <a:t>LinkX</a:t>
            </a:r>
            <a:r>
              <a:rPr lang="en-US" altLang="ja-JP" kern="1200" dirty="0">
                <a:solidFill>
                  <a:schemeClr val="tx1">
                    <a:lumMod val="65000"/>
                    <a:lumOff val="35000"/>
                  </a:schemeClr>
                </a:solidFill>
                <a:cs typeface="Arial" panose="020B0604020202020204" pitchFamily="34" charset="0"/>
              </a:rPr>
              <a:t> Japan</a:t>
            </a:r>
            <a:r>
              <a:rPr lang="ja-JP" altLang="en-US" kern="1200" dirty="0">
                <a:solidFill>
                  <a:schemeClr val="tx1">
                    <a:lumMod val="65000"/>
                    <a:lumOff val="35000"/>
                  </a:schemeClr>
                </a:solidFill>
                <a:cs typeface="Arial" panose="020B0604020202020204" pitchFamily="34" charset="0"/>
              </a:rPr>
              <a:t>社の役割</a:t>
            </a:r>
          </a:p>
        </p:txBody>
      </p:sp>
      <p:sp>
        <p:nvSpPr>
          <p:cNvPr id="5" name="スライド番号プレースホルダー 3">
            <a:extLst>
              <a:ext uri="{FF2B5EF4-FFF2-40B4-BE49-F238E27FC236}">
                <a16:creationId xmlns:a16="http://schemas.microsoft.com/office/drawing/2014/main" id="{E06CBE95-C5F0-D4C2-DD94-E176FAF2E95D}"/>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4</a:t>
            </a:fld>
            <a:endParaRPr lang="en-US" altLang="ja-JP"/>
          </a:p>
        </p:txBody>
      </p:sp>
      <p:sp>
        <p:nvSpPr>
          <p:cNvPr id="4" name="Google Shape;43;p2">
            <a:extLst>
              <a:ext uri="{FF2B5EF4-FFF2-40B4-BE49-F238E27FC236}">
                <a16:creationId xmlns:a16="http://schemas.microsoft.com/office/drawing/2014/main" id="{4A0DF7A0-C822-E33D-3BFD-F85B5F8D2842}"/>
              </a:ext>
            </a:extLst>
          </p:cNvPr>
          <p:cNvSpPr/>
          <p:nvPr/>
        </p:nvSpPr>
        <p:spPr>
          <a:xfrm>
            <a:off x="332461" y="622785"/>
            <a:ext cx="11815576" cy="1005840"/>
          </a:xfrm>
          <a:prstGeom prst="rect">
            <a:avLst/>
          </a:prstGeom>
          <a:no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indent="-285750" defTabSz="879475" fontAlgn="base">
              <a:lnSpc>
                <a:spcPct val="115000"/>
              </a:lnSpc>
              <a:spcBef>
                <a:spcPct val="20000"/>
              </a:spcBef>
              <a:spcAft>
                <a:spcPct val="0"/>
              </a:spcAft>
              <a:buClr>
                <a:schemeClr val="accent2"/>
              </a:buClr>
              <a:buFont typeface="Arial" panose="020B0604020202020204" pitchFamily="34" charset="0"/>
              <a:buChar char="•"/>
            </a:pPr>
            <a:r>
              <a:rPr lang="en-US" altLang="ja-JP" sz="1600" kern="0" dirty="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LinkX</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社は</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AI</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rPr>
              <a:t>の技術伝承だけでなく、エージェント管理やデータガバナンス含めた基礎技術の要を担う。</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eiryo"/>
            </a:endParaRPr>
          </a:p>
        </p:txBody>
      </p:sp>
      <p:cxnSp>
        <p:nvCxnSpPr>
          <p:cNvPr id="27" name="コネクタ: 曲線 26">
            <a:extLst>
              <a:ext uri="{FF2B5EF4-FFF2-40B4-BE49-F238E27FC236}">
                <a16:creationId xmlns:a16="http://schemas.microsoft.com/office/drawing/2014/main" id="{9036254A-F126-02DE-2338-2065B70C2307}"/>
              </a:ext>
            </a:extLst>
          </p:cNvPr>
          <p:cNvCxnSpPr>
            <a:cxnSpLocks/>
            <a:stCxn id="77" idx="0"/>
            <a:endCxn id="73" idx="2"/>
          </p:cNvCxnSpPr>
          <p:nvPr/>
        </p:nvCxnSpPr>
        <p:spPr>
          <a:xfrm rot="5400000" flipH="1" flipV="1">
            <a:off x="6379173" y="1801634"/>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8" name="コネクタ: 曲線 27">
            <a:extLst>
              <a:ext uri="{FF2B5EF4-FFF2-40B4-BE49-F238E27FC236}">
                <a16:creationId xmlns:a16="http://schemas.microsoft.com/office/drawing/2014/main" id="{CFBC0820-08AF-DAD5-0DD6-173B24C143D2}"/>
              </a:ext>
            </a:extLst>
          </p:cNvPr>
          <p:cNvCxnSpPr>
            <a:cxnSpLocks/>
            <a:stCxn id="75" idx="0"/>
            <a:endCxn id="71" idx="2"/>
          </p:cNvCxnSpPr>
          <p:nvPr/>
        </p:nvCxnSpPr>
        <p:spPr>
          <a:xfrm rot="5400000" flipH="1" flipV="1">
            <a:off x="1145025" y="2446916"/>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1" name="四角形: 角を丸くする 10">
            <a:extLst>
              <a:ext uri="{FF2B5EF4-FFF2-40B4-BE49-F238E27FC236}">
                <a16:creationId xmlns:a16="http://schemas.microsoft.com/office/drawing/2014/main" id="{49252784-EC37-3875-D771-684351E9F688}"/>
              </a:ext>
            </a:extLst>
          </p:cNvPr>
          <p:cNvSpPr/>
          <p:nvPr/>
        </p:nvSpPr>
        <p:spPr>
          <a:xfrm>
            <a:off x="330111" y="1238571"/>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学習と成長の視点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A7907CBB-B4CD-E305-A547-F4EE68213D26}"/>
              </a:ext>
            </a:extLst>
          </p:cNvPr>
          <p:cNvSpPr/>
          <p:nvPr/>
        </p:nvSpPr>
        <p:spPr>
          <a:xfrm>
            <a:off x="330111" y="2589088"/>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内部プロセスの視点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7" name="四角形: 角を丸くする 56">
            <a:extLst>
              <a:ext uri="{FF2B5EF4-FFF2-40B4-BE49-F238E27FC236}">
                <a16:creationId xmlns:a16="http://schemas.microsoft.com/office/drawing/2014/main" id="{1B8E4890-10CC-21CC-CA58-343360E64A29}"/>
              </a:ext>
            </a:extLst>
          </p:cNvPr>
          <p:cNvSpPr/>
          <p:nvPr/>
        </p:nvSpPr>
        <p:spPr>
          <a:xfrm>
            <a:off x="330111" y="3939605"/>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顧客（社内ユーザー）の視点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3" name="四角形: 角を丸くする 62">
            <a:extLst>
              <a:ext uri="{FF2B5EF4-FFF2-40B4-BE49-F238E27FC236}">
                <a16:creationId xmlns:a16="http://schemas.microsoft.com/office/drawing/2014/main" id="{AC00ECA2-6F0E-4624-B5F3-71A1D929E722}"/>
              </a:ext>
            </a:extLst>
          </p:cNvPr>
          <p:cNvSpPr/>
          <p:nvPr/>
        </p:nvSpPr>
        <p:spPr>
          <a:xfrm>
            <a:off x="330111" y="5290122"/>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財務の視点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64" name="コネクタ: 曲線 63">
            <a:extLst>
              <a:ext uri="{FF2B5EF4-FFF2-40B4-BE49-F238E27FC236}">
                <a16:creationId xmlns:a16="http://schemas.microsoft.com/office/drawing/2014/main" id="{FC011A62-84B4-F828-CADD-BE35CCE91E27}"/>
              </a:ext>
            </a:extLst>
          </p:cNvPr>
          <p:cNvCxnSpPr>
            <a:cxnSpLocks/>
            <a:stCxn id="96" idx="0"/>
            <a:endCxn id="79" idx="2"/>
          </p:cNvCxnSpPr>
          <p:nvPr/>
        </p:nvCxnSpPr>
        <p:spPr>
          <a:xfrm rot="5400000" flipH="1" flipV="1">
            <a:off x="7526389" y="3474793"/>
            <a:ext cx="903512" cy="824575"/>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5" name="コネクタ: 曲線 64">
            <a:extLst>
              <a:ext uri="{FF2B5EF4-FFF2-40B4-BE49-F238E27FC236}">
                <a16:creationId xmlns:a16="http://schemas.microsoft.com/office/drawing/2014/main" id="{D0497460-2B52-88D8-7167-C1E606D61F5C}"/>
              </a:ext>
            </a:extLst>
          </p:cNvPr>
          <p:cNvCxnSpPr>
            <a:cxnSpLocks/>
            <a:stCxn id="96" idx="0"/>
            <a:endCxn id="77" idx="2"/>
          </p:cNvCxnSpPr>
          <p:nvPr/>
        </p:nvCxnSpPr>
        <p:spPr>
          <a:xfrm rot="16200000" flipV="1">
            <a:off x="6379173" y="3152151"/>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71" name="正方形/長方形 70">
            <a:extLst>
              <a:ext uri="{FF2B5EF4-FFF2-40B4-BE49-F238E27FC236}">
                <a16:creationId xmlns:a16="http://schemas.microsoft.com/office/drawing/2014/main" id="{CB790C38-0DAA-F0CF-5C0D-4D01C20551DE}"/>
              </a:ext>
            </a:extLst>
          </p:cNvPr>
          <p:cNvSpPr/>
          <p:nvPr/>
        </p:nvSpPr>
        <p:spPr>
          <a:xfrm>
            <a:off x="66938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内製化部隊の構築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社：技術伝承</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2" name="正方形/長方形 71">
            <a:extLst>
              <a:ext uri="{FF2B5EF4-FFF2-40B4-BE49-F238E27FC236}">
                <a16:creationId xmlns:a16="http://schemas.microsoft.com/office/drawing/2014/main" id="{A668C54E-0980-E987-9A37-3786B32DFB63}"/>
              </a:ext>
            </a:extLst>
          </p:cNvPr>
          <p:cNvSpPr/>
          <p:nvPr/>
        </p:nvSpPr>
        <p:spPr>
          <a:xfrm>
            <a:off x="3609101" y="1637802"/>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活用・推進の文化・マインド醸成</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3" name="正方形/長方形 72">
            <a:extLst>
              <a:ext uri="{FF2B5EF4-FFF2-40B4-BE49-F238E27FC236}">
                <a16:creationId xmlns:a16="http://schemas.microsoft.com/office/drawing/2014/main" id="{413D6AA7-F36B-7771-3DD7-D6880374954A}"/>
              </a:ext>
            </a:extLst>
          </p:cNvPr>
          <p:cNvSpPr/>
          <p:nvPr/>
        </p:nvSpPr>
        <p:spPr>
          <a:xfrm>
            <a:off x="654881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技術標準化（</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n8n×AI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基盤）</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4" name="正方形/長方形 73">
            <a:extLst>
              <a:ext uri="{FF2B5EF4-FFF2-40B4-BE49-F238E27FC236}">
                <a16:creationId xmlns:a16="http://schemas.microsoft.com/office/drawing/2014/main" id="{971BED37-109E-BC62-64A8-032C9DC54457}"/>
              </a:ext>
            </a:extLst>
          </p:cNvPr>
          <p:cNvSpPr/>
          <p:nvPr/>
        </p:nvSpPr>
        <p:spPr>
          <a:xfrm>
            <a:off x="9488531"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データガバナンス整備</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社：必須要素の整理</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5" name="正方形/長方形 74">
            <a:extLst>
              <a:ext uri="{FF2B5EF4-FFF2-40B4-BE49-F238E27FC236}">
                <a16:creationId xmlns:a16="http://schemas.microsoft.com/office/drawing/2014/main" id="{9D3E4741-262F-EFAB-5D88-E3EE91B273D8}"/>
              </a:ext>
            </a:extLst>
          </p:cNvPr>
          <p:cNvSpPr/>
          <p:nvPr/>
        </p:nvSpPr>
        <p:spPr>
          <a:xfrm>
            <a:off x="490092"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による業務自動化基盤構築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algn="ctr" defTabSz="584200" latinLnBrk="1" hangingPunct="0"/>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6" name="正方形/長方形 75">
            <a:extLst>
              <a:ext uri="{FF2B5EF4-FFF2-40B4-BE49-F238E27FC236}">
                <a16:creationId xmlns:a16="http://schemas.microsoft.com/office/drawing/2014/main" id="{D4DA89E1-9DFF-7027-9749-A60A9F1432EC}"/>
              </a:ext>
            </a:extLst>
          </p:cNvPr>
          <p:cNvSpPr/>
          <p:nvPr/>
        </p:nvSpPr>
        <p:spPr>
          <a:xfrm>
            <a:off x="2784525" y="298831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継続的業務改善（</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PDCA</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7" name="正方形/長方形 76">
            <a:extLst>
              <a:ext uri="{FF2B5EF4-FFF2-40B4-BE49-F238E27FC236}">
                <a16:creationId xmlns:a16="http://schemas.microsoft.com/office/drawing/2014/main" id="{FDD2ABB8-B939-4F8F-1260-8D0E3A5E8071}"/>
              </a:ext>
            </a:extLst>
          </p:cNvPr>
          <p:cNvSpPr/>
          <p:nvPr/>
        </p:nvSpPr>
        <p:spPr>
          <a:xfrm>
            <a:off x="5078958"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エージェント統合基盤構築</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社：設計・構築支援</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8" name="正方形/長方形 77">
            <a:extLst>
              <a:ext uri="{FF2B5EF4-FFF2-40B4-BE49-F238E27FC236}">
                <a16:creationId xmlns:a16="http://schemas.microsoft.com/office/drawing/2014/main" id="{E456808D-B853-5235-28D3-98EBA9E1E9A3}"/>
              </a:ext>
            </a:extLst>
          </p:cNvPr>
          <p:cNvSpPr/>
          <p:nvPr/>
        </p:nvSpPr>
        <p:spPr>
          <a:xfrm>
            <a:off x="9667825"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エージェント管理・統制基盤構築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社：設計・構築支援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9" name="正方形/長方形 78">
            <a:extLst>
              <a:ext uri="{FF2B5EF4-FFF2-40B4-BE49-F238E27FC236}">
                <a16:creationId xmlns:a16="http://schemas.microsoft.com/office/drawing/2014/main" id="{4E998620-9B11-6155-810D-5B71461025EC}"/>
              </a:ext>
            </a:extLst>
          </p:cNvPr>
          <p:cNvSpPr/>
          <p:nvPr/>
        </p:nvSpPr>
        <p:spPr>
          <a:xfrm>
            <a:off x="7373391"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フロー可視化</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社：基礎の定義</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83" name="コネクタ: 曲線 82">
            <a:extLst>
              <a:ext uri="{FF2B5EF4-FFF2-40B4-BE49-F238E27FC236}">
                <a16:creationId xmlns:a16="http://schemas.microsoft.com/office/drawing/2014/main" id="{5B16BD1A-1893-4CDB-DE2B-82688BDAD3C2}"/>
              </a:ext>
            </a:extLst>
          </p:cNvPr>
          <p:cNvCxnSpPr>
            <a:cxnSpLocks/>
            <a:stCxn id="76" idx="0"/>
            <a:endCxn id="72" idx="2"/>
          </p:cNvCxnSpPr>
          <p:nvPr/>
        </p:nvCxnSpPr>
        <p:spPr>
          <a:xfrm rot="5400000" flipH="1" flipV="1">
            <a:off x="3762099" y="2124275"/>
            <a:ext cx="903512" cy="82457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8" name="コネクタ: 曲線 87">
            <a:extLst>
              <a:ext uri="{FF2B5EF4-FFF2-40B4-BE49-F238E27FC236}">
                <a16:creationId xmlns:a16="http://schemas.microsoft.com/office/drawing/2014/main" id="{ED1D2C06-77B6-569D-C20E-BD5EA4C16FEF}"/>
              </a:ext>
            </a:extLst>
          </p:cNvPr>
          <p:cNvCxnSpPr>
            <a:cxnSpLocks/>
            <a:stCxn id="78" idx="0"/>
            <a:endCxn id="73" idx="2"/>
          </p:cNvCxnSpPr>
          <p:nvPr/>
        </p:nvCxnSpPr>
        <p:spPr>
          <a:xfrm rot="16200000" flipV="1">
            <a:off x="8673607" y="977058"/>
            <a:ext cx="903512" cy="3119009"/>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1" name="コネクタ: 曲線 90">
            <a:extLst>
              <a:ext uri="{FF2B5EF4-FFF2-40B4-BE49-F238E27FC236}">
                <a16:creationId xmlns:a16="http://schemas.microsoft.com/office/drawing/2014/main" id="{32AB1DFF-CED5-D1BF-7167-2F7912DE0498}"/>
              </a:ext>
            </a:extLst>
          </p:cNvPr>
          <p:cNvCxnSpPr>
            <a:cxnSpLocks/>
            <a:stCxn id="79" idx="0"/>
            <a:endCxn id="74" idx="2"/>
          </p:cNvCxnSpPr>
          <p:nvPr/>
        </p:nvCxnSpPr>
        <p:spPr>
          <a:xfrm rot="5400000" flipH="1" flipV="1">
            <a:off x="8996247" y="1478993"/>
            <a:ext cx="903512"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6" name="正方形/長方形 95">
            <a:extLst>
              <a:ext uri="{FF2B5EF4-FFF2-40B4-BE49-F238E27FC236}">
                <a16:creationId xmlns:a16="http://schemas.microsoft.com/office/drawing/2014/main" id="{CECE59E1-927A-EF54-270A-7F49DABD3A6E}"/>
              </a:ext>
            </a:extLst>
          </p:cNvPr>
          <p:cNvSpPr/>
          <p:nvPr/>
        </p:nvSpPr>
        <p:spPr>
          <a:xfrm>
            <a:off x="6548816"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業務の透明性向上</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7" name="正方形/長方形 96">
            <a:extLst>
              <a:ext uri="{FF2B5EF4-FFF2-40B4-BE49-F238E27FC236}">
                <a16:creationId xmlns:a16="http://schemas.microsoft.com/office/drawing/2014/main" id="{EF7FF48F-5FA5-77FD-568E-7B966D5858C0}"/>
              </a:ext>
            </a:extLst>
          </p:cNvPr>
          <p:cNvSpPr/>
          <p:nvPr/>
        </p:nvSpPr>
        <p:spPr>
          <a:xfrm>
            <a:off x="9488531"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エージェント改善による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業務高度化の推進</a:t>
            </a:r>
            <a:endPar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99" name="コネクタ: 曲線 98">
            <a:extLst>
              <a:ext uri="{FF2B5EF4-FFF2-40B4-BE49-F238E27FC236}">
                <a16:creationId xmlns:a16="http://schemas.microsoft.com/office/drawing/2014/main" id="{2BC1BAC1-2EC7-50DC-845B-FB996A06D444}"/>
              </a:ext>
            </a:extLst>
          </p:cNvPr>
          <p:cNvCxnSpPr>
            <a:cxnSpLocks/>
            <a:stCxn id="94" idx="0"/>
            <a:endCxn id="76" idx="2"/>
          </p:cNvCxnSpPr>
          <p:nvPr/>
        </p:nvCxnSpPr>
        <p:spPr>
          <a:xfrm rot="5400000" flipH="1" flipV="1">
            <a:off x="2345115" y="2776637"/>
            <a:ext cx="797765"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03" name="コネクタ: 曲線 102">
            <a:extLst>
              <a:ext uri="{FF2B5EF4-FFF2-40B4-BE49-F238E27FC236}">
                <a16:creationId xmlns:a16="http://schemas.microsoft.com/office/drawing/2014/main" id="{2AD90A61-C567-4489-D6A6-000478AC3367}"/>
              </a:ext>
            </a:extLst>
          </p:cNvPr>
          <p:cNvCxnSpPr>
            <a:cxnSpLocks/>
            <a:stCxn id="94" idx="0"/>
            <a:endCxn id="75" idx="2"/>
          </p:cNvCxnSpPr>
          <p:nvPr/>
        </p:nvCxnSpPr>
        <p:spPr>
          <a:xfrm rot="16200000" flipV="1">
            <a:off x="1197899" y="3744560"/>
            <a:ext cx="797765"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4" name="正方形/長方形 93">
            <a:extLst>
              <a:ext uri="{FF2B5EF4-FFF2-40B4-BE49-F238E27FC236}">
                <a16:creationId xmlns:a16="http://schemas.microsoft.com/office/drawing/2014/main" id="{2DE4C65D-277D-3CC1-77D1-F646E9892BA5}"/>
              </a:ext>
            </a:extLst>
          </p:cNvPr>
          <p:cNvSpPr/>
          <p:nvPr/>
        </p:nvSpPr>
        <p:spPr>
          <a:xfrm>
            <a:off x="669385" y="423308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エージェントの業務支援による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バックオフィス業務負荷軽減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5" name="正方形/長方形 94">
            <a:extLst>
              <a:ext uri="{FF2B5EF4-FFF2-40B4-BE49-F238E27FC236}">
                <a16:creationId xmlns:a16="http://schemas.microsoft.com/office/drawing/2014/main" id="{A58BC223-712A-8A43-F11C-8FDF06DFAA6E}"/>
              </a:ext>
            </a:extLst>
          </p:cNvPr>
          <p:cNvSpPr/>
          <p:nvPr/>
        </p:nvSpPr>
        <p:spPr>
          <a:xfrm>
            <a:off x="3609101" y="4485087"/>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高付加価値業務へのシフト</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06" name="コネクタ: 曲線 105">
            <a:extLst>
              <a:ext uri="{FF2B5EF4-FFF2-40B4-BE49-F238E27FC236}">
                <a16:creationId xmlns:a16="http://schemas.microsoft.com/office/drawing/2014/main" id="{41C06266-5FAC-0C88-3632-3E8A5430588A}"/>
              </a:ext>
            </a:extLst>
          </p:cNvPr>
          <p:cNvCxnSpPr>
            <a:cxnSpLocks/>
            <a:stCxn id="95" idx="1"/>
            <a:endCxn id="94" idx="3"/>
          </p:cNvCxnSpPr>
          <p:nvPr/>
        </p:nvCxnSpPr>
        <p:spPr>
          <a:xfrm rot="10800000">
            <a:off x="2703469" y="4456592"/>
            <a:ext cx="905633" cy="25199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15" name="コネクタ: 曲線 114">
            <a:extLst>
              <a:ext uri="{FF2B5EF4-FFF2-40B4-BE49-F238E27FC236}">
                <a16:creationId xmlns:a16="http://schemas.microsoft.com/office/drawing/2014/main" id="{D26148B8-B17E-DC63-DE01-44B038B4CF17}"/>
              </a:ext>
            </a:extLst>
          </p:cNvPr>
          <p:cNvCxnSpPr>
            <a:cxnSpLocks/>
            <a:stCxn id="97" idx="0"/>
            <a:endCxn id="78" idx="2"/>
          </p:cNvCxnSpPr>
          <p:nvPr/>
        </p:nvCxnSpPr>
        <p:spPr>
          <a:xfrm rot="5400000" flipH="1" flipV="1">
            <a:off x="10143464" y="3797433"/>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32" name="正方形/長方形 131">
            <a:extLst>
              <a:ext uri="{FF2B5EF4-FFF2-40B4-BE49-F238E27FC236}">
                <a16:creationId xmlns:a16="http://schemas.microsoft.com/office/drawing/2014/main" id="{966860DE-98EC-3EDC-47EC-77A7E63F85BF}"/>
              </a:ext>
            </a:extLst>
          </p:cNvPr>
          <p:cNvSpPr/>
          <p:nvPr/>
        </p:nvSpPr>
        <p:spPr>
          <a:xfrm>
            <a:off x="490092"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業務コストの削減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3" name="正方形/長方形 132">
            <a:extLst>
              <a:ext uri="{FF2B5EF4-FFF2-40B4-BE49-F238E27FC236}">
                <a16:creationId xmlns:a16="http://schemas.microsoft.com/office/drawing/2014/main" id="{9387A9CE-2524-5033-330E-28D431C0EEAA}"/>
              </a:ext>
            </a:extLst>
          </p:cNvPr>
          <p:cNvSpPr/>
          <p:nvPr/>
        </p:nvSpPr>
        <p:spPr>
          <a:xfrm>
            <a:off x="2784525"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外注費削減（内製化効果）</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4" name="正方形/長方形 133">
            <a:extLst>
              <a:ext uri="{FF2B5EF4-FFF2-40B4-BE49-F238E27FC236}">
                <a16:creationId xmlns:a16="http://schemas.microsoft.com/office/drawing/2014/main" id="{ECA7A23E-0D54-61AA-A8C2-EFB96A8E9884}"/>
              </a:ext>
            </a:extLst>
          </p:cNvPr>
          <p:cNvSpPr/>
          <p:nvPr/>
        </p:nvSpPr>
        <p:spPr>
          <a:xfrm>
            <a:off x="5078957"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間接業務生産性向上</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135" name="正方形/長方形 134">
            <a:extLst>
              <a:ext uri="{FF2B5EF4-FFF2-40B4-BE49-F238E27FC236}">
                <a16:creationId xmlns:a16="http://schemas.microsoft.com/office/drawing/2014/main" id="{94034574-4E46-4983-7B91-81B527731CC4}"/>
              </a:ext>
            </a:extLst>
          </p:cNvPr>
          <p:cNvSpPr/>
          <p:nvPr/>
        </p:nvSpPr>
        <p:spPr>
          <a:xfrm>
            <a:off x="9667824"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エージェント・データ活用による</a:t>
            </a:r>
            <a:b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b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意思決定高度化</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6" name="正方形/長方形 135">
            <a:extLst>
              <a:ext uri="{FF2B5EF4-FFF2-40B4-BE49-F238E27FC236}">
                <a16:creationId xmlns:a16="http://schemas.microsoft.com/office/drawing/2014/main" id="{DE982632-B840-DBD8-0BFF-FB50BBCC6B7D}"/>
              </a:ext>
            </a:extLst>
          </p:cNvPr>
          <p:cNvSpPr/>
          <p:nvPr/>
        </p:nvSpPr>
        <p:spPr>
          <a:xfrm>
            <a:off x="7373391" y="5859455"/>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投資の資産化（</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最大化）</a:t>
            </a:r>
            <a:endParaRPr kumimoji="0" lang="ja-JP" altLang="en-US"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38" name="コネクタ: 曲線 137">
            <a:extLst>
              <a:ext uri="{FF2B5EF4-FFF2-40B4-BE49-F238E27FC236}">
                <a16:creationId xmlns:a16="http://schemas.microsoft.com/office/drawing/2014/main" id="{CF1B04E7-03D9-FC40-790F-20A8408C1433}"/>
              </a:ext>
            </a:extLst>
          </p:cNvPr>
          <p:cNvCxnSpPr>
            <a:cxnSpLocks/>
            <a:stCxn id="132" idx="0"/>
            <a:endCxn id="94" idx="2"/>
          </p:cNvCxnSpPr>
          <p:nvPr/>
        </p:nvCxnSpPr>
        <p:spPr>
          <a:xfrm rot="5400000" flipH="1" flipV="1">
            <a:off x="1092151" y="5095078"/>
            <a:ext cx="1009259"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1" name="コネクタ: 曲線 140">
            <a:extLst>
              <a:ext uri="{FF2B5EF4-FFF2-40B4-BE49-F238E27FC236}">
                <a16:creationId xmlns:a16="http://schemas.microsoft.com/office/drawing/2014/main" id="{AC6D5406-17CA-0EB6-74C8-01E99A863820}"/>
              </a:ext>
            </a:extLst>
          </p:cNvPr>
          <p:cNvCxnSpPr>
            <a:cxnSpLocks/>
            <a:stCxn id="133" idx="0"/>
            <a:endCxn id="94" idx="2"/>
          </p:cNvCxnSpPr>
          <p:nvPr/>
        </p:nvCxnSpPr>
        <p:spPr>
          <a:xfrm rot="16200000" flipV="1">
            <a:off x="2239368" y="4127154"/>
            <a:ext cx="1009259"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5" name="コネクタ: 曲線 144">
            <a:extLst>
              <a:ext uri="{FF2B5EF4-FFF2-40B4-BE49-F238E27FC236}">
                <a16:creationId xmlns:a16="http://schemas.microsoft.com/office/drawing/2014/main" id="{929A3A9C-2492-1F01-DF63-9F9A4BBFDF11}"/>
              </a:ext>
            </a:extLst>
          </p:cNvPr>
          <p:cNvCxnSpPr>
            <a:cxnSpLocks/>
            <a:stCxn id="135" idx="0"/>
            <a:endCxn id="96" idx="2"/>
          </p:cNvCxnSpPr>
          <p:nvPr/>
        </p:nvCxnSpPr>
        <p:spPr>
          <a:xfrm rot="16200000" flipV="1">
            <a:off x="8700306" y="3651393"/>
            <a:ext cx="850112" cy="311900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8" name="コネクタ: 曲線 147">
            <a:extLst>
              <a:ext uri="{FF2B5EF4-FFF2-40B4-BE49-F238E27FC236}">
                <a16:creationId xmlns:a16="http://schemas.microsoft.com/office/drawing/2014/main" id="{10600789-3A5B-C69F-C5D8-C46656C67298}"/>
              </a:ext>
            </a:extLst>
          </p:cNvPr>
          <p:cNvCxnSpPr>
            <a:cxnSpLocks/>
            <a:stCxn id="134" idx="0"/>
            <a:endCxn id="95" idx="2"/>
          </p:cNvCxnSpPr>
          <p:nvPr/>
        </p:nvCxnSpPr>
        <p:spPr>
          <a:xfrm rot="16200000" flipV="1">
            <a:off x="5009141" y="4549095"/>
            <a:ext cx="703861" cy="146985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3" name="コネクタ: 曲線 152">
            <a:extLst>
              <a:ext uri="{FF2B5EF4-FFF2-40B4-BE49-F238E27FC236}">
                <a16:creationId xmlns:a16="http://schemas.microsoft.com/office/drawing/2014/main" id="{661F1204-1119-1262-F483-4F61EE1AA9A9}"/>
              </a:ext>
            </a:extLst>
          </p:cNvPr>
          <p:cNvCxnSpPr>
            <a:cxnSpLocks/>
            <a:stCxn id="134" idx="0"/>
            <a:endCxn id="94" idx="2"/>
          </p:cNvCxnSpPr>
          <p:nvPr/>
        </p:nvCxnSpPr>
        <p:spPr>
          <a:xfrm rot="16200000" flipV="1">
            <a:off x="3413284" y="2953238"/>
            <a:ext cx="955859" cy="440957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7" name="コネクタ: 曲線 156">
            <a:extLst>
              <a:ext uri="{FF2B5EF4-FFF2-40B4-BE49-F238E27FC236}">
                <a16:creationId xmlns:a16="http://schemas.microsoft.com/office/drawing/2014/main" id="{7AF1ACB5-056E-1E8B-002C-73E1FC078006}"/>
              </a:ext>
            </a:extLst>
          </p:cNvPr>
          <p:cNvCxnSpPr>
            <a:cxnSpLocks/>
            <a:stCxn id="135" idx="0"/>
            <a:endCxn id="97" idx="2"/>
          </p:cNvCxnSpPr>
          <p:nvPr/>
        </p:nvCxnSpPr>
        <p:spPr>
          <a:xfrm rot="16200000" flipV="1">
            <a:off x="10170164" y="5121250"/>
            <a:ext cx="850112"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4" name="コネクタ: 曲線 163">
            <a:extLst>
              <a:ext uri="{FF2B5EF4-FFF2-40B4-BE49-F238E27FC236}">
                <a16:creationId xmlns:a16="http://schemas.microsoft.com/office/drawing/2014/main" id="{4AAECF5B-52C0-A463-08FF-2DDE61C3DFA4}"/>
              </a:ext>
            </a:extLst>
          </p:cNvPr>
          <p:cNvCxnSpPr>
            <a:cxnSpLocks/>
            <a:stCxn id="136" idx="3"/>
            <a:endCxn id="135" idx="1"/>
          </p:cNvCxnSpPr>
          <p:nvPr/>
        </p:nvCxnSpPr>
        <p:spPr>
          <a:xfrm flipV="1">
            <a:off x="9407474" y="5859456"/>
            <a:ext cx="260350"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7" name="コネクタ: 曲線 166">
            <a:extLst>
              <a:ext uri="{FF2B5EF4-FFF2-40B4-BE49-F238E27FC236}">
                <a16:creationId xmlns:a16="http://schemas.microsoft.com/office/drawing/2014/main" id="{D3B0E3D9-93EC-4B92-7313-FD76FE5AEB51}"/>
              </a:ext>
            </a:extLst>
          </p:cNvPr>
          <p:cNvCxnSpPr>
            <a:cxnSpLocks/>
            <a:stCxn id="136" idx="1"/>
            <a:endCxn id="134" idx="3"/>
          </p:cNvCxnSpPr>
          <p:nvPr/>
        </p:nvCxnSpPr>
        <p:spPr>
          <a:xfrm rot="10800000">
            <a:off x="7113041" y="5859456"/>
            <a:ext cx="260351"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70" name="正方形/長方形 169">
            <a:extLst>
              <a:ext uri="{FF2B5EF4-FFF2-40B4-BE49-F238E27FC236}">
                <a16:creationId xmlns:a16="http://schemas.microsoft.com/office/drawing/2014/main" id="{AD0C9814-DF16-F3FC-4E98-8674710B7313}"/>
              </a:ext>
            </a:extLst>
          </p:cNvPr>
          <p:cNvSpPr/>
          <p:nvPr/>
        </p:nvSpPr>
        <p:spPr>
          <a:xfrm>
            <a:off x="11013682" y="1014413"/>
            <a:ext cx="847985" cy="206977"/>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社範囲</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Tree>
    <p:extLst>
      <p:ext uri="{BB962C8B-B14F-4D97-AF65-F5344CB8AC3E}">
        <p14:creationId xmlns:p14="http://schemas.microsoft.com/office/powerpoint/2010/main" val="1175651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74858-C9E5-DE15-C501-226E5A389D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0A3CE4-5A5C-62C2-745B-38B94AC6199A}"/>
              </a:ext>
            </a:extLst>
          </p:cNvPr>
          <p:cNvSpPr>
            <a:spLocks noGrp="1"/>
          </p:cNvSpPr>
          <p:nvPr>
            <p:ph type="title"/>
          </p:nvPr>
        </p:nvSpPr>
        <p:spPr>
          <a:xfrm>
            <a:off x="203200" y="152403"/>
            <a:ext cx="9204569" cy="379413"/>
          </a:xfrm>
        </p:spPr>
        <p:txBody>
          <a:bodyPr anchor="ctr"/>
          <a:lstStyle/>
          <a:p>
            <a:r>
              <a:rPr kumimoji="1" lang="en-US" altLang="ja-JP" dirty="0"/>
              <a:t>AI</a:t>
            </a:r>
            <a:r>
              <a:rPr kumimoji="1" lang="ja-JP" altLang="en-US" dirty="0"/>
              <a:t>エージェント（</a:t>
            </a:r>
            <a:r>
              <a:rPr kumimoji="1" lang="en-US" altLang="ja-JP" dirty="0"/>
              <a:t>n8n</a:t>
            </a:r>
            <a:r>
              <a:rPr kumimoji="1" lang="ja-JP" altLang="en-US" dirty="0"/>
              <a:t>開発</a:t>
            </a:r>
            <a:r>
              <a:rPr lang="ja-JP" altLang="en-US" dirty="0"/>
              <a:t>）活動スケジュール</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C3780F89-8558-2FEE-B048-D72E4C4021D2}"/>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grpSp>
        <p:nvGrpSpPr>
          <p:cNvPr id="40" name="グループ化 39">
            <a:extLst>
              <a:ext uri="{FF2B5EF4-FFF2-40B4-BE49-F238E27FC236}">
                <a16:creationId xmlns:a16="http://schemas.microsoft.com/office/drawing/2014/main" id="{2DF05253-8428-BDD5-94D3-7702D52880D3}"/>
              </a:ext>
            </a:extLst>
          </p:cNvPr>
          <p:cNvGrpSpPr/>
          <p:nvPr/>
        </p:nvGrpSpPr>
        <p:grpSpPr>
          <a:xfrm>
            <a:off x="196249" y="1503952"/>
            <a:ext cx="11799502" cy="4820716"/>
            <a:chOff x="196249" y="1051373"/>
            <a:chExt cx="11799502" cy="4820716"/>
          </a:xfrm>
        </p:grpSpPr>
        <p:grpSp>
          <p:nvGrpSpPr>
            <p:cNvPr id="36" name="グループ化 35">
              <a:extLst>
                <a:ext uri="{FF2B5EF4-FFF2-40B4-BE49-F238E27FC236}">
                  <a16:creationId xmlns:a16="http://schemas.microsoft.com/office/drawing/2014/main" id="{C77028B2-3536-D9B9-4518-3F2BE7990456}"/>
                </a:ext>
              </a:extLst>
            </p:cNvPr>
            <p:cNvGrpSpPr/>
            <p:nvPr/>
          </p:nvGrpSpPr>
          <p:grpSpPr>
            <a:xfrm>
              <a:off x="8860759" y="1051373"/>
              <a:ext cx="3069338" cy="263538"/>
              <a:chOff x="8860759" y="257050"/>
              <a:chExt cx="3069338" cy="263538"/>
            </a:xfrm>
          </p:grpSpPr>
          <p:sp>
            <p:nvSpPr>
              <p:cNvPr id="41" name="正方形/長方形 40">
                <a:extLst>
                  <a:ext uri="{FF2B5EF4-FFF2-40B4-BE49-F238E27FC236}">
                    <a16:creationId xmlns:a16="http://schemas.microsoft.com/office/drawing/2014/main" id="{0B016C31-4DA6-9FD7-3D47-8A444F174BE3}"/>
                  </a:ext>
                </a:extLst>
              </p:cNvPr>
              <p:cNvSpPr/>
              <p:nvPr/>
            </p:nvSpPr>
            <p:spPr bwMode="auto">
              <a:xfrm>
                <a:off x="8860759" y="260045"/>
                <a:ext cx="560816" cy="257549"/>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10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凡例：</a:t>
                </a:r>
                <a:endParaRPr kumimoji="1" lang="en-US" altLang="ja-JP" sz="1100" b="0"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0" name="矢印: 五方向 49">
                <a:extLst>
                  <a:ext uri="{FF2B5EF4-FFF2-40B4-BE49-F238E27FC236}">
                    <a16:creationId xmlns:a16="http://schemas.microsoft.com/office/drawing/2014/main" id="{D8E60B5B-A5F5-3DF7-08A0-68F56AAC6DC9}"/>
                  </a:ext>
                </a:extLst>
              </p:cNvPr>
              <p:cNvSpPr/>
              <p:nvPr/>
            </p:nvSpPr>
            <p:spPr>
              <a:xfrm>
                <a:off x="9357963" y="257050"/>
                <a:ext cx="828000" cy="263538"/>
              </a:xfrm>
              <a:prstGeom prst="homePlate">
                <a:avLst>
                  <a:gd name="adj" fmla="val 22692"/>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稼働中 </a:t>
                </a: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or </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予定</a:t>
                </a:r>
              </a:p>
            </p:txBody>
          </p:sp>
          <p:sp>
            <p:nvSpPr>
              <p:cNvPr id="176" name="矢印: 五方向 175">
                <a:extLst>
                  <a:ext uri="{FF2B5EF4-FFF2-40B4-BE49-F238E27FC236}">
                    <a16:creationId xmlns:a16="http://schemas.microsoft.com/office/drawing/2014/main" id="{A09BD99A-4049-5CC2-2887-82A02BCD58F2}"/>
                  </a:ext>
                </a:extLst>
              </p:cNvPr>
              <p:cNvSpPr/>
              <p:nvPr/>
            </p:nvSpPr>
            <p:spPr>
              <a:xfrm>
                <a:off x="10230030" y="257050"/>
                <a:ext cx="828000" cy="263538"/>
              </a:xfrm>
              <a:prstGeom prst="homePlate">
                <a:avLst>
                  <a:gd name="adj" fmla="val 22692"/>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稼働済み</a:t>
                </a:r>
              </a:p>
            </p:txBody>
          </p:sp>
          <p:sp>
            <p:nvSpPr>
              <p:cNvPr id="177" name="矢印: 五方向 176">
                <a:extLst>
                  <a:ext uri="{FF2B5EF4-FFF2-40B4-BE49-F238E27FC236}">
                    <a16:creationId xmlns:a16="http://schemas.microsoft.com/office/drawing/2014/main" id="{2A23AE13-DF31-D32A-BA5C-0A0F4C858E82}"/>
                  </a:ext>
                </a:extLst>
              </p:cNvPr>
              <p:cNvSpPr/>
              <p:nvPr/>
            </p:nvSpPr>
            <p:spPr>
              <a:xfrm>
                <a:off x="11102097" y="257050"/>
                <a:ext cx="828000" cy="263538"/>
              </a:xfrm>
              <a:prstGeom prst="homePlate">
                <a:avLst>
                  <a:gd name="adj" fmla="val 22692"/>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未定</a:t>
                </a:r>
              </a:p>
            </p:txBody>
          </p:sp>
        </p:grpSp>
        <p:sp>
          <p:nvSpPr>
            <p:cNvPr id="26" name="正方形/長方形 25">
              <a:extLst>
                <a:ext uri="{FF2B5EF4-FFF2-40B4-BE49-F238E27FC236}">
                  <a16:creationId xmlns:a16="http://schemas.microsoft.com/office/drawing/2014/main" id="{0A3F7EB5-E19E-CC37-AF6F-660A4AF2827C}"/>
                </a:ext>
              </a:extLst>
            </p:cNvPr>
            <p:cNvSpPr/>
            <p:nvPr/>
          </p:nvSpPr>
          <p:spPr>
            <a:xfrm>
              <a:off x="388474" y="1433778"/>
              <a:ext cx="11528354" cy="103203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800" b="0" i="0" u="none" strike="noStrike" kern="1200" cap="none" spc="0" normalizeH="0" baseline="0" noProof="0">
                <a:ln>
                  <a:noFill/>
                </a:ln>
                <a:solidFill>
                  <a:srgbClr val="808080">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5" name="カギ線コネクタ 64">
              <a:extLst>
                <a:ext uri="{FF2B5EF4-FFF2-40B4-BE49-F238E27FC236}">
                  <a16:creationId xmlns:a16="http://schemas.microsoft.com/office/drawing/2014/main" id="{3E74A394-C4D0-1D07-86F4-1A89A6B8F1B0}"/>
                </a:ext>
              </a:extLst>
            </p:cNvPr>
            <p:cNvCxnSpPr>
              <a:cxnSpLocks/>
            </p:cNvCxnSpPr>
            <p:nvPr/>
          </p:nvCxnSpPr>
          <p:spPr bwMode="auto">
            <a:xfrm flipH="1">
              <a:off x="267614" y="2052020"/>
              <a:ext cx="11721600" cy="0"/>
            </a:xfrm>
            <a:prstGeom prst="straightConnector1">
              <a:avLst/>
            </a:prstGeom>
            <a:noFill/>
            <a:ln w="19050" cap="flat" cmpd="sng" algn="ctr">
              <a:solidFill>
                <a:schemeClr val="bg1">
                  <a:lumMod val="50000"/>
                </a:schemeClr>
              </a:solidFill>
              <a:prstDash val="solid"/>
              <a:round/>
              <a:headEnd type="none" w="med" len="med"/>
              <a:tailEnd type="none" w="med" len="med"/>
            </a:ln>
            <a:effectLst/>
          </p:spPr>
        </p:cxnSp>
        <p:sp>
          <p:nvSpPr>
            <p:cNvPr id="23" name="楕円 22">
              <a:extLst>
                <a:ext uri="{FF2B5EF4-FFF2-40B4-BE49-F238E27FC236}">
                  <a16:creationId xmlns:a16="http://schemas.microsoft.com/office/drawing/2014/main" id="{FA07DC2D-3FF2-C430-F104-A6E5B78B2DB0}"/>
                </a:ext>
              </a:extLst>
            </p:cNvPr>
            <p:cNvSpPr/>
            <p:nvPr/>
          </p:nvSpPr>
          <p:spPr>
            <a:xfrm>
              <a:off x="259852" y="1753311"/>
              <a:ext cx="1734536" cy="264944"/>
            </a:xfrm>
            <a:prstGeom prst="ellipse">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n-cs"/>
                </a:rPr>
                <a:t>マイルストン</a:t>
              </a:r>
              <a:endParaRPr kumimoji="1" lang="en-US" altLang="ja-JP" sz="1200" b="1"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62" name="正方形/長方形 61">
              <a:extLst>
                <a:ext uri="{FF2B5EF4-FFF2-40B4-BE49-F238E27FC236}">
                  <a16:creationId xmlns:a16="http://schemas.microsoft.com/office/drawing/2014/main" id="{33BED1C7-CFFB-91CD-70C8-05944A03A5BD}"/>
                </a:ext>
              </a:extLst>
            </p:cNvPr>
            <p:cNvSpPr/>
            <p:nvPr/>
          </p:nvSpPr>
          <p:spPr>
            <a:xfrm>
              <a:off x="2062730" y="1402503"/>
              <a:ext cx="4231327" cy="124581"/>
            </a:xfrm>
            <a:prstGeom prst="rect">
              <a:avLst/>
            </a:prstGeom>
            <a:solidFill>
              <a:schemeClr val="bg2">
                <a:lumMod val="7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FY2025</a:t>
              </a:r>
              <a:endParaRPr kumimoji="1" lang="ja-JP" altLang="en-US" sz="10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63" name="正方形/長方形 62">
              <a:extLst>
                <a:ext uri="{FF2B5EF4-FFF2-40B4-BE49-F238E27FC236}">
                  <a16:creationId xmlns:a16="http://schemas.microsoft.com/office/drawing/2014/main" id="{AE0F4866-804B-C394-26E4-BBCA5FC2496D}"/>
                </a:ext>
              </a:extLst>
            </p:cNvPr>
            <p:cNvSpPr/>
            <p:nvPr/>
          </p:nvSpPr>
          <p:spPr>
            <a:xfrm>
              <a:off x="2062730"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1</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p>
          </p:txBody>
        </p:sp>
        <p:sp>
          <p:nvSpPr>
            <p:cNvPr id="65" name="正方形/長方形 64">
              <a:extLst>
                <a:ext uri="{FF2B5EF4-FFF2-40B4-BE49-F238E27FC236}">
                  <a16:creationId xmlns:a16="http://schemas.microsoft.com/office/drawing/2014/main" id="{3A52C78D-3C71-A062-2AA9-53F8FC3AB757}"/>
                </a:ext>
              </a:extLst>
            </p:cNvPr>
            <p:cNvSpPr/>
            <p:nvPr/>
          </p:nvSpPr>
          <p:spPr>
            <a:xfrm>
              <a:off x="4912791"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3</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p>
          </p:txBody>
        </p:sp>
        <p:sp>
          <p:nvSpPr>
            <p:cNvPr id="66" name="正方形/長方形 65">
              <a:extLst>
                <a:ext uri="{FF2B5EF4-FFF2-40B4-BE49-F238E27FC236}">
                  <a16:creationId xmlns:a16="http://schemas.microsoft.com/office/drawing/2014/main" id="{CF330BCC-BF5E-0E1C-839C-28EE5E3A7823}"/>
                </a:ext>
              </a:extLst>
            </p:cNvPr>
            <p:cNvSpPr/>
            <p:nvPr/>
          </p:nvSpPr>
          <p:spPr>
            <a:xfrm>
              <a:off x="3487957"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2</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p>
          </p:txBody>
        </p:sp>
        <p:sp>
          <p:nvSpPr>
            <p:cNvPr id="68" name="正方形/長方形 67">
              <a:extLst>
                <a:ext uri="{FF2B5EF4-FFF2-40B4-BE49-F238E27FC236}">
                  <a16:creationId xmlns:a16="http://schemas.microsoft.com/office/drawing/2014/main" id="{902429DF-62BB-C9BF-E396-63BFFDC05E83}"/>
                </a:ext>
              </a:extLst>
            </p:cNvPr>
            <p:cNvSpPr/>
            <p:nvPr/>
          </p:nvSpPr>
          <p:spPr>
            <a:xfrm>
              <a:off x="6338411" y="1402503"/>
              <a:ext cx="5654435" cy="124581"/>
            </a:xfrm>
            <a:prstGeom prst="rect">
              <a:avLst/>
            </a:prstGeom>
            <a:solidFill>
              <a:schemeClr val="bg2">
                <a:lumMod val="7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FY2026</a:t>
              </a:r>
              <a:endPar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69" name="正方形/長方形 68">
              <a:extLst>
                <a:ext uri="{FF2B5EF4-FFF2-40B4-BE49-F238E27FC236}">
                  <a16:creationId xmlns:a16="http://schemas.microsoft.com/office/drawing/2014/main" id="{7DBFC801-1F23-3CA3-28A5-500926F41B29}"/>
                </a:ext>
              </a:extLst>
            </p:cNvPr>
            <p:cNvSpPr/>
            <p:nvPr/>
          </p:nvSpPr>
          <p:spPr>
            <a:xfrm>
              <a:off x="6338411"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4</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0" name="正方形/長方形 69">
              <a:extLst>
                <a:ext uri="{FF2B5EF4-FFF2-40B4-BE49-F238E27FC236}">
                  <a16:creationId xmlns:a16="http://schemas.microsoft.com/office/drawing/2014/main" id="{35379A65-ABA8-94FA-D771-06386A6A434C}"/>
                </a:ext>
              </a:extLst>
            </p:cNvPr>
            <p:cNvSpPr/>
            <p:nvPr/>
          </p:nvSpPr>
          <p:spPr>
            <a:xfrm>
              <a:off x="7763638"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5</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3" name="正方形/長方形 72">
              <a:extLst>
                <a:ext uri="{FF2B5EF4-FFF2-40B4-BE49-F238E27FC236}">
                  <a16:creationId xmlns:a16="http://schemas.microsoft.com/office/drawing/2014/main" id="{6E2B1AEC-BC32-E1B2-10EC-F045B1425FD5}"/>
                </a:ext>
              </a:extLst>
            </p:cNvPr>
            <p:cNvSpPr/>
            <p:nvPr/>
          </p:nvSpPr>
          <p:spPr>
            <a:xfrm>
              <a:off x="9189451"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6</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4" name="正方形/長方形 73">
              <a:extLst>
                <a:ext uri="{FF2B5EF4-FFF2-40B4-BE49-F238E27FC236}">
                  <a16:creationId xmlns:a16="http://schemas.microsoft.com/office/drawing/2014/main" id="{01DE2FD1-A5AA-BF9E-8174-B6C62875C4E7}"/>
                </a:ext>
              </a:extLst>
            </p:cNvPr>
            <p:cNvSpPr/>
            <p:nvPr/>
          </p:nvSpPr>
          <p:spPr>
            <a:xfrm>
              <a:off x="10614093" y="1560783"/>
              <a:ext cx="1381658" cy="139666"/>
            </a:xfrm>
            <a:prstGeom prst="rect">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7</a:t>
              </a:r>
              <a:r>
                <a:rPr kumimoji="1" lang="ja-JP" altLang="en-US"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月</a:t>
              </a:r>
              <a:endParaRPr kumimoji="1" lang="en-US" altLang="ja-JP" sz="1000" b="1" i="0" u="none" strike="noStrike" kern="1200" cap="none" spc="0" normalizeH="0" baseline="0" noProof="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76" name="正方形/長方形 75">
              <a:extLst>
                <a:ext uri="{FF2B5EF4-FFF2-40B4-BE49-F238E27FC236}">
                  <a16:creationId xmlns:a16="http://schemas.microsoft.com/office/drawing/2014/main" id="{0AB478CC-1373-3664-DC70-377E8594B781}"/>
                </a:ext>
              </a:extLst>
            </p:cNvPr>
            <p:cNvSpPr/>
            <p:nvPr/>
          </p:nvSpPr>
          <p:spPr bwMode="auto">
            <a:xfrm>
              <a:off x="6075433" y="1728240"/>
              <a:ext cx="408821"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役員</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▼デモ</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18" name="正方形/長方形 117">
              <a:extLst>
                <a:ext uri="{FF2B5EF4-FFF2-40B4-BE49-F238E27FC236}">
                  <a16:creationId xmlns:a16="http://schemas.microsoft.com/office/drawing/2014/main" id="{D827EA45-2767-F8F9-F348-6F5DBD7C8D4A}"/>
                </a:ext>
              </a:extLst>
            </p:cNvPr>
            <p:cNvSpPr/>
            <p:nvPr/>
          </p:nvSpPr>
          <p:spPr bwMode="auto">
            <a:xfrm>
              <a:off x="5520029" y="1728240"/>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銀行検証</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30" name="正方形/長方形 129">
              <a:extLst>
                <a:ext uri="{FF2B5EF4-FFF2-40B4-BE49-F238E27FC236}">
                  <a16:creationId xmlns:a16="http://schemas.microsoft.com/office/drawing/2014/main" id="{8008A052-7859-2900-85FF-DB3720CBB5BC}"/>
                </a:ext>
              </a:extLst>
            </p:cNvPr>
            <p:cNvSpPr/>
            <p:nvPr/>
          </p:nvSpPr>
          <p:spPr bwMode="auto">
            <a:xfrm>
              <a:off x="6950629" y="1728240"/>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000" dirty="0">
                  <a:solidFill>
                    <a:schemeClr val="accent6">
                      <a:lumMod val="75000"/>
                    </a:schemeClr>
                  </a:solidFill>
                  <a:effectLst>
                    <a:glow>
                      <a:srgbClr val="00CC99">
                        <a:alpha val="40000"/>
                      </a:srgbClr>
                    </a:glow>
                  </a:effectLst>
                  <a:latin typeface="Meiryo UI" panose="020B0604030504040204" pitchFamily="50" charset="-128"/>
                  <a:ea typeface="Meiryo UI" panose="020B0604030504040204" pitchFamily="50" charset="-128"/>
                </a:rPr>
                <a:t>実務適用</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36" name="正方形/長方形 135">
              <a:extLst>
                <a:ext uri="{FF2B5EF4-FFF2-40B4-BE49-F238E27FC236}">
                  <a16:creationId xmlns:a16="http://schemas.microsoft.com/office/drawing/2014/main" id="{AAA5C85F-1205-33F3-8275-B57B924ED613}"/>
                </a:ext>
              </a:extLst>
            </p:cNvPr>
            <p:cNvSpPr/>
            <p:nvPr/>
          </p:nvSpPr>
          <p:spPr bwMode="auto">
            <a:xfrm>
              <a:off x="8675098" y="1733571"/>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000" dirty="0">
                  <a:solidFill>
                    <a:schemeClr val="accent6">
                      <a:lumMod val="75000"/>
                    </a:schemeClr>
                  </a:solidFill>
                  <a:effectLst>
                    <a:glow>
                      <a:srgbClr val="00CC99">
                        <a:alpha val="40000"/>
                      </a:srgbClr>
                    </a:glow>
                  </a:effectLst>
                  <a:latin typeface="Meiryo UI" panose="020B0604030504040204" pitchFamily="50" charset="-128"/>
                  <a:ea typeface="Meiryo UI" panose="020B0604030504040204" pitchFamily="50" charset="-128"/>
                </a:rPr>
                <a:t>実務適用</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48" name="正方形/長方形 147">
              <a:extLst>
                <a:ext uri="{FF2B5EF4-FFF2-40B4-BE49-F238E27FC236}">
                  <a16:creationId xmlns:a16="http://schemas.microsoft.com/office/drawing/2014/main" id="{163B9D6A-CD52-5AC6-1411-BE370FA8016A}"/>
                </a:ext>
              </a:extLst>
            </p:cNvPr>
            <p:cNvSpPr/>
            <p:nvPr/>
          </p:nvSpPr>
          <p:spPr bwMode="auto">
            <a:xfrm>
              <a:off x="10054327" y="1746003"/>
              <a:ext cx="544140" cy="291195"/>
            </a:xfrm>
            <a:prstGeom prst="rect">
              <a:avLst/>
            </a:prstGeom>
            <a:noFill/>
            <a:ln w="19050">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000" dirty="0">
                  <a:solidFill>
                    <a:schemeClr val="accent6">
                      <a:lumMod val="75000"/>
                    </a:schemeClr>
                  </a:solidFill>
                  <a:effectLst>
                    <a:glow>
                      <a:srgbClr val="00CC99">
                        <a:alpha val="40000"/>
                      </a:srgbClr>
                    </a:glow>
                  </a:effectLst>
                  <a:latin typeface="Meiryo UI" panose="020B0604030504040204" pitchFamily="50" charset="-128"/>
                  <a:ea typeface="Meiryo UI" panose="020B0604030504040204" pitchFamily="50" charset="-128"/>
                </a:rPr>
                <a:t>実務適用</a:t>
              </a:r>
              <a:br>
                <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br>
              <a:r>
                <a:rPr kumimoji="1" lang="ja-JP" altLang="en-US"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▼開始</a:t>
              </a:r>
              <a:endParaRPr kumimoji="1" lang="en-US" altLang="ja-JP" sz="1000" i="0" u="none" strike="noStrike" kern="1200" cap="none" spc="0" normalizeH="0" baseline="0" noProof="0" dirty="0">
                <a:ln>
                  <a:noFill/>
                </a:ln>
                <a:solidFill>
                  <a:schemeClr val="accent6">
                    <a:lumMod val="75000"/>
                  </a:scheme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cxnSp>
          <p:nvCxnSpPr>
            <p:cNvPr id="13" name="カギ線コネクタ 64">
              <a:extLst>
                <a:ext uri="{FF2B5EF4-FFF2-40B4-BE49-F238E27FC236}">
                  <a16:creationId xmlns:a16="http://schemas.microsoft.com/office/drawing/2014/main" id="{9B7EC443-CFD4-F2CE-40B2-F8B2C278B267}"/>
                </a:ext>
              </a:extLst>
            </p:cNvPr>
            <p:cNvCxnSpPr>
              <a:cxnSpLocks/>
            </p:cNvCxnSpPr>
            <p:nvPr/>
          </p:nvCxnSpPr>
          <p:spPr bwMode="auto">
            <a:xfrm flipH="1">
              <a:off x="210149" y="3179917"/>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cxnSp>
          <p:nvCxnSpPr>
            <p:cNvPr id="16" name="カギ線コネクタ 64">
              <a:extLst>
                <a:ext uri="{FF2B5EF4-FFF2-40B4-BE49-F238E27FC236}">
                  <a16:creationId xmlns:a16="http://schemas.microsoft.com/office/drawing/2014/main" id="{EBD7C3ED-3257-C733-F2FB-EB1A20F24497}"/>
                </a:ext>
              </a:extLst>
            </p:cNvPr>
            <p:cNvCxnSpPr>
              <a:cxnSpLocks/>
            </p:cNvCxnSpPr>
            <p:nvPr/>
          </p:nvCxnSpPr>
          <p:spPr bwMode="auto">
            <a:xfrm flipH="1">
              <a:off x="210149" y="2406165"/>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cxnSp>
          <p:nvCxnSpPr>
            <p:cNvPr id="17" name="カギ線コネクタ 64">
              <a:extLst>
                <a:ext uri="{FF2B5EF4-FFF2-40B4-BE49-F238E27FC236}">
                  <a16:creationId xmlns:a16="http://schemas.microsoft.com/office/drawing/2014/main" id="{F426C0A8-D9C6-9D2E-B3F9-94AA46CF3374}"/>
                </a:ext>
              </a:extLst>
            </p:cNvPr>
            <p:cNvCxnSpPr>
              <a:cxnSpLocks/>
            </p:cNvCxnSpPr>
            <p:nvPr/>
          </p:nvCxnSpPr>
          <p:spPr bwMode="auto">
            <a:xfrm flipH="1">
              <a:off x="210149" y="2659108"/>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cxnSp>
          <p:nvCxnSpPr>
            <p:cNvPr id="18" name="カギ線コネクタ 64">
              <a:extLst>
                <a:ext uri="{FF2B5EF4-FFF2-40B4-BE49-F238E27FC236}">
                  <a16:creationId xmlns:a16="http://schemas.microsoft.com/office/drawing/2014/main" id="{E98203A8-CFAB-A90B-C2FA-3ACDD9D450DD}"/>
                </a:ext>
              </a:extLst>
            </p:cNvPr>
            <p:cNvCxnSpPr>
              <a:cxnSpLocks/>
            </p:cNvCxnSpPr>
            <p:nvPr/>
          </p:nvCxnSpPr>
          <p:spPr bwMode="auto">
            <a:xfrm flipH="1">
              <a:off x="210149" y="3434751"/>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13" name="矢印: 五方向 212">
              <a:extLst>
                <a:ext uri="{FF2B5EF4-FFF2-40B4-BE49-F238E27FC236}">
                  <a16:creationId xmlns:a16="http://schemas.microsoft.com/office/drawing/2014/main" id="{491FC928-5AE5-AA8F-1CB5-6BE14DB0F703}"/>
                </a:ext>
              </a:extLst>
            </p:cNvPr>
            <p:cNvSpPr/>
            <p:nvPr/>
          </p:nvSpPr>
          <p:spPr>
            <a:xfrm>
              <a:off x="2064714" y="2164390"/>
              <a:ext cx="1608261"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a:t>
              </a: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Concur</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機能開発</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F127EC08-F9CD-BC1B-B60E-BCADCDACBF9C}"/>
                </a:ext>
              </a:extLst>
            </p:cNvPr>
            <p:cNvSpPr/>
            <p:nvPr/>
          </p:nvSpPr>
          <p:spPr>
            <a:xfrm>
              <a:off x="200026" y="3444094"/>
              <a:ext cx="544262"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開発全般</a:t>
              </a:r>
              <a:endPar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44" name="正方形/長方形 43">
              <a:extLst>
                <a:ext uri="{FF2B5EF4-FFF2-40B4-BE49-F238E27FC236}">
                  <a16:creationId xmlns:a16="http://schemas.microsoft.com/office/drawing/2014/main" id="{28881AC8-0389-C6A5-99D5-7B5B56E16333}"/>
                </a:ext>
              </a:extLst>
            </p:cNvPr>
            <p:cNvSpPr/>
            <p:nvPr/>
          </p:nvSpPr>
          <p:spPr>
            <a:xfrm>
              <a:off x="763124" y="3444094"/>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en-US" altLang="ja-JP" sz="8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エージェント基盤開発</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B1413DC0-2086-F898-CAA8-0B5CB0A8C123}"/>
                </a:ext>
              </a:extLst>
            </p:cNvPr>
            <p:cNvSpPr/>
            <p:nvPr/>
          </p:nvSpPr>
          <p:spPr>
            <a:xfrm>
              <a:off x="759348" y="3197763"/>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名寄せ結果</a:t>
              </a:r>
              <a:r>
                <a:rPr lang="en-US" altLang="ja-JP" sz="8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自動抽出</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7560775-E5F5-24A1-5313-E171322A3522}"/>
                </a:ext>
              </a:extLst>
            </p:cNvPr>
            <p:cNvSpPr/>
            <p:nvPr/>
          </p:nvSpPr>
          <p:spPr>
            <a:xfrm>
              <a:off x="196249" y="3197763"/>
              <a:ext cx="544265"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顧客管理</a:t>
              </a:r>
              <a:endParaRPr lang="en-US" altLang="ja-JP" sz="1050" b="1"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8467BB9F-7E1F-04D2-C420-1D33BAAA0C52}"/>
                </a:ext>
              </a:extLst>
            </p:cNvPr>
            <p:cNvSpPr/>
            <p:nvPr/>
          </p:nvSpPr>
          <p:spPr>
            <a:xfrm>
              <a:off x="759348" y="2930131"/>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銀行処理応答自動化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D9AA51D1-313D-16A1-3B52-B8D1261A3904}"/>
                </a:ext>
              </a:extLst>
            </p:cNvPr>
            <p:cNvSpPr/>
            <p:nvPr/>
          </p:nvSpPr>
          <p:spPr>
            <a:xfrm>
              <a:off x="196250" y="2415975"/>
              <a:ext cx="544262"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経理</a:t>
              </a:r>
              <a:r>
                <a:rPr lang="en-US" altLang="ja-JP" sz="1050" b="1" dirty="0">
                  <a:solidFill>
                    <a:srgbClr val="000000">
                      <a:lumMod val="65000"/>
                      <a:lumOff val="35000"/>
                    </a:srgbClr>
                  </a:solidFill>
                  <a:latin typeface="Meiryo UI" panose="020B0604030504040204" pitchFamily="50" charset="-128"/>
                  <a:ea typeface="Meiryo UI" panose="020B0604030504040204" pitchFamily="50" charset="-128"/>
                </a:rPr>
                <a:t>OS</a:t>
              </a:r>
            </a:p>
          </p:txBody>
        </p:sp>
        <p:sp>
          <p:nvSpPr>
            <p:cNvPr id="59" name="正方形/長方形 58">
              <a:extLst>
                <a:ext uri="{FF2B5EF4-FFF2-40B4-BE49-F238E27FC236}">
                  <a16:creationId xmlns:a16="http://schemas.microsoft.com/office/drawing/2014/main" id="{5E99727A-DF07-E05B-6580-042FFE1DEAF1}"/>
                </a:ext>
              </a:extLst>
            </p:cNvPr>
            <p:cNvSpPr/>
            <p:nvPr/>
          </p:nvSpPr>
          <p:spPr>
            <a:xfrm>
              <a:off x="759348" y="2679077"/>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標プロ評価業務自動化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DB678809-CA6C-E473-284B-66D9A1B7CF16}"/>
                </a:ext>
              </a:extLst>
            </p:cNvPr>
            <p:cNvSpPr/>
            <p:nvPr/>
          </p:nvSpPr>
          <p:spPr>
            <a:xfrm>
              <a:off x="759348" y="2422326"/>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請求・支払</a:t>
              </a:r>
              <a:r>
                <a:rPr lang="en-US" altLang="ja-JP" sz="800" dirty="0">
                  <a:solidFill>
                    <a:srgbClr val="000000">
                      <a:lumMod val="65000"/>
                      <a:lumOff val="35000"/>
                    </a:srgbClr>
                  </a:solidFill>
                  <a:latin typeface="Meiryo UI" panose="020B0604030504040204" pitchFamily="50" charset="-128"/>
                  <a:ea typeface="Meiryo UI" panose="020B0604030504040204" pitchFamily="50" charset="-128"/>
                </a:rPr>
                <a:t>CK</a:t>
              </a: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業務自動化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EDF3483C-5229-9BEB-5E34-4A675CE66AB6}"/>
                </a:ext>
              </a:extLst>
            </p:cNvPr>
            <p:cNvSpPr/>
            <p:nvPr/>
          </p:nvSpPr>
          <p:spPr>
            <a:xfrm>
              <a:off x="196343" y="2162584"/>
              <a:ext cx="544262" cy="227865"/>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050" b="1" dirty="0">
                  <a:solidFill>
                    <a:srgbClr val="000000">
                      <a:lumMod val="65000"/>
                      <a:lumOff val="35000"/>
                    </a:srgbClr>
                  </a:solidFill>
                  <a:latin typeface="Meiryo UI" panose="020B0604030504040204" pitchFamily="50" charset="-128"/>
                  <a:ea typeface="Meiryo UI" panose="020B0604030504040204" pitchFamily="50" charset="-128"/>
                </a:rPr>
                <a:t>BPS</a:t>
              </a:r>
              <a:endPar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3ED8C82C-64BA-2FDF-2C7C-A5463DD2D50A}"/>
                </a:ext>
              </a:extLst>
            </p:cNvPr>
            <p:cNvSpPr/>
            <p:nvPr/>
          </p:nvSpPr>
          <p:spPr>
            <a:xfrm>
              <a:off x="759441" y="2162584"/>
              <a:ext cx="1238400" cy="22786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fontAlgn="base">
                <a:spcBef>
                  <a:spcPct val="0"/>
                </a:spcBef>
                <a:spcAft>
                  <a:spcPct val="0"/>
                </a:spcAft>
              </a:pPr>
              <a:r>
                <a:rPr lang="ja-JP" altLang="en-US" sz="800" dirty="0">
                  <a:solidFill>
                    <a:srgbClr val="000000">
                      <a:lumMod val="65000"/>
                      <a:lumOff val="35000"/>
                    </a:srgbClr>
                  </a:solidFill>
                  <a:latin typeface="Meiryo UI" panose="020B0604030504040204" pitchFamily="50" charset="-128"/>
                  <a:ea typeface="Meiryo UI" panose="020B0604030504040204" pitchFamily="50" charset="-128"/>
                </a:rPr>
                <a:t>請求・支払業務自動化</a:t>
              </a:r>
              <a:endParaRPr lang="en-US" altLang="ja-JP" sz="8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77" name="カギ線コネクタ 64">
              <a:extLst>
                <a:ext uri="{FF2B5EF4-FFF2-40B4-BE49-F238E27FC236}">
                  <a16:creationId xmlns:a16="http://schemas.microsoft.com/office/drawing/2014/main" id="{C9405A26-6574-BA54-5CB1-9FD4432AC8D9}"/>
                </a:ext>
              </a:extLst>
            </p:cNvPr>
            <p:cNvCxnSpPr>
              <a:cxnSpLocks/>
            </p:cNvCxnSpPr>
            <p:nvPr/>
          </p:nvCxnSpPr>
          <p:spPr bwMode="auto">
            <a:xfrm flipH="1">
              <a:off x="210149" y="2915757"/>
              <a:ext cx="1172210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78" name="矢印: 五方向 77">
              <a:extLst>
                <a:ext uri="{FF2B5EF4-FFF2-40B4-BE49-F238E27FC236}">
                  <a16:creationId xmlns:a16="http://schemas.microsoft.com/office/drawing/2014/main" id="{7737605F-0115-DC8F-C9D0-0F36F7786B55}"/>
                </a:ext>
              </a:extLst>
            </p:cNvPr>
            <p:cNvSpPr/>
            <p:nvPr/>
          </p:nvSpPr>
          <p:spPr>
            <a:xfrm>
              <a:off x="3682841" y="2164390"/>
              <a:ext cx="1229950"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・活文機能開発</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79" name="矢印: 五方向 78">
              <a:extLst>
                <a:ext uri="{FF2B5EF4-FFF2-40B4-BE49-F238E27FC236}">
                  <a16:creationId xmlns:a16="http://schemas.microsoft.com/office/drawing/2014/main" id="{540D9F95-AE51-DD1C-0FAC-1888D36471CC}"/>
                </a:ext>
              </a:extLst>
            </p:cNvPr>
            <p:cNvSpPr/>
            <p:nvPr/>
          </p:nvSpPr>
          <p:spPr>
            <a:xfrm>
              <a:off x="4912791" y="2164390"/>
              <a:ext cx="1425278"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結合テスト</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86" name="矢印: 五方向 85">
              <a:extLst>
                <a:ext uri="{FF2B5EF4-FFF2-40B4-BE49-F238E27FC236}">
                  <a16:creationId xmlns:a16="http://schemas.microsoft.com/office/drawing/2014/main" id="{3ABC37AF-45DC-B679-B0C6-C1136F4E80E0}"/>
                </a:ext>
              </a:extLst>
            </p:cNvPr>
            <p:cNvSpPr/>
            <p:nvPr/>
          </p:nvSpPr>
          <p:spPr>
            <a:xfrm>
              <a:off x="8067049" y="2166040"/>
              <a:ext cx="831978"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ユーザー</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運用テスト</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90" name="矢印: 五方向 89">
              <a:extLst>
                <a:ext uri="{FF2B5EF4-FFF2-40B4-BE49-F238E27FC236}">
                  <a16:creationId xmlns:a16="http://schemas.microsoft.com/office/drawing/2014/main" id="{E001B2AE-10CB-3EEE-E79F-8C730848339A}"/>
                </a:ext>
              </a:extLst>
            </p:cNvPr>
            <p:cNvSpPr/>
            <p:nvPr/>
          </p:nvSpPr>
          <p:spPr>
            <a:xfrm>
              <a:off x="6334464" y="2166124"/>
              <a:ext cx="1126008"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本番環境移行</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91" name="矢印: 五方向 90">
              <a:extLst>
                <a:ext uri="{FF2B5EF4-FFF2-40B4-BE49-F238E27FC236}">
                  <a16:creationId xmlns:a16="http://schemas.microsoft.com/office/drawing/2014/main" id="{A82CF091-5DA5-C2F8-B305-594F08DA6478}"/>
                </a:ext>
              </a:extLst>
            </p:cNvPr>
            <p:cNvSpPr/>
            <p:nvPr/>
          </p:nvSpPr>
          <p:spPr>
            <a:xfrm>
              <a:off x="2064715" y="2425750"/>
              <a:ext cx="1545977"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CK</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業務調査</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E332B9BB-63ED-2C6B-BFF3-71DBC274584C}"/>
                </a:ext>
              </a:extLst>
            </p:cNvPr>
            <p:cNvSpPr/>
            <p:nvPr/>
          </p:nvSpPr>
          <p:spPr>
            <a:xfrm>
              <a:off x="196250" y="2676317"/>
              <a:ext cx="544262" cy="48168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050" b="1" dirty="0">
                  <a:solidFill>
                    <a:srgbClr val="000000">
                      <a:lumMod val="65000"/>
                      <a:lumOff val="35000"/>
                    </a:srgbClr>
                  </a:solidFill>
                  <a:latin typeface="Meiryo UI" panose="020B0604030504040204" pitchFamily="50" charset="-128"/>
                  <a:ea typeface="Meiryo UI" panose="020B0604030504040204" pitchFamily="50" charset="-128"/>
                </a:rPr>
                <a:t>財務</a:t>
              </a:r>
              <a:endPar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2" name="矢印: 五方向 91">
              <a:extLst>
                <a:ext uri="{FF2B5EF4-FFF2-40B4-BE49-F238E27FC236}">
                  <a16:creationId xmlns:a16="http://schemas.microsoft.com/office/drawing/2014/main" id="{ACFA8BED-B67A-F285-1E71-DEBFDF032E69}"/>
                </a:ext>
              </a:extLst>
            </p:cNvPr>
            <p:cNvSpPr/>
            <p:nvPr/>
          </p:nvSpPr>
          <p:spPr>
            <a:xfrm>
              <a:off x="3610692" y="2425750"/>
              <a:ext cx="751259"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開発汎用化</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93" name="矢印: 五方向 92">
              <a:extLst>
                <a:ext uri="{FF2B5EF4-FFF2-40B4-BE49-F238E27FC236}">
                  <a16:creationId xmlns:a16="http://schemas.microsoft.com/office/drawing/2014/main" id="{8F495FE5-7675-C4AD-1E3A-FE25924CED36}"/>
                </a:ext>
              </a:extLst>
            </p:cNvPr>
            <p:cNvSpPr/>
            <p:nvPr/>
          </p:nvSpPr>
          <p:spPr>
            <a:xfrm>
              <a:off x="4364754" y="2425750"/>
              <a:ext cx="1444997"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開発</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94" name="矢印: 五方向 93">
              <a:extLst>
                <a:ext uri="{FF2B5EF4-FFF2-40B4-BE49-F238E27FC236}">
                  <a16:creationId xmlns:a16="http://schemas.microsoft.com/office/drawing/2014/main" id="{52A58CA2-DE7D-8A69-9FEF-7F05D74BD3D2}"/>
                </a:ext>
              </a:extLst>
            </p:cNvPr>
            <p:cNvSpPr/>
            <p:nvPr/>
          </p:nvSpPr>
          <p:spPr>
            <a:xfrm>
              <a:off x="5819679" y="2431196"/>
              <a:ext cx="400705"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デモ</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準備</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10" name="矢印: 五方向 109">
              <a:extLst>
                <a:ext uri="{FF2B5EF4-FFF2-40B4-BE49-F238E27FC236}">
                  <a16:creationId xmlns:a16="http://schemas.microsoft.com/office/drawing/2014/main" id="{F0AD1234-607A-F271-6BEE-4957C0331DFE}"/>
                </a:ext>
              </a:extLst>
            </p:cNvPr>
            <p:cNvSpPr/>
            <p:nvPr/>
          </p:nvSpPr>
          <p:spPr>
            <a:xfrm>
              <a:off x="2060750" y="2679173"/>
              <a:ext cx="1773130" cy="478843"/>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要件定義・</a:t>
              </a:r>
              <a:r>
                <a:rPr lang="en-US" altLang="ja-JP" sz="800" dirty="0" err="1">
                  <a:solidFill>
                    <a:srgbClr val="FFFFFF"/>
                  </a:solidFill>
                  <a:effectLst>
                    <a:glow>
                      <a:srgbClr val="00CC99">
                        <a:alpha val="40000"/>
                      </a:srgbClr>
                    </a:glow>
                  </a:effectLst>
                  <a:latin typeface="Meiryo UI" panose="020B0604030504040204" pitchFamily="50" charset="-128"/>
                  <a:ea typeface="Meiryo UI" panose="020B0604030504040204" pitchFamily="50" charset="-128"/>
                </a:rPr>
                <a:t>tobe</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業務策定</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12" name="矢印: 五方向 111">
              <a:extLst>
                <a:ext uri="{FF2B5EF4-FFF2-40B4-BE49-F238E27FC236}">
                  <a16:creationId xmlns:a16="http://schemas.microsoft.com/office/drawing/2014/main" id="{8343C8C4-7BF1-A63F-F2C9-9BD7314F400D}"/>
                </a:ext>
              </a:extLst>
            </p:cNvPr>
            <p:cNvSpPr/>
            <p:nvPr/>
          </p:nvSpPr>
          <p:spPr>
            <a:xfrm>
              <a:off x="3854217" y="2679172"/>
              <a:ext cx="1058573" cy="486101"/>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第一弾</a:t>
              </a:r>
              <a:r>
                <a:rPr lang="ja-JP" altLang="en-US" sz="80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プロト作成</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13" name="矢印: 五方向 112">
              <a:extLst>
                <a:ext uri="{FF2B5EF4-FFF2-40B4-BE49-F238E27FC236}">
                  <a16:creationId xmlns:a16="http://schemas.microsoft.com/office/drawing/2014/main" id="{B4F05CA2-AAE6-87F9-345F-26DB90B9E2D8}"/>
                </a:ext>
              </a:extLst>
            </p:cNvPr>
            <p:cNvSpPr/>
            <p:nvPr/>
          </p:nvSpPr>
          <p:spPr>
            <a:xfrm>
              <a:off x="4912791" y="2675170"/>
              <a:ext cx="1381266"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RAG</a:t>
              </a: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機能追加実装</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16" name="矢印: 五方向 115">
              <a:extLst>
                <a:ext uri="{FF2B5EF4-FFF2-40B4-BE49-F238E27FC236}">
                  <a16:creationId xmlns:a16="http://schemas.microsoft.com/office/drawing/2014/main" id="{1EC92E71-E7B6-C1AE-A9A5-D02ADB843106}"/>
                </a:ext>
              </a:extLst>
            </p:cNvPr>
            <p:cNvSpPr/>
            <p:nvPr/>
          </p:nvSpPr>
          <p:spPr>
            <a:xfrm>
              <a:off x="4912791" y="2933761"/>
              <a:ext cx="687533"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残課題対応</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19" name="矢印: 五方向 118">
              <a:extLst>
                <a:ext uri="{FF2B5EF4-FFF2-40B4-BE49-F238E27FC236}">
                  <a16:creationId xmlns:a16="http://schemas.microsoft.com/office/drawing/2014/main" id="{62E79E70-9776-7B03-26C9-128A2BC9C9CF}"/>
                </a:ext>
              </a:extLst>
            </p:cNvPr>
            <p:cNvSpPr/>
            <p:nvPr/>
          </p:nvSpPr>
          <p:spPr>
            <a:xfrm>
              <a:off x="5606524" y="2935878"/>
              <a:ext cx="687533"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プロト試験</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27" name="矢印: 五方向 126">
              <a:extLst>
                <a:ext uri="{FF2B5EF4-FFF2-40B4-BE49-F238E27FC236}">
                  <a16:creationId xmlns:a16="http://schemas.microsoft.com/office/drawing/2014/main" id="{BAC7CB53-CD10-D01E-59DD-C5BFB307EC39}"/>
                </a:ext>
              </a:extLst>
            </p:cNvPr>
            <p:cNvSpPr/>
            <p:nvPr/>
          </p:nvSpPr>
          <p:spPr>
            <a:xfrm>
              <a:off x="6303899" y="2675199"/>
              <a:ext cx="591009"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ユーザー</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運用テスト</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28" name="矢印: 五方向 127">
              <a:extLst>
                <a:ext uri="{FF2B5EF4-FFF2-40B4-BE49-F238E27FC236}">
                  <a16:creationId xmlns:a16="http://schemas.microsoft.com/office/drawing/2014/main" id="{8DE43A30-F06B-8722-A177-2C1AAC7B9A1C}"/>
                </a:ext>
              </a:extLst>
            </p:cNvPr>
            <p:cNvSpPr/>
            <p:nvPr/>
          </p:nvSpPr>
          <p:spPr>
            <a:xfrm>
              <a:off x="6903556" y="2675199"/>
              <a:ext cx="2241739"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残課題対応</a:t>
              </a: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次期標プロシステム実装</a:t>
              </a:r>
              <a:endParaRPr kumimoji="1" lang="en-US" altLang="ja-JP" sz="800" b="0" i="0" u="none" strike="noStrike" kern="1200" cap="none" spc="0" normalizeH="0" baseline="0" noProof="0" dirty="0">
                <a:ln>
                  <a:noFill/>
                </a:ln>
                <a:solidFill>
                  <a:srgbClr val="000000">
                    <a:lumMod val="65000"/>
                    <a:lumOff val="35000"/>
                  </a:srgbClr>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29" name="矢印: 五方向 128">
              <a:extLst>
                <a:ext uri="{FF2B5EF4-FFF2-40B4-BE49-F238E27FC236}">
                  <a16:creationId xmlns:a16="http://schemas.microsoft.com/office/drawing/2014/main" id="{FC800132-B17D-C163-D2A3-67513E77E12D}"/>
                </a:ext>
              </a:extLst>
            </p:cNvPr>
            <p:cNvSpPr/>
            <p:nvPr/>
          </p:nvSpPr>
          <p:spPr>
            <a:xfrm>
              <a:off x="6327402" y="2943881"/>
              <a:ext cx="1127955" cy="221395"/>
            </a:xfrm>
            <a:prstGeom prst="homePlate">
              <a:avLst>
                <a:gd name="adj" fmla="val 14457"/>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追加開発？（未定）</a:t>
              </a:r>
              <a:endParaRPr lang="en-US" altLang="ja-JP"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0" name="矢印: 五方向 139">
              <a:extLst>
                <a:ext uri="{FF2B5EF4-FFF2-40B4-BE49-F238E27FC236}">
                  <a16:creationId xmlns:a16="http://schemas.microsoft.com/office/drawing/2014/main" id="{8FAEAC4C-B9C3-E441-6107-B34EE3536550}"/>
                </a:ext>
              </a:extLst>
            </p:cNvPr>
            <p:cNvSpPr/>
            <p:nvPr/>
          </p:nvSpPr>
          <p:spPr>
            <a:xfrm>
              <a:off x="6341244" y="2425750"/>
              <a:ext cx="4229864" cy="221395"/>
            </a:xfrm>
            <a:prstGeom prst="homePlate">
              <a:avLst>
                <a:gd name="adj" fmla="val 14457"/>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本格開発（未定）</a:t>
              </a:r>
              <a:endParaRPr lang="en-US" altLang="ja-JP"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1" name="矢印: 五方向 140">
              <a:extLst>
                <a:ext uri="{FF2B5EF4-FFF2-40B4-BE49-F238E27FC236}">
                  <a16:creationId xmlns:a16="http://schemas.microsoft.com/office/drawing/2014/main" id="{F819C32A-FF6F-3D4D-3F42-11B1F777CEDD}"/>
                </a:ext>
              </a:extLst>
            </p:cNvPr>
            <p:cNvSpPr/>
            <p:nvPr/>
          </p:nvSpPr>
          <p:spPr>
            <a:xfrm>
              <a:off x="2062729" y="3196501"/>
              <a:ext cx="1268642"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要件定義</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4" name="矢印: 五方向 143">
              <a:extLst>
                <a:ext uri="{FF2B5EF4-FFF2-40B4-BE49-F238E27FC236}">
                  <a16:creationId xmlns:a16="http://schemas.microsoft.com/office/drawing/2014/main" id="{88826A11-D3E1-80C9-E1AE-E2978FF7A33B}"/>
                </a:ext>
              </a:extLst>
            </p:cNvPr>
            <p:cNvSpPr/>
            <p:nvPr/>
          </p:nvSpPr>
          <p:spPr>
            <a:xfrm>
              <a:off x="3331371" y="3196839"/>
              <a:ext cx="1581420"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データ抽出元サイトの調査</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5" name="矢印: 五方向 144">
              <a:extLst>
                <a:ext uri="{FF2B5EF4-FFF2-40B4-BE49-F238E27FC236}">
                  <a16:creationId xmlns:a16="http://schemas.microsoft.com/office/drawing/2014/main" id="{89D1D2DA-D0C7-2C8F-408C-08DB7850CD8C}"/>
                </a:ext>
              </a:extLst>
            </p:cNvPr>
            <p:cNvSpPr/>
            <p:nvPr/>
          </p:nvSpPr>
          <p:spPr>
            <a:xfrm>
              <a:off x="4912791" y="3196839"/>
              <a:ext cx="1444997"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開発</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6" name="矢印: 五方向 145">
              <a:extLst>
                <a:ext uri="{FF2B5EF4-FFF2-40B4-BE49-F238E27FC236}">
                  <a16:creationId xmlns:a16="http://schemas.microsoft.com/office/drawing/2014/main" id="{0D7BFB7D-7FCE-A529-5F46-D33250107128}"/>
                </a:ext>
              </a:extLst>
            </p:cNvPr>
            <p:cNvSpPr/>
            <p:nvPr/>
          </p:nvSpPr>
          <p:spPr>
            <a:xfrm>
              <a:off x="6364710" y="3197931"/>
              <a:ext cx="1091986"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ユーザー</a:t>
              </a:r>
              <a:b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b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運用テスト</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47" name="矢印: 五方向 146">
              <a:extLst>
                <a:ext uri="{FF2B5EF4-FFF2-40B4-BE49-F238E27FC236}">
                  <a16:creationId xmlns:a16="http://schemas.microsoft.com/office/drawing/2014/main" id="{DE8205B5-53F9-E7F9-7705-E916FB3C40C0}"/>
                </a:ext>
              </a:extLst>
            </p:cNvPr>
            <p:cNvSpPr/>
            <p:nvPr/>
          </p:nvSpPr>
          <p:spPr>
            <a:xfrm>
              <a:off x="8067048" y="3197931"/>
              <a:ext cx="1966724" cy="221395"/>
            </a:xfrm>
            <a:prstGeom prst="homePlate">
              <a:avLst>
                <a:gd name="adj" fmla="val 14457"/>
              </a:avLst>
            </a:prstGeom>
            <a:solidFill>
              <a:schemeClr val="bg1"/>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rPr>
                <a:t>追加開発？（未定）</a:t>
              </a:r>
              <a:endParaRPr lang="en-US" altLang="ja-JP" sz="800" dirty="0">
                <a:solidFill>
                  <a:srgbClr val="FFFFFF">
                    <a:lumMod val="7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grpSp>
          <p:nvGrpSpPr>
            <p:cNvPr id="37" name="グループ化 36">
              <a:extLst>
                <a:ext uri="{FF2B5EF4-FFF2-40B4-BE49-F238E27FC236}">
                  <a16:creationId xmlns:a16="http://schemas.microsoft.com/office/drawing/2014/main" id="{E1DFABBE-50FD-4DDA-209D-D578566F6932}"/>
                </a:ext>
              </a:extLst>
            </p:cNvPr>
            <p:cNvGrpSpPr/>
            <p:nvPr/>
          </p:nvGrpSpPr>
          <p:grpSpPr>
            <a:xfrm>
              <a:off x="2062820" y="3446660"/>
              <a:ext cx="6474191" cy="232525"/>
              <a:chOff x="2062820" y="3456185"/>
              <a:chExt cx="6474191" cy="232525"/>
            </a:xfrm>
          </p:grpSpPr>
          <p:sp>
            <p:nvSpPr>
              <p:cNvPr id="170" name="矢印: 五方向 169">
                <a:extLst>
                  <a:ext uri="{FF2B5EF4-FFF2-40B4-BE49-F238E27FC236}">
                    <a16:creationId xmlns:a16="http://schemas.microsoft.com/office/drawing/2014/main" id="{54C5E8B1-F0AF-8CA0-BB07-04DEBE46780F}"/>
                  </a:ext>
                </a:extLst>
              </p:cNvPr>
              <p:cNvSpPr/>
              <p:nvPr/>
            </p:nvSpPr>
            <p:spPr>
              <a:xfrm>
                <a:off x="6220384" y="3467315"/>
                <a:ext cx="2316627"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追加開発</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2" name="矢印: 五方向 161">
                <a:extLst>
                  <a:ext uri="{FF2B5EF4-FFF2-40B4-BE49-F238E27FC236}">
                    <a16:creationId xmlns:a16="http://schemas.microsoft.com/office/drawing/2014/main" id="{9E2F5BC6-561E-8E33-90AF-472F2AFDFA95}"/>
                  </a:ext>
                </a:extLst>
              </p:cNvPr>
              <p:cNvSpPr/>
              <p:nvPr/>
            </p:nvSpPr>
            <p:spPr>
              <a:xfrm>
                <a:off x="2062820" y="3460559"/>
                <a:ext cx="1119240"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n8nMCP</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モジュール開発</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3" name="矢印: 五方向 162">
                <a:extLst>
                  <a:ext uri="{FF2B5EF4-FFF2-40B4-BE49-F238E27FC236}">
                    <a16:creationId xmlns:a16="http://schemas.microsoft.com/office/drawing/2014/main" id="{00924FC7-51E2-99C7-9635-D1E97CBCFF04}"/>
                  </a:ext>
                </a:extLst>
              </p:cNvPr>
              <p:cNvSpPr/>
              <p:nvPr/>
            </p:nvSpPr>
            <p:spPr>
              <a:xfrm>
                <a:off x="3182059" y="3458249"/>
                <a:ext cx="941316" cy="221395"/>
              </a:xfrm>
              <a:prstGeom prst="homePlate">
                <a:avLst>
                  <a:gd name="adj" fmla="val 14457"/>
                </a:avLst>
              </a:prstGeom>
              <a:solidFill>
                <a:schemeClr val="bg1">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データ基盤設計</a:t>
                </a:r>
                <a:endParaRPr lang="en-US" altLang="ja-JP" sz="800" dirty="0">
                  <a:solidFill>
                    <a:srgbClr val="FFFFFF"/>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4" name="矢印: 五方向 163">
                <a:extLst>
                  <a:ext uri="{FF2B5EF4-FFF2-40B4-BE49-F238E27FC236}">
                    <a16:creationId xmlns:a16="http://schemas.microsoft.com/office/drawing/2014/main" id="{55DB8165-5E72-997E-E594-F86B0EF83293}"/>
                  </a:ext>
                </a:extLst>
              </p:cNvPr>
              <p:cNvSpPr/>
              <p:nvPr/>
            </p:nvSpPr>
            <p:spPr>
              <a:xfrm>
                <a:off x="4123608" y="3458249"/>
                <a:ext cx="1396421"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n8n</a:t>
                </a: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データ基盤構築</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sp>
            <p:nvSpPr>
              <p:cNvPr id="165" name="矢印: 五方向 164">
                <a:extLst>
                  <a:ext uri="{FF2B5EF4-FFF2-40B4-BE49-F238E27FC236}">
                    <a16:creationId xmlns:a16="http://schemas.microsoft.com/office/drawing/2014/main" id="{DA91D3DD-6021-B770-CF07-537B17B4CAB8}"/>
                  </a:ext>
                </a:extLst>
              </p:cNvPr>
              <p:cNvSpPr/>
              <p:nvPr/>
            </p:nvSpPr>
            <p:spPr>
              <a:xfrm>
                <a:off x="5522174" y="3456185"/>
                <a:ext cx="698210" cy="221395"/>
              </a:xfrm>
              <a:prstGeom prst="homePlate">
                <a:avLst>
                  <a:gd name="adj" fmla="val 14457"/>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rPr>
                  <a:t>デモ準備</a:t>
                </a:r>
                <a:endParaRPr lang="en-US" altLang="ja-JP" sz="800" dirty="0">
                  <a:solidFill>
                    <a:srgbClr val="000000">
                      <a:lumMod val="65000"/>
                      <a:lumOff val="35000"/>
                    </a:srgbClr>
                  </a:solidFill>
                  <a:effectLst>
                    <a:glow>
                      <a:srgbClr val="00CC99">
                        <a:alpha val="40000"/>
                      </a:srgbClr>
                    </a:glow>
                  </a:effectLst>
                  <a:latin typeface="Meiryo UI" panose="020B0604030504040204" pitchFamily="50" charset="-128"/>
                  <a:ea typeface="Meiryo UI" panose="020B0604030504040204" pitchFamily="50" charset="-128"/>
                </a:endParaRPr>
              </a:p>
            </p:txBody>
          </p:sp>
        </p:grpSp>
        <p:sp>
          <p:nvSpPr>
            <p:cNvPr id="61" name="正方形/長方形 60">
              <a:extLst>
                <a:ext uri="{FF2B5EF4-FFF2-40B4-BE49-F238E27FC236}">
                  <a16:creationId xmlns:a16="http://schemas.microsoft.com/office/drawing/2014/main" id="{EE0C0B94-8DE9-E251-EBFD-F9952F08A3DE}"/>
                </a:ext>
              </a:extLst>
            </p:cNvPr>
            <p:cNvSpPr/>
            <p:nvPr/>
          </p:nvSpPr>
          <p:spPr>
            <a:xfrm>
              <a:off x="7460472" y="1694566"/>
              <a:ext cx="606576" cy="1977394"/>
            </a:xfrm>
            <a:prstGeom prst="rect">
              <a:avLst/>
            </a:prstGeom>
            <a:solidFill>
              <a:schemeClr val="bg1">
                <a:lumMod val="85000"/>
                <a:alpha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GW</a:t>
              </a:r>
            </a:p>
          </p:txBody>
        </p:sp>
        <p:cxnSp>
          <p:nvCxnSpPr>
            <p:cNvPr id="219" name="直線コネクタ 218">
              <a:extLst>
                <a:ext uri="{FF2B5EF4-FFF2-40B4-BE49-F238E27FC236}">
                  <a16:creationId xmlns:a16="http://schemas.microsoft.com/office/drawing/2014/main" id="{58B55129-3C22-A503-DA3F-7ABDA826B6FE}"/>
                </a:ext>
              </a:extLst>
            </p:cNvPr>
            <p:cNvCxnSpPr>
              <a:cxnSpLocks/>
            </p:cNvCxnSpPr>
            <p:nvPr/>
          </p:nvCxnSpPr>
          <p:spPr>
            <a:xfrm>
              <a:off x="5297737" y="1735390"/>
              <a:ext cx="0" cy="1936569"/>
            </a:xfrm>
            <a:prstGeom prst="line">
              <a:avLst/>
            </a:prstGeom>
            <a:ln w="19050">
              <a:solidFill>
                <a:srgbClr val="C0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22" name="コネクタ: カギ線 121">
              <a:extLst>
                <a:ext uri="{FF2B5EF4-FFF2-40B4-BE49-F238E27FC236}">
                  <a16:creationId xmlns:a16="http://schemas.microsoft.com/office/drawing/2014/main" id="{1002B038-F440-2C40-65F2-E872213CDA48}"/>
                </a:ext>
              </a:extLst>
            </p:cNvPr>
            <p:cNvCxnSpPr>
              <a:cxnSpLocks/>
              <a:stCxn id="116" idx="3"/>
              <a:endCxn id="118" idx="2"/>
            </p:cNvCxnSpPr>
            <p:nvPr/>
          </p:nvCxnSpPr>
          <p:spPr>
            <a:xfrm flipV="1">
              <a:off x="5600324" y="2019435"/>
              <a:ext cx="191775" cy="1025024"/>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1" name="コネクタ: カギ線 130">
              <a:extLst>
                <a:ext uri="{FF2B5EF4-FFF2-40B4-BE49-F238E27FC236}">
                  <a16:creationId xmlns:a16="http://schemas.microsoft.com/office/drawing/2014/main" id="{182B160C-A98B-98CA-8FBF-3ED54A7AE71C}"/>
                </a:ext>
              </a:extLst>
            </p:cNvPr>
            <p:cNvCxnSpPr>
              <a:cxnSpLocks/>
              <a:stCxn id="127" idx="3"/>
              <a:endCxn id="130" idx="2"/>
            </p:cNvCxnSpPr>
            <p:nvPr/>
          </p:nvCxnSpPr>
          <p:spPr>
            <a:xfrm flipV="1">
              <a:off x="6894908" y="2019435"/>
              <a:ext cx="327791" cy="766462"/>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コネクタ: カギ線 136">
              <a:extLst>
                <a:ext uri="{FF2B5EF4-FFF2-40B4-BE49-F238E27FC236}">
                  <a16:creationId xmlns:a16="http://schemas.microsoft.com/office/drawing/2014/main" id="{A2505F53-94AF-EC1A-EF20-AAD3BF5FE9C1}"/>
                </a:ext>
              </a:extLst>
            </p:cNvPr>
            <p:cNvCxnSpPr>
              <a:cxnSpLocks/>
              <a:stCxn id="86" idx="3"/>
              <a:endCxn id="136" idx="2"/>
            </p:cNvCxnSpPr>
            <p:nvPr/>
          </p:nvCxnSpPr>
          <p:spPr>
            <a:xfrm flipV="1">
              <a:off x="8899027" y="2024766"/>
              <a:ext cx="48141" cy="251972"/>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9" name="コネクタ: カギ線 148">
              <a:extLst>
                <a:ext uri="{FF2B5EF4-FFF2-40B4-BE49-F238E27FC236}">
                  <a16:creationId xmlns:a16="http://schemas.microsoft.com/office/drawing/2014/main" id="{27882B88-ED85-4341-9290-39464B229AEB}"/>
                </a:ext>
              </a:extLst>
            </p:cNvPr>
            <p:cNvCxnSpPr>
              <a:cxnSpLocks/>
              <a:stCxn id="147" idx="3"/>
              <a:endCxn id="148" idx="2"/>
            </p:cNvCxnSpPr>
            <p:nvPr/>
          </p:nvCxnSpPr>
          <p:spPr>
            <a:xfrm flipV="1">
              <a:off x="10033772" y="2037198"/>
              <a:ext cx="292625" cy="1271431"/>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コネクタ: カギ線 165">
              <a:extLst>
                <a:ext uri="{FF2B5EF4-FFF2-40B4-BE49-F238E27FC236}">
                  <a16:creationId xmlns:a16="http://schemas.microsoft.com/office/drawing/2014/main" id="{CFD6B041-CE88-5B69-BBE1-CBA6055D9EB6}"/>
                </a:ext>
              </a:extLst>
            </p:cNvPr>
            <p:cNvCxnSpPr>
              <a:cxnSpLocks/>
              <a:stCxn id="165" idx="3"/>
              <a:endCxn id="76" idx="2"/>
            </p:cNvCxnSpPr>
            <p:nvPr/>
          </p:nvCxnSpPr>
          <p:spPr>
            <a:xfrm flipV="1">
              <a:off x="6220384" y="2019435"/>
              <a:ext cx="59460" cy="1537923"/>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1" name="コネクタ: カギ線 160">
              <a:extLst>
                <a:ext uri="{FF2B5EF4-FFF2-40B4-BE49-F238E27FC236}">
                  <a16:creationId xmlns:a16="http://schemas.microsoft.com/office/drawing/2014/main" id="{2ADD5622-9347-B833-ECD4-6EE96A53608A}"/>
                </a:ext>
              </a:extLst>
            </p:cNvPr>
            <p:cNvCxnSpPr>
              <a:cxnSpLocks/>
              <a:stCxn id="94" idx="3"/>
              <a:endCxn id="76" idx="2"/>
            </p:cNvCxnSpPr>
            <p:nvPr/>
          </p:nvCxnSpPr>
          <p:spPr>
            <a:xfrm flipV="1">
              <a:off x="6220384" y="2019435"/>
              <a:ext cx="59460" cy="522459"/>
            </a:xfrm>
            <a:prstGeom prst="bentConnector2">
              <a:avLst/>
            </a:prstGeom>
            <a:ln>
              <a:solidFill>
                <a:schemeClr val="bg1">
                  <a:lumMod val="50000"/>
                  <a:alpha val="60000"/>
                </a:schemeClr>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E4708386-46F2-6780-3F9A-37769E260971}"/>
                </a:ext>
              </a:extLst>
            </p:cNvPr>
            <p:cNvGrpSpPr/>
            <p:nvPr/>
          </p:nvGrpSpPr>
          <p:grpSpPr>
            <a:xfrm>
              <a:off x="203200" y="3756951"/>
              <a:ext cx="11757686" cy="2115138"/>
              <a:chOff x="203200" y="3994019"/>
              <a:chExt cx="11757686" cy="2115138"/>
            </a:xfrm>
          </p:grpSpPr>
          <p:sp>
            <p:nvSpPr>
              <p:cNvPr id="225" name="正方形/長方形 224">
                <a:extLst>
                  <a:ext uri="{FF2B5EF4-FFF2-40B4-BE49-F238E27FC236}">
                    <a16:creationId xmlns:a16="http://schemas.microsoft.com/office/drawing/2014/main" id="{2B5D0D3A-369B-A89F-68F5-6BB5D74150C8}"/>
                  </a:ext>
                </a:extLst>
              </p:cNvPr>
              <p:cNvSpPr/>
              <p:nvPr/>
            </p:nvSpPr>
            <p:spPr>
              <a:xfrm>
                <a:off x="2016907" y="4078021"/>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から</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Concur</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および活文（</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Oracle</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基盤）と連携させ、請求書および請求に纏わる文書（納品書など）を登録できるよう実装完了。</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細かいエラーハンドリングの実装および結合テストを実施している。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231" name="カギ線コネクタ 64">
                <a:extLst>
                  <a:ext uri="{FF2B5EF4-FFF2-40B4-BE49-F238E27FC236}">
                    <a16:creationId xmlns:a16="http://schemas.microsoft.com/office/drawing/2014/main" id="{8EC54937-3095-2761-8879-7C60BB4E0BB5}"/>
                  </a:ext>
                </a:extLst>
              </p:cNvPr>
              <p:cNvCxnSpPr>
                <a:cxnSpLocks/>
              </p:cNvCxnSpPr>
              <p:nvPr/>
            </p:nvCxnSpPr>
            <p:spPr bwMode="auto">
              <a:xfrm flipH="1">
                <a:off x="210463" y="4469354"/>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35" name="正方形/長方形 234">
                <a:extLst>
                  <a:ext uri="{FF2B5EF4-FFF2-40B4-BE49-F238E27FC236}">
                    <a16:creationId xmlns:a16="http://schemas.microsoft.com/office/drawing/2014/main" id="{FD1502ED-B609-0230-C63A-86201A52F7F0}"/>
                  </a:ext>
                </a:extLst>
              </p:cNvPr>
              <p:cNvSpPr/>
              <p:nvPr/>
            </p:nvSpPr>
            <p:spPr>
              <a:xfrm>
                <a:off x="763031" y="4081539"/>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BPS</a:t>
                </a:r>
              </a:p>
            </p:txBody>
          </p:sp>
          <p:sp>
            <p:nvSpPr>
              <p:cNvPr id="8" name="正方形/長方形 7">
                <a:extLst>
                  <a:ext uri="{FF2B5EF4-FFF2-40B4-BE49-F238E27FC236}">
                    <a16:creationId xmlns:a16="http://schemas.microsoft.com/office/drawing/2014/main" id="{533DF21C-002E-C6AB-144D-A59A391BB295}"/>
                  </a:ext>
                </a:extLst>
              </p:cNvPr>
              <p:cNvSpPr/>
              <p:nvPr/>
            </p:nvSpPr>
            <p:spPr>
              <a:xfrm>
                <a:off x="2016907" y="4499082"/>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が読み取れる業務フロー図を用いて、チェック業務の汎用的な</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構築方法を確立。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引き続き</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のテストを継続して精度の向上を図る。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9" name="カギ線コネクタ 64">
                <a:extLst>
                  <a:ext uri="{FF2B5EF4-FFF2-40B4-BE49-F238E27FC236}">
                    <a16:creationId xmlns:a16="http://schemas.microsoft.com/office/drawing/2014/main" id="{D2EA977F-88F5-F137-8F30-8675AFB2BDC7}"/>
                  </a:ext>
                </a:extLst>
              </p:cNvPr>
              <p:cNvCxnSpPr>
                <a:cxnSpLocks/>
              </p:cNvCxnSpPr>
              <p:nvPr/>
            </p:nvCxnSpPr>
            <p:spPr bwMode="auto">
              <a:xfrm flipH="1">
                <a:off x="210463" y="4890415"/>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10" name="正方形/長方形 9">
                <a:extLst>
                  <a:ext uri="{FF2B5EF4-FFF2-40B4-BE49-F238E27FC236}">
                    <a16:creationId xmlns:a16="http://schemas.microsoft.com/office/drawing/2014/main" id="{6DFC6F34-5958-9239-B370-46752F4D64AC}"/>
                  </a:ext>
                </a:extLst>
              </p:cNvPr>
              <p:cNvSpPr/>
              <p:nvPr/>
            </p:nvSpPr>
            <p:spPr>
              <a:xfrm>
                <a:off x="763031" y="4502600"/>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経理</a:t>
                </a:r>
                <a:r>
                  <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OS</a:t>
                </a:r>
              </a:p>
            </p:txBody>
          </p:sp>
          <p:sp>
            <p:nvSpPr>
              <p:cNvPr id="14" name="正方形/長方形 13">
                <a:extLst>
                  <a:ext uri="{FF2B5EF4-FFF2-40B4-BE49-F238E27FC236}">
                    <a16:creationId xmlns:a16="http://schemas.microsoft.com/office/drawing/2014/main" id="{90F54A3C-0424-5A60-B029-E2CCF535BD84}"/>
                  </a:ext>
                </a:extLst>
              </p:cNvPr>
              <p:cNvSpPr/>
              <p:nvPr/>
            </p:nvSpPr>
            <p:spPr>
              <a:xfrm>
                <a:off x="2016907" y="4920143"/>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標準プロセスレビューの内容を自動で抽出し、（任意のプロンプトによる）評価を</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FB</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する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を開発でき、現在</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RAG</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を追加実装中。</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銀行からメールを受信後、特定のファイル加工処理を実行する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を開発できたため、本格的に（銀行よりメールを受信して）テストを実施する予定。</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19" name="カギ線コネクタ 64">
                <a:extLst>
                  <a:ext uri="{FF2B5EF4-FFF2-40B4-BE49-F238E27FC236}">
                    <a16:creationId xmlns:a16="http://schemas.microsoft.com/office/drawing/2014/main" id="{0029ACE1-D8DF-FEE2-6535-69D150AECEA6}"/>
                  </a:ext>
                </a:extLst>
              </p:cNvPr>
              <p:cNvCxnSpPr>
                <a:cxnSpLocks/>
              </p:cNvCxnSpPr>
              <p:nvPr/>
            </p:nvCxnSpPr>
            <p:spPr bwMode="auto">
              <a:xfrm flipH="1">
                <a:off x="210463" y="5311476"/>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0" name="正方形/長方形 19">
                <a:extLst>
                  <a:ext uri="{FF2B5EF4-FFF2-40B4-BE49-F238E27FC236}">
                    <a16:creationId xmlns:a16="http://schemas.microsoft.com/office/drawing/2014/main" id="{1B0F7403-D611-5114-9BEB-20EA2C8F6CAF}"/>
                  </a:ext>
                </a:extLst>
              </p:cNvPr>
              <p:cNvSpPr/>
              <p:nvPr/>
            </p:nvSpPr>
            <p:spPr>
              <a:xfrm>
                <a:off x="763031" y="4923661"/>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財務</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22" name="正方形/長方形 21">
                <a:extLst>
                  <a:ext uri="{FF2B5EF4-FFF2-40B4-BE49-F238E27FC236}">
                    <a16:creationId xmlns:a16="http://schemas.microsoft.com/office/drawing/2014/main" id="{6E8FD227-E446-CBA3-BC40-EADA8E54FFBE}"/>
                  </a:ext>
                </a:extLst>
              </p:cNvPr>
              <p:cNvSpPr/>
              <p:nvPr/>
            </p:nvSpPr>
            <p:spPr>
              <a:xfrm>
                <a:off x="2016907" y="5341204"/>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err="1">
                    <a:solidFill>
                      <a:srgbClr val="000000">
                        <a:lumMod val="65000"/>
                        <a:lumOff val="35000"/>
                      </a:srgbClr>
                    </a:solidFill>
                    <a:latin typeface="Meiryo UI" panose="020B0604030504040204" pitchFamily="50" charset="-128"/>
                    <a:ea typeface="Meiryo UI" panose="020B0604030504040204" pitchFamily="50" charset="-128"/>
                  </a:rPr>
                  <a:t>Megagon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の名寄せ後に、残ってしまった（名寄せできなかった）法人のレコード情報を再度</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上からデータを抽出して比較する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を開発中。</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国が運営するサイトの</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API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を用いて上手く情報が取得できたため、現在は難易度の高い個人事業主の情報をどこのサイトから抽出するか検討している。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cxnSp>
            <p:nvCxnSpPr>
              <p:cNvPr id="24" name="カギ線コネクタ 64">
                <a:extLst>
                  <a:ext uri="{FF2B5EF4-FFF2-40B4-BE49-F238E27FC236}">
                    <a16:creationId xmlns:a16="http://schemas.microsoft.com/office/drawing/2014/main" id="{A81C0DCC-4F57-AC9A-54BE-AE3988FED2C3}"/>
                  </a:ext>
                </a:extLst>
              </p:cNvPr>
              <p:cNvCxnSpPr>
                <a:cxnSpLocks/>
              </p:cNvCxnSpPr>
              <p:nvPr/>
            </p:nvCxnSpPr>
            <p:spPr bwMode="auto">
              <a:xfrm flipH="1">
                <a:off x="210463" y="5732537"/>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5" name="正方形/長方形 24">
                <a:extLst>
                  <a:ext uri="{FF2B5EF4-FFF2-40B4-BE49-F238E27FC236}">
                    <a16:creationId xmlns:a16="http://schemas.microsoft.com/office/drawing/2014/main" id="{8072A388-9739-CC71-0D7D-645F40E5B078}"/>
                  </a:ext>
                </a:extLst>
              </p:cNvPr>
              <p:cNvSpPr/>
              <p:nvPr/>
            </p:nvSpPr>
            <p:spPr>
              <a:xfrm>
                <a:off x="763031" y="5344722"/>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顧客管理</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28" name="正方形/長方形 27">
                <a:extLst>
                  <a:ext uri="{FF2B5EF4-FFF2-40B4-BE49-F238E27FC236}">
                    <a16:creationId xmlns:a16="http://schemas.microsoft.com/office/drawing/2014/main" id="{C10389C3-BA19-C35B-650F-E296EC2503DE}"/>
                  </a:ext>
                </a:extLst>
              </p:cNvPr>
              <p:cNvSpPr/>
              <p:nvPr/>
            </p:nvSpPr>
            <p:spPr>
              <a:xfrm>
                <a:off x="2016907" y="5762265"/>
                <a:ext cx="9943979" cy="34408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Azure</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上の</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MCP</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による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クローリング機能の開発や</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Oracle</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サーバー上に構築している活文との連携など、</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における難易度の高い開発は</a:t>
                </a:r>
                <a:r>
                  <a:rPr lang="en-US" altLang="ja-JP" sz="1100" dirty="0" err="1">
                    <a:solidFill>
                      <a:srgbClr val="000000">
                        <a:lumMod val="65000"/>
                        <a:lumOff val="35000"/>
                      </a:srgbClr>
                    </a:solidFill>
                    <a:latin typeface="Meiryo UI" panose="020B0604030504040204" pitchFamily="50" charset="-128"/>
                    <a:ea typeface="Meiryo UI" panose="020B0604030504040204" pitchFamily="50" charset="-128"/>
                  </a:rPr>
                  <a:t>LinkX</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社の支援のもと実装できた。</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現在は</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エージェントの</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DWH</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機能（</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BI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まで）の設計を完了し、</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Fabric</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と呼ばれる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MS</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のレイクハウス機能の構築を実施している。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27F7F02B-5FE3-8CF3-15E9-DAEF8B9B7571}"/>
                  </a:ext>
                </a:extLst>
              </p:cNvPr>
              <p:cNvSpPr/>
              <p:nvPr/>
            </p:nvSpPr>
            <p:spPr>
              <a:xfrm>
                <a:off x="763031" y="5765783"/>
                <a:ext cx="1231357" cy="343374"/>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開発全般</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cxnSp>
            <p:nvCxnSpPr>
              <p:cNvPr id="33" name="カギ線コネクタ 64">
                <a:extLst>
                  <a:ext uri="{FF2B5EF4-FFF2-40B4-BE49-F238E27FC236}">
                    <a16:creationId xmlns:a16="http://schemas.microsoft.com/office/drawing/2014/main" id="{CDFF9CA0-4CCB-723E-37B7-28FFA070EFC8}"/>
                  </a:ext>
                </a:extLst>
              </p:cNvPr>
              <p:cNvCxnSpPr>
                <a:cxnSpLocks/>
              </p:cNvCxnSpPr>
              <p:nvPr/>
            </p:nvCxnSpPr>
            <p:spPr bwMode="auto">
              <a:xfrm flipH="1">
                <a:off x="210463" y="3994019"/>
                <a:ext cx="11746860" cy="0"/>
              </a:xfrm>
              <a:prstGeom prst="straightConnector1">
                <a:avLst/>
              </a:prstGeom>
              <a:noFill/>
              <a:ln w="6350" cap="flat" cmpd="sng" algn="ctr">
                <a:solidFill>
                  <a:schemeClr val="bg1">
                    <a:lumMod val="65000"/>
                  </a:schemeClr>
                </a:solidFill>
                <a:prstDash val="dash"/>
                <a:round/>
                <a:headEnd type="none" w="med" len="med"/>
                <a:tailEnd type="none" w="med" len="med"/>
              </a:ln>
              <a:effectLst/>
            </p:spPr>
          </p:cxnSp>
          <p:sp>
            <p:nvSpPr>
              <p:cNvPr id="236" name="正方形/長方形 235">
                <a:extLst>
                  <a:ext uri="{FF2B5EF4-FFF2-40B4-BE49-F238E27FC236}">
                    <a16:creationId xmlns:a16="http://schemas.microsoft.com/office/drawing/2014/main" id="{9C197911-D027-477F-E5BC-E810F2F4E3F7}"/>
                  </a:ext>
                </a:extLst>
              </p:cNvPr>
              <p:cNvSpPr/>
              <p:nvPr/>
            </p:nvSpPr>
            <p:spPr>
              <a:xfrm>
                <a:off x="203200" y="4081539"/>
                <a:ext cx="537312" cy="202369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概況</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sp>
        <p:nvSpPr>
          <p:cNvPr id="47" name="コンテンツ プレースホルダー 5">
            <a:extLst>
              <a:ext uri="{FF2B5EF4-FFF2-40B4-BE49-F238E27FC236}">
                <a16:creationId xmlns:a16="http://schemas.microsoft.com/office/drawing/2014/main" id="{93B6FADF-29E7-9611-806D-C348FB135C70}"/>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現在（</a:t>
            </a:r>
            <a:r>
              <a:rPr lang="en-US" altLang="ja-JP" sz="1600" kern="0" dirty="0"/>
              <a:t>2026/3/9</a:t>
            </a:r>
            <a:r>
              <a:rPr lang="ja-JP" altLang="en-US" sz="1600" kern="0" dirty="0"/>
              <a:t>時点）の各領域の開発状況としては以下の通り。</a:t>
            </a:r>
            <a:endParaRPr lang="en-US" altLang="ja-JP" sz="1600" kern="0" dirty="0"/>
          </a:p>
        </p:txBody>
      </p:sp>
    </p:spTree>
    <p:extLst>
      <p:ext uri="{BB962C8B-B14F-4D97-AF65-F5344CB8AC3E}">
        <p14:creationId xmlns:p14="http://schemas.microsoft.com/office/powerpoint/2010/main" val="3700659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D32E1-3652-7B02-80EF-BF4ECEB370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45A79B-DE93-CB76-AC8D-2FB0C7421E51}"/>
              </a:ext>
            </a:extLst>
          </p:cNvPr>
          <p:cNvSpPr>
            <a:spLocks noGrp="1"/>
          </p:cNvSpPr>
          <p:nvPr>
            <p:ph type="title"/>
          </p:nvPr>
        </p:nvSpPr>
        <p:spPr>
          <a:xfrm>
            <a:off x="203200" y="152403"/>
            <a:ext cx="9204569" cy="379413"/>
          </a:xfrm>
        </p:spPr>
        <p:txBody>
          <a:bodyPr anchor="ctr"/>
          <a:lstStyle/>
          <a:p>
            <a:r>
              <a:rPr kumimoji="1" lang="ja-JP" altLang="en-US" dirty="0">
                <a:latin typeface="Meiryo UI" panose="020B0604030504040204" pitchFamily="50" charset="-128"/>
                <a:ea typeface="Meiryo UI" panose="020B0604030504040204" pitchFamily="50" charset="-128"/>
              </a:rPr>
              <a:t>オペレーティングモデル </a:t>
            </a:r>
            <a:r>
              <a:rPr kumimoji="1" lang="en-US" altLang="ja-JP" dirty="0">
                <a:latin typeface="Meiryo UI" panose="020B0604030504040204" pitchFamily="50" charset="-128"/>
                <a:ea typeface="Meiryo UI" panose="020B0604030504040204" pitchFamily="50" charset="-128"/>
              </a:rPr>
              <a:t>L1</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4C7CDE05-9817-5A0D-0D14-0568598DE7E7}"/>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FBDECC41-970A-CFB3-B8A8-0310390AAB9C}"/>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AI</a:t>
            </a:r>
            <a:r>
              <a:rPr lang="ja-JP" altLang="en-US" sz="1600" kern="0" dirty="0"/>
              <a:t>エージェント基盤を運用するための</a:t>
            </a:r>
            <a:r>
              <a:rPr lang="en-US" altLang="ja-JP" sz="1600" kern="0" dirty="0"/>
              <a:t>L1</a:t>
            </a:r>
            <a:r>
              <a:rPr lang="ja-JP" altLang="en-US" sz="1600" kern="0" dirty="0"/>
              <a:t>のプロセスは以下の通り。</a:t>
            </a:r>
            <a:endParaRPr lang="en-US" altLang="ja-JP" sz="1600" kern="0" dirty="0"/>
          </a:p>
        </p:txBody>
      </p:sp>
      <p:grpSp>
        <p:nvGrpSpPr>
          <p:cNvPr id="412" name="グループ化 411">
            <a:extLst>
              <a:ext uri="{FF2B5EF4-FFF2-40B4-BE49-F238E27FC236}">
                <a16:creationId xmlns:a16="http://schemas.microsoft.com/office/drawing/2014/main" id="{1786ADA4-815C-C0D3-0A3A-1C9D1789C297}"/>
              </a:ext>
            </a:extLst>
          </p:cNvPr>
          <p:cNvGrpSpPr/>
          <p:nvPr/>
        </p:nvGrpSpPr>
        <p:grpSpPr>
          <a:xfrm>
            <a:off x="313128" y="977153"/>
            <a:ext cx="11565744" cy="5643597"/>
            <a:chOff x="313128" y="977153"/>
            <a:chExt cx="11565744" cy="5643597"/>
          </a:xfrm>
        </p:grpSpPr>
        <p:sp>
          <p:nvSpPr>
            <p:cNvPr id="233" name="正方形/長方形 232">
              <a:extLst>
                <a:ext uri="{FF2B5EF4-FFF2-40B4-BE49-F238E27FC236}">
                  <a16:creationId xmlns:a16="http://schemas.microsoft.com/office/drawing/2014/main" id="{504B7C26-7F64-CEB8-D6A9-3A659F2E10C1}"/>
                </a:ext>
              </a:extLst>
            </p:cNvPr>
            <p:cNvSpPr/>
            <p:nvPr/>
          </p:nvSpPr>
          <p:spPr>
            <a:xfrm>
              <a:off x="1130705" y="5268121"/>
              <a:ext cx="10748167" cy="801362"/>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163" name="正方形/長方形 162">
              <a:extLst>
                <a:ext uri="{FF2B5EF4-FFF2-40B4-BE49-F238E27FC236}">
                  <a16:creationId xmlns:a16="http://schemas.microsoft.com/office/drawing/2014/main" id="{BA581682-B6A8-9568-8811-7BD80B96B3BE}"/>
                </a:ext>
              </a:extLst>
            </p:cNvPr>
            <p:cNvSpPr/>
            <p:nvPr/>
          </p:nvSpPr>
          <p:spPr>
            <a:xfrm>
              <a:off x="8638872" y="1205329"/>
              <a:ext cx="3240000" cy="3797218"/>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165" name="正方形/長方形 164">
              <a:extLst>
                <a:ext uri="{FF2B5EF4-FFF2-40B4-BE49-F238E27FC236}">
                  <a16:creationId xmlns:a16="http://schemas.microsoft.com/office/drawing/2014/main" id="{74A84B79-8669-9E16-B4F6-99DFDED80BEC}"/>
                </a:ext>
              </a:extLst>
            </p:cNvPr>
            <p:cNvSpPr/>
            <p:nvPr/>
          </p:nvSpPr>
          <p:spPr>
            <a:xfrm>
              <a:off x="4886372" y="1205329"/>
              <a:ext cx="3240000" cy="3797218"/>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166" name="正方形/長方形 165">
              <a:extLst>
                <a:ext uri="{FF2B5EF4-FFF2-40B4-BE49-F238E27FC236}">
                  <a16:creationId xmlns:a16="http://schemas.microsoft.com/office/drawing/2014/main" id="{DC9E2F48-FAC1-9A7F-3A47-66EB684BC6B8}"/>
                </a:ext>
              </a:extLst>
            </p:cNvPr>
            <p:cNvSpPr/>
            <p:nvPr/>
          </p:nvSpPr>
          <p:spPr>
            <a:xfrm>
              <a:off x="313128" y="1205329"/>
              <a:ext cx="361110" cy="4864154"/>
            </a:xfrm>
            <a:prstGeom prst="rect">
              <a:avLst/>
            </a:prstGeom>
            <a:solidFill>
              <a:srgbClr val="E7E6E6"/>
            </a:solidFill>
            <a:ln w="19050" cap="flat" cmpd="sng" algn="ctr">
              <a:solidFill>
                <a:srgbClr val="E7E6E6">
                  <a:lumMod val="50000"/>
                </a:srgbClr>
              </a:solid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ユーザ</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170" name="コネクタ: カギ線 189">
              <a:extLst>
                <a:ext uri="{FF2B5EF4-FFF2-40B4-BE49-F238E27FC236}">
                  <a16:creationId xmlns:a16="http://schemas.microsoft.com/office/drawing/2014/main" id="{9175DE89-090E-DE00-A6AF-D46D395FB6A8}"/>
                </a:ext>
              </a:extLst>
            </p:cNvPr>
            <p:cNvCxnSpPr>
              <a:cxnSpLocks/>
              <a:stCxn id="196" idx="3"/>
              <a:endCxn id="194" idx="1"/>
            </p:cNvCxnSpPr>
            <p:nvPr/>
          </p:nvCxnSpPr>
          <p:spPr>
            <a:xfrm flipV="1">
              <a:off x="7080935" y="2967543"/>
              <a:ext cx="722087" cy="23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171" name="コネクタ: カギ線 189">
              <a:extLst>
                <a:ext uri="{FF2B5EF4-FFF2-40B4-BE49-F238E27FC236}">
                  <a16:creationId xmlns:a16="http://schemas.microsoft.com/office/drawing/2014/main" id="{D7B6C269-E112-73C0-7EF6-270499F4FAF9}"/>
                </a:ext>
              </a:extLst>
            </p:cNvPr>
            <p:cNvCxnSpPr>
              <a:cxnSpLocks/>
              <a:stCxn id="188" idx="0"/>
              <a:endCxn id="209" idx="0"/>
            </p:cNvCxnSpPr>
            <p:nvPr/>
          </p:nvCxnSpPr>
          <p:spPr>
            <a:xfrm rot="16200000" flipH="1">
              <a:off x="6166394" y="-187806"/>
              <a:ext cx="2544899" cy="5640055"/>
            </a:xfrm>
            <a:prstGeom prst="bentConnector3">
              <a:avLst>
                <a:gd name="adj1" fmla="val -3660"/>
              </a:avLst>
            </a:prstGeom>
            <a:noFill/>
            <a:ln w="6350" cap="flat" cmpd="sng" algn="ctr">
              <a:solidFill>
                <a:srgbClr val="E7E6E6">
                  <a:lumMod val="50000"/>
                </a:srgbClr>
              </a:solidFill>
              <a:prstDash val="solid"/>
              <a:miter lim="800000"/>
              <a:tailEnd type="triangle"/>
            </a:ln>
            <a:effectLst/>
          </p:spPr>
        </p:cxnSp>
        <p:cxnSp>
          <p:nvCxnSpPr>
            <p:cNvPr id="172" name="コネクタ: カギ線 189">
              <a:extLst>
                <a:ext uri="{FF2B5EF4-FFF2-40B4-BE49-F238E27FC236}">
                  <a16:creationId xmlns:a16="http://schemas.microsoft.com/office/drawing/2014/main" id="{A6ECD9C4-7C4F-B891-793F-0719302FB817}"/>
                </a:ext>
              </a:extLst>
            </p:cNvPr>
            <p:cNvCxnSpPr>
              <a:cxnSpLocks/>
              <a:stCxn id="189" idx="0"/>
              <a:endCxn id="188" idx="2"/>
            </p:cNvCxnSpPr>
            <p:nvPr/>
          </p:nvCxnSpPr>
          <p:spPr>
            <a:xfrm rot="16200000" flipV="1">
              <a:off x="6265774" y="83616"/>
              <a:ext cx="469893" cy="3763805"/>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173" name="コネクタ: カギ線 189">
              <a:extLst>
                <a:ext uri="{FF2B5EF4-FFF2-40B4-BE49-F238E27FC236}">
                  <a16:creationId xmlns:a16="http://schemas.microsoft.com/office/drawing/2014/main" id="{AA4B8037-22DB-8972-F3F1-232E70CF6044}"/>
                </a:ext>
              </a:extLst>
            </p:cNvPr>
            <p:cNvCxnSpPr>
              <a:cxnSpLocks/>
              <a:stCxn id="184" idx="3"/>
              <a:endCxn id="189" idx="1"/>
            </p:cNvCxnSpPr>
            <p:nvPr/>
          </p:nvCxnSpPr>
          <p:spPr>
            <a:xfrm>
              <a:off x="6118006" y="2385865"/>
              <a:ext cx="1685016" cy="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174" name="コネクタ: カギ線 189">
              <a:extLst>
                <a:ext uri="{FF2B5EF4-FFF2-40B4-BE49-F238E27FC236}">
                  <a16:creationId xmlns:a16="http://schemas.microsoft.com/office/drawing/2014/main" id="{04D09CE7-EA0C-CE9E-1CC4-B53A3198F744}"/>
                </a:ext>
              </a:extLst>
            </p:cNvPr>
            <p:cNvCxnSpPr>
              <a:cxnSpLocks/>
              <a:stCxn id="184" idx="2"/>
              <a:endCxn id="182" idx="0"/>
            </p:cNvCxnSpPr>
            <p:nvPr/>
          </p:nvCxnSpPr>
          <p:spPr>
            <a:xfrm rot="5400000">
              <a:off x="4828020" y="2362063"/>
              <a:ext cx="501184" cy="919589"/>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175" name="コネクタ: カギ線 189">
              <a:extLst>
                <a:ext uri="{FF2B5EF4-FFF2-40B4-BE49-F238E27FC236}">
                  <a16:creationId xmlns:a16="http://schemas.microsoft.com/office/drawing/2014/main" id="{632EE87F-05BA-311A-8070-8E6846CBFDD0}"/>
                </a:ext>
              </a:extLst>
            </p:cNvPr>
            <p:cNvCxnSpPr>
              <a:cxnSpLocks/>
              <a:stCxn id="184" idx="2"/>
              <a:endCxn id="201" idx="0"/>
            </p:cNvCxnSpPr>
            <p:nvPr/>
          </p:nvCxnSpPr>
          <p:spPr>
            <a:xfrm>
              <a:off x="5538406" y="2571265"/>
              <a:ext cx="1960" cy="1337367"/>
            </a:xfrm>
            <a:prstGeom prst="straightConnector1">
              <a:avLst/>
            </a:prstGeom>
            <a:noFill/>
            <a:ln w="6350" cap="flat" cmpd="sng" algn="ctr">
              <a:solidFill>
                <a:srgbClr val="E7E6E6">
                  <a:lumMod val="50000"/>
                </a:srgbClr>
              </a:solidFill>
              <a:prstDash val="solid"/>
              <a:miter lim="800000"/>
              <a:tailEnd type="triangle"/>
            </a:ln>
            <a:effectLst/>
          </p:spPr>
        </p:cxnSp>
        <p:sp>
          <p:nvSpPr>
            <p:cNvPr id="176" name="正方形/長方形 175">
              <a:extLst>
                <a:ext uri="{FF2B5EF4-FFF2-40B4-BE49-F238E27FC236}">
                  <a16:creationId xmlns:a16="http://schemas.microsoft.com/office/drawing/2014/main" id="{D2462E22-A66B-1745-A8F9-89FA1897647E}"/>
                </a:ext>
              </a:extLst>
            </p:cNvPr>
            <p:cNvSpPr/>
            <p:nvPr/>
          </p:nvSpPr>
          <p:spPr>
            <a:xfrm>
              <a:off x="1133872" y="1205329"/>
              <a:ext cx="3240000" cy="3797218"/>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178" name="正方形/長方形 177">
              <a:extLst>
                <a:ext uri="{FF2B5EF4-FFF2-40B4-BE49-F238E27FC236}">
                  <a16:creationId xmlns:a16="http://schemas.microsoft.com/office/drawing/2014/main" id="{A3A87816-D0DC-DE63-1A99-B8072CB32926}"/>
                </a:ext>
              </a:extLst>
            </p:cNvPr>
            <p:cNvSpPr/>
            <p:nvPr/>
          </p:nvSpPr>
          <p:spPr>
            <a:xfrm>
              <a:off x="1391082" y="2200465"/>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サービスリクエスト</a:t>
              </a:r>
              <a:b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kern="0" dirty="0">
                  <a:solidFill>
                    <a:srgbClr val="E7E6E6">
                      <a:lumMod val="50000"/>
                    </a:srgbClr>
                  </a:solidFill>
                  <a:latin typeface="Meiryo UI" panose="020B0604030504040204" pitchFamily="50" charset="-128"/>
                  <a:ea typeface="Meiryo UI" panose="020B0604030504040204" pitchFamily="50" charset="-128"/>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79" name="正方形/長方形 178">
              <a:extLst>
                <a:ext uri="{FF2B5EF4-FFF2-40B4-BE49-F238E27FC236}">
                  <a16:creationId xmlns:a16="http://schemas.microsoft.com/office/drawing/2014/main" id="{BA8276B1-B53E-6F04-C74A-DEA677E88C8F}"/>
                </a:ext>
              </a:extLst>
            </p:cNvPr>
            <p:cNvSpPr/>
            <p:nvPr/>
          </p:nvSpPr>
          <p:spPr>
            <a:xfrm>
              <a:off x="2965923" y="2200465"/>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チケット管理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80" name="コネクタ: カギ線 189">
              <a:extLst>
                <a:ext uri="{FF2B5EF4-FFF2-40B4-BE49-F238E27FC236}">
                  <a16:creationId xmlns:a16="http://schemas.microsoft.com/office/drawing/2014/main" id="{988F041F-6579-A5E5-6451-FD59C6C28F61}"/>
                </a:ext>
              </a:extLst>
            </p:cNvPr>
            <p:cNvCxnSpPr>
              <a:cxnSpLocks/>
              <a:stCxn id="178" idx="3"/>
              <a:endCxn id="179" idx="1"/>
            </p:cNvCxnSpPr>
            <p:nvPr/>
          </p:nvCxnSpPr>
          <p:spPr>
            <a:xfrm>
              <a:off x="2550282" y="2385865"/>
              <a:ext cx="415641" cy="0"/>
            </a:xfrm>
            <a:prstGeom prst="straightConnector1">
              <a:avLst/>
            </a:prstGeom>
            <a:noFill/>
            <a:ln w="6350" cap="flat" cmpd="sng" algn="ctr">
              <a:solidFill>
                <a:srgbClr val="E7E6E6">
                  <a:lumMod val="50000"/>
                </a:srgbClr>
              </a:solidFill>
              <a:prstDash val="solid"/>
              <a:miter lim="800000"/>
              <a:tailEnd type="triangle"/>
            </a:ln>
            <a:effectLst/>
          </p:spPr>
        </p:cxnSp>
        <p:sp>
          <p:nvSpPr>
            <p:cNvPr id="181" name="正方形/長方形 180">
              <a:extLst>
                <a:ext uri="{FF2B5EF4-FFF2-40B4-BE49-F238E27FC236}">
                  <a16:creationId xmlns:a16="http://schemas.microsoft.com/office/drawing/2014/main" id="{F150DEF6-24A4-6FEB-FA88-18E6B7AF8EF9}"/>
                </a:ext>
              </a:extLst>
            </p:cNvPr>
            <p:cNvSpPr/>
            <p:nvPr/>
          </p:nvSpPr>
          <p:spPr>
            <a:xfrm>
              <a:off x="1391082" y="3908632"/>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サービスカタログ</a:t>
              </a:r>
              <a:b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管理（ユーザ）</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2" name="正方形/長方形 181">
              <a:extLst>
                <a:ext uri="{FF2B5EF4-FFF2-40B4-BE49-F238E27FC236}">
                  <a16:creationId xmlns:a16="http://schemas.microsoft.com/office/drawing/2014/main" id="{D994A7E2-EF72-CE95-3646-18E91B2F4A45}"/>
                </a:ext>
              </a:extLst>
            </p:cNvPr>
            <p:cNvSpPr/>
            <p:nvPr/>
          </p:nvSpPr>
          <p:spPr>
            <a:xfrm>
              <a:off x="4039217" y="3072449"/>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ナレッジ管理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3" name="テキスト ボックス 182">
              <a:extLst>
                <a:ext uri="{FF2B5EF4-FFF2-40B4-BE49-F238E27FC236}">
                  <a16:creationId xmlns:a16="http://schemas.microsoft.com/office/drawing/2014/main" id="{93B08F8A-A329-7AF9-2C0E-9628D63DE601}"/>
                </a:ext>
              </a:extLst>
            </p:cNvPr>
            <p:cNvSpPr txBox="1"/>
            <p:nvPr/>
          </p:nvSpPr>
          <p:spPr>
            <a:xfrm>
              <a:off x="2478210" y="2397006"/>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起票</a:t>
              </a:r>
            </a:p>
          </p:txBody>
        </p:sp>
        <p:sp>
          <p:nvSpPr>
            <p:cNvPr id="184" name="正方形/長方形 183">
              <a:extLst>
                <a:ext uri="{FF2B5EF4-FFF2-40B4-BE49-F238E27FC236}">
                  <a16:creationId xmlns:a16="http://schemas.microsoft.com/office/drawing/2014/main" id="{6FCB688F-EEBC-F204-A6FF-DE3A0E6DD759}"/>
                </a:ext>
              </a:extLst>
            </p:cNvPr>
            <p:cNvSpPr/>
            <p:nvPr/>
          </p:nvSpPr>
          <p:spPr>
            <a:xfrm>
              <a:off x="4958806" y="2200465"/>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インシデント管理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85" name="コネクタ: カギ線 189">
              <a:extLst>
                <a:ext uri="{FF2B5EF4-FFF2-40B4-BE49-F238E27FC236}">
                  <a16:creationId xmlns:a16="http://schemas.microsoft.com/office/drawing/2014/main" id="{500E078B-1DBA-4C4F-64A0-EAAEB2F235C5}"/>
                </a:ext>
              </a:extLst>
            </p:cNvPr>
            <p:cNvCxnSpPr>
              <a:cxnSpLocks/>
              <a:stCxn id="179" idx="3"/>
              <a:endCxn id="184" idx="1"/>
            </p:cNvCxnSpPr>
            <p:nvPr/>
          </p:nvCxnSpPr>
          <p:spPr>
            <a:xfrm>
              <a:off x="4125123" y="2385865"/>
              <a:ext cx="833683" cy="0"/>
            </a:xfrm>
            <a:prstGeom prst="straightConnector1">
              <a:avLst/>
            </a:prstGeom>
            <a:noFill/>
            <a:ln w="6350" cap="flat" cmpd="sng" algn="ctr">
              <a:solidFill>
                <a:srgbClr val="E7E6E6">
                  <a:lumMod val="50000"/>
                </a:srgbClr>
              </a:solidFill>
              <a:prstDash val="solid"/>
              <a:miter lim="800000"/>
              <a:tailEnd type="triangle"/>
            </a:ln>
            <a:effectLst/>
          </p:spPr>
        </p:cxnSp>
        <p:sp>
          <p:nvSpPr>
            <p:cNvPr id="186" name="正方形/長方形 185">
              <a:extLst>
                <a:ext uri="{FF2B5EF4-FFF2-40B4-BE49-F238E27FC236}">
                  <a16:creationId xmlns:a16="http://schemas.microsoft.com/office/drawing/2014/main" id="{21CB587C-37E2-1B4C-4FBC-42B30A7A2A34}"/>
                </a:ext>
              </a:extLst>
            </p:cNvPr>
            <p:cNvSpPr/>
            <p:nvPr/>
          </p:nvSpPr>
          <p:spPr>
            <a:xfrm>
              <a:off x="5921735" y="1362450"/>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サービスレベル管理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8" name="正方形/長方形 187">
              <a:extLst>
                <a:ext uri="{FF2B5EF4-FFF2-40B4-BE49-F238E27FC236}">
                  <a16:creationId xmlns:a16="http://schemas.microsoft.com/office/drawing/2014/main" id="{7B5553DC-7327-C6AC-2E75-3DF17A1D4D0E}"/>
                </a:ext>
              </a:extLst>
            </p:cNvPr>
            <p:cNvSpPr/>
            <p:nvPr/>
          </p:nvSpPr>
          <p:spPr>
            <a:xfrm>
              <a:off x="4039217" y="1359772"/>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プロジェクト管理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9" name="正方形/長方形 188">
              <a:extLst>
                <a:ext uri="{FF2B5EF4-FFF2-40B4-BE49-F238E27FC236}">
                  <a16:creationId xmlns:a16="http://schemas.microsoft.com/office/drawing/2014/main" id="{FAF79184-06DD-ED4F-9E74-42038D8B2CF7}"/>
                </a:ext>
              </a:extLst>
            </p:cNvPr>
            <p:cNvSpPr/>
            <p:nvPr/>
          </p:nvSpPr>
          <p:spPr>
            <a:xfrm>
              <a:off x="7803022" y="2200465"/>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問題管理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90" name="テキスト ボックス 189">
              <a:extLst>
                <a:ext uri="{FF2B5EF4-FFF2-40B4-BE49-F238E27FC236}">
                  <a16:creationId xmlns:a16="http://schemas.microsoft.com/office/drawing/2014/main" id="{DB3684D6-B883-E4AE-2F42-1D00D6D57CE9}"/>
                </a:ext>
              </a:extLst>
            </p:cNvPr>
            <p:cNvSpPr txBox="1"/>
            <p:nvPr/>
          </p:nvSpPr>
          <p:spPr>
            <a:xfrm>
              <a:off x="4116356" y="2392436"/>
              <a:ext cx="458654"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割当</a:t>
              </a:r>
            </a:p>
          </p:txBody>
        </p:sp>
        <p:cxnSp>
          <p:nvCxnSpPr>
            <p:cNvPr id="191" name="コネクタ: カギ線 189">
              <a:extLst>
                <a:ext uri="{FF2B5EF4-FFF2-40B4-BE49-F238E27FC236}">
                  <a16:creationId xmlns:a16="http://schemas.microsoft.com/office/drawing/2014/main" id="{86909EC2-5A99-2586-B7C5-D70E00FB115E}"/>
                </a:ext>
              </a:extLst>
            </p:cNvPr>
            <p:cNvCxnSpPr>
              <a:cxnSpLocks/>
              <a:stCxn id="189" idx="0"/>
              <a:endCxn id="186" idx="2"/>
            </p:cNvCxnSpPr>
            <p:nvPr/>
          </p:nvCxnSpPr>
          <p:spPr>
            <a:xfrm rot="16200000" flipV="1">
              <a:off x="7208372" y="1026214"/>
              <a:ext cx="467215" cy="1881287"/>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192" name="テキスト ボックス 191">
              <a:extLst>
                <a:ext uri="{FF2B5EF4-FFF2-40B4-BE49-F238E27FC236}">
                  <a16:creationId xmlns:a16="http://schemas.microsoft.com/office/drawing/2014/main" id="{3885661C-2C1C-E48A-384D-3AD83620B202}"/>
                </a:ext>
              </a:extLst>
            </p:cNvPr>
            <p:cNvSpPr txBox="1"/>
            <p:nvPr/>
          </p:nvSpPr>
          <p:spPr>
            <a:xfrm>
              <a:off x="6507591" y="1730763"/>
              <a:ext cx="754786"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件数集計</a:t>
              </a:r>
            </a:p>
          </p:txBody>
        </p:sp>
        <p:sp>
          <p:nvSpPr>
            <p:cNvPr id="193" name="テキスト ボックス 192">
              <a:extLst>
                <a:ext uri="{FF2B5EF4-FFF2-40B4-BE49-F238E27FC236}">
                  <a16:creationId xmlns:a16="http://schemas.microsoft.com/office/drawing/2014/main" id="{0F82CDB4-A5F2-EBF6-0545-9AA7B589E15F}"/>
                </a:ext>
              </a:extLst>
            </p:cNvPr>
            <p:cNvSpPr txBox="1"/>
            <p:nvPr/>
          </p:nvSpPr>
          <p:spPr>
            <a:xfrm>
              <a:off x="4619269" y="1727877"/>
              <a:ext cx="754786"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案件化</a:t>
              </a:r>
            </a:p>
          </p:txBody>
        </p:sp>
        <p:sp>
          <p:nvSpPr>
            <p:cNvPr id="194" name="正方形/長方形 193">
              <a:extLst>
                <a:ext uri="{FF2B5EF4-FFF2-40B4-BE49-F238E27FC236}">
                  <a16:creationId xmlns:a16="http://schemas.microsoft.com/office/drawing/2014/main" id="{E3200AF2-11DF-7EB7-39F7-FC3D77AC088E}"/>
                </a:ext>
              </a:extLst>
            </p:cNvPr>
            <p:cNvSpPr/>
            <p:nvPr/>
          </p:nvSpPr>
          <p:spPr>
            <a:xfrm>
              <a:off x="7803022" y="2782143"/>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セキュリティ管理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95" name="コネクタ: カギ線 189">
              <a:extLst>
                <a:ext uri="{FF2B5EF4-FFF2-40B4-BE49-F238E27FC236}">
                  <a16:creationId xmlns:a16="http://schemas.microsoft.com/office/drawing/2014/main" id="{8A626600-4839-19B2-E703-12C8F011D7CA}"/>
                </a:ext>
              </a:extLst>
            </p:cNvPr>
            <p:cNvCxnSpPr>
              <a:cxnSpLocks/>
              <a:stCxn id="184" idx="3"/>
              <a:endCxn id="202" idx="0"/>
            </p:cNvCxnSpPr>
            <p:nvPr/>
          </p:nvCxnSpPr>
          <p:spPr>
            <a:xfrm>
              <a:off x="6118006" y="2385865"/>
              <a:ext cx="1348324" cy="1518805"/>
            </a:xfrm>
            <a:prstGeom prst="bentConnector2">
              <a:avLst/>
            </a:prstGeom>
            <a:noFill/>
            <a:ln w="6350" cap="flat" cmpd="sng" algn="ctr">
              <a:solidFill>
                <a:srgbClr val="E7E6E6">
                  <a:lumMod val="50000"/>
                </a:srgbClr>
              </a:solidFill>
              <a:prstDash val="solid"/>
              <a:miter lim="800000"/>
              <a:tailEnd type="triangle"/>
            </a:ln>
            <a:effectLst/>
          </p:spPr>
        </p:cxnSp>
        <p:sp>
          <p:nvSpPr>
            <p:cNvPr id="196" name="正方形/長方形 195">
              <a:extLst>
                <a:ext uri="{FF2B5EF4-FFF2-40B4-BE49-F238E27FC236}">
                  <a16:creationId xmlns:a16="http://schemas.microsoft.com/office/drawing/2014/main" id="{778FAE83-385B-E21E-4E18-39ADD0D98B40}"/>
                </a:ext>
              </a:extLst>
            </p:cNvPr>
            <p:cNvSpPr/>
            <p:nvPr/>
          </p:nvSpPr>
          <p:spPr>
            <a:xfrm>
              <a:off x="5921735" y="2782373"/>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構成管理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97" name="テキスト ボックス 196">
              <a:extLst>
                <a:ext uri="{FF2B5EF4-FFF2-40B4-BE49-F238E27FC236}">
                  <a16:creationId xmlns:a16="http://schemas.microsoft.com/office/drawing/2014/main" id="{15311638-2EFC-F917-1462-9AE43CEB7916}"/>
                </a:ext>
              </a:extLst>
            </p:cNvPr>
            <p:cNvSpPr txBox="1"/>
            <p:nvPr/>
          </p:nvSpPr>
          <p:spPr>
            <a:xfrm>
              <a:off x="5465520" y="3070768"/>
              <a:ext cx="515529"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権限</a:t>
              </a:r>
              <a:endParaRPr lang="en-US" altLang="ja-JP" sz="1000" dirty="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確認</a:t>
              </a:r>
            </a:p>
          </p:txBody>
        </p:sp>
        <p:sp>
          <p:nvSpPr>
            <p:cNvPr id="198" name="テキスト ボックス 197">
              <a:extLst>
                <a:ext uri="{FF2B5EF4-FFF2-40B4-BE49-F238E27FC236}">
                  <a16:creationId xmlns:a16="http://schemas.microsoft.com/office/drawing/2014/main" id="{4AE30F15-CC4E-F077-D24B-CA2CB8B28126}"/>
                </a:ext>
              </a:extLst>
            </p:cNvPr>
            <p:cNvSpPr txBox="1"/>
            <p:nvPr/>
          </p:nvSpPr>
          <p:spPr>
            <a:xfrm>
              <a:off x="595762" y="2392069"/>
              <a:ext cx="870892" cy="553998"/>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問合せ・申請</a:t>
              </a:r>
              <a:r>
                <a:rPr lang="en-US" altLang="ja-JP" sz="1000" dirty="0">
                  <a:solidFill>
                    <a:srgbClr val="E7E6E6">
                      <a:lumMod val="50000"/>
                    </a:srgbClr>
                  </a:solidFill>
                  <a:latin typeface="Meiryo UI" panose="020B0604030504040204" pitchFamily="50" charset="-128"/>
                  <a:ea typeface="Meiryo UI" panose="020B0604030504040204" pitchFamily="50" charset="-128"/>
                </a:rPr>
                <a:t>/</a:t>
              </a:r>
              <a:r>
                <a:rPr lang="ja-JP" altLang="en-US" sz="1000" dirty="0">
                  <a:solidFill>
                    <a:srgbClr val="E7E6E6">
                      <a:lumMod val="50000"/>
                    </a:srgbClr>
                  </a:solidFill>
                  <a:latin typeface="Meiryo UI" panose="020B0604030504040204" pitchFamily="50" charset="-128"/>
                  <a:ea typeface="Meiryo UI" panose="020B0604030504040204" pitchFamily="50" charset="-128"/>
                </a:rPr>
                <a:t>回答</a:t>
              </a:r>
            </a:p>
          </p:txBody>
        </p:sp>
        <p:sp>
          <p:nvSpPr>
            <p:cNvPr id="199" name="テキスト ボックス 198">
              <a:extLst>
                <a:ext uri="{FF2B5EF4-FFF2-40B4-BE49-F238E27FC236}">
                  <a16:creationId xmlns:a16="http://schemas.microsoft.com/office/drawing/2014/main" id="{3F7A7B6A-7E91-8CE6-6067-E650D50893EC}"/>
                </a:ext>
              </a:extLst>
            </p:cNvPr>
            <p:cNvSpPr txBox="1"/>
            <p:nvPr/>
          </p:nvSpPr>
          <p:spPr>
            <a:xfrm>
              <a:off x="7101460" y="2133845"/>
              <a:ext cx="700347"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恒久対応</a:t>
              </a:r>
            </a:p>
          </p:txBody>
        </p:sp>
        <p:sp>
          <p:nvSpPr>
            <p:cNvPr id="200" name="テキスト ボックス 199">
              <a:extLst>
                <a:ext uri="{FF2B5EF4-FFF2-40B4-BE49-F238E27FC236}">
                  <a16:creationId xmlns:a16="http://schemas.microsoft.com/office/drawing/2014/main" id="{67CECBB7-5E7A-8DBF-F43E-025C262654B0}"/>
                </a:ext>
              </a:extLst>
            </p:cNvPr>
            <p:cNvSpPr txBox="1"/>
            <p:nvPr/>
          </p:nvSpPr>
          <p:spPr>
            <a:xfrm>
              <a:off x="7407128" y="3150609"/>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セキュリティ対応</a:t>
              </a:r>
            </a:p>
          </p:txBody>
        </p:sp>
        <p:sp>
          <p:nvSpPr>
            <p:cNvPr id="201" name="正方形/長方形 200">
              <a:extLst>
                <a:ext uri="{FF2B5EF4-FFF2-40B4-BE49-F238E27FC236}">
                  <a16:creationId xmlns:a16="http://schemas.microsoft.com/office/drawing/2014/main" id="{2D03633E-F58D-F2E0-6E44-7E3298CC51BE}"/>
                </a:ext>
              </a:extLst>
            </p:cNvPr>
            <p:cNvSpPr/>
            <p:nvPr/>
          </p:nvSpPr>
          <p:spPr>
            <a:xfrm>
              <a:off x="4960766" y="3908632"/>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アクセス管理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02" name="正方形/長方形 201">
              <a:extLst>
                <a:ext uri="{FF2B5EF4-FFF2-40B4-BE49-F238E27FC236}">
                  <a16:creationId xmlns:a16="http://schemas.microsoft.com/office/drawing/2014/main" id="{76AD0A08-3E77-2849-C654-03EE2B3F803D}"/>
                </a:ext>
              </a:extLst>
            </p:cNvPr>
            <p:cNvSpPr/>
            <p:nvPr/>
          </p:nvSpPr>
          <p:spPr>
            <a:xfrm>
              <a:off x="6886730" y="3904670"/>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変更管理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03" name="コネクタ: カギ線 189">
              <a:extLst>
                <a:ext uri="{FF2B5EF4-FFF2-40B4-BE49-F238E27FC236}">
                  <a16:creationId xmlns:a16="http://schemas.microsoft.com/office/drawing/2014/main" id="{3E64FED5-C083-7D4B-4F7C-22823320C5E4}"/>
                </a:ext>
              </a:extLst>
            </p:cNvPr>
            <p:cNvCxnSpPr>
              <a:cxnSpLocks/>
              <a:stCxn id="201" idx="3"/>
              <a:endCxn id="202" idx="1"/>
            </p:cNvCxnSpPr>
            <p:nvPr/>
          </p:nvCxnSpPr>
          <p:spPr>
            <a:xfrm flipV="1">
              <a:off x="6119966" y="4090070"/>
              <a:ext cx="766764" cy="3962"/>
            </a:xfrm>
            <a:prstGeom prst="straightConnector1">
              <a:avLst/>
            </a:prstGeom>
            <a:noFill/>
            <a:ln w="6350" cap="flat" cmpd="sng" algn="ctr">
              <a:solidFill>
                <a:srgbClr val="E7E6E6">
                  <a:lumMod val="50000"/>
                </a:srgbClr>
              </a:solidFill>
              <a:prstDash val="solid"/>
              <a:miter lim="800000"/>
              <a:tailEnd type="triangle"/>
            </a:ln>
            <a:effectLst/>
          </p:spPr>
        </p:cxnSp>
        <p:sp>
          <p:nvSpPr>
            <p:cNvPr id="204" name="テキスト ボックス 203">
              <a:extLst>
                <a:ext uri="{FF2B5EF4-FFF2-40B4-BE49-F238E27FC236}">
                  <a16:creationId xmlns:a16="http://schemas.microsoft.com/office/drawing/2014/main" id="{9172F79A-8722-E6CF-734E-BA18BD89E515}"/>
                </a:ext>
              </a:extLst>
            </p:cNvPr>
            <p:cNvSpPr txBox="1"/>
            <p:nvPr/>
          </p:nvSpPr>
          <p:spPr>
            <a:xfrm>
              <a:off x="6123048" y="3841149"/>
              <a:ext cx="754786" cy="246221"/>
            </a:xfrm>
            <a:prstGeom prst="rect">
              <a:avLst/>
            </a:prstGeom>
            <a:noFill/>
          </p:spPr>
          <p:txBody>
            <a:bodyPr wrap="square" rtlCol="0" anchor="ctr">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権限変更</a:t>
              </a:r>
            </a:p>
          </p:txBody>
        </p:sp>
        <p:sp>
          <p:nvSpPr>
            <p:cNvPr id="205" name="テキスト ボックス 204">
              <a:extLst>
                <a:ext uri="{FF2B5EF4-FFF2-40B4-BE49-F238E27FC236}">
                  <a16:creationId xmlns:a16="http://schemas.microsoft.com/office/drawing/2014/main" id="{00E4DE0F-3689-F477-1BF8-57E924D2BCCD}"/>
                </a:ext>
              </a:extLst>
            </p:cNvPr>
            <p:cNvSpPr txBox="1"/>
            <p:nvPr/>
          </p:nvSpPr>
          <p:spPr>
            <a:xfrm>
              <a:off x="6754227" y="2401792"/>
              <a:ext cx="700347"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暫定対応</a:t>
              </a:r>
            </a:p>
          </p:txBody>
        </p:sp>
        <p:sp>
          <p:nvSpPr>
            <p:cNvPr id="206" name="フリーフォーム: 図形 12">
              <a:extLst>
                <a:ext uri="{FF2B5EF4-FFF2-40B4-BE49-F238E27FC236}">
                  <a16:creationId xmlns:a16="http://schemas.microsoft.com/office/drawing/2014/main" id="{95DC99F1-0568-A049-52EA-B8F4B02FC057}"/>
                </a:ext>
              </a:extLst>
            </p:cNvPr>
            <p:cNvSpPr>
              <a:spLocks/>
            </p:cNvSpPr>
            <p:nvPr/>
          </p:nvSpPr>
          <p:spPr bwMode="auto">
            <a:xfrm>
              <a:off x="7430394" y="2917955"/>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E7E6E6"/>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207" name="コネクタ: カギ線 189">
              <a:extLst>
                <a:ext uri="{FF2B5EF4-FFF2-40B4-BE49-F238E27FC236}">
                  <a16:creationId xmlns:a16="http://schemas.microsoft.com/office/drawing/2014/main" id="{33EE26EF-5E50-3184-EA37-11FD433E1FFA}"/>
                </a:ext>
              </a:extLst>
            </p:cNvPr>
            <p:cNvCxnSpPr>
              <a:cxnSpLocks/>
              <a:stCxn id="194" idx="2"/>
              <a:endCxn id="202" idx="0"/>
            </p:cNvCxnSpPr>
            <p:nvPr/>
          </p:nvCxnSpPr>
          <p:spPr>
            <a:xfrm rot="5400000">
              <a:off x="7548613" y="3070660"/>
              <a:ext cx="751727" cy="916292"/>
            </a:xfrm>
            <a:prstGeom prst="bentConnector3">
              <a:avLst>
                <a:gd name="adj1" fmla="val 31979"/>
              </a:avLst>
            </a:prstGeom>
            <a:noFill/>
            <a:ln w="6350" cap="flat" cmpd="sng" algn="ctr">
              <a:solidFill>
                <a:srgbClr val="E7E6E6">
                  <a:lumMod val="50000"/>
                </a:srgbClr>
              </a:solidFill>
              <a:prstDash val="solid"/>
              <a:miter lim="800000"/>
              <a:tailEnd type="triangle"/>
            </a:ln>
            <a:effectLst/>
          </p:spPr>
        </p:cxnSp>
        <p:cxnSp>
          <p:nvCxnSpPr>
            <p:cNvPr id="208" name="コネクタ: カギ線 189">
              <a:extLst>
                <a:ext uri="{FF2B5EF4-FFF2-40B4-BE49-F238E27FC236}">
                  <a16:creationId xmlns:a16="http://schemas.microsoft.com/office/drawing/2014/main" id="{66085E79-B716-B869-C69F-D6DA71E5881C}"/>
                </a:ext>
              </a:extLst>
            </p:cNvPr>
            <p:cNvCxnSpPr>
              <a:cxnSpLocks/>
              <a:stCxn id="209" idx="0"/>
              <a:endCxn id="196" idx="2"/>
            </p:cNvCxnSpPr>
            <p:nvPr/>
          </p:nvCxnSpPr>
          <p:spPr>
            <a:xfrm rot="16200000" flipV="1">
              <a:off x="8004355" y="1650153"/>
              <a:ext cx="751498" cy="3757537"/>
            </a:xfrm>
            <a:prstGeom prst="bentConnector3">
              <a:avLst>
                <a:gd name="adj1" fmla="val 50000"/>
              </a:avLst>
            </a:prstGeom>
            <a:noFill/>
            <a:ln w="6350" cap="flat" cmpd="sng" algn="ctr">
              <a:solidFill>
                <a:srgbClr val="E7E6E6">
                  <a:lumMod val="50000"/>
                </a:srgbClr>
              </a:solidFill>
              <a:prstDash val="solid"/>
              <a:miter lim="800000"/>
              <a:headEnd type="triangle"/>
              <a:tailEnd type="triangle"/>
            </a:ln>
            <a:effectLst/>
          </p:spPr>
        </p:cxnSp>
        <p:sp>
          <p:nvSpPr>
            <p:cNvPr id="209" name="正方形/長方形 208">
              <a:extLst>
                <a:ext uri="{FF2B5EF4-FFF2-40B4-BE49-F238E27FC236}">
                  <a16:creationId xmlns:a16="http://schemas.microsoft.com/office/drawing/2014/main" id="{B840C800-FDFF-09A8-16D0-9500B26DE427}"/>
                </a:ext>
              </a:extLst>
            </p:cNvPr>
            <p:cNvSpPr/>
            <p:nvPr/>
          </p:nvSpPr>
          <p:spPr>
            <a:xfrm>
              <a:off x="9679272" y="3904671"/>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ソフトウェア開発</a:t>
              </a:r>
              <a:b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および管理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10" name="コネクタ: カギ線 189">
              <a:extLst>
                <a:ext uri="{FF2B5EF4-FFF2-40B4-BE49-F238E27FC236}">
                  <a16:creationId xmlns:a16="http://schemas.microsoft.com/office/drawing/2014/main" id="{C1B46600-C392-E5E6-5EA1-00DF665B9CFD}"/>
                </a:ext>
              </a:extLst>
            </p:cNvPr>
            <p:cNvCxnSpPr>
              <a:cxnSpLocks/>
              <a:stCxn id="194" idx="3"/>
              <a:endCxn id="209" idx="0"/>
            </p:cNvCxnSpPr>
            <p:nvPr/>
          </p:nvCxnSpPr>
          <p:spPr>
            <a:xfrm>
              <a:off x="8962222" y="2967543"/>
              <a:ext cx="1296650" cy="937128"/>
            </a:xfrm>
            <a:prstGeom prst="bentConnector2">
              <a:avLst/>
            </a:prstGeom>
            <a:noFill/>
            <a:ln w="6350" cap="flat" cmpd="sng" algn="ctr">
              <a:solidFill>
                <a:srgbClr val="E7E6E6">
                  <a:lumMod val="50000"/>
                </a:srgbClr>
              </a:solidFill>
              <a:prstDash val="solid"/>
              <a:miter lim="800000"/>
              <a:tailEnd type="triangle"/>
            </a:ln>
            <a:effectLst/>
          </p:spPr>
        </p:cxnSp>
        <p:sp>
          <p:nvSpPr>
            <p:cNvPr id="211" name="テキスト ボックス 210">
              <a:extLst>
                <a:ext uri="{FF2B5EF4-FFF2-40B4-BE49-F238E27FC236}">
                  <a16:creationId xmlns:a16="http://schemas.microsoft.com/office/drawing/2014/main" id="{4B0C9A50-FE65-DB79-6985-526D77819CE3}"/>
                </a:ext>
              </a:extLst>
            </p:cNvPr>
            <p:cNvSpPr txBox="1"/>
            <p:nvPr/>
          </p:nvSpPr>
          <p:spPr>
            <a:xfrm>
              <a:off x="9513564" y="3529413"/>
              <a:ext cx="75386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資源同期</a:t>
              </a:r>
            </a:p>
          </p:txBody>
        </p:sp>
        <p:sp>
          <p:nvSpPr>
            <p:cNvPr id="212" name="テキスト ボックス 211">
              <a:extLst>
                <a:ext uri="{FF2B5EF4-FFF2-40B4-BE49-F238E27FC236}">
                  <a16:creationId xmlns:a16="http://schemas.microsoft.com/office/drawing/2014/main" id="{FCC3F066-8C8E-356D-0DEA-29BF484A31B9}"/>
                </a:ext>
              </a:extLst>
            </p:cNvPr>
            <p:cNvSpPr txBox="1"/>
            <p:nvPr/>
          </p:nvSpPr>
          <p:spPr>
            <a:xfrm>
              <a:off x="8919559" y="2725110"/>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セキュリティ対応</a:t>
              </a:r>
            </a:p>
          </p:txBody>
        </p:sp>
        <p:sp>
          <p:nvSpPr>
            <p:cNvPr id="213" name="テキスト ボックス 212">
              <a:extLst>
                <a:ext uri="{FF2B5EF4-FFF2-40B4-BE49-F238E27FC236}">
                  <a16:creationId xmlns:a16="http://schemas.microsoft.com/office/drawing/2014/main" id="{E77ED8A2-BBBE-A540-59A7-747265B99E7A}"/>
                </a:ext>
              </a:extLst>
            </p:cNvPr>
            <p:cNvSpPr txBox="1"/>
            <p:nvPr/>
          </p:nvSpPr>
          <p:spPr>
            <a:xfrm>
              <a:off x="9724782" y="1281148"/>
              <a:ext cx="542716"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開発</a:t>
              </a:r>
            </a:p>
          </p:txBody>
        </p:sp>
        <p:sp>
          <p:nvSpPr>
            <p:cNvPr id="214" name="正方形/長方形 213">
              <a:extLst>
                <a:ext uri="{FF2B5EF4-FFF2-40B4-BE49-F238E27FC236}">
                  <a16:creationId xmlns:a16="http://schemas.microsoft.com/office/drawing/2014/main" id="{7DF56C85-0D1D-A213-FBBF-4C837D90BDC3}"/>
                </a:ext>
              </a:extLst>
            </p:cNvPr>
            <p:cNvSpPr/>
            <p:nvPr/>
          </p:nvSpPr>
          <p:spPr>
            <a:xfrm>
              <a:off x="4955705" y="4548543"/>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維持管理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15" name="正方形/長方形 214">
              <a:extLst>
                <a:ext uri="{FF2B5EF4-FFF2-40B4-BE49-F238E27FC236}">
                  <a16:creationId xmlns:a16="http://schemas.microsoft.com/office/drawing/2014/main" id="{CD3CBC18-90B3-7970-5520-AD8C03CF1789}"/>
                </a:ext>
              </a:extLst>
            </p:cNvPr>
            <p:cNvSpPr/>
            <p:nvPr/>
          </p:nvSpPr>
          <p:spPr>
            <a:xfrm>
              <a:off x="6886730" y="4544582"/>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リリース管理</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展開</a:t>
              </a: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16" name="コネクタ: カギ線 189">
              <a:extLst>
                <a:ext uri="{FF2B5EF4-FFF2-40B4-BE49-F238E27FC236}">
                  <a16:creationId xmlns:a16="http://schemas.microsoft.com/office/drawing/2014/main" id="{B735A9E3-4F1B-50E8-972F-B2AD4C683427}"/>
                </a:ext>
              </a:extLst>
            </p:cNvPr>
            <p:cNvCxnSpPr>
              <a:cxnSpLocks/>
              <a:stCxn id="214" idx="3"/>
              <a:endCxn id="215" idx="1"/>
            </p:cNvCxnSpPr>
            <p:nvPr/>
          </p:nvCxnSpPr>
          <p:spPr>
            <a:xfrm flipV="1">
              <a:off x="6114905" y="4729982"/>
              <a:ext cx="771825" cy="3961"/>
            </a:xfrm>
            <a:prstGeom prst="straightConnector1">
              <a:avLst/>
            </a:prstGeom>
            <a:noFill/>
            <a:ln w="6350" cap="flat" cmpd="sng" algn="ctr">
              <a:solidFill>
                <a:srgbClr val="E7E6E6">
                  <a:lumMod val="50000"/>
                </a:srgbClr>
              </a:solidFill>
              <a:prstDash val="solid"/>
              <a:miter lim="800000"/>
              <a:tailEnd type="triangle"/>
            </a:ln>
            <a:effectLst/>
          </p:spPr>
        </p:cxnSp>
        <p:sp>
          <p:nvSpPr>
            <p:cNvPr id="217" name="テキスト ボックス 216">
              <a:extLst>
                <a:ext uri="{FF2B5EF4-FFF2-40B4-BE49-F238E27FC236}">
                  <a16:creationId xmlns:a16="http://schemas.microsoft.com/office/drawing/2014/main" id="{BAEE9042-CB39-66A1-F8AF-39AD0841FFEB}"/>
                </a:ext>
              </a:extLst>
            </p:cNvPr>
            <p:cNvSpPr txBox="1"/>
            <p:nvPr/>
          </p:nvSpPr>
          <p:spPr>
            <a:xfrm>
              <a:off x="6117987" y="4481060"/>
              <a:ext cx="754786" cy="246221"/>
            </a:xfrm>
            <a:prstGeom prst="rect">
              <a:avLst/>
            </a:prstGeom>
            <a:noFill/>
          </p:spPr>
          <p:txBody>
            <a:bodyPr wrap="square" rtlCol="0" anchor="ctr">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定常変更</a:t>
              </a:r>
            </a:p>
          </p:txBody>
        </p:sp>
        <p:cxnSp>
          <p:nvCxnSpPr>
            <p:cNvPr id="218" name="コネクタ: カギ線 189">
              <a:extLst>
                <a:ext uri="{FF2B5EF4-FFF2-40B4-BE49-F238E27FC236}">
                  <a16:creationId xmlns:a16="http://schemas.microsoft.com/office/drawing/2014/main" id="{537FF921-D9BD-564D-88EA-9182E656590F}"/>
                </a:ext>
              </a:extLst>
            </p:cNvPr>
            <p:cNvCxnSpPr>
              <a:cxnSpLocks/>
              <a:stCxn id="202" idx="2"/>
              <a:endCxn id="215" idx="0"/>
            </p:cNvCxnSpPr>
            <p:nvPr/>
          </p:nvCxnSpPr>
          <p:spPr>
            <a:xfrm>
              <a:off x="7466330" y="4275470"/>
              <a:ext cx="0" cy="269112"/>
            </a:xfrm>
            <a:prstGeom prst="straightConnector1">
              <a:avLst/>
            </a:prstGeom>
            <a:noFill/>
            <a:ln w="6350" cap="flat" cmpd="sng" algn="ctr">
              <a:solidFill>
                <a:srgbClr val="E7E6E6">
                  <a:lumMod val="50000"/>
                </a:srgbClr>
              </a:solidFill>
              <a:prstDash val="solid"/>
              <a:miter lim="800000"/>
              <a:tailEnd type="triangle"/>
            </a:ln>
            <a:effectLst/>
          </p:spPr>
        </p:cxnSp>
        <p:sp>
          <p:nvSpPr>
            <p:cNvPr id="219" name="テキスト ボックス 218">
              <a:extLst>
                <a:ext uri="{FF2B5EF4-FFF2-40B4-BE49-F238E27FC236}">
                  <a16:creationId xmlns:a16="http://schemas.microsoft.com/office/drawing/2014/main" id="{7249CFE8-026D-B269-6098-2AF77F2F81FC}"/>
                </a:ext>
              </a:extLst>
            </p:cNvPr>
            <p:cNvSpPr txBox="1"/>
            <p:nvPr/>
          </p:nvSpPr>
          <p:spPr>
            <a:xfrm>
              <a:off x="7414800" y="4284605"/>
              <a:ext cx="75386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変更指示</a:t>
              </a:r>
            </a:p>
          </p:txBody>
        </p:sp>
        <p:sp>
          <p:nvSpPr>
            <p:cNvPr id="220" name="正方形/長方形 219">
              <a:extLst>
                <a:ext uri="{FF2B5EF4-FFF2-40B4-BE49-F238E27FC236}">
                  <a16:creationId xmlns:a16="http://schemas.microsoft.com/office/drawing/2014/main" id="{D49C291C-4671-3223-F7D9-180638499E0D}"/>
                </a:ext>
              </a:extLst>
            </p:cNvPr>
            <p:cNvSpPr/>
            <p:nvPr/>
          </p:nvSpPr>
          <p:spPr>
            <a:xfrm>
              <a:off x="313128" y="6260750"/>
              <a:ext cx="5607646" cy="360000"/>
            </a:xfrm>
            <a:prstGeom prst="rect">
              <a:avLst/>
            </a:prstGeom>
            <a:solidFill>
              <a:srgbClr val="E7E6E6"/>
            </a:solidFill>
            <a:ln w="19050" cap="flat" cmpd="sng" algn="ctr">
              <a:solidFill>
                <a:srgbClr val="E7E6E6">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システム（本番）</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23" name="正方形/長方形 222">
              <a:extLst>
                <a:ext uri="{FF2B5EF4-FFF2-40B4-BE49-F238E27FC236}">
                  <a16:creationId xmlns:a16="http://schemas.microsoft.com/office/drawing/2014/main" id="{A5164D58-F5B2-CECF-EA8A-1A9C75B66952}"/>
                </a:ext>
              </a:extLst>
            </p:cNvPr>
            <p:cNvSpPr/>
            <p:nvPr/>
          </p:nvSpPr>
          <p:spPr>
            <a:xfrm>
              <a:off x="2965923" y="5500034"/>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監視管理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7" name="正方形/長方形 226">
              <a:extLst>
                <a:ext uri="{FF2B5EF4-FFF2-40B4-BE49-F238E27FC236}">
                  <a16:creationId xmlns:a16="http://schemas.microsoft.com/office/drawing/2014/main" id="{E89E2856-9EA4-E92E-52CD-493315D36DB4}"/>
                </a:ext>
              </a:extLst>
            </p:cNvPr>
            <p:cNvSpPr/>
            <p:nvPr/>
          </p:nvSpPr>
          <p:spPr>
            <a:xfrm>
              <a:off x="1130703" y="5047621"/>
              <a:ext cx="10748167"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SRE</a:t>
              </a: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28" name="コネクタ: カギ線 189">
              <a:extLst>
                <a:ext uri="{FF2B5EF4-FFF2-40B4-BE49-F238E27FC236}">
                  <a16:creationId xmlns:a16="http://schemas.microsoft.com/office/drawing/2014/main" id="{1F68C9F5-7D95-0F2B-F8A9-5A26BBF5060E}"/>
                </a:ext>
              </a:extLst>
            </p:cNvPr>
            <p:cNvCxnSpPr>
              <a:cxnSpLocks/>
              <a:stCxn id="223" idx="0"/>
              <a:endCxn id="179" idx="2"/>
            </p:cNvCxnSpPr>
            <p:nvPr/>
          </p:nvCxnSpPr>
          <p:spPr>
            <a:xfrm flipV="1">
              <a:off x="3545523" y="2571265"/>
              <a:ext cx="0" cy="2928769"/>
            </a:xfrm>
            <a:prstGeom prst="straightConnector1">
              <a:avLst/>
            </a:prstGeom>
            <a:noFill/>
            <a:ln w="6350" cap="flat" cmpd="sng" algn="ctr">
              <a:solidFill>
                <a:srgbClr val="E7E6E6">
                  <a:lumMod val="50000"/>
                </a:srgbClr>
              </a:solidFill>
              <a:prstDash val="solid"/>
              <a:miter lim="800000"/>
              <a:tailEnd type="triangle"/>
            </a:ln>
            <a:effectLst/>
          </p:spPr>
        </p:cxnSp>
        <p:sp>
          <p:nvSpPr>
            <p:cNvPr id="231" name="テキスト ボックス 230">
              <a:extLst>
                <a:ext uri="{FF2B5EF4-FFF2-40B4-BE49-F238E27FC236}">
                  <a16:creationId xmlns:a16="http://schemas.microsoft.com/office/drawing/2014/main" id="{56B2BFBF-B2E4-89EC-E6E3-C37E1F409C37}"/>
                </a:ext>
              </a:extLst>
            </p:cNvPr>
            <p:cNvSpPr txBox="1"/>
            <p:nvPr/>
          </p:nvSpPr>
          <p:spPr>
            <a:xfrm>
              <a:off x="3492283" y="4420221"/>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起票</a:t>
              </a:r>
            </a:p>
          </p:txBody>
        </p:sp>
        <p:sp>
          <p:nvSpPr>
            <p:cNvPr id="234" name="正方形/長方形 233">
              <a:extLst>
                <a:ext uri="{FF2B5EF4-FFF2-40B4-BE49-F238E27FC236}">
                  <a16:creationId xmlns:a16="http://schemas.microsoft.com/office/drawing/2014/main" id="{32EEEA90-13AD-903F-92D2-6641BF1DA4B1}"/>
                </a:ext>
              </a:extLst>
            </p:cNvPr>
            <p:cNvSpPr/>
            <p:nvPr/>
          </p:nvSpPr>
          <p:spPr>
            <a:xfrm>
              <a:off x="9679272" y="5476991"/>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リリース管理</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展開</a:t>
              </a: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開発</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35" name="コネクタ: カギ線 189">
              <a:extLst>
                <a:ext uri="{FF2B5EF4-FFF2-40B4-BE49-F238E27FC236}">
                  <a16:creationId xmlns:a16="http://schemas.microsoft.com/office/drawing/2014/main" id="{A61EAE59-9B70-7218-21B9-73C3B54CF891}"/>
                </a:ext>
              </a:extLst>
            </p:cNvPr>
            <p:cNvCxnSpPr>
              <a:cxnSpLocks/>
              <a:stCxn id="209" idx="1"/>
              <a:endCxn id="202" idx="3"/>
            </p:cNvCxnSpPr>
            <p:nvPr/>
          </p:nvCxnSpPr>
          <p:spPr>
            <a:xfrm flipH="1" flipV="1">
              <a:off x="8045930" y="4090070"/>
              <a:ext cx="1633342" cy="1"/>
            </a:xfrm>
            <a:prstGeom prst="straightConnector1">
              <a:avLst/>
            </a:prstGeom>
            <a:noFill/>
            <a:ln w="6350" cap="flat" cmpd="sng" algn="ctr">
              <a:solidFill>
                <a:srgbClr val="E7E6E6">
                  <a:lumMod val="50000"/>
                </a:srgbClr>
              </a:solidFill>
              <a:prstDash val="solid"/>
              <a:miter lim="800000"/>
              <a:tailEnd type="triangle"/>
            </a:ln>
            <a:effectLst/>
          </p:spPr>
        </p:cxnSp>
        <p:cxnSp>
          <p:nvCxnSpPr>
            <p:cNvPr id="236" name="コネクタ: カギ線 189">
              <a:extLst>
                <a:ext uri="{FF2B5EF4-FFF2-40B4-BE49-F238E27FC236}">
                  <a16:creationId xmlns:a16="http://schemas.microsoft.com/office/drawing/2014/main" id="{A45DE4D9-A302-FF07-461A-D516C7077D6A}"/>
                </a:ext>
              </a:extLst>
            </p:cNvPr>
            <p:cNvCxnSpPr>
              <a:cxnSpLocks/>
              <a:stCxn id="209" idx="2"/>
              <a:endCxn id="234" idx="0"/>
            </p:cNvCxnSpPr>
            <p:nvPr/>
          </p:nvCxnSpPr>
          <p:spPr>
            <a:xfrm>
              <a:off x="10258872" y="4275471"/>
              <a:ext cx="0" cy="120152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239" name="コネクタ: カギ線 189">
              <a:extLst>
                <a:ext uri="{FF2B5EF4-FFF2-40B4-BE49-F238E27FC236}">
                  <a16:creationId xmlns:a16="http://schemas.microsoft.com/office/drawing/2014/main" id="{46C253C5-E946-7B8F-A285-2DB4B36B16C3}"/>
                </a:ext>
              </a:extLst>
            </p:cNvPr>
            <p:cNvCxnSpPr>
              <a:cxnSpLocks/>
              <a:stCxn id="209" idx="1"/>
              <a:endCxn id="215" idx="3"/>
            </p:cNvCxnSpPr>
            <p:nvPr/>
          </p:nvCxnSpPr>
          <p:spPr>
            <a:xfrm rot="10800000" flipV="1">
              <a:off x="8045930" y="4090070"/>
              <a:ext cx="1633342" cy="639911"/>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240" name="テキスト ボックス 239">
              <a:extLst>
                <a:ext uri="{FF2B5EF4-FFF2-40B4-BE49-F238E27FC236}">
                  <a16:creationId xmlns:a16="http://schemas.microsoft.com/office/drawing/2014/main" id="{2457EB25-15D2-16D1-EC16-8CA083B8E56D}"/>
                </a:ext>
              </a:extLst>
            </p:cNvPr>
            <p:cNvSpPr txBox="1"/>
            <p:nvPr/>
          </p:nvSpPr>
          <p:spPr>
            <a:xfrm>
              <a:off x="7961701" y="4487743"/>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継続的デプロイ</a:t>
              </a:r>
            </a:p>
          </p:txBody>
        </p:sp>
        <p:sp>
          <p:nvSpPr>
            <p:cNvPr id="241" name="テキスト ボックス 240">
              <a:extLst>
                <a:ext uri="{FF2B5EF4-FFF2-40B4-BE49-F238E27FC236}">
                  <a16:creationId xmlns:a16="http://schemas.microsoft.com/office/drawing/2014/main" id="{C79C547B-E9ED-79AA-33F9-AD10A4B60E63}"/>
                </a:ext>
              </a:extLst>
            </p:cNvPr>
            <p:cNvSpPr txBox="1"/>
            <p:nvPr/>
          </p:nvSpPr>
          <p:spPr>
            <a:xfrm>
              <a:off x="7961701" y="3850264"/>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本番移行判定</a:t>
              </a:r>
            </a:p>
          </p:txBody>
        </p:sp>
        <p:sp>
          <p:nvSpPr>
            <p:cNvPr id="242" name="正方形/長方形 241">
              <a:extLst>
                <a:ext uri="{FF2B5EF4-FFF2-40B4-BE49-F238E27FC236}">
                  <a16:creationId xmlns:a16="http://schemas.microsoft.com/office/drawing/2014/main" id="{2A2C4159-5087-C1C3-2FAF-C309B8D43239}"/>
                </a:ext>
              </a:extLst>
            </p:cNvPr>
            <p:cNvSpPr/>
            <p:nvPr/>
          </p:nvSpPr>
          <p:spPr>
            <a:xfrm>
              <a:off x="6822662" y="5501529"/>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キャパシティおよび</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パフォーマンス管理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3" name="正方形/長方形 242">
              <a:extLst>
                <a:ext uri="{FF2B5EF4-FFF2-40B4-BE49-F238E27FC236}">
                  <a16:creationId xmlns:a16="http://schemas.microsoft.com/office/drawing/2014/main" id="{69039C6B-9789-AFAD-795C-E317675C317C}"/>
                </a:ext>
              </a:extLst>
            </p:cNvPr>
            <p:cNvSpPr/>
            <p:nvPr/>
          </p:nvSpPr>
          <p:spPr>
            <a:xfrm>
              <a:off x="5534643" y="5500034"/>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可用性管理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4" name="正方形/長方形 243">
              <a:extLst>
                <a:ext uri="{FF2B5EF4-FFF2-40B4-BE49-F238E27FC236}">
                  <a16:creationId xmlns:a16="http://schemas.microsoft.com/office/drawing/2014/main" id="{7C63C9D4-90BF-259D-2009-DAA8B18137B4}"/>
                </a:ext>
              </a:extLst>
            </p:cNvPr>
            <p:cNvSpPr/>
            <p:nvPr/>
          </p:nvSpPr>
          <p:spPr>
            <a:xfrm>
              <a:off x="4246624" y="5500034"/>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プロビジョニング</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6" name="テキスト ボックス 245">
              <a:extLst>
                <a:ext uri="{FF2B5EF4-FFF2-40B4-BE49-F238E27FC236}">
                  <a16:creationId xmlns:a16="http://schemas.microsoft.com/office/drawing/2014/main" id="{EEA81973-2B9E-8720-064E-6CD2E067785A}"/>
                </a:ext>
              </a:extLst>
            </p:cNvPr>
            <p:cNvSpPr txBox="1"/>
            <p:nvPr/>
          </p:nvSpPr>
          <p:spPr>
            <a:xfrm>
              <a:off x="10255820" y="4372417"/>
              <a:ext cx="996438" cy="400110"/>
            </a:xfrm>
            <a:prstGeom prst="rect">
              <a:avLst/>
            </a:prstGeom>
            <a:noFill/>
          </p:spPr>
          <p:txBody>
            <a:bodyPr wrap="square" rtlCol="0" anchor="ctr">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継続的デリバリ</a:t>
              </a:r>
              <a:r>
                <a:rPr lang="en-US" altLang="ja-JP" sz="1000" dirty="0">
                  <a:solidFill>
                    <a:srgbClr val="E7E6E6">
                      <a:lumMod val="50000"/>
                    </a:srgbClr>
                  </a:solidFill>
                  <a:latin typeface="Meiryo UI" panose="020B0604030504040204" pitchFamily="50" charset="-128"/>
                  <a:ea typeface="Meiryo UI" panose="020B0604030504040204" pitchFamily="50" charset="-128"/>
                </a:rPr>
                <a:t>/</a:t>
              </a:r>
              <a:br>
                <a:rPr lang="en-US" altLang="ja-JP" sz="1000" dirty="0">
                  <a:solidFill>
                    <a:srgbClr val="E7E6E6">
                      <a:lumMod val="50000"/>
                    </a:srgbClr>
                  </a:solidFill>
                  <a:latin typeface="Meiryo UI" panose="020B0604030504040204" pitchFamily="50" charset="-128"/>
                  <a:ea typeface="Meiryo UI" panose="020B0604030504040204" pitchFamily="50" charset="-128"/>
                </a:rPr>
              </a:br>
              <a:r>
                <a:rPr lang="ja-JP" altLang="en-US" sz="1000" dirty="0">
                  <a:solidFill>
                    <a:srgbClr val="E7E6E6">
                      <a:lumMod val="50000"/>
                    </a:srgbClr>
                  </a:solidFill>
                  <a:latin typeface="Meiryo UI" panose="020B0604030504040204" pitchFamily="50" charset="-128"/>
                  <a:ea typeface="Meiryo UI" panose="020B0604030504040204" pitchFamily="50" charset="-128"/>
                </a:rPr>
                <a:t>テスト</a:t>
              </a:r>
            </a:p>
          </p:txBody>
        </p:sp>
        <p:sp>
          <p:nvSpPr>
            <p:cNvPr id="247" name="テキスト ボックス 246">
              <a:extLst>
                <a:ext uri="{FF2B5EF4-FFF2-40B4-BE49-F238E27FC236}">
                  <a16:creationId xmlns:a16="http://schemas.microsoft.com/office/drawing/2014/main" id="{2495730C-937B-94D8-2390-CBD8C8854600}"/>
                </a:ext>
              </a:extLst>
            </p:cNvPr>
            <p:cNvSpPr txBox="1"/>
            <p:nvPr/>
          </p:nvSpPr>
          <p:spPr>
            <a:xfrm>
              <a:off x="10225568" y="6028282"/>
              <a:ext cx="146297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環境変更</a:t>
              </a:r>
              <a:r>
                <a:rPr lang="en-US" altLang="ja-JP" sz="1000" dirty="0">
                  <a:solidFill>
                    <a:srgbClr val="E7E6E6">
                      <a:lumMod val="50000"/>
                    </a:srgbClr>
                  </a:solidFill>
                  <a:latin typeface="Meiryo UI" panose="020B0604030504040204" pitchFamily="50" charset="-128"/>
                  <a:ea typeface="Meiryo UI" panose="020B0604030504040204" pitchFamily="50" charset="-128"/>
                </a:rPr>
                <a:t>/</a:t>
              </a:r>
              <a:r>
                <a:rPr lang="ja-JP" altLang="en-US" sz="1000" dirty="0">
                  <a:solidFill>
                    <a:srgbClr val="E7E6E6">
                      <a:lumMod val="50000"/>
                    </a:srgbClr>
                  </a:solidFill>
                  <a:latin typeface="Meiryo UI" panose="020B0604030504040204" pitchFamily="50" charset="-128"/>
                  <a:ea typeface="Meiryo UI" panose="020B0604030504040204" pitchFamily="50" charset="-128"/>
                </a:rPr>
                <a:t>資源リリース</a:t>
              </a:r>
            </a:p>
          </p:txBody>
        </p:sp>
        <p:cxnSp>
          <p:nvCxnSpPr>
            <p:cNvPr id="248" name="コネクタ: カギ線 189">
              <a:extLst>
                <a:ext uri="{FF2B5EF4-FFF2-40B4-BE49-F238E27FC236}">
                  <a16:creationId xmlns:a16="http://schemas.microsoft.com/office/drawing/2014/main" id="{CC833405-99FD-9644-D464-23790A3E5E2F}"/>
                </a:ext>
              </a:extLst>
            </p:cNvPr>
            <p:cNvCxnSpPr>
              <a:cxnSpLocks/>
              <a:stCxn id="234" idx="2"/>
            </p:cNvCxnSpPr>
            <p:nvPr/>
          </p:nvCxnSpPr>
          <p:spPr>
            <a:xfrm flipH="1">
              <a:off x="10255820" y="5847791"/>
              <a:ext cx="3052" cy="385511"/>
            </a:xfrm>
            <a:prstGeom prst="straightConnector1">
              <a:avLst/>
            </a:prstGeom>
            <a:noFill/>
            <a:ln w="6350" cap="flat" cmpd="sng" algn="ctr">
              <a:solidFill>
                <a:srgbClr val="E7E6E6">
                  <a:lumMod val="50000"/>
                </a:srgbClr>
              </a:solidFill>
              <a:prstDash val="solid"/>
              <a:miter lim="800000"/>
              <a:tailEnd type="triangle"/>
            </a:ln>
            <a:effectLst/>
          </p:spPr>
        </p:cxnSp>
        <p:cxnSp>
          <p:nvCxnSpPr>
            <p:cNvPr id="252" name="コネクタ: カギ線 189">
              <a:extLst>
                <a:ext uri="{FF2B5EF4-FFF2-40B4-BE49-F238E27FC236}">
                  <a16:creationId xmlns:a16="http://schemas.microsoft.com/office/drawing/2014/main" id="{0FC1B26E-BB7D-99F3-1DC1-54C6B481B9E9}"/>
                </a:ext>
              </a:extLst>
            </p:cNvPr>
            <p:cNvCxnSpPr>
              <a:cxnSpLocks/>
            </p:cNvCxnSpPr>
            <p:nvPr/>
          </p:nvCxnSpPr>
          <p:spPr>
            <a:xfrm rot="16200000" flipV="1">
              <a:off x="2777897" y="3685453"/>
              <a:ext cx="2929732" cy="694168"/>
            </a:xfrm>
            <a:prstGeom prst="bentConnector3">
              <a:avLst>
                <a:gd name="adj1" fmla="val 50000"/>
              </a:avLst>
            </a:prstGeom>
            <a:noFill/>
            <a:ln w="6350" cap="flat" cmpd="sng" algn="ctr">
              <a:solidFill>
                <a:srgbClr val="E7E6E6">
                  <a:lumMod val="50000"/>
                </a:srgbClr>
              </a:solidFill>
              <a:prstDash val="solid"/>
              <a:miter lim="800000"/>
              <a:headEnd type="triangle"/>
              <a:tailEnd type="none"/>
            </a:ln>
            <a:effectLst/>
          </p:spPr>
        </p:cxnSp>
        <p:sp>
          <p:nvSpPr>
            <p:cNvPr id="253" name="テキスト ボックス 252">
              <a:extLst>
                <a:ext uri="{FF2B5EF4-FFF2-40B4-BE49-F238E27FC236}">
                  <a16:creationId xmlns:a16="http://schemas.microsoft.com/office/drawing/2014/main" id="{0BB7B891-589A-E3AB-3B32-315BDAC705D9}"/>
                </a:ext>
              </a:extLst>
            </p:cNvPr>
            <p:cNvSpPr txBox="1"/>
            <p:nvPr/>
          </p:nvSpPr>
          <p:spPr>
            <a:xfrm>
              <a:off x="3852052" y="3786316"/>
              <a:ext cx="71759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自動変更</a:t>
              </a:r>
            </a:p>
          </p:txBody>
        </p:sp>
        <p:cxnSp>
          <p:nvCxnSpPr>
            <p:cNvPr id="254" name="コネクタ: カギ線 189">
              <a:extLst>
                <a:ext uri="{FF2B5EF4-FFF2-40B4-BE49-F238E27FC236}">
                  <a16:creationId xmlns:a16="http://schemas.microsoft.com/office/drawing/2014/main" id="{1327C835-6123-A2E7-6379-9124B1FAABE7}"/>
                </a:ext>
              </a:extLst>
            </p:cNvPr>
            <p:cNvCxnSpPr>
              <a:cxnSpLocks/>
              <a:stCxn id="244" idx="0"/>
              <a:endCxn id="215" idx="2"/>
            </p:cNvCxnSpPr>
            <p:nvPr/>
          </p:nvCxnSpPr>
          <p:spPr>
            <a:xfrm rot="5400000" flipH="1" flipV="1">
              <a:off x="5853951" y="3887655"/>
              <a:ext cx="584652" cy="2640106"/>
            </a:xfrm>
            <a:prstGeom prst="bentConnector3">
              <a:avLst>
                <a:gd name="adj1" fmla="val 70274"/>
              </a:avLst>
            </a:prstGeom>
            <a:noFill/>
            <a:ln w="6350" cap="flat" cmpd="sng" algn="ctr">
              <a:solidFill>
                <a:srgbClr val="E7E6E6">
                  <a:lumMod val="50000"/>
                </a:srgbClr>
              </a:solidFill>
              <a:prstDash val="solid"/>
              <a:miter lim="800000"/>
              <a:tailEnd type="triangle"/>
            </a:ln>
            <a:effectLst/>
          </p:spPr>
        </p:cxnSp>
        <p:sp>
          <p:nvSpPr>
            <p:cNvPr id="255" name="テキスト ボックス 254">
              <a:extLst>
                <a:ext uri="{FF2B5EF4-FFF2-40B4-BE49-F238E27FC236}">
                  <a16:creationId xmlns:a16="http://schemas.microsoft.com/office/drawing/2014/main" id="{64B3349B-3A47-F9D4-2B63-09C3C9CC9810}"/>
                </a:ext>
              </a:extLst>
            </p:cNvPr>
            <p:cNvSpPr txBox="1"/>
            <p:nvPr/>
          </p:nvSpPr>
          <p:spPr>
            <a:xfrm>
              <a:off x="4791096" y="5247968"/>
              <a:ext cx="700691"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自動変更</a:t>
              </a:r>
            </a:p>
          </p:txBody>
        </p:sp>
        <p:cxnSp>
          <p:nvCxnSpPr>
            <p:cNvPr id="256" name="コネクタ: カギ線 189">
              <a:extLst>
                <a:ext uri="{FF2B5EF4-FFF2-40B4-BE49-F238E27FC236}">
                  <a16:creationId xmlns:a16="http://schemas.microsoft.com/office/drawing/2014/main" id="{8AC71B2E-D1E3-95C6-6713-16C2BD2569AB}"/>
                </a:ext>
              </a:extLst>
            </p:cNvPr>
            <p:cNvCxnSpPr>
              <a:cxnSpLocks/>
            </p:cNvCxnSpPr>
            <p:nvPr/>
          </p:nvCxnSpPr>
          <p:spPr>
            <a:xfrm flipV="1">
              <a:off x="7859770" y="4915381"/>
              <a:ext cx="0" cy="352740"/>
            </a:xfrm>
            <a:prstGeom prst="straightConnector1">
              <a:avLst/>
            </a:prstGeom>
            <a:noFill/>
            <a:ln w="6350" cap="flat" cmpd="sng" algn="ctr">
              <a:solidFill>
                <a:srgbClr val="E7E6E6">
                  <a:lumMod val="50000"/>
                </a:srgbClr>
              </a:solidFill>
              <a:prstDash val="solid"/>
              <a:miter lim="800000"/>
              <a:tailEnd type="triangle"/>
            </a:ln>
            <a:effectLst/>
          </p:spPr>
        </p:cxnSp>
        <p:sp>
          <p:nvSpPr>
            <p:cNvPr id="257" name="テキスト ボックス 256">
              <a:extLst>
                <a:ext uri="{FF2B5EF4-FFF2-40B4-BE49-F238E27FC236}">
                  <a16:creationId xmlns:a16="http://schemas.microsoft.com/office/drawing/2014/main" id="{8696AC45-510D-69D1-E4B4-B89074BF4F8B}"/>
                </a:ext>
              </a:extLst>
            </p:cNvPr>
            <p:cNvSpPr txBox="1"/>
            <p:nvPr/>
          </p:nvSpPr>
          <p:spPr>
            <a:xfrm>
              <a:off x="7792198" y="4993994"/>
              <a:ext cx="133723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自動化・安定化指示</a:t>
              </a:r>
            </a:p>
          </p:txBody>
        </p:sp>
        <p:cxnSp>
          <p:nvCxnSpPr>
            <p:cNvPr id="258" name="コネクタ: カギ線 189">
              <a:extLst>
                <a:ext uri="{FF2B5EF4-FFF2-40B4-BE49-F238E27FC236}">
                  <a16:creationId xmlns:a16="http://schemas.microsoft.com/office/drawing/2014/main" id="{45AD4616-A22A-7283-F690-457C54F21C42}"/>
                </a:ext>
              </a:extLst>
            </p:cNvPr>
            <p:cNvCxnSpPr>
              <a:cxnSpLocks/>
              <a:stCxn id="223" idx="0"/>
              <a:endCxn id="214" idx="1"/>
            </p:cNvCxnSpPr>
            <p:nvPr/>
          </p:nvCxnSpPr>
          <p:spPr>
            <a:xfrm rot="5400000" flipH="1" flipV="1">
              <a:off x="3867569" y="4411898"/>
              <a:ext cx="766091" cy="1410182"/>
            </a:xfrm>
            <a:prstGeom prst="bentConnector2">
              <a:avLst/>
            </a:prstGeom>
            <a:noFill/>
            <a:ln w="6350" cap="flat" cmpd="sng" algn="ctr">
              <a:solidFill>
                <a:srgbClr val="E7E6E6">
                  <a:lumMod val="50000"/>
                </a:srgbClr>
              </a:solidFill>
              <a:prstDash val="solid"/>
              <a:miter lim="800000"/>
              <a:tailEnd type="triangle"/>
            </a:ln>
            <a:effectLst/>
          </p:spPr>
        </p:cxnSp>
        <p:sp>
          <p:nvSpPr>
            <p:cNvPr id="259" name="テキスト ボックス 258">
              <a:extLst>
                <a:ext uri="{FF2B5EF4-FFF2-40B4-BE49-F238E27FC236}">
                  <a16:creationId xmlns:a16="http://schemas.microsoft.com/office/drawing/2014/main" id="{0B2D2D61-2E21-116F-35C6-AF0CC9448890}"/>
                </a:ext>
              </a:extLst>
            </p:cNvPr>
            <p:cNvSpPr txBox="1"/>
            <p:nvPr/>
          </p:nvSpPr>
          <p:spPr>
            <a:xfrm>
              <a:off x="3506237" y="4738742"/>
              <a:ext cx="754786" cy="246221"/>
            </a:xfrm>
            <a:prstGeom prst="rect">
              <a:avLst/>
            </a:prstGeom>
            <a:noFill/>
          </p:spPr>
          <p:txBody>
            <a:bodyPr wrap="square" rtlCol="0" anchor="ctr">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データ提供</a:t>
              </a:r>
            </a:p>
          </p:txBody>
        </p:sp>
        <p:sp>
          <p:nvSpPr>
            <p:cNvPr id="260" name="テキスト ボックス 259">
              <a:extLst>
                <a:ext uri="{FF2B5EF4-FFF2-40B4-BE49-F238E27FC236}">
                  <a16:creationId xmlns:a16="http://schemas.microsoft.com/office/drawing/2014/main" id="{007FA489-C083-C3C1-4E2B-285F9079F4CE}"/>
                </a:ext>
              </a:extLst>
            </p:cNvPr>
            <p:cNvSpPr txBox="1"/>
            <p:nvPr/>
          </p:nvSpPr>
          <p:spPr>
            <a:xfrm>
              <a:off x="464522" y="6029723"/>
              <a:ext cx="905853" cy="246221"/>
            </a:xfrm>
            <a:prstGeom prst="rect">
              <a:avLst/>
            </a:prstGeom>
            <a:noFill/>
          </p:spPr>
          <p:txBody>
            <a:bodyPr wrap="square" rtlCol="0" anchor="ctr">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サービス利用</a:t>
              </a:r>
            </a:p>
          </p:txBody>
        </p:sp>
        <p:cxnSp>
          <p:nvCxnSpPr>
            <p:cNvPr id="261" name="コネクタ: カギ線 189">
              <a:extLst>
                <a:ext uri="{FF2B5EF4-FFF2-40B4-BE49-F238E27FC236}">
                  <a16:creationId xmlns:a16="http://schemas.microsoft.com/office/drawing/2014/main" id="{7BCE8DB3-4A25-29C6-479C-33FE606A68C5}"/>
                </a:ext>
              </a:extLst>
            </p:cNvPr>
            <p:cNvCxnSpPr>
              <a:cxnSpLocks/>
              <a:stCxn id="166" idx="2"/>
            </p:cNvCxnSpPr>
            <p:nvPr/>
          </p:nvCxnSpPr>
          <p:spPr>
            <a:xfrm>
              <a:off x="493683" y="6069483"/>
              <a:ext cx="0" cy="191267"/>
            </a:xfrm>
            <a:prstGeom prst="straightConnector1">
              <a:avLst/>
            </a:prstGeom>
            <a:noFill/>
            <a:ln w="6350" cap="flat" cmpd="sng" algn="ctr">
              <a:solidFill>
                <a:srgbClr val="E7E6E6">
                  <a:lumMod val="50000"/>
                </a:srgbClr>
              </a:solidFill>
              <a:prstDash val="solid"/>
              <a:miter lim="800000"/>
              <a:tailEnd type="triangle"/>
            </a:ln>
            <a:effectLst/>
          </p:spPr>
        </p:cxnSp>
        <p:sp>
          <p:nvSpPr>
            <p:cNvPr id="262" name="テキスト ボックス 261">
              <a:extLst>
                <a:ext uri="{FF2B5EF4-FFF2-40B4-BE49-F238E27FC236}">
                  <a16:creationId xmlns:a16="http://schemas.microsoft.com/office/drawing/2014/main" id="{D7032E6E-014B-7CF3-092C-A8D76D2C52DE}"/>
                </a:ext>
              </a:extLst>
            </p:cNvPr>
            <p:cNvSpPr txBox="1"/>
            <p:nvPr/>
          </p:nvSpPr>
          <p:spPr>
            <a:xfrm>
              <a:off x="3508203" y="5942682"/>
              <a:ext cx="55142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監視</a:t>
              </a:r>
            </a:p>
          </p:txBody>
        </p:sp>
        <p:cxnSp>
          <p:nvCxnSpPr>
            <p:cNvPr id="263" name="コネクタ: カギ線 189">
              <a:extLst>
                <a:ext uri="{FF2B5EF4-FFF2-40B4-BE49-F238E27FC236}">
                  <a16:creationId xmlns:a16="http://schemas.microsoft.com/office/drawing/2014/main" id="{DDDEE5A9-3B90-7952-8575-9CD0417E4D58}"/>
                </a:ext>
              </a:extLst>
            </p:cNvPr>
            <p:cNvCxnSpPr>
              <a:cxnSpLocks/>
            </p:cNvCxnSpPr>
            <p:nvPr/>
          </p:nvCxnSpPr>
          <p:spPr>
            <a:xfrm>
              <a:off x="3547842" y="5870834"/>
              <a:ext cx="0" cy="377350"/>
            </a:xfrm>
            <a:prstGeom prst="straightConnector1">
              <a:avLst/>
            </a:prstGeom>
            <a:noFill/>
            <a:ln w="6350" cap="flat" cmpd="sng" algn="ctr">
              <a:solidFill>
                <a:srgbClr val="E7E6E6">
                  <a:lumMod val="50000"/>
                </a:srgbClr>
              </a:solidFill>
              <a:prstDash val="solid"/>
              <a:miter lim="800000"/>
              <a:headEnd type="triangle"/>
              <a:tailEnd type="triangle"/>
            </a:ln>
            <a:effectLst/>
          </p:spPr>
        </p:cxnSp>
        <p:cxnSp>
          <p:nvCxnSpPr>
            <p:cNvPr id="169" name="コネクタ: カギ線 189">
              <a:extLst>
                <a:ext uri="{FF2B5EF4-FFF2-40B4-BE49-F238E27FC236}">
                  <a16:creationId xmlns:a16="http://schemas.microsoft.com/office/drawing/2014/main" id="{C40FBF69-69B9-48F7-272E-7C6F80DA04AE}"/>
                </a:ext>
              </a:extLst>
            </p:cNvPr>
            <p:cNvCxnSpPr>
              <a:cxnSpLocks/>
            </p:cNvCxnSpPr>
            <p:nvPr/>
          </p:nvCxnSpPr>
          <p:spPr>
            <a:xfrm>
              <a:off x="682698" y="2382394"/>
              <a:ext cx="708384" cy="3471"/>
            </a:xfrm>
            <a:prstGeom prst="straightConnector1">
              <a:avLst/>
            </a:prstGeom>
            <a:noFill/>
            <a:ln w="6350" cap="flat" cmpd="sng" algn="ctr">
              <a:solidFill>
                <a:srgbClr val="E7E6E6">
                  <a:lumMod val="50000"/>
                </a:srgbClr>
              </a:solidFill>
              <a:prstDash val="solid"/>
              <a:miter lim="800000"/>
              <a:headEnd type="triangle"/>
              <a:tailEnd type="triangle"/>
            </a:ln>
            <a:effectLst/>
          </p:spPr>
        </p:cxnSp>
        <p:sp>
          <p:nvSpPr>
            <p:cNvPr id="272" name="正方形/長方形 271">
              <a:extLst>
                <a:ext uri="{FF2B5EF4-FFF2-40B4-BE49-F238E27FC236}">
                  <a16:creationId xmlns:a16="http://schemas.microsoft.com/office/drawing/2014/main" id="{C849BE77-C83D-F1D8-418A-D780CAE102DA}"/>
                </a:ext>
              </a:extLst>
            </p:cNvPr>
            <p:cNvSpPr/>
            <p:nvPr/>
          </p:nvSpPr>
          <p:spPr>
            <a:xfrm>
              <a:off x="10672658" y="2200465"/>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データ基盤管理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75" name="正方形/長方形 274">
              <a:extLst>
                <a:ext uri="{FF2B5EF4-FFF2-40B4-BE49-F238E27FC236}">
                  <a16:creationId xmlns:a16="http://schemas.microsoft.com/office/drawing/2014/main" id="{F3765CE3-CAE3-4093-CC3D-8A58BD7DDDF8}"/>
                </a:ext>
              </a:extLst>
            </p:cNvPr>
            <p:cNvSpPr/>
            <p:nvPr/>
          </p:nvSpPr>
          <p:spPr>
            <a:xfrm>
              <a:off x="10672658" y="1362450"/>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戦略・</a:t>
              </a:r>
              <a:b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アーキテクチャ管理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80" name="正方形/長方形 279">
              <a:extLst>
                <a:ext uri="{FF2B5EF4-FFF2-40B4-BE49-F238E27FC236}">
                  <a16:creationId xmlns:a16="http://schemas.microsoft.com/office/drawing/2014/main" id="{11C43C70-7855-4D4B-2410-09FBB8BB2BA1}"/>
                </a:ext>
              </a:extLst>
            </p:cNvPr>
            <p:cNvSpPr/>
            <p:nvPr/>
          </p:nvSpPr>
          <p:spPr>
            <a:xfrm>
              <a:off x="1391082" y="1359772"/>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企画・案件管理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83" name="テキスト ボックス 282">
              <a:extLst>
                <a:ext uri="{FF2B5EF4-FFF2-40B4-BE49-F238E27FC236}">
                  <a16:creationId xmlns:a16="http://schemas.microsoft.com/office/drawing/2014/main" id="{2442732E-C0ED-5E80-0443-EC2D48F47E85}"/>
                </a:ext>
              </a:extLst>
            </p:cNvPr>
            <p:cNvSpPr txBox="1"/>
            <p:nvPr/>
          </p:nvSpPr>
          <p:spPr>
            <a:xfrm>
              <a:off x="671336" y="1545606"/>
              <a:ext cx="716844"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要求</a:t>
              </a:r>
              <a:r>
                <a:rPr lang="en-US" altLang="ja-JP" sz="1000" dirty="0">
                  <a:solidFill>
                    <a:srgbClr val="E7E6E6">
                      <a:lumMod val="50000"/>
                    </a:srgbClr>
                  </a:solidFill>
                  <a:latin typeface="Meiryo UI" panose="020B0604030504040204" pitchFamily="50" charset="-128"/>
                  <a:ea typeface="Meiryo UI" panose="020B0604030504040204" pitchFamily="50" charset="-128"/>
                </a:rPr>
                <a:t>/</a:t>
              </a:r>
              <a:br>
                <a:rPr lang="en-US" altLang="ja-JP" sz="1000" dirty="0">
                  <a:solidFill>
                    <a:srgbClr val="E7E6E6">
                      <a:lumMod val="50000"/>
                    </a:srgbClr>
                  </a:solidFill>
                  <a:latin typeface="Meiryo UI" panose="020B0604030504040204" pitchFamily="50" charset="-128"/>
                  <a:ea typeface="Meiryo UI" panose="020B0604030504040204" pitchFamily="50" charset="-128"/>
                </a:rPr>
              </a:br>
              <a:r>
                <a:rPr lang="ja-JP" altLang="en-US" sz="1000" dirty="0">
                  <a:solidFill>
                    <a:srgbClr val="E7E6E6">
                      <a:lumMod val="50000"/>
                    </a:srgbClr>
                  </a:solidFill>
                  <a:latin typeface="Meiryo UI" panose="020B0604030504040204" pitchFamily="50" charset="-128"/>
                  <a:ea typeface="Meiryo UI" panose="020B0604030504040204" pitchFamily="50" charset="-128"/>
                </a:rPr>
                <a:t>分析</a:t>
              </a:r>
            </a:p>
          </p:txBody>
        </p:sp>
        <p:cxnSp>
          <p:nvCxnSpPr>
            <p:cNvPr id="284" name="コネクタ: カギ線 189">
              <a:extLst>
                <a:ext uri="{FF2B5EF4-FFF2-40B4-BE49-F238E27FC236}">
                  <a16:creationId xmlns:a16="http://schemas.microsoft.com/office/drawing/2014/main" id="{75CF8B0E-A74F-79F9-BB6D-375C22AB0219}"/>
                </a:ext>
              </a:extLst>
            </p:cNvPr>
            <p:cNvCxnSpPr>
              <a:cxnSpLocks/>
            </p:cNvCxnSpPr>
            <p:nvPr/>
          </p:nvCxnSpPr>
          <p:spPr>
            <a:xfrm>
              <a:off x="674238" y="1537413"/>
              <a:ext cx="725305" cy="0"/>
            </a:xfrm>
            <a:prstGeom prst="straightConnector1">
              <a:avLst/>
            </a:prstGeom>
            <a:noFill/>
            <a:ln w="6350" cap="flat" cmpd="sng" algn="ctr">
              <a:solidFill>
                <a:srgbClr val="E7E6E6">
                  <a:lumMod val="50000"/>
                </a:srgbClr>
              </a:solidFill>
              <a:prstDash val="solid"/>
              <a:miter lim="800000"/>
              <a:headEnd type="triangle"/>
              <a:tailEnd type="triangle"/>
            </a:ln>
            <a:effectLst/>
          </p:spPr>
        </p:cxnSp>
        <p:cxnSp>
          <p:nvCxnSpPr>
            <p:cNvPr id="290" name="コネクタ: カギ線 189">
              <a:extLst>
                <a:ext uri="{FF2B5EF4-FFF2-40B4-BE49-F238E27FC236}">
                  <a16:creationId xmlns:a16="http://schemas.microsoft.com/office/drawing/2014/main" id="{0AE37C81-5E71-FA02-173E-FC7BCA07E3D6}"/>
                </a:ext>
              </a:extLst>
            </p:cNvPr>
            <p:cNvCxnSpPr>
              <a:cxnSpLocks/>
              <a:stCxn id="178" idx="0"/>
              <a:endCxn id="280" idx="2"/>
            </p:cNvCxnSpPr>
            <p:nvPr/>
          </p:nvCxnSpPr>
          <p:spPr>
            <a:xfrm flipV="1">
              <a:off x="1970682" y="1730572"/>
              <a:ext cx="0" cy="469893"/>
            </a:xfrm>
            <a:prstGeom prst="straightConnector1">
              <a:avLst/>
            </a:prstGeom>
            <a:noFill/>
            <a:ln w="6350" cap="flat" cmpd="sng" algn="ctr">
              <a:solidFill>
                <a:srgbClr val="E7E6E6">
                  <a:lumMod val="50000"/>
                </a:srgbClr>
              </a:solidFill>
              <a:prstDash val="solid"/>
              <a:miter lim="800000"/>
              <a:tailEnd type="triangle"/>
            </a:ln>
            <a:effectLst/>
          </p:spPr>
        </p:cxnSp>
        <p:sp>
          <p:nvSpPr>
            <p:cNvPr id="293" name="テキスト ボックス 292">
              <a:extLst>
                <a:ext uri="{FF2B5EF4-FFF2-40B4-BE49-F238E27FC236}">
                  <a16:creationId xmlns:a16="http://schemas.microsoft.com/office/drawing/2014/main" id="{79B430DB-3614-3706-BCB1-FE576D115AB7}"/>
                </a:ext>
              </a:extLst>
            </p:cNvPr>
            <p:cNvSpPr txBox="1"/>
            <p:nvPr/>
          </p:nvSpPr>
          <p:spPr>
            <a:xfrm>
              <a:off x="1921270" y="1956157"/>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cxnSp>
          <p:nvCxnSpPr>
            <p:cNvPr id="294" name="コネクタ: カギ線 189">
              <a:extLst>
                <a:ext uri="{FF2B5EF4-FFF2-40B4-BE49-F238E27FC236}">
                  <a16:creationId xmlns:a16="http://schemas.microsoft.com/office/drawing/2014/main" id="{B21CAFFD-33F2-71C1-3E5F-E02497ED224C}"/>
                </a:ext>
              </a:extLst>
            </p:cNvPr>
            <p:cNvCxnSpPr>
              <a:cxnSpLocks/>
              <a:stCxn id="280" idx="3"/>
              <a:endCxn id="188" idx="1"/>
            </p:cNvCxnSpPr>
            <p:nvPr/>
          </p:nvCxnSpPr>
          <p:spPr>
            <a:xfrm>
              <a:off x="2550282" y="1545172"/>
              <a:ext cx="1488935" cy="0"/>
            </a:xfrm>
            <a:prstGeom prst="straightConnector1">
              <a:avLst/>
            </a:prstGeom>
            <a:noFill/>
            <a:ln w="6350" cap="flat" cmpd="sng" algn="ctr">
              <a:solidFill>
                <a:srgbClr val="E7E6E6">
                  <a:lumMod val="50000"/>
                </a:srgbClr>
              </a:solidFill>
              <a:prstDash val="solid"/>
              <a:miter lim="800000"/>
              <a:tailEnd type="triangle"/>
            </a:ln>
            <a:effectLst/>
          </p:spPr>
        </p:cxnSp>
        <p:sp>
          <p:nvSpPr>
            <p:cNvPr id="297" name="テキスト ボックス 296">
              <a:extLst>
                <a:ext uri="{FF2B5EF4-FFF2-40B4-BE49-F238E27FC236}">
                  <a16:creationId xmlns:a16="http://schemas.microsoft.com/office/drawing/2014/main" id="{8A1D7F35-5A1D-D09C-7666-E1DCFCD671E5}"/>
                </a:ext>
              </a:extLst>
            </p:cNvPr>
            <p:cNvSpPr txBox="1"/>
            <p:nvPr/>
          </p:nvSpPr>
          <p:spPr>
            <a:xfrm>
              <a:off x="2470285" y="1548383"/>
              <a:ext cx="691045"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案件化</a:t>
              </a:r>
            </a:p>
          </p:txBody>
        </p:sp>
        <p:cxnSp>
          <p:nvCxnSpPr>
            <p:cNvPr id="298" name="コネクタ: カギ線 189">
              <a:extLst>
                <a:ext uri="{FF2B5EF4-FFF2-40B4-BE49-F238E27FC236}">
                  <a16:creationId xmlns:a16="http://schemas.microsoft.com/office/drawing/2014/main" id="{968AB90D-7A1C-FB66-76BC-CA82DEEFFE84}"/>
                </a:ext>
              </a:extLst>
            </p:cNvPr>
            <p:cNvCxnSpPr>
              <a:cxnSpLocks/>
              <a:stCxn id="188" idx="3"/>
              <a:endCxn id="186" idx="1"/>
            </p:cNvCxnSpPr>
            <p:nvPr/>
          </p:nvCxnSpPr>
          <p:spPr>
            <a:xfrm>
              <a:off x="5198417" y="1545172"/>
              <a:ext cx="723318" cy="2678"/>
            </a:xfrm>
            <a:prstGeom prst="straightConnector1">
              <a:avLst/>
            </a:prstGeom>
            <a:noFill/>
            <a:ln w="6350" cap="flat" cmpd="sng" algn="ctr">
              <a:solidFill>
                <a:srgbClr val="E7E6E6">
                  <a:lumMod val="50000"/>
                </a:srgbClr>
              </a:solidFill>
              <a:prstDash val="solid"/>
              <a:miter lim="800000"/>
              <a:tailEnd type="triangle"/>
            </a:ln>
            <a:effectLst/>
          </p:spPr>
        </p:cxnSp>
        <p:sp>
          <p:nvSpPr>
            <p:cNvPr id="299" name="テキスト ボックス 298">
              <a:extLst>
                <a:ext uri="{FF2B5EF4-FFF2-40B4-BE49-F238E27FC236}">
                  <a16:creationId xmlns:a16="http://schemas.microsoft.com/office/drawing/2014/main" id="{25AF3ECD-17CE-1CBE-F22E-4CAB985AC273}"/>
                </a:ext>
              </a:extLst>
            </p:cNvPr>
            <p:cNvSpPr txBox="1"/>
            <p:nvPr/>
          </p:nvSpPr>
          <p:spPr>
            <a:xfrm>
              <a:off x="5019403" y="1548383"/>
              <a:ext cx="723034"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定義</a:t>
              </a:r>
            </a:p>
          </p:txBody>
        </p:sp>
        <p:sp>
          <p:nvSpPr>
            <p:cNvPr id="308" name="正方形/長方形 307">
              <a:extLst>
                <a:ext uri="{FF2B5EF4-FFF2-40B4-BE49-F238E27FC236}">
                  <a16:creationId xmlns:a16="http://schemas.microsoft.com/office/drawing/2014/main" id="{3C7B2F91-E649-BA50-2911-3A1F3E335095}"/>
                </a:ext>
              </a:extLst>
            </p:cNvPr>
            <p:cNvSpPr/>
            <p:nvPr/>
          </p:nvSpPr>
          <p:spPr>
            <a:xfrm>
              <a:off x="6271225" y="6260750"/>
              <a:ext cx="5607646" cy="360000"/>
            </a:xfrm>
            <a:prstGeom prst="rect">
              <a:avLst/>
            </a:prstGeom>
            <a:solidFill>
              <a:srgbClr val="E7E6E6"/>
            </a:solidFill>
            <a:ln w="19050" cap="flat" cmpd="sng" algn="ctr">
              <a:solidFill>
                <a:srgbClr val="E7E6E6">
                  <a:lumMod val="50000"/>
                </a:srgbClr>
              </a:solidFill>
              <a:prstDash val="solid"/>
            </a:ln>
            <a:effectLst/>
          </p:spPr>
          <p:txBody>
            <a:bodyPr vert="horz" wrap="none" rtlCol="0" anchor="ctr"/>
            <a:lstStyle/>
            <a:p>
              <a:pPr lvl="0" algn="ctr" fontAlgn="base">
                <a:spcBef>
                  <a:spcPct val="0"/>
                </a:spcBef>
                <a:spcAft>
                  <a:spcPct val="0"/>
                </a:spcAf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システム（検証</a:t>
              </a:r>
              <a:r>
                <a:rPr kumimoji="0" lang="en-US" altLang="ja-JP" sz="1200" kern="0" dirty="0">
                  <a:solidFill>
                    <a:srgbClr val="E7E6E6">
                      <a:lumMod val="50000"/>
                    </a:srgbClr>
                  </a:solidFill>
                  <a:latin typeface="Meiryo UI" panose="020B0604030504040204" pitchFamily="50" charset="-128"/>
                  <a:ea typeface="Meiryo UI" panose="020B0604030504040204" pitchFamily="50" charset="-128"/>
                </a:rPr>
                <a:t>/</a:t>
              </a: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開発）</a:t>
              </a:r>
              <a:endParaRPr kumimoji="0" lang="en-US" altLang="ja-JP" sz="1200" kern="0" dirty="0">
                <a:solidFill>
                  <a:srgbClr val="E7E6E6">
                    <a:lumMod val="50000"/>
                  </a:srgbClr>
                </a:solidFill>
                <a:latin typeface="Meiryo UI" panose="020B0604030504040204" pitchFamily="50" charset="-128"/>
                <a:ea typeface="Meiryo UI" panose="020B0604030504040204" pitchFamily="50" charset="-128"/>
              </a:endParaRPr>
            </a:p>
          </p:txBody>
        </p:sp>
        <p:sp>
          <p:nvSpPr>
            <p:cNvPr id="309" name="正方形/長方形 308">
              <a:extLst>
                <a:ext uri="{FF2B5EF4-FFF2-40B4-BE49-F238E27FC236}">
                  <a16:creationId xmlns:a16="http://schemas.microsoft.com/office/drawing/2014/main" id="{82302232-4301-97CA-DF92-E19B956DC99D}"/>
                </a:ext>
              </a:extLst>
            </p:cNvPr>
            <p:cNvSpPr/>
            <p:nvPr/>
          </p:nvSpPr>
          <p:spPr>
            <a:xfrm>
              <a:off x="1391082" y="3072449"/>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kern="0" dirty="0">
                  <a:solidFill>
                    <a:srgbClr val="E7E6E6">
                      <a:lumMod val="50000"/>
                    </a:srgbClr>
                  </a:solidFill>
                  <a:latin typeface="Meiryo UI" panose="020B0604030504040204" pitchFamily="50" charset="-128"/>
                  <a:ea typeface="Meiryo UI" panose="020B0604030504040204" pitchFamily="50" charset="-128"/>
                </a:rPr>
                <a:t>社内展開・教育</a:t>
              </a:r>
              <a:br>
                <a:rPr kumimoji="0" lang="en-US" altLang="ja-JP" sz="1000" kern="0" dirty="0">
                  <a:solidFill>
                    <a:srgbClr val="E7E6E6">
                      <a:lumMod val="50000"/>
                    </a:srgbClr>
                  </a:solidFill>
                  <a:latin typeface="Meiryo UI" panose="020B0604030504040204" pitchFamily="50" charset="-128"/>
                  <a:ea typeface="Meiryo UI" panose="020B0604030504040204" pitchFamily="50" charset="-128"/>
                </a:rPr>
              </a:br>
              <a:r>
                <a:rPr kumimoji="0" lang="ja-JP" altLang="en-US" sz="1000" kern="0" dirty="0">
                  <a:solidFill>
                    <a:srgbClr val="E7E6E6">
                      <a:lumMod val="50000"/>
                    </a:srgbClr>
                  </a:solidFill>
                  <a:latin typeface="Meiryo UI" panose="020B0604030504040204" pitchFamily="50" charset="-128"/>
                  <a:ea typeface="Meiryo UI" panose="020B0604030504040204" pitchFamily="50" charset="-128"/>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10" name="コネクタ: カギ線 189">
              <a:extLst>
                <a:ext uri="{FF2B5EF4-FFF2-40B4-BE49-F238E27FC236}">
                  <a16:creationId xmlns:a16="http://schemas.microsoft.com/office/drawing/2014/main" id="{DCEB22F9-8410-E8F7-C94B-7E4C05AFF86C}"/>
                </a:ext>
              </a:extLst>
            </p:cNvPr>
            <p:cNvCxnSpPr>
              <a:cxnSpLocks/>
              <a:stCxn id="182" idx="1"/>
              <a:endCxn id="309" idx="3"/>
            </p:cNvCxnSpPr>
            <p:nvPr/>
          </p:nvCxnSpPr>
          <p:spPr>
            <a:xfrm flipH="1">
              <a:off x="2550282" y="3257849"/>
              <a:ext cx="1488935" cy="0"/>
            </a:xfrm>
            <a:prstGeom prst="straightConnector1">
              <a:avLst/>
            </a:prstGeom>
            <a:noFill/>
            <a:ln w="6350" cap="flat" cmpd="sng" algn="ctr">
              <a:solidFill>
                <a:srgbClr val="E7E6E6">
                  <a:lumMod val="50000"/>
                </a:srgbClr>
              </a:solidFill>
              <a:prstDash val="solid"/>
              <a:miter lim="800000"/>
              <a:tailEnd type="triangle"/>
            </a:ln>
            <a:effectLst/>
          </p:spPr>
        </p:cxnSp>
        <p:sp>
          <p:nvSpPr>
            <p:cNvPr id="268" name="フリーフォーム: 図形 12">
              <a:extLst>
                <a:ext uri="{FF2B5EF4-FFF2-40B4-BE49-F238E27FC236}">
                  <a16:creationId xmlns:a16="http://schemas.microsoft.com/office/drawing/2014/main" id="{738EB401-5BFE-4A85-4B7C-2351D26B2B9A}"/>
                </a:ext>
              </a:extLst>
            </p:cNvPr>
            <p:cNvSpPr>
              <a:spLocks/>
            </p:cNvSpPr>
            <p:nvPr/>
          </p:nvSpPr>
          <p:spPr bwMode="auto">
            <a:xfrm>
              <a:off x="3511440" y="3207477"/>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E7E6E6"/>
            </a:solidFill>
            <a:ln w="6350">
              <a:solidFill>
                <a:srgbClr val="E7E6E6">
                  <a:lumMod val="50000"/>
                </a:srgbClr>
              </a:solidFill>
              <a:prstDash val="solid"/>
              <a:round/>
              <a:headEnd/>
              <a:tailEnd/>
            </a:ln>
          </p:spPr>
          <p:txBody>
            <a:bodyPr anchor="ctr"/>
            <a:lstStyle/>
            <a:p>
              <a:endParaRPr kumimoji="0" lang="ja-JP" altLang="en-US" kern="0">
                <a:solidFill>
                  <a:srgbClr val="E7E6E6">
                    <a:lumMod val="50000"/>
                  </a:srgbClr>
                </a:solidFill>
                <a:latin typeface="Meiryo UI" panose="020B0604030504040204" pitchFamily="50" charset="-128"/>
                <a:ea typeface="Meiryo UI" panose="020B0604030504040204" pitchFamily="50" charset="-128"/>
              </a:endParaRPr>
            </a:p>
          </p:txBody>
        </p:sp>
        <p:sp>
          <p:nvSpPr>
            <p:cNvPr id="313" name="テキスト ボックス 312">
              <a:extLst>
                <a:ext uri="{FF2B5EF4-FFF2-40B4-BE49-F238E27FC236}">
                  <a16:creationId xmlns:a16="http://schemas.microsoft.com/office/drawing/2014/main" id="{0DCC23F8-FBD0-5761-63B9-00F29EF71EAB}"/>
                </a:ext>
              </a:extLst>
            </p:cNvPr>
            <p:cNvSpPr txBox="1"/>
            <p:nvPr/>
          </p:nvSpPr>
          <p:spPr>
            <a:xfrm>
              <a:off x="2520064" y="3268344"/>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sp>
          <p:nvSpPr>
            <p:cNvPr id="314" name="テキスト ボックス 313">
              <a:extLst>
                <a:ext uri="{FF2B5EF4-FFF2-40B4-BE49-F238E27FC236}">
                  <a16:creationId xmlns:a16="http://schemas.microsoft.com/office/drawing/2014/main" id="{4AFC1C5C-A0B3-5E52-7ABA-F5C7C82B6E8F}"/>
                </a:ext>
              </a:extLst>
            </p:cNvPr>
            <p:cNvSpPr txBox="1"/>
            <p:nvPr/>
          </p:nvSpPr>
          <p:spPr>
            <a:xfrm>
              <a:off x="5029601" y="2575661"/>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cxnSp>
          <p:nvCxnSpPr>
            <p:cNvPr id="315" name="コネクタ: カギ線 189">
              <a:extLst>
                <a:ext uri="{FF2B5EF4-FFF2-40B4-BE49-F238E27FC236}">
                  <a16:creationId xmlns:a16="http://schemas.microsoft.com/office/drawing/2014/main" id="{94BD9DE1-2E93-556C-9CFA-4FD2FBB8E7C3}"/>
                </a:ext>
              </a:extLst>
            </p:cNvPr>
            <p:cNvCxnSpPr>
              <a:cxnSpLocks/>
            </p:cNvCxnSpPr>
            <p:nvPr/>
          </p:nvCxnSpPr>
          <p:spPr>
            <a:xfrm>
              <a:off x="4527377" y="1730572"/>
              <a:ext cx="0" cy="1340196"/>
            </a:xfrm>
            <a:prstGeom prst="straightConnector1">
              <a:avLst/>
            </a:prstGeom>
            <a:noFill/>
            <a:ln w="6350" cap="flat" cmpd="sng" algn="ctr">
              <a:solidFill>
                <a:srgbClr val="E7E6E6">
                  <a:lumMod val="50000"/>
                </a:srgbClr>
              </a:solidFill>
              <a:prstDash val="solid"/>
              <a:miter lim="800000"/>
              <a:tailEnd type="triangle"/>
            </a:ln>
            <a:effectLst/>
          </p:spPr>
        </p:cxnSp>
        <p:sp>
          <p:nvSpPr>
            <p:cNvPr id="267" name="フリーフォーム: 図形 12">
              <a:extLst>
                <a:ext uri="{FF2B5EF4-FFF2-40B4-BE49-F238E27FC236}">
                  <a16:creationId xmlns:a16="http://schemas.microsoft.com/office/drawing/2014/main" id="{81C29C1E-2BF3-C8B0-484C-3EE746A8B6FF}"/>
                </a:ext>
              </a:extLst>
            </p:cNvPr>
            <p:cNvSpPr>
              <a:spLocks/>
            </p:cNvSpPr>
            <p:nvPr/>
          </p:nvSpPr>
          <p:spPr bwMode="auto">
            <a:xfrm>
              <a:off x="4490884" y="2334846"/>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318" name="テキスト ボックス 317">
              <a:extLst>
                <a:ext uri="{FF2B5EF4-FFF2-40B4-BE49-F238E27FC236}">
                  <a16:creationId xmlns:a16="http://schemas.microsoft.com/office/drawing/2014/main" id="{2CF2A4EB-C82E-D2A4-7057-D933A19C261C}"/>
                </a:ext>
              </a:extLst>
            </p:cNvPr>
            <p:cNvSpPr txBox="1"/>
            <p:nvPr/>
          </p:nvSpPr>
          <p:spPr>
            <a:xfrm>
              <a:off x="4107984" y="1727877"/>
              <a:ext cx="468663"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cxnSp>
          <p:nvCxnSpPr>
            <p:cNvPr id="319" name="コネクタ: カギ線 189">
              <a:extLst>
                <a:ext uri="{FF2B5EF4-FFF2-40B4-BE49-F238E27FC236}">
                  <a16:creationId xmlns:a16="http://schemas.microsoft.com/office/drawing/2014/main" id="{A579FB59-EC1F-E522-5DCE-C13239C94288}"/>
                </a:ext>
              </a:extLst>
            </p:cNvPr>
            <p:cNvCxnSpPr>
              <a:cxnSpLocks/>
              <a:stCxn id="309" idx="1"/>
            </p:cNvCxnSpPr>
            <p:nvPr/>
          </p:nvCxnSpPr>
          <p:spPr>
            <a:xfrm flipH="1">
              <a:off x="661287" y="3257849"/>
              <a:ext cx="729795" cy="0"/>
            </a:xfrm>
            <a:prstGeom prst="straightConnector1">
              <a:avLst/>
            </a:prstGeom>
            <a:noFill/>
            <a:ln w="6350" cap="flat" cmpd="sng" algn="ctr">
              <a:solidFill>
                <a:srgbClr val="E7E6E6">
                  <a:lumMod val="50000"/>
                </a:srgbClr>
              </a:solidFill>
              <a:prstDash val="solid"/>
              <a:miter lim="800000"/>
              <a:tailEnd type="triangle"/>
            </a:ln>
            <a:effectLst/>
          </p:spPr>
        </p:cxnSp>
        <p:sp>
          <p:nvSpPr>
            <p:cNvPr id="323" name="テキスト ボックス 322">
              <a:extLst>
                <a:ext uri="{FF2B5EF4-FFF2-40B4-BE49-F238E27FC236}">
                  <a16:creationId xmlns:a16="http://schemas.microsoft.com/office/drawing/2014/main" id="{4C4D17D9-C7E4-8D53-3E5C-7AC80679B56D}"/>
                </a:ext>
              </a:extLst>
            </p:cNvPr>
            <p:cNvSpPr txBox="1"/>
            <p:nvPr/>
          </p:nvSpPr>
          <p:spPr>
            <a:xfrm>
              <a:off x="1020266" y="3257849"/>
              <a:ext cx="446905"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広報</a:t>
              </a:r>
            </a:p>
          </p:txBody>
        </p:sp>
        <p:sp>
          <p:nvSpPr>
            <p:cNvPr id="237" name="フリーフォーム: 図形 12">
              <a:extLst>
                <a:ext uri="{FF2B5EF4-FFF2-40B4-BE49-F238E27FC236}">
                  <a16:creationId xmlns:a16="http://schemas.microsoft.com/office/drawing/2014/main" id="{D4BAD517-E92F-F32D-327A-297D150F0861}"/>
                </a:ext>
              </a:extLst>
            </p:cNvPr>
            <p:cNvSpPr>
              <a:spLocks/>
            </p:cNvSpPr>
            <p:nvPr/>
          </p:nvSpPr>
          <p:spPr bwMode="auto">
            <a:xfrm>
              <a:off x="7430391" y="3476759"/>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E7E6E6"/>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333" name="テキスト ボックス 332">
              <a:extLst>
                <a:ext uri="{FF2B5EF4-FFF2-40B4-BE49-F238E27FC236}">
                  <a16:creationId xmlns:a16="http://schemas.microsoft.com/office/drawing/2014/main" id="{5DFF8502-485E-73CF-9CBA-10A42539375A}"/>
                </a:ext>
              </a:extLst>
            </p:cNvPr>
            <p:cNvSpPr txBox="1"/>
            <p:nvPr/>
          </p:nvSpPr>
          <p:spPr>
            <a:xfrm>
              <a:off x="6985461" y="2973327"/>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sp>
          <p:nvSpPr>
            <p:cNvPr id="162" name="正方形/長方形 161">
              <a:extLst>
                <a:ext uri="{FF2B5EF4-FFF2-40B4-BE49-F238E27FC236}">
                  <a16:creationId xmlns:a16="http://schemas.microsoft.com/office/drawing/2014/main" id="{8C749E48-1835-7980-9CAA-0705887E6923}"/>
                </a:ext>
              </a:extLst>
            </p:cNvPr>
            <p:cNvSpPr/>
            <p:nvPr/>
          </p:nvSpPr>
          <p:spPr>
            <a:xfrm>
              <a:off x="8635952" y="977153"/>
              <a:ext cx="3242920"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開発・保守領域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64" name="正方形/長方形 163">
              <a:extLst>
                <a:ext uri="{FF2B5EF4-FFF2-40B4-BE49-F238E27FC236}">
                  <a16:creationId xmlns:a16="http://schemas.microsoft.com/office/drawing/2014/main" id="{74A3968A-3CAC-7C91-6D28-9DA0A44C63B0}"/>
                </a:ext>
              </a:extLst>
            </p:cNvPr>
            <p:cNvSpPr/>
            <p:nvPr/>
          </p:nvSpPr>
          <p:spPr>
            <a:xfrm>
              <a:off x="4886372" y="977153"/>
              <a:ext cx="3240000"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運用管理領域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77" name="正方形/長方形 176">
              <a:extLst>
                <a:ext uri="{FF2B5EF4-FFF2-40B4-BE49-F238E27FC236}">
                  <a16:creationId xmlns:a16="http://schemas.microsoft.com/office/drawing/2014/main" id="{AE28ECDB-8E75-9ED9-52AA-81433AC86D8F}"/>
                </a:ext>
              </a:extLst>
            </p:cNvPr>
            <p:cNvSpPr/>
            <p:nvPr/>
          </p:nvSpPr>
          <p:spPr>
            <a:xfrm>
              <a:off x="1141625" y="977153"/>
              <a:ext cx="3232247"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a:t>
              </a:r>
              <a:r>
                <a:rPr kumimoji="0" lang="ja-JP" altLang="en-US" sz="1400" b="1" u="sng" kern="0" dirty="0">
                  <a:solidFill>
                    <a:srgbClr val="E7E6E6">
                      <a:lumMod val="50000"/>
                    </a:srgbClr>
                  </a:solidFill>
                  <a:latin typeface="Meiryo UI" panose="020B0604030504040204" pitchFamily="50" charset="-128"/>
                  <a:ea typeface="Meiryo UI" panose="020B0604030504040204" pitchFamily="50" charset="-128"/>
                </a:rPr>
                <a:t>フロント</a:t>
              </a: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40" name="コネクタ: カギ線 189">
              <a:extLst>
                <a:ext uri="{FF2B5EF4-FFF2-40B4-BE49-F238E27FC236}">
                  <a16:creationId xmlns:a16="http://schemas.microsoft.com/office/drawing/2014/main" id="{FACC0355-53C1-717E-54F5-BAF86E9D137B}"/>
                </a:ext>
              </a:extLst>
            </p:cNvPr>
            <p:cNvCxnSpPr>
              <a:cxnSpLocks/>
              <a:stCxn id="275" idx="1"/>
            </p:cNvCxnSpPr>
            <p:nvPr/>
          </p:nvCxnSpPr>
          <p:spPr>
            <a:xfrm rot="10800000" flipV="1">
              <a:off x="10263914" y="1547850"/>
              <a:ext cx="408745" cy="2356820"/>
            </a:xfrm>
            <a:prstGeom prst="bentConnector2">
              <a:avLst/>
            </a:prstGeom>
            <a:noFill/>
            <a:ln w="6350" cap="flat" cmpd="sng" algn="ctr">
              <a:solidFill>
                <a:srgbClr val="E7E6E6">
                  <a:lumMod val="50000"/>
                </a:srgbClr>
              </a:solidFill>
              <a:prstDash val="solid"/>
              <a:miter lim="800000"/>
              <a:tailEnd type="triangle"/>
            </a:ln>
            <a:effectLst/>
          </p:spPr>
        </p:cxnSp>
        <p:sp>
          <p:nvSpPr>
            <p:cNvPr id="343" name="テキスト ボックス 342">
              <a:extLst>
                <a:ext uri="{FF2B5EF4-FFF2-40B4-BE49-F238E27FC236}">
                  <a16:creationId xmlns:a16="http://schemas.microsoft.com/office/drawing/2014/main" id="{C05A821F-7C88-A4A4-DBED-9A1FFBE9B611}"/>
                </a:ext>
              </a:extLst>
            </p:cNvPr>
            <p:cNvSpPr txBox="1"/>
            <p:nvPr/>
          </p:nvSpPr>
          <p:spPr>
            <a:xfrm>
              <a:off x="10230419" y="1551427"/>
              <a:ext cx="468663"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cxnSp>
          <p:nvCxnSpPr>
            <p:cNvPr id="344" name="コネクタ: カギ線 189">
              <a:extLst>
                <a:ext uri="{FF2B5EF4-FFF2-40B4-BE49-F238E27FC236}">
                  <a16:creationId xmlns:a16="http://schemas.microsoft.com/office/drawing/2014/main" id="{76D947BD-0689-C7B9-0D2A-2E22E7113A9F}"/>
                </a:ext>
              </a:extLst>
            </p:cNvPr>
            <p:cNvCxnSpPr>
              <a:cxnSpLocks/>
              <a:stCxn id="275" idx="2"/>
              <a:endCxn id="272" idx="0"/>
            </p:cNvCxnSpPr>
            <p:nvPr/>
          </p:nvCxnSpPr>
          <p:spPr>
            <a:xfrm>
              <a:off x="11252258" y="1733250"/>
              <a:ext cx="0" cy="467215"/>
            </a:xfrm>
            <a:prstGeom prst="straightConnector1">
              <a:avLst/>
            </a:prstGeom>
            <a:noFill/>
            <a:ln w="6350" cap="flat" cmpd="sng" algn="ctr">
              <a:solidFill>
                <a:srgbClr val="E7E6E6">
                  <a:lumMod val="50000"/>
                </a:srgbClr>
              </a:solidFill>
              <a:prstDash val="solid"/>
              <a:miter lim="800000"/>
              <a:tailEnd type="triangle"/>
            </a:ln>
            <a:effectLst/>
          </p:spPr>
        </p:cxnSp>
        <p:sp>
          <p:nvSpPr>
            <p:cNvPr id="347" name="テキスト ボックス 346">
              <a:extLst>
                <a:ext uri="{FF2B5EF4-FFF2-40B4-BE49-F238E27FC236}">
                  <a16:creationId xmlns:a16="http://schemas.microsoft.com/office/drawing/2014/main" id="{9BE6BCB0-4E0A-B8C9-6309-C28B8A0D9753}"/>
                </a:ext>
              </a:extLst>
            </p:cNvPr>
            <p:cNvSpPr txBox="1"/>
            <p:nvPr/>
          </p:nvSpPr>
          <p:spPr>
            <a:xfrm>
              <a:off x="11251606" y="1739084"/>
              <a:ext cx="468663"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cxnSp>
          <p:nvCxnSpPr>
            <p:cNvPr id="348" name="コネクタ: カギ線 189">
              <a:extLst>
                <a:ext uri="{FF2B5EF4-FFF2-40B4-BE49-F238E27FC236}">
                  <a16:creationId xmlns:a16="http://schemas.microsoft.com/office/drawing/2014/main" id="{6459F26B-A6F0-B152-E759-72937740EE9B}"/>
                </a:ext>
              </a:extLst>
            </p:cNvPr>
            <p:cNvCxnSpPr>
              <a:cxnSpLocks/>
              <a:stCxn id="272" idx="1"/>
              <a:endCxn id="209" idx="0"/>
            </p:cNvCxnSpPr>
            <p:nvPr/>
          </p:nvCxnSpPr>
          <p:spPr>
            <a:xfrm rot="10800000" flipV="1">
              <a:off x="10258872" y="2385865"/>
              <a:ext cx="413786" cy="1518806"/>
            </a:xfrm>
            <a:prstGeom prst="bentConnector2">
              <a:avLst/>
            </a:prstGeom>
            <a:noFill/>
            <a:ln w="6350" cap="flat" cmpd="sng" algn="ctr">
              <a:solidFill>
                <a:srgbClr val="E7E6E6">
                  <a:lumMod val="50000"/>
                </a:srgbClr>
              </a:solidFill>
              <a:prstDash val="solid"/>
              <a:miter lim="800000"/>
              <a:tailEnd type="triangle"/>
            </a:ln>
            <a:effectLst/>
          </p:spPr>
        </p:cxnSp>
        <p:sp>
          <p:nvSpPr>
            <p:cNvPr id="352" name="テキスト ボックス 351">
              <a:extLst>
                <a:ext uri="{FF2B5EF4-FFF2-40B4-BE49-F238E27FC236}">
                  <a16:creationId xmlns:a16="http://schemas.microsoft.com/office/drawing/2014/main" id="{3364F723-EB4F-1611-0CC3-4753480D515C}"/>
                </a:ext>
              </a:extLst>
            </p:cNvPr>
            <p:cNvSpPr txBox="1"/>
            <p:nvPr/>
          </p:nvSpPr>
          <p:spPr>
            <a:xfrm>
              <a:off x="10230420" y="2398096"/>
              <a:ext cx="468663"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sp>
          <p:nvSpPr>
            <p:cNvPr id="358" name="正方形/長方形 357">
              <a:extLst>
                <a:ext uri="{FF2B5EF4-FFF2-40B4-BE49-F238E27FC236}">
                  <a16:creationId xmlns:a16="http://schemas.microsoft.com/office/drawing/2014/main" id="{90659D91-5838-DDB1-189B-3D226693B3A1}"/>
                </a:ext>
              </a:extLst>
            </p:cNvPr>
            <p:cNvSpPr/>
            <p:nvPr/>
          </p:nvSpPr>
          <p:spPr>
            <a:xfrm>
              <a:off x="10672658" y="3077377"/>
              <a:ext cx="115920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サービスカタログ</a:t>
              </a:r>
              <a:b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管理（管理者）</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59" name="コネクタ: カギ線 189">
              <a:extLst>
                <a:ext uri="{FF2B5EF4-FFF2-40B4-BE49-F238E27FC236}">
                  <a16:creationId xmlns:a16="http://schemas.microsoft.com/office/drawing/2014/main" id="{92AAA7CF-5FFE-A2D5-4EFF-862D5461016B}"/>
                </a:ext>
              </a:extLst>
            </p:cNvPr>
            <p:cNvCxnSpPr>
              <a:cxnSpLocks/>
              <a:stCxn id="209" idx="3"/>
              <a:endCxn id="358" idx="2"/>
            </p:cNvCxnSpPr>
            <p:nvPr/>
          </p:nvCxnSpPr>
          <p:spPr>
            <a:xfrm flipV="1">
              <a:off x="10838472" y="3448177"/>
              <a:ext cx="413786" cy="641894"/>
            </a:xfrm>
            <a:prstGeom prst="bentConnector2">
              <a:avLst/>
            </a:prstGeom>
            <a:noFill/>
            <a:ln w="6350" cap="flat" cmpd="sng" algn="ctr">
              <a:solidFill>
                <a:srgbClr val="E7E6E6">
                  <a:lumMod val="50000"/>
                </a:srgbClr>
              </a:solidFill>
              <a:prstDash val="solid"/>
              <a:miter lim="800000"/>
              <a:headEnd type="none"/>
              <a:tailEnd type="triangle"/>
            </a:ln>
            <a:effectLst/>
          </p:spPr>
        </p:cxnSp>
        <p:sp>
          <p:nvSpPr>
            <p:cNvPr id="362" name="テキスト ボックス 361">
              <a:extLst>
                <a:ext uri="{FF2B5EF4-FFF2-40B4-BE49-F238E27FC236}">
                  <a16:creationId xmlns:a16="http://schemas.microsoft.com/office/drawing/2014/main" id="{B0274239-E555-53B8-BA8F-8A3BBF961861}"/>
                </a:ext>
              </a:extLst>
            </p:cNvPr>
            <p:cNvSpPr txBox="1"/>
            <p:nvPr/>
          </p:nvSpPr>
          <p:spPr>
            <a:xfrm>
              <a:off x="10823004" y="4076120"/>
              <a:ext cx="514903"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登録</a:t>
              </a:r>
            </a:p>
          </p:txBody>
        </p:sp>
        <p:cxnSp>
          <p:nvCxnSpPr>
            <p:cNvPr id="363" name="コネクタ: カギ線 189">
              <a:extLst>
                <a:ext uri="{FF2B5EF4-FFF2-40B4-BE49-F238E27FC236}">
                  <a16:creationId xmlns:a16="http://schemas.microsoft.com/office/drawing/2014/main" id="{15CC950A-77B0-B4A3-F143-9BF649A46ABF}"/>
                </a:ext>
              </a:extLst>
            </p:cNvPr>
            <p:cNvCxnSpPr>
              <a:cxnSpLocks/>
            </p:cNvCxnSpPr>
            <p:nvPr/>
          </p:nvCxnSpPr>
          <p:spPr>
            <a:xfrm rot="10800000" flipH="1">
              <a:off x="663669" y="4103102"/>
              <a:ext cx="729795" cy="0"/>
            </a:xfrm>
            <a:prstGeom prst="straightConnector1">
              <a:avLst/>
            </a:prstGeom>
            <a:noFill/>
            <a:ln w="6350" cap="flat" cmpd="sng" algn="ctr">
              <a:solidFill>
                <a:srgbClr val="E7E6E6">
                  <a:lumMod val="50000"/>
                </a:srgbClr>
              </a:solidFill>
              <a:prstDash val="solid"/>
              <a:miter lim="800000"/>
              <a:tailEnd type="triangle"/>
            </a:ln>
            <a:effectLst/>
          </p:spPr>
        </p:cxnSp>
        <p:sp>
          <p:nvSpPr>
            <p:cNvPr id="364" name="テキスト ボックス 363">
              <a:extLst>
                <a:ext uri="{FF2B5EF4-FFF2-40B4-BE49-F238E27FC236}">
                  <a16:creationId xmlns:a16="http://schemas.microsoft.com/office/drawing/2014/main" id="{FE553C4F-5B8A-6DE3-9AC2-3C547D124D6D}"/>
                </a:ext>
              </a:extLst>
            </p:cNvPr>
            <p:cNvSpPr txBox="1"/>
            <p:nvPr/>
          </p:nvSpPr>
          <p:spPr>
            <a:xfrm>
              <a:off x="630844" y="4103102"/>
              <a:ext cx="446905"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閲覧</a:t>
              </a:r>
            </a:p>
          </p:txBody>
        </p:sp>
        <p:cxnSp>
          <p:nvCxnSpPr>
            <p:cNvPr id="366" name="コネクタ: カギ線 189">
              <a:extLst>
                <a:ext uri="{FF2B5EF4-FFF2-40B4-BE49-F238E27FC236}">
                  <a16:creationId xmlns:a16="http://schemas.microsoft.com/office/drawing/2014/main" id="{6BF13C15-9116-3E62-691A-51AD1F85BE20}"/>
                </a:ext>
              </a:extLst>
            </p:cNvPr>
            <p:cNvCxnSpPr>
              <a:cxnSpLocks/>
              <a:stCxn id="181" idx="3"/>
            </p:cNvCxnSpPr>
            <p:nvPr/>
          </p:nvCxnSpPr>
          <p:spPr>
            <a:xfrm flipV="1">
              <a:off x="2550282" y="2567671"/>
              <a:ext cx="649281" cy="1526361"/>
            </a:xfrm>
            <a:prstGeom prst="bentConnector2">
              <a:avLst/>
            </a:prstGeom>
            <a:noFill/>
            <a:ln w="6350" cap="flat" cmpd="sng" algn="ctr">
              <a:solidFill>
                <a:srgbClr val="E7E6E6">
                  <a:lumMod val="50000"/>
                </a:srgbClr>
              </a:solidFill>
              <a:prstDash val="solid"/>
              <a:miter lim="800000"/>
              <a:headEnd type="none"/>
              <a:tailEnd type="triangle"/>
            </a:ln>
            <a:effectLst/>
          </p:spPr>
        </p:cxnSp>
        <p:sp>
          <p:nvSpPr>
            <p:cNvPr id="367" name="テキスト ボックス 366">
              <a:extLst>
                <a:ext uri="{FF2B5EF4-FFF2-40B4-BE49-F238E27FC236}">
                  <a16:creationId xmlns:a16="http://schemas.microsoft.com/office/drawing/2014/main" id="{9E55E663-187D-5639-63E6-F489B32FBC5E}"/>
                </a:ext>
              </a:extLst>
            </p:cNvPr>
            <p:cNvSpPr txBox="1"/>
            <p:nvPr/>
          </p:nvSpPr>
          <p:spPr>
            <a:xfrm>
              <a:off x="2515629" y="4093261"/>
              <a:ext cx="468094"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連携</a:t>
              </a:r>
            </a:p>
          </p:txBody>
        </p:sp>
        <p:sp>
          <p:nvSpPr>
            <p:cNvPr id="371" name="フリーフォーム: 図形 12">
              <a:extLst>
                <a:ext uri="{FF2B5EF4-FFF2-40B4-BE49-F238E27FC236}">
                  <a16:creationId xmlns:a16="http://schemas.microsoft.com/office/drawing/2014/main" id="{55CF6070-E394-7955-7FA4-310ABDE089C6}"/>
                </a:ext>
              </a:extLst>
            </p:cNvPr>
            <p:cNvSpPr>
              <a:spLocks/>
            </p:cNvSpPr>
            <p:nvPr/>
          </p:nvSpPr>
          <p:spPr bwMode="auto">
            <a:xfrm>
              <a:off x="3162187" y="3209592"/>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E7E6E6"/>
            </a:solidFill>
            <a:ln w="6350">
              <a:solidFill>
                <a:srgbClr val="E7E6E6">
                  <a:lumMod val="50000"/>
                </a:srgbClr>
              </a:solidFill>
              <a:prstDash val="solid"/>
              <a:round/>
              <a:headEnd/>
              <a:tailEnd/>
            </a:ln>
          </p:spPr>
          <p:txBody>
            <a:bodyPr anchor="ctr"/>
            <a:lstStyle/>
            <a:p>
              <a:endParaRPr kumimoji="0" lang="ja-JP" altLang="en-US" kern="0">
                <a:solidFill>
                  <a:srgbClr val="E7E6E6">
                    <a:lumMod val="50000"/>
                  </a:srgbClr>
                </a:solidFill>
                <a:latin typeface="Meiryo UI" panose="020B0604030504040204" pitchFamily="50" charset="-128"/>
                <a:ea typeface="Meiryo UI" panose="020B0604030504040204" pitchFamily="50" charset="-128"/>
              </a:endParaRPr>
            </a:p>
          </p:txBody>
        </p:sp>
        <p:sp>
          <p:nvSpPr>
            <p:cNvPr id="378" name="フリーフォーム: 図形 12">
              <a:extLst>
                <a:ext uri="{FF2B5EF4-FFF2-40B4-BE49-F238E27FC236}">
                  <a16:creationId xmlns:a16="http://schemas.microsoft.com/office/drawing/2014/main" id="{3C4F235A-445F-35AB-D362-5C0492273243}"/>
                </a:ext>
              </a:extLst>
            </p:cNvPr>
            <p:cNvSpPr>
              <a:spLocks/>
            </p:cNvSpPr>
            <p:nvPr/>
          </p:nvSpPr>
          <p:spPr bwMode="auto">
            <a:xfrm>
              <a:off x="3858043" y="3207476"/>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E7E6E6"/>
            </a:solidFill>
            <a:ln w="6350">
              <a:solidFill>
                <a:srgbClr val="E7E6E6">
                  <a:lumMod val="50000"/>
                </a:srgbClr>
              </a:solidFill>
              <a:prstDash val="solid"/>
              <a:round/>
              <a:headEnd/>
              <a:tailEnd/>
            </a:ln>
          </p:spPr>
          <p:txBody>
            <a:bodyPr anchor="ctr"/>
            <a:lstStyle/>
            <a:p>
              <a:endParaRPr kumimoji="0" lang="ja-JP" altLang="en-US" kern="0">
                <a:solidFill>
                  <a:srgbClr val="E7E6E6">
                    <a:lumMod val="50000"/>
                  </a:srgbClr>
                </a:solidFill>
                <a:latin typeface="Meiryo UI" panose="020B0604030504040204" pitchFamily="50" charset="-128"/>
                <a:ea typeface="Meiryo UI" panose="020B0604030504040204" pitchFamily="50" charset="-128"/>
              </a:endParaRPr>
            </a:p>
          </p:txBody>
        </p:sp>
        <p:sp>
          <p:nvSpPr>
            <p:cNvPr id="238" name="フリーフォーム: 図形 12">
              <a:extLst>
                <a:ext uri="{FF2B5EF4-FFF2-40B4-BE49-F238E27FC236}">
                  <a16:creationId xmlns:a16="http://schemas.microsoft.com/office/drawing/2014/main" id="{AD438A71-C990-3DAA-A94C-22B880EFF22D}"/>
                </a:ext>
              </a:extLst>
            </p:cNvPr>
            <p:cNvSpPr>
              <a:spLocks/>
            </p:cNvSpPr>
            <p:nvPr/>
          </p:nvSpPr>
          <p:spPr bwMode="auto">
            <a:xfrm>
              <a:off x="4552853" y="4683196"/>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FFFFFF"/>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381" name="テキスト ボックス 380">
              <a:extLst>
                <a:ext uri="{FF2B5EF4-FFF2-40B4-BE49-F238E27FC236}">
                  <a16:creationId xmlns:a16="http://schemas.microsoft.com/office/drawing/2014/main" id="{A968961E-8955-6B1F-086F-31E05A273CA3}"/>
                </a:ext>
              </a:extLst>
            </p:cNvPr>
            <p:cNvSpPr txBox="1"/>
            <p:nvPr/>
          </p:nvSpPr>
          <p:spPr>
            <a:xfrm>
              <a:off x="1378391" y="6028282"/>
              <a:ext cx="146297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環境変更</a:t>
              </a:r>
              <a:r>
                <a:rPr lang="en-US" altLang="ja-JP" sz="1000" dirty="0">
                  <a:solidFill>
                    <a:srgbClr val="E7E6E6">
                      <a:lumMod val="50000"/>
                    </a:srgbClr>
                  </a:solidFill>
                  <a:latin typeface="Meiryo UI" panose="020B0604030504040204" pitchFamily="50" charset="-128"/>
                  <a:ea typeface="Meiryo UI" panose="020B0604030504040204" pitchFamily="50" charset="-128"/>
                </a:rPr>
                <a:t>/</a:t>
              </a:r>
              <a:r>
                <a:rPr lang="ja-JP" altLang="en-US" sz="1000" dirty="0">
                  <a:solidFill>
                    <a:srgbClr val="E7E6E6">
                      <a:lumMod val="50000"/>
                    </a:srgbClr>
                  </a:solidFill>
                  <a:latin typeface="Meiryo UI" panose="020B0604030504040204" pitchFamily="50" charset="-128"/>
                  <a:ea typeface="Meiryo UI" panose="020B0604030504040204" pitchFamily="50" charset="-128"/>
                </a:rPr>
                <a:t>資源リリース</a:t>
              </a:r>
            </a:p>
          </p:txBody>
        </p:sp>
        <p:cxnSp>
          <p:nvCxnSpPr>
            <p:cNvPr id="386" name="コネクタ: カギ線 189">
              <a:extLst>
                <a:ext uri="{FF2B5EF4-FFF2-40B4-BE49-F238E27FC236}">
                  <a16:creationId xmlns:a16="http://schemas.microsoft.com/office/drawing/2014/main" id="{DE7215B6-A60F-9232-D6DB-DEB53867A3D5}"/>
                </a:ext>
              </a:extLst>
            </p:cNvPr>
            <p:cNvCxnSpPr>
              <a:cxnSpLocks/>
            </p:cNvCxnSpPr>
            <p:nvPr/>
          </p:nvCxnSpPr>
          <p:spPr>
            <a:xfrm rot="5400000">
              <a:off x="4246424" y="3413377"/>
              <a:ext cx="1345368" cy="4349379"/>
            </a:xfrm>
            <a:prstGeom prst="bentConnector3">
              <a:avLst>
                <a:gd name="adj1" fmla="val 8465"/>
              </a:avLst>
            </a:prstGeom>
            <a:noFill/>
            <a:ln w="6350" cap="flat" cmpd="sng" algn="ctr">
              <a:solidFill>
                <a:srgbClr val="E7E6E6">
                  <a:lumMod val="50000"/>
                </a:srgbClr>
              </a:solidFill>
              <a:prstDash val="solid"/>
              <a:miter lim="800000"/>
              <a:tailEnd type="triangle"/>
            </a:ln>
            <a:effectLst/>
          </p:spPr>
        </p:cxnSp>
        <p:sp>
          <p:nvSpPr>
            <p:cNvPr id="399" name="フリーフォーム: 図形 12">
              <a:extLst>
                <a:ext uri="{FF2B5EF4-FFF2-40B4-BE49-F238E27FC236}">
                  <a16:creationId xmlns:a16="http://schemas.microsoft.com/office/drawing/2014/main" id="{81C3A892-1399-107D-C4A2-576256595305}"/>
                </a:ext>
              </a:extLst>
            </p:cNvPr>
            <p:cNvSpPr>
              <a:spLocks/>
            </p:cNvSpPr>
            <p:nvPr/>
          </p:nvSpPr>
          <p:spPr bwMode="auto">
            <a:xfrm>
              <a:off x="4552853" y="4988843"/>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FFFFFF"/>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400" name="フリーフォーム: 図形 12">
              <a:extLst>
                <a:ext uri="{FF2B5EF4-FFF2-40B4-BE49-F238E27FC236}">
                  <a16:creationId xmlns:a16="http://schemas.microsoft.com/office/drawing/2014/main" id="{A2AA20ED-6496-9647-E69B-336192EB38B3}"/>
                </a:ext>
              </a:extLst>
            </p:cNvPr>
            <p:cNvSpPr>
              <a:spLocks/>
            </p:cNvSpPr>
            <p:nvPr/>
          </p:nvSpPr>
          <p:spPr bwMode="auto">
            <a:xfrm>
              <a:off x="3505103" y="4988843"/>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FFFFFF"/>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405" name="コネクタ: カギ線 189">
              <a:extLst>
                <a:ext uri="{FF2B5EF4-FFF2-40B4-BE49-F238E27FC236}">
                  <a16:creationId xmlns:a16="http://schemas.microsoft.com/office/drawing/2014/main" id="{865F515E-7ABE-78CD-DB43-7126B2C00FC1}"/>
                </a:ext>
              </a:extLst>
            </p:cNvPr>
            <p:cNvCxnSpPr>
              <a:cxnSpLocks/>
              <a:stCxn id="358" idx="0"/>
              <a:endCxn id="272" idx="2"/>
            </p:cNvCxnSpPr>
            <p:nvPr/>
          </p:nvCxnSpPr>
          <p:spPr>
            <a:xfrm flipV="1">
              <a:off x="11252258" y="2571265"/>
              <a:ext cx="0" cy="506112"/>
            </a:xfrm>
            <a:prstGeom prst="straightConnector1">
              <a:avLst/>
            </a:prstGeom>
            <a:noFill/>
            <a:ln w="6350" cap="flat" cmpd="sng" algn="ctr">
              <a:solidFill>
                <a:srgbClr val="E7E6E6">
                  <a:lumMod val="50000"/>
                </a:srgbClr>
              </a:solidFill>
              <a:prstDash val="solid"/>
              <a:miter lim="800000"/>
              <a:tailEnd type="triangle"/>
            </a:ln>
            <a:effectLst/>
          </p:spPr>
        </p:cxnSp>
        <p:sp>
          <p:nvSpPr>
            <p:cNvPr id="406" name="テキスト ボックス 405">
              <a:extLst>
                <a:ext uri="{FF2B5EF4-FFF2-40B4-BE49-F238E27FC236}">
                  <a16:creationId xmlns:a16="http://schemas.microsoft.com/office/drawing/2014/main" id="{8592AD5E-DB4B-3A94-788D-471060F37DC9}"/>
                </a:ext>
              </a:extLst>
            </p:cNvPr>
            <p:cNvSpPr txBox="1"/>
            <p:nvPr/>
          </p:nvSpPr>
          <p:spPr>
            <a:xfrm>
              <a:off x="11252258" y="2830600"/>
              <a:ext cx="468663"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設計</a:t>
              </a:r>
            </a:p>
          </p:txBody>
        </p:sp>
      </p:grpSp>
    </p:spTree>
    <p:extLst>
      <p:ext uri="{BB962C8B-B14F-4D97-AF65-F5344CB8AC3E}">
        <p14:creationId xmlns:p14="http://schemas.microsoft.com/office/powerpoint/2010/main" val="98255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3F7DD-3E37-1256-139B-FB9128847E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1AB848-98BF-C17D-6991-BEA15058B4D8}"/>
              </a:ext>
            </a:extLst>
          </p:cNvPr>
          <p:cNvSpPr>
            <a:spLocks noGrp="1"/>
          </p:cNvSpPr>
          <p:nvPr>
            <p:ph type="title"/>
          </p:nvPr>
        </p:nvSpPr>
        <p:spPr>
          <a:xfrm>
            <a:off x="203200" y="152403"/>
            <a:ext cx="9204569" cy="379413"/>
          </a:xfrm>
        </p:spPr>
        <p:txBody>
          <a:bodyPr anchor="ctr"/>
          <a:lstStyle/>
          <a:p>
            <a:r>
              <a:rPr kumimoji="1" lang="ja-JP" altLang="en-US" dirty="0">
                <a:latin typeface="Meiryo UI" panose="020B0604030504040204" pitchFamily="50" charset="-128"/>
                <a:ea typeface="Meiryo UI" panose="020B0604030504040204" pitchFamily="50" charset="-128"/>
              </a:rPr>
              <a:t>領域の課題</a:t>
            </a:r>
          </a:p>
        </p:txBody>
      </p:sp>
      <p:sp>
        <p:nvSpPr>
          <p:cNvPr id="84" name="スライド番号プレースホルダー 3">
            <a:extLst>
              <a:ext uri="{FF2B5EF4-FFF2-40B4-BE49-F238E27FC236}">
                <a16:creationId xmlns:a16="http://schemas.microsoft.com/office/drawing/2014/main" id="{8F815D4F-EE65-A57A-716C-6A70381534F3}"/>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9AFBC1B9-9995-9441-EC19-04926987A6EF}"/>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MEGAGON</a:t>
            </a:r>
            <a:r>
              <a:rPr lang="ja-JP" altLang="en-US" sz="1600" kern="0" dirty="0"/>
              <a:t>による名寄せが完全に一致されないものに関しては、人手による目検業務が必須となる。</a:t>
            </a:r>
            <a:endParaRPr lang="en-US" altLang="ja-JP" sz="1600" kern="0" dirty="0"/>
          </a:p>
          <a:p>
            <a:pPr marL="285750" indent="-285750">
              <a:buFont typeface="Arial" panose="020B0604020202020204" pitchFamily="34" charset="0"/>
              <a:buChar char="•"/>
            </a:pPr>
            <a:r>
              <a:rPr lang="ja-JP" altLang="en-US" sz="1600" kern="0" dirty="0"/>
              <a:t>月</a:t>
            </a:r>
            <a:r>
              <a:rPr lang="en-US" altLang="ja-JP" sz="1600" kern="0" dirty="0"/>
              <a:t>1,000</a:t>
            </a:r>
            <a:r>
              <a:rPr lang="ja-JP" altLang="en-US" sz="1600" kern="0" dirty="0"/>
              <a:t>件の目検作業にかかる時間（約</a:t>
            </a:r>
            <a:r>
              <a:rPr lang="en-US" altLang="ja-JP" sz="1600" kern="0" dirty="0"/>
              <a:t>120h</a:t>
            </a:r>
            <a:r>
              <a:rPr lang="ja-JP" altLang="en-US" sz="1600" kern="0" dirty="0"/>
              <a:t>）を</a:t>
            </a:r>
            <a:r>
              <a:rPr lang="en-US" altLang="ja-JP" sz="1600" kern="0" dirty="0"/>
              <a:t>AI</a:t>
            </a:r>
            <a:r>
              <a:rPr lang="ja-JP" altLang="en-US" sz="1600" kern="0" dirty="0"/>
              <a:t>による自動化技術にて</a:t>
            </a:r>
            <a:r>
              <a:rPr lang="en-US" altLang="ja-JP" sz="1600" kern="0" dirty="0"/>
              <a:t>90%</a:t>
            </a:r>
            <a:r>
              <a:rPr lang="ja-JP" altLang="en-US" sz="1600" kern="0" dirty="0"/>
              <a:t>以上削減することを目標とする。</a:t>
            </a:r>
            <a:endParaRPr lang="en-US" altLang="ja-JP" sz="1600" kern="0" dirty="0"/>
          </a:p>
        </p:txBody>
      </p:sp>
      <p:sp>
        <p:nvSpPr>
          <p:cNvPr id="334" name="正方形/長方形 333">
            <a:extLst>
              <a:ext uri="{FF2B5EF4-FFF2-40B4-BE49-F238E27FC236}">
                <a16:creationId xmlns:a16="http://schemas.microsoft.com/office/drawing/2014/main" id="{50060D43-BF86-49E0-2997-3459BC922D87}"/>
              </a:ext>
            </a:extLst>
          </p:cNvPr>
          <p:cNvSpPr/>
          <p:nvPr/>
        </p:nvSpPr>
        <p:spPr>
          <a:xfrm>
            <a:off x="333057" y="1989923"/>
            <a:ext cx="5603092" cy="230832"/>
          </a:xfrm>
          <a:prstGeom prst="rect">
            <a:avLst/>
          </a:prstGeom>
          <a:solidFill>
            <a:srgbClr val="0E0EAA"/>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課題</a:t>
            </a:r>
          </a:p>
        </p:txBody>
      </p:sp>
      <p:sp>
        <p:nvSpPr>
          <p:cNvPr id="335" name="正方形/長方形 334">
            <a:extLst>
              <a:ext uri="{FF2B5EF4-FFF2-40B4-BE49-F238E27FC236}">
                <a16:creationId xmlns:a16="http://schemas.microsoft.com/office/drawing/2014/main" id="{F01FE1BD-0401-C5B8-2671-5100E677DD19}"/>
              </a:ext>
            </a:extLst>
          </p:cNvPr>
          <p:cNvSpPr/>
          <p:nvPr/>
        </p:nvSpPr>
        <p:spPr>
          <a:xfrm>
            <a:off x="6255851" y="1989923"/>
            <a:ext cx="5603092" cy="230832"/>
          </a:xfrm>
          <a:prstGeom prst="rect">
            <a:avLst/>
          </a:prstGeom>
          <a:solidFill>
            <a:srgbClr val="0E0EAA"/>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業務量</a:t>
            </a:r>
            <a:r>
              <a:rPr kumimoji="1" lang="en-US" altLang="ja-JP"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a:t>
            </a:r>
            <a:r>
              <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コスト構造</a:t>
            </a:r>
          </a:p>
        </p:txBody>
      </p:sp>
      <p:sp>
        <p:nvSpPr>
          <p:cNvPr id="398" name="楕円 397">
            <a:extLst>
              <a:ext uri="{FF2B5EF4-FFF2-40B4-BE49-F238E27FC236}">
                <a16:creationId xmlns:a16="http://schemas.microsoft.com/office/drawing/2014/main" id="{AFB0FCD3-4467-A8EA-AD04-798FA3EA1FFB}"/>
              </a:ext>
            </a:extLst>
          </p:cNvPr>
          <p:cNvSpPr/>
          <p:nvPr/>
        </p:nvSpPr>
        <p:spPr>
          <a:xfrm>
            <a:off x="2906897" y="3961025"/>
            <a:ext cx="160867" cy="160867"/>
          </a:xfrm>
          <a:prstGeom prst="ellipse">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dirty="0">
              <a:solidFill>
                <a:schemeClr val="accent4">
                  <a:lumMod val="65000"/>
                  <a:lumOff val="35000"/>
                </a:schemeClr>
              </a:solidFill>
              <a:latin typeface="+mn-ea"/>
              <a:cs typeface="Hiragino Kaku Gothic Pro W3" charset="-128"/>
            </a:endParaRPr>
          </a:p>
        </p:txBody>
      </p:sp>
      <p:cxnSp>
        <p:nvCxnSpPr>
          <p:cNvPr id="339" name="コネクタ: カギ線 189">
            <a:extLst>
              <a:ext uri="{FF2B5EF4-FFF2-40B4-BE49-F238E27FC236}">
                <a16:creationId xmlns:a16="http://schemas.microsoft.com/office/drawing/2014/main" id="{4D0CC761-7CC2-C0B0-B0B2-6FF9ADDB824D}"/>
              </a:ext>
            </a:extLst>
          </p:cNvPr>
          <p:cNvCxnSpPr>
            <a:cxnSpLocks/>
            <a:stCxn id="337" idx="4"/>
            <a:endCxn id="398" idx="2"/>
          </p:cNvCxnSpPr>
          <p:nvPr/>
        </p:nvCxnSpPr>
        <p:spPr>
          <a:xfrm>
            <a:off x="1844057" y="3431376"/>
            <a:ext cx="1062840" cy="610083"/>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341" name="コネクタ: カギ線 189">
            <a:extLst>
              <a:ext uri="{FF2B5EF4-FFF2-40B4-BE49-F238E27FC236}">
                <a16:creationId xmlns:a16="http://schemas.microsoft.com/office/drawing/2014/main" id="{3E0D1094-E92B-857E-7DDA-AF4B27414A13}"/>
              </a:ext>
            </a:extLst>
          </p:cNvPr>
          <p:cNvCxnSpPr>
            <a:cxnSpLocks/>
            <a:stCxn id="338" idx="4"/>
            <a:endCxn id="398" idx="2"/>
          </p:cNvCxnSpPr>
          <p:nvPr/>
        </p:nvCxnSpPr>
        <p:spPr>
          <a:xfrm flipV="1">
            <a:off x="1844057" y="4041459"/>
            <a:ext cx="1062840" cy="476424"/>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343" name="フローチャート: 磁気ディスク 342">
            <a:extLst>
              <a:ext uri="{FF2B5EF4-FFF2-40B4-BE49-F238E27FC236}">
                <a16:creationId xmlns:a16="http://schemas.microsoft.com/office/drawing/2014/main" id="{590E0DCD-F5D9-9C70-C5C6-7BA77F3A7EA9}"/>
              </a:ext>
            </a:extLst>
          </p:cNvPr>
          <p:cNvSpPr/>
          <p:nvPr/>
        </p:nvSpPr>
        <p:spPr bwMode="auto">
          <a:xfrm>
            <a:off x="700823" y="5294579"/>
            <a:ext cx="1145724" cy="619622"/>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LBC</a:t>
            </a:r>
            <a:br>
              <a:rPr lang="en-US" altLang="ja-JP" sz="1200" dirty="0">
                <a:solidFill>
                  <a:schemeClr val="bg2">
                    <a:lumMod val="50000"/>
                  </a:schemeClr>
                </a:solidFill>
                <a:latin typeface="Meiryo UI" panose="020B0604030504040204" pitchFamily="50" charset="-128"/>
                <a:ea typeface="Meiryo UI" panose="020B0604030504040204" pitchFamily="50" charset="-128"/>
              </a:rPr>
            </a:br>
            <a:r>
              <a:rPr lang="en-US" altLang="ja-JP" sz="1050" dirty="0">
                <a:solidFill>
                  <a:schemeClr val="bg2">
                    <a:lumMod val="50000"/>
                  </a:schemeClr>
                </a:solidFill>
                <a:latin typeface="Meiryo UI" panose="020B0604030504040204" pitchFamily="50" charset="-128"/>
                <a:ea typeface="Meiryo UI" panose="020B0604030504040204" pitchFamily="50" charset="-128"/>
              </a:rPr>
              <a:t>※</a:t>
            </a:r>
            <a:r>
              <a:rPr lang="ja-JP" altLang="en-US" sz="1050" dirty="0">
                <a:solidFill>
                  <a:schemeClr val="bg2">
                    <a:lumMod val="50000"/>
                  </a:schemeClr>
                </a:solidFill>
                <a:latin typeface="Meiryo UI" panose="020B0604030504040204" pitchFamily="50" charset="-128"/>
                <a:ea typeface="Meiryo UI" panose="020B0604030504040204" pitchFamily="50" charset="-128"/>
              </a:rPr>
              <a:t>機械学習データ</a:t>
            </a:r>
            <a:endParaRPr lang="ja-JP" altLang="en-US" sz="600" dirty="0">
              <a:solidFill>
                <a:schemeClr val="bg2">
                  <a:lumMod val="50000"/>
                </a:schemeClr>
              </a:solidFill>
              <a:latin typeface="Meiryo UI" panose="020B0604030504040204" pitchFamily="50" charset="-128"/>
              <a:ea typeface="Meiryo UI" panose="020B0604030504040204" pitchFamily="50" charset="-128"/>
            </a:endParaRPr>
          </a:p>
        </p:txBody>
      </p:sp>
      <p:sp>
        <p:nvSpPr>
          <p:cNvPr id="337" name="フローチャート: 磁気ディスク 336">
            <a:extLst>
              <a:ext uri="{FF2B5EF4-FFF2-40B4-BE49-F238E27FC236}">
                <a16:creationId xmlns:a16="http://schemas.microsoft.com/office/drawing/2014/main" id="{414FBE98-2DF0-ED2F-3E12-2F7D278E3953}"/>
              </a:ext>
            </a:extLst>
          </p:cNvPr>
          <p:cNvSpPr/>
          <p:nvPr/>
        </p:nvSpPr>
        <p:spPr bwMode="auto">
          <a:xfrm>
            <a:off x="698333" y="3121565"/>
            <a:ext cx="1145724" cy="619622"/>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Neo</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338" name="フローチャート: 磁気ディスク 337">
            <a:extLst>
              <a:ext uri="{FF2B5EF4-FFF2-40B4-BE49-F238E27FC236}">
                <a16:creationId xmlns:a16="http://schemas.microsoft.com/office/drawing/2014/main" id="{E1725652-34D1-41BB-8DBD-E144E8545834}"/>
              </a:ext>
            </a:extLst>
          </p:cNvPr>
          <p:cNvSpPr/>
          <p:nvPr/>
        </p:nvSpPr>
        <p:spPr bwMode="auto">
          <a:xfrm>
            <a:off x="698333" y="4208072"/>
            <a:ext cx="1145724" cy="619622"/>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NEXUS</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344" name="フローチャート : 代替処理 2">
            <a:extLst>
              <a:ext uri="{FF2B5EF4-FFF2-40B4-BE49-F238E27FC236}">
                <a16:creationId xmlns:a16="http://schemas.microsoft.com/office/drawing/2014/main" id="{1286C2F9-6056-D54F-30E7-1FA839735BD5}"/>
              </a:ext>
            </a:extLst>
          </p:cNvPr>
          <p:cNvSpPr/>
          <p:nvPr/>
        </p:nvSpPr>
        <p:spPr>
          <a:xfrm>
            <a:off x="568462" y="3013637"/>
            <a:ext cx="1405466" cy="1971132"/>
          </a:xfrm>
          <a:prstGeom prst="flowChartAlternateProcess">
            <a:avLst/>
          </a:prstGeom>
          <a:noFill/>
          <a:ln w="6350" cap="flat" cmpd="sng" algn="ctr">
            <a:solidFill>
              <a:srgbClr val="E7E6E6">
                <a:lumMod val="50000"/>
              </a:srgbClr>
            </a:solidFill>
            <a:prstDash val="dash"/>
            <a:miter lim="800000"/>
            <a:tailEnd type="triangle"/>
          </a:ln>
          <a:effectLst/>
        </p:spPr>
        <p:txBody>
          <a:bodyPr wrap="square" lIns="27432" tIns="18288" rIns="27432" bIns="18288" anchor="ctr" upright="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pic>
        <p:nvPicPr>
          <p:cNvPr id="349" name="グラフィックス 348" descr="サーバー">
            <a:extLst>
              <a:ext uri="{FF2B5EF4-FFF2-40B4-BE49-F238E27FC236}">
                <a16:creationId xmlns:a16="http://schemas.microsoft.com/office/drawing/2014/main" id="{FCDC58F9-896A-1184-FC15-D0F659221E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60847" y="3468597"/>
            <a:ext cx="1145723" cy="1145723"/>
          </a:xfrm>
          <a:prstGeom prst="rect">
            <a:avLst/>
          </a:prstGeom>
        </p:spPr>
      </p:pic>
      <p:sp>
        <p:nvSpPr>
          <p:cNvPr id="354" name="正方形/長方形 353">
            <a:extLst>
              <a:ext uri="{FF2B5EF4-FFF2-40B4-BE49-F238E27FC236}">
                <a16:creationId xmlns:a16="http://schemas.microsoft.com/office/drawing/2014/main" id="{B8B97653-DBE1-1733-50BC-4436E9FD1CBA}"/>
              </a:ext>
            </a:extLst>
          </p:cNvPr>
          <p:cNvSpPr/>
          <p:nvPr/>
        </p:nvSpPr>
        <p:spPr bwMode="auto">
          <a:xfrm>
            <a:off x="508716" y="2690595"/>
            <a:ext cx="1524959" cy="351253"/>
          </a:xfrm>
          <a:prstGeom prst="rect">
            <a:avLst/>
          </a:prstGeom>
          <a:noFill/>
          <a:ln w="6350">
            <a:noFill/>
            <a:miter lim="800000"/>
            <a:headEnd/>
            <a:tailEnd/>
          </a:ln>
        </p:spPr>
        <p:txBody>
          <a:bodyPr wrap="square" lIns="27432" tIns="18288" rIns="27432" bIns="18288" rtlCol="0" anchor="ctr" upright="1"/>
          <a:lstStyle/>
          <a:p>
            <a:pPr algn="ctr"/>
            <a:r>
              <a:rPr lang="ja-JP" altLang="en-US" sz="1200" dirty="0">
                <a:solidFill>
                  <a:schemeClr val="bg2">
                    <a:lumMod val="50000"/>
                  </a:schemeClr>
                </a:solidFill>
                <a:latin typeface="Meiryo UI" panose="020B0604030504040204" pitchFamily="50" charset="-128"/>
                <a:ea typeface="Meiryo UI" panose="020B0604030504040204" pitchFamily="50" charset="-128"/>
              </a:rPr>
              <a:t>マスタが一致しない</a:t>
            </a:r>
          </a:p>
        </p:txBody>
      </p:sp>
      <p:cxnSp>
        <p:nvCxnSpPr>
          <p:cNvPr id="356" name="コネクタ: カギ線 189">
            <a:extLst>
              <a:ext uri="{FF2B5EF4-FFF2-40B4-BE49-F238E27FC236}">
                <a16:creationId xmlns:a16="http://schemas.microsoft.com/office/drawing/2014/main" id="{CBA38D8E-5EDE-7B1C-8F78-89982F380927}"/>
              </a:ext>
            </a:extLst>
          </p:cNvPr>
          <p:cNvCxnSpPr>
            <a:cxnSpLocks/>
            <a:stCxn id="343" idx="4"/>
            <a:endCxn id="398" idx="2"/>
          </p:cNvCxnSpPr>
          <p:nvPr/>
        </p:nvCxnSpPr>
        <p:spPr>
          <a:xfrm flipV="1">
            <a:off x="1846547" y="4041459"/>
            <a:ext cx="1060350" cy="1562931"/>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359" name="正方形/長方形 358">
            <a:extLst>
              <a:ext uri="{FF2B5EF4-FFF2-40B4-BE49-F238E27FC236}">
                <a16:creationId xmlns:a16="http://schemas.microsoft.com/office/drawing/2014/main" id="{6E8B456E-5C05-E65B-5922-E80DACC1462D}"/>
              </a:ext>
            </a:extLst>
          </p:cNvPr>
          <p:cNvSpPr/>
          <p:nvPr/>
        </p:nvSpPr>
        <p:spPr bwMode="auto">
          <a:xfrm>
            <a:off x="2571228" y="4551881"/>
            <a:ext cx="1524959" cy="351253"/>
          </a:xfrm>
          <a:prstGeom prst="rect">
            <a:avLst/>
          </a:prstGeom>
          <a:noFill/>
          <a:ln w="6350">
            <a:no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MEGAGON</a:t>
            </a:r>
            <a:br>
              <a:rPr lang="en-US" altLang="ja-JP" sz="1200" dirty="0">
                <a:solidFill>
                  <a:schemeClr val="bg2">
                    <a:lumMod val="50000"/>
                  </a:schemeClr>
                </a:solidFill>
                <a:latin typeface="Meiryo UI" panose="020B0604030504040204" pitchFamily="50" charset="-128"/>
                <a:ea typeface="Meiryo UI" panose="020B0604030504040204" pitchFamily="50" charset="-128"/>
              </a:rPr>
            </a:br>
            <a:r>
              <a:rPr lang="ja-JP" altLang="en-US" sz="1200" dirty="0">
                <a:solidFill>
                  <a:schemeClr val="bg2">
                    <a:lumMod val="50000"/>
                  </a:schemeClr>
                </a:solidFill>
                <a:latin typeface="Meiryo UI" panose="020B0604030504040204" pitchFamily="50" charset="-128"/>
                <a:ea typeface="Meiryo UI" panose="020B0604030504040204" pitchFamily="50" charset="-128"/>
              </a:rPr>
              <a:t>による名寄せ処理</a:t>
            </a:r>
          </a:p>
        </p:txBody>
      </p:sp>
      <p:cxnSp>
        <p:nvCxnSpPr>
          <p:cNvPr id="362" name="コネクタ: カギ線 189">
            <a:extLst>
              <a:ext uri="{FF2B5EF4-FFF2-40B4-BE49-F238E27FC236}">
                <a16:creationId xmlns:a16="http://schemas.microsoft.com/office/drawing/2014/main" id="{9F38DFD8-E60F-412C-38B1-14AF4D49DBD5}"/>
              </a:ext>
            </a:extLst>
          </p:cNvPr>
          <p:cNvCxnSpPr>
            <a:cxnSpLocks/>
            <a:stCxn id="359" idx="2"/>
            <a:endCxn id="378" idx="1"/>
          </p:cNvCxnSpPr>
          <p:nvPr/>
        </p:nvCxnSpPr>
        <p:spPr>
          <a:xfrm rot="16200000" flipH="1">
            <a:off x="3623130" y="4613712"/>
            <a:ext cx="554785" cy="1133628"/>
          </a:xfrm>
          <a:prstGeom prst="bentConnector2">
            <a:avLst/>
          </a:prstGeom>
          <a:noFill/>
          <a:ln w="6350" cap="flat" cmpd="sng" algn="ctr">
            <a:solidFill>
              <a:srgbClr val="FF0000"/>
            </a:solidFill>
            <a:prstDash val="solid"/>
            <a:miter lim="800000"/>
            <a:tailEnd type="triangle"/>
          </a:ln>
          <a:effectLst/>
        </p:spPr>
      </p:cxnSp>
      <p:grpSp>
        <p:nvGrpSpPr>
          <p:cNvPr id="375" name="グループ化 374">
            <a:extLst>
              <a:ext uri="{FF2B5EF4-FFF2-40B4-BE49-F238E27FC236}">
                <a16:creationId xmlns:a16="http://schemas.microsoft.com/office/drawing/2014/main" id="{F096C4D7-7192-F2FF-1B4A-D50C6A10B68A}"/>
              </a:ext>
            </a:extLst>
          </p:cNvPr>
          <p:cNvGrpSpPr/>
          <p:nvPr/>
        </p:nvGrpSpPr>
        <p:grpSpPr>
          <a:xfrm>
            <a:off x="4467336" y="5189216"/>
            <a:ext cx="1137520" cy="830347"/>
            <a:chOff x="2196261" y="2807759"/>
            <a:chExt cx="566299" cy="413377"/>
          </a:xfrm>
        </p:grpSpPr>
        <p:sp>
          <p:nvSpPr>
            <p:cNvPr id="376" name="フローチャート : 書類 22">
              <a:extLst>
                <a:ext uri="{FF2B5EF4-FFF2-40B4-BE49-F238E27FC236}">
                  <a16:creationId xmlns:a16="http://schemas.microsoft.com/office/drawing/2014/main" id="{C85FE7D4-5320-ACE5-AA54-5A59922E022C}"/>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1400" dirty="0">
                <a:solidFill>
                  <a:schemeClr val="bg2">
                    <a:lumMod val="50000"/>
                  </a:schemeClr>
                </a:solidFill>
                <a:latin typeface="Meiryo UI" panose="020B0604030504040204" pitchFamily="50" charset="-128"/>
                <a:ea typeface="Meiryo UI" panose="020B0604030504040204" pitchFamily="50" charset="-128"/>
              </a:endParaRPr>
            </a:p>
          </p:txBody>
        </p:sp>
        <p:sp>
          <p:nvSpPr>
            <p:cNvPr id="377" name="フローチャート : 書類 22">
              <a:extLst>
                <a:ext uri="{FF2B5EF4-FFF2-40B4-BE49-F238E27FC236}">
                  <a16:creationId xmlns:a16="http://schemas.microsoft.com/office/drawing/2014/main" id="{5EA76D78-C079-FAE1-5C20-B7ABEBA33823}"/>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1400" dirty="0">
                <a:solidFill>
                  <a:schemeClr val="bg2">
                    <a:lumMod val="50000"/>
                  </a:schemeClr>
                </a:solidFill>
                <a:latin typeface="Meiryo UI" panose="020B0604030504040204" pitchFamily="50" charset="-128"/>
                <a:ea typeface="Meiryo UI" panose="020B0604030504040204" pitchFamily="50" charset="-128"/>
              </a:endParaRPr>
            </a:p>
          </p:txBody>
        </p:sp>
        <p:sp>
          <p:nvSpPr>
            <p:cNvPr id="378" name="フローチャート : 書類 22">
              <a:extLst>
                <a:ext uri="{FF2B5EF4-FFF2-40B4-BE49-F238E27FC236}">
                  <a16:creationId xmlns:a16="http://schemas.microsoft.com/office/drawing/2014/main" id="{5B21C54F-F7DD-0FAC-2132-5CF89F3A2381}"/>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1400" dirty="0">
                <a:solidFill>
                  <a:schemeClr val="bg2">
                    <a:lumMod val="50000"/>
                  </a:schemeClr>
                </a:solidFill>
                <a:latin typeface="Meiryo UI" panose="020B0604030504040204" pitchFamily="50" charset="-128"/>
                <a:ea typeface="Meiryo UI" panose="020B0604030504040204" pitchFamily="50" charset="-128"/>
              </a:endParaRPr>
            </a:p>
          </p:txBody>
        </p:sp>
      </p:grpSp>
      <p:sp>
        <p:nvSpPr>
          <p:cNvPr id="382" name="正方形/長方形 381">
            <a:extLst>
              <a:ext uri="{FF2B5EF4-FFF2-40B4-BE49-F238E27FC236}">
                <a16:creationId xmlns:a16="http://schemas.microsoft.com/office/drawing/2014/main" id="{24F79D63-8B3B-4FDB-9426-17F13570123C}"/>
              </a:ext>
            </a:extLst>
          </p:cNvPr>
          <p:cNvSpPr/>
          <p:nvPr/>
        </p:nvSpPr>
        <p:spPr bwMode="auto">
          <a:xfrm>
            <a:off x="2761301" y="5034434"/>
            <a:ext cx="1145724" cy="351253"/>
          </a:xfrm>
          <a:prstGeom prst="rect">
            <a:avLst/>
          </a:prstGeom>
          <a:solidFill>
            <a:schemeClr val="bg1"/>
          </a:solidFill>
          <a:ln w="6350">
            <a:noFill/>
            <a:miter lim="800000"/>
            <a:headEnd/>
            <a:tailEnd/>
          </a:ln>
        </p:spPr>
        <p:txBody>
          <a:bodyPr wrap="square" lIns="27432" tIns="18288" rIns="27432" bIns="18288" rtlCol="0" anchor="ctr" upright="1"/>
          <a:lstStyle/>
          <a:p>
            <a:pPr algn="ctr"/>
            <a:r>
              <a:rPr lang="ja-JP" altLang="en-US" sz="1200" dirty="0">
                <a:solidFill>
                  <a:srgbClr val="FF0000"/>
                </a:solidFill>
                <a:latin typeface="Meiryo UI" panose="020B0604030504040204" pitchFamily="50" charset="-128"/>
                <a:ea typeface="Meiryo UI" panose="020B0604030504040204" pitchFamily="50" charset="-128"/>
              </a:rPr>
              <a:t>名寄せしきれない</a:t>
            </a:r>
            <a:endParaRPr lang="en-US" altLang="ja-JP" sz="1200" dirty="0">
              <a:solidFill>
                <a:srgbClr val="FF0000"/>
              </a:solidFill>
              <a:latin typeface="Meiryo UI" panose="020B0604030504040204" pitchFamily="50" charset="-128"/>
              <a:ea typeface="Meiryo UI" panose="020B0604030504040204" pitchFamily="50" charset="-128"/>
            </a:endParaRPr>
          </a:p>
          <a:p>
            <a:pPr algn="ctr"/>
            <a:r>
              <a:rPr lang="ja-JP" altLang="en-US" sz="1200" dirty="0">
                <a:solidFill>
                  <a:srgbClr val="FF0000"/>
                </a:solidFill>
                <a:latin typeface="Meiryo UI" panose="020B0604030504040204" pitchFamily="50" charset="-128"/>
                <a:ea typeface="Meiryo UI" panose="020B0604030504040204" pitchFamily="50" charset="-128"/>
              </a:rPr>
              <a:t>ペアが発生する</a:t>
            </a:r>
          </a:p>
        </p:txBody>
      </p:sp>
      <p:grpSp>
        <p:nvGrpSpPr>
          <p:cNvPr id="386" name="グループ化 385">
            <a:extLst>
              <a:ext uri="{FF2B5EF4-FFF2-40B4-BE49-F238E27FC236}">
                <a16:creationId xmlns:a16="http://schemas.microsoft.com/office/drawing/2014/main" id="{7AD2EF08-099B-B88A-BBE6-AF53F71D2AC8}"/>
              </a:ext>
            </a:extLst>
          </p:cNvPr>
          <p:cNvGrpSpPr/>
          <p:nvPr/>
        </p:nvGrpSpPr>
        <p:grpSpPr>
          <a:xfrm>
            <a:off x="4075409" y="3478136"/>
            <a:ext cx="1524959" cy="1277858"/>
            <a:chOff x="3998014" y="3471919"/>
            <a:chExt cx="1524959" cy="1277858"/>
          </a:xfrm>
        </p:grpSpPr>
        <p:pic>
          <p:nvPicPr>
            <p:cNvPr id="384" name="グラフィックス 383" descr="インターネット">
              <a:extLst>
                <a:ext uri="{FF2B5EF4-FFF2-40B4-BE49-F238E27FC236}">
                  <a16:creationId xmlns:a16="http://schemas.microsoft.com/office/drawing/2014/main" id="{B4DDC776-07A6-C947-1025-D76D170217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87633" y="3471919"/>
              <a:ext cx="1145723" cy="1145723"/>
            </a:xfrm>
            <a:prstGeom prst="rect">
              <a:avLst/>
            </a:prstGeom>
          </p:spPr>
        </p:pic>
        <p:sp>
          <p:nvSpPr>
            <p:cNvPr id="385" name="正方形/長方形 384">
              <a:extLst>
                <a:ext uri="{FF2B5EF4-FFF2-40B4-BE49-F238E27FC236}">
                  <a16:creationId xmlns:a16="http://schemas.microsoft.com/office/drawing/2014/main" id="{B72A036E-543D-5FF2-DDEF-6917BAE354A9}"/>
                </a:ext>
              </a:extLst>
            </p:cNvPr>
            <p:cNvSpPr/>
            <p:nvPr/>
          </p:nvSpPr>
          <p:spPr bwMode="auto">
            <a:xfrm>
              <a:off x="3998014" y="4398524"/>
              <a:ext cx="1524959" cy="351253"/>
            </a:xfrm>
            <a:prstGeom prst="rect">
              <a:avLst/>
            </a:prstGeom>
            <a:noFill/>
            <a:ln w="6350">
              <a:noFill/>
              <a:miter lim="800000"/>
              <a:headEnd/>
              <a:tailEnd/>
            </a:ln>
          </p:spPr>
          <p:txBody>
            <a:bodyPr wrap="square" lIns="27432" tIns="18288" rIns="27432" bIns="18288" rtlCol="0" anchor="ctr" upright="1"/>
            <a:lstStyle/>
            <a:p>
              <a:pPr algn="ctr"/>
              <a:r>
                <a:rPr lang="ja-JP" altLang="en-US" sz="1200" b="1" dirty="0">
                  <a:solidFill>
                    <a:schemeClr val="bg2">
                      <a:lumMod val="50000"/>
                    </a:schemeClr>
                  </a:solidFill>
                  <a:latin typeface="Meiryo UI" panose="020B0604030504040204" pitchFamily="50" charset="-128"/>
                  <a:ea typeface="Meiryo UI" panose="020B0604030504040204" pitchFamily="50" charset="-128"/>
                </a:rPr>
                <a:t>目検で</a:t>
              </a:r>
              <a:r>
                <a:rPr lang="en-US" altLang="ja-JP" sz="1200" b="1" dirty="0">
                  <a:solidFill>
                    <a:schemeClr val="bg2">
                      <a:lumMod val="50000"/>
                    </a:schemeClr>
                  </a:solidFill>
                  <a:latin typeface="Meiryo UI" panose="020B0604030504040204" pitchFamily="50" charset="-128"/>
                  <a:ea typeface="Meiryo UI" panose="020B0604030504040204" pitchFamily="50" charset="-128"/>
                </a:rPr>
                <a:t>Web</a:t>
              </a:r>
              <a:r>
                <a:rPr lang="ja-JP" altLang="en-US" sz="1200" b="1" dirty="0">
                  <a:solidFill>
                    <a:schemeClr val="bg2">
                      <a:lumMod val="50000"/>
                    </a:schemeClr>
                  </a:solidFill>
                  <a:latin typeface="Meiryo UI" panose="020B0604030504040204" pitchFamily="50" charset="-128"/>
                  <a:ea typeface="Meiryo UI" panose="020B0604030504040204" pitchFamily="50" charset="-128"/>
                </a:rPr>
                <a:t>調査</a:t>
              </a:r>
            </a:p>
          </p:txBody>
        </p:sp>
      </p:grpSp>
      <p:cxnSp>
        <p:nvCxnSpPr>
          <p:cNvPr id="387" name="コネクタ: カギ線 189">
            <a:extLst>
              <a:ext uri="{FF2B5EF4-FFF2-40B4-BE49-F238E27FC236}">
                <a16:creationId xmlns:a16="http://schemas.microsoft.com/office/drawing/2014/main" id="{952D532C-AE5A-2969-E3D0-422C0F41F5A1}"/>
              </a:ext>
            </a:extLst>
          </p:cNvPr>
          <p:cNvCxnSpPr>
            <a:cxnSpLocks/>
            <a:stCxn id="378" idx="0"/>
            <a:endCxn id="385" idx="2"/>
          </p:cNvCxnSpPr>
          <p:nvPr/>
        </p:nvCxnSpPr>
        <p:spPr>
          <a:xfrm flipH="1" flipV="1">
            <a:off x="4837889" y="4755994"/>
            <a:ext cx="3880" cy="433222"/>
          </a:xfrm>
          <a:prstGeom prst="straightConnector1">
            <a:avLst/>
          </a:prstGeom>
          <a:noFill/>
          <a:ln w="6350" cap="flat" cmpd="sng" algn="ctr">
            <a:solidFill>
              <a:srgbClr val="E7E6E6">
                <a:lumMod val="50000"/>
              </a:srgbClr>
            </a:solidFill>
            <a:prstDash val="solid"/>
            <a:miter lim="800000"/>
            <a:tailEnd type="triangle"/>
          </a:ln>
          <a:effectLst/>
        </p:spPr>
      </p:cxnSp>
      <p:sp>
        <p:nvSpPr>
          <p:cNvPr id="390" name="正方形/長方形 389">
            <a:extLst>
              <a:ext uri="{FF2B5EF4-FFF2-40B4-BE49-F238E27FC236}">
                <a16:creationId xmlns:a16="http://schemas.microsoft.com/office/drawing/2014/main" id="{58DBD0EF-CA57-C316-BA4A-548A47BD5DF7}"/>
              </a:ext>
            </a:extLst>
          </p:cNvPr>
          <p:cNvSpPr/>
          <p:nvPr/>
        </p:nvSpPr>
        <p:spPr bwMode="auto">
          <a:xfrm>
            <a:off x="4594718" y="4897545"/>
            <a:ext cx="485899" cy="218101"/>
          </a:xfrm>
          <a:prstGeom prst="rect">
            <a:avLst/>
          </a:prstGeom>
          <a:solidFill>
            <a:schemeClr val="bg1"/>
          </a:solidFill>
          <a:ln w="6350">
            <a:noFill/>
            <a:miter lim="800000"/>
            <a:headEnd/>
            <a:tailEnd/>
          </a:ln>
        </p:spPr>
        <p:txBody>
          <a:bodyPr wrap="square" lIns="27432" tIns="18288" rIns="27432" bIns="18288" rtlCol="0" anchor="ctr" upright="1"/>
          <a:lstStyle/>
          <a:p>
            <a:pPr algn="ctr"/>
            <a:r>
              <a:rPr lang="ja-JP" altLang="en-US" sz="1200" dirty="0">
                <a:solidFill>
                  <a:schemeClr val="bg2">
                    <a:lumMod val="50000"/>
                  </a:schemeClr>
                </a:solidFill>
                <a:latin typeface="Meiryo UI" panose="020B0604030504040204" pitchFamily="50" charset="-128"/>
                <a:ea typeface="Meiryo UI" panose="020B0604030504040204" pitchFamily="50" charset="-128"/>
              </a:rPr>
              <a:t>参照</a:t>
            </a:r>
          </a:p>
        </p:txBody>
      </p:sp>
      <p:sp>
        <p:nvSpPr>
          <p:cNvPr id="396" name="フローチャート : 代替処理 2">
            <a:extLst>
              <a:ext uri="{FF2B5EF4-FFF2-40B4-BE49-F238E27FC236}">
                <a16:creationId xmlns:a16="http://schemas.microsoft.com/office/drawing/2014/main" id="{5A698DA2-DF48-97B7-B576-025606699CF8}"/>
              </a:ext>
            </a:extLst>
          </p:cNvPr>
          <p:cNvSpPr/>
          <p:nvPr/>
        </p:nvSpPr>
        <p:spPr>
          <a:xfrm>
            <a:off x="4135155" y="3576141"/>
            <a:ext cx="1405466" cy="1145723"/>
          </a:xfrm>
          <a:prstGeom prst="flowChartAlternateProcess">
            <a:avLst/>
          </a:prstGeom>
          <a:noFill/>
          <a:ln w="6350">
            <a:solidFill>
              <a:srgbClr val="FF0000"/>
            </a:solidFill>
            <a:prstDash val="dash"/>
            <a:miter lim="800000"/>
            <a:headEnd/>
            <a:tailEnd/>
          </a:ln>
        </p:spPr>
        <p:txBody>
          <a:bodyPr wrap="square" lIns="27432" tIns="18288" rIns="27432" bIns="18288" anchor="ctr" upright="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397" name="正方形/長方形 396">
            <a:extLst>
              <a:ext uri="{FF2B5EF4-FFF2-40B4-BE49-F238E27FC236}">
                <a16:creationId xmlns:a16="http://schemas.microsoft.com/office/drawing/2014/main" id="{3B270C22-443D-B32A-3DE5-95AC02E905EB}"/>
              </a:ext>
            </a:extLst>
          </p:cNvPr>
          <p:cNvSpPr/>
          <p:nvPr/>
        </p:nvSpPr>
        <p:spPr bwMode="auto">
          <a:xfrm>
            <a:off x="3915288" y="3229537"/>
            <a:ext cx="1845201" cy="351253"/>
          </a:xfrm>
          <a:prstGeom prst="rect">
            <a:avLst/>
          </a:prstGeom>
          <a:noFill/>
          <a:ln w="6350">
            <a:noFill/>
            <a:miter lim="800000"/>
            <a:headEnd/>
            <a:tailEnd/>
          </a:ln>
        </p:spPr>
        <p:txBody>
          <a:bodyPr wrap="square" lIns="27432" tIns="18288" rIns="27432" bIns="18288" rtlCol="0" anchor="ctr" upright="1"/>
          <a:lstStyle/>
          <a:p>
            <a:pPr algn="ctr"/>
            <a:r>
              <a:rPr lang="ja-JP" altLang="en-US" sz="1200" b="1" dirty="0">
                <a:solidFill>
                  <a:srgbClr val="FF0000"/>
                </a:solidFill>
                <a:latin typeface="Meiryo UI" panose="020B0604030504040204" pitchFamily="50" charset="-128"/>
                <a:ea typeface="Meiryo UI" panose="020B0604030504040204" pitchFamily="50" charset="-128"/>
              </a:rPr>
              <a:t>人手作業で時間がかかる！</a:t>
            </a:r>
          </a:p>
        </p:txBody>
      </p:sp>
      <p:grpSp>
        <p:nvGrpSpPr>
          <p:cNvPr id="451" name="グループ化 450">
            <a:extLst>
              <a:ext uri="{FF2B5EF4-FFF2-40B4-BE49-F238E27FC236}">
                <a16:creationId xmlns:a16="http://schemas.microsoft.com/office/drawing/2014/main" id="{512F99F2-B099-6F37-E854-31817A3CBAC3}"/>
              </a:ext>
            </a:extLst>
          </p:cNvPr>
          <p:cNvGrpSpPr/>
          <p:nvPr/>
        </p:nvGrpSpPr>
        <p:grpSpPr>
          <a:xfrm>
            <a:off x="6255849" y="2562209"/>
            <a:ext cx="5602862" cy="3296941"/>
            <a:chOff x="6255849" y="2562209"/>
            <a:chExt cx="5602862" cy="3296941"/>
          </a:xfrm>
        </p:grpSpPr>
        <p:sp>
          <p:nvSpPr>
            <p:cNvPr id="439" name="正方形/長方形 438">
              <a:extLst>
                <a:ext uri="{FF2B5EF4-FFF2-40B4-BE49-F238E27FC236}">
                  <a16:creationId xmlns:a16="http://schemas.microsoft.com/office/drawing/2014/main" id="{17AB9EC2-44DF-D825-5BAE-7211064A3F10}"/>
                </a:ext>
              </a:extLst>
            </p:cNvPr>
            <p:cNvSpPr/>
            <p:nvPr/>
          </p:nvSpPr>
          <p:spPr bwMode="auto">
            <a:xfrm>
              <a:off x="9885449" y="4749643"/>
              <a:ext cx="1145724" cy="390469"/>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AI</a:t>
              </a:r>
              <a:r>
                <a:rPr lang="ja-JP" altLang="en-US" sz="1200" dirty="0">
                  <a:solidFill>
                    <a:schemeClr val="bg2">
                      <a:lumMod val="50000"/>
                    </a:schemeClr>
                  </a:solidFill>
                  <a:latin typeface="Meiryo UI" panose="020B0604030504040204" pitchFamily="50" charset="-128"/>
                  <a:ea typeface="Meiryo UI" panose="020B0604030504040204" pitchFamily="50" charset="-128"/>
                </a:rPr>
                <a:t>調査結果の</a:t>
              </a:r>
              <a:br>
                <a:rPr lang="en-US" altLang="ja-JP" sz="1200" dirty="0">
                  <a:solidFill>
                    <a:schemeClr val="bg2">
                      <a:lumMod val="50000"/>
                    </a:schemeClr>
                  </a:solidFill>
                  <a:latin typeface="Meiryo UI" panose="020B0604030504040204" pitchFamily="50" charset="-128"/>
                  <a:ea typeface="Meiryo UI" panose="020B0604030504040204" pitchFamily="50" charset="-128"/>
                </a:rPr>
              </a:br>
              <a:r>
                <a:rPr lang="ja-JP" altLang="en-US" sz="1200" dirty="0">
                  <a:solidFill>
                    <a:schemeClr val="bg2">
                      <a:lumMod val="50000"/>
                    </a:schemeClr>
                  </a:solidFill>
                  <a:latin typeface="Meiryo UI" panose="020B0604030504040204" pitchFamily="50" charset="-128"/>
                  <a:ea typeface="Meiryo UI" panose="020B0604030504040204" pitchFamily="50" charset="-128"/>
                </a:rPr>
                <a:t>確認</a:t>
              </a:r>
            </a:p>
          </p:txBody>
        </p:sp>
        <p:cxnSp>
          <p:nvCxnSpPr>
            <p:cNvPr id="428" name="カギ線コネクタ 64">
              <a:extLst>
                <a:ext uri="{FF2B5EF4-FFF2-40B4-BE49-F238E27FC236}">
                  <a16:creationId xmlns:a16="http://schemas.microsoft.com/office/drawing/2014/main" id="{D82E225A-488F-C749-6C02-F58328BC4389}"/>
                </a:ext>
              </a:extLst>
            </p:cNvPr>
            <p:cNvCxnSpPr>
              <a:cxnSpLocks/>
            </p:cNvCxnSpPr>
            <p:nvPr/>
          </p:nvCxnSpPr>
          <p:spPr bwMode="auto">
            <a:xfrm flipH="1">
              <a:off x="6255851" y="5486337"/>
              <a:ext cx="5601600" cy="0"/>
            </a:xfrm>
            <a:prstGeom prst="straightConnector1">
              <a:avLst/>
            </a:prstGeom>
            <a:noFill/>
            <a:ln w="19050" cap="flat" cmpd="sng" algn="ctr">
              <a:solidFill>
                <a:schemeClr val="bg1">
                  <a:lumMod val="50000"/>
                </a:schemeClr>
              </a:solidFill>
              <a:prstDash val="solid"/>
              <a:round/>
              <a:headEnd type="none" w="med" len="med"/>
              <a:tailEnd type="none" w="med" len="med"/>
            </a:ln>
            <a:effectLst/>
          </p:spPr>
        </p:cxnSp>
        <p:sp>
          <p:nvSpPr>
            <p:cNvPr id="429" name="正方形/長方形 428">
              <a:extLst>
                <a:ext uri="{FF2B5EF4-FFF2-40B4-BE49-F238E27FC236}">
                  <a16:creationId xmlns:a16="http://schemas.microsoft.com/office/drawing/2014/main" id="{8784AFA0-E264-E738-EF11-4556343FFECA}"/>
                </a:ext>
              </a:extLst>
            </p:cNvPr>
            <p:cNvSpPr/>
            <p:nvPr/>
          </p:nvSpPr>
          <p:spPr bwMode="auto">
            <a:xfrm>
              <a:off x="6255849" y="5507897"/>
              <a:ext cx="2800800" cy="351253"/>
            </a:xfrm>
            <a:prstGeom prst="rect">
              <a:avLst/>
            </a:prstGeom>
            <a:noFill/>
            <a:ln w="6350">
              <a:no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ASIS</a:t>
              </a:r>
              <a:r>
                <a:rPr lang="ja-JP" altLang="en-US" sz="1200" dirty="0">
                  <a:solidFill>
                    <a:schemeClr val="bg2">
                      <a:lumMod val="50000"/>
                    </a:schemeClr>
                  </a:solidFill>
                  <a:latin typeface="Meiryo UI" panose="020B0604030504040204" pitchFamily="50" charset="-128"/>
                  <a:ea typeface="Meiryo UI" panose="020B0604030504040204" pitchFamily="50" charset="-128"/>
                </a:rPr>
                <a:t>の目検業務内訳</a:t>
              </a:r>
            </a:p>
          </p:txBody>
        </p:sp>
        <p:sp>
          <p:nvSpPr>
            <p:cNvPr id="433" name="正方形/長方形 432">
              <a:extLst>
                <a:ext uri="{FF2B5EF4-FFF2-40B4-BE49-F238E27FC236}">
                  <a16:creationId xmlns:a16="http://schemas.microsoft.com/office/drawing/2014/main" id="{C39E6D9B-7460-A25B-4B1B-E5265E4D2C82}"/>
                </a:ext>
              </a:extLst>
            </p:cNvPr>
            <p:cNvSpPr/>
            <p:nvPr/>
          </p:nvSpPr>
          <p:spPr bwMode="auto">
            <a:xfrm>
              <a:off x="9057911" y="5507897"/>
              <a:ext cx="2800800" cy="351253"/>
            </a:xfrm>
            <a:prstGeom prst="rect">
              <a:avLst/>
            </a:prstGeom>
            <a:noFill/>
            <a:ln w="6350">
              <a:no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TOBE</a:t>
              </a:r>
              <a:r>
                <a:rPr lang="ja-JP" altLang="en-US" sz="1200" dirty="0">
                  <a:solidFill>
                    <a:schemeClr val="bg2">
                      <a:lumMod val="50000"/>
                    </a:schemeClr>
                  </a:solidFill>
                  <a:latin typeface="Meiryo UI" panose="020B0604030504040204" pitchFamily="50" charset="-128"/>
                  <a:ea typeface="Meiryo UI" panose="020B0604030504040204" pitchFamily="50" charset="-128"/>
                </a:rPr>
                <a:t>の目検業務内訳</a:t>
              </a:r>
            </a:p>
          </p:txBody>
        </p:sp>
        <p:grpSp>
          <p:nvGrpSpPr>
            <p:cNvPr id="445" name="グループ化 444">
              <a:extLst>
                <a:ext uri="{FF2B5EF4-FFF2-40B4-BE49-F238E27FC236}">
                  <a16:creationId xmlns:a16="http://schemas.microsoft.com/office/drawing/2014/main" id="{37840682-7F66-0713-D9C7-C94E6D23CB41}"/>
                </a:ext>
              </a:extLst>
            </p:cNvPr>
            <p:cNvGrpSpPr/>
            <p:nvPr/>
          </p:nvGrpSpPr>
          <p:grpSpPr>
            <a:xfrm>
              <a:off x="7083387" y="2931521"/>
              <a:ext cx="1145724" cy="2546636"/>
              <a:chOff x="7083387" y="3361585"/>
              <a:chExt cx="1145724" cy="2116571"/>
            </a:xfrm>
          </p:grpSpPr>
          <p:sp>
            <p:nvSpPr>
              <p:cNvPr id="435" name="正方形/長方形 434">
                <a:extLst>
                  <a:ext uri="{FF2B5EF4-FFF2-40B4-BE49-F238E27FC236}">
                    <a16:creationId xmlns:a16="http://schemas.microsoft.com/office/drawing/2014/main" id="{ED29135C-04FA-B29D-2944-6C0EFAD42CBB}"/>
                  </a:ext>
                </a:extLst>
              </p:cNvPr>
              <p:cNvSpPr/>
              <p:nvPr/>
            </p:nvSpPr>
            <p:spPr bwMode="auto">
              <a:xfrm>
                <a:off x="7083387" y="5126903"/>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rgbClr val="FF0000"/>
                </a:solid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Excel</a:t>
                </a:r>
                <a:r>
                  <a:rPr lang="ja-JP" altLang="en-US" sz="1200" dirty="0">
                    <a:solidFill>
                      <a:schemeClr val="bg2">
                        <a:lumMod val="50000"/>
                      </a:schemeClr>
                    </a:solidFill>
                    <a:latin typeface="Meiryo UI" panose="020B0604030504040204" pitchFamily="50" charset="-128"/>
                    <a:ea typeface="Meiryo UI" panose="020B0604030504040204" pitchFamily="50" charset="-128"/>
                  </a:rPr>
                  <a:t>リスト確認</a:t>
                </a:r>
              </a:p>
            </p:txBody>
          </p:sp>
          <p:sp>
            <p:nvSpPr>
              <p:cNvPr id="436" name="正方形/長方形 435">
                <a:extLst>
                  <a:ext uri="{FF2B5EF4-FFF2-40B4-BE49-F238E27FC236}">
                    <a16:creationId xmlns:a16="http://schemas.microsoft.com/office/drawing/2014/main" id="{413879A4-BA51-EA52-60F8-E25F1B08D677}"/>
                  </a:ext>
                </a:extLst>
              </p:cNvPr>
              <p:cNvSpPr/>
              <p:nvPr/>
            </p:nvSpPr>
            <p:spPr bwMode="auto">
              <a:xfrm>
                <a:off x="7083387" y="4246539"/>
                <a:ext cx="1145724" cy="891743"/>
              </a:xfrm>
              <a:prstGeom prst="rect">
                <a:avLst/>
              </a:prstGeom>
              <a:solidFill>
                <a:srgbClr xmlns:mc="http://schemas.openxmlformats.org/markup-compatibility/2006" xmlns:a14="http://schemas.microsoft.com/office/drawing/2010/main" val="FFFFFF" mc:Ignorable="a14" a14:legacySpreadsheetColorIndex="65"/>
              </a:solidFill>
              <a:ln w="6350">
                <a:solidFill>
                  <a:srgbClr val="FF0000"/>
                </a:solidFill>
                <a:miter lim="800000"/>
                <a:headEnd/>
                <a:tailEnd/>
              </a:ln>
            </p:spPr>
            <p:txBody>
              <a:bodyPr wrap="square" lIns="27432" tIns="18288" rIns="27432" bIns="18288" rtlCol="0" anchor="ctr" upright="1"/>
              <a:lstStyle/>
              <a:p>
                <a:pPr algn="ctr"/>
                <a:r>
                  <a:rPr lang="en-US" altLang="ja-JP" sz="1200" dirty="0">
                    <a:solidFill>
                      <a:schemeClr val="bg2">
                        <a:lumMod val="50000"/>
                      </a:schemeClr>
                    </a:solidFill>
                    <a:latin typeface="Meiryo UI" panose="020B0604030504040204" pitchFamily="50" charset="-128"/>
                    <a:ea typeface="Meiryo UI" panose="020B0604030504040204" pitchFamily="50" charset="-128"/>
                  </a:rPr>
                  <a:t>Web</a:t>
                </a:r>
                <a:r>
                  <a:rPr lang="ja-JP" altLang="en-US" sz="1200" dirty="0">
                    <a:solidFill>
                      <a:schemeClr val="bg2">
                        <a:lumMod val="50000"/>
                      </a:schemeClr>
                    </a:solidFill>
                    <a:latin typeface="Meiryo UI" panose="020B0604030504040204" pitchFamily="50" charset="-128"/>
                    <a:ea typeface="Meiryo UI" panose="020B0604030504040204" pitchFamily="50" charset="-128"/>
                  </a:rPr>
                  <a:t>検索・</a:t>
                </a:r>
                <a:br>
                  <a:rPr lang="en-US" altLang="ja-JP" sz="1200" dirty="0">
                    <a:solidFill>
                      <a:schemeClr val="bg2">
                        <a:lumMod val="50000"/>
                      </a:schemeClr>
                    </a:solidFill>
                    <a:latin typeface="Meiryo UI" panose="020B0604030504040204" pitchFamily="50" charset="-128"/>
                    <a:ea typeface="Meiryo UI" panose="020B0604030504040204" pitchFamily="50" charset="-128"/>
                  </a:rPr>
                </a:br>
                <a:r>
                  <a:rPr lang="ja-JP" altLang="en-US" sz="1200" dirty="0">
                    <a:solidFill>
                      <a:schemeClr val="bg2">
                        <a:lumMod val="50000"/>
                      </a:schemeClr>
                    </a:solidFill>
                    <a:latin typeface="Meiryo UI" panose="020B0604030504040204" pitchFamily="50" charset="-128"/>
                    <a:ea typeface="Meiryo UI" panose="020B0604030504040204" pitchFamily="50" charset="-128"/>
                  </a:rPr>
                  <a:t>企業情報取得</a:t>
                </a:r>
              </a:p>
            </p:txBody>
          </p:sp>
          <p:sp>
            <p:nvSpPr>
              <p:cNvPr id="437" name="正方形/長方形 436">
                <a:extLst>
                  <a:ext uri="{FF2B5EF4-FFF2-40B4-BE49-F238E27FC236}">
                    <a16:creationId xmlns:a16="http://schemas.microsoft.com/office/drawing/2014/main" id="{D3ED05F1-7AFA-DFE6-6715-F11DEC60F830}"/>
                  </a:ext>
                </a:extLst>
              </p:cNvPr>
              <p:cNvSpPr/>
              <p:nvPr/>
            </p:nvSpPr>
            <p:spPr bwMode="auto">
              <a:xfrm>
                <a:off x="7083387" y="3361585"/>
                <a:ext cx="1145724" cy="891743"/>
              </a:xfrm>
              <a:prstGeom prst="rect">
                <a:avLst/>
              </a:prstGeom>
              <a:solidFill>
                <a:srgbClr xmlns:mc="http://schemas.openxmlformats.org/markup-compatibility/2006" xmlns:a14="http://schemas.microsoft.com/office/drawing/2010/main" val="FFFFFF" mc:Ignorable="a14" a14:legacySpreadsheetColorIndex="65"/>
              </a:solidFill>
              <a:ln w="6350">
                <a:solidFill>
                  <a:srgbClr val="FF0000"/>
                </a:solidFill>
                <a:miter lim="800000"/>
                <a:headEnd/>
                <a:tailEnd/>
              </a:ln>
            </p:spPr>
            <p:txBody>
              <a:bodyPr wrap="square" lIns="27432" tIns="18288" rIns="27432" bIns="18288" rtlCol="0" anchor="ctr" upright="1"/>
              <a:lstStyle/>
              <a:p>
                <a:pPr algn="ctr"/>
                <a:r>
                  <a:rPr lang="ja-JP" altLang="en-US" sz="1200" dirty="0">
                    <a:solidFill>
                      <a:schemeClr val="bg2">
                        <a:lumMod val="50000"/>
                      </a:schemeClr>
                    </a:solidFill>
                    <a:latin typeface="Meiryo UI" panose="020B0604030504040204" pitchFamily="50" charset="-128"/>
                    <a:ea typeface="Meiryo UI" panose="020B0604030504040204" pitchFamily="50" charset="-128"/>
                  </a:rPr>
                  <a:t>判断・</a:t>
                </a:r>
                <a:br>
                  <a:rPr lang="en-US" altLang="ja-JP" sz="1200" dirty="0">
                    <a:solidFill>
                      <a:schemeClr val="bg2">
                        <a:lumMod val="50000"/>
                      </a:schemeClr>
                    </a:solidFill>
                    <a:latin typeface="Meiryo UI" panose="020B0604030504040204" pitchFamily="50" charset="-128"/>
                    <a:ea typeface="Meiryo UI" panose="020B0604030504040204" pitchFamily="50" charset="-128"/>
                  </a:rPr>
                </a:br>
                <a:r>
                  <a:rPr lang="ja-JP" altLang="en-US" sz="1200" dirty="0">
                    <a:solidFill>
                      <a:schemeClr val="bg2">
                        <a:lumMod val="50000"/>
                      </a:schemeClr>
                    </a:solidFill>
                    <a:latin typeface="Meiryo UI" panose="020B0604030504040204" pitchFamily="50" charset="-128"/>
                    <a:ea typeface="Meiryo UI" panose="020B0604030504040204" pitchFamily="50" charset="-128"/>
                  </a:rPr>
                  <a:t>入力作業</a:t>
                </a:r>
              </a:p>
            </p:txBody>
          </p:sp>
        </p:grpSp>
        <p:sp>
          <p:nvSpPr>
            <p:cNvPr id="438" name="正方形/長方形 437">
              <a:extLst>
                <a:ext uri="{FF2B5EF4-FFF2-40B4-BE49-F238E27FC236}">
                  <a16:creationId xmlns:a16="http://schemas.microsoft.com/office/drawing/2014/main" id="{8115949F-67F7-ED6A-B276-5C9ED283B965}"/>
                </a:ext>
              </a:extLst>
            </p:cNvPr>
            <p:cNvSpPr/>
            <p:nvPr/>
          </p:nvSpPr>
          <p:spPr bwMode="auto">
            <a:xfrm>
              <a:off x="9885449" y="51350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rgbClr val="FF0000"/>
              </a:solidFill>
              <a:miter lim="800000"/>
              <a:headEnd/>
              <a:tailEnd/>
            </a:ln>
          </p:spPr>
          <p:txBody>
            <a:bodyPr wrap="square" lIns="27432" tIns="18288" rIns="27432" bIns="18288" rtlCol="0" anchor="ctr" upright="1"/>
            <a:lstStyle/>
            <a:p>
              <a:pPr algn="ctr"/>
              <a:r>
                <a:rPr lang="en-US" altLang="ja-JP" sz="1200" b="1" dirty="0">
                  <a:solidFill>
                    <a:srgbClr val="FF0000"/>
                  </a:solidFill>
                  <a:latin typeface="Meiryo UI" panose="020B0604030504040204" pitchFamily="50" charset="-128"/>
                  <a:ea typeface="Meiryo UI" panose="020B0604030504040204" pitchFamily="50" charset="-128"/>
                </a:rPr>
                <a:t>AI</a:t>
              </a:r>
              <a:r>
                <a:rPr lang="ja-JP" altLang="en-US" sz="1200" b="1" dirty="0">
                  <a:solidFill>
                    <a:srgbClr val="FF0000"/>
                  </a:solidFill>
                  <a:latin typeface="Meiryo UI" panose="020B0604030504040204" pitchFamily="50" charset="-128"/>
                  <a:ea typeface="Meiryo UI" panose="020B0604030504040204" pitchFamily="50" charset="-128"/>
                </a:rPr>
                <a:t>による自動化</a:t>
              </a:r>
            </a:p>
          </p:txBody>
        </p:sp>
        <p:sp>
          <p:nvSpPr>
            <p:cNvPr id="446" name="正方形/長方形 445">
              <a:extLst>
                <a:ext uri="{FF2B5EF4-FFF2-40B4-BE49-F238E27FC236}">
                  <a16:creationId xmlns:a16="http://schemas.microsoft.com/office/drawing/2014/main" id="{B1BE544A-AE61-1017-288A-DC34FF0310A2}"/>
                </a:ext>
              </a:extLst>
            </p:cNvPr>
            <p:cNvSpPr/>
            <p:nvPr/>
          </p:nvSpPr>
          <p:spPr bwMode="auto">
            <a:xfrm>
              <a:off x="6893770" y="2562209"/>
              <a:ext cx="1524959" cy="351253"/>
            </a:xfrm>
            <a:prstGeom prst="rect">
              <a:avLst/>
            </a:prstGeom>
            <a:noFill/>
            <a:ln w="6350">
              <a:noFill/>
              <a:miter lim="800000"/>
              <a:headEnd/>
              <a:tailEnd/>
            </a:ln>
          </p:spPr>
          <p:txBody>
            <a:bodyPr wrap="square" lIns="27432" tIns="18288" rIns="27432" bIns="18288" rtlCol="0" anchor="ctr" upright="1"/>
            <a:lstStyle/>
            <a:p>
              <a:pPr algn="ctr"/>
              <a:r>
                <a:rPr lang="en-US" altLang="ja-JP" sz="1200" b="1" dirty="0">
                  <a:solidFill>
                    <a:srgbClr val="FF0000"/>
                  </a:solidFill>
                  <a:latin typeface="Meiryo UI" panose="020B0604030504040204" pitchFamily="50" charset="-128"/>
                  <a:ea typeface="Meiryo UI" panose="020B0604030504040204" pitchFamily="50" charset="-128"/>
                </a:rPr>
                <a:t>1,000</a:t>
              </a:r>
              <a:r>
                <a:rPr lang="ja-JP" altLang="en-US" sz="1200" b="1" dirty="0">
                  <a:solidFill>
                    <a:srgbClr val="FF0000"/>
                  </a:solidFill>
                  <a:latin typeface="Meiryo UI" panose="020B0604030504040204" pitchFamily="50" charset="-128"/>
                  <a:ea typeface="Meiryo UI" panose="020B0604030504040204" pitchFamily="50" charset="-128"/>
                </a:rPr>
                <a:t>件の企業の</a:t>
              </a:r>
              <a:endParaRPr lang="en-US" altLang="ja-JP" sz="1200" b="1" dirty="0">
                <a:solidFill>
                  <a:srgbClr val="FF0000"/>
                </a:solidFill>
                <a:latin typeface="Meiryo UI" panose="020B0604030504040204" pitchFamily="50" charset="-128"/>
                <a:ea typeface="Meiryo UI" panose="020B0604030504040204" pitchFamily="50" charset="-128"/>
              </a:endParaRPr>
            </a:p>
            <a:p>
              <a:pPr algn="ctr"/>
              <a:r>
                <a:rPr lang="ja-JP" altLang="en-US" sz="1200" b="1" dirty="0">
                  <a:solidFill>
                    <a:srgbClr val="FF0000"/>
                  </a:solidFill>
                  <a:latin typeface="Meiryo UI" panose="020B0604030504040204" pitchFamily="50" charset="-128"/>
                  <a:ea typeface="Meiryo UI" panose="020B0604030504040204" pitchFamily="50" charset="-128"/>
                </a:rPr>
                <a:t>目検業務は約</a:t>
              </a:r>
              <a:r>
                <a:rPr lang="en-US" altLang="ja-JP" sz="1200" b="1" dirty="0">
                  <a:solidFill>
                    <a:srgbClr val="FF0000"/>
                  </a:solidFill>
                  <a:latin typeface="Meiryo UI" panose="020B0604030504040204" pitchFamily="50" charset="-128"/>
                  <a:ea typeface="Meiryo UI" panose="020B0604030504040204" pitchFamily="50" charset="-128"/>
                </a:rPr>
                <a:t>120h</a:t>
              </a:r>
              <a:endParaRPr lang="ja-JP" altLang="en-US" sz="1200" b="1" dirty="0">
                <a:solidFill>
                  <a:srgbClr val="FF0000"/>
                </a:solidFill>
                <a:latin typeface="Meiryo UI" panose="020B0604030504040204" pitchFamily="50" charset="-128"/>
                <a:ea typeface="Meiryo UI" panose="020B0604030504040204" pitchFamily="50" charset="-128"/>
              </a:endParaRPr>
            </a:p>
          </p:txBody>
        </p:sp>
        <p:cxnSp>
          <p:nvCxnSpPr>
            <p:cNvPr id="447" name="カギ線コネクタ 64">
              <a:extLst>
                <a:ext uri="{FF2B5EF4-FFF2-40B4-BE49-F238E27FC236}">
                  <a16:creationId xmlns:a16="http://schemas.microsoft.com/office/drawing/2014/main" id="{B08FE655-3E71-655F-2314-6CA45CF0E863}"/>
                </a:ext>
              </a:extLst>
            </p:cNvPr>
            <p:cNvCxnSpPr>
              <a:cxnSpLocks/>
            </p:cNvCxnSpPr>
            <p:nvPr/>
          </p:nvCxnSpPr>
          <p:spPr bwMode="auto">
            <a:xfrm flipH="1" flipV="1">
              <a:off x="8229111" y="2931521"/>
              <a:ext cx="1656338" cy="2203562"/>
            </a:xfrm>
            <a:prstGeom prst="straightConnector1">
              <a:avLst/>
            </a:prstGeom>
            <a:noFill/>
            <a:ln w="6350" cap="flat" cmpd="sng" algn="ctr">
              <a:solidFill>
                <a:srgbClr val="FF0000"/>
              </a:solidFill>
              <a:prstDash val="dash"/>
              <a:round/>
              <a:headEnd type="none" w="med" len="med"/>
              <a:tailEnd type="none" w="med" len="med"/>
            </a:ln>
            <a:effectLst/>
          </p:spPr>
        </p:cxnSp>
        <p:sp>
          <p:nvSpPr>
            <p:cNvPr id="450" name="正方形/長方形 449">
              <a:extLst>
                <a:ext uri="{FF2B5EF4-FFF2-40B4-BE49-F238E27FC236}">
                  <a16:creationId xmlns:a16="http://schemas.microsoft.com/office/drawing/2014/main" id="{AB9DD510-C0D5-0122-5560-25D2D1A15C2D}"/>
                </a:ext>
              </a:extLst>
            </p:cNvPr>
            <p:cNvSpPr/>
            <p:nvPr/>
          </p:nvSpPr>
          <p:spPr bwMode="auto">
            <a:xfrm>
              <a:off x="9708250" y="4390860"/>
              <a:ext cx="1524959" cy="351253"/>
            </a:xfrm>
            <a:prstGeom prst="rect">
              <a:avLst/>
            </a:prstGeom>
            <a:noFill/>
            <a:ln w="6350">
              <a:noFill/>
              <a:miter lim="800000"/>
              <a:headEnd/>
              <a:tailEnd/>
            </a:ln>
          </p:spPr>
          <p:txBody>
            <a:bodyPr wrap="square" lIns="27432" tIns="18288" rIns="27432" bIns="18288" rtlCol="0" anchor="ctr" upright="1"/>
            <a:lstStyle/>
            <a:p>
              <a:pPr algn="ctr"/>
              <a:r>
                <a:rPr lang="ja-JP" altLang="en-US" sz="1200" b="1" dirty="0">
                  <a:solidFill>
                    <a:srgbClr val="FF0000"/>
                  </a:solidFill>
                  <a:latin typeface="Meiryo UI" panose="020B0604030504040204" pitchFamily="50" charset="-128"/>
                  <a:ea typeface="Meiryo UI" panose="020B0604030504040204" pitchFamily="50" charset="-128"/>
                </a:rPr>
                <a:t>約</a:t>
              </a:r>
              <a:r>
                <a:rPr lang="en-US" altLang="ja-JP" sz="1200" b="1" dirty="0">
                  <a:solidFill>
                    <a:srgbClr val="FF0000"/>
                  </a:solidFill>
                  <a:latin typeface="Meiryo UI" panose="020B0604030504040204" pitchFamily="50" charset="-128"/>
                  <a:ea typeface="Meiryo UI" panose="020B0604030504040204" pitchFamily="50" charset="-128"/>
                </a:rPr>
                <a:t>10h</a:t>
              </a:r>
              <a:r>
                <a:rPr lang="ja-JP" altLang="en-US" sz="1200" b="1" dirty="0">
                  <a:solidFill>
                    <a:srgbClr val="FF0000"/>
                  </a:solidFill>
                  <a:latin typeface="Meiryo UI" panose="020B0604030504040204" pitchFamily="50" charset="-128"/>
                  <a:ea typeface="Meiryo UI" panose="020B0604030504040204" pitchFamily="50" charset="-128"/>
                </a:rPr>
                <a:t> に削減</a:t>
              </a:r>
              <a:br>
                <a:rPr lang="en-US" altLang="ja-JP" sz="1200" b="1" dirty="0">
                  <a:solidFill>
                    <a:srgbClr val="FF0000"/>
                  </a:solidFill>
                  <a:latin typeface="Meiryo UI" panose="020B0604030504040204" pitchFamily="50" charset="-128"/>
                  <a:ea typeface="Meiryo UI" panose="020B0604030504040204" pitchFamily="50" charset="-128"/>
                </a:rPr>
              </a:br>
              <a:r>
                <a:rPr lang="en-US" altLang="ja-JP" sz="1050" b="1" dirty="0">
                  <a:solidFill>
                    <a:srgbClr val="FF0000"/>
                  </a:solidFill>
                  <a:latin typeface="Meiryo UI" panose="020B0604030504040204" pitchFamily="50" charset="-128"/>
                  <a:ea typeface="Meiryo UI" panose="020B0604030504040204" pitchFamily="50" charset="-128"/>
                </a:rPr>
                <a:t>※90%</a:t>
              </a:r>
              <a:r>
                <a:rPr lang="ja-JP" altLang="en-US" sz="1050" b="1" dirty="0">
                  <a:solidFill>
                    <a:srgbClr val="FF0000"/>
                  </a:solidFill>
                  <a:latin typeface="Meiryo UI" panose="020B0604030504040204" pitchFamily="50" charset="-128"/>
                  <a:ea typeface="Meiryo UI" panose="020B0604030504040204" pitchFamily="50" charset="-128"/>
                </a:rPr>
                <a:t>以上削減を目標</a:t>
              </a:r>
            </a:p>
          </p:txBody>
        </p:sp>
      </p:grpSp>
      <p:sp>
        <p:nvSpPr>
          <p:cNvPr id="452" name="左中かっこ 451">
            <a:extLst>
              <a:ext uri="{FF2B5EF4-FFF2-40B4-BE49-F238E27FC236}">
                <a16:creationId xmlns:a16="http://schemas.microsoft.com/office/drawing/2014/main" id="{88A48D06-05D2-E621-947B-4E141ABB8A0E}"/>
              </a:ext>
            </a:extLst>
          </p:cNvPr>
          <p:cNvSpPr/>
          <p:nvPr/>
        </p:nvSpPr>
        <p:spPr>
          <a:xfrm>
            <a:off x="5812791" y="2931520"/>
            <a:ext cx="767866" cy="2526397"/>
          </a:xfrm>
          <a:prstGeom prst="leftBrace">
            <a:avLst>
              <a:gd name="adj1" fmla="val 47836"/>
              <a:gd name="adj2" fmla="val 48752"/>
            </a:avLst>
          </a:prstGeom>
          <a:ln w="635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3421077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3300-E853-C685-FE92-9DC79BBD56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E124AB-5A6D-E0E2-52E4-0B152F9BDC2F}"/>
              </a:ext>
            </a:extLst>
          </p:cNvPr>
          <p:cNvSpPr>
            <a:spLocks noGrp="1"/>
          </p:cNvSpPr>
          <p:nvPr>
            <p:ph type="title"/>
          </p:nvPr>
        </p:nvSpPr>
        <p:spPr>
          <a:xfrm>
            <a:off x="203200" y="152403"/>
            <a:ext cx="9204569" cy="379413"/>
          </a:xfrm>
        </p:spPr>
        <p:txBody>
          <a:bodyPr anchor="ctr"/>
          <a:lstStyle/>
          <a:p>
            <a:r>
              <a:rPr kumimoji="1" lang="en-US" altLang="ja-JP" dirty="0">
                <a:latin typeface="Meiryo UI" panose="020B0604030504040204" pitchFamily="50" charset="-128"/>
                <a:ea typeface="Meiryo UI" panose="020B0604030504040204" pitchFamily="50" charset="-128"/>
              </a:rPr>
              <a:t>PRJ</a:t>
            </a:r>
            <a:r>
              <a:rPr kumimoji="1" lang="ja-JP" altLang="en-US" dirty="0">
                <a:latin typeface="Meiryo UI" panose="020B0604030504040204" pitchFamily="50" charset="-128"/>
                <a:ea typeface="Meiryo UI" panose="020B0604030504040204" pitchFamily="50" charset="-128"/>
              </a:rPr>
              <a:t>の狙い</a:t>
            </a:r>
          </a:p>
        </p:txBody>
      </p:sp>
      <p:sp>
        <p:nvSpPr>
          <p:cNvPr id="84" name="スライド番号プレースホルダー 3">
            <a:extLst>
              <a:ext uri="{FF2B5EF4-FFF2-40B4-BE49-F238E27FC236}">
                <a16:creationId xmlns:a16="http://schemas.microsoft.com/office/drawing/2014/main" id="{F44601F7-225F-1EBA-8EAD-A64D5F21B18E}"/>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39A6B56E-AAFB-B5ED-7D56-E63DCC455BC1}"/>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目検作業は大きく</a:t>
            </a:r>
            <a:r>
              <a:rPr lang="en-US" altLang="ja-JP" sz="1600" kern="0" dirty="0"/>
              <a:t>2</a:t>
            </a:r>
            <a:r>
              <a:rPr lang="ja-JP" altLang="en-US" sz="1600" kern="0" dirty="0"/>
              <a:t>つあり、法人と個人のプロセスで確認するソースが異なる。</a:t>
            </a:r>
            <a:endParaRPr lang="en-US" altLang="ja-JP" sz="1600" kern="0" dirty="0"/>
          </a:p>
          <a:p>
            <a:pPr marL="285750" indent="-285750">
              <a:buFont typeface="Arial" panose="020B0604020202020204" pitchFamily="34" charset="0"/>
              <a:buChar char="•"/>
            </a:pPr>
            <a:r>
              <a:rPr lang="ja-JP" altLang="en-US" sz="1600" kern="0" dirty="0"/>
              <a:t>法人に関しては、調査サイトが国税庁のみのため、</a:t>
            </a:r>
            <a:r>
              <a:rPr lang="en-US" altLang="ja-JP" sz="1600" kern="0" dirty="0"/>
              <a:t>API</a:t>
            </a:r>
            <a:r>
              <a:rPr lang="ja-JP" altLang="en-US" sz="1600" kern="0" dirty="0"/>
              <a:t>による</a:t>
            </a:r>
            <a:r>
              <a:rPr lang="en-US" altLang="ja-JP" sz="1600" kern="0" dirty="0"/>
              <a:t>RPA</a:t>
            </a:r>
            <a:r>
              <a:rPr lang="ja-JP" altLang="en-US" sz="1600" kern="0" dirty="0"/>
              <a:t>的な処理を実現できれば大幅に人手の作業が短縮できる。</a:t>
            </a:r>
            <a:endParaRPr lang="en-US" altLang="ja-JP" sz="1600" kern="0" dirty="0"/>
          </a:p>
          <a:p>
            <a:pPr marL="285750" indent="-285750">
              <a:buFont typeface="Arial" panose="020B0604020202020204" pitchFamily="34" charset="0"/>
              <a:buChar char="•"/>
            </a:pPr>
            <a:r>
              <a:rPr lang="ja-JP" altLang="en-US" sz="1600" kern="0" dirty="0"/>
              <a:t>個人に関しては、多様なソースによる検索作業自体が課題だが、</a:t>
            </a:r>
            <a:r>
              <a:rPr lang="en-US" altLang="ja-JP" sz="1600" kern="0" dirty="0"/>
              <a:t>AI</a:t>
            </a:r>
            <a:r>
              <a:rPr lang="ja-JP" altLang="en-US" sz="1600" kern="0" dirty="0"/>
              <a:t>による</a:t>
            </a:r>
            <a:r>
              <a:rPr lang="en-US" altLang="ja-JP" sz="1600" kern="0" dirty="0"/>
              <a:t>Web</a:t>
            </a:r>
            <a:r>
              <a:rPr lang="ja-JP" altLang="en-US" sz="1600" kern="0" dirty="0"/>
              <a:t>クローリングを活用することで人手を介した作業が短縮できる。</a:t>
            </a:r>
            <a:endParaRPr lang="en-US" altLang="ja-JP" sz="1600" kern="0" dirty="0"/>
          </a:p>
        </p:txBody>
      </p:sp>
      <p:sp>
        <p:nvSpPr>
          <p:cNvPr id="3" name="正方形/長方形 2">
            <a:extLst>
              <a:ext uri="{FF2B5EF4-FFF2-40B4-BE49-F238E27FC236}">
                <a16:creationId xmlns:a16="http://schemas.microsoft.com/office/drawing/2014/main" id="{1AAC817B-2FCD-713D-3266-8416E2B5E037}"/>
              </a:ext>
            </a:extLst>
          </p:cNvPr>
          <p:cNvSpPr/>
          <p:nvPr/>
        </p:nvSpPr>
        <p:spPr>
          <a:xfrm>
            <a:off x="2788185" y="2442971"/>
            <a:ext cx="2540000" cy="79321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国税庁のサイトから該当の企業情報を</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調査するのに時間がかかる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39F7D046-7152-D99D-0555-7585CBB87268}"/>
              </a:ext>
            </a:extLst>
          </p:cNvPr>
          <p:cNvSpPr/>
          <p:nvPr/>
        </p:nvSpPr>
        <p:spPr>
          <a:xfrm>
            <a:off x="667615" y="2442971"/>
            <a:ext cx="1908608" cy="79321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法人企業の目検業務</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5" name="正方形/長方形 4">
            <a:extLst>
              <a:ext uri="{FF2B5EF4-FFF2-40B4-BE49-F238E27FC236}">
                <a16:creationId xmlns:a16="http://schemas.microsoft.com/office/drawing/2014/main" id="{164D352A-CB39-F39F-8CC8-EE286D2735C8}"/>
              </a:ext>
            </a:extLst>
          </p:cNvPr>
          <p:cNvSpPr/>
          <p:nvPr/>
        </p:nvSpPr>
        <p:spPr>
          <a:xfrm>
            <a:off x="2788185" y="1989667"/>
            <a:ext cx="2540000" cy="353058"/>
          </a:xfrm>
          <a:prstGeom prst="rect">
            <a:avLst/>
          </a:prstGeom>
          <a:solidFill>
            <a:srgbClr val="0E0EAA"/>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課題</a:t>
            </a:r>
          </a:p>
        </p:txBody>
      </p:sp>
      <p:sp>
        <p:nvSpPr>
          <p:cNvPr id="6" name="正方形/長方形 5">
            <a:extLst>
              <a:ext uri="{FF2B5EF4-FFF2-40B4-BE49-F238E27FC236}">
                <a16:creationId xmlns:a16="http://schemas.microsoft.com/office/drawing/2014/main" id="{088B97CA-0C1B-CC36-8BB0-B0E92DEEB57C}"/>
              </a:ext>
            </a:extLst>
          </p:cNvPr>
          <p:cNvSpPr/>
          <p:nvPr/>
        </p:nvSpPr>
        <p:spPr>
          <a:xfrm>
            <a:off x="5683785" y="2442971"/>
            <a:ext cx="2540000" cy="79321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国税庁のサイトで提供されている</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API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を</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活用して自動化（</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RPA</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的な処理）を</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実現する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233452C8-3F3F-A332-C45D-E7A4E5AFF0ED}"/>
              </a:ext>
            </a:extLst>
          </p:cNvPr>
          <p:cNvSpPr/>
          <p:nvPr/>
        </p:nvSpPr>
        <p:spPr>
          <a:xfrm>
            <a:off x="5683785" y="1989667"/>
            <a:ext cx="2540000" cy="353058"/>
          </a:xfrm>
          <a:prstGeom prst="rect">
            <a:avLst/>
          </a:prstGeom>
          <a:solidFill>
            <a:srgbClr val="0E0EAA"/>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狙い</a:t>
            </a:r>
            <a:endParaRPr kumimoji="1" lang="en-US" altLang="ja-JP"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（何を実現するのか）</a:t>
            </a:r>
            <a:endPar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8" name="正方形/長方形 7">
            <a:extLst>
              <a:ext uri="{FF2B5EF4-FFF2-40B4-BE49-F238E27FC236}">
                <a16:creationId xmlns:a16="http://schemas.microsoft.com/office/drawing/2014/main" id="{621B512F-F69B-6773-4D7D-0D2631AF34BD}"/>
              </a:ext>
            </a:extLst>
          </p:cNvPr>
          <p:cNvSpPr/>
          <p:nvPr/>
        </p:nvSpPr>
        <p:spPr>
          <a:xfrm>
            <a:off x="8579385" y="2442971"/>
            <a:ext cx="2540000" cy="79321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人手による目検の作業がなくなる。</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国税庁のサイトのみ</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6FC573B9-8C31-7B27-246C-B2FED92DC6C5}"/>
              </a:ext>
            </a:extLst>
          </p:cNvPr>
          <p:cNvSpPr/>
          <p:nvPr/>
        </p:nvSpPr>
        <p:spPr>
          <a:xfrm>
            <a:off x="8579385" y="1989667"/>
            <a:ext cx="2540000" cy="353058"/>
          </a:xfrm>
          <a:prstGeom prst="rect">
            <a:avLst/>
          </a:prstGeom>
          <a:solidFill>
            <a:srgbClr val="0E0EAA"/>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rPr>
              <a:t>効果</a:t>
            </a:r>
            <a:endParaRPr kumimoji="1" lang="en-US" altLang="ja-JP"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1"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a:t>
            </a:r>
            <a:r>
              <a:rPr lang="en-US" altLang="ja-JP" sz="1200" b="1"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KPI</a:t>
            </a:r>
            <a:r>
              <a:rPr lang="ja-JP" altLang="en-US" sz="1200" b="1" dirty="0">
                <a:solidFill>
                  <a:srgbClr val="FFFFFF"/>
                </a:solidFill>
                <a:effectLst>
                  <a:glow>
                    <a:srgbClr val="00CC99">
                      <a:alpha val="40000"/>
                    </a:srgbClr>
                  </a:glow>
                </a:effectLst>
                <a:latin typeface="Meiryo UI" panose="020B0604030504040204" pitchFamily="50" charset="-128"/>
                <a:ea typeface="Meiryo UI" panose="020B0604030504040204" pitchFamily="50" charset="-128"/>
              </a:rPr>
              <a:t>がどう変わるか）</a:t>
            </a:r>
            <a:endParaRPr kumimoji="1" lang="ja-JP" altLang="en-US" sz="1200" b="1" i="0" u="none" strike="noStrike" kern="1200" cap="none" spc="0" normalizeH="0" baseline="0" noProof="0" dirty="0">
              <a:ln>
                <a:noFill/>
              </a:ln>
              <a:solidFill>
                <a:srgbClr val="FFFFFF"/>
              </a:solidFill>
              <a:effectLst>
                <a:glow>
                  <a:srgbClr val="00CC99">
                    <a:alpha val="40000"/>
                  </a:srgbClr>
                </a:glow>
              </a:effectLst>
              <a:uLnTx/>
              <a:uFillTx/>
              <a:latin typeface="Meiryo UI" panose="020B0604030504040204" pitchFamily="50" charset="-128"/>
              <a:ea typeface="Meiryo UI" panose="020B0604030504040204" pitchFamily="50" charset="-128"/>
              <a:cs typeface="+mn-cs"/>
            </a:endParaRPr>
          </a:p>
        </p:txBody>
      </p:sp>
      <p:sp>
        <p:nvSpPr>
          <p:cNvPr id="10" name="正方形/長方形 9">
            <a:extLst>
              <a:ext uri="{FF2B5EF4-FFF2-40B4-BE49-F238E27FC236}">
                <a16:creationId xmlns:a16="http://schemas.microsoft.com/office/drawing/2014/main" id="{8C202184-F2C4-6D67-D846-D60E697BF3B2}"/>
              </a:ext>
            </a:extLst>
          </p:cNvPr>
          <p:cNvSpPr/>
          <p:nvPr/>
        </p:nvSpPr>
        <p:spPr>
          <a:xfrm>
            <a:off x="2788185" y="3336427"/>
            <a:ext cx="2540000" cy="79321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（国税庁のサイトに無い）インターネット</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上に存在する独自の</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HP</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や</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SNS</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などを</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調査するのは複雑かつ時間がかかる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0BDA825D-A0E9-9CF2-4993-BED3A8A0F953}"/>
              </a:ext>
            </a:extLst>
          </p:cNvPr>
          <p:cNvSpPr/>
          <p:nvPr/>
        </p:nvSpPr>
        <p:spPr>
          <a:xfrm>
            <a:off x="667615" y="3336427"/>
            <a:ext cx="1908608" cy="79321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個人事業主の目検業務</a:t>
            </a:r>
            <a:endParaRPr kumimoji="1" lang="en-US" altLang="ja-JP" sz="12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12" name="正方形/長方形 11">
            <a:extLst>
              <a:ext uri="{FF2B5EF4-FFF2-40B4-BE49-F238E27FC236}">
                <a16:creationId xmlns:a16="http://schemas.microsoft.com/office/drawing/2014/main" id="{50E04113-A218-F9DE-999C-68FFECC70BAB}"/>
              </a:ext>
            </a:extLst>
          </p:cNvPr>
          <p:cNvSpPr/>
          <p:nvPr/>
        </p:nvSpPr>
        <p:spPr>
          <a:xfrm>
            <a:off x="5683785" y="3336427"/>
            <a:ext cx="2540000" cy="79321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会社情報から</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クローリングを行い、</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による判断にて確実性の高い情報を</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取得して自動化を実現する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8A0E0D51-8CFD-32FB-7012-C221C6DB3D33}"/>
              </a:ext>
            </a:extLst>
          </p:cNvPr>
          <p:cNvSpPr/>
          <p:nvPr/>
        </p:nvSpPr>
        <p:spPr>
          <a:xfrm>
            <a:off x="8579385" y="3336427"/>
            <a:ext cx="2540000" cy="79321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従来の人手による目検作業がなくなる。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ただし、新たに</a:t>
            </a:r>
            <a: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の調査結果から判断する</a:t>
            </a:r>
            <a:br>
              <a:rPr lang="en-US" altLang="ja-JP" sz="11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100" dirty="0">
                <a:solidFill>
                  <a:srgbClr val="000000">
                    <a:lumMod val="65000"/>
                    <a:lumOff val="35000"/>
                  </a:srgbClr>
                </a:solidFill>
                <a:latin typeface="Meiryo UI" panose="020B0604030504040204" pitchFamily="50" charset="-128"/>
                <a:ea typeface="Meiryo UI" panose="020B0604030504040204" pitchFamily="50" charset="-128"/>
              </a:rPr>
              <a:t>作業が発生する。</a:t>
            </a:r>
            <a:endParaRPr lang="en-US" altLang="ja-JP" sz="1100" dirty="0">
              <a:solidFill>
                <a:srgbClr val="000000">
                  <a:lumMod val="65000"/>
                  <a:lumOff val="35000"/>
                </a:srgb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4334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2B7E-AFDE-58B9-112C-14B348BFC9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39B71C-F74F-375F-A9B6-82427731A4C1}"/>
              </a:ext>
            </a:extLst>
          </p:cNvPr>
          <p:cNvSpPr>
            <a:spLocks noGrp="1"/>
          </p:cNvSpPr>
          <p:nvPr>
            <p:ph type="title"/>
          </p:nvPr>
        </p:nvSpPr>
        <p:spPr>
          <a:xfrm>
            <a:off x="203200" y="152403"/>
            <a:ext cx="9204569" cy="379413"/>
          </a:xfrm>
        </p:spPr>
        <p:txBody>
          <a:bodyPr anchor="ctr"/>
          <a:lstStyle/>
          <a:p>
            <a:r>
              <a:rPr kumimoji="1" lang="en-US" altLang="ja-JP" dirty="0" err="1">
                <a:latin typeface="Meiryo UI" panose="020B0604030504040204" pitchFamily="50" charset="-128"/>
                <a:ea typeface="Meiryo UI" panose="020B0604030504040204" pitchFamily="50" charset="-128"/>
              </a:rPr>
              <a:t>ToBe</a:t>
            </a:r>
            <a:r>
              <a:rPr kumimoji="1" lang="ja-JP" altLang="en-US" dirty="0">
                <a:latin typeface="Meiryo UI" panose="020B0604030504040204" pitchFamily="50" charset="-128"/>
                <a:ea typeface="Meiryo UI" panose="020B0604030504040204" pitchFamily="50" charset="-128"/>
              </a:rPr>
              <a:t>業務のイメージ</a:t>
            </a:r>
          </a:p>
        </p:txBody>
      </p:sp>
      <p:sp>
        <p:nvSpPr>
          <p:cNvPr id="84" name="スライド番号プレースホルダー 3">
            <a:extLst>
              <a:ext uri="{FF2B5EF4-FFF2-40B4-BE49-F238E27FC236}">
                <a16:creationId xmlns:a16="http://schemas.microsoft.com/office/drawing/2014/main" id="{51A409B1-83F0-3579-E345-5F89806432FD}"/>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57CF8789-39F3-23AC-C9B6-61877EC27F9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企業情報を目検で確認する業務を完全に</a:t>
            </a:r>
            <a:r>
              <a:rPr lang="en-US" altLang="ja-JP" sz="1600" kern="0" dirty="0"/>
              <a:t>AI</a:t>
            </a:r>
            <a:r>
              <a:rPr lang="ja-JP" altLang="en-US" sz="1600" kern="0" dirty="0"/>
              <a:t>の</a:t>
            </a:r>
            <a:r>
              <a:rPr lang="en-US" altLang="ja-JP" sz="1600" kern="0" dirty="0"/>
              <a:t>Web</a:t>
            </a:r>
            <a:r>
              <a:rPr lang="ja-JP" altLang="en-US" sz="1600" kern="0" dirty="0"/>
              <a:t>クローリングによる自動化を実現した。</a:t>
            </a:r>
            <a:endParaRPr lang="en-US" altLang="ja-JP" sz="1600" kern="0" dirty="0"/>
          </a:p>
          <a:p>
            <a:pPr marL="285750" indent="-285750">
              <a:buFont typeface="Arial" panose="020B0604020202020204" pitchFamily="34" charset="0"/>
              <a:buChar char="•"/>
            </a:pPr>
            <a:r>
              <a:rPr lang="ja-JP" altLang="en-US" sz="1600" kern="0" dirty="0"/>
              <a:t>（仮に）月に</a:t>
            </a:r>
            <a:r>
              <a:rPr lang="en-US" altLang="ja-JP" sz="1600" kern="0" dirty="0"/>
              <a:t>1000</a:t>
            </a:r>
            <a:r>
              <a:rPr lang="ja-JP" altLang="en-US" sz="1600" kern="0" dirty="0"/>
              <a:t>件目検調査を行う場合、</a:t>
            </a:r>
            <a:r>
              <a:rPr lang="en-US" altLang="ja-JP" sz="1600" kern="0" dirty="0"/>
              <a:t>80</a:t>
            </a:r>
            <a:r>
              <a:rPr lang="ja-JP" altLang="en-US" sz="1600" kern="0" dirty="0"/>
              <a:t>～</a:t>
            </a:r>
            <a:r>
              <a:rPr lang="en-US" altLang="ja-JP" sz="1600" kern="0" dirty="0"/>
              <a:t>160</a:t>
            </a:r>
            <a:r>
              <a:rPr lang="ja-JP" altLang="en-US" sz="1600" kern="0" dirty="0"/>
              <a:t>時間の人で作業の削減効果が見込める。</a:t>
            </a:r>
            <a:endParaRPr lang="en-US" altLang="ja-JP" sz="1600" kern="0" dirty="0"/>
          </a:p>
        </p:txBody>
      </p:sp>
      <p:sp>
        <p:nvSpPr>
          <p:cNvPr id="186" name="矢印: 左右 185">
            <a:extLst>
              <a:ext uri="{FF2B5EF4-FFF2-40B4-BE49-F238E27FC236}">
                <a16:creationId xmlns:a16="http://schemas.microsoft.com/office/drawing/2014/main" id="{93F42662-7D4D-A47A-AE2B-9A13F0564BC9}"/>
              </a:ext>
            </a:extLst>
          </p:cNvPr>
          <p:cNvSpPr/>
          <p:nvPr/>
        </p:nvSpPr>
        <p:spPr>
          <a:xfrm>
            <a:off x="4848623" y="1415466"/>
            <a:ext cx="6279149"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dirty="0">
                <a:solidFill>
                  <a:schemeClr val="bg2">
                    <a:lumMod val="50000"/>
                  </a:schemeClr>
                </a:solidFill>
                <a:latin typeface="Meiryo UI" panose="020B0604030504040204" pitchFamily="50" charset="-128"/>
                <a:ea typeface="Meiryo UI" panose="020B0604030504040204" pitchFamily="50" charset="-128"/>
              </a:rPr>
              <a:t>人による目検作業時間：</a:t>
            </a:r>
            <a:r>
              <a:rPr lang="en-US" altLang="ja-JP" sz="800" b="1" dirty="0">
                <a:solidFill>
                  <a:schemeClr val="bg2">
                    <a:lumMod val="50000"/>
                  </a:schemeClr>
                </a:solidFill>
                <a:latin typeface="Meiryo UI" panose="020B0604030504040204" pitchFamily="50" charset="-128"/>
                <a:ea typeface="Meiryo UI" panose="020B0604030504040204" pitchFamily="50" charset="-128"/>
              </a:rPr>
              <a:t>5</a:t>
            </a:r>
            <a:r>
              <a:rPr lang="ja-JP" altLang="en-US" sz="800" b="1" dirty="0">
                <a:solidFill>
                  <a:schemeClr val="bg2">
                    <a:lumMod val="50000"/>
                  </a:schemeClr>
                </a:solidFill>
                <a:latin typeface="Meiryo UI" panose="020B0604030504040204" pitchFamily="50" charset="-128"/>
                <a:ea typeface="Meiryo UI" panose="020B0604030504040204" pitchFamily="50" charset="-128"/>
              </a:rPr>
              <a:t>～</a:t>
            </a:r>
            <a:r>
              <a:rPr lang="en-US" altLang="ja-JP" sz="800" b="1" dirty="0">
                <a:solidFill>
                  <a:schemeClr val="bg2">
                    <a:lumMod val="50000"/>
                  </a:schemeClr>
                </a:solidFill>
                <a:latin typeface="Meiryo UI" panose="020B0604030504040204" pitchFamily="50" charset="-128"/>
                <a:ea typeface="Meiryo UI" panose="020B0604030504040204" pitchFamily="50" charset="-128"/>
              </a:rPr>
              <a:t>10</a:t>
            </a:r>
            <a:r>
              <a:rPr lang="ja-JP" altLang="en-US" sz="800" b="1" dirty="0">
                <a:solidFill>
                  <a:schemeClr val="bg2">
                    <a:lumMod val="50000"/>
                  </a:schemeClr>
                </a:solidFill>
                <a:latin typeface="Meiryo UI" panose="020B0604030504040204" pitchFamily="50" charset="-128"/>
                <a:ea typeface="Meiryo UI" panose="020B0604030504040204" pitchFamily="50" charset="-128"/>
              </a:rPr>
              <a:t>分程度</a:t>
            </a:r>
            <a:r>
              <a:rPr lang="en-US" altLang="ja-JP" sz="800" b="1" dirty="0">
                <a:solidFill>
                  <a:schemeClr val="bg2">
                    <a:lumMod val="50000"/>
                  </a:schemeClr>
                </a:solidFill>
                <a:latin typeface="Meiryo UI" panose="020B0604030504040204" pitchFamily="50" charset="-128"/>
                <a:ea typeface="Meiryo UI" panose="020B0604030504040204" pitchFamily="50" charset="-128"/>
              </a:rPr>
              <a:t>/1</a:t>
            </a:r>
            <a:r>
              <a:rPr lang="ja-JP" altLang="en-US" sz="800" b="1" dirty="0">
                <a:solidFill>
                  <a:schemeClr val="bg2">
                    <a:lumMod val="50000"/>
                  </a:schemeClr>
                </a:solidFill>
                <a:latin typeface="Meiryo UI" panose="020B0604030504040204" pitchFamily="50" charset="-128"/>
                <a:ea typeface="Meiryo UI" panose="020B0604030504040204" pitchFamily="50" charset="-128"/>
              </a:rPr>
              <a:t>件</a:t>
            </a:r>
          </a:p>
        </p:txBody>
      </p:sp>
      <p:sp>
        <p:nvSpPr>
          <p:cNvPr id="8" name="正方形/長方形 7">
            <a:extLst>
              <a:ext uri="{FF2B5EF4-FFF2-40B4-BE49-F238E27FC236}">
                <a16:creationId xmlns:a16="http://schemas.microsoft.com/office/drawing/2014/main" id="{7B9ED4F8-C925-B321-5B20-C6E0B2FF6CAA}"/>
              </a:ext>
            </a:extLst>
          </p:cNvPr>
          <p:cNvSpPr/>
          <p:nvPr/>
        </p:nvSpPr>
        <p:spPr>
          <a:xfrm>
            <a:off x="224739" y="1657197"/>
            <a:ext cx="287630" cy="2310955"/>
          </a:xfrm>
          <a:prstGeom prst="rect">
            <a:avLst/>
          </a:prstGeom>
          <a:solidFill>
            <a:schemeClr val="tx1"/>
          </a:solid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40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rPr>
              <a:t>AS</a:t>
            </a: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40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rPr>
              <a:t>I</a:t>
            </a: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40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rPr>
              <a:t>S</a:t>
            </a:r>
            <a:endParaRPr kumimoji="0" lang="ja-JP" altLang="en-US" sz="140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endParaRPr>
          </a:p>
        </p:txBody>
      </p:sp>
      <p:sp>
        <p:nvSpPr>
          <p:cNvPr id="149" name="正方形/長方形 148">
            <a:extLst>
              <a:ext uri="{FF2B5EF4-FFF2-40B4-BE49-F238E27FC236}">
                <a16:creationId xmlns:a16="http://schemas.microsoft.com/office/drawing/2014/main" id="{E02A7333-3648-445A-0564-27D82DC0681C}"/>
              </a:ext>
            </a:extLst>
          </p:cNvPr>
          <p:cNvSpPr/>
          <p:nvPr/>
        </p:nvSpPr>
        <p:spPr>
          <a:xfrm>
            <a:off x="589778" y="1650883"/>
            <a:ext cx="1046518" cy="1521857"/>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担当者</a:t>
            </a:r>
            <a:endParaRPr kumimoji="1" lang="en-US" altLang="ja-JP"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154" name="正方形/長方形 153">
            <a:extLst>
              <a:ext uri="{FF2B5EF4-FFF2-40B4-BE49-F238E27FC236}">
                <a16:creationId xmlns:a16="http://schemas.microsoft.com/office/drawing/2014/main" id="{E7FCAA20-BA9A-92ED-3AAD-BD42CE32DC72}"/>
              </a:ext>
            </a:extLst>
          </p:cNvPr>
          <p:cNvSpPr/>
          <p:nvPr/>
        </p:nvSpPr>
        <p:spPr>
          <a:xfrm>
            <a:off x="589778" y="3229075"/>
            <a:ext cx="1046518" cy="732762"/>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システム</a:t>
            </a:r>
            <a:endParaRPr kumimoji="1" lang="en-US" altLang="ja-JP"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cxnSp>
        <p:nvCxnSpPr>
          <p:cNvPr id="39" name="直線矢印コネクタ 38">
            <a:extLst>
              <a:ext uri="{FF2B5EF4-FFF2-40B4-BE49-F238E27FC236}">
                <a16:creationId xmlns:a16="http://schemas.microsoft.com/office/drawing/2014/main" id="{F3765A24-563C-0016-670A-072BE3376480}"/>
              </a:ext>
            </a:extLst>
          </p:cNvPr>
          <p:cNvCxnSpPr>
            <a:cxnSpLocks/>
            <a:stCxn id="146" idx="1"/>
            <a:endCxn id="118" idx="2"/>
          </p:cNvCxnSpPr>
          <p:nvPr/>
        </p:nvCxnSpPr>
        <p:spPr>
          <a:xfrm flipV="1">
            <a:off x="2454232" y="2188142"/>
            <a:ext cx="0" cy="123168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8" name="正方形/長方形 117">
            <a:extLst>
              <a:ext uri="{FF2B5EF4-FFF2-40B4-BE49-F238E27FC236}">
                <a16:creationId xmlns:a16="http://schemas.microsoft.com/office/drawing/2014/main" id="{91611503-19C4-A7E5-1B16-45903F4EC5CC}"/>
              </a:ext>
            </a:extLst>
          </p:cNvPr>
          <p:cNvSpPr/>
          <p:nvPr/>
        </p:nvSpPr>
        <p:spPr bwMode="auto">
          <a:xfrm>
            <a:off x="1881370" y="1836889"/>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目検リストファイル受領</a:t>
            </a:r>
          </a:p>
        </p:txBody>
      </p:sp>
      <p:sp>
        <p:nvSpPr>
          <p:cNvPr id="146" name="フローチャート: 磁気ディスク 145">
            <a:extLst>
              <a:ext uri="{FF2B5EF4-FFF2-40B4-BE49-F238E27FC236}">
                <a16:creationId xmlns:a16="http://schemas.microsoft.com/office/drawing/2014/main" id="{97F14C44-2FFC-29BC-2360-E8FA2A9CB587}"/>
              </a:ext>
            </a:extLst>
          </p:cNvPr>
          <p:cNvSpPr/>
          <p:nvPr/>
        </p:nvSpPr>
        <p:spPr bwMode="auto">
          <a:xfrm>
            <a:off x="1881370" y="3419829"/>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MEGAGON</a:t>
            </a:r>
            <a:r>
              <a:rPr lang="ja-JP" altLang="en-US" sz="800" dirty="0">
                <a:solidFill>
                  <a:schemeClr val="bg2">
                    <a:lumMod val="50000"/>
                  </a:schemeClr>
                </a:solidFill>
                <a:latin typeface="Meiryo UI" panose="020B0604030504040204" pitchFamily="50" charset="-128"/>
                <a:ea typeface="Meiryo UI" panose="020B0604030504040204" pitchFamily="50" charset="-128"/>
              </a:rPr>
              <a:t>関連</a:t>
            </a:r>
          </a:p>
        </p:txBody>
      </p:sp>
      <p:grpSp>
        <p:nvGrpSpPr>
          <p:cNvPr id="197" name="グループ化 196">
            <a:extLst>
              <a:ext uri="{FF2B5EF4-FFF2-40B4-BE49-F238E27FC236}">
                <a16:creationId xmlns:a16="http://schemas.microsoft.com/office/drawing/2014/main" id="{3C996157-45CB-640C-ED37-CD28560F9608}"/>
              </a:ext>
            </a:extLst>
          </p:cNvPr>
          <p:cNvGrpSpPr/>
          <p:nvPr/>
        </p:nvGrpSpPr>
        <p:grpSpPr>
          <a:xfrm>
            <a:off x="2171083" y="2593075"/>
            <a:ext cx="566299" cy="413377"/>
            <a:chOff x="2196261" y="2807759"/>
            <a:chExt cx="566299" cy="413377"/>
          </a:xfrm>
        </p:grpSpPr>
        <p:sp>
          <p:nvSpPr>
            <p:cNvPr id="196" name="フローチャート : 書類 22">
              <a:extLst>
                <a:ext uri="{FF2B5EF4-FFF2-40B4-BE49-F238E27FC236}">
                  <a16:creationId xmlns:a16="http://schemas.microsoft.com/office/drawing/2014/main" id="{238ED9B8-3A7A-212D-DCE1-F5E888A35E95}"/>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95" name="フローチャート : 書類 22">
              <a:extLst>
                <a:ext uri="{FF2B5EF4-FFF2-40B4-BE49-F238E27FC236}">
                  <a16:creationId xmlns:a16="http://schemas.microsoft.com/office/drawing/2014/main" id="{50E92726-4EEC-8007-47D8-6A101FBE6B09}"/>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94" name="フローチャート : 書類 22">
              <a:extLst>
                <a:ext uri="{FF2B5EF4-FFF2-40B4-BE49-F238E27FC236}">
                  <a16:creationId xmlns:a16="http://schemas.microsoft.com/office/drawing/2014/main" id="{893014B1-FED2-8FD3-5283-77FE8227CB8B}"/>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grpSp>
      <p:sp>
        <p:nvSpPr>
          <p:cNvPr id="207" name="フローチャート: 磁気ディスク 206">
            <a:extLst>
              <a:ext uri="{FF2B5EF4-FFF2-40B4-BE49-F238E27FC236}">
                <a16:creationId xmlns:a16="http://schemas.microsoft.com/office/drawing/2014/main" id="{C89FC35C-D5E6-4861-8B97-9AA33681007A}"/>
              </a:ext>
            </a:extLst>
          </p:cNvPr>
          <p:cNvSpPr/>
          <p:nvPr/>
        </p:nvSpPr>
        <p:spPr bwMode="auto">
          <a:xfrm>
            <a:off x="3354993" y="3419829"/>
            <a:ext cx="2619349"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09" name="正方形/長方形 208">
            <a:extLst>
              <a:ext uri="{FF2B5EF4-FFF2-40B4-BE49-F238E27FC236}">
                <a16:creationId xmlns:a16="http://schemas.microsoft.com/office/drawing/2014/main" id="{40D1259E-5B42-38A7-FED5-2E8135669E59}"/>
              </a:ext>
            </a:extLst>
          </p:cNvPr>
          <p:cNvSpPr/>
          <p:nvPr/>
        </p:nvSpPr>
        <p:spPr bwMode="auto">
          <a:xfrm>
            <a:off x="3354994" y="1836889"/>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目検リストファイル格納</a:t>
            </a:r>
          </a:p>
        </p:txBody>
      </p:sp>
      <p:cxnSp>
        <p:nvCxnSpPr>
          <p:cNvPr id="210" name="直線矢印コネクタ 209">
            <a:extLst>
              <a:ext uri="{FF2B5EF4-FFF2-40B4-BE49-F238E27FC236}">
                <a16:creationId xmlns:a16="http://schemas.microsoft.com/office/drawing/2014/main" id="{3CC44F7F-ACF4-BEA1-D7A8-68B0E70FF46E}"/>
              </a:ext>
            </a:extLst>
          </p:cNvPr>
          <p:cNvCxnSpPr>
            <a:cxnSpLocks/>
            <a:stCxn id="209" idx="2"/>
          </p:cNvCxnSpPr>
          <p:nvPr/>
        </p:nvCxnSpPr>
        <p:spPr>
          <a:xfrm flipH="1">
            <a:off x="3914756" y="2188142"/>
            <a:ext cx="13100" cy="1231686"/>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11" name="グループ化 210">
            <a:extLst>
              <a:ext uri="{FF2B5EF4-FFF2-40B4-BE49-F238E27FC236}">
                <a16:creationId xmlns:a16="http://schemas.microsoft.com/office/drawing/2014/main" id="{3217552C-E7D8-71C5-70D2-AB3791E80E72}"/>
              </a:ext>
            </a:extLst>
          </p:cNvPr>
          <p:cNvGrpSpPr/>
          <p:nvPr/>
        </p:nvGrpSpPr>
        <p:grpSpPr>
          <a:xfrm>
            <a:off x="3631607" y="2595065"/>
            <a:ext cx="566299" cy="413377"/>
            <a:chOff x="2196261" y="2807759"/>
            <a:chExt cx="566299" cy="413377"/>
          </a:xfrm>
        </p:grpSpPr>
        <p:sp>
          <p:nvSpPr>
            <p:cNvPr id="212" name="フローチャート : 書類 22">
              <a:extLst>
                <a:ext uri="{FF2B5EF4-FFF2-40B4-BE49-F238E27FC236}">
                  <a16:creationId xmlns:a16="http://schemas.microsoft.com/office/drawing/2014/main" id="{FE4198A0-1F40-74DF-40C1-15C5840801B3}"/>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13" name="フローチャート : 書類 22">
              <a:extLst>
                <a:ext uri="{FF2B5EF4-FFF2-40B4-BE49-F238E27FC236}">
                  <a16:creationId xmlns:a16="http://schemas.microsoft.com/office/drawing/2014/main" id="{BE95CE3E-8FF2-E649-0443-A5C6593D7139}"/>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14" name="フローチャート : 書類 22">
              <a:extLst>
                <a:ext uri="{FF2B5EF4-FFF2-40B4-BE49-F238E27FC236}">
                  <a16:creationId xmlns:a16="http://schemas.microsoft.com/office/drawing/2014/main" id="{64512948-3E79-86BF-468E-D3A25BE0AA20}"/>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225" name="コネクタ: カギ線 5">
            <a:extLst>
              <a:ext uri="{FF2B5EF4-FFF2-40B4-BE49-F238E27FC236}">
                <a16:creationId xmlns:a16="http://schemas.microsoft.com/office/drawing/2014/main" id="{8F74E1C8-5AA9-5233-71F9-A5802F59BD46}"/>
              </a:ext>
            </a:extLst>
          </p:cNvPr>
          <p:cNvCxnSpPr>
            <a:cxnSpLocks/>
            <a:stCxn id="118" idx="3"/>
            <a:endCxn id="209" idx="1"/>
          </p:cNvCxnSpPr>
          <p:nvPr/>
        </p:nvCxnSpPr>
        <p:spPr>
          <a:xfrm>
            <a:off x="3027094" y="2012516"/>
            <a:ext cx="327900" cy="0"/>
          </a:xfrm>
          <a:prstGeom prst="straightConnector1">
            <a:avLst/>
          </a:prstGeom>
          <a:noFill/>
          <a:ln w="6350" cap="flat" cmpd="sng" algn="ctr">
            <a:solidFill>
              <a:srgbClr val="E7E6E6">
                <a:lumMod val="50000"/>
              </a:srgbClr>
            </a:solidFill>
            <a:prstDash val="solid"/>
            <a:miter lim="800000"/>
            <a:tailEnd type="triangle"/>
          </a:ln>
          <a:effectLst/>
        </p:spPr>
      </p:cxnSp>
      <p:sp>
        <p:nvSpPr>
          <p:cNvPr id="236" name="正方形/長方形 235">
            <a:extLst>
              <a:ext uri="{FF2B5EF4-FFF2-40B4-BE49-F238E27FC236}">
                <a16:creationId xmlns:a16="http://schemas.microsoft.com/office/drawing/2014/main" id="{92CB24F0-E8B9-FEB5-4EDF-24A0ABFCEE67}"/>
              </a:ext>
            </a:extLst>
          </p:cNvPr>
          <p:cNvSpPr/>
          <p:nvPr/>
        </p:nvSpPr>
        <p:spPr bwMode="auto">
          <a:xfrm>
            <a:off x="4828618" y="1836889"/>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法人・個人事業主の</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目検リスト内容確認</a:t>
            </a:r>
          </a:p>
        </p:txBody>
      </p:sp>
      <p:cxnSp>
        <p:nvCxnSpPr>
          <p:cNvPr id="237" name="コネクタ: カギ線 5">
            <a:extLst>
              <a:ext uri="{FF2B5EF4-FFF2-40B4-BE49-F238E27FC236}">
                <a16:creationId xmlns:a16="http://schemas.microsoft.com/office/drawing/2014/main" id="{D352ED3C-8BDD-60E4-9626-E97DBF62AAAE}"/>
              </a:ext>
            </a:extLst>
          </p:cNvPr>
          <p:cNvCxnSpPr>
            <a:cxnSpLocks/>
            <a:stCxn id="209" idx="3"/>
            <a:endCxn id="236" idx="1"/>
          </p:cNvCxnSpPr>
          <p:nvPr/>
        </p:nvCxnSpPr>
        <p:spPr>
          <a:xfrm>
            <a:off x="4500718" y="2012516"/>
            <a:ext cx="327900" cy="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241" name="直線矢印コネクタ 240">
            <a:extLst>
              <a:ext uri="{FF2B5EF4-FFF2-40B4-BE49-F238E27FC236}">
                <a16:creationId xmlns:a16="http://schemas.microsoft.com/office/drawing/2014/main" id="{F65CBC24-6BA9-05C0-E0C4-67781008F856}"/>
              </a:ext>
            </a:extLst>
          </p:cNvPr>
          <p:cNvCxnSpPr>
            <a:cxnSpLocks/>
          </p:cNvCxnSpPr>
          <p:nvPr/>
        </p:nvCxnSpPr>
        <p:spPr>
          <a:xfrm rot="10800000" flipH="1">
            <a:off x="5401480" y="2195179"/>
            <a:ext cx="13100" cy="1231686"/>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42" name="グループ化 241">
            <a:extLst>
              <a:ext uri="{FF2B5EF4-FFF2-40B4-BE49-F238E27FC236}">
                <a16:creationId xmlns:a16="http://schemas.microsoft.com/office/drawing/2014/main" id="{AD334CA4-01BF-A749-C3D5-2119255B7CCD}"/>
              </a:ext>
            </a:extLst>
          </p:cNvPr>
          <p:cNvGrpSpPr/>
          <p:nvPr/>
        </p:nvGrpSpPr>
        <p:grpSpPr>
          <a:xfrm>
            <a:off x="5118331" y="2602102"/>
            <a:ext cx="566299" cy="413377"/>
            <a:chOff x="2196261" y="2807759"/>
            <a:chExt cx="566299" cy="413377"/>
          </a:xfrm>
        </p:grpSpPr>
        <p:sp>
          <p:nvSpPr>
            <p:cNvPr id="243" name="フローチャート : 書類 22">
              <a:extLst>
                <a:ext uri="{FF2B5EF4-FFF2-40B4-BE49-F238E27FC236}">
                  <a16:creationId xmlns:a16="http://schemas.microsoft.com/office/drawing/2014/main" id="{A1CC5400-640F-BFD9-FBA4-7D8B22B51CA0}"/>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44" name="フローチャート : 書類 22">
              <a:extLst>
                <a:ext uri="{FF2B5EF4-FFF2-40B4-BE49-F238E27FC236}">
                  <a16:creationId xmlns:a16="http://schemas.microsoft.com/office/drawing/2014/main" id="{7A5201E4-F7B0-E3A7-B5D9-6B5747F1B398}"/>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45" name="フローチャート : 書類 22">
              <a:extLst>
                <a:ext uri="{FF2B5EF4-FFF2-40B4-BE49-F238E27FC236}">
                  <a16:creationId xmlns:a16="http://schemas.microsoft.com/office/drawing/2014/main" id="{7B041B22-8B0A-2BB8-F888-971085D21C5C}"/>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247" name="コネクタ: カギ線 5">
            <a:extLst>
              <a:ext uri="{FF2B5EF4-FFF2-40B4-BE49-F238E27FC236}">
                <a16:creationId xmlns:a16="http://schemas.microsoft.com/office/drawing/2014/main" id="{B271A1E4-62F0-2B24-381B-26AE08F3185A}"/>
              </a:ext>
            </a:extLst>
          </p:cNvPr>
          <p:cNvCxnSpPr>
            <a:cxnSpLocks/>
          </p:cNvCxnSpPr>
          <p:nvPr/>
        </p:nvCxnSpPr>
        <p:spPr>
          <a:xfrm>
            <a:off x="5974342" y="2012516"/>
            <a:ext cx="327900" cy="0"/>
          </a:xfrm>
          <a:prstGeom prst="straightConnector1">
            <a:avLst/>
          </a:prstGeom>
          <a:noFill/>
          <a:ln w="6350" cap="flat" cmpd="sng" algn="ctr">
            <a:solidFill>
              <a:srgbClr val="E7E6E6">
                <a:lumMod val="50000"/>
              </a:srgbClr>
            </a:solidFill>
            <a:prstDash val="solid"/>
            <a:miter lim="800000"/>
            <a:tailEnd type="triangle"/>
          </a:ln>
          <a:effectLst/>
        </p:spPr>
      </p:cxnSp>
      <p:grpSp>
        <p:nvGrpSpPr>
          <p:cNvPr id="249" name="グループ化 248">
            <a:extLst>
              <a:ext uri="{FF2B5EF4-FFF2-40B4-BE49-F238E27FC236}">
                <a16:creationId xmlns:a16="http://schemas.microsoft.com/office/drawing/2014/main" id="{0021CF61-5619-4936-3037-90EF8490B668}"/>
              </a:ext>
            </a:extLst>
          </p:cNvPr>
          <p:cNvGrpSpPr/>
          <p:nvPr/>
        </p:nvGrpSpPr>
        <p:grpSpPr>
          <a:xfrm>
            <a:off x="6259456" y="1684199"/>
            <a:ext cx="1056732" cy="656633"/>
            <a:chOff x="8173959" y="4428719"/>
            <a:chExt cx="721762" cy="448489"/>
          </a:xfrm>
        </p:grpSpPr>
        <p:sp>
          <p:nvSpPr>
            <p:cNvPr id="250" name="フローチャート: 判断 249">
              <a:extLst>
                <a:ext uri="{FF2B5EF4-FFF2-40B4-BE49-F238E27FC236}">
                  <a16:creationId xmlns:a16="http://schemas.microsoft.com/office/drawing/2014/main" id="{5ED8BC54-76BF-F75C-B700-87AA91905207}"/>
                </a:ext>
              </a:extLst>
            </p:cNvPr>
            <p:cNvSpPr/>
            <p:nvPr/>
          </p:nvSpPr>
          <p:spPr>
            <a:xfrm>
              <a:off x="8200147" y="4428719"/>
              <a:ext cx="669386" cy="448489"/>
            </a:xfrm>
            <a:prstGeom prst="flowChartDecision">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251" name="正方形/長方形 250">
              <a:extLst>
                <a:ext uri="{FF2B5EF4-FFF2-40B4-BE49-F238E27FC236}">
                  <a16:creationId xmlns:a16="http://schemas.microsoft.com/office/drawing/2014/main" id="{EE8E6DA5-C68F-F21D-AA18-72F83A248C46}"/>
                </a:ext>
              </a:extLst>
            </p:cNvPr>
            <p:cNvSpPr/>
            <p:nvPr/>
          </p:nvSpPr>
          <p:spPr>
            <a:xfrm>
              <a:off x="8173959" y="4480881"/>
              <a:ext cx="721762" cy="344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法人企業か？</a:t>
              </a:r>
            </a:p>
          </p:txBody>
        </p:sp>
      </p:grpSp>
      <p:sp>
        <p:nvSpPr>
          <p:cNvPr id="252" name="テキスト ボックス 251">
            <a:extLst>
              <a:ext uri="{FF2B5EF4-FFF2-40B4-BE49-F238E27FC236}">
                <a16:creationId xmlns:a16="http://schemas.microsoft.com/office/drawing/2014/main" id="{46E1318C-8D21-929B-E0EF-14462B0CD386}"/>
              </a:ext>
            </a:extLst>
          </p:cNvPr>
          <p:cNvSpPr txBox="1"/>
          <p:nvPr/>
        </p:nvSpPr>
        <p:spPr>
          <a:xfrm>
            <a:off x="7070366" y="1786813"/>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latin typeface="Meiryo UI" panose="020B0604030504040204" pitchFamily="50" charset="-128"/>
                <a:ea typeface="Meiryo UI" panose="020B0604030504040204" pitchFamily="50" charset="-128"/>
              </a:rPr>
              <a:t>Yes</a:t>
            </a:r>
            <a:endParaRPr lang="ja-JP" altLang="en-US" dirty="0">
              <a:latin typeface="Meiryo UI" panose="020B0604030504040204" pitchFamily="50" charset="-128"/>
              <a:ea typeface="Meiryo UI" panose="020B0604030504040204" pitchFamily="50" charset="-128"/>
            </a:endParaRPr>
          </a:p>
        </p:txBody>
      </p:sp>
      <p:sp>
        <p:nvSpPr>
          <p:cNvPr id="253" name="テキスト ボックス 252">
            <a:extLst>
              <a:ext uri="{FF2B5EF4-FFF2-40B4-BE49-F238E27FC236}">
                <a16:creationId xmlns:a16="http://schemas.microsoft.com/office/drawing/2014/main" id="{824C9CB2-E08C-E082-6D6E-35EF1B34DB2C}"/>
              </a:ext>
            </a:extLst>
          </p:cNvPr>
          <p:cNvSpPr txBox="1"/>
          <p:nvPr/>
        </p:nvSpPr>
        <p:spPr>
          <a:xfrm>
            <a:off x="6674426" y="2269568"/>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latin typeface="Meiryo UI" panose="020B0604030504040204" pitchFamily="50" charset="-128"/>
                <a:ea typeface="Meiryo UI" panose="020B0604030504040204" pitchFamily="50" charset="-128"/>
              </a:rPr>
              <a:t>No</a:t>
            </a:r>
            <a:endParaRPr lang="ja-JP" altLang="en-US" dirty="0">
              <a:latin typeface="Meiryo UI" panose="020B0604030504040204" pitchFamily="50" charset="-128"/>
              <a:ea typeface="Meiryo UI" panose="020B0604030504040204" pitchFamily="50" charset="-128"/>
            </a:endParaRPr>
          </a:p>
        </p:txBody>
      </p:sp>
      <p:sp>
        <p:nvSpPr>
          <p:cNvPr id="254" name="正方形/長方形 253">
            <a:extLst>
              <a:ext uri="{FF2B5EF4-FFF2-40B4-BE49-F238E27FC236}">
                <a16:creationId xmlns:a16="http://schemas.microsoft.com/office/drawing/2014/main" id="{B8D49BFC-5FAB-32F4-FF7B-103277BE1F02}"/>
              </a:ext>
            </a:extLst>
          </p:cNvPr>
          <p:cNvSpPr/>
          <p:nvPr/>
        </p:nvSpPr>
        <p:spPr bwMode="auto">
          <a:xfrm>
            <a:off x="8509849" y="1836889"/>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法人名称で</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国税庁のサイトを検索</a:t>
            </a:r>
          </a:p>
        </p:txBody>
      </p:sp>
      <p:cxnSp>
        <p:nvCxnSpPr>
          <p:cNvPr id="255" name="コネクタ: カギ線 5">
            <a:extLst>
              <a:ext uri="{FF2B5EF4-FFF2-40B4-BE49-F238E27FC236}">
                <a16:creationId xmlns:a16="http://schemas.microsoft.com/office/drawing/2014/main" id="{E35CF7A7-A41E-2A74-A29D-10C16BEAFBDF}"/>
              </a:ext>
            </a:extLst>
          </p:cNvPr>
          <p:cNvCxnSpPr>
            <a:cxnSpLocks/>
            <a:stCxn id="250" idx="3"/>
            <a:endCxn id="254" idx="1"/>
          </p:cNvCxnSpPr>
          <p:nvPr/>
        </p:nvCxnSpPr>
        <p:spPr>
          <a:xfrm>
            <a:off x="7277846" y="2012516"/>
            <a:ext cx="1232003" cy="0"/>
          </a:xfrm>
          <a:prstGeom prst="straightConnector1">
            <a:avLst/>
          </a:prstGeom>
          <a:noFill/>
          <a:ln w="6350" cap="flat" cmpd="sng" algn="ctr">
            <a:solidFill>
              <a:srgbClr val="E7E6E6">
                <a:lumMod val="50000"/>
              </a:srgbClr>
            </a:solidFill>
            <a:prstDash val="solid"/>
            <a:miter lim="800000"/>
            <a:tailEnd type="triangle"/>
          </a:ln>
          <a:effectLst/>
        </p:spPr>
      </p:cxnSp>
      <p:sp>
        <p:nvSpPr>
          <p:cNvPr id="261" name="正方形/長方形 260">
            <a:extLst>
              <a:ext uri="{FF2B5EF4-FFF2-40B4-BE49-F238E27FC236}">
                <a16:creationId xmlns:a16="http://schemas.microsoft.com/office/drawing/2014/main" id="{386218BC-C027-BE43-3ED2-2E58EFEA6349}"/>
              </a:ext>
            </a:extLst>
          </p:cNvPr>
          <p:cNvSpPr/>
          <p:nvPr/>
        </p:nvSpPr>
        <p:spPr bwMode="auto">
          <a:xfrm>
            <a:off x="7108323" y="2628359"/>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個人事業名で</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ネットを検索</a:t>
            </a:r>
          </a:p>
        </p:txBody>
      </p:sp>
      <p:cxnSp>
        <p:nvCxnSpPr>
          <p:cNvPr id="262" name="コネクタ: カギ線 5">
            <a:extLst>
              <a:ext uri="{FF2B5EF4-FFF2-40B4-BE49-F238E27FC236}">
                <a16:creationId xmlns:a16="http://schemas.microsoft.com/office/drawing/2014/main" id="{625F87EC-7050-2636-3A45-10FBB6EC3BBE}"/>
              </a:ext>
            </a:extLst>
          </p:cNvPr>
          <p:cNvCxnSpPr>
            <a:cxnSpLocks/>
            <a:stCxn id="250" idx="2"/>
            <a:endCxn id="261" idx="1"/>
          </p:cNvCxnSpPr>
          <p:nvPr/>
        </p:nvCxnSpPr>
        <p:spPr>
          <a:xfrm rot="16200000" flipH="1">
            <a:off x="6716495" y="2412158"/>
            <a:ext cx="463154" cy="320501"/>
          </a:xfrm>
          <a:prstGeom prst="bentConnector2">
            <a:avLst/>
          </a:prstGeom>
          <a:noFill/>
          <a:ln w="6350" cap="flat" cmpd="sng" algn="ctr">
            <a:solidFill>
              <a:srgbClr val="E7E6E6">
                <a:lumMod val="50000"/>
              </a:srgbClr>
            </a:solidFill>
            <a:prstDash val="solid"/>
            <a:miter lim="800000"/>
            <a:tailEnd type="triangle"/>
          </a:ln>
          <a:effectLst/>
        </p:spPr>
      </p:cxnSp>
      <p:sp>
        <p:nvSpPr>
          <p:cNvPr id="267" name="フローチャート: 磁気ディスク 266">
            <a:extLst>
              <a:ext uri="{FF2B5EF4-FFF2-40B4-BE49-F238E27FC236}">
                <a16:creationId xmlns:a16="http://schemas.microsoft.com/office/drawing/2014/main" id="{4C52AB69-2E3E-E102-6AA8-3D9238F07FA0}"/>
              </a:ext>
            </a:extLst>
          </p:cNvPr>
          <p:cNvSpPr/>
          <p:nvPr/>
        </p:nvSpPr>
        <p:spPr bwMode="auto">
          <a:xfrm>
            <a:off x="7108324" y="3419829"/>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Internet</a:t>
            </a:r>
            <a:r>
              <a:rPr lang="ja-JP" altLang="en-US" sz="800" dirty="0">
                <a:solidFill>
                  <a:schemeClr val="bg2">
                    <a:lumMod val="50000"/>
                  </a:schemeClr>
                </a:solidFill>
                <a:latin typeface="Meiryo UI" panose="020B0604030504040204" pitchFamily="50" charset="-128"/>
                <a:ea typeface="Meiryo UI" panose="020B0604030504040204" pitchFamily="50" charset="-128"/>
              </a:rPr>
              <a:t>（</a:t>
            </a:r>
            <a:r>
              <a:rPr lang="en-US" altLang="ja-JP" sz="800" dirty="0">
                <a:solidFill>
                  <a:schemeClr val="bg2">
                    <a:lumMod val="50000"/>
                  </a:schemeClr>
                </a:solidFill>
                <a:latin typeface="Meiryo UI" panose="020B0604030504040204" pitchFamily="50" charset="-128"/>
                <a:ea typeface="Meiryo UI" panose="020B0604030504040204" pitchFamily="50" charset="-128"/>
              </a:rPr>
              <a:t>SNS</a:t>
            </a:r>
            <a:r>
              <a:rPr lang="ja-JP" altLang="en-US" sz="800" dirty="0">
                <a:solidFill>
                  <a:schemeClr val="bg2">
                    <a:lumMod val="50000"/>
                  </a:schemeClr>
                </a:solidFill>
                <a:latin typeface="Meiryo UI" panose="020B0604030504040204" pitchFamily="50" charset="-128"/>
                <a:ea typeface="Meiryo UI" panose="020B0604030504040204" pitchFamily="50" charset="-128"/>
              </a:rPr>
              <a:t>など）</a:t>
            </a:r>
          </a:p>
        </p:txBody>
      </p:sp>
      <p:sp>
        <p:nvSpPr>
          <p:cNvPr id="268" name="フローチャート: 磁気ディスク 267">
            <a:extLst>
              <a:ext uri="{FF2B5EF4-FFF2-40B4-BE49-F238E27FC236}">
                <a16:creationId xmlns:a16="http://schemas.microsoft.com/office/drawing/2014/main" id="{1C8799B8-A098-03B7-2DF5-7612C2F1166D}"/>
              </a:ext>
            </a:extLst>
          </p:cNvPr>
          <p:cNvSpPr/>
          <p:nvPr/>
        </p:nvSpPr>
        <p:spPr bwMode="auto">
          <a:xfrm>
            <a:off x="8509849" y="3419828"/>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国税庁</a:t>
            </a:r>
          </a:p>
        </p:txBody>
      </p:sp>
      <p:cxnSp>
        <p:nvCxnSpPr>
          <p:cNvPr id="269" name="直線矢印コネクタ 268">
            <a:extLst>
              <a:ext uri="{FF2B5EF4-FFF2-40B4-BE49-F238E27FC236}">
                <a16:creationId xmlns:a16="http://schemas.microsoft.com/office/drawing/2014/main" id="{AE111B97-0FE6-F19D-D3BF-1A76E5E87385}"/>
              </a:ext>
            </a:extLst>
          </p:cNvPr>
          <p:cNvCxnSpPr>
            <a:cxnSpLocks/>
            <a:stCxn id="267" idx="1"/>
            <a:endCxn id="261" idx="2"/>
          </p:cNvCxnSpPr>
          <p:nvPr/>
        </p:nvCxnSpPr>
        <p:spPr>
          <a:xfrm flipH="1" flipV="1">
            <a:off x="7681185" y="2979612"/>
            <a:ext cx="1" cy="44021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2" name="直線矢印コネクタ 271">
            <a:extLst>
              <a:ext uri="{FF2B5EF4-FFF2-40B4-BE49-F238E27FC236}">
                <a16:creationId xmlns:a16="http://schemas.microsoft.com/office/drawing/2014/main" id="{7F951FBF-5073-F17F-5590-A6C98D88FB2A}"/>
              </a:ext>
            </a:extLst>
          </p:cNvPr>
          <p:cNvCxnSpPr>
            <a:cxnSpLocks/>
            <a:stCxn id="268" idx="1"/>
            <a:endCxn id="254" idx="2"/>
          </p:cNvCxnSpPr>
          <p:nvPr/>
        </p:nvCxnSpPr>
        <p:spPr>
          <a:xfrm flipV="1">
            <a:off x="9082711" y="2188142"/>
            <a:ext cx="0" cy="1231686"/>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5" name="コネクタ: カギ線 5">
            <a:extLst>
              <a:ext uri="{FF2B5EF4-FFF2-40B4-BE49-F238E27FC236}">
                <a16:creationId xmlns:a16="http://schemas.microsoft.com/office/drawing/2014/main" id="{E0169C97-7360-DC8C-B1C7-C9AE7EED383B}"/>
              </a:ext>
            </a:extLst>
          </p:cNvPr>
          <p:cNvCxnSpPr>
            <a:cxnSpLocks/>
            <a:stCxn id="261" idx="3"/>
            <a:endCxn id="277" idx="1"/>
          </p:cNvCxnSpPr>
          <p:nvPr/>
        </p:nvCxnSpPr>
        <p:spPr>
          <a:xfrm flipV="1">
            <a:off x="8254047" y="2012515"/>
            <a:ext cx="1728002" cy="791471"/>
          </a:xfrm>
          <a:prstGeom prst="bentConnector3">
            <a:avLst>
              <a:gd name="adj1" fmla="val 89320"/>
            </a:avLst>
          </a:prstGeom>
          <a:noFill/>
          <a:ln w="6350" cap="flat" cmpd="sng" algn="ctr">
            <a:solidFill>
              <a:srgbClr val="E7E6E6">
                <a:lumMod val="50000"/>
              </a:srgbClr>
            </a:solidFill>
            <a:prstDash val="solid"/>
            <a:miter lim="800000"/>
            <a:tailEnd type="triangle"/>
          </a:ln>
          <a:effectLst/>
        </p:spPr>
      </p:cxnSp>
      <p:sp>
        <p:nvSpPr>
          <p:cNvPr id="277" name="正方形/長方形 276">
            <a:extLst>
              <a:ext uri="{FF2B5EF4-FFF2-40B4-BE49-F238E27FC236}">
                <a16:creationId xmlns:a16="http://schemas.microsoft.com/office/drawing/2014/main" id="{254DB7BD-16A8-C807-DDCB-949DF28A134F}"/>
              </a:ext>
            </a:extLst>
          </p:cNvPr>
          <p:cNvSpPr/>
          <p:nvPr/>
        </p:nvSpPr>
        <p:spPr bwMode="auto">
          <a:xfrm>
            <a:off x="9982049" y="1836888"/>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調査結果を書き込み</a:t>
            </a:r>
          </a:p>
        </p:txBody>
      </p:sp>
      <p:cxnSp>
        <p:nvCxnSpPr>
          <p:cNvPr id="278" name="コネクタ: カギ線 5">
            <a:extLst>
              <a:ext uri="{FF2B5EF4-FFF2-40B4-BE49-F238E27FC236}">
                <a16:creationId xmlns:a16="http://schemas.microsoft.com/office/drawing/2014/main" id="{665881C0-5F73-4DC0-0F3D-E99D50720031}"/>
              </a:ext>
            </a:extLst>
          </p:cNvPr>
          <p:cNvCxnSpPr>
            <a:cxnSpLocks/>
            <a:stCxn id="254" idx="3"/>
            <a:endCxn id="277" idx="1"/>
          </p:cNvCxnSpPr>
          <p:nvPr/>
        </p:nvCxnSpPr>
        <p:spPr>
          <a:xfrm flipV="1">
            <a:off x="9655573" y="2012515"/>
            <a:ext cx="326476" cy="1"/>
          </a:xfrm>
          <a:prstGeom prst="straightConnector1">
            <a:avLst/>
          </a:prstGeom>
          <a:noFill/>
          <a:ln w="6350" cap="flat" cmpd="sng" algn="ctr">
            <a:solidFill>
              <a:srgbClr val="E7E6E6">
                <a:lumMod val="50000"/>
              </a:srgbClr>
            </a:solidFill>
            <a:prstDash val="solid"/>
            <a:miter lim="800000"/>
            <a:tailEnd type="triangle"/>
          </a:ln>
          <a:effectLst/>
        </p:spPr>
      </p:cxnSp>
      <p:sp>
        <p:nvSpPr>
          <p:cNvPr id="284" name="フリーフォーム: 図形 12">
            <a:extLst>
              <a:ext uri="{FF2B5EF4-FFF2-40B4-BE49-F238E27FC236}">
                <a16:creationId xmlns:a16="http://schemas.microsoft.com/office/drawing/2014/main" id="{5603C7DC-E659-D75C-095F-61E1A362E40B}"/>
              </a:ext>
            </a:extLst>
          </p:cNvPr>
          <p:cNvSpPr>
            <a:spLocks/>
          </p:cNvSpPr>
          <p:nvPr/>
        </p:nvSpPr>
        <p:spPr bwMode="auto">
          <a:xfrm>
            <a:off x="9042177" y="2752812"/>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87" name="フローチャート: 磁気ディスク 286">
            <a:extLst>
              <a:ext uri="{FF2B5EF4-FFF2-40B4-BE49-F238E27FC236}">
                <a16:creationId xmlns:a16="http://schemas.microsoft.com/office/drawing/2014/main" id="{0BC1A39E-34E1-2515-59DC-68842093AE9E}"/>
              </a:ext>
            </a:extLst>
          </p:cNvPr>
          <p:cNvSpPr/>
          <p:nvPr/>
        </p:nvSpPr>
        <p:spPr bwMode="auto">
          <a:xfrm>
            <a:off x="9982049" y="34268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cxnSp>
        <p:nvCxnSpPr>
          <p:cNvPr id="288" name="直線矢印コネクタ 287">
            <a:extLst>
              <a:ext uri="{FF2B5EF4-FFF2-40B4-BE49-F238E27FC236}">
                <a16:creationId xmlns:a16="http://schemas.microsoft.com/office/drawing/2014/main" id="{14E28B1E-3D02-4DE6-06B2-0A1488E757EE}"/>
              </a:ext>
            </a:extLst>
          </p:cNvPr>
          <p:cNvCxnSpPr>
            <a:cxnSpLocks/>
            <a:stCxn id="277" idx="2"/>
            <a:endCxn id="287" idx="1"/>
          </p:cNvCxnSpPr>
          <p:nvPr/>
        </p:nvCxnSpPr>
        <p:spPr>
          <a:xfrm>
            <a:off x="10554911" y="2188141"/>
            <a:ext cx="0" cy="1238725"/>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7" name="正方形/長方形 146">
            <a:extLst>
              <a:ext uri="{FF2B5EF4-FFF2-40B4-BE49-F238E27FC236}">
                <a16:creationId xmlns:a16="http://schemas.microsoft.com/office/drawing/2014/main" id="{95E23FA8-4C3D-C832-7936-0495C324A3CB}"/>
              </a:ext>
            </a:extLst>
          </p:cNvPr>
          <p:cNvSpPr/>
          <p:nvPr/>
        </p:nvSpPr>
        <p:spPr>
          <a:xfrm>
            <a:off x="224739" y="4232087"/>
            <a:ext cx="287630" cy="2310955"/>
          </a:xfrm>
          <a:prstGeom prst="rect">
            <a:avLst/>
          </a:prstGeom>
          <a:solidFill>
            <a:schemeClr val="tx1"/>
          </a:solid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40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rPr>
              <a:t>TOBE</a:t>
            </a:r>
            <a:endParaRPr kumimoji="0" lang="ja-JP" altLang="en-US" sz="140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endParaRPr>
          </a:p>
        </p:txBody>
      </p:sp>
      <p:sp>
        <p:nvSpPr>
          <p:cNvPr id="183" name="正方形/長方形 182">
            <a:extLst>
              <a:ext uri="{FF2B5EF4-FFF2-40B4-BE49-F238E27FC236}">
                <a16:creationId xmlns:a16="http://schemas.microsoft.com/office/drawing/2014/main" id="{26A59D74-1730-8551-5C4D-3FFA37D0D582}"/>
              </a:ext>
            </a:extLst>
          </p:cNvPr>
          <p:cNvSpPr/>
          <p:nvPr/>
        </p:nvSpPr>
        <p:spPr>
          <a:xfrm>
            <a:off x="589778" y="4232087"/>
            <a:ext cx="1046518" cy="732762"/>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担当者</a:t>
            </a:r>
            <a:endParaRPr kumimoji="1" lang="en-US" altLang="ja-JP"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sp>
        <p:nvSpPr>
          <p:cNvPr id="184" name="正方形/長方形 183">
            <a:extLst>
              <a:ext uri="{FF2B5EF4-FFF2-40B4-BE49-F238E27FC236}">
                <a16:creationId xmlns:a16="http://schemas.microsoft.com/office/drawing/2014/main" id="{FA8BA74F-63DB-9C4B-3AB7-D4E033FB5426}"/>
              </a:ext>
            </a:extLst>
          </p:cNvPr>
          <p:cNvSpPr/>
          <p:nvPr/>
        </p:nvSpPr>
        <p:spPr>
          <a:xfrm>
            <a:off x="589778" y="5021182"/>
            <a:ext cx="1046518" cy="732762"/>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dirty="0">
                <a:ln>
                  <a:noFill/>
                </a:ln>
                <a:solidFill>
                  <a:srgbClr val="FF0000"/>
                </a:solidFill>
                <a:effectLst>
                  <a:glow>
                    <a:srgbClr val="FFFFFF"/>
                  </a:glow>
                </a:effectLst>
                <a:uLnTx/>
                <a:uFillTx/>
                <a:latin typeface="Meiryo UI" panose="020B0604030504040204" pitchFamily="50" charset="-128"/>
                <a:ea typeface="Meiryo UI" panose="020B0604030504040204" pitchFamily="50" charset="-128"/>
                <a:cs typeface="+mn-cs"/>
              </a:rPr>
              <a:t>AI</a:t>
            </a:r>
          </a:p>
        </p:txBody>
      </p:sp>
      <p:sp>
        <p:nvSpPr>
          <p:cNvPr id="185" name="正方形/長方形 184">
            <a:extLst>
              <a:ext uri="{FF2B5EF4-FFF2-40B4-BE49-F238E27FC236}">
                <a16:creationId xmlns:a16="http://schemas.microsoft.com/office/drawing/2014/main" id="{C517BBDC-43FF-750A-1113-C1A5E154577B}"/>
              </a:ext>
            </a:extLst>
          </p:cNvPr>
          <p:cNvSpPr/>
          <p:nvPr/>
        </p:nvSpPr>
        <p:spPr>
          <a:xfrm>
            <a:off x="589778" y="5810278"/>
            <a:ext cx="1046518" cy="732762"/>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システム</a:t>
            </a:r>
            <a:endParaRPr kumimoji="1" lang="en-US" altLang="ja-JP" sz="1200"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cxnSp>
        <p:nvCxnSpPr>
          <p:cNvPr id="200" name="直線矢印コネクタ 199">
            <a:extLst>
              <a:ext uri="{FF2B5EF4-FFF2-40B4-BE49-F238E27FC236}">
                <a16:creationId xmlns:a16="http://schemas.microsoft.com/office/drawing/2014/main" id="{FCB17B98-14B3-0F41-5863-122EA76BB48B}"/>
              </a:ext>
            </a:extLst>
          </p:cNvPr>
          <p:cNvCxnSpPr>
            <a:cxnSpLocks/>
            <a:stCxn id="202" idx="1"/>
            <a:endCxn id="201" idx="2"/>
          </p:cNvCxnSpPr>
          <p:nvPr/>
        </p:nvCxnSpPr>
        <p:spPr>
          <a:xfrm flipV="1">
            <a:off x="2448220" y="4778670"/>
            <a:ext cx="0" cy="1231686"/>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1" name="正方形/長方形 200">
            <a:extLst>
              <a:ext uri="{FF2B5EF4-FFF2-40B4-BE49-F238E27FC236}">
                <a16:creationId xmlns:a16="http://schemas.microsoft.com/office/drawing/2014/main" id="{E3A68930-9E05-1639-54CF-1453AD158919}"/>
              </a:ext>
            </a:extLst>
          </p:cNvPr>
          <p:cNvSpPr/>
          <p:nvPr/>
        </p:nvSpPr>
        <p:spPr bwMode="auto">
          <a:xfrm>
            <a:off x="1875358" y="4427417"/>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目検リストファイル受領</a:t>
            </a:r>
          </a:p>
        </p:txBody>
      </p:sp>
      <p:sp>
        <p:nvSpPr>
          <p:cNvPr id="202" name="フローチャート: 磁気ディスク 201">
            <a:extLst>
              <a:ext uri="{FF2B5EF4-FFF2-40B4-BE49-F238E27FC236}">
                <a16:creationId xmlns:a16="http://schemas.microsoft.com/office/drawing/2014/main" id="{CE7CD9C1-BB37-B418-BA90-B5A8F88E0764}"/>
              </a:ext>
            </a:extLst>
          </p:cNvPr>
          <p:cNvSpPr/>
          <p:nvPr/>
        </p:nvSpPr>
        <p:spPr bwMode="auto">
          <a:xfrm>
            <a:off x="1875358" y="601035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MEGAGON</a:t>
            </a:r>
            <a:r>
              <a:rPr lang="ja-JP" altLang="en-US" sz="800" dirty="0">
                <a:solidFill>
                  <a:schemeClr val="bg2">
                    <a:lumMod val="50000"/>
                  </a:schemeClr>
                </a:solidFill>
                <a:latin typeface="Meiryo UI" panose="020B0604030504040204" pitchFamily="50" charset="-128"/>
                <a:ea typeface="Meiryo UI" panose="020B0604030504040204" pitchFamily="50" charset="-128"/>
              </a:rPr>
              <a:t>関連</a:t>
            </a:r>
          </a:p>
        </p:txBody>
      </p:sp>
      <p:grpSp>
        <p:nvGrpSpPr>
          <p:cNvPr id="203" name="グループ化 202">
            <a:extLst>
              <a:ext uri="{FF2B5EF4-FFF2-40B4-BE49-F238E27FC236}">
                <a16:creationId xmlns:a16="http://schemas.microsoft.com/office/drawing/2014/main" id="{91BC3419-4340-D350-24BB-3726DC95DCF7}"/>
              </a:ext>
            </a:extLst>
          </p:cNvPr>
          <p:cNvGrpSpPr/>
          <p:nvPr/>
        </p:nvGrpSpPr>
        <p:grpSpPr>
          <a:xfrm>
            <a:off x="2165071" y="5183602"/>
            <a:ext cx="566299" cy="413377"/>
            <a:chOff x="2196261" y="2807759"/>
            <a:chExt cx="566299" cy="413377"/>
          </a:xfrm>
        </p:grpSpPr>
        <p:sp>
          <p:nvSpPr>
            <p:cNvPr id="204" name="フローチャート : 書類 22">
              <a:extLst>
                <a:ext uri="{FF2B5EF4-FFF2-40B4-BE49-F238E27FC236}">
                  <a16:creationId xmlns:a16="http://schemas.microsoft.com/office/drawing/2014/main" id="{1543BC4E-47B1-9A00-E63C-3DE0C8E95C44}"/>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05" name="フローチャート : 書類 22">
              <a:extLst>
                <a:ext uri="{FF2B5EF4-FFF2-40B4-BE49-F238E27FC236}">
                  <a16:creationId xmlns:a16="http://schemas.microsoft.com/office/drawing/2014/main" id="{D6203C64-463D-A13F-357D-A85BFBF1E3FB}"/>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06" name="フローチャート : 書類 22">
              <a:extLst>
                <a:ext uri="{FF2B5EF4-FFF2-40B4-BE49-F238E27FC236}">
                  <a16:creationId xmlns:a16="http://schemas.microsoft.com/office/drawing/2014/main" id="{B61BB5BA-3083-B911-0EE6-A7E1125C0EF5}"/>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grpSp>
      <p:sp>
        <p:nvSpPr>
          <p:cNvPr id="218" name="フローチャート: 磁気ディスク 217">
            <a:extLst>
              <a:ext uri="{FF2B5EF4-FFF2-40B4-BE49-F238E27FC236}">
                <a16:creationId xmlns:a16="http://schemas.microsoft.com/office/drawing/2014/main" id="{6304FE66-FEB7-CCAF-0888-BE33727DDD36}"/>
              </a:ext>
            </a:extLst>
          </p:cNvPr>
          <p:cNvSpPr/>
          <p:nvPr/>
        </p:nvSpPr>
        <p:spPr bwMode="auto">
          <a:xfrm>
            <a:off x="3354994" y="6010768"/>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19" name="正方形/長方形 218">
            <a:extLst>
              <a:ext uri="{FF2B5EF4-FFF2-40B4-BE49-F238E27FC236}">
                <a16:creationId xmlns:a16="http://schemas.microsoft.com/office/drawing/2014/main" id="{0606465F-61BC-5B87-0C88-BA2B3ED26704}"/>
              </a:ext>
            </a:extLst>
          </p:cNvPr>
          <p:cNvSpPr/>
          <p:nvPr/>
        </p:nvSpPr>
        <p:spPr bwMode="auto">
          <a:xfrm>
            <a:off x="3354994" y="4427828"/>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目検リストファイル格納</a:t>
            </a:r>
          </a:p>
        </p:txBody>
      </p:sp>
      <p:cxnSp>
        <p:nvCxnSpPr>
          <p:cNvPr id="220" name="直線矢印コネクタ 219">
            <a:extLst>
              <a:ext uri="{FF2B5EF4-FFF2-40B4-BE49-F238E27FC236}">
                <a16:creationId xmlns:a16="http://schemas.microsoft.com/office/drawing/2014/main" id="{BC0D3CC1-32B3-CAC9-6AA9-1E8949BA4D4F}"/>
              </a:ext>
            </a:extLst>
          </p:cNvPr>
          <p:cNvCxnSpPr>
            <a:cxnSpLocks/>
            <a:stCxn id="219" idx="2"/>
            <a:endCxn id="218" idx="1"/>
          </p:cNvCxnSpPr>
          <p:nvPr/>
        </p:nvCxnSpPr>
        <p:spPr>
          <a:xfrm>
            <a:off x="3927856" y="4779081"/>
            <a:ext cx="0" cy="123168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21" name="グループ化 220">
            <a:extLst>
              <a:ext uri="{FF2B5EF4-FFF2-40B4-BE49-F238E27FC236}">
                <a16:creationId xmlns:a16="http://schemas.microsoft.com/office/drawing/2014/main" id="{2C10A8C9-B0B4-9033-B08E-7F59C6361053}"/>
              </a:ext>
            </a:extLst>
          </p:cNvPr>
          <p:cNvGrpSpPr/>
          <p:nvPr/>
        </p:nvGrpSpPr>
        <p:grpSpPr>
          <a:xfrm>
            <a:off x="3631607" y="5186004"/>
            <a:ext cx="566299" cy="413377"/>
            <a:chOff x="2196261" y="2807759"/>
            <a:chExt cx="566299" cy="413377"/>
          </a:xfrm>
        </p:grpSpPr>
        <p:sp>
          <p:nvSpPr>
            <p:cNvPr id="222" name="フローチャート : 書類 22">
              <a:extLst>
                <a:ext uri="{FF2B5EF4-FFF2-40B4-BE49-F238E27FC236}">
                  <a16:creationId xmlns:a16="http://schemas.microsoft.com/office/drawing/2014/main" id="{9A781E34-BA69-EAF9-3CB7-1E9A1E7F3C44}"/>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23" name="フローチャート : 書類 22">
              <a:extLst>
                <a:ext uri="{FF2B5EF4-FFF2-40B4-BE49-F238E27FC236}">
                  <a16:creationId xmlns:a16="http://schemas.microsoft.com/office/drawing/2014/main" id="{50F62792-F867-5A64-D2A8-EE9732A6164D}"/>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24" name="フローチャート : 書類 22">
              <a:extLst>
                <a:ext uri="{FF2B5EF4-FFF2-40B4-BE49-F238E27FC236}">
                  <a16:creationId xmlns:a16="http://schemas.microsoft.com/office/drawing/2014/main" id="{C0653A72-3A1D-CD23-5B7B-73D3118FF4A3}"/>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230" name="コネクタ: カギ線 5">
            <a:extLst>
              <a:ext uri="{FF2B5EF4-FFF2-40B4-BE49-F238E27FC236}">
                <a16:creationId xmlns:a16="http://schemas.microsoft.com/office/drawing/2014/main" id="{2C3A97AC-25CC-CB7B-6AD7-D5104A8A14F0}"/>
              </a:ext>
            </a:extLst>
          </p:cNvPr>
          <p:cNvCxnSpPr>
            <a:cxnSpLocks/>
            <a:stCxn id="201" idx="3"/>
            <a:endCxn id="219" idx="1"/>
          </p:cNvCxnSpPr>
          <p:nvPr/>
        </p:nvCxnSpPr>
        <p:spPr>
          <a:xfrm>
            <a:off x="3021082" y="4603044"/>
            <a:ext cx="333912" cy="411"/>
          </a:xfrm>
          <a:prstGeom prst="straightConnector1">
            <a:avLst/>
          </a:prstGeom>
          <a:noFill/>
          <a:ln w="6350" cap="flat" cmpd="sng" algn="ctr">
            <a:solidFill>
              <a:srgbClr val="E7E6E6">
                <a:lumMod val="50000"/>
              </a:srgbClr>
            </a:solidFill>
            <a:prstDash val="solid"/>
            <a:miter lim="800000"/>
            <a:tailEnd type="triangle"/>
          </a:ln>
          <a:effectLst/>
        </p:spPr>
      </p:cxnSp>
      <p:sp>
        <p:nvSpPr>
          <p:cNvPr id="259" name="フローチャート: 磁気ディスク 258">
            <a:extLst>
              <a:ext uri="{FF2B5EF4-FFF2-40B4-BE49-F238E27FC236}">
                <a16:creationId xmlns:a16="http://schemas.microsoft.com/office/drawing/2014/main" id="{5328A68C-C776-3D1B-42C8-4A40519A795E}"/>
              </a:ext>
            </a:extLst>
          </p:cNvPr>
          <p:cNvSpPr/>
          <p:nvPr/>
        </p:nvSpPr>
        <p:spPr bwMode="auto">
          <a:xfrm>
            <a:off x="4828618" y="6023972"/>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n8n</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60" name="正方形/長方形 259">
            <a:extLst>
              <a:ext uri="{FF2B5EF4-FFF2-40B4-BE49-F238E27FC236}">
                <a16:creationId xmlns:a16="http://schemas.microsoft.com/office/drawing/2014/main" id="{7BE8C6BA-B09C-E2AA-810B-B4ADF5C899CB}"/>
              </a:ext>
            </a:extLst>
          </p:cNvPr>
          <p:cNvSpPr/>
          <p:nvPr/>
        </p:nvSpPr>
        <p:spPr bwMode="auto">
          <a:xfrm>
            <a:off x="4828618" y="5209480"/>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b="1" dirty="0">
                <a:solidFill>
                  <a:srgbClr val="FF0000"/>
                </a:solidFill>
                <a:latin typeface="Meiryo UI" panose="020B0604030504040204" pitchFamily="50" charset="-128"/>
                <a:ea typeface="Meiryo UI" panose="020B0604030504040204" pitchFamily="50" charset="-128"/>
              </a:rPr>
              <a:t>目検リストファイル取得</a:t>
            </a:r>
          </a:p>
        </p:txBody>
      </p:sp>
      <p:cxnSp>
        <p:nvCxnSpPr>
          <p:cNvPr id="291" name="コネクタ: カギ線 5">
            <a:extLst>
              <a:ext uri="{FF2B5EF4-FFF2-40B4-BE49-F238E27FC236}">
                <a16:creationId xmlns:a16="http://schemas.microsoft.com/office/drawing/2014/main" id="{8FA24336-AC3D-4F71-9783-F634B54D5E4F}"/>
              </a:ext>
            </a:extLst>
          </p:cNvPr>
          <p:cNvCxnSpPr>
            <a:cxnSpLocks/>
            <a:stCxn id="219" idx="3"/>
            <a:endCxn id="260" idx="1"/>
          </p:cNvCxnSpPr>
          <p:nvPr/>
        </p:nvCxnSpPr>
        <p:spPr>
          <a:xfrm>
            <a:off x="4500718" y="4603455"/>
            <a:ext cx="327900" cy="781652"/>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294" name="直線矢印コネクタ 293">
            <a:extLst>
              <a:ext uri="{FF2B5EF4-FFF2-40B4-BE49-F238E27FC236}">
                <a16:creationId xmlns:a16="http://schemas.microsoft.com/office/drawing/2014/main" id="{E7319D35-6BFF-9BC3-27CE-BE4F93C046FF}"/>
              </a:ext>
            </a:extLst>
          </p:cNvPr>
          <p:cNvCxnSpPr>
            <a:cxnSpLocks/>
            <a:stCxn id="260" idx="2"/>
            <a:endCxn id="259" idx="1"/>
          </p:cNvCxnSpPr>
          <p:nvPr/>
        </p:nvCxnSpPr>
        <p:spPr>
          <a:xfrm>
            <a:off x="5401480" y="5560733"/>
            <a:ext cx="0" cy="463239"/>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98" name="フローチャート : 書類 22">
            <a:extLst>
              <a:ext uri="{FF2B5EF4-FFF2-40B4-BE49-F238E27FC236}">
                <a16:creationId xmlns:a16="http://schemas.microsoft.com/office/drawing/2014/main" id="{8F30CA0F-0B93-A698-FC8C-BC86769C3D13}"/>
              </a:ext>
            </a:extLst>
          </p:cNvPr>
          <p:cNvSpPr/>
          <p:nvPr/>
        </p:nvSpPr>
        <p:spPr>
          <a:xfrm>
            <a:off x="5228173" y="5620174"/>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301" name="正方形/長方形 300">
            <a:extLst>
              <a:ext uri="{FF2B5EF4-FFF2-40B4-BE49-F238E27FC236}">
                <a16:creationId xmlns:a16="http://schemas.microsoft.com/office/drawing/2014/main" id="{C90C9C7C-9D7A-4181-0647-B8063388D7D6}"/>
              </a:ext>
            </a:extLst>
          </p:cNvPr>
          <p:cNvSpPr/>
          <p:nvPr/>
        </p:nvSpPr>
        <p:spPr bwMode="auto">
          <a:xfrm>
            <a:off x="6297798" y="5209480"/>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b="1" dirty="0">
                <a:solidFill>
                  <a:srgbClr val="FF0000"/>
                </a:solidFill>
                <a:latin typeface="Meiryo UI" panose="020B0604030504040204" pitchFamily="50" charset="-128"/>
                <a:ea typeface="Meiryo UI" panose="020B0604030504040204" pitchFamily="50" charset="-128"/>
              </a:rPr>
              <a:t>法人・個人事業情報取得</a:t>
            </a:r>
            <a:br>
              <a:rPr lang="en-US" altLang="ja-JP" sz="800" b="1" dirty="0">
                <a:solidFill>
                  <a:srgbClr val="FF0000"/>
                </a:solidFill>
                <a:latin typeface="Meiryo UI" panose="020B0604030504040204" pitchFamily="50" charset="-128"/>
                <a:ea typeface="Meiryo UI" panose="020B0604030504040204" pitchFamily="50" charset="-128"/>
              </a:rPr>
            </a:br>
            <a:r>
              <a:rPr lang="ja-JP" altLang="en-US" sz="800" b="1" dirty="0">
                <a:solidFill>
                  <a:srgbClr val="FF0000"/>
                </a:solidFill>
                <a:latin typeface="Meiryo UI" panose="020B0604030504040204" pitchFamily="50" charset="-128"/>
                <a:ea typeface="Meiryo UI" panose="020B0604030504040204" pitchFamily="50" charset="-128"/>
              </a:rPr>
              <a:t>（</a:t>
            </a:r>
            <a:r>
              <a:rPr lang="en-US" altLang="ja-JP" sz="800" b="1" dirty="0">
                <a:solidFill>
                  <a:srgbClr val="FF0000"/>
                </a:solidFill>
                <a:latin typeface="Meiryo UI" panose="020B0604030504040204" pitchFamily="50" charset="-128"/>
                <a:ea typeface="Meiryo UI" panose="020B0604030504040204" pitchFamily="50" charset="-128"/>
              </a:rPr>
              <a:t>Web</a:t>
            </a:r>
            <a:r>
              <a:rPr lang="ja-JP" altLang="en-US" sz="800" b="1" dirty="0">
                <a:solidFill>
                  <a:srgbClr val="FF0000"/>
                </a:solidFill>
                <a:latin typeface="Meiryo UI" panose="020B0604030504040204" pitchFamily="50" charset="-128"/>
                <a:ea typeface="Meiryo UI" panose="020B0604030504040204" pitchFamily="50" charset="-128"/>
              </a:rPr>
              <a:t>クローリング）</a:t>
            </a:r>
          </a:p>
        </p:txBody>
      </p:sp>
      <p:cxnSp>
        <p:nvCxnSpPr>
          <p:cNvPr id="302" name="コネクタ: カギ線 5">
            <a:extLst>
              <a:ext uri="{FF2B5EF4-FFF2-40B4-BE49-F238E27FC236}">
                <a16:creationId xmlns:a16="http://schemas.microsoft.com/office/drawing/2014/main" id="{DE35CA1C-737E-66E9-4FE6-D208BACAE58D}"/>
              </a:ext>
            </a:extLst>
          </p:cNvPr>
          <p:cNvCxnSpPr>
            <a:cxnSpLocks/>
            <a:stCxn id="260" idx="3"/>
            <a:endCxn id="301" idx="1"/>
          </p:cNvCxnSpPr>
          <p:nvPr/>
        </p:nvCxnSpPr>
        <p:spPr>
          <a:xfrm>
            <a:off x="5974342" y="5385107"/>
            <a:ext cx="323456" cy="0"/>
          </a:xfrm>
          <a:prstGeom prst="straightConnector1">
            <a:avLst/>
          </a:prstGeom>
          <a:noFill/>
          <a:ln w="6350" cap="flat" cmpd="sng" algn="ctr">
            <a:solidFill>
              <a:srgbClr val="E7E6E6">
                <a:lumMod val="50000"/>
              </a:srgbClr>
            </a:solidFill>
            <a:prstDash val="solid"/>
            <a:miter lim="800000"/>
            <a:tailEnd type="triangle"/>
          </a:ln>
          <a:effectLst/>
        </p:spPr>
      </p:cxnSp>
      <p:sp>
        <p:nvSpPr>
          <p:cNvPr id="305" name="フローチャート: 磁気ディスク 304">
            <a:extLst>
              <a:ext uri="{FF2B5EF4-FFF2-40B4-BE49-F238E27FC236}">
                <a16:creationId xmlns:a16="http://schemas.microsoft.com/office/drawing/2014/main" id="{17EEFE72-B9DD-7D7F-E12A-AB75810D57E7}"/>
              </a:ext>
            </a:extLst>
          </p:cNvPr>
          <p:cNvSpPr/>
          <p:nvPr/>
        </p:nvSpPr>
        <p:spPr bwMode="auto">
          <a:xfrm>
            <a:off x="6297798" y="6023972"/>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Internet</a:t>
            </a:r>
            <a:r>
              <a:rPr lang="ja-JP" altLang="en-US" sz="800" dirty="0">
                <a:solidFill>
                  <a:schemeClr val="bg2">
                    <a:lumMod val="50000"/>
                  </a:schemeClr>
                </a:solidFill>
                <a:latin typeface="Meiryo UI" panose="020B0604030504040204" pitchFamily="50" charset="-128"/>
                <a:ea typeface="Meiryo UI" panose="020B0604030504040204" pitchFamily="50" charset="-128"/>
              </a:rPr>
              <a:t>（国税庁など）</a:t>
            </a:r>
          </a:p>
        </p:txBody>
      </p:sp>
      <p:cxnSp>
        <p:nvCxnSpPr>
          <p:cNvPr id="306" name="直線矢印コネクタ 305">
            <a:extLst>
              <a:ext uri="{FF2B5EF4-FFF2-40B4-BE49-F238E27FC236}">
                <a16:creationId xmlns:a16="http://schemas.microsoft.com/office/drawing/2014/main" id="{95B271D2-BE0C-EADD-920D-5396F1C30A90}"/>
              </a:ext>
            </a:extLst>
          </p:cNvPr>
          <p:cNvCxnSpPr>
            <a:cxnSpLocks/>
            <a:stCxn id="305" idx="1"/>
            <a:endCxn id="301" idx="2"/>
          </p:cNvCxnSpPr>
          <p:nvPr/>
        </p:nvCxnSpPr>
        <p:spPr>
          <a:xfrm flipV="1">
            <a:off x="6870660" y="5560733"/>
            <a:ext cx="0" cy="463239"/>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9" name="正方形/長方形 308">
            <a:extLst>
              <a:ext uri="{FF2B5EF4-FFF2-40B4-BE49-F238E27FC236}">
                <a16:creationId xmlns:a16="http://schemas.microsoft.com/office/drawing/2014/main" id="{FD3FEEAB-BC00-E38A-38BA-2742DA9EBEF1}"/>
              </a:ext>
            </a:extLst>
          </p:cNvPr>
          <p:cNvSpPr/>
          <p:nvPr/>
        </p:nvSpPr>
        <p:spPr bwMode="auto">
          <a:xfrm>
            <a:off x="7766978" y="5209480"/>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b="1" dirty="0">
                <a:solidFill>
                  <a:srgbClr val="FF0000"/>
                </a:solidFill>
                <a:latin typeface="Meiryo UI" panose="020B0604030504040204" pitchFamily="50" charset="-128"/>
                <a:ea typeface="Meiryo UI" panose="020B0604030504040204" pitchFamily="50" charset="-128"/>
              </a:rPr>
              <a:t>調査結果ファイル格納</a:t>
            </a:r>
          </a:p>
        </p:txBody>
      </p:sp>
      <p:sp>
        <p:nvSpPr>
          <p:cNvPr id="310" name="フローチャート: 磁気ディスク 309">
            <a:extLst>
              <a:ext uri="{FF2B5EF4-FFF2-40B4-BE49-F238E27FC236}">
                <a16:creationId xmlns:a16="http://schemas.microsoft.com/office/drawing/2014/main" id="{893177D6-8613-5C6F-A66F-7BD84EA92CE8}"/>
              </a:ext>
            </a:extLst>
          </p:cNvPr>
          <p:cNvSpPr/>
          <p:nvPr/>
        </p:nvSpPr>
        <p:spPr bwMode="auto">
          <a:xfrm>
            <a:off x="7766977" y="6023972"/>
            <a:ext cx="3360795"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cxnSp>
        <p:nvCxnSpPr>
          <p:cNvPr id="311" name="コネクタ: カギ線 5">
            <a:extLst>
              <a:ext uri="{FF2B5EF4-FFF2-40B4-BE49-F238E27FC236}">
                <a16:creationId xmlns:a16="http://schemas.microsoft.com/office/drawing/2014/main" id="{9D921732-49C9-6772-4DA6-3A9B8E4BAF3E}"/>
              </a:ext>
            </a:extLst>
          </p:cNvPr>
          <p:cNvCxnSpPr>
            <a:cxnSpLocks/>
            <a:stCxn id="301" idx="3"/>
            <a:endCxn id="309" idx="1"/>
          </p:cNvCxnSpPr>
          <p:nvPr/>
        </p:nvCxnSpPr>
        <p:spPr>
          <a:xfrm>
            <a:off x="7443522" y="5385107"/>
            <a:ext cx="323456" cy="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314" name="直線矢印コネクタ 313">
            <a:extLst>
              <a:ext uri="{FF2B5EF4-FFF2-40B4-BE49-F238E27FC236}">
                <a16:creationId xmlns:a16="http://schemas.microsoft.com/office/drawing/2014/main" id="{A7D233A8-585E-0603-1731-BBB4E0FA6FFA}"/>
              </a:ext>
            </a:extLst>
          </p:cNvPr>
          <p:cNvCxnSpPr>
            <a:cxnSpLocks/>
            <a:stCxn id="309" idx="2"/>
          </p:cNvCxnSpPr>
          <p:nvPr/>
        </p:nvCxnSpPr>
        <p:spPr>
          <a:xfrm>
            <a:off x="8339840" y="5560733"/>
            <a:ext cx="0" cy="463239"/>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5" name="フローチャート : 書類 22">
            <a:extLst>
              <a:ext uri="{FF2B5EF4-FFF2-40B4-BE49-F238E27FC236}">
                <a16:creationId xmlns:a16="http://schemas.microsoft.com/office/drawing/2014/main" id="{0120A5D3-F008-C951-7A19-8928151239F0}"/>
              </a:ext>
            </a:extLst>
          </p:cNvPr>
          <p:cNvSpPr/>
          <p:nvPr/>
        </p:nvSpPr>
        <p:spPr>
          <a:xfrm>
            <a:off x="8153433" y="5620174"/>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319" name="正方形/長方形 318">
            <a:extLst>
              <a:ext uri="{FF2B5EF4-FFF2-40B4-BE49-F238E27FC236}">
                <a16:creationId xmlns:a16="http://schemas.microsoft.com/office/drawing/2014/main" id="{2033F74B-DDD0-5734-89F0-E31A4863AA2A}"/>
              </a:ext>
            </a:extLst>
          </p:cNvPr>
          <p:cNvSpPr/>
          <p:nvPr/>
        </p:nvSpPr>
        <p:spPr bwMode="auto">
          <a:xfrm>
            <a:off x="9982049" y="4422841"/>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調査結果内容確認</a:t>
            </a:r>
          </a:p>
        </p:txBody>
      </p:sp>
      <p:grpSp>
        <p:nvGrpSpPr>
          <p:cNvPr id="327" name="グループ化 326">
            <a:extLst>
              <a:ext uri="{FF2B5EF4-FFF2-40B4-BE49-F238E27FC236}">
                <a16:creationId xmlns:a16="http://schemas.microsoft.com/office/drawing/2014/main" id="{A24DFBCE-E596-EF97-66B2-143D2B5BA761}"/>
              </a:ext>
            </a:extLst>
          </p:cNvPr>
          <p:cNvGrpSpPr/>
          <p:nvPr/>
        </p:nvGrpSpPr>
        <p:grpSpPr>
          <a:xfrm>
            <a:off x="10271762" y="4782287"/>
            <a:ext cx="566299" cy="1231686"/>
            <a:chOff x="10271761" y="4769587"/>
            <a:chExt cx="566299" cy="1231686"/>
          </a:xfrm>
        </p:grpSpPr>
        <p:cxnSp>
          <p:nvCxnSpPr>
            <p:cNvPr id="322" name="直線矢印コネクタ 321">
              <a:extLst>
                <a:ext uri="{FF2B5EF4-FFF2-40B4-BE49-F238E27FC236}">
                  <a16:creationId xmlns:a16="http://schemas.microsoft.com/office/drawing/2014/main" id="{8CF2DBDF-19CB-403A-4D37-074C9FC7DE85}"/>
                </a:ext>
              </a:extLst>
            </p:cNvPr>
            <p:cNvCxnSpPr>
              <a:cxnSpLocks/>
            </p:cNvCxnSpPr>
            <p:nvPr/>
          </p:nvCxnSpPr>
          <p:spPr>
            <a:xfrm rot="10800000" flipH="1">
              <a:off x="10554910" y="4769587"/>
              <a:ext cx="13100" cy="1231686"/>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323" name="グループ化 322">
              <a:extLst>
                <a:ext uri="{FF2B5EF4-FFF2-40B4-BE49-F238E27FC236}">
                  <a16:creationId xmlns:a16="http://schemas.microsoft.com/office/drawing/2014/main" id="{9EE3F0DF-E706-527D-4D0F-C55A20C72BD9}"/>
                </a:ext>
              </a:extLst>
            </p:cNvPr>
            <p:cNvGrpSpPr/>
            <p:nvPr/>
          </p:nvGrpSpPr>
          <p:grpSpPr>
            <a:xfrm>
              <a:off x="10271761" y="5176510"/>
              <a:ext cx="566299" cy="413377"/>
              <a:chOff x="2196261" y="2807759"/>
              <a:chExt cx="566299" cy="413377"/>
            </a:xfrm>
          </p:grpSpPr>
          <p:sp>
            <p:nvSpPr>
              <p:cNvPr id="324" name="フローチャート : 書類 22">
                <a:extLst>
                  <a:ext uri="{FF2B5EF4-FFF2-40B4-BE49-F238E27FC236}">
                    <a16:creationId xmlns:a16="http://schemas.microsoft.com/office/drawing/2014/main" id="{05DAF24C-083A-CE3D-DFD3-28822DC65881}"/>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325" name="フローチャート : 書類 22">
                <a:extLst>
                  <a:ext uri="{FF2B5EF4-FFF2-40B4-BE49-F238E27FC236}">
                    <a16:creationId xmlns:a16="http://schemas.microsoft.com/office/drawing/2014/main" id="{027CB184-4E71-2F19-652D-090C0DB169E9}"/>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326" name="フローチャート : 書類 22">
                <a:extLst>
                  <a:ext uri="{FF2B5EF4-FFF2-40B4-BE49-F238E27FC236}">
                    <a16:creationId xmlns:a16="http://schemas.microsoft.com/office/drawing/2014/main" id="{F854E471-85CE-9284-4DE3-EAFE54984E2F}"/>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Excel</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grpSp>
      </p:grpSp>
      <p:cxnSp>
        <p:nvCxnSpPr>
          <p:cNvPr id="328" name="コネクタ: カギ線 5">
            <a:extLst>
              <a:ext uri="{FF2B5EF4-FFF2-40B4-BE49-F238E27FC236}">
                <a16:creationId xmlns:a16="http://schemas.microsoft.com/office/drawing/2014/main" id="{7528DC51-F29F-E605-308D-F63543EFC303}"/>
              </a:ext>
            </a:extLst>
          </p:cNvPr>
          <p:cNvCxnSpPr>
            <a:cxnSpLocks/>
            <a:stCxn id="309" idx="3"/>
            <a:endCxn id="319" idx="1"/>
          </p:cNvCxnSpPr>
          <p:nvPr/>
        </p:nvCxnSpPr>
        <p:spPr>
          <a:xfrm flipV="1">
            <a:off x="8912702" y="4598468"/>
            <a:ext cx="1069347" cy="786639"/>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333" name="矢印: 左右 332">
            <a:extLst>
              <a:ext uri="{FF2B5EF4-FFF2-40B4-BE49-F238E27FC236}">
                <a16:creationId xmlns:a16="http://schemas.microsoft.com/office/drawing/2014/main" id="{42D342E8-C981-3DBC-57C5-0EC0CB60CCD8}"/>
              </a:ext>
            </a:extLst>
          </p:cNvPr>
          <p:cNvSpPr/>
          <p:nvPr/>
        </p:nvSpPr>
        <p:spPr>
          <a:xfrm>
            <a:off x="4848623" y="4025249"/>
            <a:ext cx="4064079"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b="1" dirty="0">
                <a:solidFill>
                  <a:srgbClr val="FF0000"/>
                </a:solidFill>
                <a:latin typeface="Meiryo UI" panose="020B0604030504040204" pitchFamily="50" charset="-128"/>
                <a:ea typeface="Meiryo UI" panose="020B0604030504040204" pitchFamily="50" charset="-128"/>
              </a:rPr>
              <a:t>AI</a:t>
            </a:r>
            <a:r>
              <a:rPr lang="ja-JP" altLang="en-US" sz="800" b="1" dirty="0">
                <a:solidFill>
                  <a:srgbClr val="FF0000"/>
                </a:solidFill>
                <a:latin typeface="Meiryo UI" panose="020B0604030504040204" pitchFamily="50" charset="-128"/>
                <a:ea typeface="Meiryo UI" panose="020B0604030504040204" pitchFamily="50" charset="-128"/>
              </a:rPr>
              <a:t>による目検作業の完全自動化</a:t>
            </a:r>
          </a:p>
        </p:txBody>
      </p:sp>
    </p:spTree>
    <p:extLst>
      <p:ext uri="{BB962C8B-B14F-4D97-AF65-F5344CB8AC3E}">
        <p14:creationId xmlns:p14="http://schemas.microsoft.com/office/powerpoint/2010/main" val="3433086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723BD-7F98-7B1E-2CDC-316F501124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AB91B6-47B3-BF95-66A1-B89BE1F4455D}"/>
              </a:ext>
            </a:extLst>
          </p:cNvPr>
          <p:cNvSpPr>
            <a:spLocks noGrp="1"/>
          </p:cNvSpPr>
          <p:nvPr>
            <p:ph type="title"/>
          </p:nvPr>
        </p:nvSpPr>
        <p:spPr>
          <a:xfrm>
            <a:off x="203200" y="152403"/>
            <a:ext cx="9204569" cy="379413"/>
          </a:xfrm>
        </p:spPr>
        <p:txBody>
          <a:bodyPr anchor="ctr"/>
          <a:lstStyle/>
          <a:p>
            <a:r>
              <a:rPr lang="en-US" altLang="ja-JP" dirty="0"/>
              <a:t>AI</a:t>
            </a:r>
            <a:r>
              <a:rPr lang="ja-JP" altLang="en-US" dirty="0"/>
              <a:t>利活用推進</a:t>
            </a:r>
            <a:r>
              <a:rPr lang="en-US" altLang="ja-JP" dirty="0"/>
              <a:t>G </a:t>
            </a:r>
            <a:r>
              <a:rPr lang="ja-JP" altLang="en-US" dirty="0"/>
              <a:t>プロセスマップ</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F4A91D0A-F657-A194-035D-3648AD32046C}"/>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86EFD49E-2E84-D1EB-7CD2-B6311334B08A}"/>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XXX</a:t>
            </a:r>
          </a:p>
        </p:txBody>
      </p:sp>
      <p:sp>
        <p:nvSpPr>
          <p:cNvPr id="4" name="正方形/長方形 3">
            <a:extLst>
              <a:ext uri="{FF2B5EF4-FFF2-40B4-BE49-F238E27FC236}">
                <a16:creationId xmlns:a16="http://schemas.microsoft.com/office/drawing/2014/main" id="{2587A4FD-7D4A-729B-6403-0E1B28D4BB7B}"/>
              </a:ext>
            </a:extLst>
          </p:cNvPr>
          <p:cNvSpPr/>
          <p:nvPr/>
        </p:nvSpPr>
        <p:spPr bwMode="auto">
          <a:xfrm>
            <a:off x="10416421" y="5150015"/>
            <a:ext cx="1334496"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7EC68729-2DA9-5444-4426-36F2897049D2}"/>
              </a:ext>
            </a:extLst>
          </p:cNvPr>
          <p:cNvSpPr/>
          <p:nvPr/>
        </p:nvSpPr>
        <p:spPr>
          <a:xfrm>
            <a:off x="446631" y="4848615"/>
            <a:ext cx="463231" cy="1577880"/>
          </a:xfrm>
          <a:prstGeom prst="rect">
            <a:avLst/>
          </a:prstGeom>
          <a:solidFill>
            <a:schemeClr val="tx1"/>
          </a:solid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eaVert"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5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rPr>
              <a:t>システム</a:t>
            </a:r>
          </a:p>
        </p:txBody>
      </p:sp>
      <p:sp>
        <p:nvSpPr>
          <p:cNvPr id="8" name="正方形/長方形 7">
            <a:extLst>
              <a:ext uri="{FF2B5EF4-FFF2-40B4-BE49-F238E27FC236}">
                <a16:creationId xmlns:a16="http://schemas.microsoft.com/office/drawing/2014/main" id="{80203817-2EAE-2418-1296-28B19B0093CF}"/>
              </a:ext>
            </a:extLst>
          </p:cNvPr>
          <p:cNvSpPr/>
          <p:nvPr/>
        </p:nvSpPr>
        <p:spPr>
          <a:xfrm>
            <a:off x="446631" y="2739675"/>
            <a:ext cx="463231" cy="2084992"/>
          </a:xfrm>
          <a:prstGeom prst="rect">
            <a:avLst/>
          </a:prstGeom>
          <a:solidFill>
            <a:schemeClr val="tx1"/>
          </a:solid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eaVert"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50" dirty="0">
                <a:solidFill>
                  <a:schemeClr val="bg1"/>
                </a:solidFill>
                <a:latin typeface="Meiryo UI" panose="020B0604030504040204" pitchFamily="50" charset="-128"/>
                <a:ea typeface="Meiryo UI" panose="020B0604030504040204" pitchFamily="50" charset="-128"/>
                <a:sym typeface="ヒラギノ角ゴ ProN W3"/>
              </a:rPr>
              <a:t>BPS</a:t>
            </a:r>
            <a:endParaRPr kumimoji="0" lang="ja-JP" altLang="en-US" sz="105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endParaRPr>
          </a:p>
        </p:txBody>
      </p:sp>
      <p:sp>
        <p:nvSpPr>
          <p:cNvPr id="15" name="フローチャート : 書類 22">
            <a:extLst>
              <a:ext uri="{FF2B5EF4-FFF2-40B4-BE49-F238E27FC236}">
                <a16:creationId xmlns:a16="http://schemas.microsoft.com/office/drawing/2014/main" id="{035A9336-D07C-C1F7-1EC1-D4FF5B67876D}"/>
              </a:ext>
            </a:extLst>
          </p:cNvPr>
          <p:cNvSpPr/>
          <p:nvPr/>
        </p:nvSpPr>
        <p:spPr>
          <a:xfrm>
            <a:off x="2960155" y="2573162"/>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600" dirty="0">
                <a:solidFill>
                  <a:schemeClr val="tx1"/>
                </a:solidFill>
                <a:latin typeface="Meiryo UI" panose="020B0604030504040204" pitchFamily="50" charset="-128"/>
                <a:ea typeface="Meiryo UI" panose="020B0604030504040204" pitchFamily="50" charset="-128"/>
              </a:rPr>
              <a:t>送付書</a:t>
            </a:r>
          </a:p>
        </p:txBody>
      </p:sp>
      <p:sp>
        <p:nvSpPr>
          <p:cNvPr id="17" name="フローチャート : 書類 22">
            <a:extLst>
              <a:ext uri="{FF2B5EF4-FFF2-40B4-BE49-F238E27FC236}">
                <a16:creationId xmlns:a16="http://schemas.microsoft.com/office/drawing/2014/main" id="{2036BBCF-D59E-2D20-A95E-13638B5B3C6D}"/>
              </a:ext>
            </a:extLst>
          </p:cNvPr>
          <p:cNvSpPr/>
          <p:nvPr/>
        </p:nvSpPr>
        <p:spPr>
          <a:xfrm>
            <a:off x="2925921" y="2541602"/>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p>
        </p:txBody>
      </p:sp>
      <p:sp>
        <p:nvSpPr>
          <p:cNvPr id="23" name="正方形/長方形 22">
            <a:extLst>
              <a:ext uri="{FF2B5EF4-FFF2-40B4-BE49-F238E27FC236}">
                <a16:creationId xmlns:a16="http://schemas.microsoft.com/office/drawing/2014/main" id="{28D97F6B-A035-8787-6D4C-F29DC8C8C438}"/>
              </a:ext>
            </a:extLst>
          </p:cNvPr>
          <p:cNvSpPr/>
          <p:nvPr/>
        </p:nvSpPr>
        <p:spPr bwMode="auto">
          <a:xfrm>
            <a:off x="5169309" y="5059021"/>
            <a:ext cx="3440166"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見積</a:t>
            </a:r>
            <a:r>
              <a:rPr lang="en-US" altLang="ja-JP" sz="800" dirty="0">
                <a:solidFill>
                  <a:schemeClr val="bg2">
                    <a:lumMod val="50000"/>
                  </a:schemeClr>
                </a:solidFill>
                <a:latin typeface="Meiryo UI" panose="020B0604030504040204" pitchFamily="50" charset="-128"/>
                <a:ea typeface="Meiryo UI" panose="020B0604030504040204" pitchFamily="50" charset="-128"/>
              </a:rPr>
              <a:t>/</a:t>
            </a:r>
            <a:r>
              <a:rPr lang="ja-JP" altLang="en-US" sz="800" dirty="0">
                <a:solidFill>
                  <a:schemeClr val="bg2">
                    <a:lumMod val="50000"/>
                  </a:schemeClr>
                </a:solidFill>
                <a:latin typeface="Meiryo UI" panose="020B0604030504040204" pitchFamily="50" charset="-128"/>
                <a:ea typeface="Meiryo UI" panose="020B0604030504040204" pitchFamily="50" charset="-128"/>
              </a:rPr>
              <a:t>請求提出画面</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&lt;</a:t>
            </a:r>
            <a:r>
              <a:rPr lang="en-US" altLang="ja-JP" sz="800" dirty="0" err="1">
                <a:solidFill>
                  <a:schemeClr val="bg2">
                    <a:lumMod val="50000"/>
                  </a:schemeClr>
                </a:solidFill>
                <a:latin typeface="Meiryo UI" panose="020B0604030504040204" pitchFamily="50" charset="-128"/>
                <a:ea typeface="Meiryo UI" panose="020B0604030504040204" pitchFamily="50" charset="-128"/>
              </a:rPr>
              <a:t>AppSheet</a:t>
            </a:r>
            <a:r>
              <a:rPr lang="en-US" altLang="ja-JP" sz="800" dirty="0">
                <a:solidFill>
                  <a:schemeClr val="bg2">
                    <a:lumMod val="50000"/>
                  </a:schemeClr>
                </a:solidFill>
                <a:latin typeface="Meiryo UI" panose="020B0604030504040204" pitchFamily="50" charset="-128"/>
                <a:ea typeface="Meiryo UI" panose="020B0604030504040204" pitchFamily="50" charset="-128"/>
              </a:rPr>
              <a:t>&gt;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26" name="矢印: 左右 25">
            <a:extLst>
              <a:ext uri="{FF2B5EF4-FFF2-40B4-BE49-F238E27FC236}">
                <a16:creationId xmlns:a16="http://schemas.microsoft.com/office/drawing/2014/main" id="{0F868E8B-98F5-DA2C-7637-0F4EAA3B9DC5}"/>
              </a:ext>
            </a:extLst>
          </p:cNvPr>
          <p:cNvSpPr/>
          <p:nvPr/>
        </p:nvSpPr>
        <p:spPr>
          <a:xfrm>
            <a:off x="927942" y="1602196"/>
            <a:ext cx="3567809"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dirty="0">
                <a:solidFill>
                  <a:schemeClr val="bg2">
                    <a:lumMod val="50000"/>
                  </a:schemeClr>
                </a:solidFill>
                <a:latin typeface="Meiryo UI" panose="020B0604030504040204" pitchFamily="50" charset="-128"/>
                <a:ea typeface="Meiryo UI" panose="020B0604030504040204" pitchFamily="50" charset="-128"/>
              </a:rPr>
              <a:t>人の作業時間：</a:t>
            </a:r>
            <a:r>
              <a:rPr lang="en-US" altLang="ja-JP" sz="800" b="1" dirty="0">
                <a:solidFill>
                  <a:schemeClr val="bg2">
                    <a:lumMod val="50000"/>
                  </a:schemeClr>
                </a:solidFill>
                <a:latin typeface="Meiryo UI" panose="020B0604030504040204" pitchFamily="50" charset="-128"/>
                <a:ea typeface="Meiryo UI" panose="020B0604030504040204" pitchFamily="50" charset="-128"/>
              </a:rPr>
              <a:t>1</a:t>
            </a:r>
            <a:r>
              <a:rPr lang="ja-JP" altLang="en-US" sz="800" b="1" dirty="0">
                <a:solidFill>
                  <a:schemeClr val="bg2">
                    <a:lumMod val="50000"/>
                  </a:schemeClr>
                </a:solidFill>
                <a:latin typeface="Meiryo UI" panose="020B0604030504040204" pitchFamily="50" charset="-128"/>
                <a:ea typeface="Meiryo UI" panose="020B0604030504040204" pitchFamily="50" charset="-128"/>
              </a:rPr>
              <a:t>～</a:t>
            </a:r>
            <a:r>
              <a:rPr lang="en-US" altLang="ja-JP" sz="800" b="1" dirty="0">
                <a:solidFill>
                  <a:schemeClr val="bg2">
                    <a:lumMod val="50000"/>
                  </a:schemeClr>
                </a:solidFill>
                <a:latin typeface="Meiryo UI" panose="020B0604030504040204" pitchFamily="50" charset="-128"/>
                <a:ea typeface="Meiryo UI" panose="020B0604030504040204" pitchFamily="50" charset="-128"/>
              </a:rPr>
              <a:t>2</a:t>
            </a:r>
            <a:r>
              <a:rPr lang="ja-JP" altLang="en-US" sz="800" b="1" dirty="0">
                <a:solidFill>
                  <a:schemeClr val="bg2">
                    <a:lumMod val="50000"/>
                  </a:schemeClr>
                </a:solidFill>
                <a:latin typeface="Meiryo UI" panose="020B0604030504040204" pitchFamily="50" charset="-128"/>
                <a:ea typeface="Meiryo UI" panose="020B0604030504040204" pitchFamily="50" charset="-128"/>
              </a:rPr>
              <a:t>分程度</a:t>
            </a:r>
            <a:r>
              <a:rPr lang="en-US" altLang="ja-JP" sz="800" b="1" dirty="0">
                <a:solidFill>
                  <a:schemeClr val="bg2">
                    <a:lumMod val="50000"/>
                  </a:schemeClr>
                </a:solidFill>
                <a:latin typeface="Meiryo UI" panose="020B0604030504040204" pitchFamily="50" charset="-128"/>
                <a:ea typeface="Meiryo UI" panose="020B0604030504040204" pitchFamily="50" charset="-128"/>
              </a:rPr>
              <a:t>/1</a:t>
            </a:r>
            <a:r>
              <a:rPr lang="ja-JP" altLang="en-US" sz="800" b="1" dirty="0">
                <a:solidFill>
                  <a:schemeClr val="bg2">
                    <a:lumMod val="50000"/>
                  </a:schemeClr>
                </a:solidFill>
                <a:latin typeface="Meiryo UI" panose="020B0604030504040204" pitchFamily="50" charset="-128"/>
                <a:ea typeface="Meiryo UI" panose="020B0604030504040204" pitchFamily="50" charset="-128"/>
              </a:rPr>
              <a:t>件</a:t>
            </a:r>
          </a:p>
        </p:txBody>
      </p:sp>
      <p:sp>
        <p:nvSpPr>
          <p:cNvPr id="28" name="矢印: 五方向 27">
            <a:extLst>
              <a:ext uri="{FF2B5EF4-FFF2-40B4-BE49-F238E27FC236}">
                <a16:creationId xmlns:a16="http://schemas.microsoft.com/office/drawing/2014/main" id="{B4869533-CD67-3BB5-52AE-BCF2DCC41508}"/>
              </a:ext>
            </a:extLst>
          </p:cNvPr>
          <p:cNvSpPr/>
          <p:nvPr/>
        </p:nvSpPr>
        <p:spPr>
          <a:xfrm>
            <a:off x="927943" y="1353312"/>
            <a:ext cx="3582166" cy="250150"/>
          </a:xfrm>
          <a:prstGeom prst="homePlate">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2">
                    <a:lumMod val="50000"/>
                  </a:schemeClr>
                </a:solidFill>
                <a:latin typeface="Meiryo UI" panose="020B0604030504040204" pitchFamily="50" charset="-128"/>
                <a:ea typeface="Meiryo UI" panose="020B0604030504040204" pitchFamily="50" charset="-128"/>
              </a:rPr>
              <a:t>請求書受領</a:t>
            </a:r>
          </a:p>
        </p:txBody>
      </p:sp>
      <p:cxnSp>
        <p:nvCxnSpPr>
          <p:cNvPr id="30" name="直線矢印コネクタ 29">
            <a:extLst>
              <a:ext uri="{FF2B5EF4-FFF2-40B4-BE49-F238E27FC236}">
                <a16:creationId xmlns:a16="http://schemas.microsoft.com/office/drawing/2014/main" id="{DF7994F9-D386-7212-2D2C-9AC7CBC97933}"/>
              </a:ext>
            </a:extLst>
          </p:cNvPr>
          <p:cNvCxnSpPr>
            <a:cxnSpLocks/>
            <a:stCxn id="70" idx="2"/>
            <a:endCxn id="69" idx="0"/>
          </p:cNvCxnSpPr>
          <p:nvPr/>
        </p:nvCxnSpPr>
        <p:spPr>
          <a:xfrm>
            <a:off x="1747024" y="3814768"/>
            <a:ext cx="0" cy="1244253"/>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32" name="グループ化 31">
            <a:extLst>
              <a:ext uri="{FF2B5EF4-FFF2-40B4-BE49-F238E27FC236}">
                <a16:creationId xmlns:a16="http://schemas.microsoft.com/office/drawing/2014/main" id="{AA9980DE-7EA7-08EF-9461-C3115AE992BA}"/>
              </a:ext>
            </a:extLst>
          </p:cNvPr>
          <p:cNvGrpSpPr/>
          <p:nvPr/>
        </p:nvGrpSpPr>
        <p:grpSpPr>
          <a:xfrm>
            <a:off x="1916616" y="2217781"/>
            <a:ext cx="469331" cy="397212"/>
            <a:chOff x="1756357" y="2217781"/>
            <a:chExt cx="469331" cy="397212"/>
          </a:xfrm>
        </p:grpSpPr>
        <p:sp>
          <p:nvSpPr>
            <p:cNvPr id="33" name="円/楕円 9">
              <a:extLst>
                <a:ext uri="{FF2B5EF4-FFF2-40B4-BE49-F238E27FC236}">
                  <a16:creationId xmlns:a16="http://schemas.microsoft.com/office/drawing/2014/main" id="{30633191-1B76-3612-838A-49E2C850B4DC}"/>
                </a:ext>
              </a:extLst>
            </p:cNvPr>
            <p:cNvSpPr/>
            <p:nvPr/>
          </p:nvSpPr>
          <p:spPr>
            <a:xfrm>
              <a:off x="1897661" y="2217781"/>
              <a:ext cx="153559" cy="160253"/>
            </a:xfrm>
            <a:prstGeom prst="ellipse">
              <a:avLst/>
            </a:prstGeom>
            <a:solidFill>
              <a:schemeClr val="bg1">
                <a:lumMod val="50000"/>
              </a:schemeClr>
            </a:solidFill>
            <a:ln w="6350">
              <a:noFill/>
            </a:ln>
          </p:spPr>
          <p:style>
            <a:lnRef idx="2">
              <a:schemeClr val="dk1"/>
            </a:lnRef>
            <a:fillRef idx="1">
              <a:schemeClr val="lt1"/>
            </a:fillRef>
            <a:effectRef idx="0">
              <a:schemeClr val="dk1"/>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ja-JP" altLang="en-US" sz="1050">
                <a:latin typeface="Meiryo UI" panose="020B0604030504040204" pitchFamily="50" charset="-128"/>
                <a:ea typeface="Meiryo UI" panose="020B0604030504040204" pitchFamily="50" charset="-128"/>
              </a:endParaRPr>
            </a:p>
          </p:txBody>
        </p:sp>
        <p:sp>
          <p:nvSpPr>
            <p:cNvPr id="34" name="テキスト ボックス 33">
              <a:extLst>
                <a:ext uri="{FF2B5EF4-FFF2-40B4-BE49-F238E27FC236}">
                  <a16:creationId xmlns:a16="http://schemas.microsoft.com/office/drawing/2014/main" id="{2A79C42B-A747-6F9E-8BA7-699A085C5818}"/>
                </a:ext>
              </a:extLst>
            </p:cNvPr>
            <p:cNvSpPr txBox="1"/>
            <p:nvPr/>
          </p:nvSpPr>
          <p:spPr>
            <a:xfrm>
              <a:off x="1756357" y="2389290"/>
              <a:ext cx="436167" cy="22570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都度</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cxnSp>
          <p:nvCxnSpPr>
            <p:cNvPr id="35" name="コネクタ: カギ線 5">
              <a:extLst>
                <a:ext uri="{FF2B5EF4-FFF2-40B4-BE49-F238E27FC236}">
                  <a16:creationId xmlns:a16="http://schemas.microsoft.com/office/drawing/2014/main" id="{2FFB6FDA-11D8-B4A0-A399-4F7AF29E8D60}"/>
                </a:ext>
              </a:extLst>
            </p:cNvPr>
            <p:cNvCxnSpPr>
              <a:cxnSpLocks/>
              <a:stCxn id="33" idx="6"/>
              <a:endCxn id="38" idx="1"/>
            </p:cNvCxnSpPr>
            <p:nvPr/>
          </p:nvCxnSpPr>
          <p:spPr>
            <a:xfrm flipV="1">
              <a:off x="2051220" y="2297907"/>
              <a:ext cx="174468" cy="1"/>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矢印: 五方向 35">
            <a:extLst>
              <a:ext uri="{FF2B5EF4-FFF2-40B4-BE49-F238E27FC236}">
                <a16:creationId xmlns:a16="http://schemas.microsoft.com/office/drawing/2014/main" id="{B5F3F241-0D39-1B8C-C022-534BDE273B77}"/>
              </a:ext>
            </a:extLst>
          </p:cNvPr>
          <p:cNvSpPr/>
          <p:nvPr/>
        </p:nvSpPr>
        <p:spPr>
          <a:xfrm>
            <a:off x="4513832" y="1353312"/>
            <a:ext cx="7502130" cy="250150"/>
          </a:xfrm>
          <a:prstGeom prst="homePlate">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2">
                    <a:lumMod val="50000"/>
                  </a:schemeClr>
                </a:solidFill>
                <a:latin typeface="Meiryo UI" panose="020B0604030504040204" pitchFamily="50" charset="-128"/>
                <a:ea typeface="Meiryo UI" panose="020B0604030504040204" pitchFamily="50" charset="-128"/>
              </a:rPr>
              <a:t>請求書提出</a:t>
            </a:r>
          </a:p>
        </p:txBody>
      </p:sp>
      <p:sp>
        <p:nvSpPr>
          <p:cNvPr id="37" name="正方形/長方形 36">
            <a:extLst>
              <a:ext uri="{FF2B5EF4-FFF2-40B4-BE49-F238E27FC236}">
                <a16:creationId xmlns:a16="http://schemas.microsoft.com/office/drawing/2014/main" id="{D90223A6-375B-0E78-613F-8F64F18539D0}"/>
              </a:ext>
            </a:extLst>
          </p:cNvPr>
          <p:cNvSpPr/>
          <p:nvPr/>
        </p:nvSpPr>
        <p:spPr>
          <a:xfrm>
            <a:off x="446631" y="1885752"/>
            <a:ext cx="463231" cy="824310"/>
          </a:xfrm>
          <a:prstGeom prst="rect">
            <a:avLst/>
          </a:prstGeom>
          <a:solidFill>
            <a:schemeClr val="tx1"/>
          </a:solid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eaVert"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200" b="0" i="0" u="none" strike="noStrike" cap="none" spc="0" normalizeH="0" baseline="0" dirty="0">
                <a:ln>
                  <a:noFill/>
                </a:ln>
                <a:solidFill>
                  <a:schemeClr val="bg1"/>
                </a:solidFill>
                <a:effectLst/>
                <a:uFillTx/>
                <a:latin typeface="Meiryo UI" panose="020B0604030504040204" pitchFamily="50" charset="-128"/>
                <a:ea typeface="Meiryo UI" panose="020B0604030504040204" pitchFamily="50" charset="-128"/>
                <a:sym typeface="ヒラギノ角ゴ ProN W3"/>
              </a:rPr>
              <a:t>外部</a:t>
            </a:r>
          </a:p>
        </p:txBody>
      </p:sp>
      <p:sp>
        <p:nvSpPr>
          <p:cNvPr id="38" name="フローチャート : 代替処理 2">
            <a:extLst>
              <a:ext uri="{FF2B5EF4-FFF2-40B4-BE49-F238E27FC236}">
                <a16:creationId xmlns:a16="http://schemas.microsoft.com/office/drawing/2014/main" id="{408C7BCB-A792-1562-4606-C4689B24D90C}"/>
              </a:ext>
            </a:extLst>
          </p:cNvPr>
          <p:cNvSpPr/>
          <p:nvPr/>
        </p:nvSpPr>
        <p:spPr>
          <a:xfrm>
            <a:off x="2385947" y="2075708"/>
            <a:ext cx="936000" cy="444398"/>
          </a:xfrm>
          <a:prstGeom prst="flowChartAlternateProcess">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anchor="ctr" upright="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送付</a:t>
            </a:r>
          </a:p>
        </p:txBody>
      </p:sp>
      <p:cxnSp>
        <p:nvCxnSpPr>
          <p:cNvPr id="39" name="直線矢印コネクタ 38">
            <a:extLst>
              <a:ext uri="{FF2B5EF4-FFF2-40B4-BE49-F238E27FC236}">
                <a16:creationId xmlns:a16="http://schemas.microsoft.com/office/drawing/2014/main" id="{C665CFF5-45AE-2859-3CC0-BF6163056ECB}"/>
              </a:ext>
            </a:extLst>
          </p:cNvPr>
          <p:cNvCxnSpPr>
            <a:cxnSpLocks/>
            <a:stCxn id="38" idx="2"/>
            <a:endCxn id="56" idx="0"/>
          </p:cNvCxnSpPr>
          <p:nvPr/>
        </p:nvCxnSpPr>
        <p:spPr>
          <a:xfrm>
            <a:off x="2853947" y="2520106"/>
            <a:ext cx="5080" cy="87745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2BFCF76E-4DB5-E45C-49A9-9290ABF9C4D9}"/>
              </a:ext>
            </a:extLst>
          </p:cNvPr>
          <p:cNvSpPr txBox="1"/>
          <p:nvPr/>
        </p:nvSpPr>
        <p:spPr>
          <a:xfrm>
            <a:off x="2512721" y="2881303"/>
            <a:ext cx="682453" cy="169575"/>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メール</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41" name="円/楕円 9">
            <a:extLst>
              <a:ext uri="{FF2B5EF4-FFF2-40B4-BE49-F238E27FC236}">
                <a16:creationId xmlns:a16="http://schemas.microsoft.com/office/drawing/2014/main" id="{D1C78282-3B4B-EB71-AC8A-1780C10DB30C}"/>
              </a:ext>
            </a:extLst>
          </p:cNvPr>
          <p:cNvSpPr/>
          <p:nvPr/>
        </p:nvSpPr>
        <p:spPr>
          <a:xfrm>
            <a:off x="975880" y="3536843"/>
            <a:ext cx="153559" cy="160253"/>
          </a:xfrm>
          <a:prstGeom prst="ellipse">
            <a:avLst/>
          </a:prstGeom>
          <a:solidFill>
            <a:schemeClr val="bg1">
              <a:lumMod val="50000"/>
            </a:schemeClr>
          </a:solidFill>
          <a:ln w="6350">
            <a:noFill/>
          </a:ln>
        </p:spPr>
        <p:style>
          <a:lnRef idx="2">
            <a:schemeClr val="dk1"/>
          </a:lnRef>
          <a:fillRef idx="1">
            <a:schemeClr val="lt1"/>
          </a:fillRef>
          <a:effectRef idx="0">
            <a:schemeClr val="dk1"/>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ja-JP" altLang="en-US" sz="1050">
              <a:latin typeface="Meiryo UI" panose="020B0604030504040204" pitchFamily="50" charset="-128"/>
              <a:ea typeface="Meiryo UI" panose="020B0604030504040204" pitchFamily="50" charset="-128"/>
            </a:endParaRPr>
          </a:p>
        </p:txBody>
      </p:sp>
      <p:sp>
        <p:nvSpPr>
          <p:cNvPr id="43" name="テキスト ボックス 42">
            <a:extLst>
              <a:ext uri="{FF2B5EF4-FFF2-40B4-BE49-F238E27FC236}">
                <a16:creationId xmlns:a16="http://schemas.microsoft.com/office/drawing/2014/main" id="{182D2A74-A966-1135-DD62-28BFC391FAFA}"/>
              </a:ext>
            </a:extLst>
          </p:cNvPr>
          <p:cNvSpPr txBox="1"/>
          <p:nvPr/>
        </p:nvSpPr>
        <p:spPr>
          <a:xfrm>
            <a:off x="834576" y="3698192"/>
            <a:ext cx="436167" cy="22570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都度</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cxnSp>
        <p:nvCxnSpPr>
          <p:cNvPr id="44" name="直線矢印コネクタ 43">
            <a:extLst>
              <a:ext uri="{FF2B5EF4-FFF2-40B4-BE49-F238E27FC236}">
                <a16:creationId xmlns:a16="http://schemas.microsoft.com/office/drawing/2014/main" id="{C3A0C1C7-BD5D-7FF7-69F1-22FE879F6756}"/>
              </a:ext>
            </a:extLst>
          </p:cNvPr>
          <p:cNvCxnSpPr>
            <a:cxnSpLocks/>
            <a:stCxn id="56" idx="3"/>
            <a:endCxn id="59" idx="1"/>
          </p:cNvCxnSpPr>
          <p:nvPr/>
        </p:nvCxnSpPr>
        <p:spPr>
          <a:xfrm>
            <a:off x="3327027" y="3619762"/>
            <a:ext cx="128419"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94">
            <a:extLst>
              <a:ext uri="{FF2B5EF4-FFF2-40B4-BE49-F238E27FC236}">
                <a16:creationId xmlns:a16="http://schemas.microsoft.com/office/drawing/2014/main" id="{CB177CBF-4B05-8EDC-EA0F-5A828F0CAF96}"/>
              </a:ext>
            </a:extLst>
          </p:cNvPr>
          <p:cNvCxnSpPr>
            <a:cxnSpLocks/>
            <a:stCxn id="48" idx="2"/>
            <a:endCxn id="73" idx="1"/>
          </p:cNvCxnSpPr>
          <p:nvPr/>
        </p:nvCxnSpPr>
        <p:spPr>
          <a:xfrm rot="16200000" flipH="1">
            <a:off x="4901870" y="4091838"/>
            <a:ext cx="411198" cy="123680"/>
          </a:xfrm>
          <a:prstGeom prst="bentConnector2">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6" name="グループ化 45">
            <a:extLst>
              <a:ext uri="{FF2B5EF4-FFF2-40B4-BE49-F238E27FC236}">
                <a16:creationId xmlns:a16="http://schemas.microsoft.com/office/drawing/2014/main" id="{D871227F-8968-54A9-8D47-BDCEB8C75C74}"/>
              </a:ext>
            </a:extLst>
          </p:cNvPr>
          <p:cNvGrpSpPr/>
          <p:nvPr/>
        </p:nvGrpSpPr>
        <p:grpSpPr>
          <a:xfrm>
            <a:off x="4517263" y="3291446"/>
            <a:ext cx="1056732" cy="656633"/>
            <a:chOff x="8173959" y="4428719"/>
            <a:chExt cx="721762" cy="448489"/>
          </a:xfrm>
        </p:grpSpPr>
        <p:sp>
          <p:nvSpPr>
            <p:cNvPr id="48" name="フローチャート: 判断 47">
              <a:extLst>
                <a:ext uri="{FF2B5EF4-FFF2-40B4-BE49-F238E27FC236}">
                  <a16:creationId xmlns:a16="http://schemas.microsoft.com/office/drawing/2014/main" id="{D84DC7D7-CB99-E4CF-0DFD-7368FCA7646F}"/>
                </a:ext>
              </a:extLst>
            </p:cNvPr>
            <p:cNvSpPr/>
            <p:nvPr/>
          </p:nvSpPr>
          <p:spPr>
            <a:xfrm>
              <a:off x="8200147" y="4428719"/>
              <a:ext cx="669386" cy="448489"/>
            </a:xfrm>
            <a:prstGeom prst="flowChartDecision">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C9ABC06B-D1B0-6754-786A-427936DEF064}"/>
                </a:ext>
              </a:extLst>
            </p:cNvPr>
            <p:cNvSpPr/>
            <p:nvPr/>
          </p:nvSpPr>
          <p:spPr>
            <a:xfrm>
              <a:off x="8173959" y="4480881"/>
              <a:ext cx="721762" cy="344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支払予定表に</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ある案件か</a:t>
              </a:r>
            </a:p>
          </p:txBody>
        </p:sp>
      </p:grpSp>
      <p:sp>
        <p:nvSpPr>
          <p:cNvPr id="50" name="テキスト ボックス 49">
            <a:extLst>
              <a:ext uri="{FF2B5EF4-FFF2-40B4-BE49-F238E27FC236}">
                <a16:creationId xmlns:a16="http://schemas.microsoft.com/office/drawing/2014/main" id="{0DA2CC82-454B-83DC-601E-7F3955374E41}"/>
              </a:ext>
            </a:extLst>
          </p:cNvPr>
          <p:cNvSpPr txBox="1"/>
          <p:nvPr/>
        </p:nvSpPr>
        <p:spPr>
          <a:xfrm>
            <a:off x="5328173" y="3394060"/>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latin typeface="Meiryo UI" panose="020B0604030504040204" pitchFamily="50" charset="-128"/>
                <a:ea typeface="Meiryo UI" panose="020B0604030504040204" pitchFamily="50" charset="-128"/>
              </a:rPr>
              <a:t>No</a:t>
            </a:r>
            <a:endParaRPr lang="ja-JP" altLang="en-US" dirty="0">
              <a:latin typeface="Meiryo UI" panose="020B0604030504040204" pitchFamily="50" charset="-128"/>
              <a:ea typeface="Meiryo UI" panose="020B0604030504040204" pitchFamily="50" charset="-128"/>
            </a:endParaRPr>
          </a:p>
        </p:txBody>
      </p:sp>
      <p:sp>
        <p:nvSpPr>
          <p:cNvPr id="51" name="テキスト ボックス 50">
            <a:extLst>
              <a:ext uri="{FF2B5EF4-FFF2-40B4-BE49-F238E27FC236}">
                <a16:creationId xmlns:a16="http://schemas.microsoft.com/office/drawing/2014/main" id="{B755DA79-0531-BC7B-30FE-95F3C7E7DF37}"/>
              </a:ext>
            </a:extLst>
          </p:cNvPr>
          <p:cNvSpPr txBox="1"/>
          <p:nvPr/>
        </p:nvSpPr>
        <p:spPr>
          <a:xfrm>
            <a:off x="4923767" y="3876815"/>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latin typeface="Meiryo UI" panose="020B0604030504040204" pitchFamily="50" charset="-128"/>
                <a:ea typeface="Meiryo UI" panose="020B0604030504040204" pitchFamily="50" charset="-128"/>
              </a:rPr>
              <a:t>Yes</a:t>
            </a:r>
            <a:endParaRPr lang="ja-JP" altLang="en-US" dirty="0">
              <a:latin typeface="Meiryo UI" panose="020B0604030504040204" pitchFamily="50" charset="-128"/>
              <a:ea typeface="Meiryo UI" panose="020B0604030504040204" pitchFamily="50" charset="-128"/>
            </a:endParaRPr>
          </a:p>
        </p:txBody>
      </p:sp>
      <p:cxnSp>
        <p:nvCxnSpPr>
          <p:cNvPr id="52" name="コネクタ: カギ線 5">
            <a:extLst>
              <a:ext uri="{FF2B5EF4-FFF2-40B4-BE49-F238E27FC236}">
                <a16:creationId xmlns:a16="http://schemas.microsoft.com/office/drawing/2014/main" id="{7CFC2E77-D471-B009-1E6F-E7A20A337756}"/>
              </a:ext>
            </a:extLst>
          </p:cNvPr>
          <p:cNvCxnSpPr>
            <a:cxnSpLocks/>
            <a:stCxn id="48" idx="3"/>
            <a:endCxn id="53" idx="1"/>
          </p:cNvCxnSpPr>
          <p:nvPr/>
        </p:nvCxnSpPr>
        <p:spPr>
          <a:xfrm>
            <a:off x="5535653" y="3619763"/>
            <a:ext cx="862092"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手操作入力 52">
            <a:extLst>
              <a:ext uri="{FF2B5EF4-FFF2-40B4-BE49-F238E27FC236}">
                <a16:creationId xmlns:a16="http://schemas.microsoft.com/office/drawing/2014/main" id="{50F4AEAC-0C16-D4A6-DBEB-DB9AC311DD54}"/>
              </a:ext>
            </a:extLst>
          </p:cNvPr>
          <p:cNvSpPr/>
          <p:nvPr/>
        </p:nvSpPr>
        <p:spPr bwMode="auto">
          <a:xfrm>
            <a:off x="6397745" y="3423496"/>
            <a:ext cx="934964" cy="392533"/>
          </a:xfrm>
          <a:prstGeom prst="flowChartManualInpu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請求書提出</a:t>
            </a:r>
            <a:r>
              <a:rPr lang="en-US" altLang="ja-JP" sz="800" dirty="0">
                <a:solidFill>
                  <a:schemeClr val="bg2">
                    <a:lumMod val="50000"/>
                  </a:schemeClr>
                </a:solidFill>
                <a:latin typeface="Meiryo UI" panose="020B0604030504040204" pitchFamily="50" charset="-128"/>
                <a:ea typeface="Meiryo UI" panose="020B0604030504040204" pitchFamily="50" charset="-128"/>
              </a:rPr>
              <a:t>App</a:t>
            </a:r>
          </a:p>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ファイルアップロード</a:t>
            </a:r>
          </a:p>
        </p:txBody>
      </p:sp>
      <p:cxnSp>
        <p:nvCxnSpPr>
          <p:cNvPr id="54" name="コネクタ: カギ線 5">
            <a:extLst>
              <a:ext uri="{FF2B5EF4-FFF2-40B4-BE49-F238E27FC236}">
                <a16:creationId xmlns:a16="http://schemas.microsoft.com/office/drawing/2014/main" id="{F0DF7C7A-21AA-0589-1E91-580041CBE0B7}"/>
              </a:ext>
            </a:extLst>
          </p:cNvPr>
          <p:cNvCxnSpPr>
            <a:cxnSpLocks/>
            <a:endCxn id="48" idx="1"/>
          </p:cNvCxnSpPr>
          <p:nvPr/>
        </p:nvCxnSpPr>
        <p:spPr>
          <a:xfrm>
            <a:off x="4025466" y="3619762"/>
            <a:ext cx="530139" cy="1"/>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フローチャート : 代替処理 2">
            <a:extLst>
              <a:ext uri="{FF2B5EF4-FFF2-40B4-BE49-F238E27FC236}">
                <a16:creationId xmlns:a16="http://schemas.microsoft.com/office/drawing/2014/main" id="{E16DE810-19A5-FAA8-BB5F-CF4BE378519B}"/>
              </a:ext>
            </a:extLst>
          </p:cNvPr>
          <p:cNvSpPr/>
          <p:nvPr/>
        </p:nvSpPr>
        <p:spPr>
          <a:xfrm>
            <a:off x="2391027" y="3397563"/>
            <a:ext cx="936000" cy="444398"/>
          </a:xfrm>
          <a:prstGeom prst="flowChartAlternateProcess">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anchor="ctr" upright="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受領</a:t>
            </a:r>
          </a:p>
        </p:txBody>
      </p:sp>
      <p:sp>
        <p:nvSpPr>
          <p:cNvPr id="57" name="フローチャート : 書類 22">
            <a:extLst>
              <a:ext uri="{FF2B5EF4-FFF2-40B4-BE49-F238E27FC236}">
                <a16:creationId xmlns:a16="http://schemas.microsoft.com/office/drawing/2014/main" id="{865FC00A-4D52-7ED3-F6B0-D4272F4A766D}"/>
              </a:ext>
            </a:extLst>
          </p:cNvPr>
          <p:cNvSpPr/>
          <p:nvPr/>
        </p:nvSpPr>
        <p:spPr>
          <a:xfrm>
            <a:off x="2970704" y="389056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600" dirty="0">
                <a:solidFill>
                  <a:schemeClr val="tx1"/>
                </a:solidFill>
                <a:latin typeface="Meiryo UI" panose="020B0604030504040204" pitchFamily="50" charset="-128"/>
                <a:ea typeface="Meiryo UI" panose="020B0604030504040204" pitchFamily="50" charset="-128"/>
              </a:rPr>
              <a:t>送付書</a:t>
            </a:r>
          </a:p>
        </p:txBody>
      </p:sp>
      <p:sp>
        <p:nvSpPr>
          <p:cNvPr id="58" name="フローチャート : 書類 22">
            <a:extLst>
              <a:ext uri="{FF2B5EF4-FFF2-40B4-BE49-F238E27FC236}">
                <a16:creationId xmlns:a16="http://schemas.microsoft.com/office/drawing/2014/main" id="{19AEBDEA-3132-067D-A0F3-7AA53FA0CB76}"/>
              </a:ext>
            </a:extLst>
          </p:cNvPr>
          <p:cNvSpPr/>
          <p:nvPr/>
        </p:nvSpPr>
        <p:spPr>
          <a:xfrm>
            <a:off x="2936470" y="385900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p>
        </p:txBody>
      </p:sp>
      <p:sp>
        <p:nvSpPr>
          <p:cNvPr id="59" name="フローチャート : 代替処理 2">
            <a:extLst>
              <a:ext uri="{FF2B5EF4-FFF2-40B4-BE49-F238E27FC236}">
                <a16:creationId xmlns:a16="http://schemas.microsoft.com/office/drawing/2014/main" id="{33CC6651-FC17-B3CC-DB92-3DEC0E077435}"/>
              </a:ext>
            </a:extLst>
          </p:cNvPr>
          <p:cNvSpPr/>
          <p:nvPr/>
        </p:nvSpPr>
        <p:spPr>
          <a:xfrm>
            <a:off x="3455446" y="3397563"/>
            <a:ext cx="936000" cy="444398"/>
          </a:xfrm>
          <a:prstGeom prst="flowChartAlternateProcess">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anchor="ctr" upright="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リネーム＆保管</a:t>
            </a:r>
          </a:p>
        </p:txBody>
      </p:sp>
      <p:grpSp>
        <p:nvGrpSpPr>
          <p:cNvPr id="60" name="グループ化 59">
            <a:extLst>
              <a:ext uri="{FF2B5EF4-FFF2-40B4-BE49-F238E27FC236}">
                <a16:creationId xmlns:a16="http://schemas.microsoft.com/office/drawing/2014/main" id="{BFC12A97-AE0E-4135-05D6-54D2E63D6984}"/>
              </a:ext>
            </a:extLst>
          </p:cNvPr>
          <p:cNvGrpSpPr/>
          <p:nvPr/>
        </p:nvGrpSpPr>
        <p:grpSpPr>
          <a:xfrm>
            <a:off x="3988762" y="3859007"/>
            <a:ext cx="407047" cy="299100"/>
            <a:chOff x="2895591" y="3820907"/>
            <a:chExt cx="407047" cy="299100"/>
          </a:xfrm>
        </p:grpSpPr>
        <p:sp>
          <p:nvSpPr>
            <p:cNvPr id="61" name="フローチャート : 書類 22">
              <a:extLst>
                <a:ext uri="{FF2B5EF4-FFF2-40B4-BE49-F238E27FC236}">
                  <a16:creationId xmlns:a16="http://schemas.microsoft.com/office/drawing/2014/main" id="{6D19A45F-EC7C-ECC7-FFDD-0ED32676B1E1}"/>
                </a:ext>
              </a:extLst>
            </p:cNvPr>
            <p:cNvSpPr/>
            <p:nvPr/>
          </p:nvSpPr>
          <p:spPr>
            <a:xfrm>
              <a:off x="2929825" y="385246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600" dirty="0">
                  <a:solidFill>
                    <a:schemeClr val="tx1"/>
                  </a:solidFill>
                  <a:latin typeface="Meiryo UI" panose="020B0604030504040204" pitchFamily="50" charset="-128"/>
                  <a:ea typeface="Meiryo UI" panose="020B0604030504040204" pitchFamily="50" charset="-128"/>
                </a:rPr>
                <a:t>送付書</a:t>
              </a:r>
            </a:p>
          </p:txBody>
        </p:sp>
        <p:sp>
          <p:nvSpPr>
            <p:cNvPr id="62" name="フローチャート : 書類 22">
              <a:extLst>
                <a:ext uri="{FF2B5EF4-FFF2-40B4-BE49-F238E27FC236}">
                  <a16:creationId xmlns:a16="http://schemas.microsoft.com/office/drawing/2014/main" id="{B8EEB211-6D11-74F2-8D28-56C95EA70317}"/>
                </a:ext>
              </a:extLst>
            </p:cNvPr>
            <p:cNvSpPr/>
            <p:nvPr/>
          </p:nvSpPr>
          <p:spPr>
            <a:xfrm>
              <a:off x="2895591" y="382090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dirty="0">
                  <a:solidFill>
                    <a:schemeClr val="bg2">
                      <a:lumMod val="50000"/>
                    </a:schemeClr>
                  </a:solidFill>
                  <a:latin typeface="Meiryo UI" panose="020B0604030504040204" pitchFamily="50" charset="-128"/>
                  <a:ea typeface="Meiryo UI" panose="020B0604030504040204" pitchFamily="50" charset="-128"/>
                </a:rPr>
                <a:t>XX</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p>
          </p:txBody>
        </p:sp>
      </p:grpSp>
      <p:grpSp>
        <p:nvGrpSpPr>
          <p:cNvPr id="63" name="グループ化 62">
            <a:extLst>
              <a:ext uri="{FF2B5EF4-FFF2-40B4-BE49-F238E27FC236}">
                <a16:creationId xmlns:a16="http://schemas.microsoft.com/office/drawing/2014/main" id="{78352FA1-4BE6-DB2C-7087-752CEBF36681}"/>
              </a:ext>
            </a:extLst>
          </p:cNvPr>
          <p:cNvGrpSpPr/>
          <p:nvPr/>
        </p:nvGrpSpPr>
        <p:grpSpPr>
          <a:xfrm>
            <a:off x="3631229" y="4207761"/>
            <a:ext cx="580936" cy="580936"/>
            <a:chOff x="3045064" y="4118673"/>
            <a:chExt cx="580936" cy="580936"/>
          </a:xfrm>
        </p:grpSpPr>
        <p:pic>
          <p:nvPicPr>
            <p:cNvPr id="64" name="グラフィックス 63" descr="フォルダー">
              <a:extLst>
                <a:ext uri="{FF2B5EF4-FFF2-40B4-BE49-F238E27FC236}">
                  <a16:creationId xmlns:a16="http://schemas.microsoft.com/office/drawing/2014/main" id="{5D1A2C27-EBE1-95E1-D2D8-00BB8D15BD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5064" y="4118673"/>
              <a:ext cx="580936" cy="580936"/>
            </a:xfrm>
            <a:prstGeom prst="rect">
              <a:avLst/>
            </a:prstGeom>
          </p:spPr>
        </p:pic>
        <p:sp>
          <p:nvSpPr>
            <p:cNvPr id="65" name="フローチャート : 書類 22">
              <a:extLst>
                <a:ext uri="{FF2B5EF4-FFF2-40B4-BE49-F238E27FC236}">
                  <a16:creationId xmlns:a16="http://schemas.microsoft.com/office/drawing/2014/main" id="{CC73DBFA-7A0F-3E1A-1C42-F35FF1CB5964}"/>
                </a:ext>
              </a:extLst>
            </p:cNvPr>
            <p:cNvSpPr/>
            <p:nvPr/>
          </p:nvSpPr>
          <p:spPr>
            <a:xfrm>
              <a:off x="3149126" y="4288071"/>
              <a:ext cx="372813" cy="2675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共有</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フォルダ</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66" name="直線矢印コネクタ 65">
            <a:extLst>
              <a:ext uri="{FF2B5EF4-FFF2-40B4-BE49-F238E27FC236}">
                <a16:creationId xmlns:a16="http://schemas.microsoft.com/office/drawing/2014/main" id="{A65D7ECE-98A3-B8C6-18BF-DF30FE6A69F9}"/>
              </a:ext>
            </a:extLst>
          </p:cNvPr>
          <p:cNvCxnSpPr>
            <a:cxnSpLocks/>
            <a:stCxn id="59" idx="2"/>
            <a:endCxn id="65" idx="0"/>
          </p:cNvCxnSpPr>
          <p:nvPr/>
        </p:nvCxnSpPr>
        <p:spPr>
          <a:xfrm flipH="1">
            <a:off x="3921698" y="3841961"/>
            <a:ext cx="1748" cy="535198"/>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8" name="コネクタ: カギ線 5">
            <a:extLst>
              <a:ext uri="{FF2B5EF4-FFF2-40B4-BE49-F238E27FC236}">
                <a16:creationId xmlns:a16="http://schemas.microsoft.com/office/drawing/2014/main" id="{539BB296-B9C2-0F99-81E1-E40F0309FE96}"/>
              </a:ext>
            </a:extLst>
          </p:cNvPr>
          <p:cNvCxnSpPr>
            <a:cxnSpLocks/>
            <a:stCxn id="70" idx="3"/>
            <a:endCxn id="56" idx="1"/>
          </p:cNvCxnSpPr>
          <p:nvPr/>
        </p:nvCxnSpPr>
        <p:spPr>
          <a:xfrm>
            <a:off x="2214506" y="3618502"/>
            <a:ext cx="176521" cy="126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FF34B678-986C-2A74-0952-EC3166B4BC19}"/>
              </a:ext>
            </a:extLst>
          </p:cNvPr>
          <p:cNvSpPr/>
          <p:nvPr/>
        </p:nvSpPr>
        <p:spPr bwMode="auto">
          <a:xfrm>
            <a:off x="1181370" y="5059021"/>
            <a:ext cx="1131308"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請求書管理画面</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&lt;</a:t>
            </a:r>
            <a:r>
              <a:rPr lang="en-US" altLang="ja-JP" sz="800" dirty="0" err="1">
                <a:solidFill>
                  <a:schemeClr val="bg2">
                    <a:lumMod val="50000"/>
                  </a:schemeClr>
                </a:solidFill>
                <a:latin typeface="Meiryo UI" panose="020B0604030504040204" pitchFamily="50" charset="-128"/>
                <a:ea typeface="Meiryo UI" panose="020B0604030504040204" pitchFamily="50" charset="-128"/>
              </a:rPr>
              <a:t>BtoB</a:t>
            </a:r>
            <a:r>
              <a:rPr lang="ja-JP" altLang="en-US" sz="800" dirty="0">
                <a:solidFill>
                  <a:schemeClr val="bg2">
                    <a:lumMod val="50000"/>
                  </a:schemeClr>
                </a:solidFill>
                <a:latin typeface="Meiryo UI" panose="020B0604030504040204" pitchFamily="50" charset="-128"/>
                <a:ea typeface="Meiryo UI" panose="020B0604030504040204" pitchFamily="50" charset="-128"/>
              </a:rPr>
              <a:t>プラットフォーム</a:t>
            </a:r>
            <a:r>
              <a:rPr lang="en-US" altLang="ja-JP" sz="800" dirty="0">
                <a:solidFill>
                  <a:schemeClr val="bg2">
                    <a:lumMod val="50000"/>
                  </a:schemeClr>
                </a:solidFill>
                <a:latin typeface="Meiryo UI" panose="020B0604030504040204" pitchFamily="50" charset="-128"/>
                <a:ea typeface="Meiryo UI" panose="020B0604030504040204" pitchFamily="50" charset="-128"/>
              </a:rPr>
              <a:t>&gt;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70" name="フローチャート: 手操作入力 69">
            <a:extLst>
              <a:ext uri="{FF2B5EF4-FFF2-40B4-BE49-F238E27FC236}">
                <a16:creationId xmlns:a16="http://schemas.microsoft.com/office/drawing/2014/main" id="{8BF70DF2-00E0-E916-E9A8-E3D0D2D7F7DB}"/>
              </a:ext>
            </a:extLst>
          </p:cNvPr>
          <p:cNvSpPr/>
          <p:nvPr/>
        </p:nvSpPr>
        <p:spPr bwMode="auto">
          <a:xfrm>
            <a:off x="1279542" y="3422235"/>
            <a:ext cx="934964" cy="392533"/>
          </a:xfrm>
          <a:prstGeom prst="flowChartManualInpu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dirty="0" err="1">
                <a:solidFill>
                  <a:schemeClr val="bg2">
                    <a:lumMod val="50000"/>
                  </a:schemeClr>
                </a:solidFill>
                <a:latin typeface="Meiryo UI" panose="020B0604030504040204" pitchFamily="50" charset="-128"/>
                <a:ea typeface="Meiryo UI" panose="020B0604030504040204" pitchFamily="50" charset="-128"/>
              </a:rPr>
              <a:t>BtoB</a:t>
            </a:r>
            <a:r>
              <a:rPr lang="ja-JP" altLang="en-US" sz="800" dirty="0">
                <a:solidFill>
                  <a:schemeClr val="bg2">
                    <a:lumMod val="50000"/>
                  </a:schemeClr>
                </a:solidFill>
                <a:latin typeface="Meiryo UI" panose="020B0604030504040204" pitchFamily="50" charset="-128"/>
                <a:ea typeface="Meiryo UI" panose="020B0604030504040204" pitchFamily="50" charset="-128"/>
              </a:rPr>
              <a:t>プラットフォーム</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請求書ダウンロード</a:t>
            </a:r>
          </a:p>
        </p:txBody>
      </p:sp>
      <p:cxnSp>
        <p:nvCxnSpPr>
          <p:cNvPr id="71" name="コネクタ: カギ線 5">
            <a:extLst>
              <a:ext uri="{FF2B5EF4-FFF2-40B4-BE49-F238E27FC236}">
                <a16:creationId xmlns:a16="http://schemas.microsoft.com/office/drawing/2014/main" id="{4679F218-8CAC-DE73-7297-CF6C78B95BEE}"/>
              </a:ext>
            </a:extLst>
          </p:cNvPr>
          <p:cNvCxnSpPr>
            <a:cxnSpLocks/>
            <a:stCxn id="41" idx="6"/>
            <a:endCxn id="70" idx="1"/>
          </p:cNvCxnSpPr>
          <p:nvPr/>
        </p:nvCxnSpPr>
        <p:spPr>
          <a:xfrm>
            <a:off x="1129439" y="3616970"/>
            <a:ext cx="150103" cy="1532"/>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矢印コネクタ 60">
            <a:extLst>
              <a:ext uri="{FF2B5EF4-FFF2-40B4-BE49-F238E27FC236}">
                <a16:creationId xmlns:a16="http://schemas.microsoft.com/office/drawing/2014/main" id="{A5792256-7969-4C16-AB44-EE755F7E3B3C}"/>
              </a:ext>
            </a:extLst>
          </p:cNvPr>
          <p:cNvCxnSpPr>
            <a:cxnSpLocks/>
            <a:stCxn id="69" idx="3"/>
            <a:endCxn id="57" idx="2"/>
          </p:cNvCxnSpPr>
          <p:nvPr/>
        </p:nvCxnSpPr>
        <p:spPr>
          <a:xfrm flipV="1">
            <a:off x="2312678" y="4140420"/>
            <a:ext cx="844433" cy="1094228"/>
          </a:xfrm>
          <a:prstGeom prst="bentConnector2">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3" name="フローチャート: 手操作入力 72">
            <a:extLst>
              <a:ext uri="{FF2B5EF4-FFF2-40B4-BE49-F238E27FC236}">
                <a16:creationId xmlns:a16="http://schemas.microsoft.com/office/drawing/2014/main" id="{3DF561B7-74C7-55B0-9DD1-A34660E11893}"/>
              </a:ext>
            </a:extLst>
          </p:cNvPr>
          <p:cNvSpPr/>
          <p:nvPr/>
        </p:nvSpPr>
        <p:spPr bwMode="auto">
          <a:xfrm>
            <a:off x="5169309" y="4163010"/>
            <a:ext cx="934964" cy="392533"/>
          </a:xfrm>
          <a:prstGeom prst="flowChartManualInpu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請求書提出</a:t>
            </a:r>
            <a:r>
              <a:rPr lang="en-US" altLang="ja-JP" sz="800" dirty="0">
                <a:solidFill>
                  <a:schemeClr val="bg2">
                    <a:lumMod val="50000"/>
                  </a:schemeClr>
                </a:solidFill>
                <a:latin typeface="Meiryo UI" panose="020B0604030504040204" pitchFamily="50" charset="-128"/>
                <a:ea typeface="Meiryo UI" panose="020B0604030504040204" pitchFamily="50" charset="-128"/>
              </a:rPr>
              <a:t>App</a:t>
            </a:r>
          </a:p>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支払予定表選択</a:t>
            </a:r>
          </a:p>
        </p:txBody>
      </p:sp>
      <p:cxnSp>
        <p:nvCxnSpPr>
          <p:cNvPr id="74" name="直線矢印コネクタ 94">
            <a:extLst>
              <a:ext uri="{FF2B5EF4-FFF2-40B4-BE49-F238E27FC236}">
                <a16:creationId xmlns:a16="http://schemas.microsoft.com/office/drawing/2014/main" id="{6C5B6D49-E040-0A0B-B91E-0C16ECD1B134}"/>
              </a:ext>
            </a:extLst>
          </p:cNvPr>
          <p:cNvCxnSpPr>
            <a:cxnSpLocks/>
            <a:stCxn id="73" idx="3"/>
            <a:endCxn id="53" idx="1"/>
          </p:cNvCxnSpPr>
          <p:nvPr/>
        </p:nvCxnSpPr>
        <p:spPr>
          <a:xfrm flipV="1">
            <a:off x="6104273" y="3619763"/>
            <a:ext cx="293472" cy="739514"/>
          </a:xfrm>
          <a:prstGeom prst="bentConnector3">
            <a:avLst>
              <a:gd name="adj1" fmla="val 50000"/>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60">
            <a:extLst>
              <a:ext uri="{FF2B5EF4-FFF2-40B4-BE49-F238E27FC236}">
                <a16:creationId xmlns:a16="http://schemas.microsoft.com/office/drawing/2014/main" id="{E12CB67D-5EDC-56A7-E659-A1F7F26BA577}"/>
              </a:ext>
            </a:extLst>
          </p:cNvPr>
          <p:cNvCxnSpPr>
            <a:cxnSpLocks/>
            <a:stCxn id="82" idx="3"/>
            <a:endCxn id="86" idx="1"/>
          </p:cNvCxnSpPr>
          <p:nvPr/>
        </p:nvCxnSpPr>
        <p:spPr>
          <a:xfrm>
            <a:off x="8609474" y="3625267"/>
            <a:ext cx="318865" cy="1614885"/>
          </a:xfrm>
          <a:prstGeom prst="bentConnector3">
            <a:avLst>
              <a:gd name="adj1" fmla="val 50000"/>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11D34813-4CDE-3D81-0A1F-ED992BE4A003}"/>
              </a:ext>
            </a:extLst>
          </p:cNvPr>
          <p:cNvCxnSpPr>
            <a:cxnSpLocks/>
            <a:stCxn id="73" idx="2"/>
          </p:cNvCxnSpPr>
          <p:nvPr/>
        </p:nvCxnSpPr>
        <p:spPr>
          <a:xfrm>
            <a:off x="5636791" y="4555543"/>
            <a:ext cx="0" cy="503478"/>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ED839F36-5A1F-5E06-2E30-C4A873CC89C3}"/>
              </a:ext>
            </a:extLst>
          </p:cNvPr>
          <p:cNvCxnSpPr>
            <a:cxnSpLocks/>
            <a:stCxn id="53" idx="2"/>
          </p:cNvCxnSpPr>
          <p:nvPr/>
        </p:nvCxnSpPr>
        <p:spPr>
          <a:xfrm>
            <a:off x="6865227" y="3816029"/>
            <a:ext cx="0" cy="1242992"/>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8" name="フローチャート : 書類 22">
            <a:extLst>
              <a:ext uri="{FF2B5EF4-FFF2-40B4-BE49-F238E27FC236}">
                <a16:creationId xmlns:a16="http://schemas.microsoft.com/office/drawing/2014/main" id="{6B5059BD-5806-762B-EC6F-8C89275B01DB}"/>
              </a:ext>
            </a:extLst>
          </p:cNvPr>
          <p:cNvSpPr/>
          <p:nvPr/>
        </p:nvSpPr>
        <p:spPr>
          <a:xfrm>
            <a:off x="7256478" y="3833075"/>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p>
        </p:txBody>
      </p:sp>
      <p:cxnSp>
        <p:nvCxnSpPr>
          <p:cNvPr id="79" name="直線矢印コネクタ 78">
            <a:extLst>
              <a:ext uri="{FF2B5EF4-FFF2-40B4-BE49-F238E27FC236}">
                <a16:creationId xmlns:a16="http://schemas.microsoft.com/office/drawing/2014/main" id="{069407AD-9369-2E48-7B64-2B69F06CA204}"/>
              </a:ext>
            </a:extLst>
          </p:cNvPr>
          <p:cNvCxnSpPr>
            <a:cxnSpLocks/>
          </p:cNvCxnSpPr>
          <p:nvPr/>
        </p:nvCxnSpPr>
        <p:spPr>
          <a:xfrm rot="10800000" flipH="1">
            <a:off x="7189414" y="3825554"/>
            <a:ext cx="1748" cy="542080"/>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0" name="フローチャート : 書類 22">
            <a:extLst>
              <a:ext uri="{FF2B5EF4-FFF2-40B4-BE49-F238E27FC236}">
                <a16:creationId xmlns:a16="http://schemas.microsoft.com/office/drawing/2014/main" id="{E50B4B80-C730-66A1-2370-2535A2173511}"/>
              </a:ext>
            </a:extLst>
          </p:cNvPr>
          <p:cNvSpPr/>
          <p:nvPr/>
        </p:nvSpPr>
        <p:spPr>
          <a:xfrm>
            <a:off x="7256478" y="4105935"/>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見積書</a:t>
            </a:r>
          </a:p>
        </p:txBody>
      </p:sp>
      <p:cxnSp>
        <p:nvCxnSpPr>
          <p:cNvPr id="81" name="コネクタ: カギ線 5">
            <a:extLst>
              <a:ext uri="{FF2B5EF4-FFF2-40B4-BE49-F238E27FC236}">
                <a16:creationId xmlns:a16="http://schemas.microsoft.com/office/drawing/2014/main" id="{3F85DB18-8889-5C89-F8D3-9BCFBB3EC4D7}"/>
              </a:ext>
            </a:extLst>
          </p:cNvPr>
          <p:cNvCxnSpPr>
            <a:cxnSpLocks/>
            <a:stCxn id="53" idx="3"/>
            <a:endCxn id="82" idx="1"/>
          </p:cNvCxnSpPr>
          <p:nvPr/>
        </p:nvCxnSpPr>
        <p:spPr>
          <a:xfrm>
            <a:off x="7332709" y="3619763"/>
            <a:ext cx="341801" cy="5504"/>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フローチャート: 手操作入力 81">
            <a:extLst>
              <a:ext uri="{FF2B5EF4-FFF2-40B4-BE49-F238E27FC236}">
                <a16:creationId xmlns:a16="http://schemas.microsoft.com/office/drawing/2014/main" id="{89A8FBBB-5019-3428-75C5-DD14C22F1297}"/>
              </a:ext>
            </a:extLst>
          </p:cNvPr>
          <p:cNvSpPr/>
          <p:nvPr/>
        </p:nvSpPr>
        <p:spPr bwMode="auto">
          <a:xfrm>
            <a:off x="7674510" y="3429000"/>
            <a:ext cx="934964" cy="392533"/>
          </a:xfrm>
          <a:prstGeom prst="flowChartManualInpu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請求書提出</a:t>
            </a:r>
            <a:r>
              <a:rPr lang="en-US" altLang="ja-JP" sz="800" dirty="0">
                <a:solidFill>
                  <a:schemeClr val="bg2">
                    <a:lumMod val="50000"/>
                  </a:schemeClr>
                </a:solidFill>
                <a:latin typeface="Meiryo UI" panose="020B0604030504040204" pitchFamily="50" charset="-128"/>
                <a:ea typeface="Meiryo UI" panose="020B0604030504040204" pitchFamily="50" charset="-128"/>
              </a:rPr>
              <a:t>App</a:t>
            </a:r>
          </a:p>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手入力＆提出</a:t>
            </a:r>
          </a:p>
        </p:txBody>
      </p:sp>
      <p:cxnSp>
        <p:nvCxnSpPr>
          <p:cNvPr id="83" name="直線矢印コネクタ 82">
            <a:extLst>
              <a:ext uri="{FF2B5EF4-FFF2-40B4-BE49-F238E27FC236}">
                <a16:creationId xmlns:a16="http://schemas.microsoft.com/office/drawing/2014/main" id="{3F397D39-6CF8-7ABB-0E6C-831746B74AC4}"/>
              </a:ext>
            </a:extLst>
          </p:cNvPr>
          <p:cNvCxnSpPr>
            <a:cxnSpLocks/>
          </p:cNvCxnSpPr>
          <p:nvPr/>
        </p:nvCxnSpPr>
        <p:spPr>
          <a:xfrm>
            <a:off x="8141992" y="3821533"/>
            <a:ext cx="0" cy="1242992"/>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5" name="矢印: 左右 84">
            <a:extLst>
              <a:ext uri="{FF2B5EF4-FFF2-40B4-BE49-F238E27FC236}">
                <a16:creationId xmlns:a16="http://schemas.microsoft.com/office/drawing/2014/main" id="{DB51369D-EB93-2AF1-AA2F-3A58353CACDE}"/>
              </a:ext>
            </a:extLst>
          </p:cNvPr>
          <p:cNvSpPr/>
          <p:nvPr/>
        </p:nvSpPr>
        <p:spPr>
          <a:xfrm>
            <a:off x="4513831" y="1596442"/>
            <a:ext cx="4086481"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dirty="0">
                <a:solidFill>
                  <a:schemeClr val="bg2">
                    <a:lumMod val="50000"/>
                  </a:schemeClr>
                </a:solidFill>
                <a:latin typeface="Meiryo UI" panose="020B0604030504040204" pitchFamily="50" charset="-128"/>
                <a:ea typeface="Meiryo UI" panose="020B0604030504040204" pitchFamily="50" charset="-128"/>
              </a:rPr>
              <a:t>人の作業時間：</a:t>
            </a:r>
            <a:r>
              <a:rPr lang="en-US" altLang="ja-JP" sz="800" b="1" dirty="0">
                <a:solidFill>
                  <a:schemeClr val="bg2">
                    <a:lumMod val="50000"/>
                  </a:schemeClr>
                </a:solidFill>
                <a:latin typeface="Meiryo UI" panose="020B0604030504040204" pitchFamily="50" charset="-128"/>
                <a:ea typeface="Meiryo UI" panose="020B0604030504040204" pitchFamily="50" charset="-128"/>
              </a:rPr>
              <a:t>2</a:t>
            </a:r>
            <a:r>
              <a:rPr lang="ja-JP" altLang="en-US" sz="800" b="1" dirty="0">
                <a:solidFill>
                  <a:schemeClr val="bg2">
                    <a:lumMod val="50000"/>
                  </a:schemeClr>
                </a:solidFill>
                <a:latin typeface="Meiryo UI" panose="020B0604030504040204" pitchFamily="50" charset="-128"/>
                <a:ea typeface="Meiryo UI" panose="020B0604030504040204" pitchFamily="50" charset="-128"/>
              </a:rPr>
              <a:t>～</a:t>
            </a:r>
            <a:r>
              <a:rPr lang="en-US" altLang="ja-JP" sz="800" b="1" dirty="0">
                <a:solidFill>
                  <a:schemeClr val="bg2">
                    <a:lumMod val="50000"/>
                  </a:schemeClr>
                </a:solidFill>
                <a:latin typeface="Meiryo UI" panose="020B0604030504040204" pitchFamily="50" charset="-128"/>
                <a:ea typeface="Meiryo UI" panose="020B0604030504040204" pitchFamily="50" charset="-128"/>
              </a:rPr>
              <a:t>3</a:t>
            </a:r>
            <a:r>
              <a:rPr lang="ja-JP" altLang="en-US" sz="800" b="1" dirty="0">
                <a:solidFill>
                  <a:schemeClr val="bg2">
                    <a:lumMod val="50000"/>
                  </a:schemeClr>
                </a:solidFill>
                <a:latin typeface="Meiryo UI" panose="020B0604030504040204" pitchFamily="50" charset="-128"/>
                <a:ea typeface="Meiryo UI" panose="020B0604030504040204" pitchFamily="50" charset="-128"/>
              </a:rPr>
              <a:t>分程度</a:t>
            </a:r>
            <a:r>
              <a:rPr lang="en-US" altLang="ja-JP" sz="800" b="1" dirty="0">
                <a:solidFill>
                  <a:schemeClr val="bg2">
                    <a:lumMod val="50000"/>
                  </a:schemeClr>
                </a:solidFill>
                <a:latin typeface="Meiryo UI" panose="020B0604030504040204" pitchFamily="50" charset="-128"/>
                <a:ea typeface="Meiryo UI" panose="020B0604030504040204" pitchFamily="50" charset="-128"/>
              </a:rPr>
              <a:t>/1</a:t>
            </a:r>
            <a:r>
              <a:rPr lang="ja-JP" altLang="en-US" sz="800" b="1" dirty="0">
                <a:solidFill>
                  <a:schemeClr val="bg2">
                    <a:lumMod val="50000"/>
                  </a:schemeClr>
                </a:solidFill>
                <a:latin typeface="Meiryo UI" panose="020B0604030504040204" pitchFamily="50" charset="-128"/>
                <a:ea typeface="Meiryo UI" panose="020B0604030504040204" pitchFamily="50" charset="-128"/>
              </a:rPr>
              <a:t>件</a:t>
            </a:r>
          </a:p>
        </p:txBody>
      </p:sp>
      <p:sp>
        <p:nvSpPr>
          <p:cNvPr id="86" name="正方形/長方形 85">
            <a:extLst>
              <a:ext uri="{FF2B5EF4-FFF2-40B4-BE49-F238E27FC236}">
                <a16:creationId xmlns:a16="http://schemas.microsoft.com/office/drawing/2014/main" id="{5BEB165B-5299-2D68-A515-2B01BAF6EC33}"/>
              </a:ext>
            </a:extLst>
          </p:cNvPr>
          <p:cNvSpPr/>
          <p:nvPr/>
        </p:nvSpPr>
        <p:spPr bwMode="auto">
          <a:xfrm>
            <a:off x="8928339" y="5064525"/>
            <a:ext cx="1334496"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請求書提出データシート更新</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&lt;</a:t>
            </a:r>
            <a:r>
              <a:rPr lang="en-US" altLang="ja-JP" sz="800" dirty="0" err="1">
                <a:solidFill>
                  <a:schemeClr val="bg2">
                    <a:lumMod val="50000"/>
                  </a:schemeClr>
                </a:solidFill>
                <a:latin typeface="Meiryo UI" panose="020B0604030504040204" pitchFamily="50" charset="-128"/>
                <a:ea typeface="Meiryo UI" panose="020B0604030504040204" pitchFamily="50" charset="-128"/>
              </a:rPr>
              <a:t>SpreadSheet</a:t>
            </a:r>
            <a:r>
              <a:rPr lang="en-US" altLang="ja-JP" sz="800" dirty="0">
                <a:solidFill>
                  <a:schemeClr val="bg2">
                    <a:lumMod val="50000"/>
                  </a:schemeClr>
                </a:solidFill>
                <a:latin typeface="Meiryo UI" panose="020B0604030504040204" pitchFamily="50" charset="-128"/>
                <a:ea typeface="Meiryo UI" panose="020B0604030504040204" pitchFamily="50" charset="-128"/>
              </a:rPr>
              <a:t>&gt;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88" name="矢印: 左右 87">
            <a:extLst>
              <a:ext uri="{FF2B5EF4-FFF2-40B4-BE49-F238E27FC236}">
                <a16:creationId xmlns:a16="http://schemas.microsoft.com/office/drawing/2014/main" id="{F0302AB8-4D65-C2FB-27E6-58D4E6CDF4A9}"/>
              </a:ext>
            </a:extLst>
          </p:cNvPr>
          <p:cNvSpPr/>
          <p:nvPr/>
        </p:nvSpPr>
        <p:spPr>
          <a:xfrm>
            <a:off x="8618393" y="1596442"/>
            <a:ext cx="3397568"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システム処理時間：</a:t>
            </a:r>
            <a:r>
              <a:rPr lang="en-US" altLang="ja-JP" sz="800" dirty="0">
                <a:solidFill>
                  <a:schemeClr val="bg2">
                    <a:lumMod val="50000"/>
                  </a:schemeClr>
                </a:solidFill>
                <a:latin typeface="Meiryo UI" panose="020B0604030504040204" pitchFamily="50" charset="-128"/>
                <a:ea typeface="Meiryo UI" panose="020B0604030504040204" pitchFamily="50" charset="-128"/>
              </a:rPr>
              <a:t>1</a:t>
            </a:r>
            <a:r>
              <a:rPr lang="ja-JP" altLang="en-US" sz="800" dirty="0">
                <a:solidFill>
                  <a:schemeClr val="bg2">
                    <a:lumMod val="50000"/>
                  </a:schemeClr>
                </a:solidFill>
                <a:latin typeface="Meiryo UI" panose="020B0604030504040204" pitchFamily="50" charset="-128"/>
                <a:ea typeface="Meiryo UI" panose="020B0604030504040204" pitchFamily="50" charset="-128"/>
              </a:rPr>
              <a:t>～</a:t>
            </a:r>
            <a:r>
              <a:rPr lang="en-US" altLang="ja-JP" sz="800" dirty="0">
                <a:solidFill>
                  <a:schemeClr val="bg2">
                    <a:lumMod val="50000"/>
                  </a:schemeClr>
                </a:solidFill>
                <a:latin typeface="Meiryo UI" panose="020B0604030504040204" pitchFamily="50" charset="-128"/>
                <a:ea typeface="Meiryo UI" panose="020B0604030504040204" pitchFamily="50" charset="-128"/>
              </a:rPr>
              <a:t>3</a:t>
            </a:r>
            <a:r>
              <a:rPr lang="ja-JP" altLang="en-US" sz="800" dirty="0">
                <a:solidFill>
                  <a:schemeClr val="bg2">
                    <a:lumMod val="50000"/>
                  </a:schemeClr>
                </a:solidFill>
                <a:latin typeface="Meiryo UI" panose="020B0604030504040204" pitchFamily="50" charset="-128"/>
                <a:ea typeface="Meiryo UI" panose="020B0604030504040204" pitchFamily="50" charset="-128"/>
              </a:rPr>
              <a:t>分程度</a:t>
            </a:r>
            <a:r>
              <a:rPr lang="en-US" altLang="ja-JP" sz="800" dirty="0">
                <a:solidFill>
                  <a:schemeClr val="bg2">
                    <a:lumMod val="50000"/>
                  </a:schemeClr>
                </a:solidFill>
                <a:latin typeface="Meiryo UI" panose="020B0604030504040204" pitchFamily="50" charset="-128"/>
                <a:ea typeface="Meiryo UI" panose="020B0604030504040204" pitchFamily="50" charset="-128"/>
              </a:rPr>
              <a:t>/1</a:t>
            </a:r>
            <a:r>
              <a:rPr lang="ja-JP" altLang="en-US" sz="800" dirty="0">
                <a:solidFill>
                  <a:schemeClr val="bg2">
                    <a:lumMod val="50000"/>
                  </a:schemeClr>
                </a:solidFill>
                <a:latin typeface="Meiryo UI" panose="020B0604030504040204" pitchFamily="50" charset="-128"/>
                <a:ea typeface="Meiryo UI" panose="020B0604030504040204" pitchFamily="50" charset="-128"/>
              </a:rPr>
              <a:t>件？？？</a:t>
            </a:r>
          </a:p>
        </p:txBody>
      </p:sp>
      <p:sp>
        <p:nvSpPr>
          <p:cNvPr id="89" name="テキスト ボックス 88">
            <a:extLst>
              <a:ext uri="{FF2B5EF4-FFF2-40B4-BE49-F238E27FC236}">
                <a16:creationId xmlns:a16="http://schemas.microsoft.com/office/drawing/2014/main" id="{7AD7D000-1BF3-2EA5-B347-2FFA27562590}"/>
              </a:ext>
            </a:extLst>
          </p:cNvPr>
          <p:cNvSpPr txBox="1"/>
          <p:nvPr/>
        </p:nvSpPr>
        <p:spPr>
          <a:xfrm>
            <a:off x="1405798" y="4714016"/>
            <a:ext cx="682453" cy="186532"/>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参照</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90" name="テキスト ボックス 89">
            <a:extLst>
              <a:ext uri="{FF2B5EF4-FFF2-40B4-BE49-F238E27FC236}">
                <a16:creationId xmlns:a16="http://schemas.microsoft.com/office/drawing/2014/main" id="{704834B5-DA04-77AC-6F86-2C01E803EA69}"/>
              </a:ext>
            </a:extLst>
          </p:cNvPr>
          <p:cNvSpPr txBox="1"/>
          <p:nvPr/>
        </p:nvSpPr>
        <p:spPr>
          <a:xfrm>
            <a:off x="2821745" y="4714016"/>
            <a:ext cx="682453" cy="169575"/>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ダウンロード</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91" name="フローチャート : 書類 22">
            <a:extLst>
              <a:ext uri="{FF2B5EF4-FFF2-40B4-BE49-F238E27FC236}">
                <a16:creationId xmlns:a16="http://schemas.microsoft.com/office/drawing/2014/main" id="{BC4DDE49-1E2E-5E55-7120-BBEE816191F5}"/>
              </a:ext>
            </a:extLst>
          </p:cNvPr>
          <p:cNvSpPr/>
          <p:nvPr/>
        </p:nvSpPr>
        <p:spPr>
          <a:xfrm>
            <a:off x="1936078" y="5459674"/>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600" dirty="0">
                <a:solidFill>
                  <a:schemeClr val="tx1"/>
                </a:solidFill>
                <a:latin typeface="Meiryo UI" panose="020B0604030504040204" pitchFamily="50" charset="-128"/>
                <a:ea typeface="Meiryo UI" panose="020B0604030504040204" pitchFamily="50" charset="-128"/>
              </a:rPr>
              <a:t>送付書</a:t>
            </a:r>
          </a:p>
        </p:txBody>
      </p:sp>
      <p:sp>
        <p:nvSpPr>
          <p:cNvPr id="92" name="フローチャート : 書類 22">
            <a:extLst>
              <a:ext uri="{FF2B5EF4-FFF2-40B4-BE49-F238E27FC236}">
                <a16:creationId xmlns:a16="http://schemas.microsoft.com/office/drawing/2014/main" id="{A46B0641-7597-B1C5-B507-197F5D6FCD84}"/>
              </a:ext>
            </a:extLst>
          </p:cNvPr>
          <p:cNvSpPr/>
          <p:nvPr/>
        </p:nvSpPr>
        <p:spPr>
          <a:xfrm>
            <a:off x="1901844" y="5428114"/>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p>
        </p:txBody>
      </p:sp>
      <p:sp>
        <p:nvSpPr>
          <p:cNvPr id="93" name="テキスト ボックス 92">
            <a:extLst>
              <a:ext uri="{FF2B5EF4-FFF2-40B4-BE49-F238E27FC236}">
                <a16:creationId xmlns:a16="http://schemas.microsoft.com/office/drawing/2014/main" id="{E5DD62C2-2886-0F00-92EA-CF8C690D55E4}"/>
              </a:ext>
            </a:extLst>
          </p:cNvPr>
          <p:cNvSpPr txBox="1"/>
          <p:nvPr/>
        </p:nvSpPr>
        <p:spPr>
          <a:xfrm>
            <a:off x="5293875" y="4714016"/>
            <a:ext cx="682453" cy="186532"/>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参照</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95" name="テキスト ボックス 94">
            <a:extLst>
              <a:ext uri="{FF2B5EF4-FFF2-40B4-BE49-F238E27FC236}">
                <a16:creationId xmlns:a16="http://schemas.microsoft.com/office/drawing/2014/main" id="{86535EC1-4607-B4F9-BD0D-A23744691035}"/>
              </a:ext>
            </a:extLst>
          </p:cNvPr>
          <p:cNvSpPr txBox="1"/>
          <p:nvPr/>
        </p:nvSpPr>
        <p:spPr>
          <a:xfrm>
            <a:off x="6522275" y="4714016"/>
            <a:ext cx="682453" cy="186532"/>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参照</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grpSp>
        <p:nvGrpSpPr>
          <p:cNvPr id="96" name="グループ化 95">
            <a:extLst>
              <a:ext uri="{FF2B5EF4-FFF2-40B4-BE49-F238E27FC236}">
                <a16:creationId xmlns:a16="http://schemas.microsoft.com/office/drawing/2014/main" id="{544A54C6-EF6C-87DF-31B4-F81BD1CFA3F7}"/>
              </a:ext>
            </a:extLst>
          </p:cNvPr>
          <p:cNvGrpSpPr/>
          <p:nvPr/>
        </p:nvGrpSpPr>
        <p:grpSpPr>
          <a:xfrm>
            <a:off x="6898945" y="4207761"/>
            <a:ext cx="580936" cy="580936"/>
            <a:chOff x="3045064" y="4118673"/>
            <a:chExt cx="580936" cy="580936"/>
          </a:xfrm>
        </p:grpSpPr>
        <p:pic>
          <p:nvPicPr>
            <p:cNvPr id="97" name="グラフィックス 96" descr="フォルダー">
              <a:extLst>
                <a:ext uri="{FF2B5EF4-FFF2-40B4-BE49-F238E27FC236}">
                  <a16:creationId xmlns:a16="http://schemas.microsoft.com/office/drawing/2014/main" id="{6463D451-2258-4A18-8249-00165EFF01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5064" y="4118673"/>
              <a:ext cx="580936" cy="580936"/>
            </a:xfrm>
            <a:prstGeom prst="rect">
              <a:avLst/>
            </a:prstGeom>
          </p:spPr>
        </p:pic>
        <p:sp>
          <p:nvSpPr>
            <p:cNvPr id="99" name="フローチャート : 書類 22">
              <a:extLst>
                <a:ext uri="{FF2B5EF4-FFF2-40B4-BE49-F238E27FC236}">
                  <a16:creationId xmlns:a16="http://schemas.microsoft.com/office/drawing/2014/main" id="{2E6EE82B-400C-CDA0-F997-EFB953ADDAD5}"/>
                </a:ext>
              </a:extLst>
            </p:cNvPr>
            <p:cNvSpPr/>
            <p:nvPr/>
          </p:nvSpPr>
          <p:spPr>
            <a:xfrm>
              <a:off x="3149126" y="4288071"/>
              <a:ext cx="372813" cy="2675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共有</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ja-JP" altLang="en-US" sz="800" dirty="0">
                  <a:solidFill>
                    <a:schemeClr val="bg2">
                      <a:lumMod val="50000"/>
                    </a:schemeClr>
                  </a:solidFill>
                  <a:latin typeface="Meiryo UI" panose="020B0604030504040204" pitchFamily="50" charset="-128"/>
                  <a:ea typeface="Meiryo UI" panose="020B0604030504040204" pitchFamily="50" charset="-128"/>
                </a:rPr>
                <a:t>フォルダ</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grpSp>
      <p:sp>
        <p:nvSpPr>
          <p:cNvPr id="109" name="テキスト ボックス 108">
            <a:extLst>
              <a:ext uri="{FF2B5EF4-FFF2-40B4-BE49-F238E27FC236}">
                <a16:creationId xmlns:a16="http://schemas.microsoft.com/office/drawing/2014/main" id="{E7CD8F06-BBD9-3686-517C-3D6E26EE3312}"/>
              </a:ext>
            </a:extLst>
          </p:cNvPr>
          <p:cNvSpPr txBox="1"/>
          <p:nvPr/>
        </p:nvSpPr>
        <p:spPr>
          <a:xfrm>
            <a:off x="7811464" y="4714016"/>
            <a:ext cx="682453" cy="186532"/>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参照</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12" name="テキスト ボックス 111">
            <a:extLst>
              <a:ext uri="{FF2B5EF4-FFF2-40B4-BE49-F238E27FC236}">
                <a16:creationId xmlns:a16="http://schemas.microsoft.com/office/drawing/2014/main" id="{005277F8-582D-2141-7A67-63B6DDB0B90D}"/>
              </a:ext>
            </a:extLst>
          </p:cNvPr>
          <p:cNvSpPr txBox="1"/>
          <p:nvPr/>
        </p:nvSpPr>
        <p:spPr>
          <a:xfrm>
            <a:off x="8438654" y="4714016"/>
            <a:ext cx="682453" cy="186532"/>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書込</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13" name="円/楕円 9">
            <a:extLst>
              <a:ext uri="{FF2B5EF4-FFF2-40B4-BE49-F238E27FC236}">
                <a16:creationId xmlns:a16="http://schemas.microsoft.com/office/drawing/2014/main" id="{60A9A597-1697-BE64-0AFB-AD65125A6092}"/>
              </a:ext>
            </a:extLst>
          </p:cNvPr>
          <p:cNvSpPr/>
          <p:nvPr/>
        </p:nvSpPr>
        <p:spPr>
          <a:xfrm>
            <a:off x="8600312" y="5903202"/>
            <a:ext cx="153559" cy="160253"/>
          </a:xfrm>
          <a:prstGeom prst="ellipse">
            <a:avLst/>
          </a:prstGeom>
          <a:solidFill>
            <a:schemeClr val="bg1">
              <a:lumMod val="50000"/>
            </a:schemeClr>
          </a:solidFill>
          <a:ln w="6350">
            <a:noFill/>
          </a:ln>
        </p:spPr>
        <p:style>
          <a:lnRef idx="2">
            <a:schemeClr val="dk1"/>
          </a:lnRef>
          <a:fillRef idx="1">
            <a:schemeClr val="lt1"/>
          </a:fillRef>
          <a:effectRef idx="0">
            <a:schemeClr val="dk1"/>
          </a:effectRef>
          <a:fontRef idx="minor">
            <a:schemeClr val="dk1"/>
          </a:fontRef>
        </p:style>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ja-JP" altLang="en-US" sz="1050">
              <a:latin typeface="Meiryo UI" panose="020B0604030504040204" pitchFamily="50" charset="-128"/>
              <a:ea typeface="Meiryo UI" panose="020B0604030504040204" pitchFamily="50" charset="-128"/>
            </a:endParaRPr>
          </a:p>
        </p:txBody>
      </p:sp>
      <p:sp>
        <p:nvSpPr>
          <p:cNvPr id="114" name="テキスト ボックス 113">
            <a:extLst>
              <a:ext uri="{FF2B5EF4-FFF2-40B4-BE49-F238E27FC236}">
                <a16:creationId xmlns:a16="http://schemas.microsoft.com/office/drawing/2014/main" id="{D758D4CE-2A02-6BBA-6DED-4B1E6C40ED10}"/>
              </a:ext>
            </a:extLst>
          </p:cNvPr>
          <p:cNvSpPr txBox="1"/>
          <p:nvPr/>
        </p:nvSpPr>
        <p:spPr>
          <a:xfrm>
            <a:off x="8413210" y="6094296"/>
            <a:ext cx="527762" cy="18653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定期実行</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cxnSp>
        <p:nvCxnSpPr>
          <p:cNvPr id="116" name="コネクタ: カギ線 5">
            <a:extLst>
              <a:ext uri="{FF2B5EF4-FFF2-40B4-BE49-F238E27FC236}">
                <a16:creationId xmlns:a16="http://schemas.microsoft.com/office/drawing/2014/main" id="{B70B0966-753C-5355-0C04-EE3E1CC813FD}"/>
              </a:ext>
            </a:extLst>
          </p:cNvPr>
          <p:cNvCxnSpPr>
            <a:cxnSpLocks/>
            <a:stCxn id="113" idx="6"/>
            <a:endCxn id="118" idx="1"/>
          </p:cNvCxnSpPr>
          <p:nvPr/>
        </p:nvCxnSpPr>
        <p:spPr>
          <a:xfrm>
            <a:off x="8753871" y="5983329"/>
            <a:ext cx="174468"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8" name="正方形/長方形 117">
            <a:extLst>
              <a:ext uri="{FF2B5EF4-FFF2-40B4-BE49-F238E27FC236}">
                <a16:creationId xmlns:a16="http://schemas.microsoft.com/office/drawing/2014/main" id="{5F326911-F3D2-2097-9A3B-E7778489F25F}"/>
              </a:ext>
            </a:extLst>
          </p:cNvPr>
          <p:cNvSpPr/>
          <p:nvPr/>
        </p:nvSpPr>
        <p:spPr bwMode="auto">
          <a:xfrm>
            <a:off x="8928339" y="5807702"/>
            <a:ext cx="1334496"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シートデータ加工処理</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&lt;</a:t>
            </a:r>
            <a:r>
              <a:rPr lang="en-US" altLang="ja-JP" sz="800" dirty="0" err="1">
                <a:solidFill>
                  <a:schemeClr val="bg2">
                    <a:lumMod val="50000"/>
                  </a:schemeClr>
                </a:solidFill>
                <a:latin typeface="Meiryo UI" panose="020B0604030504040204" pitchFamily="50" charset="-128"/>
                <a:ea typeface="Meiryo UI" panose="020B0604030504040204" pitchFamily="50" charset="-128"/>
              </a:rPr>
              <a:t>GoogleAppScript</a:t>
            </a:r>
            <a:r>
              <a:rPr lang="en-US" altLang="ja-JP" sz="800" dirty="0">
                <a:solidFill>
                  <a:schemeClr val="bg2">
                    <a:lumMod val="50000"/>
                  </a:schemeClr>
                </a:solidFill>
                <a:latin typeface="Meiryo UI" panose="020B0604030504040204" pitchFamily="50" charset="-128"/>
                <a:ea typeface="Meiryo UI" panose="020B0604030504040204" pitchFamily="50" charset="-128"/>
              </a:rPr>
              <a:t>&gt;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cxnSp>
        <p:nvCxnSpPr>
          <p:cNvPr id="119" name="直線矢印コネクタ 118">
            <a:extLst>
              <a:ext uri="{FF2B5EF4-FFF2-40B4-BE49-F238E27FC236}">
                <a16:creationId xmlns:a16="http://schemas.microsoft.com/office/drawing/2014/main" id="{B9B23990-4A3D-65BD-C0D4-B5341BA6FE7F}"/>
              </a:ext>
            </a:extLst>
          </p:cNvPr>
          <p:cNvCxnSpPr>
            <a:cxnSpLocks/>
            <a:stCxn id="118" idx="0"/>
            <a:endCxn id="86" idx="2"/>
          </p:cNvCxnSpPr>
          <p:nvPr/>
        </p:nvCxnSpPr>
        <p:spPr>
          <a:xfrm flipV="1">
            <a:off x="9595587" y="5415778"/>
            <a:ext cx="0" cy="391924"/>
          </a:xfrm>
          <a:prstGeom prst="straightConnector1">
            <a:avLst/>
          </a:prstGeom>
          <a:ln w="6350">
            <a:solidFill>
              <a:schemeClr val="bg1">
                <a:lumMod val="50000"/>
              </a:schemeClr>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122" name="楕円 121">
            <a:extLst>
              <a:ext uri="{FF2B5EF4-FFF2-40B4-BE49-F238E27FC236}">
                <a16:creationId xmlns:a16="http://schemas.microsoft.com/office/drawing/2014/main" id="{EF7E561D-9E1B-D048-6907-EF4707B5B0ED}"/>
              </a:ext>
            </a:extLst>
          </p:cNvPr>
          <p:cNvSpPr/>
          <p:nvPr/>
        </p:nvSpPr>
        <p:spPr>
          <a:xfrm>
            <a:off x="11949971" y="5147605"/>
            <a:ext cx="185094" cy="185094"/>
          </a:xfrm>
          <a:prstGeom prst="ellipse">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1</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cxnSp>
        <p:nvCxnSpPr>
          <p:cNvPr id="127" name="直線矢印コネクタ 137">
            <a:extLst>
              <a:ext uri="{FF2B5EF4-FFF2-40B4-BE49-F238E27FC236}">
                <a16:creationId xmlns:a16="http://schemas.microsoft.com/office/drawing/2014/main" id="{CE9E7863-6377-E8AA-5A9A-D6101AA5B32D}"/>
              </a:ext>
            </a:extLst>
          </p:cNvPr>
          <p:cNvCxnSpPr>
            <a:cxnSpLocks/>
            <a:stCxn id="118" idx="3"/>
            <a:endCxn id="4" idx="2"/>
          </p:cNvCxnSpPr>
          <p:nvPr/>
        </p:nvCxnSpPr>
        <p:spPr>
          <a:xfrm flipV="1">
            <a:off x="10262835" y="5501268"/>
            <a:ext cx="820834" cy="482061"/>
          </a:xfrm>
          <a:prstGeom prst="bentConnector2">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8" name="テキスト ボックス 127">
            <a:extLst>
              <a:ext uri="{FF2B5EF4-FFF2-40B4-BE49-F238E27FC236}">
                <a16:creationId xmlns:a16="http://schemas.microsoft.com/office/drawing/2014/main" id="{CF25FCA1-4B91-0161-09B1-19397052C71E}"/>
              </a:ext>
            </a:extLst>
          </p:cNvPr>
          <p:cNvSpPr txBox="1"/>
          <p:nvPr/>
        </p:nvSpPr>
        <p:spPr>
          <a:xfrm>
            <a:off x="10675657" y="5647315"/>
            <a:ext cx="825768" cy="262068"/>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加工・更新</a:t>
            </a:r>
            <a:br>
              <a:rPr lang="en-US" altLang="ja-JP" sz="800" dirty="0">
                <a:solidFill>
                  <a:schemeClr val="bg2">
                    <a:lumMod val="50000"/>
                  </a:schemeClr>
                </a:solidFill>
                <a:latin typeface="Meiryo UI" panose="020B0604030504040204" pitchFamily="50" charset="-128"/>
                <a:ea typeface="Meiryo UI" panose="020B0604030504040204" pitchFamily="50" charset="-128"/>
              </a:rPr>
            </a:br>
            <a:r>
              <a:rPr lang="en-US" altLang="ja-JP" sz="800" dirty="0">
                <a:solidFill>
                  <a:schemeClr val="bg2">
                    <a:lumMod val="50000"/>
                  </a:schemeClr>
                </a:solidFill>
                <a:latin typeface="Meiryo UI" panose="020B0604030504040204" pitchFamily="50" charset="-128"/>
                <a:ea typeface="Meiryo UI" panose="020B0604030504040204" pitchFamily="50" charset="-128"/>
              </a:rPr>
              <a:t>※</a:t>
            </a:r>
            <a:r>
              <a:rPr lang="ja-JP" altLang="en-US" sz="800" dirty="0">
                <a:solidFill>
                  <a:schemeClr val="bg2">
                    <a:lumMod val="50000"/>
                  </a:schemeClr>
                </a:solidFill>
                <a:latin typeface="Meiryo UI" panose="020B0604030504040204" pitchFamily="50" charset="-128"/>
                <a:ea typeface="Meiryo UI" panose="020B0604030504040204" pitchFamily="50" charset="-128"/>
              </a:rPr>
              <a:t>複数</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29" name="テキスト ボックス 128">
            <a:extLst>
              <a:ext uri="{FF2B5EF4-FFF2-40B4-BE49-F238E27FC236}">
                <a16:creationId xmlns:a16="http://schemas.microsoft.com/office/drawing/2014/main" id="{10EFC700-0A46-0C13-4A06-9ED4C0A355CA}"/>
              </a:ext>
            </a:extLst>
          </p:cNvPr>
          <p:cNvSpPr txBox="1"/>
          <p:nvPr/>
        </p:nvSpPr>
        <p:spPr>
          <a:xfrm>
            <a:off x="9258264" y="5503303"/>
            <a:ext cx="682453" cy="154159"/>
          </a:xfrm>
          <a:prstGeom prst="rect">
            <a:avLst/>
          </a:prstGeom>
          <a:solidFill>
            <a:schemeClr val="bg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参照</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30" name="正方形/長方形 129">
            <a:extLst>
              <a:ext uri="{FF2B5EF4-FFF2-40B4-BE49-F238E27FC236}">
                <a16:creationId xmlns:a16="http://schemas.microsoft.com/office/drawing/2014/main" id="{8B216BBE-1892-0381-630A-6B72BDA79765}"/>
              </a:ext>
            </a:extLst>
          </p:cNvPr>
          <p:cNvSpPr/>
          <p:nvPr/>
        </p:nvSpPr>
        <p:spPr bwMode="auto">
          <a:xfrm>
            <a:off x="10376413" y="5107270"/>
            <a:ext cx="1334496"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548B6EA2-86BE-2C0D-7BDB-31E3155BC1BF}"/>
              </a:ext>
            </a:extLst>
          </p:cNvPr>
          <p:cNvSpPr/>
          <p:nvPr/>
        </p:nvSpPr>
        <p:spPr bwMode="auto">
          <a:xfrm>
            <a:off x="10336405" y="5064525"/>
            <a:ext cx="1334496"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支払依頼</a:t>
            </a:r>
            <a:r>
              <a:rPr lang="en-US" altLang="ja-JP" sz="800" dirty="0">
                <a:solidFill>
                  <a:schemeClr val="bg2">
                    <a:lumMod val="50000"/>
                  </a:schemeClr>
                </a:solidFill>
                <a:latin typeface="Meiryo UI" panose="020B0604030504040204" pitchFamily="50" charset="-128"/>
                <a:ea typeface="Meiryo UI" panose="020B0604030504040204" pitchFamily="50" charset="-128"/>
              </a:rPr>
              <a:t>WS</a:t>
            </a:r>
            <a:r>
              <a:rPr lang="ja-JP" altLang="en-US" sz="800" dirty="0">
                <a:solidFill>
                  <a:schemeClr val="bg2">
                    <a:lumMod val="50000"/>
                  </a:schemeClr>
                </a:solidFill>
                <a:latin typeface="Meiryo UI" panose="020B0604030504040204" pitchFamily="50" charset="-128"/>
                <a:ea typeface="Meiryo UI" panose="020B0604030504040204" pitchFamily="50" charset="-128"/>
              </a:rPr>
              <a:t>更新</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a:p>
            <a:pPr algn="ctr"/>
            <a:r>
              <a:rPr lang="en-US" altLang="ja-JP" sz="800" dirty="0">
                <a:solidFill>
                  <a:schemeClr val="bg2">
                    <a:lumMod val="50000"/>
                  </a:schemeClr>
                </a:solidFill>
                <a:latin typeface="Meiryo UI" panose="020B0604030504040204" pitchFamily="50" charset="-128"/>
                <a:ea typeface="Meiryo UI" panose="020B0604030504040204" pitchFamily="50" charset="-128"/>
              </a:rPr>
              <a:t>&lt;</a:t>
            </a:r>
            <a:r>
              <a:rPr lang="en-US" altLang="ja-JP" sz="800" dirty="0" err="1">
                <a:solidFill>
                  <a:schemeClr val="bg2">
                    <a:lumMod val="50000"/>
                  </a:schemeClr>
                </a:solidFill>
                <a:latin typeface="Meiryo UI" panose="020B0604030504040204" pitchFamily="50" charset="-128"/>
                <a:ea typeface="Meiryo UI" panose="020B0604030504040204" pitchFamily="50" charset="-128"/>
              </a:rPr>
              <a:t>SpreadSheet</a:t>
            </a:r>
            <a:r>
              <a:rPr lang="en-US" altLang="ja-JP" sz="800" dirty="0">
                <a:solidFill>
                  <a:schemeClr val="bg2">
                    <a:lumMod val="50000"/>
                  </a:schemeClr>
                </a:solidFill>
                <a:latin typeface="Meiryo UI" panose="020B0604030504040204" pitchFamily="50" charset="-128"/>
                <a:ea typeface="Meiryo UI" panose="020B0604030504040204" pitchFamily="50" charset="-128"/>
              </a:rPr>
              <a:t>&gt;</a:t>
            </a:r>
            <a:endParaRPr lang="ja-JP" altLang="en-US" sz="800" dirty="0">
              <a:solidFill>
                <a:schemeClr val="bg2">
                  <a:lumMod val="50000"/>
                </a:schemeClr>
              </a:solidFill>
              <a:latin typeface="Meiryo UI" panose="020B0604030504040204" pitchFamily="50" charset="-128"/>
              <a:ea typeface="Meiryo UI" panose="020B0604030504040204" pitchFamily="50" charset="-128"/>
            </a:endParaRPr>
          </a:p>
        </p:txBody>
      </p:sp>
      <p:sp>
        <p:nvSpPr>
          <p:cNvPr id="133" name="フローチャート : 書類 22">
            <a:extLst>
              <a:ext uri="{FF2B5EF4-FFF2-40B4-BE49-F238E27FC236}">
                <a16:creationId xmlns:a16="http://schemas.microsoft.com/office/drawing/2014/main" id="{E4024229-00F7-DC73-FD3A-C048FA949306}"/>
              </a:ext>
            </a:extLst>
          </p:cNvPr>
          <p:cNvSpPr/>
          <p:nvPr/>
        </p:nvSpPr>
        <p:spPr>
          <a:xfrm>
            <a:off x="10495918" y="6157525"/>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請求書</a:t>
            </a:r>
          </a:p>
        </p:txBody>
      </p:sp>
      <p:cxnSp>
        <p:nvCxnSpPr>
          <p:cNvPr id="135" name="直線矢印コネクタ 134">
            <a:extLst>
              <a:ext uri="{FF2B5EF4-FFF2-40B4-BE49-F238E27FC236}">
                <a16:creationId xmlns:a16="http://schemas.microsoft.com/office/drawing/2014/main" id="{880399E5-B506-9FE0-6680-CDD77598C275}"/>
              </a:ext>
            </a:extLst>
          </p:cNvPr>
          <p:cNvCxnSpPr>
            <a:cxnSpLocks/>
          </p:cNvCxnSpPr>
          <p:nvPr/>
        </p:nvCxnSpPr>
        <p:spPr>
          <a:xfrm>
            <a:off x="10268782" y="6063455"/>
            <a:ext cx="1023039" cy="0"/>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6" name="フローチャート : 書類 22">
            <a:extLst>
              <a:ext uri="{FF2B5EF4-FFF2-40B4-BE49-F238E27FC236}">
                <a16:creationId xmlns:a16="http://schemas.microsoft.com/office/drawing/2014/main" id="{1FE19A98-A2D3-5726-35E0-78D8E2B4F2D0}"/>
              </a:ext>
            </a:extLst>
          </p:cNvPr>
          <p:cNvSpPr/>
          <p:nvPr/>
        </p:nvSpPr>
        <p:spPr>
          <a:xfrm>
            <a:off x="10897262" y="6158955"/>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見積書</a:t>
            </a:r>
          </a:p>
        </p:txBody>
      </p:sp>
      <p:grpSp>
        <p:nvGrpSpPr>
          <p:cNvPr id="137" name="グループ化 136">
            <a:extLst>
              <a:ext uri="{FF2B5EF4-FFF2-40B4-BE49-F238E27FC236}">
                <a16:creationId xmlns:a16="http://schemas.microsoft.com/office/drawing/2014/main" id="{74DE4AFF-7EF0-5F5F-71B0-C2A6B1957265}"/>
              </a:ext>
            </a:extLst>
          </p:cNvPr>
          <p:cNvGrpSpPr/>
          <p:nvPr/>
        </p:nvGrpSpPr>
        <p:grpSpPr>
          <a:xfrm>
            <a:off x="11239798" y="5836130"/>
            <a:ext cx="580936" cy="580936"/>
            <a:chOff x="3045064" y="4118673"/>
            <a:chExt cx="580936" cy="580936"/>
          </a:xfrm>
        </p:grpSpPr>
        <p:pic>
          <p:nvPicPr>
            <p:cNvPr id="140" name="グラフィックス 139" descr="フォルダー">
              <a:extLst>
                <a:ext uri="{FF2B5EF4-FFF2-40B4-BE49-F238E27FC236}">
                  <a16:creationId xmlns:a16="http://schemas.microsoft.com/office/drawing/2014/main" id="{B1EA3139-96F7-09F4-A544-F84A9B74C2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5064" y="4118673"/>
              <a:ext cx="580936" cy="580936"/>
            </a:xfrm>
            <a:prstGeom prst="rect">
              <a:avLst/>
            </a:prstGeom>
          </p:spPr>
        </p:pic>
        <p:sp>
          <p:nvSpPr>
            <p:cNvPr id="141" name="フローチャート : 書類 22">
              <a:extLst>
                <a:ext uri="{FF2B5EF4-FFF2-40B4-BE49-F238E27FC236}">
                  <a16:creationId xmlns:a16="http://schemas.microsoft.com/office/drawing/2014/main" id="{C10676AF-A1A2-9450-50B5-4E1A0DA4A361}"/>
                </a:ext>
              </a:extLst>
            </p:cNvPr>
            <p:cNvSpPr/>
            <p:nvPr/>
          </p:nvSpPr>
          <p:spPr>
            <a:xfrm>
              <a:off x="3149126" y="4288071"/>
              <a:ext cx="372813" cy="2675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bg2">
                      <a:lumMod val="50000"/>
                    </a:schemeClr>
                  </a:solidFill>
                  <a:latin typeface="Meiryo UI" panose="020B0604030504040204" pitchFamily="50" charset="-128"/>
                  <a:ea typeface="Meiryo UI" panose="020B0604030504040204" pitchFamily="50" charset="-128"/>
                </a:rPr>
                <a:t>生データ</a:t>
              </a:r>
              <a:endParaRPr lang="en-US" altLang="ja-JP" sz="800" dirty="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144" name="コネクタ: カギ線 5">
            <a:extLst>
              <a:ext uri="{FF2B5EF4-FFF2-40B4-BE49-F238E27FC236}">
                <a16:creationId xmlns:a16="http://schemas.microsoft.com/office/drawing/2014/main" id="{74228574-57CD-9B7D-659E-0C91E8F3E35A}"/>
              </a:ext>
            </a:extLst>
          </p:cNvPr>
          <p:cNvCxnSpPr>
            <a:cxnSpLocks/>
            <a:stCxn id="131" idx="3"/>
            <a:endCxn id="122" idx="2"/>
          </p:cNvCxnSpPr>
          <p:nvPr/>
        </p:nvCxnSpPr>
        <p:spPr>
          <a:xfrm>
            <a:off x="11670901" y="5240152"/>
            <a:ext cx="279070"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1734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5F72-FD58-923A-D68D-9C7C7387F4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B70B7C-2126-465E-1992-0592588D04FF}"/>
              </a:ext>
            </a:extLst>
          </p:cNvPr>
          <p:cNvSpPr>
            <a:spLocks noGrp="1"/>
          </p:cNvSpPr>
          <p:nvPr>
            <p:ph type="title"/>
          </p:nvPr>
        </p:nvSpPr>
        <p:spPr>
          <a:xfrm>
            <a:off x="203200" y="152403"/>
            <a:ext cx="9204569" cy="379413"/>
          </a:xfrm>
        </p:spPr>
        <p:txBody>
          <a:bodyPr anchor="ctr"/>
          <a:lstStyle/>
          <a:p>
            <a:r>
              <a:rPr lang="en-US" altLang="ja-JP" dirty="0"/>
              <a:t>AI</a:t>
            </a:r>
            <a:r>
              <a:rPr lang="ja-JP" altLang="en-US" dirty="0"/>
              <a:t>利活用推進</a:t>
            </a:r>
            <a:r>
              <a:rPr lang="en-US" altLang="ja-JP" dirty="0"/>
              <a:t>G </a:t>
            </a:r>
            <a:r>
              <a:rPr lang="ja-JP" altLang="en-US" dirty="0"/>
              <a:t>プロセスマップ</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696165E1-F94C-F44E-8AF2-F2A996F5919B}"/>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13E48F7C-004A-79E1-07BD-C15F5D062BBD}"/>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XXX</a:t>
            </a:r>
          </a:p>
        </p:txBody>
      </p:sp>
      <p:sp>
        <p:nvSpPr>
          <p:cNvPr id="3" name="正方形/長方形 2">
            <a:extLst>
              <a:ext uri="{FF2B5EF4-FFF2-40B4-BE49-F238E27FC236}">
                <a16:creationId xmlns:a16="http://schemas.microsoft.com/office/drawing/2014/main" id="{2FDE5742-C448-7F62-3A5D-57ED3B540497}"/>
              </a:ext>
            </a:extLst>
          </p:cNvPr>
          <p:cNvSpPr/>
          <p:nvPr/>
        </p:nvSpPr>
        <p:spPr>
          <a:xfrm>
            <a:off x="2297614" y="1208194"/>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企画・案件管理</a:t>
            </a:r>
          </a:p>
        </p:txBody>
      </p:sp>
      <p:sp>
        <p:nvSpPr>
          <p:cNvPr id="7" name="正方形/長方形 6">
            <a:extLst>
              <a:ext uri="{FF2B5EF4-FFF2-40B4-BE49-F238E27FC236}">
                <a16:creationId xmlns:a16="http://schemas.microsoft.com/office/drawing/2014/main" id="{EFD84340-4126-6BC5-7ABA-218098D4B07F}"/>
              </a:ext>
            </a:extLst>
          </p:cNvPr>
          <p:cNvSpPr/>
          <p:nvPr/>
        </p:nvSpPr>
        <p:spPr>
          <a:xfrm>
            <a:off x="6327225"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優先順位付け・承認</a:t>
            </a:r>
          </a:p>
        </p:txBody>
      </p:sp>
      <p:sp>
        <p:nvSpPr>
          <p:cNvPr id="11" name="正方形/長方形 10">
            <a:extLst>
              <a:ext uri="{FF2B5EF4-FFF2-40B4-BE49-F238E27FC236}">
                <a16:creationId xmlns:a16="http://schemas.microsoft.com/office/drawing/2014/main" id="{A652AE46-CB89-B18E-FCF3-59D70AA53C38}"/>
              </a:ext>
            </a:extLst>
          </p:cNvPr>
          <p:cNvSpPr/>
          <p:nvPr/>
        </p:nvSpPr>
        <p:spPr>
          <a:xfrm>
            <a:off x="5029734"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ROI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評価・スコアリング</a:t>
            </a:r>
          </a:p>
        </p:txBody>
      </p:sp>
      <p:sp>
        <p:nvSpPr>
          <p:cNvPr id="27" name="正方形/長方形 26">
            <a:extLst>
              <a:ext uri="{FF2B5EF4-FFF2-40B4-BE49-F238E27FC236}">
                <a16:creationId xmlns:a16="http://schemas.microsoft.com/office/drawing/2014/main" id="{B1B05061-7C6F-8C32-EBD0-EA9B79CEE23A}"/>
              </a:ext>
            </a:extLst>
          </p:cNvPr>
          <p:cNvSpPr/>
          <p:nvPr/>
        </p:nvSpPr>
        <p:spPr>
          <a:xfrm>
            <a:off x="2434752"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案件受付・起案</a:t>
            </a:r>
          </a:p>
        </p:txBody>
      </p:sp>
      <p:sp>
        <p:nvSpPr>
          <p:cNvPr id="29" name="正方形/長方形 28">
            <a:extLst>
              <a:ext uri="{FF2B5EF4-FFF2-40B4-BE49-F238E27FC236}">
                <a16:creationId xmlns:a16="http://schemas.microsoft.com/office/drawing/2014/main" id="{DAE87B26-FB4B-C52E-D2E2-47A01E65C671}"/>
              </a:ext>
            </a:extLst>
          </p:cNvPr>
          <p:cNvSpPr/>
          <p:nvPr/>
        </p:nvSpPr>
        <p:spPr>
          <a:xfrm>
            <a:off x="3732243"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ユースケース整理</a:t>
            </a:r>
          </a:p>
        </p:txBody>
      </p:sp>
      <p:sp>
        <p:nvSpPr>
          <p:cNvPr id="31" name="正方形/長方形 30">
            <a:extLst>
              <a:ext uri="{FF2B5EF4-FFF2-40B4-BE49-F238E27FC236}">
                <a16:creationId xmlns:a16="http://schemas.microsoft.com/office/drawing/2014/main" id="{DD5F9457-D28C-DA84-9EA6-667F468A8E34}"/>
              </a:ext>
            </a:extLst>
          </p:cNvPr>
          <p:cNvSpPr/>
          <p:nvPr/>
        </p:nvSpPr>
        <p:spPr>
          <a:xfrm>
            <a:off x="7624715"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ポートフォリオ管理</a:t>
            </a:r>
          </a:p>
        </p:txBody>
      </p:sp>
      <p:cxnSp>
        <p:nvCxnSpPr>
          <p:cNvPr id="42" name="直線矢印コネクタ 41">
            <a:extLst>
              <a:ext uri="{FF2B5EF4-FFF2-40B4-BE49-F238E27FC236}">
                <a16:creationId xmlns:a16="http://schemas.microsoft.com/office/drawing/2014/main" id="{F0F39394-0DEB-BC7A-FE32-8FED5D32B94F}"/>
              </a:ext>
            </a:extLst>
          </p:cNvPr>
          <p:cNvCxnSpPr>
            <a:cxnSpLocks/>
            <a:stCxn id="29" idx="3"/>
            <a:endCxn id="11" idx="1"/>
          </p:cNvCxnSpPr>
          <p:nvPr/>
        </p:nvCxnSpPr>
        <p:spPr>
          <a:xfrm>
            <a:off x="4848775"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5" name="直線矢印コネクタ 54">
            <a:extLst>
              <a:ext uri="{FF2B5EF4-FFF2-40B4-BE49-F238E27FC236}">
                <a16:creationId xmlns:a16="http://schemas.microsoft.com/office/drawing/2014/main" id="{BC8C7D36-0D0F-B9B3-89C2-CDEA1C701EA0}"/>
              </a:ext>
            </a:extLst>
          </p:cNvPr>
          <p:cNvCxnSpPr>
            <a:cxnSpLocks/>
            <a:stCxn id="27" idx="3"/>
            <a:endCxn id="29" idx="1"/>
          </p:cNvCxnSpPr>
          <p:nvPr/>
        </p:nvCxnSpPr>
        <p:spPr>
          <a:xfrm>
            <a:off x="3551284"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7" name="直線矢印コネクタ 66">
            <a:extLst>
              <a:ext uri="{FF2B5EF4-FFF2-40B4-BE49-F238E27FC236}">
                <a16:creationId xmlns:a16="http://schemas.microsoft.com/office/drawing/2014/main" id="{39661EA2-EDF0-E72C-1880-1BEB64A94BCA}"/>
              </a:ext>
            </a:extLst>
          </p:cNvPr>
          <p:cNvCxnSpPr>
            <a:cxnSpLocks/>
            <a:stCxn id="11" idx="3"/>
            <a:endCxn id="7" idx="1"/>
          </p:cNvCxnSpPr>
          <p:nvPr/>
        </p:nvCxnSpPr>
        <p:spPr>
          <a:xfrm>
            <a:off x="6146266"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7" name="直線矢印コネクタ 86">
            <a:extLst>
              <a:ext uri="{FF2B5EF4-FFF2-40B4-BE49-F238E27FC236}">
                <a16:creationId xmlns:a16="http://schemas.microsoft.com/office/drawing/2014/main" id="{A7978D82-EFFE-2921-D8AD-C598B537F981}"/>
              </a:ext>
            </a:extLst>
          </p:cNvPr>
          <p:cNvCxnSpPr>
            <a:cxnSpLocks/>
            <a:stCxn id="7" idx="3"/>
            <a:endCxn id="31" idx="1"/>
          </p:cNvCxnSpPr>
          <p:nvPr/>
        </p:nvCxnSpPr>
        <p:spPr>
          <a:xfrm>
            <a:off x="7443757" y="1566252"/>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8" name="正方形/長方形 97">
            <a:extLst>
              <a:ext uri="{FF2B5EF4-FFF2-40B4-BE49-F238E27FC236}">
                <a16:creationId xmlns:a16="http://schemas.microsoft.com/office/drawing/2014/main" id="{C0ACC2B4-4174-A749-4E79-1449795E9155}"/>
              </a:ext>
            </a:extLst>
          </p:cNvPr>
          <p:cNvSpPr/>
          <p:nvPr/>
        </p:nvSpPr>
        <p:spPr>
          <a:xfrm>
            <a:off x="2297614" y="1982767"/>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altLang="ja-JP" sz="1000" b="1" u="sng" dirty="0">
                <a:solidFill>
                  <a:schemeClr val="accent3">
                    <a:lumMod val="10000"/>
                  </a:schemeClr>
                </a:solidFill>
                <a:latin typeface="Meiryo UI" panose="020B0604030504040204" pitchFamily="50" charset="-128"/>
                <a:ea typeface="Meiryo UI" panose="020B0604030504040204" pitchFamily="50" charset="-128"/>
              </a:rPr>
              <a:t>AI</a:t>
            </a:r>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エージェント設計・開発管理</a:t>
            </a:r>
          </a:p>
        </p:txBody>
      </p:sp>
      <p:sp>
        <p:nvSpPr>
          <p:cNvPr id="100" name="正方形/長方形 99">
            <a:extLst>
              <a:ext uri="{FF2B5EF4-FFF2-40B4-BE49-F238E27FC236}">
                <a16:creationId xmlns:a16="http://schemas.microsoft.com/office/drawing/2014/main" id="{693759BD-37C8-3A37-060B-CFC1C70B25AB}"/>
              </a:ext>
            </a:extLst>
          </p:cNvPr>
          <p:cNvSpPr/>
          <p:nvPr/>
        </p:nvSpPr>
        <p:spPr>
          <a:xfrm>
            <a:off x="6327225"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テスト</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61BD9599-DDAB-8EA0-D20F-7F0CF26614F7}"/>
              </a:ext>
            </a:extLst>
          </p:cNvPr>
          <p:cNvSpPr/>
          <p:nvPr/>
        </p:nvSpPr>
        <p:spPr>
          <a:xfrm>
            <a:off x="5029734"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開発</a:t>
            </a:r>
          </a:p>
        </p:txBody>
      </p:sp>
      <p:sp>
        <p:nvSpPr>
          <p:cNvPr id="102" name="正方形/長方形 101">
            <a:extLst>
              <a:ext uri="{FF2B5EF4-FFF2-40B4-BE49-F238E27FC236}">
                <a16:creationId xmlns:a16="http://schemas.microsoft.com/office/drawing/2014/main" id="{0BBB92D2-E17F-E4DA-86EA-D81C14738388}"/>
              </a:ext>
            </a:extLst>
          </p:cNvPr>
          <p:cNvSpPr/>
          <p:nvPr/>
        </p:nvSpPr>
        <p:spPr>
          <a:xfrm>
            <a:off x="2434752"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要件定義</a:t>
            </a:r>
          </a:p>
        </p:txBody>
      </p:sp>
      <p:sp>
        <p:nvSpPr>
          <p:cNvPr id="103" name="正方形/長方形 102">
            <a:extLst>
              <a:ext uri="{FF2B5EF4-FFF2-40B4-BE49-F238E27FC236}">
                <a16:creationId xmlns:a16="http://schemas.microsoft.com/office/drawing/2014/main" id="{25107C67-FAFC-FA6E-2F33-117FA3D11C0B}"/>
              </a:ext>
            </a:extLst>
          </p:cNvPr>
          <p:cNvSpPr/>
          <p:nvPr/>
        </p:nvSpPr>
        <p:spPr>
          <a:xfrm>
            <a:off x="3732243"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設計</a:t>
            </a:r>
          </a:p>
        </p:txBody>
      </p:sp>
      <p:sp>
        <p:nvSpPr>
          <p:cNvPr id="104" name="正方形/長方形 103">
            <a:extLst>
              <a:ext uri="{FF2B5EF4-FFF2-40B4-BE49-F238E27FC236}">
                <a16:creationId xmlns:a16="http://schemas.microsoft.com/office/drawing/2014/main" id="{AED63165-BDEF-F671-B2C8-DB5502BDBD19}"/>
              </a:ext>
            </a:extLst>
          </p:cNvPr>
          <p:cNvSpPr/>
          <p:nvPr/>
        </p:nvSpPr>
        <p:spPr>
          <a:xfrm>
            <a:off x="7624715"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リリース</a:t>
            </a:r>
          </a:p>
        </p:txBody>
      </p:sp>
      <p:cxnSp>
        <p:nvCxnSpPr>
          <p:cNvPr id="105" name="直線矢印コネクタ 104">
            <a:extLst>
              <a:ext uri="{FF2B5EF4-FFF2-40B4-BE49-F238E27FC236}">
                <a16:creationId xmlns:a16="http://schemas.microsoft.com/office/drawing/2014/main" id="{8839B684-BCCB-3C7D-F704-8CF5D678B720}"/>
              </a:ext>
            </a:extLst>
          </p:cNvPr>
          <p:cNvCxnSpPr>
            <a:cxnSpLocks/>
            <a:stCxn id="103" idx="3"/>
            <a:endCxn id="101" idx="1"/>
          </p:cNvCxnSpPr>
          <p:nvPr/>
        </p:nvCxnSpPr>
        <p:spPr>
          <a:xfrm>
            <a:off x="4848775"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6" name="直線矢印コネクタ 105">
            <a:extLst>
              <a:ext uri="{FF2B5EF4-FFF2-40B4-BE49-F238E27FC236}">
                <a16:creationId xmlns:a16="http://schemas.microsoft.com/office/drawing/2014/main" id="{A97A0C13-BCB4-45B0-9A82-2055A902BF83}"/>
              </a:ext>
            </a:extLst>
          </p:cNvPr>
          <p:cNvCxnSpPr>
            <a:cxnSpLocks/>
            <a:stCxn id="102" idx="3"/>
            <a:endCxn id="103" idx="1"/>
          </p:cNvCxnSpPr>
          <p:nvPr/>
        </p:nvCxnSpPr>
        <p:spPr>
          <a:xfrm>
            <a:off x="3551284"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7" name="直線矢印コネクタ 106">
            <a:extLst>
              <a:ext uri="{FF2B5EF4-FFF2-40B4-BE49-F238E27FC236}">
                <a16:creationId xmlns:a16="http://schemas.microsoft.com/office/drawing/2014/main" id="{43885F48-FB40-07FF-3083-5CA2880572D3}"/>
              </a:ext>
            </a:extLst>
          </p:cNvPr>
          <p:cNvCxnSpPr>
            <a:cxnSpLocks/>
            <a:stCxn id="101" idx="3"/>
            <a:endCxn id="100" idx="1"/>
          </p:cNvCxnSpPr>
          <p:nvPr/>
        </p:nvCxnSpPr>
        <p:spPr>
          <a:xfrm>
            <a:off x="6146266"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8" name="直線矢印コネクタ 107">
            <a:extLst>
              <a:ext uri="{FF2B5EF4-FFF2-40B4-BE49-F238E27FC236}">
                <a16:creationId xmlns:a16="http://schemas.microsoft.com/office/drawing/2014/main" id="{08534453-FBB4-A534-7989-99493A935B82}"/>
              </a:ext>
            </a:extLst>
          </p:cNvPr>
          <p:cNvCxnSpPr>
            <a:cxnSpLocks/>
            <a:stCxn id="100" idx="3"/>
            <a:endCxn id="104" idx="1"/>
          </p:cNvCxnSpPr>
          <p:nvPr/>
        </p:nvCxnSpPr>
        <p:spPr>
          <a:xfrm>
            <a:off x="7443757" y="2340825"/>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1" name="正方形/長方形 110">
            <a:extLst>
              <a:ext uri="{FF2B5EF4-FFF2-40B4-BE49-F238E27FC236}">
                <a16:creationId xmlns:a16="http://schemas.microsoft.com/office/drawing/2014/main" id="{AC914876-6B5B-4D6E-8330-14A537ABAB93}"/>
              </a:ext>
            </a:extLst>
          </p:cNvPr>
          <p:cNvSpPr/>
          <p:nvPr/>
        </p:nvSpPr>
        <p:spPr>
          <a:xfrm>
            <a:off x="2297614" y="2757340"/>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データ基盤管理</a:t>
            </a:r>
          </a:p>
        </p:txBody>
      </p:sp>
      <p:sp>
        <p:nvSpPr>
          <p:cNvPr id="115" name="正方形/長方形 114">
            <a:extLst>
              <a:ext uri="{FF2B5EF4-FFF2-40B4-BE49-F238E27FC236}">
                <a16:creationId xmlns:a16="http://schemas.microsoft.com/office/drawing/2014/main" id="{CCD72122-EEE0-D847-F6B1-84C7FB0E3846}"/>
              </a:ext>
            </a:extLst>
          </p:cNvPr>
          <p:cNvSpPr/>
          <p:nvPr/>
        </p:nvSpPr>
        <p:spPr>
          <a:xfrm>
            <a:off x="6327225"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メタデータ管理</a:t>
            </a:r>
          </a:p>
        </p:txBody>
      </p:sp>
      <p:sp>
        <p:nvSpPr>
          <p:cNvPr id="117" name="正方形/長方形 116">
            <a:extLst>
              <a:ext uri="{FF2B5EF4-FFF2-40B4-BE49-F238E27FC236}">
                <a16:creationId xmlns:a16="http://schemas.microsoft.com/office/drawing/2014/main" id="{891401DF-4138-4821-10A2-6DC0430557DD}"/>
              </a:ext>
            </a:extLst>
          </p:cNvPr>
          <p:cNvSpPr/>
          <p:nvPr/>
        </p:nvSpPr>
        <p:spPr>
          <a:xfrm>
            <a:off x="5029734"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データ品質管理</a:t>
            </a:r>
          </a:p>
        </p:txBody>
      </p:sp>
      <p:sp>
        <p:nvSpPr>
          <p:cNvPr id="120" name="正方形/長方形 119">
            <a:extLst>
              <a:ext uri="{FF2B5EF4-FFF2-40B4-BE49-F238E27FC236}">
                <a16:creationId xmlns:a16="http://schemas.microsoft.com/office/drawing/2014/main" id="{CBF5B791-DC81-EB44-BD53-C10ECDBC9683}"/>
              </a:ext>
            </a:extLst>
          </p:cNvPr>
          <p:cNvSpPr/>
          <p:nvPr/>
        </p:nvSpPr>
        <p:spPr>
          <a:xfrm>
            <a:off x="2434752"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データ要件定義</a:t>
            </a:r>
          </a:p>
        </p:txBody>
      </p:sp>
      <p:sp>
        <p:nvSpPr>
          <p:cNvPr id="121" name="正方形/長方形 120">
            <a:extLst>
              <a:ext uri="{FF2B5EF4-FFF2-40B4-BE49-F238E27FC236}">
                <a16:creationId xmlns:a16="http://schemas.microsoft.com/office/drawing/2014/main" id="{AEB6B108-AFAA-4BB7-9FEF-0670AB776D07}"/>
              </a:ext>
            </a:extLst>
          </p:cNvPr>
          <p:cNvSpPr/>
          <p:nvPr/>
        </p:nvSpPr>
        <p:spPr>
          <a:xfrm>
            <a:off x="3732243"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データモデル設計</a:t>
            </a:r>
          </a:p>
        </p:txBody>
      </p:sp>
      <p:sp>
        <p:nvSpPr>
          <p:cNvPr id="123" name="正方形/長方形 122">
            <a:extLst>
              <a:ext uri="{FF2B5EF4-FFF2-40B4-BE49-F238E27FC236}">
                <a16:creationId xmlns:a16="http://schemas.microsoft.com/office/drawing/2014/main" id="{7EFC65E6-E915-B3F1-D560-E388EE3BF668}"/>
              </a:ext>
            </a:extLst>
          </p:cNvPr>
          <p:cNvSpPr/>
          <p:nvPr/>
        </p:nvSpPr>
        <p:spPr>
          <a:xfrm>
            <a:off x="7624715"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KPI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a:t>
            </a:r>
            <a:r>
              <a:rPr lang="ja-JP" altLang="en-US" sz="1000" dirty="0">
                <a:solidFill>
                  <a:schemeClr val="accent3">
                    <a:lumMod val="10000"/>
                  </a:schemeClr>
                </a:solidFill>
                <a:latin typeface="Meiryo UI" panose="020B0604030504040204" pitchFamily="50" charset="-128"/>
                <a:ea typeface="Meiryo UI" panose="020B0604030504040204" pitchFamily="50" charset="-128"/>
              </a:rPr>
              <a:t>可視化設計</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cxnSp>
        <p:nvCxnSpPr>
          <p:cNvPr id="124" name="直線矢印コネクタ 123">
            <a:extLst>
              <a:ext uri="{FF2B5EF4-FFF2-40B4-BE49-F238E27FC236}">
                <a16:creationId xmlns:a16="http://schemas.microsoft.com/office/drawing/2014/main" id="{67072B6A-658A-813C-59FF-318FA015D5D2}"/>
              </a:ext>
            </a:extLst>
          </p:cNvPr>
          <p:cNvCxnSpPr>
            <a:cxnSpLocks/>
            <a:stCxn id="121" idx="3"/>
            <a:endCxn id="117" idx="1"/>
          </p:cNvCxnSpPr>
          <p:nvPr/>
        </p:nvCxnSpPr>
        <p:spPr>
          <a:xfrm>
            <a:off x="4848775"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5" name="直線矢印コネクタ 124">
            <a:extLst>
              <a:ext uri="{FF2B5EF4-FFF2-40B4-BE49-F238E27FC236}">
                <a16:creationId xmlns:a16="http://schemas.microsoft.com/office/drawing/2014/main" id="{AEB4FF3C-7EC4-8457-B9BF-D9953938086C}"/>
              </a:ext>
            </a:extLst>
          </p:cNvPr>
          <p:cNvCxnSpPr>
            <a:cxnSpLocks/>
            <a:stCxn id="120" idx="3"/>
            <a:endCxn id="121" idx="1"/>
          </p:cNvCxnSpPr>
          <p:nvPr/>
        </p:nvCxnSpPr>
        <p:spPr>
          <a:xfrm>
            <a:off x="3551284"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6" name="直線矢印コネクタ 125">
            <a:extLst>
              <a:ext uri="{FF2B5EF4-FFF2-40B4-BE49-F238E27FC236}">
                <a16:creationId xmlns:a16="http://schemas.microsoft.com/office/drawing/2014/main" id="{7C184CC8-6AA8-3EDF-8BC8-566A262DA169}"/>
              </a:ext>
            </a:extLst>
          </p:cNvPr>
          <p:cNvCxnSpPr>
            <a:cxnSpLocks/>
            <a:stCxn id="117" idx="3"/>
            <a:endCxn id="115" idx="1"/>
          </p:cNvCxnSpPr>
          <p:nvPr/>
        </p:nvCxnSpPr>
        <p:spPr>
          <a:xfrm>
            <a:off x="6146266"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2" name="直線矢印コネクタ 131">
            <a:extLst>
              <a:ext uri="{FF2B5EF4-FFF2-40B4-BE49-F238E27FC236}">
                <a16:creationId xmlns:a16="http://schemas.microsoft.com/office/drawing/2014/main" id="{C8B31C53-6CC7-6778-42C9-A1D20F9A530F}"/>
              </a:ext>
            </a:extLst>
          </p:cNvPr>
          <p:cNvCxnSpPr>
            <a:cxnSpLocks/>
            <a:stCxn id="115" idx="3"/>
            <a:endCxn id="123" idx="1"/>
          </p:cNvCxnSpPr>
          <p:nvPr/>
        </p:nvCxnSpPr>
        <p:spPr>
          <a:xfrm>
            <a:off x="7443757" y="3115398"/>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4" name="正方形/長方形 133">
            <a:extLst>
              <a:ext uri="{FF2B5EF4-FFF2-40B4-BE49-F238E27FC236}">
                <a16:creationId xmlns:a16="http://schemas.microsoft.com/office/drawing/2014/main" id="{D8B6A859-0F58-0B3A-CB21-CC06D8738653}"/>
              </a:ext>
            </a:extLst>
          </p:cNvPr>
          <p:cNvSpPr/>
          <p:nvPr/>
        </p:nvSpPr>
        <p:spPr>
          <a:xfrm>
            <a:off x="2297614" y="3531913"/>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運用管理</a:t>
            </a:r>
          </a:p>
        </p:txBody>
      </p:sp>
      <p:sp>
        <p:nvSpPr>
          <p:cNvPr id="138" name="正方形/長方形 137">
            <a:extLst>
              <a:ext uri="{FF2B5EF4-FFF2-40B4-BE49-F238E27FC236}">
                <a16:creationId xmlns:a16="http://schemas.microsoft.com/office/drawing/2014/main" id="{C45C5732-5580-28C6-3B2D-9A08FC1339E6}"/>
              </a:ext>
            </a:extLst>
          </p:cNvPr>
          <p:cNvSpPr/>
          <p:nvPr/>
        </p:nvSpPr>
        <p:spPr>
          <a:xfrm>
            <a:off x="6327225"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変更</a:t>
            </a:r>
          </a:p>
        </p:txBody>
      </p:sp>
      <p:sp>
        <p:nvSpPr>
          <p:cNvPr id="139" name="正方形/長方形 138">
            <a:extLst>
              <a:ext uri="{FF2B5EF4-FFF2-40B4-BE49-F238E27FC236}">
                <a16:creationId xmlns:a16="http://schemas.microsoft.com/office/drawing/2014/main" id="{F6C714C7-E4D8-360A-FCE7-D104B77338C1}"/>
              </a:ext>
            </a:extLst>
          </p:cNvPr>
          <p:cNvSpPr/>
          <p:nvPr/>
        </p:nvSpPr>
        <p:spPr>
          <a:xfrm>
            <a:off x="5029734"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ログ</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42" name="正方形/長方形 141">
            <a:extLst>
              <a:ext uri="{FF2B5EF4-FFF2-40B4-BE49-F238E27FC236}">
                <a16:creationId xmlns:a16="http://schemas.microsoft.com/office/drawing/2014/main" id="{1A5FA9C2-DC99-66DD-F46B-2A5FE7543B73}"/>
              </a:ext>
            </a:extLst>
          </p:cNvPr>
          <p:cNvSpPr/>
          <p:nvPr/>
        </p:nvSpPr>
        <p:spPr>
          <a:xfrm>
            <a:off x="2434752"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監視</a:t>
            </a:r>
          </a:p>
        </p:txBody>
      </p:sp>
      <p:sp>
        <p:nvSpPr>
          <p:cNvPr id="143" name="正方形/長方形 142">
            <a:extLst>
              <a:ext uri="{FF2B5EF4-FFF2-40B4-BE49-F238E27FC236}">
                <a16:creationId xmlns:a16="http://schemas.microsoft.com/office/drawing/2014/main" id="{43BAC8D6-D842-8A39-9AEC-3DEC36CAE115}"/>
              </a:ext>
            </a:extLst>
          </p:cNvPr>
          <p:cNvSpPr/>
          <p:nvPr/>
        </p:nvSpPr>
        <p:spPr>
          <a:xfrm>
            <a:off x="3732243"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インシデント</a:t>
            </a:r>
          </a:p>
        </p:txBody>
      </p:sp>
      <p:sp>
        <p:nvSpPr>
          <p:cNvPr id="150" name="正方形/長方形 149">
            <a:extLst>
              <a:ext uri="{FF2B5EF4-FFF2-40B4-BE49-F238E27FC236}">
                <a16:creationId xmlns:a16="http://schemas.microsoft.com/office/drawing/2014/main" id="{CD9772A4-8353-07DE-FFAB-BD88581A25D2}"/>
              </a:ext>
            </a:extLst>
          </p:cNvPr>
          <p:cNvSpPr/>
          <p:nvPr/>
        </p:nvSpPr>
        <p:spPr>
          <a:xfrm>
            <a:off x="7624715"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SLA</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66C6F20D-FEA5-6327-FAD8-FAAA2996A981}"/>
              </a:ext>
            </a:extLst>
          </p:cNvPr>
          <p:cNvSpPr/>
          <p:nvPr/>
        </p:nvSpPr>
        <p:spPr>
          <a:xfrm>
            <a:off x="2297614" y="4306486"/>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セキュリティ・ガバナンス管理</a:t>
            </a:r>
          </a:p>
        </p:txBody>
      </p:sp>
      <p:sp>
        <p:nvSpPr>
          <p:cNvPr id="158" name="正方形/長方形 157">
            <a:extLst>
              <a:ext uri="{FF2B5EF4-FFF2-40B4-BE49-F238E27FC236}">
                <a16:creationId xmlns:a16="http://schemas.microsoft.com/office/drawing/2014/main" id="{3365BB6A-3862-2A2A-71B3-3CE57AA3CDE1}"/>
              </a:ext>
            </a:extLst>
          </p:cNvPr>
          <p:cNvSpPr/>
          <p:nvPr/>
        </p:nvSpPr>
        <p:spPr>
          <a:xfrm>
            <a:off x="6327225" y="4545634"/>
            <a:ext cx="1116532" cy="237820"/>
          </a:xfrm>
          <a:prstGeom prst="rect">
            <a:avLst/>
          </a:prstGeom>
          <a:solidFill>
            <a:srgbClr val="FFFFFF"/>
          </a:solidFill>
          <a:ln w="6350">
            <a:solidFill>
              <a:srgbClr val="969696"/>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defTabSz="1279942"/>
            <a:r>
              <a:rPr lang="ja-JP" altLang="en-US" sz="1000" dirty="0">
                <a:solidFill>
                  <a:srgbClr val="969696"/>
                </a:solidFill>
                <a:latin typeface="Meiryo UI" panose="020B0604030504040204" pitchFamily="50" charset="-128"/>
                <a:ea typeface="Meiryo UI" panose="020B0604030504040204" pitchFamily="50" charset="-128"/>
              </a:rPr>
              <a:t>監査ログ</a:t>
            </a:r>
          </a:p>
        </p:txBody>
      </p:sp>
      <p:sp>
        <p:nvSpPr>
          <p:cNvPr id="159" name="正方形/長方形 158">
            <a:extLst>
              <a:ext uri="{FF2B5EF4-FFF2-40B4-BE49-F238E27FC236}">
                <a16:creationId xmlns:a16="http://schemas.microsoft.com/office/drawing/2014/main" id="{6F7768A0-B721-5FFD-994D-5E951F049488}"/>
              </a:ext>
            </a:extLst>
          </p:cNvPr>
          <p:cNvSpPr/>
          <p:nvPr/>
        </p:nvSpPr>
        <p:spPr>
          <a:xfrm>
            <a:off x="5029734"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AI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ガバナンス</a:t>
            </a:r>
          </a:p>
        </p:txBody>
      </p:sp>
      <p:sp>
        <p:nvSpPr>
          <p:cNvPr id="160" name="正方形/長方形 159">
            <a:extLst>
              <a:ext uri="{FF2B5EF4-FFF2-40B4-BE49-F238E27FC236}">
                <a16:creationId xmlns:a16="http://schemas.microsoft.com/office/drawing/2014/main" id="{6D328070-38A7-7C24-BA8F-C8D15AAE4A01}"/>
              </a:ext>
            </a:extLst>
          </p:cNvPr>
          <p:cNvSpPr/>
          <p:nvPr/>
        </p:nvSpPr>
        <p:spPr>
          <a:xfrm>
            <a:off x="2434752"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アクセス権</a:t>
            </a:r>
          </a:p>
        </p:txBody>
      </p:sp>
      <p:sp>
        <p:nvSpPr>
          <p:cNvPr id="167" name="正方形/長方形 166">
            <a:extLst>
              <a:ext uri="{FF2B5EF4-FFF2-40B4-BE49-F238E27FC236}">
                <a16:creationId xmlns:a16="http://schemas.microsoft.com/office/drawing/2014/main" id="{8D1F4ABF-6F1C-C5BA-FB9E-6A592E0D0028}"/>
              </a:ext>
            </a:extLst>
          </p:cNvPr>
          <p:cNvSpPr/>
          <p:nvPr/>
        </p:nvSpPr>
        <p:spPr>
          <a:xfrm>
            <a:off x="3732243"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データガバナンス</a:t>
            </a:r>
          </a:p>
        </p:txBody>
      </p:sp>
      <p:sp>
        <p:nvSpPr>
          <p:cNvPr id="168" name="正方形/長方形 167">
            <a:extLst>
              <a:ext uri="{FF2B5EF4-FFF2-40B4-BE49-F238E27FC236}">
                <a16:creationId xmlns:a16="http://schemas.microsoft.com/office/drawing/2014/main" id="{61F88C52-671D-ED53-5DDD-665F7113BD8B}"/>
              </a:ext>
            </a:extLst>
          </p:cNvPr>
          <p:cNvSpPr/>
          <p:nvPr/>
        </p:nvSpPr>
        <p:spPr>
          <a:xfrm>
            <a:off x="7624715" y="4545634"/>
            <a:ext cx="1116532" cy="237820"/>
          </a:xfrm>
          <a:prstGeom prst="rect">
            <a:avLst/>
          </a:prstGeom>
          <a:solidFill>
            <a:srgbClr val="FFFFFF"/>
          </a:solidFill>
          <a:ln w="6350">
            <a:solidFill>
              <a:srgbClr val="969696"/>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defTabSz="1279942"/>
            <a:r>
              <a:rPr lang="ja-JP" altLang="en-US" sz="1000" dirty="0">
                <a:solidFill>
                  <a:srgbClr val="969696"/>
                </a:solidFill>
                <a:latin typeface="Meiryo UI" panose="020B0604030504040204" pitchFamily="50" charset="-128"/>
                <a:ea typeface="Meiryo UI" panose="020B0604030504040204" pitchFamily="50" charset="-128"/>
              </a:rPr>
              <a:t>コンプライアンス対応</a:t>
            </a:r>
          </a:p>
        </p:txBody>
      </p:sp>
      <p:sp>
        <p:nvSpPr>
          <p:cNvPr id="6" name="正方形/長方形 5">
            <a:extLst>
              <a:ext uri="{FF2B5EF4-FFF2-40B4-BE49-F238E27FC236}">
                <a16:creationId xmlns:a16="http://schemas.microsoft.com/office/drawing/2014/main" id="{077104CD-AFDF-A88A-F7E7-DDD6FE2B013A}"/>
              </a:ext>
            </a:extLst>
          </p:cNvPr>
          <p:cNvSpPr/>
          <p:nvPr/>
        </p:nvSpPr>
        <p:spPr>
          <a:xfrm>
            <a:off x="2297614" y="5081059"/>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社内展開・教育</a:t>
            </a:r>
          </a:p>
        </p:txBody>
      </p:sp>
      <p:sp>
        <p:nvSpPr>
          <p:cNvPr id="9" name="正方形/長方形 8">
            <a:extLst>
              <a:ext uri="{FF2B5EF4-FFF2-40B4-BE49-F238E27FC236}">
                <a16:creationId xmlns:a16="http://schemas.microsoft.com/office/drawing/2014/main" id="{78E17006-275D-461B-6BE9-D702124806D7}"/>
              </a:ext>
            </a:extLst>
          </p:cNvPr>
          <p:cNvSpPr/>
          <p:nvPr/>
        </p:nvSpPr>
        <p:spPr>
          <a:xfrm>
            <a:off x="6327225"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利用促進</a:t>
            </a:r>
          </a:p>
        </p:txBody>
      </p:sp>
      <p:sp>
        <p:nvSpPr>
          <p:cNvPr id="10" name="正方形/長方形 9">
            <a:extLst>
              <a:ext uri="{FF2B5EF4-FFF2-40B4-BE49-F238E27FC236}">
                <a16:creationId xmlns:a16="http://schemas.microsoft.com/office/drawing/2014/main" id="{ABDB3BB6-E9F5-DB1A-02FA-1F9962C83491}"/>
              </a:ext>
            </a:extLst>
          </p:cNvPr>
          <p:cNvSpPr/>
          <p:nvPr/>
        </p:nvSpPr>
        <p:spPr>
          <a:xfrm>
            <a:off x="5029734"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市民開発者支援</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6C4EC7F-5614-5663-FE72-733E3DE93537}"/>
              </a:ext>
            </a:extLst>
          </p:cNvPr>
          <p:cNvSpPr/>
          <p:nvPr/>
        </p:nvSpPr>
        <p:spPr>
          <a:xfrm>
            <a:off x="2434752"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社内広報</a:t>
            </a:r>
          </a:p>
        </p:txBody>
      </p:sp>
      <p:sp>
        <p:nvSpPr>
          <p:cNvPr id="13" name="正方形/長方形 12">
            <a:extLst>
              <a:ext uri="{FF2B5EF4-FFF2-40B4-BE49-F238E27FC236}">
                <a16:creationId xmlns:a16="http://schemas.microsoft.com/office/drawing/2014/main" id="{BF7B0F54-DED2-43EA-48B6-169CBD2AA44F}"/>
              </a:ext>
            </a:extLst>
          </p:cNvPr>
          <p:cNvSpPr/>
          <p:nvPr/>
        </p:nvSpPr>
        <p:spPr>
          <a:xfrm>
            <a:off x="3732243"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業務</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トレーニング</a:t>
            </a:r>
          </a:p>
        </p:txBody>
      </p:sp>
      <p:sp>
        <p:nvSpPr>
          <p:cNvPr id="14" name="正方形/長方形 13">
            <a:extLst>
              <a:ext uri="{FF2B5EF4-FFF2-40B4-BE49-F238E27FC236}">
                <a16:creationId xmlns:a16="http://schemas.microsoft.com/office/drawing/2014/main" id="{AAB352A9-5AF0-3F8C-F86B-65570BE36C2E}"/>
              </a:ext>
            </a:extLst>
          </p:cNvPr>
          <p:cNvSpPr/>
          <p:nvPr/>
        </p:nvSpPr>
        <p:spPr>
          <a:xfrm>
            <a:off x="7624715"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フィードバック収集</a:t>
            </a:r>
          </a:p>
        </p:txBody>
      </p:sp>
      <p:sp>
        <p:nvSpPr>
          <p:cNvPr id="16" name="正方形/長方形 15">
            <a:extLst>
              <a:ext uri="{FF2B5EF4-FFF2-40B4-BE49-F238E27FC236}">
                <a16:creationId xmlns:a16="http://schemas.microsoft.com/office/drawing/2014/main" id="{1D19710E-FDFF-35F4-BEC6-6795FEF5BC50}"/>
              </a:ext>
            </a:extLst>
          </p:cNvPr>
          <p:cNvSpPr/>
          <p:nvPr/>
        </p:nvSpPr>
        <p:spPr>
          <a:xfrm>
            <a:off x="2297614" y="5855634"/>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プロダクト管理</a:t>
            </a:r>
          </a:p>
        </p:txBody>
      </p:sp>
      <p:sp>
        <p:nvSpPr>
          <p:cNvPr id="18" name="正方形/長方形 17">
            <a:extLst>
              <a:ext uri="{FF2B5EF4-FFF2-40B4-BE49-F238E27FC236}">
                <a16:creationId xmlns:a16="http://schemas.microsoft.com/office/drawing/2014/main" id="{1BC1A931-4ED7-833A-3408-CAABFD2167E7}"/>
              </a:ext>
            </a:extLst>
          </p:cNvPr>
          <p:cNvSpPr/>
          <p:nvPr/>
        </p:nvSpPr>
        <p:spPr>
          <a:xfrm>
            <a:off x="6327225"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横展開</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CE5FD0F-1ECA-8840-D355-DAFA23C1F916}"/>
              </a:ext>
            </a:extLst>
          </p:cNvPr>
          <p:cNvSpPr/>
          <p:nvPr/>
        </p:nvSpPr>
        <p:spPr>
          <a:xfrm>
            <a:off x="5029734"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バージョン管理</a:t>
            </a:r>
          </a:p>
        </p:txBody>
      </p:sp>
      <p:sp>
        <p:nvSpPr>
          <p:cNvPr id="20" name="正方形/長方形 19">
            <a:extLst>
              <a:ext uri="{FF2B5EF4-FFF2-40B4-BE49-F238E27FC236}">
                <a16:creationId xmlns:a16="http://schemas.microsoft.com/office/drawing/2014/main" id="{84BFE7BC-3B10-B456-69FA-1F6ECB6421D6}"/>
              </a:ext>
            </a:extLst>
          </p:cNvPr>
          <p:cNvSpPr/>
          <p:nvPr/>
        </p:nvSpPr>
        <p:spPr>
          <a:xfrm>
            <a:off x="2434752"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標準化</a:t>
            </a:r>
          </a:p>
        </p:txBody>
      </p:sp>
      <p:sp>
        <p:nvSpPr>
          <p:cNvPr id="21" name="正方形/長方形 20">
            <a:extLst>
              <a:ext uri="{FF2B5EF4-FFF2-40B4-BE49-F238E27FC236}">
                <a16:creationId xmlns:a16="http://schemas.microsoft.com/office/drawing/2014/main" id="{1F787E43-EE0F-9AC6-B432-B7659A5DD9D6}"/>
              </a:ext>
            </a:extLst>
          </p:cNvPr>
          <p:cNvSpPr/>
          <p:nvPr/>
        </p:nvSpPr>
        <p:spPr>
          <a:xfrm>
            <a:off x="3732243"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コンポーネント管理</a:t>
            </a:r>
          </a:p>
        </p:txBody>
      </p:sp>
      <p:sp>
        <p:nvSpPr>
          <p:cNvPr id="22" name="正方形/長方形 21">
            <a:extLst>
              <a:ext uri="{FF2B5EF4-FFF2-40B4-BE49-F238E27FC236}">
                <a16:creationId xmlns:a16="http://schemas.microsoft.com/office/drawing/2014/main" id="{9ACD6121-4B01-D8A6-9B53-D1D5FA73E6C9}"/>
              </a:ext>
            </a:extLst>
          </p:cNvPr>
          <p:cNvSpPr/>
          <p:nvPr/>
        </p:nvSpPr>
        <p:spPr>
          <a:xfrm>
            <a:off x="7624715"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技術戦略</a:t>
            </a:r>
          </a:p>
        </p:txBody>
      </p:sp>
      <p:sp>
        <p:nvSpPr>
          <p:cNvPr id="24" name="四角形: 角を丸くする 23">
            <a:extLst>
              <a:ext uri="{FF2B5EF4-FFF2-40B4-BE49-F238E27FC236}">
                <a16:creationId xmlns:a16="http://schemas.microsoft.com/office/drawing/2014/main" id="{5FBCF439-F8C9-45D9-7D20-47E19A95E54C}"/>
              </a:ext>
            </a:extLst>
          </p:cNvPr>
          <p:cNvSpPr/>
          <p:nvPr/>
        </p:nvSpPr>
        <p:spPr>
          <a:xfrm>
            <a:off x="1006303" y="1208194"/>
            <a:ext cx="911819" cy="5363556"/>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1279942"/>
            <a:r>
              <a:rPr lang="ja-JP" altLang="en-US" sz="1400" dirty="0">
                <a:solidFill>
                  <a:schemeClr val="bg1"/>
                </a:solidFill>
                <a:latin typeface="Meiryo UI" panose="020B0604030504040204" pitchFamily="50" charset="-128"/>
                <a:ea typeface="Meiryo UI" panose="020B0604030504040204" pitchFamily="50" charset="-128"/>
              </a:rPr>
              <a:t>ユーザー</a:t>
            </a:r>
          </a:p>
        </p:txBody>
      </p:sp>
      <p:cxnSp>
        <p:nvCxnSpPr>
          <p:cNvPr id="25" name="直線矢印コネクタ 24">
            <a:extLst>
              <a:ext uri="{FF2B5EF4-FFF2-40B4-BE49-F238E27FC236}">
                <a16:creationId xmlns:a16="http://schemas.microsoft.com/office/drawing/2014/main" id="{8EEF6707-AAC5-AE1C-6772-8932599417FF}"/>
              </a:ext>
            </a:extLst>
          </p:cNvPr>
          <p:cNvCxnSpPr>
            <a:cxnSpLocks/>
            <a:endCxn id="27" idx="1"/>
          </p:cNvCxnSpPr>
          <p:nvPr/>
        </p:nvCxnSpPr>
        <p:spPr>
          <a:xfrm>
            <a:off x="1914105" y="1566252"/>
            <a:ext cx="52064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4" name="直線矢印コネクタ 93">
            <a:extLst>
              <a:ext uri="{FF2B5EF4-FFF2-40B4-BE49-F238E27FC236}">
                <a16:creationId xmlns:a16="http://schemas.microsoft.com/office/drawing/2014/main" id="{33B7C5D4-9D1E-4556-B534-F0FC50822FCC}"/>
              </a:ext>
            </a:extLst>
          </p:cNvPr>
          <p:cNvCxnSpPr>
            <a:cxnSpLocks/>
          </p:cNvCxnSpPr>
          <p:nvPr/>
        </p:nvCxnSpPr>
        <p:spPr>
          <a:xfrm rot="10800000">
            <a:off x="1914105" y="5446886"/>
            <a:ext cx="52064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0" name="四角形: 角を丸くする 109">
            <a:extLst>
              <a:ext uri="{FF2B5EF4-FFF2-40B4-BE49-F238E27FC236}">
                <a16:creationId xmlns:a16="http://schemas.microsoft.com/office/drawing/2014/main" id="{AA96BA82-66F8-6D9B-5BFC-029C60AEB7B0}"/>
              </a:ext>
            </a:extLst>
          </p:cNvPr>
          <p:cNvSpPr/>
          <p:nvPr/>
        </p:nvSpPr>
        <p:spPr>
          <a:xfrm>
            <a:off x="9366077" y="3771062"/>
            <a:ext cx="911819" cy="280068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1279942"/>
            <a:r>
              <a:rPr lang="ja-JP" altLang="en-US" sz="1400" dirty="0">
                <a:solidFill>
                  <a:schemeClr val="bg1"/>
                </a:solidFill>
                <a:latin typeface="Meiryo UI" panose="020B0604030504040204" pitchFamily="50" charset="-128"/>
                <a:ea typeface="Meiryo UI" panose="020B0604030504040204" pitchFamily="50" charset="-128"/>
              </a:rPr>
              <a:t>インフラ</a:t>
            </a:r>
          </a:p>
        </p:txBody>
      </p:sp>
    </p:spTree>
    <p:extLst>
      <p:ext uri="{BB962C8B-B14F-4D97-AF65-F5344CB8AC3E}">
        <p14:creationId xmlns:p14="http://schemas.microsoft.com/office/powerpoint/2010/main" val="2242338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29D5-6852-DB08-04FF-E3CCE235EF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9FDC9B-FD81-0065-996E-60FF5172E814}"/>
              </a:ext>
            </a:extLst>
          </p:cNvPr>
          <p:cNvSpPr>
            <a:spLocks noGrp="1"/>
          </p:cNvSpPr>
          <p:nvPr>
            <p:ph type="title"/>
          </p:nvPr>
        </p:nvSpPr>
        <p:spPr>
          <a:xfrm>
            <a:off x="203200" y="152403"/>
            <a:ext cx="9204569" cy="379413"/>
          </a:xfrm>
        </p:spPr>
        <p:txBody>
          <a:bodyPr anchor="ctr"/>
          <a:lstStyle/>
          <a:p>
            <a:r>
              <a:rPr kumimoji="1" lang="ja-JP" altLang="en-US" dirty="0">
                <a:latin typeface="Meiryo UI" panose="020B0604030504040204" pitchFamily="50" charset="-128"/>
                <a:ea typeface="Meiryo UI" panose="020B0604030504040204" pitchFamily="50" charset="-128"/>
              </a:rPr>
              <a:t>オペレーティングモデル </a:t>
            </a:r>
            <a:r>
              <a:rPr kumimoji="1" lang="en-US" altLang="ja-JP" dirty="0">
                <a:latin typeface="Meiryo UI" panose="020B0604030504040204" pitchFamily="50" charset="-128"/>
                <a:ea typeface="Meiryo UI" panose="020B0604030504040204" pitchFamily="50" charset="-128"/>
              </a:rPr>
              <a:t>L1</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2E7A31C3-CBB3-BACF-3D5B-450B1049B9A8}"/>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CC253339-6E17-6CC6-6807-58D4C484EA25}"/>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XXX</a:t>
            </a:r>
          </a:p>
        </p:txBody>
      </p:sp>
      <p:grpSp>
        <p:nvGrpSpPr>
          <p:cNvPr id="4" name="グループ化 3">
            <a:extLst>
              <a:ext uri="{FF2B5EF4-FFF2-40B4-BE49-F238E27FC236}">
                <a16:creationId xmlns:a16="http://schemas.microsoft.com/office/drawing/2014/main" id="{0FB71EC5-1A67-EF53-2EFB-D9D9A6B2F0CD}"/>
              </a:ext>
            </a:extLst>
          </p:cNvPr>
          <p:cNvGrpSpPr/>
          <p:nvPr/>
        </p:nvGrpSpPr>
        <p:grpSpPr>
          <a:xfrm>
            <a:off x="10757836" y="531816"/>
            <a:ext cx="9271593" cy="5363556"/>
            <a:chOff x="1006303" y="1208194"/>
            <a:chExt cx="9271593" cy="5363556"/>
          </a:xfrm>
        </p:grpSpPr>
        <p:sp>
          <p:nvSpPr>
            <p:cNvPr id="3" name="正方形/長方形 2">
              <a:extLst>
                <a:ext uri="{FF2B5EF4-FFF2-40B4-BE49-F238E27FC236}">
                  <a16:creationId xmlns:a16="http://schemas.microsoft.com/office/drawing/2014/main" id="{360119D1-77C4-C714-8BC0-8223F9E8D03D}"/>
                </a:ext>
              </a:extLst>
            </p:cNvPr>
            <p:cNvSpPr/>
            <p:nvPr/>
          </p:nvSpPr>
          <p:spPr>
            <a:xfrm>
              <a:off x="2297614" y="1208194"/>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企画・案件管理</a:t>
              </a:r>
            </a:p>
          </p:txBody>
        </p:sp>
        <p:sp>
          <p:nvSpPr>
            <p:cNvPr id="7" name="正方形/長方形 6">
              <a:extLst>
                <a:ext uri="{FF2B5EF4-FFF2-40B4-BE49-F238E27FC236}">
                  <a16:creationId xmlns:a16="http://schemas.microsoft.com/office/drawing/2014/main" id="{18D2405E-BAE0-84B4-E483-56DD2721612F}"/>
                </a:ext>
              </a:extLst>
            </p:cNvPr>
            <p:cNvSpPr/>
            <p:nvPr/>
          </p:nvSpPr>
          <p:spPr>
            <a:xfrm>
              <a:off x="6327225"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優先順位付け・承認</a:t>
              </a:r>
            </a:p>
          </p:txBody>
        </p:sp>
        <p:sp>
          <p:nvSpPr>
            <p:cNvPr id="11" name="正方形/長方形 10">
              <a:extLst>
                <a:ext uri="{FF2B5EF4-FFF2-40B4-BE49-F238E27FC236}">
                  <a16:creationId xmlns:a16="http://schemas.microsoft.com/office/drawing/2014/main" id="{2A894E88-183F-E993-FC21-286890C11828}"/>
                </a:ext>
              </a:extLst>
            </p:cNvPr>
            <p:cNvSpPr/>
            <p:nvPr/>
          </p:nvSpPr>
          <p:spPr>
            <a:xfrm>
              <a:off x="5029734"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ROI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評価・スコアリング</a:t>
              </a:r>
            </a:p>
          </p:txBody>
        </p:sp>
        <p:sp>
          <p:nvSpPr>
            <p:cNvPr id="27" name="正方形/長方形 26">
              <a:extLst>
                <a:ext uri="{FF2B5EF4-FFF2-40B4-BE49-F238E27FC236}">
                  <a16:creationId xmlns:a16="http://schemas.microsoft.com/office/drawing/2014/main" id="{ED8FC06B-A739-5D9B-CEF0-4BBBCC0870E0}"/>
                </a:ext>
              </a:extLst>
            </p:cNvPr>
            <p:cNvSpPr/>
            <p:nvPr/>
          </p:nvSpPr>
          <p:spPr>
            <a:xfrm>
              <a:off x="2434752"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案件受付・起案</a:t>
              </a:r>
            </a:p>
          </p:txBody>
        </p:sp>
        <p:sp>
          <p:nvSpPr>
            <p:cNvPr id="29" name="正方形/長方形 28">
              <a:extLst>
                <a:ext uri="{FF2B5EF4-FFF2-40B4-BE49-F238E27FC236}">
                  <a16:creationId xmlns:a16="http://schemas.microsoft.com/office/drawing/2014/main" id="{D7E5D290-1D3E-ED39-8A7C-D2E78B8C97CF}"/>
                </a:ext>
              </a:extLst>
            </p:cNvPr>
            <p:cNvSpPr/>
            <p:nvPr/>
          </p:nvSpPr>
          <p:spPr>
            <a:xfrm>
              <a:off x="3732243"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ユースケース整理</a:t>
              </a:r>
            </a:p>
          </p:txBody>
        </p:sp>
        <p:sp>
          <p:nvSpPr>
            <p:cNvPr id="31" name="正方形/長方形 30">
              <a:extLst>
                <a:ext uri="{FF2B5EF4-FFF2-40B4-BE49-F238E27FC236}">
                  <a16:creationId xmlns:a16="http://schemas.microsoft.com/office/drawing/2014/main" id="{89E1D2F4-006A-CE22-6FEC-5EBF09E79885}"/>
                </a:ext>
              </a:extLst>
            </p:cNvPr>
            <p:cNvSpPr/>
            <p:nvPr/>
          </p:nvSpPr>
          <p:spPr>
            <a:xfrm>
              <a:off x="7624715" y="144734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ポートフォリオ管理</a:t>
              </a:r>
            </a:p>
          </p:txBody>
        </p:sp>
        <p:cxnSp>
          <p:nvCxnSpPr>
            <p:cNvPr id="42" name="直線矢印コネクタ 41">
              <a:extLst>
                <a:ext uri="{FF2B5EF4-FFF2-40B4-BE49-F238E27FC236}">
                  <a16:creationId xmlns:a16="http://schemas.microsoft.com/office/drawing/2014/main" id="{BE6EB65D-396F-DACE-1758-EAFF996F62E4}"/>
                </a:ext>
              </a:extLst>
            </p:cNvPr>
            <p:cNvCxnSpPr>
              <a:cxnSpLocks/>
              <a:stCxn id="29" idx="3"/>
              <a:endCxn id="11" idx="1"/>
            </p:cNvCxnSpPr>
            <p:nvPr/>
          </p:nvCxnSpPr>
          <p:spPr>
            <a:xfrm>
              <a:off x="4848775"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5" name="直線矢印コネクタ 54">
              <a:extLst>
                <a:ext uri="{FF2B5EF4-FFF2-40B4-BE49-F238E27FC236}">
                  <a16:creationId xmlns:a16="http://schemas.microsoft.com/office/drawing/2014/main" id="{E826588F-4C9E-518B-33A7-A4484F66ECF2}"/>
                </a:ext>
              </a:extLst>
            </p:cNvPr>
            <p:cNvCxnSpPr>
              <a:cxnSpLocks/>
              <a:stCxn id="27" idx="3"/>
              <a:endCxn id="29" idx="1"/>
            </p:cNvCxnSpPr>
            <p:nvPr/>
          </p:nvCxnSpPr>
          <p:spPr>
            <a:xfrm>
              <a:off x="3551284"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7" name="直線矢印コネクタ 66">
              <a:extLst>
                <a:ext uri="{FF2B5EF4-FFF2-40B4-BE49-F238E27FC236}">
                  <a16:creationId xmlns:a16="http://schemas.microsoft.com/office/drawing/2014/main" id="{43A61810-2456-518F-2F6F-260235D7B129}"/>
                </a:ext>
              </a:extLst>
            </p:cNvPr>
            <p:cNvCxnSpPr>
              <a:cxnSpLocks/>
              <a:stCxn id="11" idx="3"/>
              <a:endCxn id="7" idx="1"/>
            </p:cNvCxnSpPr>
            <p:nvPr/>
          </p:nvCxnSpPr>
          <p:spPr>
            <a:xfrm>
              <a:off x="6146266" y="1566252"/>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7" name="直線矢印コネクタ 86">
              <a:extLst>
                <a:ext uri="{FF2B5EF4-FFF2-40B4-BE49-F238E27FC236}">
                  <a16:creationId xmlns:a16="http://schemas.microsoft.com/office/drawing/2014/main" id="{5DBB4662-4BC7-C458-ED2F-BD4366F2F197}"/>
                </a:ext>
              </a:extLst>
            </p:cNvPr>
            <p:cNvCxnSpPr>
              <a:cxnSpLocks/>
              <a:stCxn id="7" idx="3"/>
              <a:endCxn id="31" idx="1"/>
            </p:cNvCxnSpPr>
            <p:nvPr/>
          </p:nvCxnSpPr>
          <p:spPr>
            <a:xfrm>
              <a:off x="7443757" y="1566252"/>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8" name="正方形/長方形 97">
              <a:extLst>
                <a:ext uri="{FF2B5EF4-FFF2-40B4-BE49-F238E27FC236}">
                  <a16:creationId xmlns:a16="http://schemas.microsoft.com/office/drawing/2014/main" id="{E25D6513-7866-A08A-5385-A031BB06A6C2}"/>
                </a:ext>
              </a:extLst>
            </p:cNvPr>
            <p:cNvSpPr/>
            <p:nvPr/>
          </p:nvSpPr>
          <p:spPr>
            <a:xfrm>
              <a:off x="2297614" y="1982767"/>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altLang="ja-JP" sz="1000" b="1" u="sng" dirty="0">
                  <a:solidFill>
                    <a:schemeClr val="accent3">
                      <a:lumMod val="10000"/>
                    </a:schemeClr>
                  </a:solidFill>
                  <a:latin typeface="Meiryo UI" panose="020B0604030504040204" pitchFamily="50" charset="-128"/>
                  <a:ea typeface="Meiryo UI" panose="020B0604030504040204" pitchFamily="50" charset="-128"/>
                </a:rPr>
                <a:t>AI</a:t>
              </a:r>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エージェント設計・開発管理</a:t>
              </a:r>
            </a:p>
          </p:txBody>
        </p:sp>
        <p:sp>
          <p:nvSpPr>
            <p:cNvPr id="100" name="正方形/長方形 99">
              <a:extLst>
                <a:ext uri="{FF2B5EF4-FFF2-40B4-BE49-F238E27FC236}">
                  <a16:creationId xmlns:a16="http://schemas.microsoft.com/office/drawing/2014/main" id="{0281D74A-FC2D-09FA-D401-8E5F4CAC33BA}"/>
                </a:ext>
              </a:extLst>
            </p:cNvPr>
            <p:cNvSpPr/>
            <p:nvPr/>
          </p:nvSpPr>
          <p:spPr>
            <a:xfrm>
              <a:off x="6327225"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テスト</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5DB0D083-7ED1-6A0C-A1EC-40819C68F0F6}"/>
                </a:ext>
              </a:extLst>
            </p:cNvPr>
            <p:cNvSpPr/>
            <p:nvPr/>
          </p:nvSpPr>
          <p:spPr>
            <a:xfrm>
              <a:off x="5029734"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開発</a:t>
              </a:r>
            </a:p>
          </p:txBody>
        </p:sp>
        <p:sp>
          <p:nvSpPr>
            <p:cNvPr id="102" name="正方形/長方形 101">
              <a:extLst>
                <a:ext uri="{FF2B5EF4-FFF2-40B4-BE49-F238E27FC236}">
                  <a16:creationId xmlns:a16="http://schemas.microsoft.com/office/drawing/2014/main" id="{E10A365E-7687-5799-D5F3-35AEA1C6D12B}"/>
                </a:ext>
              </a:extLst>
            </p:cNvPr>
            <p:cNvSpPr/>
            <p:nvPr/>
          </p:nvSpPr>
          <p:spPr>
            <a:xfrm>
              <a:off x="2434752"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要件定義</a:t>
              </a:r>
            </a:p>
          </p:txBody>
        </p:sp>
        <p:sp>
          <p:nvSpPr>
            <p:cNvPr id="103" name="正方形/長方形 102">
              <a:extLst>
                <a:ext uri="{FF2B5EF4-FFF2-40B4-BE49-F238E27FC236}">
                  <a16:creationId xmlns:a16="http://schemas.microsoft.com/office/drawing/2014/main" id="{0BB56E26-98FC-299A-BE3F-F508F491628B}"/>
                </a:ext>
              </a:extLst>
            </p:cNvPr>
            <p:cNvSpPr/>
            <p:nvPr/>
          </p:nvSpPr>
          <p:spPr>
            <a:xfrm>
              <a:off x="3732243"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設計</a:t>
              </a:r>
            </a:p>
          </p:txBody>
        </p:sp>
        <p:sp>
          <p:nvSpPr>
            <p:cNvPr id="104" name="正方形/長方形 103">
              <a:extLst>
                <a:ext uri="{FF2B5EF4-FFF2-40B4-BE49-F238E27FC236}">
                  <a16:creationId xmlns:a16="http://schemas.microsoft.com/office/drawing/2014/main" id="{96280A83-95A0-32C0-F1A6-056FD7E72EA1}"/>
                </a:ext>
              </a:extLst>
            </p:cNvPr>
            <p:cNvSpPr/>
            <p:nvPr/>
          </p:nvSpPr>
          <p:spPr>
            <a:xfrm>
              <a:off x="7624715" y="2221915"/>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リリース</a:t>
              </a:r>
            </a:p>
          </p:txBody>
        </p:sp>
        <p:cxnSp>
          <p:nvCxnSpPr>
            <p:cNvPr id="105" name="直線矢印コネクタ 104">
              <a:extLst>
                <a:ext uri="{FF2B5EF4-FFF2-40B4-BE49-F238E27FC236}">
                  <a16:creationId xmlns:a16="http://schemas.microsoft.com/office/drawing/2014/main" id="{3EBF3E61-4360-C7E2-29AA-0B203D4099E7}"/>
                </a:ext>
              </a:extLst>
            </p:cNvPr>
            <p:cNvCxnSpPr>
              <a:cxnSpLocks/>
              <a:stCxn id="103" idx="3"/>
              <a:endCxn id="101" idx="1"/>
            </p:cNvCxnSpPr>
            <p:nvPr/>
          </p:nvCxnSpPr>
          <p:spPr>
            <a:xfrm>
              <a:off x="4848775"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6" name="直線矢印コネクタ 105">
              <a:extLst>
                <a:ext uri="{FF2B5EF4-FFF2-40B4-BE49-F238E27FC236}">
                  <a16:creationId xmlns:a16="http://schemas.microsoft.com/office/drawing/2014/main" id="{A264FE14-A029-B508-FC88-FC055ADA0AA0}"/>
                </a:ext>
              </a:extLst>
            </p:cNvPr>
            <p:cNvCxnSpPr>
              <a:cxnSpLocks/>
              <a:stCxn id="102" idx="3"/>
              <a:endCxn id="103" idx="1"/>
            </p:cNvCxnSpPr>
            <p:nvPr/>
          </p:nvCxnSpPr>
          <p:spPr>
            <a:xfrm>
              <a:off x="3551284"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7" name="直線矢印コネクタ 106">
              <a:extLst>
                <a:ext uri="{FF2B5EF4-FFF2-40B4-BE49-F238E27FC236}">
                  <a16:creationId xmlns:a16="http://schemas.microsoft.com/office/drawing/2014/main" id="{DA37EBF5-91F1-E0B4-5930-AEC913E75F04}"/>
                </a:ext>
              </a:extLst>
            </p:cNvPr>
            <p:cNvCxnSpPr>
              <a:cxnSpLocks/>
              <a:stCxn id="101" idx="3"/>
              <a:endCxn id="100" idx="1"/>
            </p:cNvCxnSpPr>
            <p:nvPr/>
          </p:nvCxnSpPr>
          <p:spPr>
            <a:xfrm>
              <a:off x="6146266" y="2340825"/>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8" name="直線矢印コネクタ 107">
              <a:extLst>
                <a:ext uri="{FF2B5EF4-FFF2-40B4-BE49-F238E27FC236}">
                  <a16:creationId xmlns:a16="http://schemas.microsoft.com/office/drawing/2014/main" id="{2AF2D3B8-8FB2-5335-65B4-2300EA048D4F}"/>
                </a:ext>
              </a:extLst>
            </p:cNvPr>
            <p:cNvCxnSpPr>
              <a:cxnSpLocks/>
              <a:stCxn id="100" idx="3"/>
              <a:endCxn id="104" idx="1"/>
            </p:cNvCxnSpPr>
            <p:nvPr/>
          </p:nvCxnSpPr>
          <p:spPr>
            <a:xfrm>
              <a:off x="7443757" y="2340825"/>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1" name="正方形/長方形 110">
              <a:extLst>
                <a:ext uri="{FF2B5EF4-FFF2-40B4-BE49-F238E27FC236}">
                  <a16:creationId xmlns:a16="http://schemas.microsoft.com/office/drawing/2014/main" id="{975C6F58-F8F8-9127-E72A-E1466AE84D8A}"/>
                </a:ext>
              </a:extLst>
            </p:cNvPr>
            <p:cNvSpPr/>
            <p:nvPr/>
          </p:nvSpPr>
          <p:spPr>
            <a:xfrm>
              <a:off x="2297614" y="2757340"/>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データ基盤管理</a:t>
              </a:r>
            </a:p>
          </p:txBody>
        </p:sp>
        <p:sp>
          <p:nvSpPr>
            <p:cNvPr id="115" name="正方形/長方形 114">
              <a:extLst>
                <a:ext uri="{FF2B5EF4-FFF2-40B4-BE49-F238E27FC236}">
                  <a16:creationId xmlns:a16="http://schemas.microsoft.com/office/drawing/2014/main" id="{1E08AF6E-039E-143F-01F3-5270D82D7198}"/>
                </a:ext>
              </a:extLst>
            </p:cNvPr>
            <p:cNvSpPr/>
            <p:nvPr/>
          </p:nvSpPr>
          <p:spPr>
            <a:xfrm>
              <a:off x="6327225"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メタデータ管理</a:t>
              </a:r>
            </a:p>
          </p:txBody>
        </p:sp>
        <p:sp>
          <p:nvSpPr>
            <p:cNvPr id="117" name="正方形/長方形 116">
              <a:extLst>
                <a:ext uri="{FF2B5EF4-FFF2-40B4-BE49-F238E27FC236}">
                  <a16:creationId xmlns:a16="http://schemas.microsoft.com/office/drawing/2014/main" id="{BA4ABAE4-2B33-8EC0-E47F-5B5CBC920DC2}"/>
                </a:ext>
              </a:extLst>
            </p:cNvPr>
            <p:cNvSpPr/>
            <p:nvPr/>
          </p:nvSpPr>
          <p:spPr>
            <a:xfrm>
              <a:off x="5029734"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データ品質管理</a:t>
              </a:r>
            </a:p>
          </p:txBody>
        </p:sp>
        <p:sp>
          <p:nvSpPr>
            <p:cNvPr id="120" name="正方形/長方形 119">
              <a:extLst>
                <a:ext uri="{FF2B5EF4-FFF2-40B4-BE49-F238E27FC236}">
                  <a16:creationId xmlns:a16="http://schemas.microsoft.com/office/drawing/2014/main" id="{D7AB303E-CDE6-DA0C-A71E-799957F7F418}"/>
                </a:ext>
              </a:extLst>
            </p:cNvPr>
            <p:cNvSpPr/>
            <p:nvPr/>
          </p:nvSpPr>
          <p:spPr>
            <a:xfrm>
              <a:off x="2434752"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データ要件定義</a:t>
              </a:r>
            </a:p>
          </p:txBody>
        </p:sp>
        <p:sp>
          <p:nvSpPr>
            <p:cNvPr id="121" name="正方形/長方形 120">
              <a:extLst>
                <a:ext uri="{FF2B5EF4-FFF2-40B4-BE49-F238E27FC236}">
                  <a16:creationId xmlns:a16="http://schemas.microsoft.com/office/drawing/2014/main" id="{5627F5E5-8BED-A42D-FD30-3EA91305A229}"/>
                </a:ext>
              </a:extLst>
            </p:cNvPr>
            <p:cNvSpPr/>
            <p:nvPr/>
          </p:nvSpPr>
          <p:spPr>
            <a:xfrm>
              <a:off x="3732243"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データモデル設計</a:t>
              </a:r>
            </a:p>
          </p:txBody>
        </p:sp>
        <p:sp>
          <p:nvSpPr>
            <p:cNvPr id="123" name="正方形/長方形 122">
              <a:extLst>
                <a:ext uri="{FF2B5EF4-FFF2-40B4-BE49-F238E27FC236}">
                  <a16:creationId xmlns:a16="http://schemas.microsoft.com/office/drawing/2014/main" id="{06A33D5F-888F-C028-F786-536F01234F15}"/>
                </a:ext>
              </a:extLst>
            </p:cNvPr>
            <p:cNvSpPr/>
            <p:nvPr/>
          </p:nvSpPr>
          <p:spPr>
            <a:xfrm>
              <a:off x="7624715" y="2996488"/>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KPI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a:t>
              </a:r>
              <a:r>
                <a:rPr lang="ja-JP" altLang="en-US" sz="1000" dirty="0">
                  <a:solidFill>
                    <a:schemeClr val="accent3">
                      <a:lumMod val="10000"/>
                    </a:schemeClr>
                  </a:solidFill>
                  <a:latin typeface="Meiryo UI" panose="020B0604030504040204" pitchFamily="50" charset="-128"/>
                  <a:ea typeface="Meiryo UI" panose="020B0604030504040204" pitchFamily="50" charset="-128"/>
                </a:rPr>
                <a:t>可視化設計</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cxnSp>
          <p:nvCxnSpPr>
            <p:cNvPr id="124" name="直線矢印コネクタ 123">
              <a:extLst>
                <a:ext uri="{FF2B5EF4-FFF2-40B4-BE49-F238E27FC236}">
                  <a16:creationId xmlns:a16="http://schemas.microsoft.com/office/drawing/2014/main" id="{949CAC14-CCAA-AC49-8169-2D45DCD8379D}"/>
                </a:ext>
              </a:extLst>
            </p:cNvPr>
            <p:cNvCxnSpPr>
              <a:cxnSpLocks/>
              <a:stCxn id="121" idx="3"/>
              <a:endCxn id="117" idx="1"/>
            </p:cNvCxnSpPr>
            <p:nvPr/>
          </p:nvCxnSpPr>
          <p:spPr>
            <a:xfrm>
              <a:off x="4848775"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5" name="直線矢印コネクタ 124">
              <a:extLst>
                <a:ext uri="{FF2B5EF4-FFF2-40B4-BE49-F238E27FC236}">
                  <a16:creationId xmlns:a16="http://schemas.microsoft.com/office/drawing/2014/main" id="{9221C804-5136-FAE4-4545-ABA3E158A21B}"/>
                </a:ext>
              </a:extLst>
            </p:cNvPr>
            <p:cNvCxnSpPr>
              <a:cxnSpLocks/>
              <a:stCxn id="120" idx="3"/>
              <a:endCxn id="121" idx="1"/>
            </p:cNvCxnSpPr>
            <p:nvPr/>
          </p:nvCxnSpPr>
          <p:spPr>
            <a:xfrm>
              <a:off x="3551284"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6" name="直線矢印コネクタ 125">
              <a:extLst>
                <a:ext uri="{FF2B5EF4-FFF2-40B4-BE49-F238E27FC236}">
                  <a16:creationId xmlns:a16="http://schemas.microsoft.com/office/drawing/2014/main" id="{0E9F2D71-E1C0-3E3D-AD48-D3FE1ACEC0E4}"/>
                </a:ext>
              </a:extLst>
            </p:cNvPr>
            <p:cNvCxnSpPr>
              <a:cxnSpLocks/>
              <a:stCxn id="117" idx="3"/>
              <a:endCxn id="115" idx="1"/>
            </p:cNvCxnSpPr>
            <p:nvPr/>
          </p:nvCxnSpPr>
          <p:spPr>
            <a:xfrm>
              <a:off x="6146266" y="3115398"/>
              <a:ext cx="1809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2" name="直線矢印コネクタ 131">
              <a:extLst>
                <a:ext uri="{FF2B5EF4-FFF2-40B4-BE49-F238E27FC236}">
                  <a16:creationId xmlns:a16="http://schemas.microsoft.com/office/drawing/2014/main" id="{98F70848-9D19-AE62-21EA-88EB1FEB06AE}"/>
                </a:ext>
              </a:extLst>
            </p:cNvPr>
            <p:cNvCxnSpPr>
              <a:cxnSpLocks/>
              <a:stCxn id="115" idx="3"/>
              <a:endCxn id="123" idx="1"/>
            </p:cNvCxnSpPr>
            <p:nvPr/>
          </p:nvCxnSpPr>
          <p:spPr>
            <a:xfrm>
              <a:off x="7443757" y="3115398"/>
              <a:ext cx="18095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4" name="正方形/長方形 133">
              <a:extLst>
                <a:ext uri="{FF2B5EF4-FFF2-40B4-BE49-F238E27FC236}">
                  <a16:creationId xmlns:a16="http://schemas.microsoft.com/office/drawing/2014/main" id="{7406AC84-414F-553B-6A73-1F861356C55C}"/>
                </a:ext>
              </a:extLst>
            </p:cNvPr>
            <p:cNvSpPr/>
            <p:nvPr/>
          </p:nvSpPr>
          <p:spPr>
            <a:xfrm>
              <a:off x="2297614" y="3531913"/>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運用管理</a:t>
              </a:r>
            </a:p>
          </p:txBody>
        </p:sp>
        <p:sp>
          <p:nvSpPr>
            <p:cNvPr id="138" name="正方形/長方形 137">
              <a:extLst>
                <a:ext uri="{FF2B5EF4-FFF2-40B4-BE49-F238E27FC236}">
                  <a16:creationId xmlns:a16="http://schemas.microsoft.com/office/drawing/2014/main" id="{5F49627B-5F0F-027E-F075-CE092369952B}"/>
                </a:ext>
              </a:extLst>
            </p:cNvPr>
            <p:cNvSpPr/>
            <p:nvPr/>
          </p:nvSpPr>
          <p:spPr>
            <a:xfrm>
              <a:off x="6327225"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変更</a:t>
              </a:r>
            </a:p>
          </p:txBody>
        </p:sp>
        <p:sp>
          <p:nvSpPr>
            <p:cNvPr id="139" name="正方形/長方形 138">
              <a:extLst>
                <a:ext uri="{FF2B5EF4-FFF2-40B4-BE49-F238E27FC236}">
                  <a16:creationId xmlns:a16="http://schemas.microsoft.com/office/drawing/2014/main" id="{4A2321AF-C52A-7D69-8CA1-1B0E5AD8603C}"/>
                </a:ext>
              </a:extLst>
            </p:cNvPr>
            <p:cNvSpPr/>
            <p:nvPr/>
          </p:nvSpPr>
          <p:spPr>
            <a:xfrm>
              <a:off x="5029734"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ログ</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42" name="正方形/長方形 141">
              <a:extLst>
                <a:ext uri="{FF2B5EF4-FFF2-40B4-BE49-F238E27FC236}">
                  <a16:creationId xmlns:a16="http://schemas.microsoft.com/office/drawing/2014/main" id="{D170FF35-C8F6-311A-885E-5E6A9352CBB2}"/>
                </a:ext>
              </a:extLst>
            </p:cNvPr>
            <p:cNvSpPr/>
            <p:nvPr/>
          </p:nvSpPr>
          <p:spPr>
            <a:xfrm>
              <a:off x="2434752"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監視</a:t>
              </a:r>
            </a:p>
          </p:txBody>
        </p:sp>
        <p:sp>
          <p:nvSpPr>
            <p:cNvPr id="143" name="正方形/長方形 142">
              <a:extLst>
                <a:ext uri="{FF2B5EF4-FFF2-40B4-BE49-F238E27FC236}">
                  <a16:creationId xmlns:a16="http://schemas.microsoft.com/office/drawing/2014/main" id="{2D09E97B-765C-03FA-9ECA-669E8B02C44A}"/>
                </a:ext>
              </a:extLst>
            </p:cNvPr>
            <p:cNvSpPr/>
            <p:nvPr/>
          </p:nvSpPr>
          <p:spPr>
            <a:xfrm>
              <a:off x="3732243"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インシデント</a:t>
              </a:r>
            </a:p>
          </p:txBody>
        </p:sp>
        <p:sp>
          <p:nvSpPr>
            <p:cNvPr id="150" name="正方形/長方形 149">
              <a:extLst>
                <a:ext uri="{FF2B5EF4-FFF2-40B4-BE49-F238E27FC236}">
                  <a16:creationId xmlns:a16="http://schemas.microsoft.com/office/drawing/2014/main" id="{C1A025F7-C048-B7C6-1F7E-31FBCFF02481}"/>
                </a:ext>
              </a:extLst>
            </p:cNvPr>
            <p:cNvSpPr/>
            <p:nvPr/>
          </p:nvSpPr>
          <p:spPr>
            <a:xfrm>
              <a:off x="7624715" y="3771061"/>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SLA</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5D7A03C4-4B3C-A6A1-2FD9-9CB519F5E578}"/>
                </a:ext>
              </a:extLst>
            </p:cNvPr>
            <p:cNvSpPr/>
            <p:nvPr/>
          </p:nvSpPr>
          <p:spPr>
            <a:xfrm>
              <a:off x="2297614" y="4306486"/>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セキュリティ・ガバナンス管理</a:t>
              </a:r>
            </a:p>
          </p:txBody>
        </p:sp>
        <p:sp>
          <p:nvSpPr>
            <p:cNvPr id="158" name="正方形/長方形 157">
              <a:extLst>
                <a:ext uri="{FF2B5EF4-FFF2-40B4-BE49-F238E27FC236}">
                  <a16:creationId xmlns:a16="http://schemas.microsoft.com/office/drawing/2014/main" id="{AD72ED42-A0AE-D3EF-E152-A64217EE69E5}"/>
                </a:ext>
              </a:extLst>
            </p:cNvPr>
            <p:cNvSpPr/>
            <p:nvPr/>
          </p:nvSpPr>
          <p:spPr>
            <a:xfrm>
              <a:off x="6327225" y="4545634"/>
              <a:ext cx="1116532" cy="237820"/>
            </a:xfrm>
            <a:prstGeom prst="rect">
              <a:avLst/>
            </a:prstGeom>
            <a:solidFill>
              <a:srgbClr val="FFFFFF"/>
            </a:solidFill>
            <a:ln w="6350">
              <a:solidFill>
                <a:srgbClr val="969696"/>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defTabSz="1279942"/>
              <a:r>
                <a:rPr lang="ja-JP" altLang="en-US" sz="1000" dirty="0">
                  <a:solidFill>
                    <a:srgbClr val="969696"/>
                  </a:solidFill>
                  <a:latin typeface="Meiryo UI" panose="020B0604030504040204" pitchFamily="50" charset="-128"/>
                  <a:ea typeface="Meiryo UI" panose="020B0604030504040204" pitchFamily="50" charset="-128"/>
                </a:rPr>
                <a:t>監査ログ</a:t>
              </a:r>
            </a:p>
          </p:txBody>
        </p:sp>
        <p:sp>
          <p:nvSpPr>
            <p:cNvPr id="159" name="正方形/長方形 158">
              <a:extLst>
                <a:ext uri="{FF2B5EF4-FFF2-40B4-BE49-F238E27FC236}">
                  <a16:creationId xmlns:a16="http://schemas.microsoft.com/office/drawing/2014/main" id="{0917A1B2-2CDB-8E0B-513E-AFAF9928AEF9}"/>
                </a:ext>
              </a:extLst>
            </p:cNvPr>
            <p:cNvSpPr/>
            <p:nvPr/>
          </p:nvSpPr>
          <p:spPr>
            <a:xfrm>
              <a:off x="5029734"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en-US" altLang="ja-JP" sz="1000" dirty="0">
                  <a:solidFill>
                    <a:schemeClr val="accent3">
                      <a:lumMod val="10000"/>
                    </a:schemeClr>
                  </a:solidFill>
                  <a:latin typeface="Meiryo UI" panose="020B0604030504040204" pitchFamily="50" charset="-128"/>
                  <a:ea typeface="Meiryo UI" panose="020B0604030504040204" pitchFamily="50" charset="-128"/>
                </a:rPr>
                <a:t>AI</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ガバナンス</a:t>
              </a:r>
            </a:p>
          </p:txBody>
        </p:sp>
        <p:sp>
          <p:nvSpPr>
            <p:cNvPr id="160" name="正方形/長方形 159">
              <a:extLst>
                <a:ext uri="{FF2B5EF4-FFF2-40B4-BE49-F238E27FC236}">
                  <a16:creationId xmlns:a16="http://schemas.microsoft.com/office/drawing/2014/main" id="{B7806CF3-95D5-43B2-65D5-B9B544BE446D}"/>
                </a:ext>
              </a:extLst>
            </p:cNvPr>
            <p:cNvSpPr/>
            <p:nvPr/>
          </p:nvSpPr>
          <p:spPr>
            <a:xfrm>
              <a:off x="2434752"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アクセス権</a:t>
              </a:r>
            </a:p>
          </p:txBody>
        </p:sp>
        <p:sp>
          <p:nvSpPr>
            <p:cNvPr id="167" name="正方形/長方形 166">
              <a:extLst>
                <a:ext uri="{FF2B5EF4-FFF2-40B4-BE49-F238E27FC236}">
                  <a16:creationId xmlns:a16="http://schemas.microsoft.com/office/drawing/2014/main" id="{D62A381C-7DCC-221C-F524-188AD02C0257}"/>
                </a:ext>
              </a:extLst>
            </p:cNvPr>
            <p:cNvSpPr/>
            <p:nvPr/>
          </p:nvSpPr>
          <p:spPr>
            <a:xfrm>
              <a:off x="3732243" y="4545634"/>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データガバナンス</a:t>
              </a:r>
            </a:p>
          </p:txBody>
        </p:sp>
        <p:sp>
          <p:nvSpPr>
            <p:cNvPr id="168" name="正方形/長方形 167">
              <a:extLst>
                <a:ext uri="{FF2B5EF4-FFF2-40B4-BE49-F238E27FC236}">
                  <a16:creationId xmlns:a16="http://schemas.microsoft.com/office/drawing/2014/main" id="{1E71F8FC-189A-AD16-3095-42498E463ABE}"/>
                </a:ext>
              </a:extLst>
            </p:cNvPr>
            <p:cNvSpPr/>
            <p:nvPr/>
          </p:nvSpPr>
          <p:spPr>
            <a:xfrm>
              <a:off x="7624715" y="4545634"/>
              <a:ext cx="1116532" cy="237820"/>
            </a:xfrm>
            <a:prstGeom prst="rect">
              <a:avLst/>
            </a:prstGeom>
            <a:solidFill>
              <a:srgbClr val="FFFFFF"/>
            </a:solidFill>
            <a:ln w="6350">
              <a:solidFill>
                <a:srgbClr val="969696"/>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defTabSz="1279942"/>
              <a:r>
                <a:rPr lang="ja-JP" altLang="en-US" sz="1000" dirty="0">
                  <a:solidFill>
                    <a:srgbClr val="969696"/>
                  </a:solidFill>
                  <a:latin typeface="Meiryo UI" panose="020B0604030504040204" pitchFamily="50" charset="-128"/>
                  <a:ea typeface="Meiryo UI" panose="020B0604030504040204" pitchFamily="50" charset="-128"/>
                </a:rPr>
                <a:t>コンプライアンス対応</a:t>
              </a:r>
            </a:p>
          </p:txBody>
        </p:sp>
        <p:sp>
          <p:nvSpPr>
            <p:cNvPr id="6" name="正方形/長方形 5">
              <a:extLst>
                <a:ext uri="{FF2B5EF4-FFF2-40B4-BE49-F238E27FC236}">
                  <a16:creationId xmlns:a16="http://schemas.microsoft.com/office/drawing/2014/main" id="{E0AC4D20-A3E4-FB64-28DD-2439B723D3E7}"/>
                </a:ext>
              </a:extLst>
            </p:cNvPr>
            <p:cNvSpPr/>
            <p:nvPr/>
          </p:nvSpPr>
          <p:spPr>
            <a:xfrm>
              <a:off x="2297614" y="5081059"/>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社内展開・教育</a:t>
              </a:r>
            </a:p>
          </p:txBody>
        </p:sp>
        <p:sp>
          <p:nvSpPr>
            <p:cNvPr id="9" name="正方形/長方形 8">
              <a:extLst>
                <a:ext uri="{FF2B5EF4-FFF2-40B4-BE49-F238E27FC236}">
                  <a16:creationId xmlns:a16="http://schemas.microsoft.com/office/drawing/2014/main" id="{F12EF56B-280E-3057-CB7C-69EA13D2E428}"/>
                </a:ext>
              </a:extLst>
            </p:cNvPr>
            <p:cNvSpPr/>
            <p:nvPr/>
          </p:nvSpPr>
          <p:spPr>
            <a:xfrm>
              <a:off x="6327225"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利用促進</a:t>
              </a:r>
            </a:p>
          </p:txBody>
        </p:sp>
        <p:sp>
          <p:nvSpPr>
            <p:cNvPr id="10" name="正方形/長方形 9">
              <a:extLst>
                <a:ext uri="{FF2B5EF4-FFF2-40B4-BE49-F238E27FC236}">
                  <a16:creationId xmlns:a16="http://schemas.microsoft.com/office/drawing/2014/main" id="{AECD1187-EB5C-F66A-F205-30A1CE2CA48D}"/>
                </a:ext>
              </a:extLst>
            </p:cNvPr>
            <p:cNvSpPr/>
            <p:nvPr/>
          </p:nvSpPr>
          <p:spPr>
            <a:xfrm>
              <a:off x="5029734"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市民開発者支援</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2CF277B6-2F23-DB79-15C3-6607307CF196}"/>
                </a:ext>
              </a:extLst>
            </p:cNvPr>
            <p:cNvSpPr/>
            <p:nvPr/>
          </p:nvSpPr>
          <p:spPr>
            <a:xfrm>
              <a:off x="2434752"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社内広報</a:t>
              </a:r>
            </a:p>
          </p:txBody>
        </p:sp>
        <p:sp>
          <p:nvSpPr>
            <p:cNvPr id="13" name="正方形/長方形 12">
              <a:extLst>
                <a:ext uri="{FF2B5EF4-FFF2-40B4-BE49-F238E27FC236}">
                  <a16:creationId xmlns:a16="http://schemas.microsoft.com/office/drawing/2014/main" id="{F290F761-9021-59DF-090C-5F843F96C31C}"/>
                </a:ext>
              </a:extLst>
            </p:cNvPr>
            <p:cNvSpPr/>
            <p:nvPr/>
          </p:nvSpPr>
          <p:spPr>
            <a:xfrm>
              <a:off x="3732243"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業務</a:t>
              </a: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トレーニング</a:t>
              </a:r>
            </a:p>
          </p:txBody>
        </p:sp>
        <p:sp>
          <p:nvSpPr>
            <p:cNvPr id="14" name="正方形/長方形 13">
              <a:extLst>
                <a:ext uri="{FF2B5EF4-FFF2-40B4-BE49-F238E27FC236}">
                  <a16:creationId xmlns:a16="http://schemas.microsoft.com/office/drawing/2014/main" id="{3B9B8A29-F076-509A-DDB0-48DD887EB074}"/>
                </a:ext>
              </a:extLst>
            </p:cNvPr>
            <p:cNvSpPr/>
            <p:nvPr/>
          </p:nvSpPr>
          <p:spPr>
            <a:xfrm>
              <a:off x="7624715" y="5320207"/>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フィードバック収集</a:t>
              </a:r>
            </a:p>
          </p:txBody>
        </p:sp>
        <p:sp>
          <p:nvSpPr>
            <p:cNvPr id="16" name="正方形/長方形 15">
              <a:extLst>
                <a:ext uri="{FF2B5EF4-FFF2-40B4-BE49-F238E27FC236}">
                  <a16:creationId xmlns:a16="http://schemas.microsoft.com/office/drawing/2014/main" id="{5631750C-25E9-9AA5-59BE-15B958BA2D45}"/>
                </a:ext>
              </a:extLst>
            </p:cNvPr>
            <p:cNvSpPr/>
            <p:nvPr/>
          </p:nvSpPr>
          <p:spPr>
            <a:xfrm>
              <a:off x="2297614" y="5855634"/>
              <a:ext cx="6580771" cy="716116"/>
            </a:xfrm>
            <a:prstGeom prst="rect">
              <a:avLst/>
            </a:prstGeom>
            <a:solidFill>
              <a:srgbClr val="E9E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000" b="1" u="sng" dirty="0">
                  <a:solidFill>
                    <a:schemeClr val="accent3">
                      <a:lumMod val="10000"/>
                    </a:schemeClr>
                  </a:solidFill>
                  <a:latin typeface="Meiryo UI" panose="020B0604030504040204" pitchFamily="50" charset="-128"/>
                  <a:ea typeface="Meiryo UI" panose="020B0604030504040204" pitchFamily="50" charset="-128"/>
                </a:rPr>
                <a:t>プロダクト管理</a:t>
              </a:r>
            </a:p>
          </p:txBody>
        </p:sp>
        <p:sp>
          <p:nvSpPr>
            <p:cNvPr id="18" name="正方形/長方形 17">
              <a:extLst>
                <a:ext uri="{FF2B5EF4-FFF2-40B4-BE49-F238E27FC236}">
                  <a16:creationId xmlns:a16="http://schemas.microsoft.com/office/drawing/2014/main" id="{8BA8A709-BBC2-9ACA-39A8-3300082F8E97}"/>
                </a:ext>
              </a:extLst>
            </p:cNvPr>
            <p:cNvSpPr/>
            <p:nvPr/>
          </p:nvSpPr>
          <p:spPr>
            <a:xfrm>
              <a:off x="6327225"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lang="ja-JP" altLang="en-US" sz="1000" dirty="0">
                  <a:solidFill>
                    <a:schemeClr val="accent3">
                      <a:lumMod val="10000"/>
                    </a:schemeClr>
                  </a:solidFill>
                  <a:latin typeface="Meiryo UI" panose="020B0604030504040204" pitchFamily="50" charset="-128"/>
                  <a:ea typeface="Meiryo UI" panose="020B0604030504040204" pitchFamily="50" charset="-128"/>
                </a:rPr>
                <a:t>横展開</a:t>
              </a:r>
              <a:endParaRPr kumimoji="1" lang="ja-JP" altLang="en-US" sz="1000" dirty="0">
                <a:solidFill>
                  <a:schemeClr val="accent3">
                    <a:lumMod val="10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CCC96E3D-1034-082B-1C0C-FD803B16F945}"/>
                </a:ext>
              </a:extLst>
            </p:cNvPr>
            <p:cNvSpPr/>
            <p:nvPr/>
          </p:nvSpPr>
          <p:spPr>
            <a:xfrm>
              <a:off x="5029734"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バージョン管理</a:t>
              </a:r>
            </a:p>
          </p:txBody>
        </p:sp>
        <p:sp>
          <p:nvSpPr>
            <p:cNvPr id="20" name="正方形/長方形 19">
              <a:extLst>
                <a:ext uri="{FF2B5EF4-FFF2-40B4-BE49-F238E27FC236}">
                  <a16:creationId xmlns:a16="http://schemas.microsoft.com/office/drawing/2014/main" id="{9E3D5292-D67D-000E-08EA-4966A38A515C}"/>
                </a:ext>
              </a:extLst>
            </p:cNvPr>
            <p:cNvSpPr/>
            <p:nvPr/>
          </p:nvSpPr>
          <p:spPr>
            <a:xfrm>
              <a:off x="2434752"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標準化</a:t>
              </a:r>
            </a:p>
          </p:txBody>
        </p:sp>
        <p:sp>
          <p:nvSpPr>
            <p:cNvPr id="21" name="正方形/長方形 20">
              <a:extLst>
                <a:ext uri="{FF2B5EF4-FFF2-40B4-BE49-F238E27FC236}">
                  <a16:creationId xmlns:a16="http://schemas.microsoft.com/office/drawing/2014/main" id="{F5747C3D-59CA-CEE0-8740-310C217C140B}"/>
                </a:ext>
              </a:extLst>
            </p:cNvPr>
            <p:cNvSpPr/>
            <p:nvPr/>
          </p:nvSpPr>
          <p:spPr>
            <a:xfrm>
              <a:off x="3732243"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コンポーネント管理</a:t>
              </a:r>
            </a:p>
          </p:txBody>
        </p:sp>
        <p:sp>
          <p:nvSpPr>
            <p:cNvPr id="22" name="正方形/長方形 21">
              <a:extLst>
                <a:ext uri="{FF2B5EF4-FFF2-40B4-BE49-F238E27FC236}">
                  <a16:creationId xmlns:a16="http://schemas.microsoft.com/office/drawing/2014/main" id="{F0A621E7-57B0-E2CE-35CE-C976133D0882}"/>
                </a:ext>
              </a:extLst>
            </p:cNvPr>
            <p:cNvSpPr/>
            <p:nvPr/>
          </p:nvSpPr>
          <p:spPr>
            <a:xfrm>
              <a:off x="7624715" y="6094782"/>
              <a:ext cx="1116532" cy="23782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lstStyle/>
            <a:p>
              <a:pPr algn="ctr"/>
              <a:r>
                <a:rPr kumimoji="1" lang="ja-JP" altLang="en-US" sz="1000" dirty="0">
                  <a:solidFill>
                    <a:schemeClr val="accent3">
                      <a:lumMod val="10000"/>
                    </a:schemeClr>
                  </a:solidFill>
                  <a:latin typeface="Meiryo UI" panose="020B0604030504040204" pitchFamily="50" charset="-128"/>
                  <a:ea typeface="Meiryo UI" panose="020B0604030504040204" pitchFamily="50" charset="-128"/>
                </a:rPr>
                <a:t>技術戦略</a:t>
              </a:r>
            </a:p>
          </p:txBody>
        </p:sp>
        <p:sp>
          <p:nvSpPr>
            <p:cNvPr id="24" name="四角形: 角を丸くする 23">
              <a:extLst>
                <a:ext uri="{FF2B5EF4-FFF2-40B4-BE49-F238E27FC236}">
                  <a16:creationId xmlns:a16="http://schemas.microsoft.com/office/drawing/2014/main" id="{8258C6F7-5E8E-B8CB-07CF-EFF5252C8526}"/>
                </a:ext>
              </a:extLst>
            </p:cNvPr>
            <p:cNvSpPr/>
            <p:nvPr/>
          </p:nvSpPr>
          <p:spPr>
            <a:xfrm>
              <a:off x="1006303" y="1208194"/>
              <a:ext cx="911819" cy="5363556"/>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1279942"/>
              <a:r>
                <a:rPr lang="ja-JP" altLang="en-US" sz="1400" dirty="0">
                  <a:solidFill>
                    <a:schemeClr val="bg1"/>
                  </a:solidFill>
                  <a:latin typeface="Meiryo UI" panose="020B0604030504040204" pitchFamily="50" charset="-128"/>
                  <a:ea typeface="Meiryo UI" panose="020B0604030504040204" pitchFamily="50" charset="-128"/>
                </a:rPr>
                <a:t>ユーザー</a:t>
              </a:r>
            </a:p>
          </p:txBody>
        </p:sp>
        <p:cxnSp>
          <p:nvCxnSpPr>
            <p:cNvPr id="25" name="直線矢印コネクタ 24">
              <a:extLst>
                <a:ext uri="{FF2B5EF4-FFF2-40B4-BE49-F238E27FC236}">
                  <a16:creationId xmlns:a16="http://schemas.microsoft.com/office/drawing/2014/main" id="{666CED0E-61A9-0348-F732-EABEFBC90DBA}"/>
                </a:ext>
              </a:extLst>
            </p:cNvPr>
            <p:cNvCxnSpPr>
              <a:cxnSpLocks/>
              <a:endCxn id="27" idx="1"/>
            </p:cNvCxnSpPr>
            <p:nvPr/>
          </p:nvCxnSpPr>
          <p:spPr>
            <a:xfrm>
              <a:off x="1914105" y="1566252"/>
              <a:ext cx="52064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4" name="直線矢印コネクタ 93">
              <a:extLst>
                <a:ext uri="{FF2B5EF4-FFF2-40B4-BE49-F238E27FC236}">
                  <a16:creationId xmlns:a16="http://schemas.microsoft.com/office/drawing/2014/main" id="{B229ADE4-8673-16DB-7A43-AC2E2840C93A}"/>
                </a:ext>
              </a:extLst>
            </p:cNvPr>
            <p:cNvCxnSpPr>
              <a:cxnSpLocks/>
            </p:cNvCxnSpPr>
            <p:nvPr/>
          </p:nvCxnSpPr>
          <p:spPr>
            <a:xfrm rot="10800000">
              <a:off x="1914105" y="5446886"/>
              <a:ext cx="52064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0" name="四角形: 角を丸くする 109">
              <a:extLst>
                <a:ext uri="{FF2B5EF4-FFF2-40B4-BE49-F238E27FC236}">
                  <a16:creationId xmlns:a16="http://schemas.microsoft.com/office/drawing/2014/main" id="{6A9AD2CE-169A-FF5B-A584-77E7A57912F0}"/>
                </a:ext>
              </a:extLst>
            </p:cNvPr>
            <p:cNvSpPr/>
            <p:nvPr/>
          </p:nvSpPr>
          <p:spPr>
            <a:xfrm>
              <a:off x="9366077" y="3771062"/>
              <a:ext cx="911819" cy="280068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1279942"/>
              <a:r>
                <a:rPr lang="ja-JP" altLang="en-US" sz="1400" dirty="0">
                  <a:solidFill>
                    <a:schemeClr val="bg1"/>
                  </a:solidFill>
                  <a:latin typeface="Meiryo UI" panose="020B0604030504040204" pitchFamily="50" charset="-128"/>
                  <a:ea typeface="Meiryo UI" panose="020B0604030504040204" pitchFamily="50" charset="-128"/>
                </a:rPr>
                <a:t>インフラ</a:t>
              </a:r>
            </a:p>
          </p:txBody>
        </p:sp>
      </p:grpSp>
      <p:sp>
        <p:nvSpPr>
          <p:cNvPr id="162" name="正方形/長方形 161">
            <a:extLst>
              <a:ext uri="{FF2B5EF4-FFF2-40B4-BE49-F238E27FC236}">
                <a16:creationId xmlns:a16="http://schemas.microsoft.com/office/drawing/2014/main" id="{3CE31482-1DEB-193A-2B44-8DE3E6C8538A}"/>
              </a:ext>
            </a:extLst>
          </p:cNvPr>
          <p:cNvSpPr/>
          <p:nvPr/>
        </p:nvSpPr>
        <p:spPr>
          <a:xfrm>
            <a:off x="8154234" y="814890"/>
            <a:ext cx="2029045"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開発・保守領域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63" name="正方形/長方形 162">
            <a:extLst>
              <a:ext uri="{FF2B5EF4-FFF2-40B4-BE49-F238E27FC236}">
                <a16:creationId xmlns:a16="http://schemas.microsoft.com/office/drawing/2014/main" id="{462F230C-1301-99E1-0F19-87BF8CDF1110}"/>
              </a:ext>
            </a:extLst>
          </p:cNvPr>
          <p:cNvSpPr/>
          <p:nvPr/>
        </p:nvSpPr>
        <p:spPr>
          <a:xfrm>
            <a:off x="8154234" y="1141538"/>
            <a:ext cx="2029045" cy="3707082"/>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164" name="正方形/長方形 163">
            <a:extLst>
              <a:ext uri="{FF2B5EF4-FFF2-40B4-BE49-F238E27FC236}">
                <a16:creationId xmlns:a16="http://schemas.microsoft.com/office/drawing/2014/main" id="{80F83A45-999A-8F9F-99EC-0B3BA27B04EE}"/>
              </a:ext>
            </a:extLst>
          </p:cNvPr>
          <p:cNvSpPr/>
          <p:nvPr/>
        </p:nvSpPr>
        <p:spPr>
          <a:xfrm>
            <a:off x="5122650" y="809308"/>
            <a:ext cx="2657207"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運用管理領域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65" name="正方形/長方形 164">
            <a:extLst>
              <a:ext uri="{FF2B5EF4-FFF2-40B4-BE49-F238E27FC236}">
                <a16:creationId xmlns:a16="http://schemas.microsoft.com/office/drawing/2014/main" id="{808DB192-84A2-1C2C-9D1E-524F60FA77A0}"/>
              </a:ext>
            </a:extLst>
          </p:cNvPr>
          <p:cNvSpPr/>
          <p:nvPr/>
        </p:nvSpPr>
        <p:spPr>
          <a:xfrm>
            <a:off x="5122650" y="1135956"/>
            <a:ext cx="2657207" cy="3707082"/>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166" name="正方形/長方形 165">
            <a:extLst>
              <a:ext uri="{FF2B5EF4-FFF2-40B4-BE49-F238E27FC236}">
                <a16:creationId xmlns:a16="http://schemas.microsoft.com/office/drawing/2014/main" id="{0AEC1228-1CFC-9519-BA61-364BC4599D3A}"/>
              </a:ext>
            </a:extLst>
          </p:cNvPr>
          <p:cNvSpPr/>
          <p:nvPr/>
        </p:nvSpPr>
        <p:spPr>
          <a:xfrm>
            <a:off x="1929134" y="1188528"/>
            <a:ext cx="361110" cy="4713110"/>
          </a:xfrm>
          <a:prstGeom prst="rect">
            <a:avLst/>
          </a:prstGeom>
          <a:solidFill>
            <a:srgbClr val="E7E6E6"/>
          </a:solidFill>
          <a:ln w="19050" cap="flat" cmpd="sng" algn="ctr">
            <a:solidFill>
              <a:srgbClr val="E7E6E6">
                <a:lumMod val="50000"/>
              </a:srgbClr>
            </a:solid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ユーザ</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170" name="コネクタ: カギ線 189">
            <a:extLst>
              <a:ext uri="{FF2B5EF4-FFF2-40B4-BE49-F238E27FC236}">
                <a16:creationId xmlns:a16="http://schemas.microsoft.com/office/drawing/2014/main" id="{752F95E7-51B3-B8AB-129C-C52D8B9B0A7F}"/>
              </a:ext>
            </a:extLst>
          </p:cNvPr>
          <p:cNvCxnSpPr>
            <a:cxnSpLocks/>
            <a:stCxn id="196" idx="3"/>
            <a:endCxn id="194" idx="1"/>
          </p:cNvCxnSpPr>
          <p:nvPr/>
        </p:nvCxnSpPr>
        <p:spPr>
          <a:xfrm flipV="1">
            <a:off x="6713840" y="2799877"/>
            <a:ext cx="746213" cy="23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171" name="コネクタ: カギ線 189">
            <a:extLst>
              <a:ext uri="{FF2B5EF4-FFF2-40B4-BE49-F238E27FC236}">
                <a16:creationId xmlns:a16="http://schemas.microsoft.com/office/drawing/2014/main" id="{60BE3A05-509D-ED13-0872-360142B4CBF4}"/>
              </a:ext>
            </a:extLst>
          </p:cNvPr>
          <p:cNvCxnSpPr>
            <a:cxnSpLocks/>
            <a:stCxn id="189" idx="3"/>
            <a:endCxn id="209" idx="0"/>
          </p:cNvCxnSpPr>
          <p:nvPr/>
        </p:nvCxnSpPr>
        <p:spPr>
          <a:xfrm>
            <a:off x="8410316" y="2218199"/>
            <a:ext cx="1133797" cy="1518627"/>
          </a:xfrm>
          <a:prstGeom prst="bentConnector2">
            <a:avLst/>
          </a:prstGeom>
          <a:noFill/>
          <a:ln w="6350" cap="flat" cmpd="sng" algn="ctr">
            <a:solidFill>
              <a:srgbClr val="E7E6E6">
                <a:lumMod val="50000"/>
              </a:srgbClr>
            </a:solidFill>
            <a:prstDash val="solid"/>
            <a:miter lim="800000"/>
            <a:tailEnd type="triangle"/>
          </a:ln>
          <a:effectLst/>
        </p:spPr>
      </p:cxnSp>
      <p:cxnSp>
        <p:nvCxnSpPr>
          <p:cNvPr id="172" name="コネクタ: カギ線 189">
            <a:extLst>
              <a:ext uri="{FF2B5EF4-FFF2-40B4-BE49-F238E27FC236}">
                <a16:creationId xmlns:a16="http://schemas.microsoft.com/office/drawing/2014/main" id="{C4289847-69D4-6710-0643-AF76EF3854AF}"/>
              </a:ext>
            </a:extLst>
          </p:cNvPr>
          <p:cNvCxnSpPr>
            <a:cxnSpLocks/>
            <a:stCxn id="189" idx="0"/>
            <a:endCxn id="188" idx="2"/>
          </p:cNvCxnSpPr>
          <p:nvPr/>
        </p:nvCxnSpPr>
        <p:spPr>
          <a:xfrm rot="16200000" flipV="1">
            <a:off x="7260499" y="1360935"/>
            <a:ext cx="469535" cy="873835"/>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173" name="コネクタ: カギ線 189">
            <a:extLst>
              <a:ext uri="{FF2B5EF4-FFF2-40B4-BE49-F238E27FC236}">
                <a16:creationId xmlns:a16="http://schemas.microsoft.com/office/drawing/2014/main" id="{07AA2B68-DE5E-D76C-6B5E-45E2C1AB7974}"/>
              </a:ext>
            </a:extLst>
          </p:cNvPr>
          <p:cNvCxnSpPr>
            <a:cxnSpLocks/>
            <a:stCxn id="184" idx="3"/>
            <a:endCxn id="189" idx="1"/>
          </p:cNvCxnSpPr>
          <p:nvPr/>
        </p:nvCxnSpPr>
        <p:spPr>
          <a:xfrm>
            <a:off x="6117867" y="2218199"/>
            <a:ext cx="1336182" cy="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174" name="コネクタ: カギ線 189">
            <a:extLst>
              <a:ext uri="{FF2B5EF4-FFF2-40B4-BE49-F238E27FC236}">
                <a16:creationId xmlns:a16="http://schemas.microsoft.com/office/drawing/2014/main" id="{2913E363-0F58-0AB7-EC68-7FD7F5FEB432}"/>
              </a:ext>
            </a:extLst>
          </p:cNvPr>
          <p:cNvCxnSpPr>
            <a:cxnSpLocks/>
            <a:stCxn id="184" idx="2"/>
            <a:endCxn id="182" idx="0"/>
          </p:cNvCxnSpPr>
          <p:nvPr/>
        </p:nvCxnSpPr>
        <p:spPr>
          <a:xfrm rot="5400000">
            <a:off x="5012054" y="2337180"/>
            <a:ext cx="560102" cy="693298"/>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175" name="コネクタ: カギ線 189">
            <a:extLst>
              <a:ext uri="{FF2B5EF4-FFF2-40B4-BE49-F238E27FC236}">
                <a16:creationId xmlns:a16="http://schemas.microsoft.com/office/drawing/2014/main" id="{D8E630A6-635B-4481-4B86-96DCFF86BA06}"/>
              </a:ext>
            </a:extLst>
          </p:cNvPr>
          <p:cNvCxnSpPr>
            <a:cxnSpLocks/>
            <a:stCxn id="184" idx="2"/>
            <a:endCxn id="201" idx="0"/>
          </p:cNvCxnSpPr>
          <p:nvPr/>
        </p:nvCxnSpPr>
        <p:spPr>
          <a:xfrm>
            <a:off x="5638754" y="2403778"/>
            <a:ext cx="1960" cy="1337009"/>
          </a:xfrm>
          <a:prstGeom prst="straightConnector1">
            <a:avLst/>
          </a:prstGeom>
          <a:noFill/>
          <a:ln w="6350" cap="flat" cmpd="sng" algn="ctr">
            <a:solidFill>
              <a:srgbClr val="E7E6E6">
                <a:lumMod val="50000"/>
              </a:srgbClr>
            </a:solidFill>
            <a:prstDash val="solid"/>
            <a:miter lim="800000"/>
            <a:tailEnd type="triangle"/>
          </a:ln>
          <a:effectLst/>
        </p:spPr>
      </p:cxnSp>
      <p:sp>
        <p:nvSpPr>
          <p:cNvPr id="176" name="正方形/長方形 175">
            <a:extLst>
              <a:ext uri="{FF2B5EF4-FFF2-40B4-BE49-F238E27FC236}">
                <a16:creationId xmlns:a16="http://schemas.microsoft.com/office/drawing/2014/main" id="{46430060-BA69-45CD-BA0F-6C2E68631C81}"/>
              </a:ext>
            </a:extLst>
          </p:cNvPr>
          <p:cNvSpPr/>
          <p:nvPr/>
        </p:nvSpPr>
        <p:spPr>
          <a:xfrm>
            <a:off x="2863244" y="1135956"/>
            <a:ext cx="1882201" cy="2581301"/>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177" name="正方形/長方形 176">
            <a:extLst>
              <a:ext uri="{FF2B5EF4-FFF2-40B4-BE49-F238E27FC236}">
                <a16:creationId xmlns:a16="http://schemas.microsoft.com/office/drawing/2014/main" id="{C6F4CE97-17BF-ECC5-68B6-4547A77CB5E3}"/>
              </a:ext>
            </a:extLst>
          </p:cNvPr>
          <p:cNvSpPr/>
          <p:nvPr/>
        </p:nvSpPr>
        <p:spPr>
          <a:xfrm>
            <a:off x="2863244" y="809308"/>
            <a:ext cx="1882201"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a:t>
            </a:r>
            <a:r>
              <a:rPr kumimoji="0" lang="ja-JP" altLang="en-US" sz="1400" b="1" u="sng" kern="0" dirty="0">
                <a:solidFill>
                  <a:srgbClr val="E7E6E6">
                    <a:lumMod val="50000"/>
                  </a:srgbClr>
                </a:solidFill>
                <a:latin typeface="Meiryo UI" panose="020B0604030504040204" pitchFamily="50" charset="-128"/>
                <a:ea typeface="Meiryo UI" panose="020B0604030504040204" pitchFamily="50" charset="-128"/>
              </a:rPr>
              <a:t>フロント</a:t>
            </a: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78" name="正方形/長方形 177">
            <a:extLst>
              <a:ext uri="{FF2B5EF4-FFF2-40B4-BE49-F238E27FC236}">
                <a16:creationId xmlns:a16="http://schemas.microsoft.com/office/drawing/2014/main" id="{D77CED85-344A-EBF0-602E-18FDE93730EC}"/>
              </a:ext>
            </a:extLst>
          </p:cNvPr>
          <p:cNvSpPr/>
          <p:nvPr/>
        </p:nvSpPr>
        <p:spPr>
          <a:xfrm>
            <a:off x="2890022" y="2032620"/>
            <a:ext cx="724529"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リクエスト</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79" name="正方形/長方形 178">
            <a:extLst>
              <a:ext uri="{FF2B5EF4-FFF2-40B4-BE49-F238E27FC236}">
                <a16:creationId xmlns:a16="http://schemas.microsoft.com/office/drawing/2014/main" id="{B8439990-4ED9-F2B0-3C6B-C2FF5E110BD5}"/>
              </a:ext>
            </a:extLst>
          </p:cNvPr>
          <p:cNvSpPr/>
          <p:nvPr/>
        </p:nvSpPr>
        <p:spPr>
          <a:xfrm>
            <a:off x="3986099" y="2032620"/>
            <a:ext cx="724529"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チケット</a:t>
            </a:r>
            <a:endPar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80" name="コネクタ: カギ線 189">
            <a:extLst>
              <a:ext uri="{FF2B5EF4-FFF2-40B4-BE49-F238E27FC236}">
                <a16:creationId xmlns:a16="http://schemas.microsoft.com/office/drawing/2014/main" id="{ED6666EA-C30E-782E-3B93-39BEF5344669}"/>
              </a:ext>
            </a:extLst>
          </p:cNvPr>
          <p:cNvCxnSpPr>
            <a:cxnSpLocks/>
            <a:stCxn id="178" idx="3"/>
            <a:endCxn id="179" idx="1"/>
          </p:cNvCxnSpPr>
          <p:nvPr/>
        </p:nvCxnSpPr>
        <p:spPr>
          <a:xfrm>
            <a:off x="3614551" y="2218199"/>
            <a:ext cx="371548" cy="0"/>
          </a:xfrm>
          <a:prstGeom prst="straightConnector1">
            <a:avLst/>
          </a:prstGeom>
          <a:noFill/>
          <a:ln w="6350" cap="flat" cmpd="sng" algn="ctr">
            <a:solidFill>
              <a:srgbClr val="E7E6E6">
                <a:lumMod val="50000"/>
              </a:srgbClr>
            </a:solidFill>
            <a:prstDash val="solid"/>
            <a:miter lim="800000"/>
            <a:tailEnd type="triangle"/>
          </a:ln>
          <a:effectLst/>
        </p:spPr>
      </p:cxnSp>
      <p:sp>
        <p:nvSpPr>
          <p:cNvPr id="181" name="正方形/長方形 180">
            <a:extLst>
              <a:ext uri="{FF2B5EF4-FFF2-40B4-BE49-F238E27FC236}">
                <a16:creationId xmlns:a16="http://schemas.microsoft.com/office/drawing/2014/main" id="{02044005-9B6E-8D20-C64B-064DA82EB07D}"/>
              </a:ext>
            </a:extLst>
          </p:cNvPr>
          <p:cNvSpPr/>
          <p:nvPr/>
        </p:nvSpPr>
        <p:spPr>
          <a:xfrm>
            <a:off x="2890022" y="1191927"/>
            <a:ext cx="876930"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カタログ管理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2" name="正方形/長方形 181">
            <a:extLst>
              <a:ext uri="{FF2B5EF4-FFF2-40B4-BE49-F238E27FC236}">
                <a16:creationId xmlns:a16="http://schemas.microsoft.com/office/drawing/2014/main" id="{2293D3C8-F870-F86E-C1CC-7BAFD0AD6BE6}"/>
              </a:ext>
            </a:extLst>
          </p:cNvPr>
          <p:cNvSpPr/>
          <p:nvPr/>
        </p:nvSpPr>
        <p:spPr>
          <a:xfrm>
            <a:off x="4459898" y="2963880"/>
            <a:ext cx="971116" cy="370800"/>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ナレッジ</a:t>
            </a:r>
            <a:endPar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3" name="テキスト ボックス 182">
            <a:extLst>
              <a:ext uri="{FF2B5EF4-FFF2-40B4-BE49-F238E27FC236}">
                <a16:creationId xmlns:a16="http://schemas.microsoft.com/office/drawing/2014/main" id="{6AB944E1-8EAA-15AA-F40D-43E2EE166C7E}"/>
              </a:ext>
            </a:extLst>
          </p:cNvPr>
          <p:cNvSpPr txBox="1"/>
          <p:nvPr/>
        </p:nvSpPr>
        <p:spPr>
          <a:xfrm>
            <a:off x="3542561" y="2233430"/>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起票</a:t>
            </a:r>
          </a:p>
        </p:txBody>
      </p:sp>
      <p:sp>
        <p:nvSpPr>
          <p:cNvPr id="184" name="正方形/長方形 183">
            <a:extLst>
              <a:ext uri="{FF2B5EF4-FFF2-40B4-BE49-F238E27FC236}">
                <a16:creationId xmlns:a16="http://schemas.microsoft.com/office/drawing/2014/main" id="{134B7300-48ED-8971-3786-8A0ECA508C5F}"/>
              </a:ext>
            </a:extLst>
          </p:cNvPr>
          <p:cNvSpPr/>
          <p:nvPr/>
        </p:nvSpPr>
        <p:spPr>
          <a:xfrm>
            <a:off x="5159640" y="2032620"/>
            <a:ext cx="95822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インシデント</a:t>
            </a:r>
            <a:endPar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85" name="コネクタ: カギ線 189">
            <a:extLst>
              <a:ext uri="{FF2B5EF4-FFF2-40B4-BE49-F238E27FC236}">
                <a16:creationId xmlns:a16="http://schemas.microsoft.com/office/drawing/2014/main" id="{0620912D-857A-5B39-3BDC-74B7E0098D8F}"/>
              </a:ext>
            </a:extLst>
          </p:cNvPr>
          <p:cNvCxnSpPr>
            <a:cxnSpLocks/>
            <a:stCxn id="179" idx="3"/>
            <a:endCxn id="184" idx="1"/>
          </p:cNvCxnSpPr>
          <p:nvPr/>
        </p:nvCxnSpPr>
        <p:spPr>
          <a:xfrm>
            <a:off x="4710628" y="2218199"/>
            <a:ext cx="449012" cy="0"/>
          </a:xfrm>
          <a:prstGeom prst="straightConnector1">
            <a:avLst/>
          </a:prstGeom>
          <a:noFill/>
          <a:ln w="6350" cap="flat" cmpd="sng" algn="ctr">
            <a:solidFill>
              <a:srgbClr val="E7E6E6">
                <a:lumMod val="50000"/>
              </a:srgbClr>
            </a:solidFill>
            <a:prstDash val="solid"/>
            <a:miter lim="800000"/>
            <a:tailEnd type="triangle"/>
          </a:ln>
          <a:effectLst/>
        </p:spPr>
      </p:cxnSp>
      <p:sp>
        <p:nvSpPr>
          <p:cNvPr id="186" name="正方形/長方形 185">
            <a:extLst>
              <a:ext uri="{FF2B5EF4-FFF2-40B4-BE49-F238E27FC236}">
                <a16:creationId xmlns:a16="http://schemas.microsoft.com/office/drawing/2014/main" id="{0AFFB55A-1BEF-2EB8-F249-82DE2734EFB1}"/>
              </a:ext>
            </a:extLst>
          </p:cNvPr>
          <p:cNvSpPr/>
          <p:nvPr/>
        </p:nvSpPr>
        <p:spPr>
          <a:xfrm>
            <a:off x="5161600" y="1194605"/>
            <a:ext cx="95626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サービスレベル管理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7" name="テキスト ボックス 186">
            <a:extLst>
              <a:ext uri="{FF2B5EF4-FFF2-40B4-BE49-F238E27FC236}">
                <a16:creationId xmlns:a16="http://schemas.microsoft.com/office/drawing/2014/main" id="{7753DC03-4BD5-D01E-462D-BE05E161D3DC}"/>
              </a:ext>
            </a:extLst>
          </p:cNvPr>
          <p:cNvSpPr txBox="1"/>
          <p:nvPr/>
        </p:nvSpPr>
        <p:spPr>
          <a:xfrm>
            <a:off x="4875008" y="2447077"/>
            <a:ext cx="754786" cy="27328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情報連携</a:t>
            </a:r>
          </a:p>
        </p:txBody>
      </p:sp>
      <p:sp>
        <p:nvSpPr>
          <p:cNvPr id="188" name="正方形/長方形 187">
            <a:extLst>
              <a:ext uri="{FF2B5EF4-FFF2-40B4-BE49-F238E27FC236}">
                <a16:creationId xmlns:a16="http://schemas.microsoft.com/office/drawing/2014/main" id="{6391EBEF-CE30-5EFE-0FC5-BB6A41BFD59E}"/>
              </a:ext>
            </a:extLst>
          </p:cNvPr>
          <p:cNvSpPr/>
          <p:nvPr/>
        </p:nvSpPr>
        <p:spPr>
          <a:xfrm>
            <a:off x="6580214" y="1191927"/>
            <a:ext cx="95626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プロジェクト</a:t>
            </a:r>
            <a:endPar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89" name="正方形/長方形 188">
            <a:extLst>
              <a:ext uri="{FF2B5EF4-FFF2-40B4-BE49-F238E27FC236}">
                <a16:creationId xmlns:a16="http://schemas.microsoft.com/office/drawing/2014/main" id="{FA6A904D-3BDA-0807-6D45-2992BD888063}"/>
              </a:ext>
            </a:extLst>
          </p:cNvPr>
          <p:cNvSpPr/>
          <p:nvPr/>
        </p:nvSpPr>
        <p:spPr>
          <a:xfrm>
            <a:off x="7454049" y="2032620"/>
            <a:ext cx="95626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問題管理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90" name="テキスト ボックス 189">
            <a:extLst>
              <a:ext uri="{FF2B5EF4-FFF2-40B4-BE49-F238E27FC236}">
                <a16:creationId xmlns:a16="http://schemas.microsoft.com/office/drawing/2014/main" id="{448DB738-FE83-D6DE-6270-554301B82AA4}"/>
              </a:ext>
            </a:extLst>
          </p:cNvPr>
          <p:cNvSpPr txBox="1"/>
          <p:nvPr/>
        </p:nvSpPr>
        <p:spPr>
          <a:xfrm>
            <a:off x="4687692" y="2234751"/>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割当</a:t>
            </a:r>
          </a:p>
        </p:txBody>
      </p:sp>
      <p:cxnSp>
        <p:nvCxnSpPr>
          <p:cNvPr id="191" name="コネクタ: カギ線 189">
            <a:extLst>
              <a:ext uri="{FF2B5EF4-FFF2-40B4-BE49-F238E27FC236}">
                <a16:creationId xmlns:a16="http://schemas.microsoft.com/office/drawing/2014/main" id="{F0F34664-CB05-51D9-7D49-8738DE2D270F}"/>
              </a:ext>
            </a:extLst>
          </p:cNvPr>
          <p:cNvCxnSpPr>
            <a:cxnSpLocks/>
            <a:stCxn id="189" idx="0"/>
            <a:endCxn id="186" idx="2"/>
          </p:cNvCxnSpPr>
          <p:nvPr/>
        </p:nvCxnSpPr>
        <p:spPr>
          <a:xfrm rot="16200000" flipV="1">
            <a:off x="6552531" y="652967"/>
            <a:ext cx="466857" cy="2292449"/>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192" name="テキスト ボックス 191">
            <a:extLst>
              <a:ext uri="{FF2B5EF4-FFF2-40B4-BE49-F238E27FC236}">
                <a16:creationId xmlns:a16="http://schemas.microsoft.com/office/drawing/2014/main" id="{E693D0B5-FBB1-A62B-1E7F-F817CE02204C}"/>
              </a:ext>
            </a:extLst>
          </p:cNvPr>
          <p:cNvSpPr txBox="1"/>
          <p:nvPr/>
        </p:nvSpPr>
        <p:spPr>
          <a:xfrm>
            <a:off x="5645855" y="1569268"/>
            <a:ext cx="754786"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件数集計</a:t>
            </a:r>
          </a:p>
        </p:txBody>
      </p:sp>
      <p:sp>
        <p:nvSpPr>
          <p:cNvPr id="193" name="テキスト ボックス 192">
            <a:extLst>
              <a:ext uri="{FF2B5EF4-FFF2-40B4-BE49-F238E27FC236}">
                <a16:creationId xmlns:a16="http://schemas.microsoft.com/office/drawing/2014/main" id="{31EC109A-F1FF-58F8-3CD1-4DE1347AA8D4}"/>
              </a:ext>
            </a:extLst>
          </p:cNvPr>
          <p:cNvSpPr txBox="1"/>
          <p:nvPr/>
        </p:nvSpPr>
        <p:spPr>
          <a:xfrm>
            <a:off x="7067616" y="1569268"/>
            <a:ext cx="754786"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案件化</a:t>
            </a:r>
          </a:p>
        </p:txBody>
      </p:sp>
      <p:sp>
        <p:nvSpPr>
          <p:cNvPr id="194" name="正方形/長方形 193">
            <a:extLst>
              <a:ext uri="{FF2B5EF4-FFF2-40B4-BE49-F238E27FC236}">
                <a16:creationId xmlns:a16="http://schemas.microsoft.com/office/drawing/2014/main" id="{CC482862-646D-00DE-561A-971737914802}"/>
              </a:ext>
            </a:extLst>
          </p:cNvPr>
          <p:cNvSpPr/>
          <p:nvPr/>
        </p:nvSpPr>
        <p:spPr>
          <a:xfrm>
            <a:off x="7460053" y="2614298"/>
            <a:ext cx="95822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セキュリティ</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パッチ</a:t>
            </a: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195" name="コネクタ: カギ線 189">
            <a:extLst>
              <a:ext uri="{FF2B5EF4-FFF2-40B4-BE49-F238E27FC236}">
                <a16:creationId xmlns:a16="http://schemas.microsoft.com/office/drawing/2014/main" id="{0D54EDD2-F09B-2B7F-7269-C19E954C25FE}"/>
              </a:ext>
            </a:extLst>
          </p:cNvPr>
          <p:cNvCxnSpPr>
            <a:cxnSpLocks/>
            <a:stCxn id="184" idx="3"/>
            <a:endCxn id="202" idx="0"/>
          </p:cNvCxnSpPr>
          <p:nvPr/>
        </p:nvCxnSpPr>
        <p:spPr>
          <a:xfrm>
            <a:off x="6117867" y="2218199"/>
            <a:ext cx="937950" cy="1518627"/>
          </a:xfrm>
          <a:prstGeom prst="bentConnector2">
            <a:avLst/>
          </a:prstGeom>
          <a:noFill/>
          <a:ln w="6350" cap="flat" cmpd="sng" algn="ctr">
            <a:solidFill>
              <a:srgbClr val="E7E6E6">
                <a:lumMod val="50000"/>
              </a:srgbClr>
            </a:solidFill>
            <a:prstDash val="solid"/>
            <a:miter lim="800000"/>
            <a:tailEnd type="triangle"/>
          </a:ln>
          <a:effectLst/>
        </p:spPr>
      </p:cxnSp>
      <p:sp>
        <p:nvSpPr>
          <p:cNvPr id="196" name="正方形/長方形 195">
            <a:extLst>
              <a:ext uri="{FF2B5EF4-FFF2-40B4-BE49-F238E27FC236}">
                <a16:creationId xmlns:a16="http://schemas.microsoft.com/office/drawing/2014/main" id="{ED08D111-6B7B-4921-8D95-C238428AE86C}"/>
              </a:ext>
            </a:extLst>
          </p:cNvPr>
          <p:cNvSpPr/>
          <p:nvPr/>
        </p:nvSpPr>
        <p:spPr>
          <a:xfrm>
            <a:off x="5993910" y="2614528"/>
            <a:ext cx="719930"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構成管理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97" name="テキスト ボックス 196">
            <a:extLst>
              <a:ext uri="{FF2B5EF4-FFF2-40B4-BE49-F238E27FC236}">
                <a16:creationId xmlns:a16="http://schemas.microsoft.com/office/drawing/2014/main" id="{A7F51B7D-7483-73E7-B1E8-21B9D0BAFFB8}"/>
              </a:ext>
            </a:extLst>
          </p:cNvPr>
          <p:cNvSpPr txBox="1"/>
          <p:nvPr/>
        </p:nvSpPr>
        <p:spPr>
          <a:xfrm>
            <a:off x="5583026" y="3274126"/>
            <a:ext cx="515529"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権限</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確認</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198" name="テキスト ボックス 197">
            <a:extLst>
              <a:ext uri="{FF2B5EF4-FFF2-40B4-BE49-F238E27FC236}">
                <a16:creationId xmlns:a16="http://schemas.microsoft.com/office/drawing/2014/main" id="{B94EA5AC-4F56-0384-CA3C-0671BA3AAD08}"/>
              </a:ext>
            </a:extLst>
          </p:cNvPr>
          <p:cNvSpPr txBox="1"/>
          <p:nvPr/>
        </p:nvSpPr>
        <p:spPr>
          <a:xfrm>
            <a:off x="2264178" y="1814439"/>
            <a:ext cx="657058"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問合せ</a:t>
            </a:r>
            <a:r>
              <a:rPr lang="en-US" altLang="ja-JP" sz="1000">
                <a:solidFill>
                  <a:srgbClr val="E7E6E6">
                    <a:lumMod val="50000"/>
                  </a:srgbClr>
                </a:solidFill>
                <a:latin typeface="Meiryo UI" panose="020B0604030504040204" pitchFamily="50" charset="-128"/>
                <a:ea typeface="Meiryo UI" panose="020B0604030504040204" pitchFamily="50" charset="-128"/>
              </a:rPr>
              <a:t>/</a:t>
            </a:r>
            <a:r>
              <a:rPr lang="ja-JP" altLang="en-US" sz="1000">
                <a:solidFill>
                  <a:srgbClr val="E7E6E6">
                    <a:lumMod val="50000"/>
                  </a:srgbClr>
                </a:solidFill>
                <a:latin typeface="Meiryo UI" panose="020B0604030504040204" pitchFamily="50" charset="-128"/>
                <a:ea typeface="Meiryo UI" panose="020B0604030504040204" pitchFamily="50" charset="-128"/>
              </a:rPr>
              <a:t>回答</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199" name="テキスト ボックス 198">
            <a:extLst>
              <a:ext uri="{FF2B5EF4-FFF2-40B4-BE49-F238E27FC236}">
                <a16:creationId xmlns:a16="http://schemas.microsoft.com/office/drawing/2014/main" id="{1AF1C836-3374-FF5F-F993-F012412638DF}"/>
              </a:ext>
            </a:extLst>
          </p:cNvPr>
          <p:cNvSpPr txBox="1"/>
          <p:nvPr/>
        </p:nvSpPr>
        <p:spPr>
          <a:xfrm>
            <a:off x="6895889" y="1830532"/>
            <a:ext cx="700347"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恒久</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対応</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200" name="テキスト ボックス 199">
            <a:extLst>
              <a:ext uri="{FF2B5EF4-FFF2-40B4-BE49-F238E27FC236}">
                <a16:creationId xmlns:a16="http://schemas.microsoft.com/office/drawing/2014/main" id="{0D63CC92-4E08-D24E-5200-72C1C2FBCE98}"/>
              </a:ext>
            </a:extLst>
          </p:cNvPr>
          <p:cNvSpPr txBox="1"/>
          <p:nvPr/>
        </p:nvSpPr>
        <p:spPr>
          <a:xfrm>
            <a:off x="6993041" y="3135335"/>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セキュリティ対応</a:t>
            </a:r>
          </a:p>
        </p:txBody>
      </p:sp>
      <p:sp>
        <p:nvSpPr>
          <p:cNvPr id="201" name="正方形/長方形 200">
            <a:extLst>
              <a:ext uri="{FF2B5EF4-FFF2-40B4-BE49-F238E27FC236}">
                <a16:creationId xmlns:a16="http://schemas.microsoft.com/office/drawing/2014/main" id="{DA08D74F-D8AB-CC84-666E-FEA44DAFFCD1}"/>
              </a:ext>
            </a:extLst>
          </p:cNvPr>
          <p:cNvSpPr/>
          <p:nvPr/>
        </p:nvSpPr>
        <p:spPr>
          <a:xfrm>
            <a:off x="5161600" y="3740787"/>
            <a:ext cx="95822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アクセス管理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02" name="正方形/長方形 201">
            <a:extLst>
              <a:ext uri="{FF2B5EF4-FFF2-40B4-BE49-F238E27FC236}">
                <a16:creationId xmlns:a16="http://schemas.microsoft.com/office/drawing/2014/main" id="{339823D6-1B9D-22D7-F75A-64364659AA41}"/>
              </a:ext>
            </a:extLst>
          </p:cNvPr>
          <p:cNvSpPr/>
          <p:nvPr/>
        </p:nvSpPr>
        <p:spPr>
          <a:xfrm>
            <a:off x="6577684" y="3736826"/>
            <a:ext cx="956266"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変更管理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03" name="コネクタ: カギ線 189">
            <a:extLst>
              <a:ext uri="{FF2B5EF4-FFF2-40B4-BE49-F238E27FC236}">
                <a16:creationId xmlns:a16="http://schemas.microsoft.com/office/drawing/2014/main" id="{B089C05B-89CF-AD6D-560F-347AC63166FE}"/>
              </a:ext>
            </a:extLst>
          </p:cNvPr>
          <p:cNvCxnSpPr>
            <a:cxnSpLocks/>
            <a:stCxn id="201" idx="3"/>
            <a:endCxn id="202" idx="1"/>
          </p:cNvCxnSpPr>
          <p:nvPr/>
        </p:nvCxnSpPr>
        <p:spPr>
          <a:xfrm flipV="1">
            <a:off x="6119827" y="3922405"/>
            <a:ext cx="457857" cy="3961"/>
          </a:xfrm>
          <a:prstGeom prst="straightConnector1">
            <a:avLst/>
          </a:prstGeom>
          <a:noFill/>
          <a:ln w="6350" cap="flat" cmpd="sng" algn="ctr">
            <a:solidFill>
              <a:srgbClr val="E7E6E6">
                <a:lumMod val="50000"/>
              </a:srgbClr>
            </a:solidFill>
            <a:prstDash val="solid"/>
            <a:miter lim="800000"/>
            <a:tailEnd type="triangle"/>
          </a:ln>
          <a:effectLst/>
        </p:spPr>
      </p:cxnSp>
      <p:sp>
        <p:nvSpPr>
          <p:cNvPr id="204" name="テキスト ボックス 203">
            <a:extLst>
              <a:ext uri="{FF2B5EF4-FFF2-40B4-BE49-F238E27FC236}">
                <a16:creationId xmlns:a16="http://schemas.microsoft.com/office/drawing/2014/main" id="{C71580F6-FD7A-1C33-5965-F99704D1A970}"/>
              </a:ext>
            </a:extLst>
          </p:cNvPr>
          <p:cNvSpPr txBox="1"/>
          <p:nvPr/>
        </p:nvSpPr>
        <p:spPr>
          <a:xfrm>
            <a:off x="6096374" y="3520157"/>
            <a:ext cx="515529"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権限</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変更</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205" name="テキスト ボックス 204">
            <a:extLst>
              <a:ext uri="{FF2B5EF4-FFF2-40B4-BE49-F238E27FC236}">
                <a16:creationId xmlns:a16="http://schemas.microsoft.com/office/drawing/2014/main" id="{12561331-C30B-6B41-5178-6E7A07954717}"/>
              </a:ext>
            </a:extLst>
          </p:cNvPr>
          <p:cNvSpPr txBox="1"/>
          <p:nvPr/>
        </p:nvSpPr>
        <p:spPr>
          <a:xfrm>
            <a:off x="6659658" y="2225480"/>
            <a:ext cx="478346"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暫定</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対応</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206" name="フリーフォーム: 図形 12">
            <a:extLst>
              <a:ext uri="{FF2B5EF4-FFF2-40B4-BE49-F238E27FC236}">
                <a16:creationId xmlns:a16="http://schemas.microsoft.com/office/drawing/2014/main" id="{7288AEFC-7769-704C-122B-620ECDCD4C06}"/>
              </a:ext>
            </a:extLst>
          </p:cNvPr>
          <p:cNvSpPr>
            <a:spLocks/>
          </p:cNvSpPr>
          <p:nvPr/>
        </p:nvSpPr>
        <p:spPr bwMode="auto">
          <a:xfrm>
            <a:off x="7019508" y="2750110"/>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E7E6E6"/>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207" name="コネクタ: カギ線 189">
            <a:extLst>
              <a:ext uri="{FF2B5EF4-FFF2-40B4-BE49-F238E27FC236}">
                <a16:creationId xmlns:a16="http://schemas.microsoft.com/office/drawing/2014/main" id="{644DF71E-F77D-75B8-701F-EF631201B9D7}"/>
              </a:ext>
            </a:extLst>
          </p:cNvPr>
          <p:cNvCxnSpPr>
            <a:cxnSpLocks/>
            <a:stCxn id="194" idx="2"/>
            <a:endCxn id="202" idx="0"/>
          </p:cNvCxnSpPr>
          <p:nvPr/>
        </p:nvCxnSpPr>
        <p:spPr>
          <a:xfrm rot="5400000">
            <a:off x="7121807" y="2919466"/>
            <a:ext cx="751370" cy="883350"/>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208" name="コネクタ: カギ線 189">
            <a:extLst>
              <a:ext uri="{FF2B5EF4-FFF2-40B4-BE49-F238E27FC236}">
                <a16:creationId xmlns:a16="http://schemas.microsoft.com/office/drawing/2014/main" id="{9686DCD5-910A-1437-E0AB-0F557E212CC9}"/>
              </a:ext>
            </a:extLst>
          </p:cNvPr>
          <p:cNvCxnSpPr>
            <a:cxnSpLocks/>
            <a:stCxn id="209" idx="0"/>
            <a:endCxn id="196" idx="2"/>
          </p:cNvCxnSpPr>
          <p:nvPr/>
        </p:nvCxnSpPr>
        <p:spPr>
          <a:xfrm rot="16200000" flipV="1">
            <a:off x="7573424" y="1766137"/>
            <a:ext cx="751140" cy="3190238"/>
          </a:xfrm>
          <a:prstGeom prst="bentConnector3">
            <a:avLst>
              <a:gd name="adj1" fmla="val 79166"/>
            </a:avLst>
          </a:prstGeom>
          <a:noFill/>
          <a:ln w="6350" cap="flat" cmpd="sng" algn="ctr">
            <a:solidFill>
              <a:srgbClr val="E7E6E6">
                <a:lumMod val="50000"/>
              </a:srgbClr>
            </a:solidFill>
            <a:prstDash val="solid"/>
            <a:miter lim="800000"/>
            <a:headEnd type="triangle"/>
            <a:tailEnd type="triangle"/>
          </a:ln>
          <a:effectLst/>
        </p:spPr>
      </p:cxnSp>
      <p:sp>
        <p:nvSpPr>
          <p:cNvPr id="209" name="正方形/長方形 208">
            <a:extLst>
              <a:ext uri="{FF2B5EF4-FFF2-40B4-BE49-F238E27FC236}">
                <a16:creationId xmlns:a16="http://schemas.microsoft.com/office/drawing/2014/main" id="{7340A4D7-077C-CA0E-9575-E62ADFAFE846}"/>
              </a:ext>
            </a:extLst>
          </p:cNvPr>
          <p:cNvSpPr/>
          <p:nvPr/>
        </p:nvSpPr>
        <p:spPr>
          <a:xfrm>
            <a:off x="8964385" y="3736826"/>
            <a:ext cx="1159455"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ソフトウェア開発</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および</a:t>
            </a: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10" name="コネクタ: カギ線 189">
            <a:extLst>
              <a:ext uri="{FF2B5EF4-FFF2-40B4-BE49-F238E27FC236}">
                <a16:creationId xmlns:a16="http://schemas.microsoft.com/office/drawing/2014/main" id="{2B51F5CF-2B5E-3776-6480-48424CFB8D72}"/>
              </a:ext>
            </a:extLst>
          </p:cNvPr>
          <p:cNvCxnSpPr>
            <a:cxnSpLocks/>
            <a:stCxn id="194" idx="3"/>
            <a:endCxn id="209" idx="0"/>
          </p:cNvCxnSpPr>
          <p:nvPr/>
        </p:nvCxnSpPr>
        <p:spPr>
          <a:xfrm>
            <a:off x="8418280" y="2799877"/>
            <a:ext cx="1125833" cy="936949"/>
          </a:xfrm>
          <a:prstGeom prst="bentConnector2">
            <a:avLst/>
          </a:prstGeom>
          <a:noFill/>
          <a:ln w="6350" cap="flat" cmpd="sng" algn="ctr">
            <a:solidFill>
              <a:srgbClr val="E7E6E6">
                <a:lumMod val="50000"/>
              </a:srgbClr>
            </a:solidFill>
            <a:prstDash val="solid"/>
            <a:miter lim="800000"/>
            <a:tailEnd type="triangle"/>
          </a:ln>
          <a:effectLst/>
        </p:spPr>
      </p:cxnSp>
      <p:sp>
        <p:nvSpPr>
          <p:cNvPr id="211" name="テキスト ボックス 210">
            <a:extLst>
              <a:ext uri="{FF2B5EF4-FFF2-40B4-BE49-F238E27FC236}">
                <a16:creationId xmlns:a16="http://schemas.microsoft.com/office/drawing/2014/main" id="{6B4D0F6F-BFBA-0F0C-726C-1C91FEDB546F}"/>
              </a:ext>
            </a:extLst>
          </p:cNvPr>
          <p:cNvSpPr txBox="1"/>
          <p:nvPr/>
        </p:nvSpPr>
        <p:spPr>
          <a:xfrm>
            <a:off x="8443051" y="2889114"/>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資源同期</a:t>
            </a:r>
          </a:p>
        </p:txBody>
      </p:sp>
      <p:sp>
        <p:nvSpPr>
          <p:cNvPr id="212" name="テキスト ボックス 211">
            <a:extLst>
              <a:ext uri="{FF2B5EF4-FFF2-40B4-BE49-F238E27FC236}">
                <a16:creationId xmlns:a16="http://schemas.microsoft.com/office/drawing/2014/main" id="{0052F33D-E5FA-2C00-0F5D-3FB3CDBCF7DF}"/>
              </a:ext>
            </a:extLst>
          </p:cNvPr>
          <p:cNvSpPr txBox="1"/>
          <p:nvPr/>
        </p:nvSpPr>
        <p:spPr>
          <a:xfrm>
            <a:off x="8443051" y="2557265"/>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セキュリティ対応</a:t>
            </a:r>
          </a:p>
        </p:txBody>
      </p:sp>
      <p:sp>
        <p:nvSpPr>
          <p:cNvPr id="213" name="テキスト ボックス 212">
            <a:extLst>
              <a:ext uri="{FF2B5EF4-FFF2-40B4-BE49-F238E27FC236}">
                <a16:creationId xmlns:a16="http://schemas.microsoft.com/office/drawing/2014/main" id="{F4CD70C1-82E9-88CC-D4CD-2CFFA7354960}"/>
              </a:ext>
            </a:extLst>
          </p:cNvPr>
          <p:cNvSpPr txBox="1"/>
          <p:nvPr/>
        </p:nvSpPr>
        <p:spPr>
          <a:xfrm>
            <a:off x="8443051" y="1987209"/>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案件化</a:t>
            </a:r>
          </a:p>
        </p:txBody>
      </p:sp>
      <p:sp>
        <p:nvSpPr>
          <p:cNvPr id="214" name="正方形/長方形 213">
            <a:extLst>
              <a:ext uri="{FF2B5EF4-FFF2-40B4-BE49-F238E27FC236}">
                <a16:creationId xmlns:a16="http://schemas.microsoft.com/office/drawing/2014/main" id="{E18B101D-08ED-6841-9840-C3A5FCFB1644}"/>
              </a:ext>
            </a:extLst>
          </p:cNvPr>
          <p:cNvSpPr/>
          <p:nvPr/>
        </p:nvSpPr>
        <p:spPr>
          <a:xfrm>
            <a:off x="5156539" y="4380698"/>
            <a:ext cx="95822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維持管理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15" name="正方形/長方形 214">
            <a:extLst>
              <a:ext uri="{FF2B5EF4-FFF2-40B4-BE49-F238E27FC236}">
                <a16:creationId xmlns:a16="http://schemas.microsoft.com/office/drawing/2014/main" id="{B86C361F-2D1E-13A9-1D13-C72BF3C2C4DA}"/>
              </a:ext>
            </a:extLst>
          </p:cNvPr>
          <p:cNvSpPr/>
          <p:nvPr/>
        </p:nvSpPr>
        <p:spPr>
          <a:xfrm>
            <a:off x="6577684" y="4376737"/>
            <a:ext cx="956266"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リリース管理</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展開</a:t>
            </a: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16" name="コネクタ: カギ線 189">
            <a:extLst>
              <a:ext uri="{FF2B5EF4-FFF2-40B4-BE49-F238E27FC236}">
                <a16:creationId xmlns:a16="http://schemas.microsoft.com/office/drawing/2014/main" id="{BC852AC5-2B9D-F126-730B-E190FF35CB87}"/>
              </a:ext>
            </a:extLst>
          </p:cNvPr>
          <p:cNvCxnSpPr>
            <a:cxnSpLocks/>
            <a:stCxn id="214" idx="3"/>
            <a:endCxn id="215" idx="1"/>
          </p:cNvCxnSpPr>
          <p:nvPr/>
        </p:nvCxnSpPr>
        <p:spPr>
          <a:xfrm flipV="1">
            <a:off x="6114766" y="4562316"/>
            <a:ext cx="462918" cy="3961"/>
          </a:xfrm>
          <a:prstGeom prst="straightConnector1">
            <a:avLst/>
          </a:prstGeom>
          <a:noFill/>
          <a:ln w="6350" cap="flat" cmpd="sng" algn="ctr">
            <a:solidFill>
              <a:srgbClr val="E7E6E6">
                <a:lumMod val="50000"/>
              </a:srgbClr>
            </a:solidFill>
            <a:prstDash val="solid"/>
            <a:miter lim="800000"/>
            <a:tailEnd type="triangle"/>
          </a:ln>
          <a:effectLst/>
        </p:spPr>
      </p:cxnSp>
      <p:sp>
        <p:nvSpPr>
          <p:cNvPr id="217" name="テキスト ボックス 216">
            <a:extLst>
              <a:ext uri="{FF2B5EF4-FFF2-40B4-BE49-F238E27FC236}">
                <a16:creationId xmlns:a16="http://schemas.microsoft.com/office/drawing/2014/main" id="{690DD0A3-9FF3-A6C7-90B1-11BF9D213A9B}"/>
              </a:ext>
            </a:extLst>
          </p:cNvPr>
          <p:cNvSpPr txBox="1"/>
          <p:nvPr/>
        </p:nvSpPr>
        <p:spPr>
          <a:xfrm>
            <a:off x="6091313" y="4160068"/>
            <a:ext cx="515529"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定常</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変更</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cxnSp>
        <p:nvCxnSpPr>
          <p:cNvPr id="218" name="コネクタ: カギ線 189">
            <a:extLst>
              <a:ext uri="{FF2B5EF4-FFF2-40B4-BE49-F238E27FC236}">
                <a16:creationId xmlns:a16="http://schemas.microsoft.com/office/drawing/2014/main" id="{5EE78984-42DA-258C-C7F7-8D781B5301FF}"/>
              </a:ext>
            </a:extLst>
          </p:cNvPr>
          <p:cNvCxnSpPr>
            <a:cxnSpLocks/>
            <a:stCxn id="202" idx="2"/>
            <a:endCxn id="215" idx="0"/>
          </p:cNvCxnSpPr>
          <p:nvPr/>
        </p:nvCxnSpPr>
        <p:spPr>
          <a:xfrm>
            <a:off x="7055817" y="4107984"/>
            <a:ext cx="0" cy="268753"/>
          </a:xfrm>
          <a:prstGeom prst="straightConnector1">
            <a:avLst/>
          </a:prstGeom>
          <a:noFill/>
          <a:ln w="6350" cap="flat" cmpd="sng" algn="ctr">
            <a:solidFill>
              <a:srgbClr val="E7E6E6">
                <a:lumMod val="50000"/>
              </a:srgbClr>
            </a:solidFill>
            <a:prstDash val="solid"/>
            <a:miter lim="800000"/>
            <a:tailEnd type="triangle"/>
          </a:ln>
          <a:effectLst/>
        </p:spPr>
      </p:cxnSp>
      <p:sp>
        <p:nvSpPr>
          <p:cNvPr id="219" name="テキスト ボックス 218">
            <a:extLst>
              <a:ext uri="{FF2B5EF4-FFF2-40B4-BE49-F238E27FC236}">
                <a16:creationId xmlns:a16="http://schemas.microsoft.com/office/drawing/2014/main" id="{5B48148A-2544-17D1-0BA1-80519EA3D6D2}"/>
              </a:ext>
            </a:extLst>
          </p:cNvPr>
          <p:cNvSpPr txBox="1"/>
          <p:nvPr/>
        </p:nvSpPr>
        <p:spPr>
          <a:xfrm>
            <a:off x="7065299" y="4116760"/>
            <a:ext cx="75386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変更指示</a:t>
            </a:r>
          </a:p>
        </p:txBody>
      </p:sp>
      <p:sp>
        <p:nvSpPr>
          <p:cNvPr id="220" name="正方形/長方形 219">
            <a:extLst>
              <a:ext uri="{FF2B5EF4-FFF2-40B4-BE49-F238E27FC236}">
                <a16:creationId xmlns:a16="http://schemas.microsoft.com/office/drawing/2014/main" id="{654D97CC-9716-45BA-C55B-E336942B0818}"/>
              </a:ext>
            </a:extLst>
          </p:cNvPr>
          <p:cNvSpPr/>
          <p:nvPr/>
        </p:nvSpPr>
        <p:spPr>
          <a:xfrm>
            <a:off x="1929134" y="6287642"/>
            <a:ext cx="5451692" cy="276402"/>
          </a:xfrm>
          <a:prstGeom prst="rect">
            <a:avLst/>
          </a:prstGeom>
          <a:solidFill>
            <a:srgbClr val="E7E6E6"/>
          </a:solidFill>
          <a:ln w="19050" cap="flat" cmpd="sng" algn="ctr">
            <a:solidFill>
              <a:srgbClr val="E7E6E6">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システム（本番）</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21" name="正方形/長方形 220">
            <a:extLst>
              <a:ext uri="{FF2B5EF4-FFF2-40B4-BE49-F238E27FC236}">
                <a16:creationId xmlns:a16="http://schemas.microsoft.com/office/drawing/2014/main" id="{DC59A953-0D8A-4C97-E8DE-0A2C14892EE7}"/>
              </a:ext>
            </a:extLst>
          </p:cNvPr>
          <p:cNvSpPr/>
          <p:nvPr/>
        </p:nvSpPr>
        <p:spPr>
          <a:xfrm>
            <a:off x="2859940" y="4131921"/>
            <a:ext cx="1599957" cy="1769717"/>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22" name="正方形/長方形 221">
            <a:extLst>
              <a:ext uri="{FF2B5EF4-FFF2-40B4-BE49-F238E27FC236}">
                <a16:creationId xmlns:a16="http://schemas.microsoft.com/office/drawing/2014/main" id="{3571BFB5-C2FE-85FC-6BD7-36ECD1BA1EEB}"/>
              </a:ext>
            </a:extLst>
          </p:cNvPr>
          <p:cNvSpPr/>
          <p:nvPr/>
        </p:nvSpPr>
        <p:spPr>
          <a:xfrm>
            <a:off x="2859940" y="3805273"/>
            <a:ext cx="1580151"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業務管理領域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3" name="正方形/長方形 222">
            <a:extLst>
              <a:ext uri="{FF2B5EF4-FFF2-40B4-BE49-F238E27FC236}">
                <a16:creationId xmlns:a16="http://schemas.microsoft.com/office/drawing/2014/main" id="{A16EE5F0-5797-0387-A1DE-3FC469CFD854}"/>
              </a:ext>
            </a:extLst>
          </p:cNvPr>
          <p:cNvSpPr/>
          <p:nvPr/>
        </p:nvSpPr>
        <p:spPr>
          <a:xfrm>
            <a:off x="3285945" y="5404075"/>
            <a:ext cx="724529"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監視運用</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4" name="正方形/長方形 223">
            <a:extLst>
              <a:ext uri="{FF2B5EF4-FFF2-40B4-BE49-F238E27FC236}">
                <a16:creationId xmlns:a16="http://schemas.microsoft.com/office/drawing/2014/main" id="{96F04D69-D7E8-78D4-1768-C637F9EB3F07}"/>
              </a:ext>
            </a:extLst>
          </p:cNvPr>
          <p:cNvSpPr/>
          <p:nvPr/>
        </p:nvSpPr>
        <p:spPr>
          <a:xfrm>
            <a:off x="2890022" y="4809859"/>
            <a:ext cx="724529"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事業分析</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7" name="正方形/長方形 226">
            <a:extLst>
              <a:ext uri="{FF2B5EF4-FFF2-40B4-BE49-F238E27FC236}">
                <a16:creationId xmlns:a16="http://schemas.microsoft.com/office/drawing/2014/main" id="{A79D123E-143B-F04F-6D82-A074D41AC7EA}"/>
              </a:ext>
            </a:extLst>
          </p:cNvPr>
          <p:cNvSpPr/>
          <p:nvPr/>
        </p:nvSpPr>
        <p:spPr>
          <a:xfrm>
            <a:off x="5122650" y="4845908"/>
            <a:ext cx="5060861" cy="32106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sng"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SRE</a:t>
            </a:r>
            <a:r>
              <a:rPr kumimoji="0" lang="ja-JP" altLang="en-US" sz="1400" b="1" i="0" u="sng"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領域</a:t>
            </a:r>
            <a:endParaRPr kumimoji="0" lang="en-US" altLang="ja-JP" sz="1400" b="1" i="0" u="sng"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28" name="コネクタ: カギ線 189">
            <a:extLst>
              <a:ext uri="{FF2B5EF4-FFF2-40B4-BE49-F238E27FC236}">
                <a16:creationId xmlns:a16="http://schemas.microsoft.com/office/drawing/2014/main" id="{7643BDA3-74DA-0955-84A7-0C7DC8E6A89C}"/>
              </a:ext>
            </a:extLst>
          </p:cNvPr>
          <p:cNvCxnSpPr>
            <a:cxnSpLocks/>
          </p:cNvCxnSpPr>
          <p:nvPr/>
        </p:nvCxnSpPr>
        <p:spPr>
          <a:xfrm flipH="1" flipV="1">
            <a:off x="4243589" y="2403778"/>
            <a:ext cx="3858" cy="1728143"/>
          </a:xfrm>
          <a:prstGeom prst="straightConnector1">
            <a:avLst/>
          </a:prstGeom>
          <a:noFill/>
          <a:ln w="6350" cap="flat" cmpd="sng" algn="ctr">
            <a:solidFill>
              <a:srgbClr val="E7E6E6">
                <a:lumMod val="50000"/>
              </a:srgbClr>
            </a:solidFill>
            <a:prstDash val="solid"/>
            <a:miter lim="800000"/>
            <a:tailEnd type="triangle"/>
          </a:ln>
          <a:effectLst/>
        </p:spPr>
      </p:cxnSp>
      <p:cxnSp>
        <p:nvCxnSpPr>
          <p:cNvPr id="229" name="コネクタ: カギ線 189">
            <a:extLst>
              <a:ext uri="{FF2B5EF4-FFF2-40B4-BE49-F238E27FC236}">
                <a16:creationId xmlns:a16="http://schemas.microsoft.com/office/drawing/2014/main" id="{6EEF8CA5-A532-1161-7D01-573E830D4EB0}"/>
              </a:ext>
            </a:extLst>
          </p:cNvPr>
          <p:cNvCxnSpPr>
            <a:cxnSpLocks/>
            <a:endCxn id="224" idx="1"/>
          </p:cNvCxnSpPr>
          <p:nvPr/>
        </p:nvCxnSpPr>
        <p:spPr>
          <a:xfrm>
            <a:off x="2282568" y="4995142"/>
            <a:ext cx="607454" cy="296"/>
          </a:xfrm>
          <a:prstGeom prst="straightConnector1">
            <a:avLst/>
          </a:prstGeom>
          <a:noFill/>
          <a:ln w="6350" cap="flat" cmpd="sng" algn="ctr">
            <a:solidFill>
              <a:srgbClr val="E7E6E6">
                <a:lumMod val="50000"/>
              </a:srgbClr>
            </a:solidFill>
            <a:prstDash val="solid"/>
            <a:miter lim="800000"/>
            <a:headEnd type="triangle"/>
            <a:tailEnd type="triangle"/>
          </a:ln>
          <a:effectLst/>
        </p:spPr>
      </p:cxnSp>
      <p:sp>
        <p:nvSpPr>
          <p:cNvPr id="230" name="テキスト ボックス 229">
            <a:extLst>
              <a:ext uri="{FF2B5EF4-FFF2-40B4-BE49-F238E27FC236}">
                <a16:creationId xmlns:a16="http://schemas.microsoft.com/office/drawing/2014/main" id="{FEE25C59-6E43-11FA-7D88-AB0DBD6B47DF}"/>
              </a:ext>
            </a:extLst>
          </p:cNvPr>
          <p:cNvSpPr txBox="1"/>
          <p:nvPr/>
        </p:nvSpPr>
        <p:spPr>
          <a:xfrm>
            <a:off x="2256502" y="4594641"/>
            <a:ext cx="657058"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要求</a:t>
            </a:r>
            <a:r>
              <a:rPr lang="en-US" altLang="ja-JP" sz="1000" dirty="0">
                <a:solidFill>
                  <a:srgbClr val="E7E6E6">
                    <a:lumMod val="50000"/>
                  </a:srgbClr>
                </a:solidFill>
                <a:latin typeface="Meiryo UI" panose="020B0604030504040204" pitchFamily="50" charset="-128"/>
                <a:ea typeface="Meiryo UI" panose="020B0604030504040204" pitchFamily="50" charset="-128"/>
              </a:rPr>
              <a:t>/</a:t>
            </a:r>
            <a:br>
              <a:rPr lang="en-US" altLang="ja-JP" sz="1000" dirty="0">
                <a:solidFill>
                  <a:srgbClr val="E7E6E6">
                    <a:lumMod val="50000"/>
                  </a:srgbClr>
                </a:solidFill>
                <a:latin typeface="Meiryo UI" panose="020B0604030504040204" pitchFamily="50" charset="-128"/>
                <a:ea typeface="Meiryo UI" panose="020B0604030504040204" pitchFamily="50" charset="-128"/>
              </a:rPr>
            </a:br>
            <a:r>
              <a:rPr lang="ja-JP" altLang="en-US" sz="1000" dirty="0">
                <a:solidFill>
                  <a:srgbClr val="E7E6E6">
                    <a:lumMod val="50000"/>
                  </a:srgbClr>
                </a:solidFill>
                <a:latin typeface="Meiryo UI" panose="020B0604030504040204" pitchFamily="50" charset="-128"/>
                <a:ea typeface="Meiryo UI" panose="020B0604030504040204" pitchFamily="50" charset="-128"/>
              </a:rPr>
              <a:t>分析</a:t>
            </a:r>
          </a:p>
        </p:txBody>
      </p:sp>
      <p:sp>
        <p:nvSpPr>
          <p:cNvPr id="231" name="テキスト ボックス 230">
            <a:extLst>
              <a:ext uri="{FF2B5EF4-FFF2-40B4-BE49-F238E27FC236}">
                <a16:creationId xmlns:a16="http://schemas.microsoft.com/office/drawing/2014/main" id="{6D545479-C7EB-E639-DA3B-4A1A03F2C980}"/>
              </a:ext>
            </a:extLst>
          </p:cNvPr>
          <p:cNvSpPr txBox="1"/>
          <p:nvPr/>
        </p:nvSpPr>
        <p:spPr>
          <a:xfrm>
            <a:off x="3837950" y="3566373"/>
            <a:ext cx="515529"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起票</a:t>
            </a:r>
          </a:p>
        </p:txBody>
      </p:sp>
      <p:sp>
        <p:nvSpPr>
          <p:cNvPr id="232" name="正方形/長方形 231">
            <a:extLst>
              <a:ext uri="{FF2B5EF4-FFF2-40B4-BE49-F238E27FC236}">
                <a16:creationId xmlns:a16="http://schemas.microsoft.com/office/drawing/2014/main" id="{9867DD4A-E941-49B6-CB48-F0C46BBE7E23}"/>
              </a:ext>
            </a:extLst>
          </p:cNvPr>
          <p:cNvSpPr/>
          <p:nvPr/>
        </p:nvSpPr>
        <p:spPr>
          <a:xfrm>
            <a:off x="7596236" y="6287642"/>
            <a:ext cx="2587275" cy="276402"/>
          </a:xfrm>
          <a:prstGeom prst="rect">
            <a:avLst/>
          </a:prstGeom>
          <a:solidFill>
            <a:srgbClr val="E7E6E6"/>
          </a:solidFill>
          <a:ln w="19050" cap="flat" cmpd="sng" algn="ctr">
            <a:solidFill>
              <a:srgbClr val="E7E6E6">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システム（検証</a:t>
            </a:r>
            <a:r>
              <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r>
              <a:rPr kumimoji="0" lang="ja-JP" altLang="en-US"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開発</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33" name="正方形/長方形 232">
            <a:extLst>
              <a:ext uri="{FF2B5EF4-FFF2-40B4-BE49-F238E27FC236}">
                <a16:creationId xmlns:a16="http://schemas.microsoft.com/office/drawing/2014/main" id="{0F956490-6318-8D13-428C-4A192030F9F8}"/>
              </a:ext>
            </a:extLst>
          </p:cNvPr>
          <p:cNvSpPr/>
          <p:nvPr/>
        </p:nvSpPr>
        <p:spPr>
          <a:xfrm>
            <a:off x="5118195" y="5178827"/>
            <a:ext cx="5065084" cy="722811"/>
          </a:xfrm>
          <a:prstGeom prst="rect">
            <a:avLst/>
          </a:prstGeom>
          <a:solidFill>
            <a:srgbClr val="E7E6E6"/>
          </a:solidFill>
          <a:ln w="19050" cap="flat" cmpd="sng" algn="ctr">
            <a:noFill/>
            <a:prstDash val="solid"/>
          </a:ln>
          <a:effectLst/>
        </p:spPr>
        <p:txBody>
          <a:bodyPr vert="eaVert"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34" name="正方形/長方形 233">
            <a:extLst>
              <a:ext uri="{FF2B5EF4-FFF2-40B4-BE49-F238E27FC236}">
                <a16:creationId xmlns:a16="http://schemas.microsoft.com/office/drawing/2014/main" id="{9EF140DB-697C-1C12-4DB1-3DFF7C40AB3E}"/>
              </a:ext>
            </a:extLst>
          </p:cNvPr>
          <p:cNvSpPr/>
          <p:nvPr/>
        </p:nvSpPr>
        <p:spPr>
          <a:xfrm>
            <a:off x="8964385" y="5309146"/>
            <a:ext cx="1159455"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リリース管理</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展開</a:t>
            </a: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開発</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35" name="コネクタ: カギ線 189">
            <a:extLst>
              <a:ext uri="{FF2B5EF4-FFF2-40B4-BE49-F238E27FC236}">
                <a16:creationId xmlns:a16="http://schemas.microsoft.com/office/drawing/2014/main" id="{27D872DC-C672-FC61-FD90-F1671E25A766}"/>
              </a:ext>
            </a:extLst>
          </p:cNvPr>
          <p:cNvCxnSpPr>
            <a:cxnSpLocks/>
            <a:stCxn id="209" idx="1"/>
            <a:endCxn id="202" idx="3"/>
          </p:cNvCxnSpPr>
          <p:nvPr/>
        </p:nvCxnSpPr>
        <p:spPr>
          <a:xfrm flipH="1">
            <a:off x="7533950" y="3922405"/>
            <a:ext cx="1430435" cy="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236" name="コネクタ: カギ線 189">
            <a:extLst>
              <a:ext uri="{FF2B5EF4-FFF2-40B4-BE49-F238E27FC236}">
                <a16:creationId xmlns:a16="http://schemas.microsoft.com/office/drawing/2014/main" id="{C5AEFEBD-7D5C-983A-942D-B4329339EC55}"/>
              </a:ext>
            </a:extLst>
          </p:cNvPr>
          <p:cNvCxnSpPr>
            <a:cxnSpLocks/>
            <a:stCxn id="209" idx="2"/>
            <a:endCxn id="234" idx="0"/>
          </p:cNvCxnSpPr>
          <p:nvPr/>
        </p:nvCxnSpPr>
        <p:spPr>
          <a:xfrm>
            <a:off x="9544113" y="4107984"/>
            <a:ext cx="0" cy="1201162"/>
          </a:xfrm>
          <a:prstGeom prst="straightConnector1">
            <a:avLst/>
          </a:prstGeom>
          <a:noFill/>
          <a:ln w="6350" cap="flat" cmpd="sng" algn="ctr">
            <a:solidFill>
              <a:srgbClr val="E7E6E6">
                <a:lumMod val="50000"/>
              </a:srgbClr>
            </a:solidFill>
            <a:prstDash val="solid"/>
            <a:miter lim="800000"/>
            <a:tailEnd type="triangle"/>
          </a:ln>
          <a:effectLst/>
        </p:spPr>
      </p:cxnSp>
      <p:sp>
        <p:nvSpPr>
          <p:cNvPr id="237" name="フリーフォーム: 図形 12">
            <a:extLst>
              <a:ext uri="{FF2B5EF4-FFF2-40B4-BE49-F238E27FC236}">
                <a16:creationId xmlns:a16="http://schemas.microsoft.com/office/drawing/2014/main" id="{4034E3BF-5C12-9CB1-0B6A-B393DAA77FDA}"/>
              </a:ext>
            </a:extLst>
          </p:cNvPr>
          <p:cNvSpPr>
            <a:spLocks/>
          </p:cNvSpPr>
          <p:nvPr/>
        </p:nvSpPr>
        <p:spPr bwMode="auto">
          <a:xfrm>
            <a:off x="7025858" y="3093010"/>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E7E6E6"/>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38" name="フリーフォーム: 図形 12">
            <a:extLst>
              <a:ext uri="{FF2B5EF4-FFF2-40B4-BE49-F238E27FC236}">
                <a16:creationId xmlns:a16="http://schemas.microsoft.com/office/drawing/2014/main" id="{BDA47940-715B-9E3D-FB14-0E834A06D1D4}"/>
              </a:ext>
            </a:extLst>
          </p:cNvPr>
          <p:cNvSpPr>
            <a:spLocks/>
          </p:cNvSpPr>
          <p:nvPr/>
        </p:nvSpPr>
        <p:spPr bwMode="auto">
          <a:xfrm>
            <a:off x="7900888" y="3093010"/>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rgbClr val="FFFFFF"/>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239" name="コネクタ: カギ線 189">
            <a:extLst>
              <a:ext uri="{FF2B5EF4-FFF2-40B4-BE49-F238E27FC236}">
                <a16:creationId xmlns:a16="http://schemas.microsoft.com/office/drawing/2014/main" id="{84527A23-E4AE-7B8F-6126-5F4061651144}"/>
              </a:ext>
            </a:extLst>
          </p:cNvPr>
          <p:cNvCxnSpPr>
            <a:cxnSpLocks/>
            <a:stCxn id="209" idx="1"/>
            <a:endCxn id="215" idx="3"/>
          </p:cNvCxnSpPr>
          <p:nvPr/>
        </p:nvCxnSpPr>
        <p:spPr>
          <a:xfrm rot="10800000" flipV="1">
            <a:off x="7533951" y="3922404"/>
            <a:ext cx="1430435" cy="639911"/>
          </a:xfrm>
          <a:prstGeom prst="bentConnector3">
            <a:avLst>
              <a:gd name="adj1" fmla="val 13243"/>
            </a:avLst>
          </a:prstGeom>
          <a:noFill/>
          <a:ln w="6350" cap="flat" cmpd="sng" algn="ctr">
            <a:solidFill>
              <a:srgbClr val="E7E6E6">
                <a:lumMod val="50000"/>
              </a:srgbClr>
            </a:solidFill>
            <a:prstDash val="solid"/>
            <a:miter lim="800000"/>
            <a:tailEnd type="triangle"/>
          </a:ln>
          <a:effectLst/>
        </p:spPr>
      </p:cxnSp>
      <p:sp>
        <p:nvSpPr>
          <p:cNvPr id="240" name="テキスト ボックス 239">
            <a:extLst>
              <a:ext uri="{FF2B5EF4-FFF2-40B4-BE49-F238E27FC236}">
                <a16:creationId xmlns:a16="http://schemas.microsoft.com/office/drawing/2014/main" id="{BB1AA195-FA5E-ABC5-E753-6FD2FA9C26E8}"/>
              </a:ext>
            </a:extLst>
          </p:cNvPr>
          <p:cNvSpPr txBox="1"/>
          <p:nvPr/>
        </p:nvSpPr>
        <p:spPr>
          <a:xfrm>
            <a:off x="7948994" y="4175519"/>
            <a:ext cx="1003398"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継続的</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デプロイ</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241" name="テキスト ボックス 240">
            <a:extLst>
              <a:ext uri="{FF2B5EF4-FFF2-40B4-BE49-F238E27FC236}">
                <a16:creationId xmlns:a16="http://schemas.microsoft.com/office/drawing/2014/main" id="{7DAD015B-A6B0-3275-0F50-74600DCD96C1}"/>
              </a:ext>
            </a:extLst>
          </p:cNvPr>
          <p:cNvSpPr txBox="1"/>
          <p:nvPr/>
        </p:nvSpPr>
        <p:spPr>
          <a:xfrm>
            <a:off x="8031606" y="3682419"/>
            <a:ext cx="1003398"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本番移行判定</a:t>
            </a:r>
          </a:p>
        </p:txBody>
      </p:sp>
      <p:sp>
        <p:nvSpPr>
          <p:cNvPr id="242" name="正方形/長方形 241">
            <a:extLst>
              <a:ext uri="{FF2B5EF4-FFF2-40B4-BE49-F238E27FC236}">
                <a16:creationId xmlns:a16="http://schemas.microsoft.com/office/drawing/2014/main" id="{F2087FC1-821E-84BA-AA9F-3356D92B51DB}"/>
              </a:ext>
            </a:extLst>
          </p:cNvPr>
          <p:cNvSpPr/>
          <p:nvPr/>
        </p:nvSpPr>
        <p:spPr>
          <a:xfrm>
            <a:off x="7592877" y="5309146"/>
            <a:ext cx="1159455"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キャパシティおよび</a:t>
            </a:r>
            <a:endPar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パフォーマンス</a:t>
            </a: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3" name="正方形/長方形 242">
            <a:extLst>
              <a:ext uri="{FF2B5EF4-FFF2-40B4-BE49-F238E27FC236}">
                <a16:creationId xmlns:a16="http://schemas.microsoft.com/office/drawing/2014/main" id="{66F24137-444F-5F85-365D-3A1E806FB47D}"/>
              </a:ext>
            </a:extLst>
          </p:cNvPr>
          <p:cNvSpPr/>
          <p:nvPr/>
        </p:nvSpPr>
        <p:spPr>
          <a:xfrm>
            <a:off x="6374708" y="5309146"/>
            <a:ext cx="100611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可用性管理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4" name="正方形/長方形 243">
            <a:extLst>
              <a:ext uri="{FF2B5EF4-FFF2-40B4-BE49-F238E27FC236}">
                <a16:creationId xmlns:a16="http://schemas.microsoft.com/office/drawing/2014/main" id="{392CEB7D-2566-A675-A44D-25496F5C58C5}"/>
              </a:ext>
            </a:extLst>
          </p:cNvPr>
          <p:cNvSpPr/>
          <p:nvPr/>
        </p:nvSpPr>
        <p:spPr>
          <a:xfrm>
            <a:off x="5156539" y="5309146"/>
            <a:ext cx="1006117"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プロビジョニング</a:t>
            </a:r>
            <a:endPar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45" name="コネクタ: カギ線 189">
            <a:extLst>
              <a:ext uri="{FF2B5EF4-FFF2-40B4-BE49-F238E27FC236}">
                <a16:creationId xmlns:a16="http://schemas.microsoft.com/office/drawing/2014/main" id="{F461F92C-6313-3DED-55CF-F93AA2E97FD1}"/>
              </a:ext>
            </a:extLst>
          </p:cNvPr>
          <p:cNvCxnSpPr>
            <a:cxnSpLocks/>
            <a:stCxn id="215" idx="2"/>
            <a:endCxn id="220" idx="0"/>
          </p:cNvCxnSpPr>
          <p:nvPr/>
        </p:nvCxnSpPr>
        <p:spPr>
          <a:xfrm rot="5400000">
            <a:off x="5085526" y="4317350"/>
            <a:ext cx="1539747" cy="2400837"/>
          </a:xfrm>
          <a:prstGeom prst="bentConnector3">
            <a:avLst>
              <a:gd name="adj1" fmla="val 17725"/>
            </a:avLst>
          </a:prstGeom>
          <a:noFill/>
          <a:ln w="6350" cap="flat" cmpd="sng" algn="ctr">
            <a:solidFill>
              <a:srgbClr val="E7E6E6">
                <a:lumMod val="50000"/>
              </a:srgbClr>
            </a:solidFill>
            <a:prstDash val="solid"/>
            <a:miter lim="800000"/>
            <a:headEnd type="triangle"/>
            <a:tailEnd type="triangle"/>
          </a:ln>
          <a:effectLst/>
        </p:spPr>
      </p:cxnSp>
      <p:sp>
        <p:nvSpPr>
          <p:cNvPr id="246" name="テキスト ボックス 245">
            <a:extLst>
              <a:ext uri="{FF2B5EF4-FFF2-40B4-BE49-F238E27FC236}">
                <a16:creationId xmlns:a16="http://schemas.microsoft.com/office/drawing/2014/main" id="{1CD6F7C1-A6F0-A578-299E-8BF3B64BCF85}"/>
              </a:ext>
            </a:extLst>
          </p:cNvPr>
          <p:cNvSpPr txBox="1"/>
          <p:nvPr/>
        </p:nvSpPr>
        <p:spPr>
          <a:xfrm>
            <a:off x="9446020" y="4119161"/>
            <a:ext cx="748639" cy="553998"/>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継続的</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デリバリ</a:t>
            </a:r>
            <a:r>
              <a:rPr lang="en-US" altLang="ja-JP" sz="1000">
                <a:solidFill>
                  <a:srgbClr val="E7E6E6">
                    <a:lumMod val="50000"/>
                  </a:srgbClr>
                </a:solidFill>
                <a:latin typeface="Meiryo UI" panose="020B0604030504040204" pitchFamily="50" charset="-128"/>
                <a:ea typeface="Meiryo UI" panose="020B0604030504040204" pitchFamily="50" charset="-128"/>
              </a:rPr>
              <a:t>/</a:t>
            </a:r>
            <a:br>
              <a:rPr lang="en-US" altLang="ja-JP" sz="1000">
                <a:solidFill>
                  <a:srgbClr val="E7E6E6">
                    <a:lumMod val="50000"/>
                  </a:srgbClr>
                </a:solidFill>
                <a:latin typeface="Meiryo UI" panose="020B0604030504040204" pitchFamily="50" charset="-128"/>
                <a:ea typeface="Meiryo UI" panose="020B0604030504040204" pitchFamily="50" charset="-128"/>
              </a:rPr>
            </a:br>
            <a:r>
              <a:rPr lang="ja-JP" altLang="en-US" sz="1000">
                <a:solidFill>
                  <a:srgbClr val="E7E6E6">
                    <a:lumMod val="50000"/>
                  </a:srgbClr>
                </a:solidFill>
                <a:latin typeface="Meiryo UI" panose="020B0604030504040204" pitchFamily="50" charset="-128"/>
                <a:ea typeface="Meiryo UI" panose="020B0604030504040204" pitchFamily="50" charset="-128"/>
              </a:rPr>
              <a:t>テスト</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247" name="テキスト ボックス 246">
            <a:extLst>
              <a:ext uri="{FF2B5EF4-FFF2-40B4-BE49-F238E27FC236}">
                <a16:creationId xmlns:a16="http://schemas.microsoft.com/office/drawing/2014/main" id="{EABF5734-FB3C-68EB-95A2-84329EC5AA2C}"/>
              </a:ext>
            </a:extLst>
          </p:cNvPr>
          <p:cNvSpPr txBox="1"/>
          <p:nvPr/>
        </p:nvSpPr>
        <p:spPr>
          <a:xfrm>
            <a:off x="9462478" y="5904269"/>
            <a:ext cx="823503"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環境変更</a:t>
            </a:r>
            <a:r>
              <a:rPr lang="en-US" altLang="ja-JP" sz="1000">
                <a:solidFill>
                  <a:srgbClr val="E7E6E6">
                    <a:lumMod val="50000"/>
                  </a:srgbClr>
                </a:solidFill>
                <a:latin typeface="Meiryo UI" panose="020B0604030504040204" pitchFamily="50" charset="-128"/>
                <a:ea typeface="Meiryo UI" panose="020B0604030504040204" pitchFamily="50" charset="-128"/>
              </a:rPr>
              <a:t>/</a:t>
            </a: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資源</a:t>
            </a:r>
            <a:r>
              <a:rPr lang="ja-JP" altLang="en-US" sz="1000" dirty="0">
                <a:solidFill>
                  <a:srgbClr val="E7E6E6">
                    <a:lumMod val="50000"/>
                  </a:srgbClr>
                </a:solidFill>
                <a:latin typeface="Meiryo UI" panose="020B0604030504040204" pitchFamily="50" charset="-128"/>
                <a:ea typeface="Meiryo UI" panose="020B0604030504040204" pitchFamily="50" charset="-128"/>
              </a:rPr>
              <a:t>リリース</a:t>
            </a:r>
          </a:p>
        </p:txBody>
      </p:sp>
      <p:cxnSp>
        <p:nvCxnSpPr>
          <p:cNvPr id="248" name="コネクタ: カギ線 189">
            <a:extLst>
              <a:ext uri="{FF2B5EF4-FFF2-40B4-BE49-F238E27FC236}">
                <a16:creationId xmlns:a16="http://schemas.microsoft.com/office/drawing/2014/main" id="{A005B8A5-4826-0E65-B5FD-7408DB200BF3}"/>
              </a:ext>
            </a:extLst>
          </p:cNvPr>
          <p:cNvCxnSpPr>
            <a:cxnSpLocks/>
          </p:cNvCxnSpPr>
          <p:nvPr/>
        </p:nvCxnSpPr>
        <p:spPr>
          <a:xfrm flipH="1">
            <a:off x="9544112" y="5682983"/>
            <a:ext cx="1" cy="604659"/>
          </a:xfrm>
          <a:prstGeom prst="straightConnector1">
            <a:avLst/>
          </a:prstGeom>
          <a:noFill/>
          <a:ln w="6350" cap="flat" cmpd="sng" algn="ctr">
            <a:solidFill>
              <a:srgbClr val="E7E6E6">
                <a:lumMod val="50000"/>
              </a:srgbClr>
            </a:solidFill>
            <a:prstDash val="solid"/>
            <a:miter lim="800000"/>
            <a:tailEnd type="triangle"/>
          </a:ln>
          <a:effectLst/>
        </p:spPr>
      </p:cxnSp>
      <p:sp>
        <p:nvSpPr>
          <p:cNvPr id="249" name="テキスト ボックス 248">
            <a:extLst>
              <a:ext uri="{FF2B5EF4-FFF2-40B4-BE49-F238E27FC236}">
                <a16:creationId xmlns:a16="http://schemas.microsoft.com/office/drawing/2014/main" id="{D4D66B0F-5C07-68D7-8878-7C1D6CFDF85E}"/>
              </a:ext>
            </a:extLst>
          </p:cNvPr>
          <p:cNvSpPr txBox="1"/>
          <p:nvPr/>
        </p:nvSpPr>
        <p:spPr>
          <a:xfrm>
            <a:off x="4607356" y="5904269"/>
            <a:ext cx="823503"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環境変更</a:t>
            </a:r>
            <a:r>
              <a:rPr lang="en-US" altLang="ja-JP" sz="1000">
                <a:solidFill>
                  <a:srgbClr val="E7E6E6">
                    <a:lumMod val="50000"/>
                  </a:srgbClr>
                </a:solidFill>
                <a:latin typeface="Meiryo UI" panose="020B0604030504040204" pitchFamily="50" charset="-128"/>
                <a:ea typeface="Meiryo UI" panose="020B0604030504040204" pitchFamily="50" charset="-128"/>
              </a:rPr>
              <a:t>/</a:t>
            </a: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資源</a:t>
            </a:r>
            <a:r>
              <a:rPr lang="ja-JP" altLang="en-US" sz="1000" dirty="0">
                <a:solidFill>
                  <a:srgbClr val="E7E6E6">
                    <a:lumMod val="50000"/>
                  </a:srgbClr>
                </a:solidFill>
                <a:latin typeface="Meiryo UI" panose="020B0604030504040204" pitchFamily="50" charset="-128"/>
                <a:ea typeface="Meiryo UI" panose="020B0604030504040204" pitchFamily="50" charset="-128"/>
              </a:rPr>
              <a:t>リリース</a:t>
            </a:r>
          </a:p>
        </p:txBody>
      </p:sp>
      <p:cxnSp>
        <p:nvCxnSpPr>
          <p:cNvPr id="250" name="コネクタ: カギ線 189">
            <a:extLst>
              <a:ext uri="{FF2B5EF4-FFF2-40B4-BE49-F238E27FC236}">
                <a16:creationId xmlns:a16="http://schemas.microsoft.com/office/drawing/2014/main" id="{8EF5AFC5-D891-DE43-56BC-4A3A25622DD3}"/>
              </a:ext>
            </a:extLst>
          </p:cNvPr>
          <p:cNvCxnSpPr>
            <a:cxnSpLocks/>
            <a:endCxn id="233" idx="1"/>
          </p:cNvCxnSpPr>
          <p:nvPr/>
        </p:nvCxnSpPr>
        <p:spPr>
          <a:xfrm>
            <a:off x="4459898" y="5540233"/>
            <a:ext cx="658297" cy="0"/>
          </a:xfrm>
          <a:prstGeom prst="straightConnector1">
            <a:avLst/>
          </a:prstGeom>
          <a:noFill/>
          <a:ln w="6350" cap="flat" cmpd="sng" algn="ctr">
            <a:solidFill>
              <a:srgbClr val="E7E6E6">
                <a:lumMod val="50000"/>
              </a:srgbClr>
            </a:solidFill>
            <a:prstDash val="solid"/>
            <a:miter lim="800000"/>
            <a:tailEnd type="triangle"/>
          </a:ln>
          <a:effectLst/>
        </p:spPr>
      </p:cxnSp>
      <p:sp>
        <p:nvSpPr>
          <p:cNvPr id="251" name="テキスト ボックス 250">
            <a:extLst>
              <a:ext uri="{FF2B5EF4-FFF2-40B4-BE49-F238E27FC236}">
                <a16:creationId xmlns:a16="http://schemas.microsoft.com/office/drawing/2014/main" id="{8EBA846B-2FFD-96EE-C9A9-B07848EE4839}"/>
              </a:ext>
            </a:extLst>
          </p:cNvPr>
          <p:cNvSpPr txBox="1"/>
          <p:nvPr/>
        </p:nvSpPr>
        <p:spPr>
          <a:xfrm>
            <a:off x="4608911" y="5167852"/>
            <a:ext cx="515529"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データ</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提供</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cxnSp>
        <p:nvCxnSpPr>
          <p:cNvPr id="252" name="コネクタ: カギ線 189">
            <a:extLst>
              <a:ext uri="{FF2B5EF4-FFF2-40B4-BE49-F238E27FC236}">
                <a16:creationId xmlns:a16="http://schemas.microsoft.com/office/drawing/2014/main" id="{103812E2-E3E3-AE76-5A30-AC3ECC2F1EDD}"/>
              </a:ext>
            </a:extLst>
          </p:cNvPr>
          <p:cNvCxnSpPr>
            <a:cxnSpLocks/>
            <a:stCxn id="179" idx="2"/>
          </p:cNvCxnSpPr>
          <p:nvPr/>
        </p:nvCxnSpPr>
        <p:spPr>
          <a:xfrm rot="16200000" flipH="1">
            <a:off x="3357168" y="3394973"/>
            <a:ext cx="2896714" cy="914323"/>
          </a:xfrm>
          <a:prstGeom prst="bentConnector3">
            <a:avLst>
              <a:gd name="adj1" fmla="val 85841"/>
            </a:avLst>
          </a:prstGeom>
          <a:noFill/>
          <a:ln w="6350" cap="flat" cmpd="sng" algn="ctr">
            <a:solidFill>
              <a:srgbClr val="E7E6E6">
                <a:lumMod val="50000"/>
              </a:srgbClr>
            </a:solidFill>
            <a:prstDash val="solid"/>
            <a:miter lim="800000"/>
            <a:headEnd type="triangle"/>
            <a:tailEnd type="triangle"/>
          </a:ln>
          <a:effectLst/>
        </p:spPr>
      </p:cxnSp>
      <p:sp>
        <p:nvSpPr>
          <p:cNvPr id="253" name="テキスト ボックス 252">
            <a:extLst>
              <a:ext uri="{FF2B5EF4-FFF2-40B4-BE49-F238E27FC236}">
                <a16:creationId xmlns:a16="http://schemas.microsoft.com/office/drawing/2014/main" id="{4F9F2E60-7960-7B96-B337-74596ADF0B03}"/>
              </a:ext>
            </a:extLst>
          </p:cNvPr>
          <p:cNvSpPr txBox="1"/>
          <p:nvPr/>
        </p:nvSpPr>
        <p:spPr>
          <a:xfrm>
            <a:off x="4336496" y="4512343"/>
            <a:ext cx="515529"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自動</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変更</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cxnSp>
        <p:nvCxnSpPr>
          <p:cNvPr id="254" name="コネクタ: カギ線 189">
            <a:extLst>
              <a:ext uri="{FF2B5EF4-FFF2-40B4-BE49-F238E27FC236}">
                <a16:creationId xmlns:a16="http://schemas.microsoft.com/office/drawing/2014/main" id="{24834D85-BEE7-FAF2-5A87-F95B42C4DFA0}"/>
              </a:ext>
            </a:extLst>
          </p:cNvPr>
          <p:cNvCxnSpPr>
            <a:cxnSpLocks/>
            <a:stCxn id="244" idx="0"/>
            <a:endCxn id="215" idx="2"/>
          </p:cNvCxnSpPr>
          <p:nvPr/>
        </p:nvCxnSpPr>
        <p:spPr>
          <a:xfrm rot="5400000" flipH="1" flipV="1">
            <a:off x="6077082" y="4330412"/>
            <a:ext cx="561251" cy="1396219"/>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255" name="テキスト ボックス 254">
            <a:extLst>
              <a:ext uri="{FF2B5EF4-FFF2-40B4-BE49-F238E27FC236}">
                <a16:creationId xmlns:a16="http://schemas.microsoft.com/office/drawing/2014/main" id="{4CDD6FD3-D6FE-2E83-153B-96733BD81CD4}"/>
              </a:ext>
            </a:extLst>
          </p:cNvPr>
          <p:cNvSpPr txBox="1"/>
          <p:nvPr/>
        </p:nvSpPr>
        <p:spPr>
          <a:xfrm>
            <a:off x="5603905" y="5011147"/>
            <a:ext cx="700691"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自動変更</a:t>
            </a:r>
          </a:p>
        </p:txBody>
      </p:sp>
      <p:cxnSp>
        <p:nvCxnSpPr>
          <p:cNvPr id="256" name="コネクタ: カギ線 189">
            <a:extLst>
              <a:ext uri="{FF2B5EF4-FFF2-40B4-BE49-F238E27FC236}">
                <a16:creationId xmlns:a16="http://schemas.microsoft.com/office/drawing/2014/main" id="{32BE909B-B5D7-B4FF-4916-A97FA34AACAE}"/>
              </a:ext>
            </a:extLst>
          </p:cNvPr>
          <p:cNvCxnSpPr>
            <a:cxnSpLocks/>
            <a:endCxn id="215" idx="2"/>
          </p:cNvCxnSpPr>
          <p:nvPr/>
        </p:nvCxnSpPr>
        <p:spPr>
          <a:xfrm flipV="1">
            <a:off x="7055817" y="4747895"/>
            <a:ext cx="0" cy="430932"/>
          </a:xfrm>
          <a:prstGeom prst="straightConnector1">
            <a:avLst/>
          </a:prstGeom>
          <a:noFill/>
          <a:ln w="6350" cap="flat" cmpd="sng" algn="ctr">
            <a:solidFill>
              <a:srgbClr val="E7E6E6">
                <a:lumMod val="50000"/>
              </a:srgbClr>
            </a:solidFill>
            <a:prstDash val="solid"/>
            <a:miter lim="800000"/>
            <a:tailEnd type="triangle"/>
          </a:ln>
          <a:effectLst/>
        </p:spPr>
      </p:cxnSp>
      <p:sp>
        <p:nvSpPr>
          <p:cNvPr id="257" name="テキスト ボックス 256">
            <a:extLst>
              <a:ext uri="{FF2B5EF4-FFF2-40B4-BE49-F238E27FC236}">
                <a16:creationId xmlns:a16="http://schemas.microsoft.com/office/drawing/2014/main" id="{213F9671-6CE1-1B35-B80E-D4CEF14FE9EC}"/>
              </a:ext>
            </a:extLst>
          </p:cNvPr>
          <p:cNvSpPr txBox="1"/>
          <p:nvPr/>
        </p:nvSpPr>
        <p:spPr>
          <a:xfrm>
            <a:off x="6283302" y="5011147"/>
            <a:ext cx="847836" cy="246221"/>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安定化指示</a:t>
            </a:r>
          </a:p>
        </p:txBody>
      </p:sp>
      <p:cxnSp>
        <p:nvCxnSpPr>
          <p:cNvPr id="258" name="コネクタ: カギ線 189">
            <a:extLst>
              <a:ext uri="{FF2B5EF4-FFF2-40B4-BE49-F238E27FC236}">
                <a16:creationId xmlns:a16="http://schemas.microsoft.com/office/drawing/2014/main" id="{99DF78BE-5F21-B496-CD7B-D6F0921097B3}"/>
              </a:ext>
            </a:extLst>
          </p:cNvPr>
          <p:cNvCxnSpPr>
            <a:cxnSpLocks/>
            <a:endCxn id="214" idx="1"/>
          </p:cNvCxnSpPr>
          <p:nvPr/>
        </p:nvCxnSpPr>
        <p:spPr>
          <a:xfrm>
            <a:off x="4440091" y="4388868"/>
            <a:ext cx="716448" cy="177409"/>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259" name="テキスト ボックス 258">
            <a:extLst>
              <a:ext uri="{FF2B5EF4-FFF2-40B4-BE49-F238E27FC236}">
                <a16:creationId xmlns:a16="http://schemas.microsoft.com/office/drawing/2014/main" id="{B720BBB7-B51A-FF0F-A3E5-BA1894684B18}"/>
              </a:ext>
            </a:extLst>
          </p:cNvPr>
          <p:cNvSpPr txBox="1"/>
          <p:nvPr/>
        </p:nvSpPr>
        <p:spPr>
          <a:xfrm>
            <a:off x="4446054" y="4018958"/>
            <a:ext cx="515529"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データ</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提供</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sp>
        <p:nvSpPr>
          <p:cNvPr id="260" name="テキスト ボックス 259">
            <a:extLst>
              <a:ext uri="{FF2B5EF4-FFF2-40B4-BE49-F238E27FC236}">
                <a16:creationId xmlns:a16="http://schemas.microsoft.com/office/drawing/2014/main" id="{4E47E190-3A2F-A854-287E-988325541AC7}"/>
              </a:ext>
            </a:extLst>
          </p:cNvPr>
          <p:cNvSpPr txBox="1"/>
          <p:nvPr/>
        </p:nvSpPr>
        <p:spPr>
          <a:xfrm>
            <a:off x="1961117" y="5904269"/>
            <a:ext cx="823503"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サービス</a:t>
            </a:r>
            <a:endParaRPr lang="en-US" altLang="ja-JP" sz="1000">
              <a:solidFill>
                <a:srgbClr val="E7E6E6">
                  <a:lumMod val="50000"/>
                </a:srgbClr>
              </a:solidFill>
              <a:latin typeface="Meiryo UI" panose="020B0604030504040204" pitchFamily="50" charset="-128"/>
              <a:ea typeface="Meiryo UI" panose="020B0604030504040204" pitchFamily="50" charset="-128"/>
            </a:endParaRP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利用</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cxnSp>
        <p:nvCxnSpPr>
          <p:cNvPr id="261" name="コネクタ: カギ線 189">
            <a:extLst>
              <a:ext uri="{FF2B5EF4-FFF2-40B4-BE49-F238E27FC236}">
                <a16:creationId xmlns:a16="http://schemas.microsoft.com/office/drawing/2014/main" id="{14F4F666-D2C9-B17B-752D-086BFCDE8557}"/>
              </a:ext>
            </a:extLst>
          </p:cNvPr>
          <p:cNvCxnSpPr>
            <a:cxnSpLocks/>
            <a:stCxn id="166" idx="2"/>
          </p:cNvCxnSpPr>
          <p:nvPr/>
        </p:nvCxnSpPr>
        <p:spPr>
          <a:xfrm>
            <a:off x="2109689" y="5901638"/>
            <a:ext cx="0" cy="386004"/>
          </a:xfrm>
          <a:prstGeom prst="straightConnector1">
            <a:avLst/>
          </a:prstGeom>
          <a:noFill/>
          <a:ln w="6350" cap="flat" cmpd="sng" algn="ctr">
            <a:solidFill>
              <a:srgbClr val="E7E6E6">
                <a:lumMod val="50000"/>
              </a:srgbClr>
            </a:solidFill>
            <a:prstDash val="solid"/>
            <a:miter lim="800000"/>
            <a:tailEnd type="triangle"/>
          </a:ln>
          <a:effectLst/>
        </p:spPr>
      </p:cxnSp>
      <p:sp>
        <p:nvSpPr>
          <p:cNvPr id="262" name="テキスト ボックス 261">
            <a:extLst>
              <a:ext uri="{FF2B5EF4-FFF2-40B4-BE49-F238E27FC236}">
                <a16:creationId xmlns:a16="http://schemas.microsoft.com/office/drawing/2014/main" id="{80878F39-83F8-CB7F-727B-93F5657A8E07}"/>
              </a:ext>
            </a:extLst>
          </p:cNvPr>
          <p:cNvSpPr txBox="1"/>
          <p:nvPr/>
        </p:nvSpPr>
        <p:spPr>
          <a:xfrm>
            <a:off x="3584600" y="5904269"/>
            <a:ext cx="807346" cy="400110"/>
          </a:xfrm>
          <a:prstGeom prst="rect">
            <a:avLst/>
          </a:prstGeom>
          <a:noFill/>
        </p:spPr>
        <p:txBody>
          <a:bodyPr wrap="square" rtlCol="0">
            <a:spAutoFit/>
          </a:bodyPr>
          <a:lstStyle/>
          <a:p>
            <a:pPr algn="ctr"/>
            <a:r>
              <a:rPr lang="ja-JP" altLang="en-US" sz="1000" dirty="0">
                <a:solidFill>
                  <a:srgbClr val="E7E6E6">
                    <a:lumMod val="50000"/>
                  </a:srgbClr>
                </a:solidFill>
                <a:latin typeface="Meiryo UI" panose="020B0604030504040204" pitchFamily="50" charset="-128"/>
                <a:ea typeface="Meiryo UI" panose="020B0604030504040204" pitchFamily="50" charset="-128"/>
              </a:rPr>
              <a:t>監視</a:t>
            </a:r>
            <a:r>
              <a:rPr lang="en-US" altLang="ja-JP" sz="1000">
                <a:solidFill>
                  <a:srgbClr val="E7E6E6">
                    <a:lumMod val="50000"/>
                  </a:srgbClr>
                </a:solidFill>
                <a:latin typeface="Meiryo UI" panose="020B0604030504040204" pitchFamily="50" charset="-128"/>
                <a:ea typeface="Meiryo UI" panose="020B0604030504040204" pitchFamily="50" charset="-128"/>
              </a:rPr>
              <a:t>/</a:t>
            </a:r>
          </a:p>
          <a:p>
            <a:pPr algn="ctr"/>
            <a:r>
              <a:rPr lang="ja-JP" altLang="en-US" sz="1000">
                <a:solidFill>
                  <a:srgbClr val="E7E6E6">
                    <a:lumMod val="50000"/>
                  </a:srgbClr>
                </a:solidFill>
                <a:latin typeface="Meiryo UI" panose="020B0604030504040204" pitchFamily="50" charset="-128"/>
                <a:ea typeface="Meiryo UI" panose="020B0604030504040204" pitchFamily="50" charset="-128"/>
              </a:rPr>
              <a:t>確認</a:t>
            </a:r>
            <a:endParaRPr lang="ja-JP" altLang="en-US" sz="1000" dirty="0">
              <a:solidFill>
                <a:srgbClr val="E7E6E6">
                  <a:lumMod val="50000"/>
                </a:srgbClr>
              </a:solidFill>
              <a:latin typeface="Meiryo UI" panose="020B0604030504040204" pitchFamily="50" charset="-128"/>
              <a:ea typeface="Meiryo UI" panose="020B0604030504040204" pitchFamily="50" charset="-128"/>
            </a:endParaRPr>
          </a:p>
        </p:txBody>
      </p:sp>
      <p:cxnSp>
        <p:nvCxnSpPr>
          <p:cNvPr id="263" name="コネクタ: カギ線 189">
            <a:extLst>
              <a:ext uri="{FF2B5EF4-FFF2-40B4-BE49-F238E27FC236}">
                <a16:creationId xmlns:a16="http://schemas.microsoft.com/office/drawing/2014/main" id="{8C6C95F9-84E5-8853-FD6D-EBF059DF5801}"/>
              </a:ext>
            </a:extLst>
          </p:cNvPr>
          <p:cNvCxnSpPr>
            <a:cxnSpLocks/>
            <a:stCxn id="221" idx="2"/>
          </p:cNvCxnSpPr>
          <p:nvPr/>
        </p:nvCxnSpPr>
        <p:spPr>
          <a:xfrm>
            <a:off x="3659919" y="5901638"/>
            <a:ext cx="0" cy="377350"/>
          </a:xfrm>
          <a:prstGeom prst="straightConnector1">
            <a:avLst/>
          </a:prstGeom>
          <a:noFill/>
          <a:ln w="6350" cap="flat" cmpd="sng" algn="ctr">
            <a:solidFill>
              <a:srgbClr val="E7E6E6">
                <a:lumMod val="50000"/>
              </a:srgbClr>
            </a:solidFill>
            <a:prstDash val="solid"/>
            <a:miter lim="800000"/>
            <a:headEnd type="triangle"/>
            <a:tailEnd type="triangle"/>
          </a:ln>
          <a:effectLst/>
        </p:spPr>
      </p:cxnSp>
      <p:sp>
        <p:nvSpPr>
          <p:cNvPr id="267" name="フリーフォーム: 図形 12">
            <a:extLst>
              <a:ext uri="{FF2B5EF4-FFF2-40B4-BE49-F238E27FC236}">
                <a16:creationId xmlns:a16="http://schemas.microsoft.com/office/drawing/2014/main" id="{13D75068-B9B9-0737-5E6A-5BCFCDDBBA68}"/>
              </a:ext>
            </a:extLst>
          </p:cNvPr>
          <p:cNvSpPr>
            <a:spLocks/>
          </p:cNvSpPr>
          <p:nvPr/>
        </p:nvSpPr>
        <p:spPr bwMode="auto">
          <a:xfrm>
            <a:off x="5229653" y="4973457"/>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68" name="フリーフォーム: 図形 12">
            <a:extLst>
              <a:ext uri="{FF2B5EF4-FFF2-40B4-BE49-F238E27FC236}">
                <a16:creationId xmlns:a16="http://schemas.microsoft.com/office/drawing/2014/main" id="{12942D86-7D16-3CD3-7642-4D0981F09002}"/>
              </a:ext>
            </a:extLst>
          </p:cNvPr>
          <p:cNvSpPr>
            <a:spLocks/>
          </p:cNvSpPr>
          <p:nvPr/>
        </p:nvSpPr>
        <p:spPr bwMode="auto">
          <a:xfrm>
            <a:off x="4620053" y="5496697"/>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169" name="コネクタ: カギ線 189">
            <a:extLst>
              <a:ext uri="{FF2B5EF4-FFF2-40B4-BE49-F238E27FC236}">
                <a16:creationId xmlns:a16="http://schemas.microsoft.com/office/drawing/2014/main" id="{A06F0CA9-CDB2-B27A-D911-8FC24083185F}"/>
              </a:ext>
            </a:extLst>
          </p:cNvPr>
          <p:cNvCxnSpPr>
            <a:cxnSpLocks/>
            <a:endCxn id="178" idx="1"/>
          </p:cNvCxnSpPr>
          <p:nvPr/>
        </p:nvCxnSpPr>
        <p:spPr>
          <a:xfrm>
            <a:off x="2282568" y="2218199"/>
            <a:ext cx="607454" cy="0"/>
          </a:xfrm>
          <a:prstGeom prst="straightConnector1">
            <a:avLst/>
          </a:prstGeom>
          <a:noFill/>
          <a:ln w="6350" cap="flat" cmpd="sng" algn="ctr">
            <a:solidFill>
              <a:srgbClr val="E7E6E6">
                <a:lumMod val="50000"/>
              </a:srgbClr>
            </a:solidFill>
            <a:prstDash val="solid"/>
            <a:miter lim="800000"/>
            <a:headEnd type="triangle"/>
            <a:tailEnd type="triangle"/>
          </a:ln>
          <a:effectLst/>
        </p:spPr>
      </p:cxnSp>
      <p:sp>
        <p:nvSpPr>
          <p:cNvPr id="272" name="正方形/長方形 271">
            <a:extLst>
              <a:ext uri="{FF2B5EF4-FFF2-40B4-BE49-F238E27FC236}">
                <a16:creationId xmlns:a16="http://schemas.microsoft.com/office/drawing/2014/main" id="{CE371715-A2B0-95C1-DD17-D24D00A79AEE}"/>
              </a:ext>
            </a:extLst>
          </p:cNvPr>
          <p:cNvSpPr/>
          <p:nvPr/>
        </p:nvSpPr>
        <p:spPr>
          <a:xfrm>
            <a:off x="9139255" y="1389693"/>
            <a:ext cx="876680"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データ管理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pic>
        <p:nvPicPr>
          <p:cNvPr id="274" name="図 273">
            <a:extLst>
              <a:ext uri="{FF2B5EF4-FFF2-40B4-BE49-F238E27FC236}">
                <a16:creationId xmlns:a16="http://schemas.microsoft.com/office/drawing/2014/main" id="{1BF3F1B5-B95E-72F8-4481-DEFA9A5E9970}"/>
              </a:ext>
            </a:extLst>
          </p:cNvPr>
          <p:cNvPicPr>
            <a:picLocks noChangeAspect="1"/>
          </p:cNvPicPr>
          <p:nvPr/>
        </p:nvPicPr>
        <p:blipFill>
          <a:blip r:embed="rId3"/>
          <a:stretch>
            <a:fillRect/>
          </a:stretch>
        </p:blipFill>
        <p:spPr>
          <a:xfrm>
            <a:off x="10820190" y="6213523"/>
            <a:ext cx="8179220" cy="5112013"/>
          </a:xfrm>
          <a:prstGeom prst="rect">
            <a:avLst/>
          </a:prstGeom>
        </p:spPr>
      </p:pic>
      <p:sp>
        <p:nvSpPr>
          <p:cNvPr id="275" name="正方形/長方形 274">
            <a:extLst>
              <a:ext uri="{FF2B5EF4-FFF2-40B4-BE49-F238E27FC236}">
                <a16:creationId xmlns:a16="http://schemas.microsoft.com/office/drawing/2014/main" id="{475E8792-C7EE-7430-FFAC-37D1B9CB78F3}"/>
              </a:ext>
            </a:extLst>
          </p:cNvPr>
          <p:cNvSpPr/>
          <p:nvPr/>
        </p:nvSpPr>
        <p:spPr>
          <a:xfrm>
            <a:off x="8216720" y="1377148"/>
            <a:ext cx="876680" cy="371158"/>
          </a:xfrm>
          <a:prstGeom prst="rect">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戦略管理</a:t>
            </a:r>
            <a:endPar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1693409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lIns="36000" tIns="36000" rIns="36000" bIns="36000" rtlCol="0" anchor="ctr"/>
      <a:lstStyle>
        <a:defPPr algn="ctr">
          <a:defRPr kumimoji="1" sz="1400" dirty="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4.xml><?xml version="1.0" encoding="utf-8"?>
<a:theme xmlns:a="http://schemas.openxmlformats.org/drawingml/2006/main" name="5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BC7193C5000614D902DFE8DB2D504A0" ma:contentTypeVersion="10" ma:contentTypeDescription="新しいドキュメントを作成します。" ma:contentTypeScope="" ma:versionID="5bdfb082c6b5f485876ed098d1aba435">
  <xsd:schema xmlns:xsd="http://www.w3.org/2001/XMLSchema" xmlns:xs="http://www.w3.org/2001/XMLSchema" xmlns:p="http://schemas.microsoft.com/office/2006/metadata/properties" xmlns:ns2="6d1bb7b3-1a78-4edb-9d24-6d6293c5661b" xmlns:ns3="f52ec0e6-5720-4074-b74f-ed0a3473655d" targetNamespace="http://schemas.microsoft.com/office/2006/metadata/properties" ma:root="true" ma:fieldsID="f9a05aec5cbd8dcc8973064e25e971cd" ns2:_="" ns3:_="">
    <xsd:import namespace="6d1bb7b3-1a78-4edb-9d24-6d6293c5661b"/>
    <xsd:import namespace="f52ec0e6-5720-4074-b74f-ed0a3473655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bb7b3-1a78-4edb-9d24-6d6293c56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52ec0e6-5720-4074-b74f-ed0a3473655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52ec0e6-5720-4074-b74f-ed0a3473655d">
      <UserInfo>
        <DisplayName>木村 茂史</DisplayName>
        <AccountId>15</AccountId>
        <AccountType/>
      </UserInfo>
      <UserInfo>
        <DisplayName>山形 舞</DisplayName>
        <AccountId>16</AccountId>
        <AccountType/>
      </UserInfo>
      <UserInfo>
        <DisplayName>佐々木 愛</DisplayName>
        <AccountId>17</AccountId>
        <AccountType/>
      </UserInfo>
      <UserInfo>
        <DisplayName>丸田 志穂</DisplayName>
        <AccountId>18</AccountId>
        <AccountType/>
      </UserInfo>
      <UserInfo>
        <DisplayName>坂口 諒</DisplayName>
        <AccountId>19</AccountId>
        <AccountType/>
      </UserInfo>
    </SharedWithUsers>
  </documentManagement>
</p:properties>
</file>

<file path=customXml/itemProps1.xml><?xml version="1.0" encoding="utf-8"?>
<ds:datastoreItem xmlns:ds="http://schemas.openxmlformats.org/officeDocument/2006/customXml" ds:itemID="{4DEF686A-51F8-4D09-A86E-1ADB230C3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bb7b3-1a78-4edb-9d24-6d6293c5661b"/>
    <ds:schemaRef ds:uri="f52ec0e6-5720-4074-b74f-ed0a347365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141BD7-758F-4617-9716-1DCB9409EBDD}">
  <ds:schemaRefs>
    <ds:schemaRef ds:uri="http://schemas.microsoft.com/sharepoint/v3/contenttype/forms"/>
  </ds:schemaRefs>
</ds:datastoreItem>
</file>

<file path=customXml/itemProps3.xml><?xml version="1.0" encoding="utf-8"?>
<ds:datastoreItem xmlns:ds="http://schemas.openxmlformats.org/officeDocument/2006/customXml" ds:itemID="{9412C807-2F06-4126-A938-618AA2560249}">
  <ds:schemaRefs>
    <ds:schemaRef ds:uri="http://schemas.microsoft.com/office/2006/documentManagement/types"/>
    <ds:schemaRef ds:uri="http://www.w3.org/XML/1998/namespace"/>
    <ds:schemaRef ds:uri="6d1bb7b3-1a78-4edb-9d24-6d6293c5661b"/>
    <ds:schemaRef ds:uri="http://schemas.microsoft.com/office/infopath/2007/PartnerControls"/>
    <ds:schemaRef ds:uri="http://purl.org/dc/dcmitype/"/>
    <ds:schemaRef ds:uri="http://purl.org/dc/elements/1.1/"/>
    <ds:schemaRef ds:uri="f52ec0e6-5720-4074-b74f-ed0a3473655d"/>
    <ds:schemaRef ds:uri="http://purl.org/dc/term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12185</TotalTime>
  <Words>2980</Words>
  <Application>Microsoft Office PowerPoint</Application>
  <PresentationFormat>ワイド画面</PresentationFormat>
  <Paragraphs>671</Paragraphs>
  <Slides>12</Slides>
  <Notes>10</Notes>
  <HiddenSlides>0</HiddenSlides>
  <MMClips>0</MMClips>
  <ScaleCrop>false</ScaleCrop>
  <HeadingPairs>
    <vt:vector size="8" baseType="variant">
      <vt:variant>
        <vt:lpstr>使用されているフォント</vt:lpstr>
      </vt:variant>
      <vt:variant>
        <vt:i4>5</vt:i4>
      </vt:variant>
      <vt:variant>
        <vt:lpstr>テーマ</vt:lpstr>
      </vt:variant>
      <vt:variant>
        <vt:i4>4</vt:i4>
      </vt:variant>
      <vt:variant>
        <vt:lpstr>埋め込まれた OLE サーバー</vt:lpstr>
      </vt:variant>
      <vt:variant>
        <vt:i4>1</vt:i4>
      </vt:variant>
      <vt:variant>
        <vt:lpstr>スライド タイトル</vt:lpstr>
      </vt:variant>
      <vt:variant>
        <vt:i4>12</vt:i4>
      </vt:variant>
    </vt:vector>
  </HeadingPairs>
  <TitlesOfParts>
    <vt:vector size="22" baseType="lpstr">
      <vt:lpstr>Meiryo UI</vt:lpstr>
      <vt:lpstr>MS UI Gothic</vt:lpstr>
      <vt:lpstr>游ゴシック</vt:lpstr>
      <vt:lpstr>Arial</vt:lpstr>
      <vt:lpstr>Wingdings</vt:lpstr>
      <vt:lpstr>企画書テンプレートRLS14ver</vt:lpstr>
      <vt:lpstr>3_企画書テンプレートRLS14ver</vt:lpstr>
      <vt:lpstr>4_企画書テンプレートRLS14ver</vt:lpstr>
      <vt:lpstr>5_企画書テンプレートRLS14ver</vt:lpstr>
      <vt:lpstr>think-cell スライド</vt:lpstr>
      <vt:lpstr>業務改革の目指す方向性と実現に必要な要素</vt:lpstr>
      <vt:lpstr>デジタルフィードバックループを踏襲したAIエージェントによるエコシステム</vt:lpstr>
      <vt:lpstr>構造化されたAIエージェント基盤のアーキテクチャ</vt:lpstr>
      <vt:lpstr>本プロジェクトにおけるLinkX Japan社の役割</vt:lpstr>
      <vt:lpstr>AIエージェント（n8n開発）活動スケジュール</vt:lpstr>
      <vt:lpstr>オペレーティングモデル L1</vt:lpstr>
      <vt:lpstr>領域の課題</vt:lpstr>
      <vt:lpstr>PRJの狙い</vt:lpstr>
      <vt:lpstr>ToBe業務のイメージ</vt:lpstr>
      <vt:lpstr>AI利活用推進G プロセスマップ</vt:lpstr>
      <vt:lpstr>AI利活用推進G プロセスマップ</vt:lpstr>
      <vt:lpstr>オペレーティングモデル L1</vt:lpstr>
    </vt:vector>
  </TitlesOfParts>
  <Company>RECRUIT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【前提】売上・債権の仕訳データ作成までのデータ流入経路</dc:title>
  <dc:creator>佐伯 奈々</dc:creator>
  <cp:lastModifiedBy>越智 啓人</cp:lastModifiedBy>
  <cp:revision>155</cp:revision>
  <cp:lastPrinted>2026-05-06T13:53:55Z</cp:lastPrinted>
  <dcterms:created xsi:type="dcterms:W3CDTF">2022-12-19T07:46:21Z</dcterms:created>
  <dcterms:modified xsi:type="dcterms:W3CDTF">2026-05-06T21:44:19Z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0x0101006BC7193C5000614D902DFE8DB2D504A0</vt:lpwstr>
  </property>
  <property fmtid="{D5CDD505-2E9C-101B-9397-08002B2CF9AE}" pid="3" name="MediaServiceImageTags">
    <vt:lpwstr/>
  </property>
</Properties>
</file>