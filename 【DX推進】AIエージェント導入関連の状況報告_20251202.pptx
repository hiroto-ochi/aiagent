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9" r:id="rId4"/>
  </p:sldMasterIdLst>
  <p:notesMasterIdLst>
    <p:notesMasterId r:id="rId28"/>
  </p:notesMasterIdLst>
  <p:handoutMasterIdLst>
    <p:handoutMasterId r:id="rId29"/>
  </p:handoutMasterIdLst>
  <p:sldIdLst>
    <p:sldId id="2288" r:id="rId5"/>
    <p:sldId id="2469" r:id="rId6"/>
    <p:sldId id="2296" r:id="rId7"/>
    <p:sldId id="1132" r:id="rId8"/>
    <p:sldId id="2445" r:id="rId9"/>
    <p:sldId id="2459" r:id="rId10"/>
    <p:sldId id="2470" r:id="rId11"/>
    <p:sldId id="2464" r:id="rId12"/>
    <p:sldId id="2452" r:id="rId13"/>
    <p:sldId id="2472" r:id="rId14"/>
    <p:sldId id="2461" r:id="rId15"/>
    <p:sldId id="2447" r:id="rId16"/>
    <p:sldId id="2465" r:id="rId17"/>
    <p:sldId id="2443" r:id="rId18"/>
    <p:sldId id="2466" r:id="rId19"/>
    <p:sldId id="2446" r:id="rId20"/>
    <p:sldId id="2448" r:id="rId21"/>
    <p:sldId id="2449" r:id="rId22"/>
    <p:sldId id="2453" r:id="rId23"/>
    <p:sldId id="2467" r:id="rId24"/>
    <p:sldId id="2463" r:id="rId25"/>
    <p:sldId id="2468" r:id="rId26"/>
    <p:sldId id="2455" r:id="rId27"/>
  </p:sldIdLst>
  <p:sldSz cx="12192000" cy="6858000"/>
  <p:notesSz cx="6794500" cy="9931400"/>
  <p:custDataLst>
    <p:tags r:id="rId30"/>
  </p:custDataLst>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表紙＆はじめに" id="{B223363F-AAD0-4374-8941-7C1723D212A2}">
          <p14:sldIdLst>
            <p14:sldId id="2288"/>
            <p14:sldId id="2469"/>
          </p14:sldIdLst>
        </p14:section>
        <p14:section name="本編" id="{C5C892AD-0486-4E46-8C1F-1E147ECC7FD9}">
          <p14:sldIdLst>
            <p14:sldId id="2296"/>
            <p14:sldId id="1132"/>
            <p14:sldId id="2445"/>
            <p14:sldId id="2459"/>
            <p14:sldId id="2470"/>
            <p14:sldId id="2464"/>
            <p14:sldId id="2452"/>
            <p14:sldId id="2472"/>
            <p14:sldId id="2461"/>
            <p14:sldId id="2447"/>
            <p14:sldId id="2465"/>
            <p14:sldId id="2443"/>
            <p14:sldId id="2466"/>
            <p14:sldId id="2446"/>
            <p14:sldId id="2448"/>
            <p14:sldId id="2449"/>
            <p14:sldId id="2453"/>
            <p14:sldId id="2467"/>
            <p14:sldId id="2463"/>
            <p14:sldId id="2468"/>
          </p14:sldIdLst>
        </p14:section>
        <p14:section name="参考" id="{0E6609F3-372F-4CB6-8E62-D7806DD1C080}">
          <p14:sldIdLst>
            <p14:sldId id="2455"/>
          </p14:sldIdLst>
        </p14:section>
      </p14:sectionLst>
    </p:ext>
    <p:ext uri="{EFAFB233-063F-42B5-8137-9DF3F51BA10A}">
      <p15:sldGuideLst xmlns:p15="http://schemas.microsoft.com/office/powerpoint/2012/main">
        <p15:guide id="1" orient="horz" pos="1094" userDrawn="1">
          <p15:clr>
            <a:srgbClr val="A4A3A4"/>
          </p15:clr>
        </p15:guide>
        <p15:guide id="2" pos="3840" userDrawn="1">
          <p15:clr>
            <a:srgbClr val="A4A3A4"/>
          </p15:clr>
        </p15:guide>
        <p15:guide id="3" pos="302" userDrawn="1">
          <p15:clr>
            <a:srgbClr val="A4A3A4"/>
          </p15:clr>
        </p15:guide>
        <p15:guide id="4" pos="737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8" name="作成者" initials="A" lastIdx="0" clrIdx="19"/>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BD"/>
    <a:srgbClr val="7F7F7F"/>
    <a:srgbClr val="FFFFFF"/>
    <a:srgbClr val="D4EAF7"/>
    <a:srgbClr val="DEEBF7"/>
    <a:srgbClr val="A6A6A6"/>
    <a:srgbClr val="DADADA"/>
    <a:srgbClr val="F2F2F2"/>
    <a:srgbClr val="A5A5A5"/>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8DCDC5-F787-B826-DD08-259E55B91C95}" v="1" dt="2025-12-02T04:03:23.042"/>
    <p1510:client id="{8844E4BC-7C0F-4B22-A655-BCBDBED010EA}" v="1" dt="2025-12-02T04:07:18.969"/>
    <p1510:client id="{BCD3684E-2CB5-404D-8A76-746B9375F545}" v="5" dt="2025-12-01T05:19:14.798"/>
    <p1510:client id="{CED9D2BD-9D24-5A09-ABE6-B68E361F0EC9}" v="12" dt="2025-12-02T00:24:29.356"/>
    <p1510:client id="{EE9D1597-FC2D-4382-A5E5-DFFB496868D6}" v="8" dt="2025-12-02T00:48:09.69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スタイル/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228" y="44"/>
      </p:cViewPr>
      <p:guideLst>
        <p:guide orient="horz" pos="1094"/>
        <p:guide pos="3840"/>
        <p:guide pos="302"/>
        <p:guide pos="7378"/>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6A3DD7F-997D-D412-5843-9A65F876888E}"/>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5EBCAC06-EDD0-51A3-C54B-EDF26FDBD514}"/>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B30D93A3-C890-4699-AC68-B22E5ACAADEF}" type="datetimeFigureOut">
              <a:rPr kumimoji="1" lang="ja-JP" altLang="en-US" smtClean="0"/>
              <a:t>2025/12/8</a:t>
            </a:fld>
            <a:endParaRPr kumimoji="1" lang="ja-JP" altLang="en-US"/>
          </a:p>
        </p:txBody>
      </p:sp>
      <p:sp>
        <p:nvSpPr>
          <p:cNvPr id="4" name="フッター プレースホルダー 3">
            <a:extLst>
              <a:ext uri="{FF2B5EF4-FFF2-40B4-BE49-F238E27FC236}">
                <a16:creationId xmlns:a16="http://schemas.microsoft.com/office/drawing/2014/main" id="{8EBA20E4-E5EF-80DC-183F-DEEC93EEDCF7}"/>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902E077-5A40-A477-FF87-FDED6F735EA2}"/>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1E41DE19-9B90-42AF-8896-EF3739682C6F}" type="slidenum">
              <a:rPr kumimoji="1" lang="ja-JP" altLang="en-US" smtClean="0"/>
              <a:t>‹#›</a:t>
            </a:fld>
            <a:endParaRPr kumimoji="1" lang="ja-JP" altLang="en-US"/>
          </a:p>
        </p:txBody>
      </p:sp>
    </p:spTree>
    <p:extLst>
      <p:ext uri="{BB962C8B-B14F-4D97-AF65-F5344CB8AC3E}">
        <p14:creationId xmlns:p14="http://schemas.microsoft.com/office/powerpoint/2010/main" val="30605276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endParaRPr lang="ja-JP" altLang="en-US"/>
          </a:p>
        </p:txBody>
      </p:sp>
      <p:sp>
        <p:nvSpPr>
          <p:cNvPr id="3" name="日付プレースホルダ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15BF457-9B3F-4CCE-BE76-BABC711300F6}" type="datetimeFigureOut">
              <a:rPr lang="ja-JP" altLang="en-US" smtClean="0"/>
              <a:pPr>
                <a:defRPr/>
              </a:pPr>
              <a:t>2025/12/8</a:t>
            </a:fld>
            <a:endParaRPr lang="ja-JP" altLang="en-US"/>
          </a:p>
        </p:txBody>
      </p:sp>
      <p:sp>
        <p:nvSpPr>
          <p:cNvPr id="4" name="スライド イメージ プレースホルダ 3"/>
          <p:cNvSpPr>
            <a:spLocks noGrp="1" noRot="1" noChangeAspect="1"/>
          </p:cNvSpPr>
          <p:nvPr>
            <p:ph type="sldImg" idx="2"/>
          </p:nvPr>
        </p:nvSpPr>
        <p:spPr>
          <a:xfrm>
            <a:off x="87313" y="744538"/>
            <a:ext cx="6619875" cy="3724275"/>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 4"/>
          <p:cNvSpPr>
            <a:spLocks noGrp="1"/>
          </p:cNvSpPr>
          <p:nvPr>
            <p:ph type="body" sz="quarter" idx="3"/>
          </p:nvPr>
        </p:nvSpPr>
        <p:spPr>
          <a:xfrm>
            <a:off x="679450" y="4718050"/>
            <a:ext cx="5435600" cy="4468813"/>
          </a:xfrm>
          <a:prstGeom prst="rect">
            <a:avLst/>
          </a:prstGeom>
        </p:spPr>
        <p:txBody>
          <a:bodyPr vert="horz" lIns="91440" tIns="45720" rIns="91440" bIns="45720"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0" y="9432925"/>
            <a:ext cx="2944813" cy="496888"/>
          </a:xfrm>
          <a:prstGeom prst="rect">
            <a:avLst/>
          </a:prstGeom>
        </p:spPr>
        <p:txBody>
          <a:bodyPr vert="horz" lIns="91440" tIns="45720" rIns="91440" bIns="45720" rtlCol="0" anchor="b"/>
          <a:lstStyle>
            <a:lvl1pPr algn="l">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endParaRPr lang="ja-JP" altLang="en-US"/>
          </a:p>
        </p:txBody>
      </p:sp>
      <p:sp>
        <p:nvSpPr>
          <p:cNvPr id="7" name="スライド番号プレースホルダ 6"/>
          <p:cNvSpPr>
            <a:spLocks noGrp="1"/>
          </p:cNvSpPr>
          <p:nvPr>
            <p:ph type="sldNum" sz="quarter" idx="5"/>
          </p:nvPr>
        </p:nvSpPr>
        <p:spPr>
          <a:xfrm>
            <a:off x="3848100" y="9432925"/>
            <a:ext cx="2944813" cy="496888"/>
          </a:xfrm>
          <a:prstGeom prst="rect">
            <a:avLst/>
          </a:prstGeom>
        </p:spPr>
        <p:txBody>
          <a:bodyPr vert="horz" lIns="91440" tIns="45720" rIns="91440" bIns="45720" rtlCol="0" anchor="b"/>
          <a:lstStyle>
            <a:lvl1pPr algn="r">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FBF1EA7-1322-4E8A-8143-24868A27BA7C}" type="slidenum">
              <a:rPr lang="ja-JP" altLang="en-US" smtClean="0"/>
              <a:pPr>
                <a:defRPr/>
              </a:pPr>
              <a:t>‹#›</a:t>
            </a:fld>
            <a:endParaRPr lang="ja-JP" altLang="en-US"/>
          </a:p>
        </p:txBody>
      </p:sp>
    </p:spTree>
    <p:extLst>
      <p:ext uri="{BB962C8B-B14F-4D97-AF65-F5344CB8AC3E}">
        <p14:creationId xmlns:p14="http://schemas.microsoft.com/office/powerpoint/2010/main" val="17034362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1pPr>
    <a:lvl2pPr marL="4572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2pPr>
    <a:lvl3pPr marL="9144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3pPr>
    <a:lvl4pPr marL="13716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4pPr>
    <a:lvl5pPr marL="18288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0</a:t>
            </a:fld>
            <a:endParaRPr lang="ja-JP" altLang="en-US"/>
          </a:p>
        </p:txBody>
      </p:sp>
    </p:spTree>
    <p:extLst>
      <p:ext uri="{BB962C8B-B14F-4D97-AF65-F5344CB8AC3E}">
        <p14:creationId xmlns:p14="http://schemas.microsoft.com/office/powerpoint/2010/main" val="139477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D2CEB-6328-3518-B151-B2AF122BCE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E7578D-E2FE-6D86-BBCD-3B9DB0C65E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5A254B-327B-D800-25B5-AE1A672ED3E8}"/>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62A112AE-1D96-A7D6-19A3-6A8623381C4E}"/>
              </a:ext>
            </a:extLst>
          </p:cNvPr>
          <p:cNvSpPr>
            <a:spLocks noGrp="1"/>
          </p:cNvSpPr>
          <p:nvPr>
            <p:ph type="sldNum" sz="quarter" idx="10"/>
          </p:nvPr>
        </p:nvSpPr>
        <p:spPr/>
        <p:txBody>
          <a:bodyPr/>
          <a:lstStyle/>
          <a:p>
            <a:pPr>
              <a:defRPr/>
            </a:pPr>
            <a:fld id="{1FBF1EA7-1322-4E8A-8143-24868A27BA7C}" type="slidenum">
              <a:rPr lang="ja-JP" altLang="en-US" smtClean="0"/>
              <a:pPr>
                <a:defRPr/>
              </a:pPr>
              <a:t>1</a:t>
            </a:fld>
            <a:endParaRPr lang="ja-JP" altLang="en-US"/>
          </a:p>
        </p:txBody>
      </p:sp>
    </p:spTree>
    <p:extLst>
      <p:ext uri="{BB962C8B-B14F-4D97-AF65-F5344CB8AC3E}">
        <p14:creationId xmlns:p14="http://schemas.microsoft.com/office/powerpoint/2010/main" val="3527902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E9830-E127-9222-E729-76489F374A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F94533-D67A-4728-BCFA-10DBDF68717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8EE7A6-3327-FD29-B264-A99021B5318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3A61B08C-E7D1-E5B9-E635-F8B158ADB5CB}"/>
              </a:ext>
            </a:extLst>
          </p:cNvPr>
          <p:cNvSpPr>
            <a:spLocks noGrp="1"/>
          </p:cNvSpPr>
          <p:nvPr>
            <p:ph type="sldNum" sz="quarter" idx="10"/>
          </p:nvPr>
        </p:nvSpPr>
        <p:spPr/>
        <p:txBody>
          <a:bodyPr/>
          <a:lstStyle/>
          <a:p>
            <a:pPr>
              <a:defRPr/>
            </a:pPr>
            <a:fld id="{1FBF1EA7-1322-4E8A-8143-24868A27BA7C}" type="slidenum">
              <a:rPr lang="ja-JP" altLang="en-US" smtClean="0"/>
              <a:pPr>
                <a:defRPr/>
              </a:pPr>
              <a:t>4</a:t>
            </a:fld>
            <a:endParaRPr lang="ja-JP" altLang="en-US"/>
          </a:p>
        </p:txBody>
      </p:sp>
    </p:spTree>
    <p:extLst>
      <p:ext uri="{BB962C8B-B14F-4D97-AF65-F5344CB8AC3E}">
        <p14:creationId xmlns:p14="http://schemas.microsoft.com/office/powerpoint/2010/main" val="328969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A0D25-0C42-05BB-2B4E-480ECD2115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8B6C89-7DE4-6407-B98C-67A72271130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47C18-087D-6AE1-387C-3AA8CBE56BD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099F669-F5A3-584B-0D20-480B1F523BA1}"/>
              </a:ext>
            </a:extLst>
          </p:cNvPr>
          <p:cNvSpPr>
            <a:spLocks noGrp="1"/>
          </p:cNvSpPr>
          <p:nvPr>
            <p:ph type="sldNum" sz="quarter" idx="10"/>
          </p:nvPr>
        </p:nvSpPr>
        <p:spPr/>
        <p:txBody>
          <a:bodyPr/>
          <a:lstStyle/>
          <a:p>
            <a:pPr>
              <a:defRPr/>
            </a:pPr>
            <a:fld id="{1FBF1EA7-1322-4E8A-8143-24868A27BA7C}" type="slidenum">
              <a:rPr lang="ja-JP" altLang="en-US" smtClean="0"/>
              <a:pPr>
                <a:defRPr/>
              </a:pPr>
              <a:t>5</a:t>
            </a:fld>
            <a:endParaRPr lang="ja-JP" altLang="en-US"/>
          </a:p>
        </p:txBody>
      </p:sp>
    </p:spTree>
    <p:extLst>
      <p:ext uri="{BB962C8B-B14F-4D97-AF65-F5344CB8AC3E}">
        <p14:creationId xmlns:p14="http://schemas.microsoft.com/office/powerpoint/2010/main" val="280397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E20C-37EF-74E6-EEF0-AA59509449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FCAF14-0E63-0577-EF48-B3CA5583284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807825-84F7-4692-C0ED-5040CA667AF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D4B9F602-9FBE-2277-B4B0-E4E5BCAE0B6F}"/>
              </a:ext>
            </a:extLst>
          </p:cNvPr>
          <p:cNvSpPr>
            <a:spLocks noGrp="1"/>
          </p:cNvSpPr>
          <p:nvPr>
            <p:ph type="sldNum" sz="quarter" idx="10"/>
          </p:nvPr>
        </p:nvSpPr>
        <p:spPr/>
        <p:txBody>
          <a:bodyPr/>
          <a:lstStyle/>
          <a:p>
            <a:pPr>
              <a:defRPr/>
            </a:pPr>
            <a:fld id="{1FBF1EA7-1322-4E8A-8143-24868A27BA7C}" type="slidenum">
              <a:rPr lang="ja-JP" altLang="en-US" smtClean="0"/>
              <a:pPr>
                <a:defRPr/>
              </a:pPr>
              <a:t>6</a:t>
            </a:fld>
            <a:endParaRPr lang="ja-JP" altLang="en-US"/>
          </a:p>
        </p:txBody>
      </p:sp>
    </p:spTree>
    <p:extLst>
      <p:ext uri="{BB962C8B-B14F-4D97-AF65-F5344CB8AC3E}">
        <p14:creationId xmlns:p14="http://schemas.microsoft.com/office/powerpoint/2010/main" val="614525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D819-39C0-D57F-33BB-73056FB3CA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17D2BC-D05D-508D-4124-638DEA4261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EC5574A-C772-4AB4-E0C3-4D0658409DF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717A5CBC-3CB5-2754-A608-F3E3798F2DCB}"/>
              </a:ext>
            </a:extLst>
          </p:cNvPr>
          <p:cNvSpPr>
            <a:spLocks noGrp="1"/>
          </p:cNvSpPr>
          <p:nvPr>
            <p:ph type="sldNum" sz="quarter" idx="10"/>
          </p:nvPr>
        </p:nvSpPr>
        <p:spPr/>
        <p:txBody>
          <a:bodyPr/>
          <a:lstStyle/>
          <a:p>
            <a:pPr>
              <a:defRPr/>
            </a:pPr>
            <a:fld id="{1FBF1EA7-1322-4E8A-8143-24868A27BA7C}" type="slidenum">
              <a:rPr lang="ja-JP" altLang="en-US" smtClean="0"/>
              <a:pPr>
                <a:defRPr/>
              </a:pPr>
              <a:t>8</a:t>
            </a:fld>
            <a:endParaRPr lang="ja-JP" altLang="en-US"/>
          </a:p>
        </p:txBody>
      </p:sp>
    </p:spTree>
    <p:extLst>
      <p:ext uri="{BB962C8B-B14F-4D97-AF65-F5344CB8AC3E}">
        <p14:creationId xmlns:p14="http://schemas.microsoft.com/office/powerpoint/2010/main" val="3173927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99C3-C3FA-0B32-6202-8DC5FCA239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F8754D-D207-DCF0-5F05-6E52043923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B092AE-2C20-6D05-1631-804241CF914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6309D9FD-6134-F190-7268-9DB5B84518FF}"/>
              </a:ext>
            </a:extLst>
          </p:cNvPr>
          <p:cNvSpPr>
            <a:spLocks noGrp="1"/>
          </p:cNvSpPr>
          <p:nvPr>
            <p:ph type="sldNum" sz="quarter" idx="10"/>
          </p:nvPr>
        </p:nvSpPr>
        <p:spPr/>
        <p:txBody>
          <a:bodyPr/>
          <a:lstStyle/>
          <a:p>
            <a:pPr>
              <a:defRPr/>
            </a:pPr>
            <a:fld id="{1FBF1EA7-1322-4E8A-8143-24868A27BA7C}" type="slidenum">
              <a:rPr lang="ja-JP" altLang="en-US" smtClean="0"/>
              <a:pPr>
                <a:defRPr/>
              </a:pPr>
              <a:t>9</a:t>
            </a:fld>
            <a:endParaRPr lang="ja-JP" altLang="en-US"/>
          </a:p>
        </p:txBody>
      </p:sp>
    </p:spTree>
    <p:extLst>
      <p:ext uri="{BB962C8B-B14F-4D97-AF65-F5344CB8AC3E}">
        <p14:creationId xmlns:p14="http://schemas.microsoft.com/office/powerpoint/2010/main" val="619813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7515F-9947-EBB2-5843-E66376E010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E52397-4D77-CF0D-66E4-BE0CF2F8E1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198BA3-7AA3-BACF-3C97-C37CD28FBBE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49D5D45B-BC0B-C6B3-5ECA-623641FDEFB7}"/>
              </a:ext>
            </a:extLst>
          </p:cNvPr>
          <p:cNvSpPr>
            <a:spLocks noGrp="1"/>
          </p:cNvSpPr>
          <p:nvPr>
            <p:ph type="sldNum" sz="quarter" idx="10"/>
          </p:nvPr>
        </p:nvSpPr>
        <p:spPr/>
        <p:txBody>
          <a:bodyPr/>
          <a:lstStyle/>
          <a:p>
            <a:pPr>
              <a:defRPr/>
            </a:pPr>
            <a:fld id="{1FBF1EA7-1322-4E8A-8143-24868A27BA7C}" type="slidenum">
              <a:rPr lang="ja-JP" altLang="en-US" smtClean="0"/>
              <a:pPr>
                <a:defRPr/>
              </a:pPr>
              <a:t>10</a:t>
            </a:fld>
            <a:endParaRPr lang="ja-JP" altLang="en-US"/>
          </a:p>
        </p:txBody>
      </p:sp>
    </p:spTree>
    <p:extLst>
      <p:ext uri="{BB962C8B-B14F-4D97-AF65-F5344CB8AC3E}">
        <p14:creationId xmlns:p14="http://schemas.microsoft.com/office/powerpoint/2010/main" val="2841459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0544-15F9-2AFB-F86C-8E32F6491F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5B611C-155A-54A7-C622-4D28A78F49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3D801DE-29CB-4935-9785-17FF15279FD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8F8F7D69-D911-A5A7-FEC2-DD01C1575D89}"/>
              </a:ext>
            </a:extLst>
          </p:cNvPr>
          <p:cNvSpPr>
            <a:spLocks noGrp="1"/>
          </p:cNvSpPr>
          <p:nvPr>
            <p:ph type="sldNum" sz="quarter" idx="10"/>
          </p:nvPr>
        </p:nvSpPr>
        <p:spPr/>
        <p:txBody>
          <a:bodyPr/>
          <a:lstStyle/>
          <a:p>
            <a:pPr>
              <a:defRPr/>
            </a:pPr>
            <a:fld id="{1FBF1EA7-1322-4E8A-8143-24868A27BA7C}" type="slidenum">
              <a:rPr lang="ja-JP" altLang="en-US" smtClean="0"/>
              <a:pPr>
                <a:defRPr/>
              </a:pPr>
              <a:t>11</a:t>
            </a:fld>
            <a:endParaRPr lang="ja-JP" altLang="en-US"/>
          </a:p>
        </p:txBody>
      </p:sp>
    </p:spTree>
    <p:extLst>
      <p:ext uri="{BB962C8B-B14F-4D97-AF65-F5344CB8AC3E}">
        <p14:creationId xmlns:p14="http://schemas.microsoft.com/office/powerpoint/2010/main" val="1865316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4A127-2F84-B698-0C70-3C85127F80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6DAB10-1C6D-8264-7BD4-C08C809A02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4DD903-903C-EB23-CF6C-64DDBECBACD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85E67A8-B509-D23A-AEF3-A2BDB48EDE61}"/>
              </a:ext>
            </a:extLst>
          </p:cNvPr>
          <p:cNvSpPr>
            <a:spLocks noGrp="1"/>
          </p:cNvSpPr>
          <p:nvPr>
            <p:ph type="sldNum" sz="quarter" idx="10"/>
          </p:nvPr>
        </p:nvSpPr>
        <p:spPr/>
        <p:txBody>
          <a:bodyPr/>
          <a:lstStyle/>
          <a:p>
            <a:pPr>
              <a:defRPr/>
            </a:pPr>
            <a:fld id="{1FBF1EA7-1322-4E8A-8143-24868A27BA7C}" type="slidenum">
              <a:rPr lang="ja-JP" altLang="en-US" smtClean="0"/>
              <a:pPr>
                <a:defRPr/>
              </a:pPr>
              <a:t>13</a:t>
            </a:fld>
            <a:endParaRPr lang="ja-JP" altLang="en-US"/>
          </a:p>
        </p:txBody>
      </p:sp>
    </p:spTree>
    <p:extLst>
      <p:ext uri="{BB962C8B-B14F-4D97-AF65-F5344CB8AC3E}">
        <p14:creationId xmlns:p14="http://schemas.microsoft.com/office/powerpoint/2010/main" val="1962932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BC6C-7B36-D778-2B9A-4026D057B1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5C734A-CC1C-8A11-A7B0-90672AEFCB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5BC1A1-FD2B-7FBF-D085-EB273C30611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FB48D25F-030E-A315-FBDA-872035A58C1E}"/>
              </a:ext>
            </a:extLst>
          </p:cNvPr>
          <p:cNvSpPr>
            <a:spLocks noGrp="1"/>
          </p:cNvSpPr>
          <p:nvPr>
            <p:ph type="sldNum" sz="quarter" idx="10"/>
          </p:nvPr>
        </p:nvSpPr>
        <p:spPr/>
        <p:txBody>
          <a:bodyPr/>
          <a:lstStyle/>
          <a:p>
            <a:pPr>
              <a:defRPr/>
            </a:pPr>
            <a:fld id="{1FBF1EA7-1322-4E8A-8143-24868A27BA7C}" type="slidenum">
              <a:rPr lang="ja-JP" altLang="en-US" smtClean="0"/>
              <a:pPr>
                <a:defRPr/>
              </a:pPr>
              <a:t>15</a:t>
            </a:fld>
            <a:endParaRPr lang="ja-JP" altLang="en-US"/>
          </a:p>
        </p:txBody>
      </p:sp>
    </p:spTree>
    <p:extLst>
      <p:ext uri="{BB962C8B-B14F-4D97-AF65-F5344CB8AC3E}">
        <p14:creationId xmlns:p14="http://schemas.microsoft.com/office/powerpoint/2010/main" val="1994268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5B5F-81C7-16A6-0D46-72DF4E8D69A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7362570-5D79-B552-6448-8F65AB1054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69971B-D562-2114-D1B2-06CD85E1F93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E4FD24D2-7A6D-768E-639C-9FCD4E4E081D}"/>
              </a:ext>
            </a:extLst>
          </p:cNvPr>
          <p:cNvSpPr>
            <a:spLocks noGrp="1"/>
          </p:cNvSpPr>
          <p:nvPr>
            <p:ph type="sldNum" sz="quarter" idx="10"/>
          </p:nvPr>
        </p:nvSpPr>
        <p:spPr/>
        <p:txBody>
          <a:bodyPr/>
          <a:lstStyle/>
          <a:p>
            <a:pPr>
              <a:defRPr/>
            </a:pPr>
            <a:fld id="{1FBF1EA7-1322-4E8A-8143-24868A27BA7C}" type="slidenum">
              <a:rPr lang="ja-JP" altLang="en-US" smtClean="0"/>
              <a:pPr>
                <a:defRPr/>
              </a:pPr>
              <a:t>16</a:t>
            </a:fld>
            <a:endParaRPr lang="ja-JP" altLang="en-US"/>
          </a:p>
        </p:txBody>
      </p:sp>
    </p:spTree>
    <p:extLst>
      <p:ext uri="{BB962C8B-B14F-4D97-AF65-F5344CB8AC3E}">
        <p14:creationId xmlns:p14="http://schemas.microsoft.com/office/powerpoint/2010/main" val="2515647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5DAD0-28BB-6EAC-20DB-64B88D6F27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CE33FF-8796-C222-5434-41F37293D1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FBEEEC-8313-3B24-EC3D-072C1B748A2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14E0D1E1-648F-020C-36B7-AE36557B8CA6}"/>
              </a:ext>
            </a:extLst>
          </p:cNvPr>
          <p:cNvSpPr>
            <a:spLocks noGrp="1"/>
          </p:cNvSpPr>
          <p:nvPr>
            <p:ph type="sldNum" sz="quarter" idx="10"/>
          </p:nvPr>
        </p:nvSpPr>
        <p:spPr/>
        <p:txBody>
          <a:bodyPr/>
          <a:lstStyle/>
          <a:p>
            <a:pPr>
              <a:defRPr/>
            </a:pPr>
            <a:fld id="{1FBF1EA7-1322-4E8A-8143-24868A27BA7C}" type="slidenum">
              <a:rPr lang="ja-JP" altLang="en-US" smtClean="0"/>
              <a:pPr>
                <a:defRPr/>
              </a:pPr>
              <a:t>17</a:t>
            </a:fld>
            <a:endParaRPr lang="ja-JP" altLang="en-US"/>
          </a:p>
        </p:txBody>
      </p:sp>
    </p:spTree>
    <p:extLst>
      <p:ext uri="{BB962C8B-B14F-4D97-AF65-F5344CB8AC3E}">
        <p14:creationId xmlns:p14="http://schemas.microsoft.com/office/powerpoint/2010/main" val="814144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5620-7038-BB52-0473-24BDE149F0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784E39-0A7F-B2B5-D7CB-2340ABFD88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ED2DB8-CC9B-C497-06A5-C08C1CDA681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2A737AC2-A0C9-9BFD-C7D1-45FC2E4D4438}"/>
              </a:ext>
            </a:extLst>
          </p:cNvPr>
          <p:cNvSpPr>
            <a:spLocks noGrp="1"/>
          </p:cNvSpPr>
          <p:nvPr>
            <p:ph type="sldNum" sz="quarter" idx="10"/>
          </p:nvPr>
        </p:nvSpPr>
        <p:spPr/>
        <p:txBody>
          <a:bodyPr/>
          <a:lstStyle/>
          <a:p>
            <a:pPr>
              <a:defRPr/>
            </a:pPr>
            <a:fld id="{1FBF1EA7-1322-4E8A-8143-24868A27BA7C}" type="slidenum">
              <a:rPr lang="ja-JP" altLang="en-US" smtClean="0"/>
              <a:pPr>
                <a:defRPr/>
              </a:pPr>
              <a:t>18</a:t>
            </a:fld>
            <a:endParaRPr lang="ja-JP" altLang="en-US"/>
          </a:p>
        </p:txBody>
      </p:sp>
    </p:spTree>
    <p:extLst>
      <p:ext uri="{BB962C8B-B14F-4D97-AF65-F5344CB8AC3E}">
        <p14:creationId xmlns:p14="http://schemas.microsoft.com/office/powerpoint/2010/main" val="2772830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8E9F-1C17-A619-EB5E-4C8D5B029E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3652DA-AD3D-8BC4-C818-719DDE09B9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652C23-02B4-0AE9-1511-7154D838D40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F074611E-38C9-5DB6-6CEA-E4F2F44217C0}"/>
              </a:ext>
            </a:extLst>
          </p:cNvPr>
          <p:cNvSpPr>
            <a:spLocks noGrp="1"/>
          </p:cNvSpPr>
          <p:nvPr>
            <p:ph type="sldNum" sz="quarter" idx="10"/>
          </p:nvPr>
        </p:nvSpPr>
        <p:spPr/>
        <p:txBody>
          <a:bodyPr/>
          <a:lstStyle/>
          <a:p>
            <a:pPr>
              <a:defRPr/>
            </a:pPr>
            <a:fld id="{1FBF1EA7-1322-4E8A-8143-24868A27BA7C}" type="slidenum">
              <a:rPr lang="ja-JP" altLang="en-US" smtClean="0"/>
              <a:pPr>
                <a:defRPr/>
              </a:pPr>
              <a:t>20</a:t>
            </a:fld>
            <a:endParaRPr lang="ja-JP" altLang="en-US"/>
          </a:p>
        </p:txBody>
      </p:sp>
    </p:spTree>
    <p:extLst>
      <p:ext uri="{BB962C8B-B14F-4D97-AF65-F5344CB8AC3E}">
        <p14:creationId xmlns:p14="http://schemas.microsoft.com/office/powerpoint/2010/main" val="633620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E61F5-DA13-F281-05C4-C8C952A7D6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7363A2-2E95-8D7F-6122-0E2549A3AD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01EDD7-647B-F596-7544-DC541796F27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55B333BC-C401-7E58-01A9-A330960AD1BB}"/>
              </a:ext>
            </a:extLst>
          </p:cNvPr>
          <p:cNvSpPr>
            <a:spLocks noGrp="1"/>
          </p:cNvSpPr>
          <p:nvPr>
            <p:ph type="sldNum" sz="quarter" idx="10"/>
          </p:nvPr>
        </p:nvSpPr>
        <p:spPr/>
        <p:txBody>
          <a:bodyPr/>
          <a:lstStyle/>
          <a:p>
            <a:pPr>
              <a:defRPr/>
            </a:pPr>
            <a:fld id="{1FBF1EA7-1322-4E8A-8143-24868A27BA7C}" type="slidenum">
              <a:rPr lang="ja-JP" altLang="en-US" smtClean="0"/>
              <a:pPr>
                <a:defRPr/>
              </a:pPr>
              <a:t>21</a:t>
            </a:fld>
            <a:endParaRPr lang="ja-JP" altLang="en-US"/>
          </a:p>
        </p:txBody>
      </p:sp>
    </p:spTree>
    <p:extLst>
      <p:ext uri="{BB962C8B-B14F-4D97-AF65-F5344CB8AC3E}">
        <p14:creationId xmlns:p14="http://schemas.microsoft.com/office/powerpoint/2010/main" val="1162744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4985-2FE5-2AC4-A004-3700B13D68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3B2950-9DAB-1076-3152-4E60BAD8D0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71DC14-CD17-C254-75C3-E36F2EDF357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C856808-2B56-8157-77F1-A574F0A55E74}"/>
              </a:ext>
            </a:extLst>
          </p:cNvPr>
          <p:cNvSpPr>
            <a:spLocks noGrp="1"/>
          </p:cNvSpPr>
          <p:nvPr>
            <p:ph type="sldNum" sz="quarter" idx="10"/>
          </p:nvPr>
        </p:nvSpPr>
        <p:spPr/>
        <p:txBody>
          <a:bodyPr/>
          <a:lstStyle/>
          <a:p>
            <a:pPr>
              <a:defRPr/>
            </a:pPr>
            <a:fld id="{1FBF1EA7-1322-4E8A-8143-24868A27BA7C}" type="slidenum">
              <a:rPr lang="ja-JP" altLang="en-US" smtClean="0"/>
              <a:pPr>
                <a:defRPr/>
              </a:pPr>
              <a:t>22</a:t>
            </a:fld>
            <a:endParaRPr lang="ja-JP" altLang="en-US"/>
          </a:p>
        </p:txBody>
      </p:sp>
    </p:spTree>
    <p:extLst>
      <p:ext uri="{BB962C8B-B14F-4D97-AF65-F5344CB8AC3E}">
        <p14:creationId xmlns:p14="http://schemas.microsoft.com/office/powerpoint/2010/main" val="8407697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81305754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15750971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2025</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7431111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36497893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28947860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332615255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18431535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23956102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13676593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0231597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238007288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NULL"/><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3"/>
            </p:custDataLst>
            <p:extLst>
              <p:ext uri="{D42A27DB-BD31-4B8C-83A1-F6EECF244321}">
                <p14:modId xmlns:p14="http://schemas.microsoft.com/office/powerpoint/2010/main" val="54955940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4" name="正方形/長方形 3" hidden="1"/>
          <p:cNvSpPr/>
          <p:nvPr userDrawn="1">
            <p:custDataLst>
              <p:tags r:id="rId14"/>
            </p:custDataLst>
          </p:nvPr>
        </p:nvSpPr>
        <p:spPr>
          <a:xfrm>
            <a:off x="0" y="0"/>
            <a:ext cx="158750"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marL="0" lvl="0" indent="0" algn="ctr" eaLnBrk="1"/>
            <a:endParaRPr kumimoji="1" lang="ja-JP" altLang="en-US" sz="1800" b="0" i="0" baseline="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sym typeface="Meiryo UI" panose="020B0604030504040204" pitchFamily="50" charset="-128"/>
            </a:endParaRPr>
          </a:p>
        </p:txBody>
      </p:sp>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cSld>
  <p:clrMap bg1="lt1" tx1="dk1" bg2="lt2" tx2="dk2" accent1="accent1" accent2="accent2" accent3="accent3" accent4="accent4" accent5="accent5" accent6="accent6" hlink="hlink" folHlink="folHlink"/>
  <p:sldLayoutIdLst>
    <p:sldLayoutId id="2147485270" r:id="rId1"/>
    <p:sldLayoutId id="2147485260" r:id="rId2"/>
    <p:sldLayoutId id="2147485261" r:id="rId3"/>
    <p:sldLayoutId id="2147485262" r:id="rId4"/>
    <p:sldLayoutId id="2147485263" r:id="rId5"/>
    <p:sldLayoutId id="2147485264" r:id="rId6"/>
    <p:sldLayoutId id="2147485265" r:id="rId7"/>
    <p:sldLayoutId id="2147485266" r:id="rId8"/>
    <p:sldLayoutId id="2147485267" r:id="rId9"/>
    <p:sldLayoutId id="2147485268" r:id="rId10"/>
    <p:sldLayoutId id="2147485269" r:id="rId11"/>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hyperlink" Target="https://www.mizuhobank.co.jp/corporate/account/stories/customer_01.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hyperlink" Target="https://mvp.microsoft.com/en-US/MVP/profile/83a1b700-0b96-4015-aa5a-e82471e6b083" TargetMode="External"/><Relationship Id="rId4" Type="http://schemas.openxmlformats.org/officeDocument/2006/relationships/hyperlink" Target="https://www.softbank.jp/sbnews/entry/20241113_01?utm_source=twsn&amp;utm_medium=social&amp;utm_campaign=sbns&amp;utm_content=20241113_01"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www.linkx-group.com/" TargetMode="Externa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sz="3600" b="1"/>
              <a:t>AI</a:t>
            </a:r>
            <a:r>
              <a:rPr kumimoji="1" lang="ja-JP" altLang="en-US" sz="3600" b="1"/>
              <a:t>エージェント導入関連の状況報告</a:t>
            </a:r>
            <a:endParaRPr kumimoji="1" lang="ja-JP" altLang="en-US"/>
          </a:p>
        </p:txBody>
      </p:sp>
      <p:sp>
        <p:nvSpPr>
          <p:cNvPr id="3" name="サブタイトル 2"/>
          <p:cNvSpPr>
            <a:spLocks noGrp="1"/>
          </p:cNvSpPr>
          <p:nvPr>
            <p:ph type="subTitle" sz="quarter" idx="1"/>
          </p:nvPr>
        </p:nvSpPr>
        <p:spPr/>
        <p:txBody>
          <a:bodyPr/>
          <a:lstStyle/>
          <a:p>
            <a:r>
              <a:rPr kumimoji="1" lang="en-US" altLang="ja-JP" sz="1600"/>
              <a:t>2025/12</a:t>
            </a:r>
            <a:r>
              <a:rPr lang="en-US" altLang="ja-JP" sz="1600"/>
              <a:t> </a:t>
            </a:r>
            <a:r>
              <a:rPr lang="ja-JP" altLang="en-US" sz="1600"/>
              <a:t>基シス</a:t>
            </a:r>
            <a:r>
              <a:rPr lang="en-US" altLang="ja-JP" sz="1600"/>
              <a:t>1G</a:t>
            </a:r>
            <a:endParaRPr kumimoji="1" lang="ja-JP" altLang="en-US" sz="1600"/>
          </a:p>
        </p:txBody>
      </p:sp>
      <p:sp>
        <p:nvSpPr>
          <p:cNvPr id="4" name="スライド番号プレースホルダー 3"/>
          <p:cNvSpPr>
            <a:spLocks noGrp="1"/>
          </p:cNvSpPr>
          <p:nvPr>
            <p:ph type="sldNum" sz="quarter" idx="10"/>
          </p:nvPr>
        </p:nvSpPr>
        <p:spPr/>
        <p:txBody>
          <a:bodyPr/>
          <a:lstStyle/>
          <a:p>
            <a:pPr>
              <a:defRPr/>
            </a:pPr>
            <a:fld id="{323E333F-0F6C-4FC7-A7F3-F21A7CDFE59D}" type="slidenum">
              <a:rPr lang="en-US" altLang="ja-JP" smtClean="0"/>
              <a:pPr>
                <a:defRPr/>
              </a:pPr>
              <a:t>0</a:t>
            </a:fld>
            <a:endParaRPr lang="en-US" altLang="ja-JP"/>
          </a:p>
        </p:txBody>
      </p:sp>
    </p:spTree>
    <p:extLst>
      <p:ext uri="{BB962C8B-B14F-4D97-AF65-F5344CB8AC3E}">
        <p14:creationId xmlns:p14="http://schemas.microsoft.com/office/powerpoint/2010/main" val="335191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FC035-2015-50CA-0B98-4A064B89702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457F9F7-AD39-9179-B81D-32B55F772580}"/>
              </a:ext>
            </a:extLst>
          </p:cNvPr>
          <p:cNvSpPr>
            <a:spLocks noGrp="1"/>
          </p:cNvSpPr>
          <p:nvPr>
            <p:ph type="title"/>
          </p:nvPr>
        </p:nvSpPr>
        <p:spPr/>
        <p:txBody>
          <a:bodyPr/>
          <a:lstStyle/>
          <a:p>
            <a:r>
              <a:rPr kumimoji="1" lang="ja-JP" altLang="en-US">
                <a:solidFill>
                  <a:schemeClr val="tx1">
                    <a:lumMod val="65000"/>
                    <a:lumOff val="35000"/>
                  </a:schemeClr>
                </a:solidFill>
              </a:rPr>
              <a:t>はじめに</a:t>
            </a:r>
            <a:endParaRPr kumimoji="1" lang="ja-JP" altLang="en-US"/>
          </a:p>
        </p:txBody>
      </p:sp>
      <p:sp>
        <p:nvSpPr>
          <p:cNvPr id="4" name="スライド番号プレースホルダー 3">
            <a:extLst>
              <a:ext uri="{FF2B5EF4-FFF2-40B4-BE49-F238E27FC236}">
                <a16:creationId xmlns:a16="http://schemas.microsoft.com/office/drawing/2014/main" id="{066529E1-7E79-7B98-16AD-9A7E1FF217B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a:t>
            </a:fld>
            <a:endParaRPr lang="en-US" altLang="ja-JP"/>
          </a:p>
        </p:txBody>
      </p:sp>
      <p:grpSp>
        <p:nvGrpSpPr>
          <p:cNvPr id="9" name="グループ化 8">
            <a:extLst>
              <a:ext uri="{FF2B5EF4-FFF2-40B4-BE49-F238E27FC236}">
                <a16:creationId xmlns:a16="http://schemas.microsoft.com/office/drawing/2014/main" id="{21EB7FD3-0A0B-EE9C-3868-31F8D13B3B23}"/>
              </a:ext>
            </a:extLst>
          </p:cNvPr>
          <p:cNvGrpSpPr/>
          <p:nvPr/>
        </p:nvGrpSpPr>
        <p:grpSpPr>
          <a:xfrm>
            <a:off x="195975" y="1614510"/>
            <a:ext cx="11800053" cy="3628980"/>
            <a:chOff x="596462" y="1013021"/>
            <a:chExt cx="10727318" cy="3628980"/>
          </a:xfrm>
        </p:grpSpPr>
        <p:sp>
          <p:nvSpPr>
            <p:cNvPr id="5" name="正方形/長方形 4">
              <a:extLst>
                <a:ext uri="{FF2B5EF4-FFF2-40B4-BE49-F238E27FC236}">
                  <a16:creationId xmlns:a16="http://schemas.microsoft.com/office/drawing/2014/main" id="{85D1EFD2-BE51-E891-0EE1-176BD1B95EAA}"/>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ご報告</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6" name="コンテンツ プレースホルダー 5">
              <a:extLst>
                <a:ext uri="{FF2B5EF4-FFF2-40B4-BE49-F238E27FC236}">
                  <a16:creationId xmlns:a16="http://schemas.microsoft.com/office/drawing/2014/main" id="{CB00C828-2397-F9A9-24F9-B416F6C1E8A9}"/>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355600" lvl="1" defTabSz="762000" eaLnBrk="0" hangingPunct="0">
                <a:lnSpc>
                  <a:spcPct val="106000"/>
                </a:lnSpc>
                <a:buFont typeface="Arial" panose="020B0604020202020204" pitchFamily="34" charset="0"/>
                <a:buChar char="•"/>
              </a:pPr>
              <a:r>
                <a:rPr lang="en-US" altLang="ja-JP" sz="1600" b="1" kern="0">
                  <a:latin typeface="Meiryo UI"/>
                  <a:ea typeface="Meiryo UI"/>
                  <a:cs typeface="Arial"/>
                </a:rPr>
                <a:t>BPS</a:t>
              </a:r>
              <a:r>
                <a:rPr lang="ja-JP" altLang="en-US" sz="1600" b="1" kern="0">
                  <a:latin typeface="Meiryo UI"/>
                  <a:ea typeface="Meiryo UI"/>
                  <a:cs typeface="Arial"/>
                </a:rPr>
                <a:t>の</a:t>
              </a:r>
              <a:r>
                <a:rPr lang="en-US" altLang="ja-JP" sz="1600" b="1" kern="0">
                  <a:latin typeface="Meiryo UI"/>
                  <a:ea typeface="Meiryo UI"/>
                  <a:cs typeface="Arial"/>
                </a:rPr>
                <a:t>n8n</a:t>
              </a:r>
              <a:r>
                <a:rPr lang="ja-JP" altLang="en-US" sz="1600" b="1" kern="0">
                  <a:latin typeface="Meiryo UI"/>
                  <a:ea typeface="Meiryo UI"/>
                  <a:cs typeface="Arial"/>
                </a:rPr>
                <a:t>導入状況説明、デモ</a:t>
              </a:r>
              <a:endParaRPr lang="en-US" altLang="ja-JP" sz="1600" b="1" u="sng" kern="0"/>
            </a:p>
            <a:p>
              <a:pPr marL="355600" lvl="1" defTabSz="762000" eaLnBrk="0" hangingPunct="0">
                <a:lnSpc>
                  <a:spcPct val="106000"/>
                </a:lnSpc>
                <a:buFont typeface="Arial" panose="020B0604020202020204" pitchFamily="34" charset="0"/>
                <a:buChar char="•"/>
              </a:pPr>
              <a:r>
                <a:rPr lang="en-US" altLang="ja-JP" sz="1600" b="1" kern="0"/>
                <a:t>12</a:t>
              </a:r>
              <a:r>
                <a:rPr lang="ja-JP" altLang="en-US" sz="1600" b="1" kern="0"/>
                <a:t>月までの内製化状況</a:t>
              </a:r>
              <a:endParaRPr lang="en-US" altLang="ja-JP" sz="1600" b="1" kern="0"/>
            </a:p>
            <a:p>
              <a:pPr marL="177800" lvl="1" indent="0" defTabSz="762000" eaLnBrk="0" hangingPunct="0">
                <a:lnSpc>
                  <a:spcPct val="106000"/>
                </a:lnSpc>
                <a:buNone/>
              </a:pPr>
              <a:r>
                <a:rPr lang="ja-JP" altLang="en-US" sz="1600" b="1" kern="0"/>
                <a:t>　</a:t>
              </a:r>
              <a:r>
                <a:rPr lang="en-US" altLang="ja-JP" sz="1600" b="1" kern="0"/>
                <a:t>‐</a:t>
              </a:r>
              <a:r>
                <a:rPr lang="ja-JP" altLang="en-US" sz="1600" b="1" kern="0"/>
                <a:t>内製化部隊の社員の増強と育成計画策定状況</a:t>
              </a:r>
            </a:p>
          </p:txBody>
        </p:sp>
        <p:sp>
          <p:nvSpPr>
            <p:cNvPr id="7" name="正方形/長方形 6">
              <a:extLst>
                <a:ext uri="{FF2B5EF4-FFF2-40B4-BE49-F238E27FC236}">
                  <a16:creationId xmlns:a16="http://schemas.microsoft.com/office/drawing/2014/main" id="{4FC6166B-96E3-44C5-D734-3D717CEBF476}"/>
                </a:ext>
              </a:extLst>
            </p:cNvPr>
            <p:cNvSpPr/>
            <p:nvPr/>
          </p:nvSpPr>
          <p:spPr>
            <a:xfrm>
              <a:off x="596462" y="3059603"/>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頭出し</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 name="コンテンツ プレースホルダー 5">
              <a:extLst>
                <a:ext uri="{FF2B5EF4-FFF2-40B4-BE49-F238E27FC236}">
                  <a16:creationId xmlns:a16="http://schemas.microsoft.com/office/drawing/2014/main" id="{4B123DFD-4160-2AED-A789-D482A0DFAF35}"/>
                </a:ext>
              </a:extLst>
            </p:cNvPr>
            <p:cNvSpPr txBox="1">
              <a:spLocks/>
            </p:cNvSpPr>
            <p:nvPr/>
          </p:nvSpPr>
          <p:spPr bwMode="auto">
            <a:xfrm>
              <a:off x="1930399" y="3059603"/>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177800" lvl="1" indent="0" defTabSz="762000" eaLnBrk="0" hangingPunct="0">
                <a:lnSpc>
                  <a:spcPct val="106000"/>
                </a:lnSpc>
                <a:buNone/>
              </a:pPr>
              <a:r>
                <a:rPr lang="ja-JP" altLang="en-US" sz="1600" b="1" kern="0"/>
                <a:t>以下の内容を含みますが、詳細検討中のため来週以降別途起案します。</a:t>
              </a:r>
              <a:endParaRPr lang="en-US" altLang="ja-JP" sz="1600" b="1" kern="0"/>
            </a:p>
            <a:p>
              <a:pPr marL="355600" lvl="1" defTabSz="762000" eaLnBrk="0" hangingPunct="0">
                <a:lnSpc>
                  <a:spcPct val="106000"/>
                </a:lnSpc>
                <a:buFont typeface="Arial" panose="020B0604020202020204" pitchFamily="34" charset="0"/>
                <a:buChar char="•"/>
              </a:pPr>
              <a:r>
                <a:rPr lang="ja-JP" altLang="en-US" sz="1600" b="1" kern="0"/>
                <a:t>ここまでの学びとして、大規模な</a:t>
              </a:r>
              <a:r>
                <a:rPr lang="en-US" altLang="ja-JP" sz="1600" b="1" kern="0"/>
                <a:t>AI</a:t>
              </a:r>
              <a:r>
                <a:rPr lang="ja-JP" altLang="en-US" sz="1600" b="1" kern="0"/>
                <a:t>エージェント展開をするために必要と考える機能があり、</a:t>
              </a:r>
              <a:endParaRPr lang="en-US" altLang="ja-JP" sz="1600" b="1" kern="0"/>
            </a:p>
            <a:p>
              <a:pPr marL="177800" lvl="1" indent="0" defTabSz="762000" eaLnBrk="0" hangingPunct="0">
                <a:lnSpc>
                  <a:spcPct val="106000"/>
                </a:lnSpc>
                <a:buNone/>
              </a:pPr>
              <a:r>
                <a:rPr lang="ja-JP" altLang="en-US" sz="1600" b="1" kern="0"/>
                <a:t>　</a:t>
              </a:r>
              <a:r>
                <a:rPr lang="en-US" altLang="ja-JP" sz="1600" b="1" kern="0" err="1"/>
                <a:t>LinkX</a:t>
              </a:r>
              <a:r>
                <a:rPr lang="en-US" altLang="ja-JP" sz="1600" b="1" kern="0"/>
                <a:t> Japan</a:t>
              </a:r>
              <a:r>
                <a:rPr lang="ja-JP" altLang="en-US" sz="1600" b="1" kern="0"/>
                <a:t>社を正式に中・長期的な開発パートナーとしたい。</a:t>
              </a:r>
              <a:endParaRPr lang="en-US" altLang="ja-JP" sz="1600" b="1" kern="0"/>
            </a:p>
            <a:p>
              <a:pPr marL="177800" lvl="1" indent="0" defTabSz="762000" eaLnBrk="0" hangingPunct="0">
                <a:lnSpc>
                  <a:spcPct val="106000"/>
                </a:lnSpc>
                <a:buNone/>
              </a:pPr>
              <a:r>
                <a:rPr lang="ja-JP" altLang="en-US" sz="1600" b="1" kern="0">
                  <a:latin typeface="Meiryo UI"/>
                  <a:ea typeface="Meiryo UI"/>
                  <a:cs typeface="Arial"/>
                </a:rPr>
                <a:t>・今後の</a:t>
              </a:r>
              <a:r>
                <a:rPr lang="en-US" altLang="ja-JP" sz="1600" b="1" kern="0">
                  <a:latin typeface="Meiryo UI"/>
                  <a:ea typeface="Meiryo UI"/>
                  <a:cs typeface="Arial"/>
                </a:rPr>
                <a:t>Azure</a:t>
              </a:r>
              <a:r>
                <a:rPr lang="ja-JP" altLang="en-US" sz="1600" b="1" kern="0">
                  <a:latin typeface="Meiryo UI"/>
                  <a:ea typeface="Meiryo UI"/>
                  <a:cs typeface="Arial"/>
                </a:rPr>
                <a:t>利用に伴い、</a:t>
              </a:r>
              <a:r>
                <a:rPr lang="en-US" altLang="ja-JP" sz="1600" b="1" kern="0">
                  <a:latin typeface="Meiryo UI"/>
                  <a:ea typeface="Meiryo UI"/>
                  <a:cs typeface="Arial"/>
                </a:rPr>
                <a:t> MS</a:t>
              </a:r>
              <a:r>
                <a:rPr lang="ja-JP" altLang="en-US" sz="1600" b="1" kern="0">
                  <a:latin typeface="Meiryo UI"/>
                  <a:ea typeface="Meiryo UI"/>
                  <a:cs typeface="Arial"/>
                </a:rPr>
                <a:t>から</a:t>
              </a:r>
              <a:r>
                <a:rPr lang="en-US" altLang="ja-JP" sz="1600" b="1" kern="0" err="1">
                  <a:latin typeface="Meiryo UI"/>
                  <a:ea typeface="Meiryo UI"/>
                  <a:cs typeface="Arial"/>
                </a:rPr>
                <a:t>AzureAccelerate</a:t>
              </a:r>
              <a:r>
                <a:rPr lang="ja-JP" altLang="en-US" sz="1600" b="1" kern="0">
                  <a:latin typeface="Meiryo UI"/>
                  <a:ea typeface="Meiryo UI"/>
                  <a:cs typeface="Arial"/>
                </a:rPr>
                <a:t>という</a:t>
              </a:r>
              <a:r>
                <a:rPr lang="en-US" altLang="ja-JP" sz="1600" b="1" kern="0">
                  <a:latin typeface="Meiryo UI"/>
                  <a:ea typeface="Meiryo UI"/>
                  <a:cs typeface="Arial"/>
                </a:rPr>
                <a:t>MS</a:t>
              </a:r>
              <a:r>
                <a:rPr lang="ja-JP" altLang="en-US" sz="1600" b="1" kern="0">
                  <a:latin typeface="Meiryo UI"/>
                  <a:ea typeface="Meiryo UI"/>
                  <a:cs typeface="Arial"/>
                </a:rPr>
                <a:t>によるベンダー費用負担のプラン提案あり。</a:t>
              </a:r>
              <a:endParaRPr lang="en-US" altLang="ja-JP" sz="1600" b="1" kern="0">
                <a:latin typeface="Meiryo UI"/>
                <a:ea typeface="Meiryo UI"/>
                <a:cs typeface="Arial"/>
              </a:endParaRPr>
            </a:p>
            <a:p>
              <a:pPr marL="177800" lvl="1" indent="0" defTabSz="762000" eaLnBrk="0" hangingPunct="0">
                <a:lnSpc>
                  <a:spcPct val="106000"/>
                </a:lnSpc>
                <a:buNone/>
              </a:pPr>
              <a:r>
                <a:rPr lang="ja-JP" altLang="en-US" sz="1600" b="1" kern="0">
                  <a:latin typeface="Meiryo UI"/>
                  <a:ea typeface="Meiryo UI"/>
                  <a:cs typeface="Arial"/>
                </a:rPr>
                <a:t>　進め方を相談したい。</a:t>
              </a:r>
              <a:endParaRPr lang="en-US" altLang="ja-JP" sz="1600" b="1" kern="0"/>
            </a:p>
          </p:txBody>
        </p:sp>
      </p:grpSp>
    </p:spTree>
    <p:extLst>
      <p:ext uri="{BB962C8B-B14F-4D97-AF65-F5344CB8AC3E}">
        <p14:creationId xmlns:p14="http://schemas.microsoft.com/office/powerpoint/2010/main" val="1451534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766120" y="692698"/>
            <a:ext cx="10659761" cy="2973956"/>
          </a:xfrm>
          <a:solidFill>
            <a:schemeClr val="bg1"/>
          </a:solidFill>
        </p:spPr>
        <p:txBody>
          <a:bodyPr numCol="2"/>
          <a:lstStyle/>
          <a:p>
            <a:pPr marL="342900" indent="-342900">
              <a:buFont typeface="+mj-lt"/>
              <a:buAutoNum type="arabicPeriod"/>
            </a:pPr>
            <a:r>
              <a:rPr lang="en-US" altLang="ja-JP" b="1">
                <a:solidFill>
                  <a:schemeClr val="tx1">
                    <a:lumMod val="65000"/>
                    <a:lumOff val="35000"/>
                  </a:schemeClr>
                </a:solidFill>
              </a:rPr>
              <a:t>BPS</a:t>
            </a:r>
            <a:r>
              <a:rPr lang="ja-JP" altLang="en-US" b="1">
                <a:solidFill>
                  <a:schemeClr val="tx1">
                    <a:lumMod val="65000"/>
                    <a:lumOff val="35000"/>
                  </a:schemeClr>
                </a:solidFill>
              </a:rPr>
              <a:t>導入状況について</a:t>
            </a:r>
            <a:endParaRPr lang="en-US" altLang="ja-JP" b="1">
              <a:solidFill>
                <a:schemeClr val="tx1">
                  <a:lumMod val="65000"/>
                  <a:lumOff val="35000"/>
                </a:schemeClr>
              </a:solidFill>
            </a:endParaRPr>
          </a:p>
          <a:p>
            <a:pPr marL="700087" lvl="1" indent="-342900">
              <a:buFont typeface="+mj-lt"/>
              <a:buAutoNum type="arabicPeriod"/>
            </a:pPr>
            <a:r>
              <a:rPr lang="en-US" altLang="ja-JP">
                <a:solidFill>
                  <a:schemeClr val="tx1">
                    <a:lumMod val="65000"/>
                    <a:lumOff val="35000"/>
                  </a:schemeClr>
                </a:solidFill>
              </a:rPr>
              <a:t>n8n</a:t>
            </a:r>
            <a:r>
              <a:rPr lang="ja-JP" altLang="en-US">
                <a:solidFill>
                  <a:schemeClr val="tx1">
                    <a:lumMod val="65000"/>
                    <a:lumOff val="35000"/>
                  </a:schemeClr>
                </a:solidFill>
              </a:rPr>
              <a:t>の</a:t>
            </a:r>
            <a:r>
              <a:rPr lang="en-US" altLang="ja-JP">
                <a:solidFill>
                  <a:schemeClr val="tx1">
                    <a:lumMod val="65000"/>
                    <a:lumOff val="35000"/>
                  </a:schemeClr>
                </a:solidFill>
              </a:rPr>
              <a:t>BPS</a:t>
            </a:r>
            <a:r>
              <a:rPr lang="ja-JP" altLang="en-US">
                <a:solidFill>
                  <a:schemeClr val="tx1">
                    <a:lumMod val="65000"/>
                    <a:lumOff val="35000"/>
                  </a:schemeClr>
                </a:solidFill>
              </a:rPr>
              <a:t>導入状況について（１</a:t>
            </a:r>
            <a:r>
              <a:rPr lang="en-US" altLang="ja-JP">
                <a:solidFill>
                  <a:schemeClr val="tx1">
                    <a:lumMod val="65000"/>
                    <a:lumOff val="35000"/>
                  </a:schemeClr>
                </a:solidFill>
              </a:rPr>
              <a:t>/</a:t>
            </a:r>
            <a:r>
              <a:rPr lang="ja-JP" altLang="en-US">
                <a:solidFill>
                  <a:schemeClr val="tx1">
                    <a:lumMod val="65000"/>
                    <a:lumOff val="35000"/>
                  </a:schemeClr>
                </a:solidFill>
              </a:rPr>
              <a:t>２）</a:t>
            </a:r>
            <a:endParaRPr lang="en-US" altLang="ja-JP">
              <a:solidFill>
                <a:schemeClr val="tx1">
                  <a:lumMod val="65000"/>
                  <a:lumOff val="35000"/>
                </a:schemeClr>
              </a:solidFill>
            </a:endParaRPr>
          </a:p>
          <a:p>
            <a:pPr marL="700087" lvl="1" indent="-342900">
              <a:buFont typeface="+mj-lt"/>
              <a:buAutoNum type="arabicPeriod"/>
            </a:pPr>
            <a:r>
              <a:rPr lang="en-US" altLang="ja-JP">
                <a:solidFill>
                  <a:schemeClr val="tx1">
                    <a:lumMod val="65000"/>
                    <a:lumOff val="35000"/>
                  </a:schemeClr>
                </a:solidFill>
              </a:rPr>
              <a:t>n8n</a:t>
            </a:r>
            <a:r>
              <a:rPr lang="ja-JP" altLang="en-US">
                <a:solidFill>
                  <a:schemeClr val="tx1">
                    <a:lumMod val="65000"/>
                    <a:lumOff val="35000"/>
                  </a:schemeClr>
                </a:solidFill>
              </a:rPr>
              <a:t>の</a:t>
            </a:r>
            <a:r>
              <a:rPr lang="en-US" altLang="ja-JP">
                <a:solidFill>
                  <a:schemeClr val="tx1">
                    <a:lumMod val="65000"/>
                    <a:lumOff val="35000"/>
                  </a:schemeClr>
                </a:solidFill>
              </a:rPr>
              <a:t>BPS</a:t>
            </a:r>
            <a:r>
              <a:rPr lang="ja-JP" altLang="en-US">
                <a:solidFill>
                  <a:schemeClr val="tx1">
                    <a:lumMod val="65000"/>
                    <a:lumOff val="35000"/>
                  </a:schemeClr>
                </a:solidFill>
              </a:rPr>
              <a:t>導入状況について（２</a:t>
            </a:r>
            <a:r>
              <a:rPr lang="en-US" altLang="ja-JP">
                <a:solidFill>
                  <a:schemeClr val="tx1">
                    <a:lumMod val="65000"/>
                    <a:lumOff val="35000"/>
                  </a:schemeClr>
                </a:solidFill>
              </a:rPr>
              <a:t>/</a:t>
            </a:r>
            <a:r>
              <a:rPr lang="ja-JP" altLang="en-US">
                <a:solidFill>
                  <a:schemeClr val="tx1">
                    <a:lumMod val="65000"/>
                    <a:lumOff val="35000"/>
                  </a:schemeClr>
                </a:solidFill>
              </a:rPr>
              <a:t>２）</a:t>
            </a:r>
            <a:endParaRPr lang="en-US" altLang="ja-JP">
              <a:solidFill>
                <a:schemeClr val="tx1">
                  <a:lumMod val="65000"/>
                  <a:lumOff val="35000"/>
                </a:schemeClr>
              </a:solidFill>
            </a:endParaRPr>
          </a:p>
          <a:p>
            <a:pPr marL="700087" lvl="1" indent="-342900">
              <a:buFont typeface="+mj-lt"/>
              <a:buAutoNum type="arabicPeriod"/>
            </a:pPr>
            <a:r>
              <a:rPr lang="en-US" altLang="ja-JP">
                <a:solidFill>
                  <a:schemeClr val="tx1">
                    <a:lumMod val="65000"/>
                    <a:lumOff val="35000"/>
                  </a:schemeClr>
                </a:solidFill>
              </a:rPr>
              <a:t>BPS</a:t>
            </a:r>
            <a:r>
              <a:rPr lang="ja-JP" altLang="en-US">
                <a:solidFill>
                  <a:schemeClr val="tx1">
                    <a:lumMod val="65000"/>
                    <a:lumOff val="35000"/>
                  </a:schemeClr>
                </a:solidFill>
              </a:rPr>
              <a:t>の</a:t>
            </a:r>
            <a:r>
              <a:rPr lang="en-US" altLang="ja-JP">
                <a:solidFill>
                  <a:schemeClr val="tx1">
                    <a:lumMod val="65000"/>
                    <a:lumOff val="35000"/>
                  </a:schemeClr>
                </a:solidFill>
              </a:rPr>
              <a:t>n8n</a:t>
            </a:r>
            <a:r>
              <a:rPr lang="ja-JP" altLang="en-US">
                <a:solidFill>
                  <a:schemeClr val="tx1">
                    <a:lumMod val="65000"/>
                    <a:lumOff val="35000"/>
                  </a:schemeClr>
                </a:solidFill>
              </a:rPr>
              <a:t>デモ</a:t>
            </a:r>
            <a:endParaRPr lang="en-US" altLang="ja-JP">
              <a:solidFill>
                <a:schemeClr val="tx1">
                  <a:lumMod val="65000"/>
                  <a:lumOff val="35000"/>
                </a:schemeClr>
              </a:solidFill>
            </a:endParaRPr>
          </a:p>
          <a:p>
            <a:pPr marL="342900" indent="-342900">
              <a:buFont typeface="+mj-lt"/>
              <a:buAutoNum type="arabicPeriod"/>
            </a:pPr>
            <a:r>
              <a:rPr lang="ja-JP" altLang="en-US" b="1">
                <a:solidFill>
                  <a:schemeClr val="tx1">
                    <a:lumMod val="65000"/>
                    <a:lumOff val="35000"/>
                  </a:schemeClr>
                </a:solidFill>
              </a:rPr>
              <a:t>内製化状況と今後の見通しについて</a:t>
            </a:r>
          </a:p>
          <a:p>
            <a:pPr marL="700087" lvl="1" indent="-342900">
              <a:buFont typeface="+mj-lt"/>
              <a:buAutoNum type="arabicPeriod"/>
            </a:pPr>
            <a:r>
              <a:rPr lang="en-US" altLang="ja-JP"/>
              <a:t>12/</a:t>
            </a:r>
            <a:r>
              <a:rPr lang="ja-JP" altLang="en-US"/>
              <a:t>末の現状の内製化状況</a:t>
            </a:r>
            <a:endParaRPr lang="en-US" altLang="ja-JP"/>
          </a:p>
          <a:p>
            <a:pPr marL="700087" lvl="1" indent="-342900">
              <a:buFont typeface="+mj-lt"/>
              <a:buAutoNum type="arabicPeriod"/>
            </a:pPr>
            <a:r>
              <a:rPr lang="ja-JP" altLang="en-US"/>
              <a:t>大規模な</a:t>
            </a:r>
            <a:r>
              <a:rPr lang="en-US" altLang="ja-JP"/>
              <a:t>AI</a:t>
            </a:r>
            <a:r>
              <a:rPr lang="ja-JP" altLang="en-US"/>
              <a:t>エージェント展開に伴う必要な領域について</a:t>
            </a:r>
            <a:endParaRPr lang="en-US" altLang="ja-JP">
              <a:solidFill>
                <a:schemeClr val="tx1">
                  <a:lumMod val="65000"/>
                  <a:lumOff val="35000"/>
                </a:schemeClr>
              </a:solidFill>
            </a:endParaRPr>
          </a:p>
          <a:p>
            <a:pPr marL="700087" lvl="1" indent="-342900">
              <a:buFont typeface="+mj-lt"/>
              <a:buAutoNum type="arabicPeriod"/>
            </a:pPr>
            <a:r>
              <a:rPr lang="ja-JP" altLang="en-US"/>
              <a:t>参考：パートナー実力値</a:t>
            </a:r>
            <a:endParaRPr lang="en-US" altLang="ja-JP"/>
          </a:p>
          <a:p>
            <a:pPr marL="700087" lvl="1" indent="-342900">
              <a:buFont typeface="+mj-lt"/>
              <a:buAutoNum type="arabicPeriod"/>
            </a:pPr>
            <a:r>
              <a:rPr lang="ja-JP" altLang="en-US"/>
              <a:t>参考：</a:t>
            </a:r>
            <a:r>
              <a:rPr lang="en-US" altLang="ja-JP" err="1"/>
              <a:t>LinkX</a:t>
            </a:r>
            <a:r>
              <a:rPr lang="en-US" altLang="ja-JP"/>
              <a:t> Japan</a:t>
            </a:r>
            <a:r>
              <a:rPr lang="ja-JP" altLang="en-US"/>
              <a:t>社のノウハウと</a:t>
            </a:r>
            <a:r>
              <a:rPr lang="en-US" altLang="ja-JP"/>
              <a:t>R</a:t>
            </a:r>
            <a:r>
              <a:rPr lang="ja-JP" altLang="en-US"/>
              <a:t>の構築実績</a:t>
            </a:r>
            <a:endParaRPr lang="en-US" altLang="ja-JP"/>
          </a:p>
          <a:p>
            <a:pPr marL="342900" indent="-342900">
              <a:buFont typeface="+mj-lt"/>
              <a:buAutoNum type="arabicPeriod"/>
            </a:pPr>
            <a:r>
              <a:rPr lang="ja-JP" altLang="en-US" b="1">
                <a:solidFill>
                  <a:schemeClr val="tx1">
                    <a:lumMod val="65000"/>
                    <a:lumOff val="35000"/>
                  </a:schemeClr>
                </a:solidFill>
              </a:rPr>
              <a:t>今後のアクション</a:t>
            </a:r>
            <a:endParaRPr lang="en-US" altLang="ja-JP" b="1">
              <a:solidFill>
                <a:schemeClr val="tx1">
                  <a:lumMod val="65000"/>
                  <a:lumOff val="35000"/>
                </a:schemeClr>
              </a:solidFill>
            </a:endParaRPr>
          </a:p>
          <a:p>
            <a:pPr marL="700087" lvl="1" indent="-342900">
              <a:buFont typeface="+mj-lt"/>
              <a:buAutoNum type="arabicPeriod"/>
            </a:pPr>
            <a:r>
              <a:rPr lang="ja-JP" altLang="en-US">
                <a:solidFill>
                  <a:schemeClr val="tx1">
                    <a:lumMod val="65000"/>
                    <a:lumOff val="35000"/>
                  </a:schemeClr>
                </a:solidFill>
              </a:rPr>
              <a:t>進め方について</a:t>
            </a:r>
          </a:p>
          <a:p>
            <a:pPr marL="342900" indent="-342900">
              <a:buFont typeface="+mj-lt"/>
              <a:buAutoNum type="arabicPeriod"/>
            </a:pPr>
            <a:r>
              <a:rPr lang="en-US" altLang="ja-JP" b="1">
                <a:solidFill>
                  <a:schemeClr val="tx1">
                    <a:lumMod val="65000"/>
                    <a:lumOff val="35000"/>
                  </a:schemeClr>
                </a:solidFill>
              </a:rPr>
              <a:t>Appendix①</a:t>
            </a:r>
            <a:r>
              <a:rPr lang="ja-JP" altLang="en-US" b="1">
                <a:solidFill>
                  <a:schemeClr val="tx1">
                    <a:lumMod val="65000"/>
                    <a:lumOff val="35000"/>
                  </a:schemeClr>
                </a:solidFill>
              </a:rPr>
              <a:t>：</a:t>
            </a:r>
            <a:r>
              <a:rPr lang="en-US" altLang="ja-JP" b="1">
                <a:solidFill>
                  <a:schemeClr val="tx1">
                    <a:lumMod val="65000"/>
                    <a:lumOff val="35000"/>
                  </a:schemeClr>
                </a:solidFill>
              </a:rPr>
              <a:t>AI</a:t>
            </a:r>
            <a:r>
              <a:rPr lang="ja-JP" altLang="en-US" b="1">
                <a:solidFill>
                  <a:schemeClr val="tx1">
                    <a:lumMod val="65000"/>
                    <a:lumOff val="35000"/>
                  </a:schemeClr>
                </a:solidFill>
              </a:rPr>
              <a:t>エージェントの内製化部隊のリソース計画</a:t>
            </a:r>
            <a:endParaRPr lang="en-US" altLang="ja-JP" b="1">
              <a:solidFill>
                <a:schemeClr val="tx1">
                  <a:lumMod val="65000"/>
                  <a:lumOff val="35000"/>
                </a:schemeClr>
              </a:solidFill>
            </a:endParaRPr>
          </a:p>
          <a:p>
            <a:pPr marL="700087" lvl="1" indent="-342900">
              <a:buFont typeface="+mj-lt"/>
              <a:buAutoNum type="arabicPeriod"/>
            </a:pPr>
            <a:r>
              <a:rPr lang="ja-JP" altLang="en-US"/>
              <a:t>前提：</a:t>
            </a:r>
            <a:r>
              <a:rPr lang="en-US" altLang="ja-JP"/>
              <a:t>1</a:t>
            </a:r>
            <a:r>
              <a:rPr lang="ja-JP" altLang="en-US"/>
              <a:t>業務にかかる</a:t>
            </a:r>
            <a:r>
              <a:rPr lang="en-US" altLang="ja-JP"/>
              <a:t>n8n</a:t>
            </a:r>
            <a:r>
              <a:rPr lang="ja-JP" altLang="en-US"/>
              <a:t>の内製工数のイメージ</a:t>
            </a:r>
            <a:endParaRPr lang="en-US" altLang="ja-JP"/>
          </a:p>
          <a:p>
            <a:pPr marL="700087" lvl="1" indent="-342900">
              <a:buFont typeface="+mj-lt"/>
              <a:buAutoNum type="arabicPeriod"/>
            </a:pPr>
            <a:r>
              <a:rPr lang="ja-JP" altLang="en-US"/>
              <a:t>リソース計画初期フェーズ</a:t>
            </a:r>
            <a:endParaRPr lang="en-US" altLang="ja-JP"/>
          </a:p>
          <a:p>
            <a:pPr marL="700087" lvl="1" indent="-342900">
              <a:buFont typeface="+mj-lt"/>
              <a:buAutoNum type="arabicPeriod"/>
            </a:pPr>
            <a:r>
              <a:rPr lang="ja-JP" altLang="en-US"/>
              <a:t>リソース確保プラン</a:t>
            </a:r>
            <a:endParaRPr lang="en-US" altLang="ja-JP"/>
          </a:p>
          <a:p>
            <a:pPr marL="700087" lvl="1" indent="-342900">
              <a:buFont typeface="+mj-lt"/>
              <a:buAutoNum type="arabicPeriod"/>
            </a:pPr>
            <a:r>
              <a:rPr lang="ja-JP" altLang="en-US"/>
              <a:t>採用チャネルごとの進め方</a:t>
            </a:r>
            <a:endParaRPr lang="en-US" altLang="ja-JP">
              <a:solidFill>
                <a:schemeClr val="tx1">
                  <a:lumMod val="65000"/>
                  <a:lumOff val="35000"/>
                </a:schemeClr>
              </a:solidFill>
            </a:endParaRPr>
          </a:p>
          <a:p>
            <a:pPr marL="342900" indent="-342900">
              <a:buFont typeface="+mj-lt"/>
              <a:buAutoNum type="arabicPeriod"/>
            </a:pPr>
            <a:r>
              <a:rPr lang="en-US" altLang="ja-JP" b="1">
                <a:solidFill>
                  <a:schemeClr val="tx1">
                    <a:lumMod val="65000"/>
                    <a:lumOff val="35000"/>
                  </a:schemeClr>
                </a:solidFill>
              </a:rPr>
              <a:t>Appendix②</a:t>
            </a:r>
            <a:r>
              <a:rPr lang="ja-JP" altLang="en-US" b="1">
                <a:solidFill>
                  <a:schemeClr val="tx1">
                    <a:lumMod val="65000"/>
                    <a:lumOff val="35000"/>
                  </a:schemeClr>
                </a:solidFill>
              </a:rPr>
              <a:t>：</a:t>
            </a:r>
            <a:r>
              <a:rPr lang="en-US" altLang="ja-JP" b="1">
                <a:solidFill>
                  <a:schemeClr val="tx1">
                    <a:lumMod val="65000"/>
                    <a:lumOff val="35000"/>
                  </a:schemeClr>
                </a:solidFill>
              </a:rPr>
              <a:t>MS</a:t>
            </a:r>
            <a:r>
              <a:rPr lang="ja-JP" altLang="en-US" b="1">
                <a:solidFill>
                  <a:schemeClr val="tx1">
                    <a:lumMod val="65000"/>
                    <a:lumOff val="35000"/>
                  </a:schemeClr>
                </a:solidFill>
              </a:rPr>
              <a:t>からの</a:t>
            </a:r>
            <a:r>
              <a:rPr lang="en-US" altLang="ja-JP" b="1" err="1">
                <a:solidFill>
                  <a:schemeClr val="tx1">
                    <a:lumMod val="65000"/>
                    <a:lumOff val="35000"/>
                  </a:schemeClr>
                </a:solidFill>
              </a:rPr>
              <a:t>AzureAccelerate</a:t>
            </a:r>
            <a:r>
              <a:rPr lang="ja-JP" altLang="en-US" b="1">
                <a:solidFill>
                  <a:schemeClr val="tx1">
                    <a:lumMod val="65000"/>
                    <a:lumOff val="35000"/>
                  </a:schemeClr>
                </a:solidFill>
              </a:rPr>
              <a:t>プランの提案</a:t>
            </a:r>
            <a:endParaRPr lang="en-US" altLang="ja-JP" b="1">
              <a:solidFill>
                <a:schemeClr val="tx1">
                  <a:lumMod val="65000"/>
                  <a:lumOff val="35000"/>
                </a:schemeClr>
              </a:solidFill>
            </a:endParaRPr>
          </a:p>
          <a:p>
            <a:pPr marL="700087" lvl="1" indent="-342900">
              <a:buFont typeface="+mj-lt"/>
              <a:buAutoNum type="arabicPeriod"/>
            </a:pPr>
            <a:r>
              <a:rPr lang="en-US" altLang="ja-JP" err="1">
                <a:solidFill>
                  <a:schemeClr val="tx1">
                    <a:lumMod val="65000"/>
                    <a:lumOff val="35000"/>
                  </a:schemeClr>
                </a:solidFill>
              </a:rPr>
              <a:t>AzureAccelerate</a:t>
            </a:r>
            <a:r>
              <a:rPr lang="ja-JP" altLang="en-US">
                <a:solidFill>
                  <a:schemeClr val="tx1">
                    <a:lumMod val="65000"/>
                    <a:lumOff val="35000"/>
                  </a:schemeClr>
                </a:solidFill>
              </a:rPr>
              <a:t>とは</a:t>
            </a:r>
            <a:endParaRPr lang="en-US" altLang="ja-JP">
              <a:solidFill>
                <a:schemeClr val="tx1">
                  <a:lumMod val="65000"/>
                  <a:lumOff val="35000"/>
                </a:schemeClr>
              </a:solidFill>
            </a:endParaRPr>
          </a:p>
          <a:p>
            <a:pPr marL="700087" lvl="1" indent="-342900">
              <a:buFont typeface="+mj-lt"/>
              <a:buAutoNum type="arabicPeriod"/>
            </a:pPr>
            <a:r>
              <a:rPr lang="en-US" altLang="ja-JP"/>
              <a:t>MS </a:t>
            </a:r>
            <a:r>
              <a:rPr lang="ja-JP" altLang="en-US"/>
              <a:t>岡嵜常務とのご面談について</a:t>
            </a:r>
            <a:endParaRPr lang="en-US" altLang="ja-JP"/>
          </a:p>
        </p:txBody>
      </p:sp>
      <p:sp>
        <p:nvSpPr>
          <p:cNvPr id="3" name="タイトル 2"/>
          <p:cNvSpPr>
            <a:spLocks noGrp="1"/>
          </p:cNvSpPr>
          <p:nvPr>
            <p:ph type="title"/>
          </p:nvPr>
        </p:nvSpPr>
        <p:spPr/>
        <p:txBody>
          <a:bodyPr/>
          <a:lstStyle/>
          <a:p>
            <a:r>
              <a:rPr kumimoji="1" lang="en-US" altLang="ja-JP"/>
              <a:t>Agenda</a:t>
            </a:r>
            <a:endParaRPr kumimoji="1" lang="ja-JP" altLang="en-US"/>
          </a:p>
        </p:txBody>
      </p:sp>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a:t>
            </a:fld>
            <a:endParaRPr lang="en-US" altLang="ja-JP"/>
          </a:p>
        </p:txBody>
      </p:sp>
    </p:spTree>
    <p:extLst>
      <p:ext uri="{BB962C8B-B14F-4D97-AF65-F5344CB8AC3E}">
        <p14:creationId xmlns:p14="http://schemas.microsoft.com/office/powerpoint/2010/main" val="2598359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FF0FAD4-7B39-4C15-841F-4EA43A0D8D89}"/>
              </a:ext>
            </a:extLst>
          </p:cNvPr>
          <p:cNvSpPr>
            <a:spLocks noGrp="1"/>
          </p:cNvSpPr>
          <p:nvPr>
            <p:ph type="title"/>
          </p:nvPr>
        </p:nvSpPr>
        <p:spPr>
          <a:xfrm>
            <a:off x="1087388" y="3510976"/>
            <a:ext cx="9866939" cy="1362075"/>
          </a:xfrm>
        </p:spPr>
        <p:txBody>
          <a:bodyPr/>
          <a:lstStyle/>
          <a:p>
            <a:endParaRPr lang="ja-JP" altLang="en-US"/>
          </a:p>
        </p:txBody>
      </p:sp>
      <p:sp>
        <p:nvSpPr>
          <p:cNvPr id="4" name="テキスト プレースホルダー 3">
            <a:extLst>
              <a:ext uri="{FF2B5EF4-FFF2-40B4-BE49-F238E27FC236}">
                <a16:creationId xmlns:a16="http://schemas.microsoft.com/office/drawing/2014/main" id="{4F1B32A8-3C8A-4EF1-BC41-22E8C256DAF1}"/>
              </a:ext>
            </a:extLst>
          </p:cNvPr>
          <p:cNvSpPr>
            <a:spLocks noGrp="1"/>
          </p:cNvSpPr>
          <p:nvPr>
            <p:ph type="body" idx="1"/>
          </p:nvPr>
        </p:nvSpPr>
        <p:spPr>
          <a:xfrm>
            <a:off x="591128" y="2010786"/>
            <a:ext cx="10363200" cy="1500187"/>
          </a:xfrm>
        </p:spPr>
        <p:txBody>
          <a:bodyPr/>
          <a:lstStyle/>
          <a:p>
            <a:pPr>
              <a:spcBef>
                <a:spcPct val="0"/>
              </a:spcBef>
            </a:pPr>
            <a:r>
              <a:rPr lang="en-US" altLang="ja-JP" sz="3200"/>
              <a:t>BPS</a:t>
            </a:r>
            <a:r>
              <a:rPr lang="ja-JP" altLang="en-US" sz="3200"/>
              <a:t>導入状況について</a:t>
            </a:r>
          </a:p>
        </p:txBody>
      </p:sp>
    </p:spTree>
    <p:extLst>
      <p:ext uri="{BB962C8B-B14F-4D97-AF65-F5344CB8AC3E}">
        <p14:creationId xmlns:p14="http://schemas.microsoft.com/office/powerpoint/2010/main" val="19369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A3C3-52EB-4B7D-29A0-FE065492670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26AD591-EAF0-61FC-A77D-08792862677E}"/>
              </a:ext>
            </a:extLst>
          </p:cNvPr>
          <p:cNvSpPr>
            <a:spLocks noGrp="1"/>
          </p:cNvSpPr>
          <p:nvPr>
            <p:ph type="title"/>
          </p:nvPr>
        </p:nvSpPr>
        <p:spPr/>
        <p:txBody>
          <a:bodyPr/>
          <a:lstStyle/>
          <a:p>
            <a:r>
              <a:rPr lang="en-US" altLang="ja-JP">
                <a:solidFill>
                  <a:schemeClr val="tx1">
                    <a:lumMod val="65000"/>
                    <a:lumOff val="35000"/>
                  </a:schemeClr>
                </a:solidFill>
              </a:rPr>
              <a:t>n8n</a:t>
            </a:r>
            <a:r>
              <a:rPr lang="ja-JP" altLang="en-US">
                <a:solidFill>
                  <a:schemeClr val="tx1">
                    <a:lumMod val="65000"/>
                    <a:lumOff val="35000"/>
                  </a:schemeClr>
                </a:solidFill>
              </a:rPr>
              <a:t>の</a:t>
            </a:r>
            <a:r>
              <a:rPr lang="en-US" altLang="ja-JP">
                <a:solidFill>
                  <a:schemeClr val="tx1">
                    <a:lumMod val="65000"/>
                    <a:lumOff val="35000"/>
                  </a:schemeClr>
                </a:solidFill>
              </a:rPr>
              <a:t>BPS</a:t>
            </a:r>
            <a:r>
              <a:rPr lang="ja-JP" altLang="en-US">
                <a:solidFill>
                  <a:schemeClr val="tx1">
                    <a:lumMod val="65000"/>
                    <a:lumOff val="35000"/>
                  </a:schemeClr>
                </a:solidFill>
              </a:rPr>
              <a:t>導入状況について（１</a:t>
            </a:r>
            <a:r>
              <a:rPr lang="en-US" altLang="ja-JP">
                <a:solidFill>
                  <a:schemeClr val="tx1">
                    <a:lumMod val="65000"/>
                    <a:lumOff val="35000"/>
                  </a:schemeClr>
                </a:solidFill>
              </a:rPr>
              <a:t>/</a:t>
            </a:r>
            <a:r>
              <a:rPr lang="ja-JP" altLang="en-US">
                <a:solidFill>
                  <a:schemeClr val="tx1">
                    <a:lumMod val="65000"/>
                    <a:lumOff val="35000"/>
                  </a:schemeClr>
                </a:solidFill>
              </a:rPr>
              <a:t>２）</a:t>
            </a:r>
            <a:endParaRPr kumimoji="1" lang="ja-JP" altLang="en-US"/>
          </a:p>
        </p:txBody>
      </p:sp>
      <p:sp>
        <p:nvSpPr>
          <p:cNvPr id="4" name="スライド番号プレースホルダー 3">
            <a:extLst>
              <a:ext uri="{FF2B5EF4-FFF2-40B4-BE49-F238E27FC236}">
                <a16:creationId xmlns:a16="http://schemas.microsoft.com/office/drawing/2014/main" id="{B10C85B6-C789-CA25-04DF-6AA2546C3D17}"/>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4</a:t>
            </a:fld>
            <a:endParaRPr lang="en-US" altLang="ja-JP"/>
          </a:p>
        </p:txBody>
      </p:sp>
      <p:sp>
        <p:nvSpPr>
          <p:cNvPr id="2" name="コンテンツ プレースホルダー 5">
            <a:extLst>
              <a:ext uri="{FF2B5EF4-FFF2-40B4-BE49-F238E27FC236}">
                <a16:creationId xmlns:a16="http://schemas.microsoft.com/office/drawing/2014/main" id="{CCB4B3B2-3986-B74E-595B-0F461C75E469}"/>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a:t>BPS</a:t>
            </a:r>
            <a:r>
              <a:rPr lang="ja-JP" altLang="en-US" sz="1600" kern="0"/>
              <a:t>の請求・支払業務を分析した結果、“</a:t>
            </a:r>
            <a:r>
              <a:rPr lang="en-US" altLang="ja-JP" sz="1600" kern="0"/>
              <a:t>RPA</a:t>
            </a:r>
            <a:r>
              <a:rPr lang="ja-JP" altLang="en-US" sz="1600" kern="0"/>
              <a:t>処理準備・実行”フェーズの</a:t>
            </a:r>
            <a:r>
              <a:rPr lang="en-US" altLang="ja-JP" sz="1600" kern="0"/>
              <a:t>20</a:t>
            </a:r>
            <a:r>
              <a:rPr lang="ja-JP" altLang="en-US" sz="1600" kern="0"/>
              <a:t>件の請求処理において、</a:t>
            </a:r>
            <a:br>
              <a:rPr lang="en-US" altLang="ja-JP" sz="1600" kern="0"/>
            </a:br>
            <a:r>
              <a:rPr lang="en-US" altLang="ja-JP" sz="1600" kern="0"/>
              <a:t>20</a:t>
            </a:r>
            <a:r>
              <a:rPr lang="ja-JP" altLang="en-US" sz="1600" kern="0"/>
              <a:t>分の手作業（</a:t>
            </a:r>
            <a:r>
              <a:rPr lang="en-US" altLang="ja-JP" sz="1600" kern="0" err="1"/>
              <a:t>ExcelVBA</a:t>
            </a:r>
            <a:r>
              <a:rPr lang="ja-JP" altLang="en-US" sz="1600" kern="0"/>
              <a:t>や登録ファイル準備）＋</a:t>
            </a:r>
            <a:r>
              <a:rPr lang="en-US" altLang="ja-JP" sz="1600" kern="0"/>
              <a:t>30</a:t>
            </a:r>
            <a:r>
              <a:rPr lang="ja-JP" altLang="en-US" sz="1600" kern="0"/>
              <a:t>分の</a:t>
            </a:r>
            <a:r>
              <a:rPr lang="en-US" altLang="ja-JP" sz="1600" kern="0"/>
              <a:t>RPA</a:t>
            </a:r>
            <a:r>
              <a:rPr lang="ja-JP" altLang="en-US" sz="1600" kern="0"/>
              <a:t>処理</a:t>
            </a:r>
            <a:r>
              <a:rPr lang="en-US" altLang="ja-JP" sz="1600" kern="0"/>
              <a:t>(</a:t>
            </a:r>
            <a:r>
              <a:rPr lang="en-US" altLang="ja-JP" sz="1600" kern="0" err="1"/>
              <a:t>ConcurInvoice</a:t>
            </a:r>
            <a:r>
              <a:rPr lang="ja-JP" altLang="en-US" sz="1600" kern="0"/>
              <a:t>＋活文登録処理</a:t>
            </a:r>
            <a:r>
              <a:rPr lang="en-US" altLang="ja-JP" sz="1600" kern="0"/>
              <a:t>)</a:t>
            </a:r>
            <a:r>
              <a:rPr lang="ja-JP" altLang="en-US" sz="1600" kern="0"/>
              <a:t>がかかっていることが判明した。</a:t>
            </a:r>
            <a:endParaRPr lang="en-US" altLang="ja-JP" sz="1600" kern="0"/>
          </a:p>
          <a:p>
            <a:pPr marL="285750" indent="-285750">
              <a:buFont typeface="Arial" panose="020B0604020202020204" pitchFamily="34" charset="0"/>
              <a:buChar char="•"/>
            </a:pPr>
            <a:r>
              <a:rPr lang="ja-JP" altLang="en-US" sz="1600" kern="0"/>
              <a:t>上記に対し、</a:t>
            </a:r>
            <a:r>
              <a:rPr lang="en-US" altLang="ja-JP" sz="1600" kern="0"/>
              <a:t>n8n</a:t>
            </a:r>
            <a:r>
              <a:rPr lang="ja-JP" altLang="en-US" sz="1600" kern="0"/>
              <a:t>を導入することで、手作業の処理をなくし、最大</a:t>
            </a:r>
            <a:r>
              <a:rPr lang="en-US" altLang="ja-JP" sz="1600" kern="0"/>
              <a:t>500</a:t>
            </a:r>
            <a:r>
              <a:rPr lang="ja-JP" altLang="en-US" sz="1600" kern="0"/>
              <a:t>件の</a:t>
            </a:r>
            <a:r>
              <a:rPr lang="en-US" altLang="ja-JP" sz="1600" kern="0" err="1"/>
              <a:t>ConcurInvoice</a:t>
            </a:r>
            <a:r>
              <a:rPr lang="ja-JP" altLang="en-US" sz="1600" kern="0"/>
              <a:t>処理を約</a:t>
            </a:r>
            <a:r>
              <a:rPr lang="en-US" altLang="ja-JP" sz="1600" kern="0"/>
              <a:t>2</a:t>
            </a:r>
            <a:r>
              <a:rPr lang="ja-JP" altLang="en-US" sz="1600" kern="0"/>
              <a:t>～</a:t>
            </a:r>
            <a:r>
              <a:rPr lang="en-US" altLang="ja-JP" sz="1600" kern="0"/>
              <a:t>3</a:t>
            </a:r>
            <a:r>
              <a:rPr lang="ja-JP" altLang="en-US" sz="1600" kern="0"/>
              <a:t>分で完結できる見通しが立った。</a:t>
            </a:r>
            <a:br>
              <a:rPr lang="en-US" altLang="ja-JP" sz="1600" kern="0"/>
            </a:br>
            <a:r>
              <a:rPr lang="ja-JP" altLang="en-US" sz="1600" kern="0"/>
              <a:t>現在大規模な並列処理のテストを行いつつ、残課題である活文の連携（</a:t>
            </a:r>
            <a:r>
              <a:rPr lang="en-US" altLang="ja-JP" sz="1600" kern="0"/>
              <a:t>Azure</a:t>
            </a:r>
            <a:r>
              <a:rPr lang="ja-JP" altLang="en-US" sz="1600" kern="0"/>
              <a:t>⇔</a:t>
            </a:r>
            <a:r>
              <a:rPr lang="en-US" altLang="ja-JP" sz="1600" kern="0" err="1"/>
              <a:t>Durandal</a:t>
            </a:r>
            <a:r>
              <a:rPr lang="ja-JP" altLang="en-US" sz="1600" kern="0"/>
              <a:t>）を進めている。</a:t>
            </a:r>
            <a:endParaRPr lang="en-US" altLang="ja-JP" sz="1600" kern="0"/>
          </a:p>
        </p:txBody>
      </p:sp>
      <p:grpSp>
        <p:nvGrpSpPr>
          <p:cNvPr id="99" name="グループ化 98">
            <a:extLst>
              <a:ext uri="{FF2B5EF4-FFF2-40B4-BE49-F238E27FC236}">
                <a16:creationId xmlns:a16="http://schemas.microsoft.com/office/drawing/2014/main" id="{16F3176B-164C-1C13-C9F4-E7434C1369A3}"/>
              </a:ext>
            </a:extLst>
          </p:cNvPr>
          <p:cNvGrpSpPr/>
          <p:nvPr/>
        </p:nvGrpSpPr>
        <p:grpSpPr>
          <a:xfrm>
            <a:off x="121737" y="2711326"/>
            <a:ext cx="11994652" cy="2503470"/>
            <a:chOff x="121737" y="3281692"/>
            <a:chExt cx="11994652" cy="2503470"/>
          </a:xfrm>
        </p:grpSpPr>
        <p:grpSp>
          <p:nvGrpSpPr>
            <p:cNvPr id="97" name="グループ化 96">
              <a:extLst>
                <a:ext uri="{FF2B5EF4-FFF2-40B4-BE49-F238E27FC236}">
                  <a16:creationId xmlns:a16="http://schemas.microsoft.com/office/drawing/2014/main" id="{F70D7C4B-60DD-0ADC-879E-343C833EEEAD}"/>
                </a:ext>
              </a:extLst>
            </p:cNvPr>
            <p:cNvGrpSpPr/>
            <p:nvPr/>
          </p:nvGrpSpPr>
          <p:grpSpPr>
            <a:xfrm>
              <a:off x="760991" y="3281745"/>
              <a:ext cx="11355398" cy="2503417"/>
              <a:chOff x="75612" y="2702326"/>
              <a:chExt cx="12040777" cy="2654516"/>
            </a:xfrm>
          </p:grpSpPr>
          <p:cxnSp>
            <p:nvCxnSpPr>
              <p:cNvPr id="51" name="直線矢印コネクタ 41">
                <a:extLst>
                  <a:ext uri="{FF2B5EF4-FFF2-40B4-BE49-F238E27FC236}">
                    <a16:creationId xmlns:a16="http://schemas.microsoft.com/office/drawing/2014/main" id="{80407852-6F5A-CAA1-04E9-5D825F5F02A5}"/>
                  </a:ext>
                </a:extLst>
              </p:cNvPr>
              <p:cNvCxnSpPr>
                <a:cxnSpLocks/>
                <a:stCxn id="83" idx="2"/>
                <a:endCxn id="92" idx="0"/>
              </p:cNvCxnSpPr>
              <p:nvPr/>
            </p:nvCxnSpPr>
            <p:spPr>
              <a:xfrm rot="16200000" flipH="1" flipV="1">
                <a:off x="8030611" y="3426606"/>
                <a:ext cx="572546" cy="1175390"/>
              </a:xfrm>
              <a:prstGeom prst="bentConnector3">
                <a:avLst>
                  <a:gd name="adj1" fmla="val 52759"/>
                </a:avLst>
              </a:prstGeom>
              <a:noFill/>
              <a:ln w="19050" cap="flat" cmpd="sng" algn="ctr">
                <a:solidFill>
                  <a:srgbClr val="262699"/>
                </a:solidFill>
                <a:prstDash val="sysDash"/>
                <a:miter lim="800000"/>
                <a:tailEnd type="triangle"/>
              </a:ln>
              <a:effectLst/>
            </p:spPr>
          </p:cxnSp>
          <p:sp>
            <p:nvSpPr>
              <p:cNvPr id="52" name="正方形/長方形 51">
                <a:extLst>
                  <a:ext uri="{FF2B5EF4-FFF2-40B4-BE49-F238E27FC236}">
                    <a16:creationId xmlns:a16="http://schemas.microsoft.com/office/drawing/2014/main" id="{3FBB47C5-DBFC-FC94-B379-6FF49E22759E}"/>
                  </a:ext>
                </a:extLst>
              </p:cNvPr>
              <p:cNvSpPr/>
              <p:nvPr/>
            </p:nvSpPr>
            <p:spPr>
              <a:xfrm>
                <a:off x="75612" y="2702326"/>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3" name="正方形/長方形 52">
                <a:extLst>
                  <a:ext uri="{FF2B5EF4-FFF2-40B4-BE49-F238E27FC236}">
                    <a16:creationId xmlns:a16="http://schemas.microsoft.com/office/drawing/2014/main" id="{72191699-3ADD-FDC3-C1D9-36D0E953799E}"/>
                  </a:ext>
                </a:extLst>
              </p:cNvPr>
              <p:cNvSpPr/>
              <p:nvPr/>
            </p:nvSpPr>
            <p:spPr>
              <a:xfrm>
                <a:off x="733507" y="2702326"/>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54" name="正方形/長方形 53">
                <a:extLst>
                  <a:ext uri="{FF2B5EF4-FFF2-40B4-BE49-F238E27FC236}">
                    <a16:creationId xmlns:a16="http://schemas.microsoft.com/office/drawing/2014/main" id="{0BE3AA7E-AFBF-BA9E-A794-75CD150703FC}"/>
                  </a:ext>
                </a:extLst>
              </p:cNvPr>
              <p:cNvSpPr/>
              <p:nvPr/>
            </p:nvSpPr>
            <p:spPr>
              <a:xfrm>
                <a:off x="73350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共有フォルダ格納</a:t>
                </a:r>
              </a:p>
            </p:txBody>
          </p:sp>
          <p:sp>
            <p:nvSpPr>
              <p:cNvPr id="55" name="正方形/長方形 54">
                <a:extLst>
                  <a:ext uri="{FF2B5EF4-FFF2-40B4-BE49-F238E27FC236}">
                    <a16:creationId xmlns:a16="http://schemas.microsoft.com/office/drawing/2014/main" id="{FAF5D3FB-3A65-610C-6317-0FDFB847186E}"/>
                  </a:ext>
                </a:extLst>
              </p:cNvPr>
              <p:cNvSpPr/>
              <p:nvPr/>
            </p:nvSpPr>
            <p:spPr>
              <a:xfrm>
                <a:off x="1912616"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56" name="正方形/長方形 55">
                <a:extLst>
                  <a:ext uri="{FF2B5EF4-FFF2-40B4-BE49-F238E27FC236}">
                    <a16:creationId xmlns:a16="http://schemas.microsoft.com/office/drawing/2014/main" id="{52BD5F0E-918E-16B1-AC83-66D68239335A}"/>
                  </a:ext>
                </a:extLst>
              </p:cNvPr>
              <p:cNvSpPr/>
              <p:nvPr/>
            </p:nvSpPr>
            <p:spPr>
              <a:xfrm>
                <a:off x="3097713"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57" name="正方形/長方形 56">
                <a:extLst>
                  <a:ext uri="{FF2B5EF4-FFF2-40B4-BE49-F238E27FC236}">
                    <a16:creationId xmlns:a16="http://schemas.microsoft.com/office/drawing/2014/main" id="{F602E288-F2CC-D10A-6275-7C8EF5ED3956}"/>
                  </a:ext>
                </a:extLst>
              </p:cNvPr>
              <p:cNvSpPr/>
              <p:nvPr/>
            </p:nvSpPr>
            <p:spPr>
              <a:xfrm>
                <a:off x="1912616"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58" name="正方形/長方形 57">
                <a:extLst>
                  <a:ext uri="{FF2B5EF4-FFF2-40B4-BE49-F238E27FC236}">
                    <a16:creationId xmlns:a16="http://schemas.microsoft.com/office/drawing/2014/main" id="{838F7B49-1D4A-77A3-10FE-86D8A3DA0871}"/>
                  </a:ext>
                </a:extLst>
              </p:cNvPr>
              <p:cNvSpPr/>
              <p:nvPr/>
            </p:nvSpPr>
            <p:spPr>
              <a:xfrm>
                <a:off x="4237649"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一次チェック</a:t>
                </a:r>
              </a:p>
            </p:txBody>
          </p:sp>
          <p:sp>
            <p:nvSpPr>
              <p:cNvPr id="59" name="正方形/長方形 58">
                <a:extLst>
                  <a:ext uri="{FF2B5EF4-FFF2-40B4-BE49-F238E27FC236}">
                    <a16:creationId xmlns:a16="http://schemas.microsoft.com/office/drawing/2014/main" id="{40B249C3-33B5-AF13-D4C8-3135D26E2FAC}"/>
                  </a:ext>
                </a:extLst>
              </p:cNvPr>
              <p:cNvSpPr/>
              <p:nvPr/>
            </p:nvSpPr>
            <p:spPr>
              <a:xfrm>
                <a:off x="542274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60" name="正方形/長方形 59">
                <a:extLst>
                  <a:ext uri="{FF2B5EF4-FFF2-40B4-BE49-F238E27FC236}">
                    <a16:creationId xmlns:a16="http://schemas.microsoft.com/office/drawing/2014/main" id="{26AD3A79-8756-B4B1-B06C-258BECB5ADF6}"/>
                  </a:ext>
                </a:extLst>
              </p:cNvPr>
              <p:cNvSpPr/>
              <p:nvPr/>
            </p:nvSpPr>
            <p:spPr>
              <a:xfrm>
                <a:off x="4237649"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61" name="正方形/長方形 60">
                <a:extLst>
                  <a:ext uri="{FF2B5EF4-FFF2-40B4-BE49-F238E27FC236}">
                    <a16:creationId xmlns:a16="http://schemas.microsoft.com/office/drawing/2014/main" id="{74AC516F-9847-A5BB-F3BD-2AE02F6BB5A4}"/>
                  </a:ext>
                </a:extLst>
              </p:cNvPr>
              <p:cNvSpPr/>
              <p:nvPr/>
            </p:nvSpPr>
            <p:spPr>
              <a:xfrm>
                <a:off x="6575704"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用前処理</a:t>
                </a:r>
              </a:p>
            </p:txBody>
          </p:sp>
          <p:sp>
            <p:nvSpPr>
              <p:cNvPr id="62" name="正方形/長方形 61">
                <a:extLst>
                  <a:ext uri="{FF2B5EF4-FFF2-40B4-BE49-F238E27FC236}">
                    <a16:creationId xmlns:a16="http://schemas.microsoft.com/office/drawing/2014/main" id="{569DD5CE-FBE3-A81E-3D12-11B053339A15}"/>
                  </a:ext>
                </a:extLst>
              </p:cNvPr>
              <p:cNvSpPr/>
              <p:nvPr/>
            </p:nvSpPr>
            <p:spPr>
              <a:xfrm>
                <a:off x="7760802"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ファイル移動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ExcelVBA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準備</a:t>
                </a:r>
              </a:p>
            </p:txBody>
          </p:sp>
          <p:sp>
            <p:nvSpPr>
              <p:cNvPr id="63" name="正方形/長方形 62">
                <a:extLst>
                  <a:ext uri="{FF2B5EF4-FFF2-40B4-BE49-F238E27FC236}">
                    <a16:creationId xmlns:a16="http://schemas.microsoft.com/office/drawing/2014/main" id="{D710C214-BC4F-209F-A126-A3B660D6F2C5}"/>
                  </a:ext>
                </a:extLst>
              </p:cNvPr>
              <p:cNvSpPr/>
              <p:nvPr/>
            </p:nvSpPr>
            <p:spPr>
              <a:xfrm>
                <a:off x="6575703" y="2702326"/>
                <a:ext cx="4657754"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Concur</a:t>
                </a: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登録処理</a:t>
                </a:r>
              </a:p>
            </p:txBody>
          </p:sp>
          <p:sp>
            <p:nvSpPr>
              <p:cNvPr id="64" name="正方形/長方形 63">
                <a:extLst>
                  <a:ext uri="{FF2B5EF4-FFF2-40B4-BE49-F238E27FC236}">
                    <a16:creationId xmlns:a16="http://schemas.microsoft.com/office/drawing/2014/main" id="{E6196064-65F5-7D56-A5B9-C3C5A695BCCD}"/>
                  </a:ext>
                </a:extLst>
              </p:cNvPr>
              <p:cNvSpPr/>
              <p:nvPr/>
            </p:nvSpPr>
            <p:spPr>
              <a:xfrm>
                <a:off x="8945899"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実行</a:t>
                </a:r>
              </a:p>
            </p:txBody>
          </p:sp>
          <p:sp>
            <p:nvSpPr>
              <p:cNvPr id="65" name="正方形/長方形 64">
                <a:extLst>
                  <a:ext uri="{FF2B5EF4-FFF2-40B4-BE49-F238E27FC236}">
                    <a16:creationId xmlns:a16="http://schemas.microsoft.com/office/drawing/2014/main" id="{0B746187-D10C-33CF-1934-0600D25D8091}"/>
                  </a:ext>
                </a:extLst>
              </p:cNvPr>
              <p:cNvSpPr/>
              <p:nvPr/>
            </p:nvSpPr>
            <p:spPr>
              <a:xfrm>
                <a:off x="10130997"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66" name="四角形: 角を丸くする 65">
                <a:extLst>
                  <a:ext uri="{FF2B5EF4-FFF2-40B4-BE49-F238E27FC236}">
                    <a16:creationId xmlns:a16="http://schemas.microsoft.com/office/drawing/2014/main" id="{22FC3C6E-62C1-49F9-3069-57DD86EF0EC3}"/>
                  </a:ext>
                </a:extLst>
              </p:cNvPr>
              <p:cNvSpPr/>
              <p:nvPr/>
            </p:nvSpPr>
            <p:spPr>
              <a:xfrm>
                <a:off x="249911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67" name="四角形: 角を丸くする 66">
                <a:extLst>
                  <a:ext uri="{FF2B5EF4-FFF2-40B4-BE49-F238E27FC236}">
                    <a16:creationId xmlns:a16="http://schemas.microsoft.com/office/drawing/2014/main" id="{60B85A9C-C564-3702-8773-E50B19368D2C}"/>
                  </a:ext>
                </a:extLst>
              </p:cNvPr>
              <p:cNvSpPr/>
              <p:nvPr/>
            </p:nvSpPr>
            <p:spPr>
              <a:xfrm>
                <a:off x="368693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8" name="四角形: 角を丸くする 67">
                <a:extLst>
                  <a:ext uri="{FF2B5EF4-FFF2-40B4-BE49-F238E27FC236}">
                    <a16:creationId xmlns:a16="http://schemas.microsoft.com/office/drawing/2014/main" id="{2BF0D25A-F8FA-0CBF-F7CC-33D0054C46EE}"/>
                  </a:ext>
                </a:extLst>
              </p:cNvPr>
              <p:cNvSpPr/>
              <p:nvPr/>
            </p:nvSpPr>
            <p:spPr>
              <a:xfrm>
                <a:off x="7162661"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9" name="四角形: 角を丸くする 68">
                <a:extLst>
                  <a:ext uri="{FF2B5EF4-FFF2-40B4-BE49-F238E27FC236}">
                    <a16:creationId xmlns:a16="http://schemas.microsoft.com/office/drawing/2014/main" id="{8F8E49A3-75BA-764E-BE68-D7AA111B5068}"/>
                  </a:ext>
                </a:extLst>
              </p:cNvPr>
              <p:cNvSpPr/>
              <p:nvPr/>
            </p:nvSpPr>
            <p:spPr>
              <a:xfrm>
                <a:off x="9539685"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70" name="正方形/長方形 69">
                <a:extLst>
                  <a:ext uri="{FF2B5EF4-FFF2-40B4-BE49-F238E27FC236}">
                    <a16:creationId xmlns:a16="http://schemas.microsoft.com/office/drawing/2014/main" id="{34F0F6E3-CCEA-B817-ECB8-0B9DB0443DCC}"/>
                  </a:ext>
                </a:extLst>
              </p:cNvPr>
              <p:cNvSpPr/>
              <p:nvPr/>
            </p:nvSpPr>
            <p:spPr>
              <a:xfrm>
                <a:off x="11305049" y="3095147"/>
                <a:ext cx="811340"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4E216448-DFF1-67CB-0E28-9613B739E370}"/>
                  </a:ext>
                </a:extLst>
              </p:cNvPr>
              <p:cNvSpPr/>
              <p:nvPr/>
            </p:nvSpPr>
            <p:spPr>
              <a:xfrm>
                <a:off x="11305049" y="2702326"/>
                <a:ext cx="81133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sp>
            <p:nvSpPr>
              <p:cNvPr id="72" name="正方形/長方形 71">
                <a:extLst>
                  <a:ext uri="{FF2B5EF4-FFF2-40B4-BE49-F238E27FC236}">
                    <a16:creationId xmlns:a16="http://schemas.microsoft.com/office/drawing/2014/main" id="{6A12BAB2-6406-D622-5FAB-0792EB8F3986}"/>
                  </a:ext>
                </a:extLst>
              </p:cNvPr>
              <p:cNvSpPr/>
              <p:nvPr/>
            </p:nvSpPr>
            <p:spPr>
              <a:xfrm>
                <a:off x="87189" y="4340073"/>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3" name="正方形/長方形 72">
                <a:extLst>
                  <a:ext uri="{FF2B5EF4-FFF2-40B4-BE49-F238E27FC236}">
                    <a16:creationId xmlns:a16="http://schemas.microsoft.com/office/drawing/2014/main" id="{45F58BA5-6B2D-1998-E66B-FC5F746A891E}"/>
                  </a:ext>
                </a:extLst>
              </p:cNvPr>
              <p:cNvSpPr/>
              <p:nvPr/>
            </p:nvSpPr>
            <p:spPr>
              <a:xfrm>
                <a:off x="733507" y="4340073"/>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74" name="正方形/長方形 73">
                <a:extLst>
                  <a:ext uri="{FF2B5EF4-FFF2-40B4-BE49-F238E27FC236}">
                    <a16:creationId xmlns:a16="http://schemas.microsoft.com/office/drawing/2014/main" id="{06BEB037-64B0-ED0C-5493-219999F05026}"/>
                  </a:ext>
                </a:extLst>
              </p:cNvPr>
              <p:cNvSpPr/>
              <p:nvPr/>
            </p:nvSpPr>
            <p:spPr>
              <a:xfrm>
                <a:off x="73350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共有フォルダ格納</a:t>
                </a:r>
              </a:p>
            </p:txBody>
          </p:sp>
          <p:sp>
            <p:nvSpPr>
              <p:cNvPr id="75" name="正方形/長方形 74">
                <a:extLst>
                  <a:ext uri="{FF2B5EF4-FFF2-40B4-BE49-F238E27FC236}">
                    <a16:creationId xmlns:a16="http://schemas.microsoft.com/office/drawing/2014/main" id="{DBDA8D6F-897E-09D9-E02D-812A63BE55A9}"/>
                  </a:ext>
                </a:extLst>
              </p:cNvPr>
              <p:cNvSpPr/>
              <p:nvPr/>
            </p:nvSpPr>
            <p:spPr>
              <a:xfrm>
                <a:off x="1912616"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76" name="正方形/長方形 75">
                <a:extLst>
                  <a:ext uri="{FF2B5EF4-FFF2-40B4-BE49-F238E27FC236}">
                    <a16:creationId xmlns:a16="http://schemas.microsoft.com/office/drawing/2014/main" id="{3CDBCAE3-3550-D68B-4F33-D6F6D684145F}"/>
                  </a:ext>
                </a:extLst>
              </p:cNvPr>
              <p:cNvSpPr/>
              <p:nvPr/>
            </p:nvSpPr>
            <p:spPr>
              <a:xfrm>
                <a:off x="3097713"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77" name="正方形/長方形 76">
                <a:extLst>
                  <a:ext uri="{FF2B5EF4-FFF2-40B4-BE49-F238E27FC236}">
                    <a16:creationId xmlns:a16="http://schemas.microsoft.com/office/drawing/2014/main" id="{62CA8F20-426A-34C0-11CB-B2B7B6758385}"/>
                  </a:ext>
                </a:extLst>
              </p:cNvPr>
              <p:cNvSpPr/>
              <p:nvPr/>
            </p:nvSpPr>
            <p:spPr>
              <a:xfrm>
                <a:off x="1912616"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78" name="正方形/長方形 77">
                <a:extLst>
                  <a:ext uri="{FF2B5EF4-FFF2-40B4-BE49-F238E27FC236}">
                    <a16:creationId xmlns:a16="http://schemas.microsoft.com/office/drawing/2014/main" id="{6E7EF340-93F0-6A04-F15A-392930151B2A}"/>
                  </a:ext>
                </a:extLst>
              </p:cNvPr>
              <p:cNvSpPr/>
              <p:nvPr/>
            </p:nvSpPr>
            <p:spPr>
              <a:xfrm>
                <a:off x="4237649"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一次チェック</a:t>
                </a:r>
              </a:p>
            </p:txBody>
          </p:sp>
          <p:sp>
            <p:nvSpPr>
              <p:cNvPr id="79" name="正方形/長方形 78">
                <a:extLst>
                  <a:ext uri="{FF2B5EF4-FFF2-40B4-BE49-F238E27FC236}">
                    <a16:creationId xmlns:a16="http://schemas.microsoft.com/office/drawing/2014/main" id="{D0294B76-0D9B-DF59-036B-615C9F8CE57F}"/>
                  </a:ext>
                </a:extLst>
              </p:cNvPr>
              <p:cNvSpPr/>
              <p:nvPr/>
            </p:nvSpPr>
            <p:spPr>
              <a:xfrm>
                <a:off x="542274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80" name="正方形/長方形 79">
                <a:extLst>
                  <a:ext uri="{FF2B5EF4-FFF2-40B4-BE49-F238E27FC236}">
                    <a16:creationId xmlns:a16="http://schemas.microsoft.com/office/drawing/2014/main" id="{02AA6A31-1AA7-50EE-A48B-F27B8388E4CD}"/>
                  </a:ext>
                </a:extLst>
              </p:cNvPr>
              <p:cNvSpPr/>
              <p:nvPr/>
            </p:nvSpPr>
            <p:spPr>
              <a:xfrm>
                <a:off x="4237649"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81" name="四角形: 角を丸くする 80">
                <a:extLst>
                  <a:ext uri="{FF2B5EF4-FFF2-40B4-BE49-F238E27FC236}">
                    <a16:creationId xmlns:a16="http://schemas.microsoft.com/office/drawing/2014/main" id="{B58663E0-5E86-49F0-AA7A-A16EBD67F1A5}"/>
                  </a:ext>
                </a:extLst>
              </p:cNvPr>
              <p:cNvSpPr/>
              <p:nvPr/>
            </p:nvSpPr>
            <p:spPr>
              <a:xfrm>
                <a:off x="249911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82" name="四角形: 角を丸くする 81">
                <a:extLst>
                  <a:ext uri="{FF2B5EF4-FFF2-40B4-BE49-F238E27FC236}">
                    <a16:creationId xmlns:a16="http://schemas.microsoft.com/office/drawing/2014/main" id="{98206D20-5AA7-BE7C-7F07-2D4C2FA44B55}"/>
                  </a:ext>
                </a:extLst>
              </p:cNvPr>
              <p:cNvSpPr/>
              <p:nvPr/>
            </p:nvSpPr>
            <p:spPr>
              <a:xfrm>
                <a:off x="368693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3" name="右大かっこ 82">
                <a:extLst>
                  <a:ext uri="{FF2B5EF4-FFF2-40B4-BE49-F238E27FC236}">
                    <a16:creationId xmlns:a16="http://schemas.microsoft.com/office/drawing/2014/main" id="{F3BFD30F-B235-7E98-1A44-C853B7D1F642}"/>
                  </a:ext>
                </a:extLst>
              </p:cNvPr>
              <p:cNvSpPr/>
              <p:nvPr/>
            </p:nvSpPr>
            <p:spPr>
              <a:xfrm rot="5400000">
                <a:off x="8845673" y="1340244"/>
                <a:ext cx="117812" cy="4657755"/>
              </a:xfrm>
              <a:prstGeom prst="rightBracket">
                <a:avLst/>
              </a:prstGeom>
              <a:noFill/>
              <a:ln w="1905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4" name="正方形/長方形 83">
                <a:extLst>
                  <a:ext uri="{FF2B5EF4-FFF2-40B4-BE49-F238E27FC236}">
                    <a16:creationId xmlns:a16="http://schemas.microsoft.com/office/drawing/2014/main" id="{B064B149-D6FF-3CE0-BD18-A222C29B2ABC}"/>
                  </a:ext>
                </a:extLst>
              </p:cNvPr>
              <p:cNvSpPr/>
              <p:nvPr/>
            </p:nvSpPr>
            <p:spPr>
              <a:xfrm>
                <a:off x="6575704"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を基に処理実行</a:t>
                </a:r>
              </a:p>
            </p:txBody>
          </p:sp>
          <p:sp>
            <p:nvSpPr>
              <p:cNvPr id="85" name="正方形/長方形 84">
                <a:extLst>
                  <a:ext uri="{FF2B5EF4-FFF2-40B4-BE49-F238E27FC236}">
                    <a16:creationId xmlns:a16="http://schemas.microsoft.com/office/drawing/2014/main" id="{A4BE45A0-A0C3-2BCE-3787-21D5877834B6}"/>
                  </a:ext>
                </a:extLst>
              </p:cNvPr>
              <p:cNvSpPr/>
              <p:nvPr/>
            </p:nvSpPr>
            <p:spPr>
              <a:xfrm>
                <a:off x="6575702" y="4340073"/>
                <a:ext cx="2298607"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AI</a:t>
                </a:r>
                <a:r>
                  <a:rPr kumimoji="0" lang="ja-JP" altLang="en-US"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エージェントによる処理</a:t>
                </a:r>
              </a:p>
            </p:txBody>
          </p:sp>
          <p:sp>
            <p:nvSpPr>
              <p:cNvPr id="86" name="四角形: 角を丸くする 85">
                <a:extLst>
                  <a:ext uri="{FF2B5EF4-FFF2-40B4-BE49-F238E27FC236}">
                    <a16:creationId xmlns:a16="http://schemas.microsoft.com/office/drawing/2014/main" id="{7EAB94C1-EA2F-1FE2-9AD5-FC232635C556}"/>
                  </a:ext>
                </a:extLst>
              </p:cNvPr>
              <p:cNvSpPr/>
              <p:nvPr/>
            </p:nvSpPr>
            <p:spPr>
              <a:xfrm>
                <a:off x="7162661"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7" name="正方形/長方形 86">
                <a:extLst>
                  <a:ext uri="{FF2B5EF4-FFF2-40B4-BE49-F238E27FC236}">
                    <a16:creationId xmlns:a16="http://schemas.microsoft.com/office/drawing/2014/main" id="{E95C9BB5-1DBD-1AC1-9D78-B23BF968BE4E}"/>
                  </a:ext>
                </a:extLst>
              </p:cNvPr>
              <p:cNvSpPr/>
              <p:nvPr/>
            </p:nvSpPr>
            <p:spPr>
              <a:xfrm>
                <a:off x="7760802"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88" name="四角形: 角を丸くする 87">
                <a:extLst>
                  <a:ext uri="{FF2B5EF4-FFF2-40B4-BE49-F238E27FC236}">
                    <a16:creationId xmlns:a16="http://schemas.microsoft.com/office/drawing/2014/main" id="{008EE123-D70C-08E7-DA45-722AFC77E4F6}"/>
                  </a:ext>
                </a:extLst>
              </p:cNvPr>
              <p:cNvSpPr/>
              <p:nvPr/>
            </p:nvSpPr>
            <p:spPr>
              <a:xfrm>
                <a:off x="835458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grpSp>
            <p:nvGrpSpPr>
              <p:cNvPr id="89" name="グループ化 88">
                <a:extLst>
                  <a:ext uri="{FF2B5EF4-FFF2-40B4-BE49-F238E27FC236}">
                    <a16:creationId xmlns:a16="http://schemas.microsoft.com/office/drawing/2014/main" id="{5087CDFE-D69D-F96E-298D-0BED7D4C8F45}"/>
                  </a:ext>
                </a:extLst>
              </p:cNvPr>
              <p:cNvGrpSpPr/>
              <p:nvPr/>
            </p:nvGrpSpPr>
            <p:grpSpPr>
              <a:xfrm>
                <a:off x="8945899" y="4340073"/>
                <a:ext cx="811340" cy="817761"/>
                <a:chOff x="11305049" y="4025748"/>
                <a:chExt cx="811340" cy="817761"/>
              </a:xfrm>
            </p:grpSpPr>
            <p:sp>
              <p:nvSpPr>
                <p:cNvPr id="90" name="正方形/長方形 89">
                  <a:extLst>
                    <a:ext uri="{FF2B5EF4-FFF2-40B4-BE49-F238E27FC236}">
                      <a16:creationId xmlns:a16="http://schemas.microsoft.com/office/drawing/2014/main" id="{6773B122-F5BA-ECA0-15A7-B891E1933785}"/>
                    </a:ext>
                  </a:extLst>
                </p:cNvPr>
                <p:cNvSpPr/>
                <p:nvPr/>
              </p:nvSpPr>
              <p:spPr>
                <a:xfrm>
                  <a:off x="11305049" y="4418569"/>
                  <a:ext cx="811340"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1" name="正方形/長方形 90">
                  <a:extLst>
                    <a:ext uri="{FF2B5EF4-FFF2-40B4-BE49-F238E27FC236}">
                      <a16:creationId xmlns:a16="http://schemas.microsoft.com/office/drawing/2014/main" id="{30EEA9F3-BDD5-0481-C78E-131C27C5C628}"/>
                    </a:ext>
                  </a:extLst>
                </p:cNvPr>
                <p:cNvSpPr/>
                <p:nvPr/>
              </p:nvSpPr>
              <p:spPr>
                <a:xfrm>
                  <a:off x="11305049" y="4025748"/>
                  <a:ext cx="81133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grpSp>
          <p:sp>
            <p:nvSpPr>
              <p:cNvPr id="92" name="正方形/長方形 91">
                <a:extLst>
                  <a:ext uri="{FF2B5EF4-FFF2-40B4-BE49-F238E27FC236}">
                    <a16:creationId xmlns:a16="http://schemas.microsoft.com/office/drawing/2014/main" id="{0799CDBB-BC61-D323-CB61-051E0AAF3580}"/>
                  </a:ext>
                </a:extLst>
              </p:cNvPr>
              <p:cNvSpPr/>
              <p:nvPr/>
            </p:nvSpPr>
            <p:spPr>
              <a:xfrm>
                <a:off x="6548262" y="4300574"/>
                <a:ext cx="2361854" cy="1056268"/>
              </a:xfrm>
              <a:prstGeom prst="rect">
                <a:avLst/>
              </a:prstGeom>
              <a:noFill/>
              <a:ln w="19050" cap="flat" cmpd="sng" algn="ctr">
                <a:solidFill>
                  <a:srgbClr val="262699"/>
                </a:solidFill>
                <a:prstDash val="sysDash"/>
                <a:miter lim="800000"/>
                <a:tailEnd type="none"/>
              </a:ln>
              <a:effectLst/>
            </p:spPr>
            <p:txBody>
              <a:bodyPr rtlCol="0" anchor="ctr"/>
              <a:lstStyle/>
              <a:p>
                <a:pPr algn="ctr" fontAlgn="auto">
                  <a:spcBef>
                    <a:spcPts val="0"/>
                  </a:spcBef>
                  <a:spcAft>
                    <a:spcPts val="0"/>
                  </a:spcAft>
                </a:pPr>
                <a:endParaRPr kumimoji="0" lang="ja-JP" altLang="en-US" sz="1600" kern="0">
                  <a:solidFill>
                    <a:prstClr val="black"/>
                  </a:solidFill>
                  <a:latin typeface="游ゴシック" panose="020F0502020204030204"/>
                  <a:ea typeface="游ゴシック" panose="020B0400000000000000" pitchFamily="50" charset="-128"/>
                </a:endParaRPr>
              </a:p>
            </p:txBody>
          </p:sp>
          <p:sp>
            <p:nvSpPr>
              <p:cNvPr id="93" name="テキスト ボックス 92">
                <a:extLst>
                  <a:ext uri="{FF2B5EF4-FFF2-40B4-BE49-F238E27FC236}">
                    <a16:creationId xmlns:a16="http://schemas.microsoft.com/office/drawing/2014/main" id="{FCC5020C-5451-A12D-B6F9-409B78FD2E93}"/>
                  </a:ext>
                </a:extLst>
              </p:cNvPr>
              <p:cNvSpPr txBox="1"/>
              <p:nvPr/>
            </p:nvSpPr>
            <p:spPr>
              <a:xfrm>
                <a:off x="7898020" y="3771270"/>
                <a:ext cx="885621" cy="514006"/>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AI</a:t>
                </a:r>
                <a:br>
                  <a:rPr kumimoji="0" lang="en-US" altLang="ja-JP" sz="105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br>
                <a:r>
                  <a:rPr kumimoji="0" lang="ja-JP" altLang="en-US" sz="105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エージェント化</a:t>
                </a:r>
                <a:endParaRPr kumimoji="0" lang="en-US" altLang="ja-JP" sz="105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endParaRPr>
              </a:p>
            </p:txBody>
          </p:sp>
          <p:cxnSp>
            <p:nvCxnSpPr>
              <p:cNvPr id="94" name="直線コネクタ 93">
                <a:extLst>
                  <a:ext uri="{FF2B5EF4-FFF2-40B4-BE49-F238E27FC236}">
                    <a16:creationId xmlns:a16="http://schemas.microsoft.com/office/drawing/2014/main" id="{9C1DB9F3-800E-D49C-8BEF-4E8A6F62280E}"/>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miter lim="800000"/>
                <a:headEnd type="triangle"/>
                <a:tailEnd type="triangle"/>
              </a:ln>
              <a:effectLst/>
            </p:spPr>
          </p:cxnSp>
          <p:sp>
            <p:nvSpPr>
              <p:cNvPr id="95" name="テキスト ボックス 94">
                <a:extLst>
                  <a:ext uri="{FF2B5EF4-FFF2-40B4-BE49-F238E27FC236}">
                    <a16:creationId xmlns:a16="http://schemas.microsoft.com/office/drawing/2014/main" id="{BC206CB9-974D-D875-9123-FE46C05256CF}"/>
                  </a:ext>
                </a:extLst>
              </p:cNvPr>
              <p:cNvSpPr txBox="1"/>
              <p:nvPr/>
            </p:nvSpPr>
            <p:spPr>
              <a:xfrm>
                <a:off x="10545082" y="4263931"/>
                <a:ext cx="984727" cy="171336"/>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rPr>
                  <a:t>リードタイム短縮</a:t>
                </a:r>
                <a:endParaRPr kumimoji="0" lang="en-US" altLang="ja-JP" sz="105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endParaRPr>
              </a:p>
            </p:txBody>
          </p:sp>
        </p:grpSp>
        <p:sp>
          <p:nvSpPr>
            <p:cNvPr id="98" name="正方形/長方形 97">
              <a:extLst>
                <a:ext uri="{FF2B5EF4-FFF2-40B4-BE49-F238E27FC236}">
                  <a16:creationId xmlns:a16="http://schemas.microsoft.com/office/drawing/2014/main" id="{6FB3A29F-4126-3E87-32A5-58CE8B29E5D1}"/>
                </a:ext>
              </a:extLst>
            </p:cNvPr>
            <p:cNvSpPr/>
            <p:nvPr/>
          </p:nvSpPr>
          <p:spPr>
            <a:xfrm>
              <a:off x="121737" y="3281692"/>
              <a:ext cx="570562" cy="231579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algn="ctr" fontAlgn="auto">
                <a:spcBef>
                  <a:spcPts val="0"/>
                </a:spcBef>
                <a:spcAft>
                  <a:spcPts val="0"/>
                </a:spcAft>
              </a:pPr>
              <a:r>
                <a:rPr kumimoji="0" lang="en-US" altLang="ja-JP" sz="1100" kern="0">
                  <a:solidFill>
                    <a:srgbClr val="E7E6E6">
                      <a:lumMod val="50000"/>
                    </a:srgbClr>
                  </a:solidFill>
                  <a:latin typeface="Meiryo UI" panose="020B0604030504040204" pitchFamily="50" charset="-128"/>
                  <a:ea typeface="Meiryo UI" panose="020B0604030504040204" pitchFamily="50" charset="-128"/>
                </a:rPr>
                <a:t>BPS</a:t>
              </a:r>
              <a:br>
                <a:rPr kumimoji="0" lang="en-US" altLang="ja-JP" sz="1100" kern="0">
                  <a:solidFill>
                    <a:srgbClr val="E7E6E6">
                      <a:lumMod val="50000"/>
                    </a:srgbClr>
                  </a:solidFill>
                  <a:latin typeface="Meiryo UI" panose="020B0604030504040204" pitchFamily="50" charset="-128"/>
                  <a:ea typeface="Meiryo UI" panose="020B0604030504040204" pitchFamily="50" charset="-128"/>
                </a:rPr>
              </a:br>
              <a:r>
                <a:rPr kumimoji="0" lang="ja-JP" altLang="en-US" sz="1100" kern="0">
                  <a:solidFill>
                    <a:srgbClr val="E7E6E6">
                      <a:lumMod val="50000"/>
                    </a:srgbClr>
                  </a:solidFill>
                  <a:latin typeface="Meiryo UI" panose="020B0604030504040204" pitchFamily="50" charset="-128"/>
                  <a:ea typeface="Meiryo UI" panose="020B0604030504040204" pitchFamily="50" charset="-128"/>
                </a:rPr>
                <a:t>業務</a:t>
              </a:r>
            </a:p>
          </p:txBody>
        </p:sp>
      </p:grpSp>
    </p:spTree>
    <p:extLst>
      <p:ext uri="{BB962C8B-B14F-4D97-AF65-F5344CB8AC3E}">
        <p14:creationId xmlns:p14="http://schemas.microsoft.com/office/powerpoint/2010/main" val="3967136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B275-82E8-70CD-D61C-B6BBBAE47AF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71F86DA-2301-3482-D1FC-3B58753477F4}"/>
              </a:ext>
            </a:extLst>
          </p:cNvPr>
          <p:cNvSpPr>
            <a:spLocks noGrp="1"/>
          </p:cNvSpPr>
          <p:nvPr>
            <p:ph type="title"/>
          </p:nvPr>
        </p:nvSpPr>
        <p:spPr/>
        <p:txBody>
          <a:bodyPr/>
          <a:lstStyle/>
          <a:p>
            <a:r>
              <a:rPr lang="en-US" altLang="ja-JP">
                <a:solidFill>
                  <a:schemeClr val="tx1">
                    <a:lumMod val="65000"/>
                    <a:lumOff val="35000"/>
                  </a:schemeClr>
                </a:solidFill>
              </a:rPr>
              <a:t>n8n</a:t>
            </a:r>
            <a:r>
              <a:rPr lang="ja-JP" altLang="en-US">
                <a:solidFill>
                  <a:schemeClr val="tx1">
                    <a:lumMod val="65000"/>
                    <a:lumOff val="35000"/>
                  </a:schemeClr>
                </a:solidFill>
              </a:rPr>
              <a:t>の</a:t>
            </a:r>
            <a:r>
              <a:rPr lang="en-US" altLang="ja-JP">
                <a:solidFill>
                  <a:schemeClr val="tx1">
                    <a:lumMod val="65000"/>
                    <a:lumOff val="35000"/>
                  </a:schemeClr>
                </a:solidFill>
              </a:rPr>
              <a:t>BPS</a:t>
            </a:r>
            <a:r>
              <a:rPr lang="ja-JP" altLang="en-US">
                <a:solidFill>
                  <a:schemeClr val="tx1">
                    <a:lumMod val="65000"/>
                    <a:lumOff val="35000"/>
                  </a:schemeClr>
                </a:solidFill>
              </a:rPr>
              <a:t>導入状況について（２</a:t>
            </a:r>
            <a:r>
              <a:rPr lang="en-US" altLang="ja-JP">
                <a:solidFill>
                  <a:schemeClr val="tx1">
                    <a:lumMod val="65000"/>
                    <a:lumOff val="35000"/>
                  </a:schemeClr>
                </a:solidFill>
              </a:rPr>
              <a:t>/</a:t>
            </a:r>
            <a:r>
              <a:rPr lang="ja-JP" altLang="en-US">
                <a:solidFill>
                  <a:schemeClr val="tx1">
                    <a:lumMod val="65000"/>
                    <a:lumOff val="35000"/>
                  </a:schemeClr>
                </a:solidFill>
              </a:rPr>
              <a:t>２）</a:t>
            </a:r>
            <a:endParaRPr kumimoji="1" lang="ja-JP" altLang="en-US"/>
          </a:p>
        </p:txBody>
      </p:sp>
      <p:sp>
        <p:nvSpPr>
          <p:cNvPr id="4" name="スライド番号プレースホルダー 3">
            <a:extLst>
              <a:ext uri="{FF2B5EF4-FFF2-40B4-BE49-F238E27FC236}">
                <a16:creationId xmlns:a16="http://schemas.microsoft.com/office/drawing/2014/main" id="{B336443A-220B-8319-0315-2821B0930320}"/>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5</a:t>
            </a:fld>
            <a:endParaRPr lang="en-US" altLang="ja-JP"/>
          </a:p>
        </p:txBody>
      </p:sp>
      <p:sp>
        <p:nvSpPr>
          <p:cNvPr id="2" name="コンテンツ プレースホルダー 5">
            <a:extLst>
              <a:ext uri="{FF2B5EF4-FFF2-40B4-BE49-F238E27FC236}">
                <a16:creationId xmlns:a16="http://schemas.microsoft.com/office/drawing/2014/main" id="{FC08B6A9-BDF4-1121-E958-4F28E5C3C4FF}"/>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a:t>BPS</a:t>
            </a:r>
            <a:r>
              <a:rPr lang="ja-JP" altLang="en-US" sz="1600" kern="0"/>
              <a:t>の</a:t>
            </a:r>
            <a:r>
              <a:rPr lang="en-US" altLang="ja-JP" sz="1600" kern="0"/>
              <a:t>Concur</a:t>
            </a:r>
            <a:r>
              <a:rPr lang="ja-JP" altLang="en-US" sz="1600" kern="0"/>
              <a:t>登録において、</a:t>
            </a:r>
            <a:r>
              <a:rPr lang="en-US" altLang="ja-JP" sz="1600" kern="0"/>
              <a:t>n8n</a:t>
            </a:r>
            <a:r>
              <a:rPr lang="ja-JP" altLang="en-US" sz="1600" kern="0"/>
              <a:t>を導入し</a:t>
            </a:r>
            <a:r>
              <a:rPr lang="en-US" altLang="ja-JP" sz="1600" kern="0"/>
              <a:t>20</a:t>
            </a:r>
            <a:r>
              <a:rPr lang="ja-JP" altLang="en-US" sz="1600" kern="0"/>
              <a:t>件の請求処理約</a:t>
            </a:r>
            <a:r>
              <a:rPr lang="en-US" altLang="ja-JP" sz="1600" kern="0"/>
              <a:t>40</a:t>
            </a:r>
            <a:r>
              <a:rPr lang="ja-JP" altLang="en-US" sz="1600" kern="0"/>
              <a:t>～</a:t>
            </a:r>
            <a:r>
              <a:rPr lang="en-US" altLang="ja-JP" sz="1600" kern="0"/>
              <a:t>50</a:t>
            </a:r>
            <a:r>
              <a:rPr lang="ja-JP" altLang="en-US" sz="1600" kern="0"/>
              <a:t>分が</a:t>
            </a:r>
            <a:r>
              <a:rPr lang="en-US" altLang="ja-JP" sz="1600" kern="0"/>
              <a:t>500</a:t>
            </a:r>
            <a:r>
              <a:rPr lang="ja-JP" altLang="en-US" sz="1600" kern="0"/>
              <a:t>件で</a:t>
            </a:r>
            <a:r>
              <a:rPr lang="ja-JP" altLang="en-US" sz="1600" b="1" kern="0"/>
              <a:t>約</a:t>
            </a:r>
            <a:r>
              <a:rPr lang="en-US" altLang="ja-JP" sz="1600" b="1" kern="0"/>
              <a:t>3</a:t>
            </a:r>
            <a:r>
              <a:rPr lang="ja-JP" altLang="en-US" sz="1600" b="1" kern="0"/>
              <a:t>分（完全自動化）</a:t>
            </a:r>
            <a:r>
              <a:rPr lang="ja-JP" altLang="en-US" sz="1600" kern="0"/>
              <a:t>にできた。</a:t>
            </a:r>
            <a:endParaRPr lang="en-US" altLang="ja-JP" sz="1600" kern="0"/>
          </a:p>
          <a:p>
            <a:pPr marL="285750" indent="-285750">
              <a:buFont typeface="Arial" panose="020B0604020202020204" pitchFamily="34" charset="0"/>
              <a:buChar char="•"/>
            </a:pPr>
            <a:r>
              <a:rPr lang="ja-JP" altLang="en-US" sz="1600" kern="0"/>
              <a:t>引き続き残課題の活文連携を進め、</a:t>
            </a:r>
            <a:r>
              <a:rPr lang="en-US" altLang="ja-JP" sz="1600" kern="0"/>
              <a:t>12</a:t>
            </a:r>
            <a:r>
              <a:rPr lang="ja-JP" altLang="en-US" sz="1600" kern="0"/>
              <a:t>月中に正式に</a:t>
            </a:r>
            <a:r>
              <a:rPr lang="en-US" altLang="ja-JP" sz="1600" kern="0"/>
              <a:t>n8n</a:t>
            </a:r>
            <a:r>
              <a:rPr lang="ja-JP" altLang="en-US" sz="1600" kern="0"/>
              <a:t>の導入を</a:t>
            </a:r>
            <a:r>
              <a:rPr lang="en-US" altLang="ja-JP" sz="1600" kern="0"/>
              <a:t>BPS</a:t>
            </a:r>
            <a:r>
              <a:rPr lang="ja-JP" altLang="en-US" sz="1600" kern="0"/>
              <a:t>と合意する。</a:t>
            </a:r>
            <a:endParaRPr lang="en-US" altLang="ja-JP" sz="1600" kern="0"/>
          </a:p>
        </p:txBody>
      </p:sp>
      <p:grpSp>
        <p:nvGrpSpPr>
          <p:cNvPr id="121" name="グループ化 120">
            <a:extLst>
              <a:ext uri="{FF2B5EF4-FFF2-40B4-BE49-F238E27FC236}">
                <a16:creationId xmlns:a16="http://schemas.microsoft.com/office/drawing/2014/main" id="{540B9FCF-5A91-233B-CE1A-573203499379}"/>
              </a:ext>
            </a:extLst>
          </p:cNvPr>
          <p:cNvGrpSpPr/>
          <p:nvPr/>
        </p:nvGrpSpPr>
        <p:grpSpPr>
          <a:xfrm>
            <a:off x="288783" y="1965067"/>
            <a:ext cx="11596329" cy="3923589"/>
            <a:chOff x="288783" y="1965067"/>
            <a:chExt cx="11596329" cy="3923589"/>
          </a:xfrm>
        </p:grpSpPr>
        <p:sp>
          <p:nvSpPr>
            <p:cNvPr id="57" name="テキスト ボックス 56">
              <a:extLst>
                <a:ext uri="{FF2B5EF4-FFF2-40B4-BE49-F238E27FC236}">
                  <a16:creationId xmlns:a16="http://schemas.microsoft.com/office/drawing/2014/main" id="{4E3B2837-10F2-823A-B693-F923849FA9D8}"/>
                </a:ext>
              </a:extLst>
            </p:cNvPr>
            <p:cNvSpPr txBox="1"/>
            <p:nvPr/>
          </p:nvSpPr>
          <p:spPr bwMode="auto">
            <a:xfrm>
              <a:off x="868795" y="1965067"/>
              <a:ext cx="4336384" cy="307777"/>
            </a:xfrm>
            <a:prstGeom prst="rect">
              <a:avLst/>
            </a:prstGeom>
            <a:noFill/>
            <a:ln w="9525">
              <a:noFill/>
              <a:miter lim="800000"/>
              <a:headEnd/>
              <a:tailEnd/>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スプレッドシート（請求情報の登録元）</a:t>
              </a:r>
            </a:p>
          </p:txBody>
        </p:sp>
        <p:cxnSp>
          <p:nvCxnSpPr>
            <p:cNvPr id="58" name="直線コネクタ 57">
              <a:extLst>
                <a:ext uri="{FF2B5EF4-FFF2-40B4-BE49-F238E27FC236}">
                  <a16:creationId xmlns:a16="http://schemas.microsoft.com/office/drawing/2014/main" id="{43DBE1CD-6E83-CEB3-9898-7FBCF0C3C3E3}"/>
                </a:ext>
              </a:extLst>
            </p:cNvPr>
            <p:cNvCxnSpPr>
              <a:cxnSpLocks/>
            </p:cNvCxnSpPr>
            <p:nvPr/>
          </p:nvCxnSpPr>
          <p:spPr>
            <a:xfrm>
              <a:off x="868795" y="2272844"/>
              <a:ext cx="4336384" cy="0"/>
            </a:xfrm>
            <a:prstGeom prst="line">
              <a:avLst/>
            </a:prstGeom>
            <a:noFill/>
            <a:ln w="6350" cap="flat" cmpd="sng" algn="ctr">
              <a:solidFill>
                <a:sysClr val="windowText" lastClr="000000"/>
              </a:solidFill>
              <a:prstDash val="solid"/>
              <a:miter lim="800000"/>
            </a:ln>
            <a:effectLst/>
          </p:spPr>
        </p:cxnSp>
        <p:pic>
          <p:nvPicPr>
            <p:cNvPr id="37" name="図 36">
              <a:extLst>
                <a:ext uri="{FF2B5EF4-FFF2-40B4-BE49-F238E27FC236}">
                  <a16:creationId xmlns:a16="http://schemas.microsoft.com/office/drawing/2014/main" id="{CF99E27F-B540-28CB-19EF-0BA66FC271B5}"/>
                </a:ext>
              </a:extLst>
            </p:cNvPr>
            <p:cNvPicPr>
              <a:picLocks noChangeAspect="1"/>
            </p:cNvPicPr>
            <p:nvPr/>
          </p:nvPicPr>
          <p:blipFill>
            <a:blip r:embed="rId3"/>
            <a:stretch>
              <a:fillRect/>
            </a:stretch>
          </p:blipFill>
          <p:spPr>
            <a:xfrm>
              <a:off x="868796" y="4364056"/>
              <a:ext cx="4336384" cy="1041099"/>
            </a:xfrm>
            <a:prstGeom prst="rect">
              <a:avLst/>
            </a:prstGeom>
            <a:solidFill>
              <a:sysClr val="window" lastClr="FFFFFF"/>
            </a:solidFill>
            <a:ln w="6350">
              <a:solidFill>
                <a:sysClr val="window" lastClr="FFFFFF">
                  <a:lumMod val="50000"/>
                </a:sysClr>
              </a:solidFill>
            </a:ln>
          </p:spPr>
        </p:pic>
        <p:pic>
          <p:nvPicPr>
            <p:cNvPr id="42" name="図 41">
              <a:extLst>
                <a:ext uri="{FF2B5EF4-FFF2-40B4-BE49-F238E27FC236}">
                  <a16:creationId xmlns:a16="http://schemas.microsoft.com/office/drawing/2014/main" id="{37BB3941-361C-11E4-92FD-4D648542ABFA}"/>
                </a:ext>
              </a:extLst>
            </p:cNvPr>
            <p:cNvPicPr>
              <a:picLocks noChangeAspect="1"/>
            </p:cNvPicPr>
            <p:nvPr/>
          </p:nvPicPr>
          <p:blipFill>
            <a:blip r:embed="rId4"/>
            <a:stretch>
              <a:fillRect/>
            </a:stretch>
          </p:blipFill>
          <p:spPr>
            <a:xfrm>
              <a:off x="6218443" y="4245382"/>
              <a:ext cx="5542302" cy="1275538"/>
            </a:xfrm>
            <a:prstGeom prst="rect">
              <a:avLst/>
            </a:prstGeom>
            <a:solidFill>
              <a:sysClr val="window" lastClr="FFFFFF"/>
            </a:solidFill>
            <a:ln w="6350">
              <a:solidFill>
                <a:sysClr val="window" lastClr="FFFFFF">
                  <a:lumMod val="50000"/>
                </a:sysClr>
              </a:solidFill>
            </a:ln>
          </p:spPr>
        </p:pic>
        <p:sp>
          <p:nvSpPr>
            <p:cNvPr id="55" name="テキスト ボックス 54">
              <a:extLst>
                <a:ext uri="{FF2B5EF4-FFF2-40B4-BE49-F238E27FC236}">
                  <a16:creationId xmlns:a16="http://schemas.microsoft.com/office/drawing/2014/main" id="{B8AF6990-B644-ACEF-A218-4986A5D66AA7}"/>
                </a:ext>
              </a:extLst>
            </p:cNvPr>
            <p:cNvSpPr txBox="1"/>
            <p:nvPr/>
          </p:nvSpPr>
          <p:spPr bwMode="auto">
            <a:xfrm>
              <a:off x="6218441" y="1965067"/>
              <a:ext cx="5666671" cy="307777"/>
            </a:xfrm>
            <a:prstGeom prst="rect">
              <a:avLst/>
            </a:prstGeom>
            <a:noFill/>
            <a:ln w="9525">
              <a:noFill/>
              <a:miter lim="800000"/>
              <a:headEnd/>
              <a:tailEnd/>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0065BD"/>
                  </a:solidFill>
                  <a:latin typeface="Meiryo UI" panose="020B0604030504040204" pitchFamily="50" charset="-128"/>
                  <a:ea typeface="Meiryo UI" panose="020B0604030504040204" pitchFamily="50" charset="-128"/>
                </a:rPr>
                <a:t>Concur</a:t>
              </a:r>
              <a:r>
                <a:rPr kumimoji="0" lang="ja-JP" altLang="en-US" sz="1400" b="1" kern="0">
                  <a:solidFill>
                    <a:srgbClr val="0065BD"/>
                  </a:solidFill>
                  <a:latin typeface="Meiryo UI" panose="020B0604030504040204" pitchFamily="50" charset="-128"/>
                  <a:ea typeface="Meiryo UI" panose="020B0604030504040204" pitchFamily="50" charset="-128"/>
                </a:rPr>
                <a:t>登録処理</a:t>
              </a:r>
              <a:endParaRPr kumimoji="0" lang="en-US" altLang="ja-JP" sz="1400" b="1" i="0" u="none" strike="noStrike" kern="0" cap="none" spc="0" normalizeH="0" baseline="0" noProof="0">
                <a:ln>
                  <a:noFill/>
                </a:ln>
                <a:solidFill>
                  <a:srgbClr val="0065BD"/>
                </a:solidFill>
                <a:effectLst/>
                <a:uLnTx/>
                <a:uFillTx/>
                <a:latin typeface="Meiryo UI" panose="020B0604030504040204" pitchFamily="50" charset="-128"/>
                <a:ea typeface="Meiryo UI" panose="020B0604030504040204" pitchFamily="50" charset="-128"/>
              </a:endParaRPr>
            </a:p>
          </p:txBody>
        </p:sp>
        <p:cxnSp>
          <p:nvCxnSpPr>
            <p:cNvPr id="56" name="直線コネクタ 55">
              <a:extLst>
                <a:ext uri="{FF2B5EF4-FFF2-40B4-BE49-F238E27FC236}">
                  <a16:creationId xmlns:a16="http://schemas.microsoft.com/office/drawing/2014/main" id="{66A339D1-BE50-A43E-CFBE-B3FC7D54DA65}"/>
                </a:ext>
              </a:extLst>
            </p:cNvPr>
            <p:cNvCxnSpPr>
              <a:cxnSpLocks/>
            </p:cNvCxnSpPr>
            <p:nvPr/>
          </p:nvCxnSpPr>
          <p:spPr>
            <a:xfrm>
              <a:off x="6218441" y="2272844"/>
              <a:ext cx="5666671" cy="0"/>
            </a:xfrm>
            <a:prstGeom prst="line">
              <a:avLst/>
            </a:prstGeom>
            <a:noFill/>
            <a:ln w="6350" cap="flat" cmpd="sng" algn="ctr">
              <a:solidFill>
                <a:sysClr val="windowText" lastClr="000000"/>
              </a:solidFill>
              <a:prstDash val="solid"/>
              <a:miter lim="800000"/>
            </a:ln>
            <a:effectLst/>
          </p:spPr>
        </p:cxnSp>
        <p:cxnSp>
          <p:nvCxnSpPr>
            <p:cNvPr id="53" name="直線矢印コネクタ 52">
              <a:extLst>
                <a:ext uri="{FF2B5EF4-FFF2-40B4-BE49-F238E27FC236}">
                  <a16:creationId xmlns:a16="http://schemas.microsoft.com/office/drawing/2014/main" id="{C475F0F5-E137-8D7B-90A6-A8F0CF598908}"/>
                </a:ext>
              </a:extLst>
            </p:cNvPr>
            <p:cNvCxnSpPr>
              <a:cxnSpLocks/>
            </p:cNvCxnSpPr>
            <p:nvPr/>
          </p:nvCxnSpPr>
          <p:spPr>
            <a:xfrm>
              <a:off x="6218442" y="5674760"/>
              <a:ext cx="5542301" cy="0"/>
            </a:xfrm>
            <a:prstGeom prst="straightConnector1">
              <a:avLst/>
            </a:prstGeom>
            <a:noFill/>
            <a:ln w="6350" cap="flat" cmpd="sng" algn="ctr">
              <a:solidFill>
                <a:srgbClr val="4472C4"/>
              </a:solidFill>
              <a:prstDash val="solid"/>
              <a:miter lim="800000"/>
              <a:headEnd type="triangle"/>
              <a:tailEnd type="triangle"/>
            </a:ln>
            <a:effectLst/>
          </p:spPr>
        </p:cxnSp>
        <p:sp>
          <p:nvSpPr>
            <p:cNvPr id="54" name="正方形/長方形 53">
              <a:extLst>
                <a:ext uri="{FF2B5EF4-FFF2-40B4-BE49-F238E27FC236}">
                  <a16:creationId xmlns:a16="http://schemas.microsoft.com/office/drawing/2014/main" id="{DE05C9C0-909A-2E7A-9ACB-D73E623EFB81}"/>
                </a:ext>
              </a:extLst>
            </p:cNvPr>
            <p:cNvSpPr/>
            <p:nvPr/>
          </p:nvSpPr>
          <p:spPr>
            <a:xfrm>
              <a:off x="6218442" y="5679061"/>
              <a:ext cx="5542300" cy="209595"/>
            </a:xfrm>
            <a:prstGeom prst="rect">
              <a:avLst/>
            </a:prstGeom>
            <a:noFill/>
            <a:ln w="9525" cap="flat" cmpd="sng" algn="ctr">
              <a:noFill/>
              <a:prstDash val="solid"/>
            </a:ln>
            <a:effectLst/>
          </p:spPr>
          <p:txBody>
            <a:bodyPr vert="horz"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rPr>
                <a:t>500</a:t>
              </a:r>
              <a:r>
                <a:rPr kumimoji="0" lang="ja-JP" altLang="en-US" sz="1400" b="1" kern="0">
                  <a:solidFill>
                    <a:srgbClr val="0065BD"/>
                  </a:solidFill>
                  <a:latin typeface="Meiryo UI" panose="020B0604030504040204" pitchFamily="50" charset="-128"/>
                  <a:ea typeface="Meiryo UI" panose="020B0604030504040204" pitchFamily="50" charset="-128"/>
                  <a:cs typeface="Hiragino Kaku Gothic Pro W3" charset="-128"/>
                </a:rPr>
                <a:t>件の請求処理で約</a:t>
              </a:r>
              <a:r>
                <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rPr>
                <a:t>3</a:t>
              </a:r>
              <a:r>
                <a:rPr kumimoji="0" lang="ja-JP" altLang="en-US" sz="1400" b="1" kern="0">
                  <a:solidFill>
                    <a:srgbClr val="0065BD"/>
                  </a:solidFill>
                  <a:latin typeface="Meiryo UI" panose="020B0604030504040204" pitchFamily="50" charset="-128"/>
                  <a:ea typeface="Meiryo UI" panose="020B0604030504040204" pitchFamily="50" charset="-128"/>
                  <a:cs typeface="Hiragino Kaku Gothic Pro W3" charset="-128"/>
                </a:rPr>
                <a:t>分（活文連携は未実装）</a:t>
              </a:r>
              <a:endPar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endParaRPr>
            </a:p>
          </p:txBody>
        </p:sp>
        <p:cxnSp>
          <p:nvCxnSpPr>
            <p:cNvPr id="47" name="直線矢印コネクタ 60">
              <a:extLst>
                <a:ext uri="{FF2B5EF4-FFF2-40B4-BE49-F238E27FC236}">
                  <a16:creationId xmlns:a16="http://schemas.microsoft.com/office/drawing/2014/main" id="{A832EF10-E8EB-352E-8F4F-27AF25E221B4}"/>
                </a:ext>
              </a:extLst>
            </p:cNvPr>
            <p:cNvCxnSpPr>
              <a:cxnSpLocks/>
              <a:stCxn id="42" idx="1"/>
              <a:endCxn id="73" idx="3"/>
            </p:cNvCxnSpPr>
            <p:nvPr/>
          </p:nvCxnSpPr>
          <p:spPr>
            <a:xfrm flipH="1">
              <a:off x="6054220" y="4883151"/>
              <a:ext cx="164223" cy="1454"/>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61" name="正方形/長方形 60">
              <a:extLst>
                <a:ext uri="{FF2B5EF4-FFF2-40B4-BE49-F238E27FC236}">
                  <a16:creationId xmlns:a16="http://schemas.microsoft.com/office/drawing/2014/main" id="{2AB3318B-5545-54AF-228A-F34C15211289}"/>
                </a:ext>
              </a:extLst>
            </p:cNvPr>
            <p:cNvSpPr/>
            <p:nvPr/>
          </p:nvSpPr>
          <p:spPr>
            <a:xfrm>
              <a:off x="11299283" y="4479113"/>
              <a:ext cx="244624" cy="256669"/>
            </a:xfrm>
            <a:prstGeom prst="rect">
              <a:avLst/>
            </a:prstGeom>
            <a:noFill/>
            <a:ln w="15875" cap="flat" cmpd="sng" algn="ctr">
              <a:solidFill>
                <a:srgbClr val="0070C0"/>
              </a:solidFill>
              <a:prstDash val="solid"/>
              <a:miter lim="800000"/>
              <a:headEnd type="none"/>
              <a:tailEnd type="oval"/>
            </a:ln>
            <a:effectLst>
              <a:outerShdw blurRad="50800" dist="38100" dir="2700000" algn="tl" rotWithShape="0">
                <a:prstClr val="black">
                  <a:alpha val="40000"/>
                </a:prstClr>
              </a:outerShdw>
            </a:effectLst>
          </p:spPr>
          <p:txBody>
            <a:bodyPr lIns="36000" tIns="36000" rIns="36000" b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sym typeface="Arial"/>
              </a:endParaRPr>
            </a:p>
          </p:txBody>
        </p:sp>
        <p:cxnSp>
          <p:nvCxnSpPr>
            <p:cNvPr id="62" name="直線矢印コネクタ 60">
              <a:extLst>
                <a:ext uri="{FF2B5EF4-FFF2-40B4-BE49-F238E27FC236}">
                  <a16:creationId xmlns:a16="http://schemas.microsoft.com/office/drawing/2014/main" id="{FCF89665-F019-B96A-A14E-E1AB6AB1A13F}"/>
                </a:ext>
              </a:extLst>
            </p:cNvPr>
            <p:cNvCxnSpPr>
              <a:cxnSpLocks/>
              <a:stCxn id="37" idx="0"/>
              <a:endCxn id="61" idx="3"/>
            </p:cNvCxnSpPr>
            <p:nvPr/>
          </p:nvCxnSpPr>
          <p:spPr>
            <a:xfrm rot="16200000" flipH="1">
              <a:off x="7168751" y="232293"/>
              <a:ext cx="243392" cy="8506919"/>
            </a:xfrm>
            <a:prstGeom prst="bentConnector4">
              <a:avLst>
                <a:gd name="adj1" fmla="val -93923"/>
                <a:gd name="adj2" fmla="val 103896"/>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pic>
          <p:nvPicPr>
            <p:cNvPr id="69" name="図 68">
              <a:extLst>
                <a:ext uri="{FF2B5EF4-FFF2-40B4-BE49-F238E27FC236}">
                  <a16:creationId xmlns:a16="http://schemas.microsoft.com/office/drawing/2014/main" id="{49CB9F3C-6B65-A31E-C99F-811DA5C82A58}"/>
                </a:ext>
              </a:extLst>
            </p:cNvPr>
            <p:cNvPicPr>
              <a:picLocks noChangeAspect="1"/>
            </p:cNvPicPr>
            <p:nvPr/>
          </p:nvPicPr>
          <p:blipFill>
            <a:blip r:embed="rId3"/>
            <a:stretch>
              <a:fillRect/>
            </a:stretch>
          </p:blipFill>
          <p:spPr>
            <a:xfrm>
              <a:off x="868795" y="2472907"/>
              <a:ext cx="4336384" cy="1041099"/>
            </a:xfrm>
            <a:prstGeom prst="rect">
              <a:avLst/>
            </a:prstGeom>
            <a:solidFill>
              <a:sysClr val="window" lastClr="FFFFFF"/>
            </a:solidFill>
            <a:ln w="6350">
              <a:solidFill>
                <a:sysClr val="window" lastClr="FFFFFF">
                  <a:lumMod val="50000"/>
                </a:sysClr>
              </a:solidFill>
            </a:ln>
          </p:spPr>
        </p:pic>
        <p:sp>
          <p:nvSpPr>
            <p:cNvPr id="70" name="正方形/長方形 69">
              <a:extLst>
                <a:ext uri="{FF2B5EF4-FFF2-40B4-BE49-F238E27FC236}">
                  <a16:creationId xmlns:a16="http://schemas.microsoft.com/office/drawing/2014/main" id="{78F5AB90-83DA-8F3E-E68D-912A6860615D}"/>
                </a:ext>
              </a:extLst>
            </p:cNvPr>
            <p:cNvSpPr/>
            <p:nvPr/>
          </p:nvSpPr>
          <p:spPr>
            <a:xfrm>
              <a:off x="288783" y="2472906"/>
              <a:ext cx="518693" cy="1041099"/>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A93C4882-F1BD-533A-C66C-EADB1E0969C6}"/>
                </a:ext>
              </a:extLst>
            </p:cNvPr>
            <p:cNvSpPr/>
            <p:nvPr/>
          </p:nvSpPr>
          <p:spPr>
            <a:xfrm>
              <a:off x="288783" y="4353931"/>
              <a:ext cx="518693" cy="1051224"/>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645AF808-02A6-A778-FCDD-F4DBFA26AC87}"/>
                </a:ext>
              </a:extLst>
            </p:cNvPr>
            <p:cNvSpPr/>
            <p:nvPr/>
          </p:nvSpPr>
          <p:spPr>
            <a:xfrm>
              <a:off x="5369402" y="2780986"/>
              <a:ext cx="684818"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bg2">
                      <a:lumMod val="50000"/>
                    </a:schemeClr>
                  </a:solidFill>
                  <a:latin typeface="Meiryo UI" panose="020B0604030504040204" pitchFamily="50" charset="-128"/>
                  <a:ea typeface="Meiryo UI" panose="020B0604030504040204" pitchFamily="50" charset="-128"/>
                </a:rPr>
                <a:t>GAS</a:t>
              </a:r>
              <a:endParaRPr lang="ja-JP" altLang="en-US" sz="1050">
                <a:solidFill>
                  <a:schemeClr val="bg2">
                    <a:lumMod val="50000"/>
                  </a:schemeClr>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376B6233-A002-3A9A-E5FA-DA50F6BC38CA}"/>
                </a:ext>
              </a:extLst>
            </p:cNvPr>
            <p:cNvSpPr/>
            <p:nvPr/>
          </p:nvSpPr>
          <p:spPr>
            <a:xfrm>
              <a:off x="5369402" y="4672135"/>
              <a:ext cx="684818"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bg2">
                      <a:lumMod val="50000"/>
                    </a:schemeClr>
                  </a:solidFill>
                  <a:latin typeface="Meiryo UI" panose="020B0604030504040204" pitchFamily="50" charset="-128"/>
                  <a:ea typeface="Meiryo UI" panose="020B0604030504040204" pitchFamily="50" charset="-128"/>
                </a:rPr>
                <a:t>GAS</a:t>
              </a:r>
              <a:endParaRPr lang="ja-JP" altLang="en-US" sz="1050">
                <a:solidFill>
                  <a:schemeClr val="bg2">
                    <a:lumMod val="50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99406606-0430-F434-958A-07EA9FDECE36}"/>
                </a:ext>
              </a:extLst>
            </p:cNvPr>
            <p:cNvSpPr/>
            <p:nvPr/>
          </p:nvSpPr>
          <p:spPr>
            <a:xfrm>
              <a:off x="6218443"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bg2">
                      <a:lumMod val="50000"/>
                    </a:schemeClr>
                  </a:solidFill>
                  <a:latin typeface="Meiryo UI" panose="020B0604030504040204" pitchFamily="50" charset="-128"/>
                  <a:ea typeface="Meiryo UI" panose="020B0604030504040204" pitchFamily="50" charset="-128"/>
                </a:rPr>
                <a:t>RPA</a:t>
              </a:r>
              <a:r>
                <a:rPr lang="ja-JP" altLang="en-US" sz="1050">
                  <a:solidFill>
                    <a:schemeClr val="bg2">
                      <a:lumMod val="50000"/>
                    </a:schemeClr>
                  </a:solidFill>
                  <a:latin typeface="Meiryo UI" panose="020B0604030504040204" pitchFamily="50" charset="-128"/>
                  <a:ea typeface="Meiryo UI" panose="020B0604030504040204" pitchFamily="50" charset="-128"/>
                </a:rPr>
                <a:t>登録専用</a:t>
              </a:r>
              <a:r>
                <a:rPr lang="en-US" altLang="ja-JP" sz="105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a:solidFill>
                    <a:schemeClr val="bg2">
                      <a:lumMod val="50000"/>
                    </a:schemeClr>
                  </a:solidFill>
                  <a:latin typeface="Meiryo UI" panose="020B0604030504040204" pitchFamily="50" charset="-128"/>
                  <a:ea typeface="Meiryo UI" panose="020B0604030504040204" pitchFamily="50" charset="-128"/>
                </a:rPr>
                <a:t>①準備</a:t>
              </a:r>
            </a:p>
          </p:txBody>
        </p:sp>
        <p:cxnSp>
          <p:nvCxnSpPr>
            <p:cNvPr id="75" name="直線矢印コネクタ 60">
              <a:extLst>
                <a:ext uri="{FF2B5EF4-FFF2-40B4-BE49-F238E27FC236}">
                  <a16:creationId xmlns:a16="http://schemas.microsoft.com/office/drawing/2014/main" id="{E7A97404-720D-EB19-2C7F-667BA1988463}"/>
                </a:ext>
              </a:extLst>
            </p:cNvPr>
            <p:cNvCxnSpPr>
              <a:cxnSpLocks/>
              <a:stCxn id="73" idx="1"/>
              <a:endCxn id="37" idx="3"/>
            </p:cNvCxnSpPr>
            <p:nvPr/>
          </p:nvCxnSpPr>
          <p:spPr>
            <a:xfrm flipH="1">
              <a:off x="5205180" y="4884605"/>
              <a:ext cx="164222" cy="1"/>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78" name="直線矢印コネクタ 60">
              <a:extLst>
                <a:ext uri="{FF2B5EF4-FFF2-40B4-BE49-F238E27FC236}">
                  <a16:creationId xmlns:a16="http://schemas.microsoft.com/office/drawing/2014/main" id="{987DFB20-6CDE-66B1-4EE5-295032E77F82}"/>
                </a:ext>
              </a:extLst>
            </p:cNvPr>
            <p:cNvCxnSpPr>
              <a:cxnSpLocks/>
              <a:stCxn id="72" idx="1"/>
              <a:endCxn id="69" idx="3"/>
            </p:cNvCxnSpPr>
            <p:nvPr/>
          </p:nvCxnSpPr>
          <p:spPr>
            <a:xfrm flipH="1">
              <a:off x="5205179" y="2993456"/>
              <a:ext cx="164223" cy="1"/>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81" name="直線矢印コネクタ 60">
              <a:extLst>
                <a:ext uri="{FF2B5EF4-FFF2-40B4-BE49-F238E27FC236}">
                  <a16:creationId xmlns:a16="http://schemas.microsoft.com/office/drawing/2014/main" id="{AB112BAD-B29E-5074-9017-6F4750EC6DDF}"/>
                </a:ext>
              </a:extLst>
            </p:cNvPr>
            <p:cNvCxnSpPr>
              <a:cxnSpLocks/>
              <a:stCxn id="74" idx="1"/>
              <a:endCxn id="72" idx="3"/>
            </p:cNvCxnSpPr>
            <p:nvPr/>
          </p:nvCxnSpPr>
          <p:spPr>
            <a:xfrm flipH="1">
              <a:off x="6054220" y="2993456"/>
              <a:ext cx="164223"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84" name="正方形/長方形 83">
              <a:extLst>
                <a:ext uri="{FF2B5EF4-FFF2-40B4-BE49-F238E27FC236}">
                  <a16:creationId xmlns:a16="http://schemas.microsoft.com/office/drawing/2014/main" id="{7BD1024C-BB69-3D74-FE39-B4EEE7D7CC09}"/>
                </a:ext>
              </a:extLst>
            </p:cNvPr>
            <p:cNvSpPr/>
            <p:nvPr/>
          </p:nvSpPr>
          <p:spPr>
            <a:xfrm>
              <a:off x="7639834"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err="1">
                  <a:solidFill>
                    <a:schemeClr val="bg2">
                      <a:lumMod val="50000"/>
                    </a:schemeClr>
                  </a:solidFill>
                  <a:latin typeface="Meiryo UI" panose="020B0604030504040204" pitchFamily="50" charset="-128"/>
                  <a:ea typeface="Meiryo UI" panose="020B0604030504040204" pitchFamily="50" charset="-128"/>
                </a:rPr>
                <a:t>UIPath</a:t>
              </a:r>
              <a:r>
                <a:rPr lang="ja-JP" altLang="en-US" sz="1050">
                  <a:solidFill>
                    <a:schemeClr val="bg2">
                      <a:lumMod val="50000"/>
                    </a:schemeClr>
                  </a:solidFill>
                  <a:latin typeface="Meiryo UI" panose="020B0604030504040204" pitchFamily="50" charset="-128"/>
                  <a:ea typeface="Meiryo UI" panose="020B0604030504040204" pitchFamily="50" charset="-128"/>
                </a:rPr>
                <a:t>処理</a:t>
              </a:r>
              <a:r>
                <a:rPr lang="en-US" altLang="ja-JP" sz="1050">
                  <a:solidFill>
                    <a:schemeClr val="bg2">
                      <a:lumMod val="50000"/>
                    </a:schemeClr>
                  </a:solidFill>
                  <a:latin typeface="Meiryo UI" panose="020B0604030504040204" pitchFamily="50" charset="-128"/>
                  <a:ea typeface="Meiryo UI" panose="020B0604030504040204" pitchFamily="50" charset="-128"/>
                </a:rPr>
                <a:t>/</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a:solidFill>
                    <a:schemeClr val="bg2">
                      <a:lumMod val="50000"/>
                    </a:schemeClr>
                  </a:solidFill>
                  <a:latin typeface="Meiryo UI" panose="020B0604030504040204" pitchFamily="50" charset="-128"/>
                  <a:ea typeface="Meiryo UI" panose="020B0604030504040204" pitchFamily="50" charset="-128"/>
                </a:rPr>
                <a:t>①実行</a:t>
              </a:r>
            </a:p>
          </p:txBody>
        </p:sp>
        <p:cxnSp>
          <p:nvCxnSpPr>
            <p:cNvPr id="85" name="直線矢印コネクタ 60">
              <a:extLst>
                <a:ext uri="{FF2B5EF4-FFF2-40B4-BE49-F238E27FC236}">
                  <a16:creationId xmlns:a16="http://schemas.microsoft.com/office/drawing/2014/main" id="{EDCB2C04-5E37-E6F0-01A5-FB961A6F3647}"/>
                </a:ext>
              </a:extLst>
            </p:cNvPr>
            <p:cNvCxnSpPr>
              <a:cxnSpLocks/>
              <a:stCxn id="84" idx="1"/>
              <a:endCxn id="74" idx="3"/>
            </p:cNvCxnSpPr>
            <p:nvPr/>
          </p:nvCxnSpPr>
          <p:spPr>
            <a:xfrm flipH="1">
              <a:off x="7496570" y="2993456"/>
              <a:ext cx="143264"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88" name="正方形/長方形 87">
              <a:extLst>
                <a:ext uri="{FF2B5EF4-FFF2-40B4-BE49-F238E27FC236}">
                  <a16:creationId xmlns:a16="http://schemas.microsoft.com/office/drawing/2014/main" id="{BE9B0695-71BD-129D-2BCE-124711BC2F2C}"/>
                </a:ext>
              </a:extLst>
            </p:cNvPr>
            <p:cNvSpPr/>
            <p:nvPr/>
          </p:nvSpPr>
          <p:spPr>
            <a:xfrm>
              <a:off x="9061226"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err="1">
                  <a:solidFill>
                    <a:schemeClr val="bg2">
                      <a:lumMod val="50000"/>
                    </a:schemeClr>
                  </a:solidFill>
                  <a:latin typeface="Meiryo UI" panose="020B0604030504040204" pitchFamily="50" charset="-128"/>
                  <a:ea typeface="Meiryo UI" panose="020B0604030504040204" pitchFamily="50" charset="-128"/>
                </a:rPr>
                <a:t>UIPath</a:t>
              </a:r>
              <a:r>
                <a:rPr lang="ja-JP" altLang="en-US" sz="1050">
                  <a:solidFill>
                    <a:schemeClr val="bg2">
                      <a:lumMod val="50000"/>
                    </a:schemeClr>
                  </a:solidFill>
                  <a:latin typeface="Meiryo UI" panose="020B0604030504040204" pitchFamily="50" charset="-128"/>
                  <a:ea typeface="Meiryo UI" panose="020B0604030504040204" pitchFamily="50" charset="-128"/>
                </a:rPr>
                <a:t>結果確認</a:t>
              </a: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en-US" altLang="ja-JP" sz="105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a:solidFill>
                    <a:schemeClr val="bg2">
                      <a:lumMod val="50000"/>
                    </a:schemeClr>
                  </a:solidFill>
                  <a:latin typeface="Meiryo UI" panose="020B0604030504040204" pitchFamily="50" charset="-128"/>
                  <a:ea typeface="Meiryo UI" panose="020B0604030504040204" pitchFamily="50" charset="-128"/>
                </a:rPr>
                <a:t>②処理</a:t>
              </a:r>
            </a:p>
          </p:txBody>
        </p:sp>
        <p:cxnSp>
          <p:nvCxnSpPr>
            <p:cNvPr id="89" name="直線矢印コネクタ 60">
              <a:extLst>
                <a:ext uri="{FF2B5EF4-FFF2-40B4-BE49-F238E27FC236}">
                  <a16:creationId xmlns:a16="http://schemas.microsoft.com/office/drawing/2014/main" id="{907ACFDA-AE6A-76C4-A687-798245E6BEA0}"/>
                </a:ext>
              </a:extLst>
            </p:cNvPr>
            <p:cNvCxnSpPr>
              <a:cxnSpLocks/>
              <a:stCxn id="88" idx="1"/>
              <a:endCxn id="84" idx="3"/>
            </p:cNvCxnSpPr>
            <p:nvPr/>
          </p:nvCxnSpPr>
          <p:spPr>
            <a:xfrm flipH="1">
              <a:off x="8917961" y="2993456"/>
              <a:ext cx="143265"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95" name="正方形/長方形 94">
              <a:extLst>
                <a:ext uri="{FF2B5EF4-FFF2-40B4-BE49-F238E27FC236}">
                  <a16:creationId xmlns:a16="http://schemas.microsoft.com/office/drawing/2014/main" id="{5897CF2F-AB45-6D22-8425-58EA7CCEC943}"/>
                </a:ext>
              </a:extLst>
            </p:cNvPr>
            <p:cNvSpPr/>
            <p:nvPr/>
          </p:nvSpPr>
          <p:spPr>
            <a:xfrm>
              <a:off x="10482618" y="277520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chemeClr val="bg2">
                      <a:lumMod val="50000"/>
                    </a:schemeClr>
                  </a:solidFill>
                  <a:latin typeface="Meiryo UI" panose="020B0604030504040204" pitchFamily="50" charset="-128"/>
                  <a:ea typeface="Meiryo UI" panose="020B0604030504040204" pitchFamily="50" charset="-128"/>
                </a:rPr>
                <a:t>スプレッドシート</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ja-JP" altLang="en-US" sz="1050">
                  <a:solidFill>
                    <a:schemeClr val="bg2">
                      <a:lumMod val="50000"/>
                    </a:schemeClr>
                  </a:solidFill>
                  <a:latin typeface="Meiryo UI" panose="020B0604030504040204" pitchFamily="50" charset="-128"/>
                  <a:ea typeface="Meiryo UI" panose="020B0604030504040204" pitchFamily="50" charset="-128"/>
                </a:rPr>
                <a:t>手動更新</a:t>
              </a:r>
            </a:p>
          </p:txBody>
        </p:sp>
        <p:cxnSp>
          <p:nvCxnSpPr>
            <p:cNvPr id="96" name="直線矢印コネクタ 60">
              <a:extLst>
                <a:ext uri="{FF2B5EF4-FFF2-40B4-BE49-F238E27FC236}">
                  <a16:creationId xmlns:a16="http://schemas.microsoft.com/office/drawing/2014/main" id="{D4CDF5FD-FAD8-D678-416D-8D32D70641D2}"/>
                </a:ext>
              </a:extLst>
            </p:cNvPr>
            <p:cNvCxnSpPr>
              <a:cxnSpLocks/>
              <a:stCxn id="95" idx="1"/>
              <a:endCxn id="88" idx="3"/>
            </p:cNvCxnSpPr>
            <p:nvPr/>
          </p:nvCxnSpPr>
          <p:spPr>
            <a:xfrm flipH="1">
              <a:off x="10339353" y="2987676"/>
              <a:ext cx="143265" cy="578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99" name="直線矢印コネクタ 60">
              <a:extLst>
                <a:ext uri="{FF2B5EF4-FFF2-40B4-BE49-F238E27FC236}">
                  <a16:creationId xmlns:a16="http://schemas.microsoft.com/office/drawing/2014/main" id="{DE88F1AE-8A91-53DB-C339-851A15F8B4A7}"/>
                </a:ext>
              </a:extLst>
            </p:cNvPr>
            <p:cNvCxnSpPr>
              <a:cxnSpLocks/>
              <a:stCxn id="69" idx="0"/>
              <a:endCxn id="95" idx="3"/>
            </p:cNvCxnSpPr>
            <p:nvPr/>
          </p:nvCxnSpPr>
          <p:spPr>
            <a:xfrm rot="16200000" flipH="1">
              <a:off x="7141481" y="-1631588"/>
              <a:ext cx="514769" cy="8723758"/>
            </a:xfrm>
            <a:prstGeom prst="bentConnector4">
              <a:avLst>
                <a:gd name="adj1" fmla="val -19785"/>
                <a:gd name="adj2" fmla="val 101375"/>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116" name="直線矢印コネクタ 115">
              <a:extLst>
                <a:ext uri="{FF2B5EF4-FFF2-40B4-BE49-F238E27FC236}">
                  <a16:creationId xmlns:a16="http://schemas.microsoft.com/office/drawing/2014/main" id="{92620565-9D42-9E23-294C-8DACE014755D}"/>
                </a:ext>
              </a:extLst>
            </p:cNvPr>
            <p:cNvCxnSpPr>
              <a:cxnSpLocks/>
            </p:cNvCxnSpPr>
            <p:nvPr/>
          </p:nvCxnSpPr>
          <p:spPr>
            <a:xfrm>
              <a:off x="6218442" y="3609162"/>
              <a:ext cx="5542301" cy="0"/>
            </a:xfrm>
            <a:prstGeom prst="straightConnector1">
              <a:avLst/>
            </a:prstGeom>
            <a:noFill/>
            <a:ln w="6350" cap="flat" cmpd="sng" algn="ctr">
              <a:solidFill>
                <a:srgbClr val="4472C4"/>
              </a:solidFill>
              <a:prstDash val="solid"/>
              <a:miter lim="800000"/>
              <a:headEnd type="triangle"/>
              <a:tailEnd type="triangle"/>
            </a:ln>
            <a:effectLst/>
          </p:spPr>
        </p:cxnSp>
        <p:sp>
          <p:nvSpPr>
            <p:cNvPr id="117" name="正方形/長方形 116">
              <a:extLst>
                <a:ext uri="{FF2B5EF4-FFF2-40B4-BE49-F238E27FC236}">
                  <a16:creationId xmlns:a16="http://schemas.microsoft.com/office/drawing/2014/main" id="{2CABA381-BF90-1330-A352-7C8AF9B357CE}"/>
                </a:ext>
              </a:extLst>
            </p:cNvPr>
            <p:cNvSpPr/>
            <p:nvPr/>
          </p:nvSpPr>
          <p:spPr>
            <a:xfrm>
              <a:off x="6218442" y="3613463"/>
              <a:ext cx="5542300" cy="209595"/>
            </a:xfrm>
            <a:prstGeom prst="rect">
              <a:avLst/>
            </a:prstGeom>
            <a:noFill/>
            <a:ln w="9525" cap="flat" cmpd="sng" algn="ctr">
              <a:noFill/>
              <a:prstDash val="solid"/>
            </a:ln>
            <a:effectLst/>
          </p:spPr>
          <p:txBody>
            <a:bodyPr vert="horz"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rPr>
                <a:t>20</a:t>
              </a:r>
              <a:r>
                <a:rPr kumimoji="0" lang="ja-JP" altLang="en-US" sz="1400" b="1" kern="0">
                  <a:solidFill>
                    <a:srgbClr val="0065BD"/>
                  </a:solidFill>
                  <a:latin typeface="Meiryo UI" panose="020B0604030504040204" pitchFamily="50" charset="-128"/>
                  <a:ea typeface="Meiryo UI" panose="020B0604030504040204" pitchFamily="50" charset="-128"/>
                  <a:cs typeface="Hiragino Kaku Gothic Pro W3" charset="-128"/>
                </a:rPr>
                <a:t>件の請求処理で約</a:t>
              </a:r>
              <a:r>
                <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rPr>
                <a:t>40</a:t>
              </a:r>
              <a:r>
                <a:rPr kumimoji="0" lang="ja-JP" altLang="en-US" sz="1400" b="1" kern="0">
                  <a:solidFill>
                    <a:srgbClr val="0065BD"/>
                  </a:solidFill>
                  <a:latin typeface="Meiryo UI" panose="020B0604030504040204" pitchFamily="50" charset="-128"/>
                  <a:ea typeface="Meiryo UI" panose="020B0604030504040204" pitchFamily="50" charset="-128"/>
                  <a:cs typeface="Hiragino Kaku Gothic Pro W3" charset="-128"/>
                </a:rPr>
                <a:t>～</a:t>
              </a:r>
              <a:r>
                <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rPr>
                <a:t>50</a:t>
              </a:r>
              <a:r>
                <a:rPr kumimoji="0" lang="ja-JP" altLang="en-US" sz="1400" b="1" kern="0">
                  <a:solidFill>
                    <a:srgbClr val="0065BD"/>
                  </a:solidFill>
                  <a:latin typeface="Meiryo UI" panose="020B0604030504040204" pitchFamily="50" charset="-128"/>
                  <a:ea typeface="Meiryo UI" panose="020B0604030504040204" pitchFamily="50" charset="-128"/>
                  <a:cs typeface="Hiragino Kaku Gothic Pro W3" charset="-128"/>
                </a:rPr>
                <a:t>分</a:t>
              </a:r>
              <a:endParaRPr kumimoji="0" lang="en-US" altLang="ja-JP" sz="1400" b="1" kern="0">
                <a:solidFill>
                  <a:srgbClr val="0065BD"/>
                </a:solidFill>
                <a:latin typeface="Meiryo UI" panose="020B0604030504040204" pitchFamily="50" charset="-128"/>
                <a:ea typeface="Meiryo UI" panose="020B0604030504040204" pitchFamily="50" charset="-128"/>
                <a:cs typeface="Hiragino Kaku Gothic Pro W3" charset="-128"/>
              </a:endParaRPr>
            </a:p>
          </p:txBody>
        </p:sp>
        <p:sp>
          <p:nvSpPr>
            <p:cNvPr id="118" name="四角形: 角を丸くする 117">
              <a:extLst>
                <a:ext uri="{FF2B5EF4-FFF2-40B4-BE49-F238E27FC236}">
                  <a16:creationId xmlns:a16="http://schemas.microsoft.com/office/drawing/2014/main" id="{12823F54-2CAC-F12A-179F-9642313EE175}"/>
                </a:ext>
              </a:extLst>
            </p:cNvPr>
            <p:cNvSpPr/>
            <p:nvPr/>
          </p:nvSpPr>
          <p:spPr>
            <a:xfrm>
              <a:off x="8499454" y="3169833"/>
              <a:ext cx="490139" cy="184655"/>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119" name="四角形: 角を丸くする 118">
              <a:extLst>
                <a:ext uri="{FF2B5EF4-FFF2-40B4-BE49-F238E27FC236}">
                  <a16:creationId xmlns:a16="http://schemas.microsoft.com/office/drawing/2014/main" id="{6E34B472-CD59-F0E7-4819-C8BFAC64E916}"/>
                </a:ext>
              </a:extLst>
            </p:cNvPr>
            <p:cNvSpPr/>
            <p:nvPr/>
          </p:nvSpPr>
          <p:spPr>
            <a:xfrm>
              <a:off x="11367018" y="5427984"/>
              <a:ext cx="490139" cy="184655"/>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algn="ctr" fontAlgn="auto">
                <a:spcBef>
                  <a:spcPts val="0"/>
                </a:spcBef>
                <a:spcAft>
                  <a:spcPts val="0"/>
                </a:spcAft>
                <a:defRPr/>
              </a:pPr>
              <a:r>
                <a:rPr kumimoji="0" lang="en-US" altLang="ja-JP" sz="800" b="1" kern="0">
                  <a:solidFill>
                    <a:srgbClr val="0065BD"/>
                  </a:solidFill>
                  <a:latin typeface="Meiryo UI" panose="020B0604030504040204" pitchFamily="50" charset="-128"/>
                  <a:ea typeface="Meiryo UI" panose="020B0604030504040204" pitchFamily="50" charset="-128"/>
                </a:rPr>
                <a:t>n8n</a:t>
              </a:r>
              <a:endParaRPr kumimoji="0" lang="ja-JP" altLang="en-US" sz="800" b="1" kern="0">
                <a:solidFill>
                  <a:srgbClr val="0065BD"/>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446265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39F5-1568-AC0F-0C10-EA4C1C221D8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6D4AFDF-4B1E-B689-3B1B-743CE4295BA5}"/>
              </a:ext>
            </a:extLst>
          </p:cNvPr>
          <p:cNvSpPr>
            <a:spLocks noGrp="1"/>
          </p:cNvSpPr>
          <p:nvPr>
            <p:ph type="title"/>
          </p:nvPr>
        </p:nvSpPr>
        <p:spPr/>
        <p:txBody>
          <a:bodyPr/>
          <a:lstStyle/>
          <a:p>
            <a:r>
              <a:rPr lang="en-US" altLang="ja-JP">
                <a:solidFill>
                  <a:schemeClr val="tx1">
                    <a:lumMod val="65000"/>
                    <a:lumOff val="35000"/>
                  </a:schemeClr>
                </a:solidFill>
              </a:rPr>
              <a:t>BPS</a:t>
            </a:r>
            <a:r>
              <a:rPr lang="ja-JP" altLang="en-US">
                <a:solidFill>
                  <a:schemeClr val="tx1">
                    <a:lumMod val="65000"/>
                    <a:lumOff val="35000"/>
                  </a:schemeClr>
                </a:solidFill>
              </a:rPr>
              <a:t>の</a:t>
            </a:r>
            <a:r>
              <a:rPr lang="en-US" altLang="ja-JP">
                <a:solidFill>
                  <a:schemeClr val="tx1">
                    <a:lumMod val="65000"/>
                    <a:lumOff val="35000"/>
                  </a:schemeClr>
                </a:solidFill>
              </a:rPr>
              <a:t>n8n</a:t>
            </a:r>
            <a:r>
              <a:rPr lang="ja-JP" altLang="en-US">
                <a:solidFill>
                  <a:schemeClr val="tx1">
                    <a:lumMod val="65000"/>
                    <a:lumOff val="35000"/>
                  </a:schemeClr>
                </a:solidFill>
              </a:rPr>
              <a:t>デモ</a:t>
            </a:r>
            <a:endParaRPr kumimoji="1" lang="ja-JP" altLang="en-US"/>
          </a:p>
        </p:txBody>
      </p:sp>
      <p:sp>
        <p:nvSpPr>
          <p:cNvPr id="4" name="スライド番号プレースホルダー 3">
            <a:extLst>
              <a:ext uri="{FF2B5EF4-FFF2-40B4-BE49-F238E27FC236}">
                <a16:creationId xmlns:a16="http://schemas.microsoft.com/office/drawing/2014/main" id="{A2901E4D-95C2-9EE2-BDD6-6D9B46E407BA}"/>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6</a:t>
            </a:fld>
            <a:endParaRPr lang="en-US" altLang="ja-JP"/>
          </a:p>
        </p:txBody>
      </p:sp>
      <p:sp>
        <p:nvSpPr>
          <p:cNvPr id="2" name="コンテンツ プレースホルダー 5">
            <a:extLst>
              <a:ext uri="{FF2B5EF4-FFF2-40B4-BE49-F238E27FC236}">
                <a16:creationId xmlns:a16="http://schemas.microsoft.com/office/drawing/2014/main" id="{252368D5-D885-BD9D-D987-028816704740}"/>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実機にてデモを行います。</a:t>
            </a:r>
            <a:endParaRPr lang="en-US" altLang="ja-JP" sz="1600" kern="0"/>
          </a:p>
        </p:txBody>
      </p:sp>
      <p:sp>
        <p:nvSpPr>
          <p:cNvPr id="5" name="四角形: 角を丸くする 4">
            <a:extLst>
              <a:ext uri="{FF2B5EF4-FFF2-40B4-BE49-F238E27FC236}">
                <a16:creationId xmlns:a16="http://schemas.microsoft.com/office/drawing/2014/main" id="{3C608A6E-EA2E-F1DD-AF2D-A1B41608E726}"/>
              </a:ext>
            </a:extLst>
          </p:cNvPr>
          <p:cNvSpPr/>
          <p:nvPr/>
        </p:nvSpPr>
        <p:spPr bwMode="auto">
          <a:xfrm>
            <a:off x="3176885" y="2344573"/>
            <a:ext cx="5838231" cy="1772475"/>
          </a:xfrm>
          <a:prstGeom prst="roundRect">
            <a:avLst/>
          </a:prstGeom>
          <a:solidFill>
            <a:srgbClr val="FEECFE"/>
          </a:solidFill>
          <a:ln w="12700" cap="flat" cmpd="sng" algn="ctr">
            <a:solidFill>
              <a:srgbClr val="FF0066"/>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3200" kern="0">
                <a:solidFill>
                  <a:srgbClr val="FF0066"/>
                </a:solidFill>
                <a:latin typeface="Meiryo UI" panose="020B0604030504040204" pitchFamily="50" charset="-128"/>
                <a:ea typeface="Meiryo UI" panose="020B0604030504040204" pitchFamily="50" charset="-128"/>
                <a:cs typeface="メイリオ" panose="020B0604030504040204" pitchFamily="50" charset="-128"/>
              </a:rPr>
              <a:t>Demo</a:t>
            </a:r>
            <a:endParaRPr kumimoji="0" lang="ja-JP" altLang="en-US" sz="3200" kern="0">
              <a:solidFill>
                <a:srgbClr val="FF0066"/>
              </a:solidFill>
              <a:latin typeface="Meiryo UI" panose="020B0604030504040204" pitchFamily="50" charset="-128"/>
              <a:ea typeface="Meiryo UI"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83614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87A69-C8D4-9B6F-0308-A87B63C5153E}"/>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95CFC43A-A527-6A3E-E1DF-1512C3FCFE85}"/>
              </a:ext>
            </a:extLst>
          </p:cNvPr>
          <p:cNvSpPr>
            <a:spLocks noGrp="1"/>
          </p:cNvSpPr>
          <p:nvPr>
            <p:ph type="title"/>
          </p:nvPr>
        </p:nvSpPr>
        <p:spPr>
          <a:xfrm>
            <a:off x="1087388" y="3510976"/>
            <a:ext cx="9866939" cy="1362075"/>
          </a:xfrm>
        </p:spPr>
        <p:txBody>
          <a:bodyPr/>
          <a:lstStyle/>
          <a:p>
            <a:endParaRPr lang="ja-JP" altLang="en-US"/>
          </a:p>
        </p:txBody>
      </p:sp>
      <p:sp>
        <p:nvSpPr>
          <p:cNvPr id="4" name="テキスト プレースホルダー 3">
            <a:extLst>
              <a:ext uri="{FF2B5EF4-FFF2-40B4-BE49-F238E27FC236}">
                <a16:creationId xmlns:a16="http://schemas.microsoft.com/office/drawing/2014/main" id="{842C676E-645B-9CB3-5444-A258E6BF7A42}"/>
              </a:ext>
            </a:extLst>
          </p:cNvPr>
          <p:cNvSpPr>
            <a:spLocks noGrp="1"/>
          </p:cNvSpPr>
          <p:nvPr>
            <p:ph type="body" idx="1"/>
          </p:nvPr>
        </p:nvSpPr>
        <p:spPr>
          <a:xfrm>
            <a:off x="591128" y="2010786"/>
            <a:ext cx="10363200" cy="1500187"/>
          </a:xfrm>
        </p:spPr>
        <p:txBody>
          <a:bodyPr/>
          <a:lstStyle/>
          <a:p>
            <a:pPr>
              <a:spcBef>
                <a:spcPct val="0"/>
              </a:spcBef>
            </a:pPr>
            <a:r>
              <a:rPr lang="ja-JP" altLang="en-US" sz="3200"/>
              <a:t>内製化状況と今後の見通しについて</a:t>
            </a:r>
          </a:p>
        </p:txBody>
      </p:sp>
    </p:spTree>
    <p:extLst>
      <p:ext uri="{BB962C8B-B14F-4D97-AF65-F5344CB8AC3E}">
        <p14:creationId xmlns:p14="http://schemas.microsoft.com/office/powerpoint/2010/main" val="4578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7D9D5-8A8D-7D77-A142-5EA60A78A3D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85A536A-6896-4B7F-3A3E-22D517C48502}"/>
              </a:ext>
            </a:extLst>
          </p:cNvPr>
          <p:cNvSpPr>
            <a:spLocks noGrp="1"/>
          </p:cNvSpPr>
          <p:nvPr>
            <p:ph type="title"/>
          </p:nvPr>
        </p:nvSpPr>
        <p:spPr/>
        <p:txBody>
          <a:bodyPr/>
          <a:lstStyle/>
          <a:p>
            <a:r>
              <a:rPr lang="en-US" altLang="ja-JP"/>
              <a:t>12/</a:t>
            </a:r>
            <a:r>
              <a:rPr lang="ja-JP" altLang="en-US"/>
              <a:t>末の現状の内製化状況</a:t>
            </a:r>
            <a:endParaRPr kumimoji="1" lang="ja-JP" altLang="en-US"/>
          </a:p>
        </p:txBody>
      </p:sp>
      <p:sp>
        <p:nvSpPr>
          <p:cNvPr id="4" name="スライド番号プレースホルダー 3">
            <a:extLst>
              <a:ext uri="{FF2B5EF4-FFF2-40B4-BE49-F238E27FC236}">
                <a16:creationId xmlns:a16="http://schemas.microsoft.com/office/drawing/2014/main" id="{AB04C93E-F379-DA85-676A-08131646710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8</a:t>
            </a:fld>
            <a:endParaRPr lang="en-US" altLang="ja-JP"/>
          </a:p>
        </p:txBody>
      </p:sp>
      <p:sp>
        <p:nvSpPr>
          <p:cNvPr id="2" name="コンテンツ プレースホルダー 5">
            <a:extLst>
              <a:ext uri="{FF2B5EF4-FFF2-40B4-BE49-F238E27FC236}">
                <a16:creationId xmlns:a16="http://schemas.microsoft.com/office/drawing/2014/main" id="{9C02FE0B-C589-F659-6E56-155CFF7181D2}"/>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内製化メンバーにて、</a:t>
            </a:r>
            <a:r>
              <a:rPr lang="en-US" altLang="ja-JP" sz="1600" kern="0"/>
              <a:t>AI</a:t>
            </a:r>
            <a:r>
              <a:rPr lang="ja-JP" altLang="en-US" sz="1600" kern="0"/>
              <a:t>エージェント（</a:t>
            </a:r>
            <a:r>
              <a:rPr lang="en-US" altLang="ja-JP" sz="1600" kern="0"/>
              <a:t>n8n</a:t>
            </a:r>
            <a:r>
              <a:rPr lang="ja-JP" altLang="en-US" sz="1600" kern="0"/>
              <a:t>）構築と</a:t>
            </a:r>
            <a:r>
              <a:rPr lang="en-US" altLang="ja-JP" sz="1600" kern="0"/>
              <a:t>AI</a:t>
            </a:r>
            <a:r>
              <a:rPr lang="ja-JP" altLang="en-US" sz="1600" kern="0"/>
              <a:t>エージェント導入に必要な業務分析はできる状態にはなった。</a:t>
            </a:r>
            <a:endParaRPr lang="en-US" altLang="ja-JP" sz="1600" kern="0"/>
          </a:p>
          <a:p>
            <a:pPr marL="285750" indent="-285750">
              <a:buFont typeface="Arial" panose="020B0604020202020204" pitchFamily="34" charset="0"/>
              <a:buChar char="•"/>
            </a:pPr>
            <a:r>
              <a:rPr lang="ja-JP" altLang="en-US" sz="1600" kern="0"/>
              <a:t>継続して</a:t>
            </a:r>
            <a:r>
              <a:rPr lang="en-US" altLang="ja-JP" sz="1600" kern="0"/>
              <a:t>BPS</a:t>
            </a:r>
            <a:r>
              <a:rPr lang="ja-JP" altLang="en-US" sz="1600" kern="0"/>
              <a:t>以外の他領域の業務分析と</a:t>
            </a:r>
            <a:r>
              <a:rPr lang="en-US" altLang="ja-JP" sz="1600" kern="0"/>
              <a:t>AI</a:t>
            </a:r>
            <a:r>
              <a:rPr lang="ja-JP" altLang="en-US" sz="1600" kern="0"/>
              <a:t>エージェントの構築を進めている。</a:t>
            </a:r>
            <a:endParaRPr lang="en-US" altLang="ja-JP" sz="1600" kern="0"/>
          </a:p>
          <a:p>
            <a:pPr marL="285750" indent="-285750">
              <a:buFont typeface="Arial" panose="020B0604020202020204" pitchFamily="34" charset="0"/>
              <a:buChar char="•"/>
            </a:pPr>
            <a:r>
              <a:rPr lang="ja-JP" altLang="en-US" sz="1600" kern="0"/>
              <a:t>今後の対応案件数予定と増員計画を策定中。（</a:t>
            </a:r>
            <a:r>
              <a:rPr lang="en-US" altLang="ja-JP" sz="1600" kern="0"/>
              <a:t>Appendix</a:t>
            </a:r>
            <a:r>
              <a:rPr lang="ja-JP" altLang="en-US" sz="1600" kern="0"/>
              <a:t>①）</a:t>
            </a:r>
            <a:endParaRPr lang="en-US" altLang="ja-JP" sz="1600" kern="0"/>
          </a:p>
        </p:txBody>
      </p:sp>
      <p:sp>
        <p:nvSpPr>
          <p:cNvPr id="65" name="四角形: 角を丸くする 64">
            <a:extLst>
              <a:ext uri="{FF2B5EF4-FFF2-40B4-BE49-F238E27FC236}">
                <a16:creationId xmlns:a16="http://schemas.microsoft.com/office/drawing/2014/main" id="{7E916E71-4BDE-178B-1C01-E3309D475860}"/>
              </a:ext>
            </a:extLst>
          </p:cNvPr>
          <p:cNvSpPr/>
          <p:nvPr/>
        </p:nvSpPr>
        <p:spPr>
          <a:xfrm>
            <a:off x="983972" y="2623398"/>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p>
        </p:txBody>
      </p:sp>
      <p:sp>
        <p:nvSpPr>
          <p:cNvPr id="66" name="四角形: 角を丸くする 65">
            <a:extLst>
              <a:ext uri="{FF2B5EF4-FFF2-40B4-BE49-F238E27FC236}">
                <a16:creationId xmlns:a16="http://schemas.microsoft.com/office/drawing/2014/main" id="{52697BCD-915B-AE2F-08FD-72D93FFFDC32}"/>
              </a:ext>
            </a:extLst>
          </p:cNvPr>
          <p:cNvSpPr/>
          <p:nvPr/>
        </p:nvSpPr>
        <p:spPr>
          <a:xfrm>
            <a:off x="6165572" y="2623397"/>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5" name="テキスト ボックス 4">
            <a:extLst>
              <a:ext uri="{FF2B5EF4-FFF2-40B4-BE49-F238E27FC236}">
                <a16:creationId xmlns:a16="http://schemas.microsoft.com/office/drawing/2014/main" id="{D8A5CB4A-70DD-00E8-146E-47A43C5F34F9}"/>
              </a:ext>
            </a:extLst>
          </p:cNvPr>
          <p:cNvSpPr txBox="1"/>
          <p:nvPr/>
        </p:nvSpPr>
        <p:spPr bwMode="auto">
          <a:xfrm>
            <a:off x="1420198" y="3150575"/>
            <a:ext cx="4170005" cy="1384995"/>
          </a:xfrm>
          <a:prstGeom prst="rect">
            <a:avLst/>
          </a:prstGeom>
          <a:noFill/>
          <a:ln w="9525">
            <a:noFill/>
            <a:miter lim="800000"/>
            <a:headEnd/>
            <a:tailEnd/>
          </a:ln>
        </p:spPr>
        <p:txBody>
          <a:bodyPr wrap="square" rtlCol="0">
            <a:spAutoFit/>
          </a:bodyPr>
          <a:lstStyle/>
          <a:p>
            <a:pPr>
              <a:defRPr/>
            </a:pP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エージェント対象業務を増やしていく</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BPS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経理：</a:t>
            </a: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財務：標準プロセス関連の業務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顧客管理：マスター登録・名寄せ関連の業務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法務：ナレッジ検索関連の業務</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51" name="テキスト ボックス 50">
            <a:extLst>
              <a:ext uri="{FF2B5EF4-FFF2-40B4-BE49-F238E27FC236}">
                <a16:creationId xmlns:a16="http://schemas.microsoft.com/office/drawing/2014/main" id="{3E8CC542-DE9D-FFCF-88A4-BBC53A682C2C}"/>
              </a:ext>
            </a:extLst>
          </p:cNvPr>
          <p:cNvSpPr txBox="1"/>
          <p:nvPr/>
        </p:nvSpPr>
        <p:spPr bwMode="auto">
          <a:xfrm>
            <a:off x="6601798" y="3150573"/>
            <a:ext cx="4170005" cy="1384995"/>
          </a:xfrm>
          <a:prstGeom prst="rect">
            <a:avLst/>
          </a:prstGeom>
          <a:noFill/>
          <a:ln w="9525">
            <a:noFill/>
            <a:miter lim="800000"/>
            <a:headEnd/>
            <a:tailEnd/>
          </a:ln>
        </p:spPr>
        <p:txBody>
          <a:bodyPr wrap="square" rtlCol="0">
            <a:spAutoFit/>
          </a:bodyPr>
          <a:lstStyle/>
          <a:p>
            <a:pPr>
              <a:defRPr/>
            </a:pP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n8n×Azure</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サービスによる</a:t>
            </a: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エージェントを増やしていく</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ナレッジ検索関連の業務エージェント</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pic>
        <p:nvPicPr>
          <p:cNvPr id="53" name="グラフィックス 52" descr="ワークフロー 枠線">
            <a:extLst>
              <a:ext uri="{FF2B5EF4-FFF2-40B4-BE49-F238E27FC236}">
                <a16:creationId xmlns:a16="http://schemas.microsoft.com/office/drawing/2014/main" id="{30FAF090-CF0F-7F35-2A70-34262B0267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611" y="2636096"/>
            <a:ext cx="579600" cy="579600"/>
          </a:xfrm>
          <a:prstGeom prst="rect">
            <a:avLst/>
          </a:prstGeom>
        </p:spPr>
      </p:pic>
      <p:pic>
        <p:nvPicPr>
          <p:cNvPr id="61" name="グラフィックス 60" descr="ロボット 枠線">
            <a:extLst>
              <a:ext uri="{FF2B5EF4-FFF2-40B4-BE49-F238E27FC236}">
                <a16:creationId xmlns:a16="http://schemas.microsoft.com/office/drawing/2014/main" id="{D528F837-B517-0F09-BA08-014FB11ED4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92800" y="2634529"/>
            <a:ext cx="579600" cy="579600"/>
          </a:xfrm>
          <a:prstGeom prst="rect">
            <a:avLst/>
          </a:prstGeom>
        </p:spPr>
      </p:pic>
    </p:spTree>
    <p:extLst>
      <p:ext uri="{BB962C8B-B14F-4D97-AF65-F5344CB8AC3E}">
        <p14:creationId xmlns:p14="http://schemas.microsoft.com/office/powerpoint/2010/main" val="2254465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86E-4FE4-4FD3-B64C-5DEEBF86348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0E9EA9B-90FD-3BDA-8E41-DCAB25579D1D}"/>
              </a:ext>
            </a:extLst>
          </p:cNvPr>
          <p:cNvSpPr>
            <a:spLocks noGrp="1"/>
          </p:cNvSpPr>
          <p:nvPr>
            <p:ph type="title"/>
          </p:nvPr>
        </p:nvSpPr>
        <p:spPr/>
        <p:txBody>
          <a:bodyPr/>
          <a:lstStyle/>
          <a:p>
            <a:r>
              <a:rPr lang="ja-JP" altLang="en-US"/>
              <a:t>大規模な</a:t>
            </a:r>
            <a:r>
              <a:rPr lang="en-US" altLang="ja-JP"/>
              <a:t>AI</a:t>
            </a:r>
            <a:r>
              <a:rPr lang="ja-JP" altLang="en-US"/>
              <a:t>エージェント展開に伴う必要な領域</a:t>
            </a:r>
            <a:r>
              <a:rPr kumimoji="1" lang="ja-JP" altLang="en-US"/>
              <a:t>について</a:t>
            </a:r>
          </a:p>
        </p:txBody>
      </p:sp>
      <p:sp>
        <p:nvSpPr>
          <p:cNvPr id="4" name="スライド番号プレースホルダー 3">
            <a:extLst>
              <a:ext uri="{FF2B5EF4-FFF2-40B4-BE49-F238E27FC236}">
                <a16:creationId xmlns:a16="http://schemas.microsoft.com/office/drawing/2014/main" id="{5C8B7A6F-0125-AEB3-0F9C-75905EB85F9E}"/>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9</a:t>
            </a:fld>
            <a:endParaRPr lang="en-US" altLang="ja-JP"/>
          </a:p>
        </p:txBody>
      </p:sp>
      <p:sp>
        <p:nvSpPr>
          <p:cNvPr id="2" name="コンテンツ プレースホルダー 5">
            <a:extLst>
              <a:ext uri="{FF2B5EF4-FFF2-40B4-BE49-F238E27FC236}">
                <a16:creationId xmlns:a16="http://schemas.microsoft.com/office/drawing/2014/main" id="{97EF3F2B-7CBA-C8E2-4D5F-37C8F9D3B567}"/>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ここまでの学びとして、大量構築状態となったときに、分析改善から次のターゲットを決めて行く</a:t>
            </a:r>
            <a:r>
              <a:rPr lang="en-US" altLang="ja-JP" sz="1600" kern="0" err="1"/>
              <a:t>PDCA</a:t>
            </a:r>
            <a:r>
              <a:rPr lang="ja-JP" altLang="en-US" sz="1600" kern="0"/>
              <a:t>サイクルが必要では無いか、</a:t>
            </a:r>
            <a:endParaRPr lang="en-US" altLang="ja-JP" sz="1600" kern="0"/>
          </a:p>
          <a:p>
            <a:pPr marL="0" indent="0"/>
            <a:r>
              <a:rPr lang="ja-JP" altLang="en-US" sz="1600" kern="0"/>
              <a:t>　　と想定している。</a:t>
            </a:r>
            <a:endParaRPr lang="en-US" altLang="ja-JP" sz="1600" kern="0"/>
          </a:p>
          <a:p>
            <a:pPr marL="285750" indent="-285750">
              <a:buFont typeface="Arial" panose="020B0604020202020204" pitchFamily="34" charset="0"/>
              <a:buChar char="•"/>
            </a:pPr>
            <a:r>
              <a:rPr lang="ja-JP" altLang="en-US" sz="1600" kern="0"/>
              <a:t>業務やシステムのデータ管理や分析・改善をプロセスとして組み込むため、この管理の仕組みを取り込みたい。</a:t>
            </a:r>
            <a:endParaRPr lang="en-US" altLang="ja-JP" sz="1600" kern="0"/>
          </a:p>
          <a:p>
            <a:pPr marL="0" indent="0"/>
            <a:r>
              <a:rPr lang="ja-JP" altLang="en-US" sz="1600" kern="0"/>
              <a:t>　　</a:t>
            </a:r>
            <a:r>
              <a:rPr lang="en-US" altLang="ja-JP" sz="1600" kern="0"/>
              <a:t>‐</a:t>
            </a:r>
            <a:r>
              <a:rPr lang="ja-JP" altLang="en-US" sz="1600" kern="0"/>
              <a:t>有識者の知見が必要になるため、</a:t>
            </a:r>
            <a:r>
              <a:rPr lang="en-US" altLang="ja-JP" sz="1600" kern="0" err="1"/>
              <a:t>LinkX</a:t>
            </a:r>
            <a:r>
              <a:rPr lang="ja-JP" altLang="en-US" sz="1600" kern="0"/>
              <a:t>社と協業したいと考えており、来週詳細持ち込み予定。</a:t>
            </a:r>
            <a:endParaRPr lang="en-US" altLang="ja-JP" sz="1600" kern="0"/>
          </a:p>
        </p:txBody>
      </p:sp>
      <p:sp>
        <p:nvSpPr>
          <p:cNvPr id="65" name="四角形: 角を丸くする 64">
            <a:extLst>
              <a:ext uri="{FF2B5EF4-FFF2-40B4-BE49-F238E27FC236}">
                <a16:creationId xmlns:a16="http://schemas.microsoft.com/office/drawing/2014/main" id="{C3E82773-5850-46F6-A11B-F60152724DA9}"/>
              </a:ext>
            </a:extLst>
          </p:cNvPr>
          <p:cNvSpPr/>
          <p:nvPr/>
        </p:nvSpPr>
        <p:spPr>
          <a:xfrm>
            <a:off x="1077850" y="2231909"/>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p>
        </p:txBody>
      </p:sp>
      <p:sp>
        <p:nvSpPr>
          <p:cNvPr id="66" name="四角形: 角を丸くする 65">
            <a:extLst>
              <a:ext uri="{FF2B5EF4-FFF2-40B4-BE49-F238E27FC236}">
                <a16:creationId xmlns:a16="http://schemas.microsoft.com/office/drawing/2014/main" id="{D98934AB-A96A-3704-1A30-C5F1F179C2CF}"/>
              </a:ext>
            </a:extLst>
          </p:cNvPr>
          <p:cNvSpPr/>
          <p:nvPr/>
        </p:nvSpPr>
        <p:spPr>
          <a:xfrm>
            <a:off x="6259450" y="2231908"/>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67" name="四角形: 角を丸くする 66">
            <a:extLst>
              <a:ext uri="{FF2B5EF4-FFF2-40B4-BE49-F238E27FC236}">
                <a16:creationId xmlns:a16="http://schemas.microsoft.com/office/drawing/2014/main" id="{1A59E068-E6F5-347F-1826-4EB67CD61790}"/>
              </a:ext>
            </a:extLst>
          </p:cNvPr>
          <p:cNvSpPr/>
          <p:nvPr/>
        </p:nvSpPr>
        <p:spPr>
          <a:xfrm>
            <a:off x="10778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分析・改善領域</a:t>
            </a:r>
          </a:p>
        </p:txBody>
      </p:sp>
      <p:sp>
        <p:nvSpPr>
          <p:cNvPr id="69" name="四角形: 角を丸くする 68">
            <a:extLst>
              <a:ext uri="{FF2B5EF4-FFF2-40B4-BE49-F238E27FC236}">
                <a16:creationId xmlns:a16="http://schemas.microsoft.com/office/drawing/2014/main" id="{1AA8AF07-BFAF-B53D-8237-D67B0A9F4FF8}"/>
              </a:ext>
            </a:extLst>
          </p:cNvPr>
          <p:cNvSpPr/>
          <p:nvPr/>
        </p:nvSpPr>
        <p:spPr>
          <a:xfrm>
            <a:off x="62594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データ・アセット領域</a:t>
            </a:r>
          </a:p>
        </p:txBody>
      </p:sp>
      <p:sp>
        <p:nvSpPr>
          <p:cNvPr id="49" name="矢印: 環状 48">
            <a:extLst>
              <a:ext uri="{FF2B5EF4-FFF2-40B4-BE49-F238E27FC236}">
                <a16:creationId xmlns:a16="http://schemas.microsoft.com/office/drawing/2014/main" id="{D8A0AA84-0776-D21C-046A-6A4292A0099F}"/>
              </a:ext>
            </a:extLst>
          </p:cNvPr>
          <p:cNvSpPr/>
          <p:nvPr/>
        </p:nvSpPr>
        <p:spPr bwMode="auto">
          <a:xfrm rot="16200000">
            <a:off x="4755397" y="2959306"/>
            <a:ext cx="2868962" cy="2868962"/>
          </a:xfrm>
          <a:prstGeom prst="circularArrow">
            <a:avLst>
              <a:gd name="adj1" fmla="val 12020"/>
              <a:gd name="adj2" fmla="val 1142319"/>
              <a:gd name="adj3" fmla="val 20016622"/>
              <a:gd name="adj4" fmla="val 21161829"/>
              <a:gd name="adj5" fmla="val 12500"/>
            </a:avLst>
          </a:prstGeom>
          <a:solidFill>
            <a:srgbClr val="7F7F7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46DFC4BD-EF65-079F-04E4-5B1E64CC50B3}"/>
              </a:ext>
            </a:extLst>
          </p:cNvPr>
          <p:cNvGrpSpPr/>
          <p:nvPr/>
        </p:nvGrpSpPr>
        <p:grpSpPr>
          <a:xfrm>
            <a:off x="5663106" y="3686702"/>
            <a:ext cx="1054523" cy="1338773"/>
            <a:chOff x="5569228" y="3244452"/>
            <a:chExt cx="1054523" cy="1338773"/>
          </a:xfrm>
        </p:grpSpPr>
        <p:sp>
          <p:nvSpPr>
            <p:cNvPr id="74" name="弦 73">
              <a:extLst>
                <a:ext uri="{FF2B5EF4-FFF2-40B4-BE49-F238E27FC236}">
                  <a16:creationId xmlns:a16="http://schemas.microsoft.com/office/drawing/2014/main" id="{CF9C814A-0245-C966-8468-19A792A61BBA}"/>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5F8687A8-3277-841F-9379-5295561BA6F9}"/>
                </a:ext>
              </a:extLst>
            </p:cNvPr>
            <p:cNvSpPr/>
            <p:nvPr/>
          </p:nvSpPr>
          <p:spPr bwMode="auto">
            <a:xfrm rot="10800000">
              <a:off x="5709351"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AD4C1AA1-E681-C005-F8E7-664A813E0F47}"/>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306B09A6-563B-4F93-1DBB-09EDA78938DA}"/>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sp>
        <p:nvSpPr>
          <p:cNvPr id="5" name="テキスト ボックス 4">
            <a:extLst>
              <a:ext uri="{FF2B5EF4-FFF2-40B4-BE49-F238E27FC236}">
                <a16:creationId xmlns:a16="http://schemas.microsoft.com/office/drawing/2014/main" id="{E9AFB8B3-A342-23F9-71D3-CDC33CAEB7F2}"/>
              </a:ext>
            </a:extLst>
          </p:cNvPr>
          <p:cNvSpPr txBox="1"/>
          <p:nvPr/>
        </p:nvSpPr>
        <p:spPr bwMode="auto">
          <a:xfrm>
            <a:off x="1514076" y="2832443"/>
            <a:ext cx="4170005" cy="1384995"/>
          </a:xfrm>
          <a:prstGeom prst="rect">
            <a:avLst/>
          </a:prstGeom>
          <a:noFill/>
          <a:ln w="9525">
            <a:noFill/>
            <a:miter lim="800000"/>
            <a:headEnd/>
            <a:tailEnd/>
          </a:ln>
        </p:spPr>
        <p:txBody>
          <a:bodyPr wrap="square" rtlCol="0">
            <a:spAutoFit/>
          </a:bodyPr>
          <a:lstStyle/>
          <a:p>
            <a:pPr>
              <a:defRPr/>
            </a:pP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エージェント対象業務を増やしていく</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BPS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経理：</a:t>
            </a: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財務：標準プロセス関連の業務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顧客管理：マスター登録・名寄せ関連の業務</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法務：ナレッジ検索関連の業務</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51" name="テキスト ボックス 50">
            <a:extLst>
              <a:ext uri="{FF2B5EF4-FFF2-40B4-BE49-F238E27FC236}">
                <a16:creationId xmlns:a16="http://schemas.microsoft.com/office/drawing/2014/main" id="{E92D9963-601E-DB30-5E6D-03112F528266}"/>
              </a:ext>
            </a:extLst>
          </p:cNvPr>
          <p:cNvSpPr txBox="1"/>
          <p:nvPr/>
        </p:nvSpPr>
        <p:spPr bwMode="auto">
          <a:xfrm>
            <a:off x="7256243" y="2824592"/>
            <a:ext cx="4170005" cy="1384995"/>
          </a:xfrm>
          <a:prstGeom prst="rect">
            <a:avLst/>
          </a:prstGeom>
          <a:noFill/>
          <a:ln w="9525">
            <a:noFill/>
            <a:miter lim="800000"/>
            <a:headEnd/>
            <a:tailEnd/>
          </a:ln>
        </p:spPr>
        <p:txBody>
          <a:bodyPr wrap="square" rtlCol="0">
            <a:spAutoFit/>
          </a:bodyPr>
          <a:lstStyle/>
          <a:p>
            <a:pPr>
              <a:defRPr/>
            </a:pP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n8n×Azure</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サービスによる</a:t>
            </a: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エージェントを増やしていく</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マスター登録・名寄せ関連の業務エージェント</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ナレッジ検索関連の業務エージェント</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pic>
        <p:nvPicPr>
          <p:cNvPr id="53" name="グラフィックス 52" descr="ワークフロー 枠線">
            <a:extLst>
              <a:ext uri="{FF2B5EF4-FFF2-40B4-BE49-F238E27FC236}">
                <a16:creationId xmlns:a16="http://schemas.microsoft.com/office/drawing/2014/main" id="{46CE2C2D-6807-1F5E-CA40-47F22ED524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4276" y="2297697"/>
            <a:ext cx="579600" cy="579600"/>
          </a:xfrm>
          <a:prstGeom prst="rect">
            <a:avLst/>
          </a:prstGeom>
        </p:spPr>
      </p:pic>
      <p:pic>
        <p:nvPicPr>
          <p:cNvPr id="61" name="グラフィックス 60" descr="ロボット 枠線">
            <a:extLst>
              <a:ext uri="{FF2B5EF4-FFF2-40B4-BE49-F238E27FC236}">
                <a16:creationId xmlns:a16="http://schemas.microsoft.com/office/drawing/2014/main" id="{AB81C9C5-CF48-9B0B-1DAB-F913D6662B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7529" y="2297697"/>
            <a:ext cx="579600" cy="579600"/>
          </a:xfrm>
          <a:prstGeom prst="rect">
            <a:avLst/>
          </a:prstGeom>
        </p:spPr>
      </p:pic>
      <p:pic>
        <p:nvPicPr>
          <p:cNvPr id="63" name="グラフィックス 62" descr="データベース 枠線">
            <a:extLst>
              <a:ext uri="{FF2B5EF4-FFF2-40B4-BE49-F238E27FC236}">
                <a16:creationId xmlns:a16="http://schemas.microsoft.com/office/drawing/2014/main" id="{DE605D1A-83AE-104D-1609-BF721E26B8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86678" y="4447184"/>
            <a:ext cx="579600" cy="579600"/>
          </a:xfrm>
          <a:prstGeom prst="rect">
            <a:avLst/>
          </a:prstGeom>
        </p:spPr>
      </p:pic>
      <p:pic>
        <p:nvPicPr>
          <p:cNvPr id="71" name="グラフィックス 70" descr="棒グラフ (上昇) 枠線">
            <a:extLst>
              <a:ext uri="{FF2B5EF4-FFF2-40B4-BE49-F238E27FC236}">
                <a16:creationId xmlns:a16="http://schemas.microsoft.com/office/drawing/2014/main" id="{E14A68C6-3DC1-D4BD-8776-E78C81B059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86489" y="4447184"/>
            <a:ext cx="579600" cy="579600"/>
          </a:xfrm>
          <a:prstGeom prst="rect">
            <a:avLst/>
          </a:prstGeom>
          <a:scene3d>
            <a:camera prst="orthographicFront">
              <a:rot lat="0" lon="10800000" rev="0"/>
            </a:camera>
            <a:lightRig rig="threePt" dir="t"/>
          </a:scene3d>
        </p:spPr>
      </p:pic>
      <p:sp>
        <p:nvSpPr>
          <p:cNvPr id="72" name="テキスト ボックス 71">
            <a:extLst>
              <a:ext uri="{FF2B5EF4-FFF2-40B4-BE49-F238E27FC236}">
                <a16:creationId xmlns:a16="http://schemas.microsoft.com/office/drawing/2014/main" id="{8824B345-4DA7-F06E-3759-6C6DCADEC0DE}"/>
              </a:ext>
            </a:extLst>
          </p:cNvPr>
          <p:cNvSpPr txBox="1"/>
          <p:nvPr/>
        </p:nvSpPr>
        <p:spPr bwMode="auto">
          <a:xfrm>
            <a:off x="1514076" y="4965309"/>
            <a:ext cx="4170005" cy="1384995"/>
          </a:xfrm>
          <a:prstGeom prst="rect">
            <a:avLst/>
          </a:prstGeom>
          <a:noFill/>
          <a:ln w="9525">
            <a:noFill/>
            <a:miter lim="800000"/>
            <a:headEnd/>
            <a:tailEnd/>
          </a:ln>
        </p:spPr>
        <p:txBody>
          <a:bodyPr wrap="square" rtlCol="0">
            <a:spAutoFit/>
          </a:bodyPr>
          <a:lstStyle/>
          <a:p>
            <a:pPr>
              <a:defRPr/>
            </a:pP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大量のデータの可視化・分析を行い業務改善を進める</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請求・支払業務分析・改善</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領域の業務分析・改善</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標準プロセス関連の業務分析・改善</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マスター登録・名寄せ関連の業務分析・改善</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ナレッジ検索関連の業務分析・改善</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3" name="テキスト ボックス 72">
            <a:extLst>
              <a:ext uri="{FF2B5EF4-FFF2-40B4-BE49-F238E27FC236}">
                <a16:creationId xmlns:a16="http://schemas.microsoft.com/office/drawing/2014/main" id="{98F597E0-56C5-B1BD-738D-F5995290A9A2}"/>
              </a:ext>
            </a:extLst>
          </p:cNvPr>
          <p:cNvSpPr txBox="1"/>
          <p:nvPr/>
        </p:nvSpPr>
        <p:spPr bwMode="auto">
          <a:xfrm>
            <a:off x="6695676" y="4965309"/>
            <a:ext cx="4170005" cy="1384995"/>
          </a:xfrm>
          <a:prstGeom prst="rect">
            <a:avLst/>
          </a:prstGeom>
          <a:noFill/>
          <a:ln w="9525">
            <a:noFill/>
            <a:miter lim="800000"/>
            <a:headEnd/>
            <a:tailEnd/>
          </a:ln>
        </p:spPr>
        <p:txBody>
          <a:bodyPr wrap="square" rtlCol="0">
            <a:spAutoFit/>
          </a:bodyPr>
          <a:lstStyle/>
          <a:p>
            <a:pPr>
              <a:defRPr/>
            </a:pPr>
            <a:r>
              <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エージェントの数に伴い利活用できるデータを増やしていく</a:t>
            </a:r>
            <a:endParaRPr lang="en-US" altLang="ja-JP" sz="1200" b="1" u="sng"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請求・支払業務データ</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領域の業務データ</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標準プロセス関連の業務データ</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マスター登録・名寄せ関連の業務データ</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ナレッジ検索関連の業務データ</a:t>
            </a:r>
            <a:b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6" name="四角形: 角を丸くする 5">
            <a:extLst>
              <a:ext uri="{FF2B5EF4-FFF2-40B4-BE49-F238E27FC236}">
                <a16:creationId xmlns:a16="http://schemas.microsoft.com/office/drawing/2014/main" id="{D387382A-835B-1B94-17B4-7D2DE54310CF}"/>
              </a:ext>
            </a:extLst>
          </p:cNvPr>
          <p:cNvSpPr/>
          <p:nvPr/>
        </p:nvSpPr>
        <p:spPr>
          <a:xfrm>
            <a:off x="980784" y="4356088"/>
            <a:ext cx="10418188" cy="2199577"/>
          </a:xfrm>
          <a:prstGeom prst="roundRect">
            <a:avLst>
              <a:gd name="adj" fmla="val 0"/>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7714BC30-3D21-1B3C-7C9A-3D632EC52C61}"/>
              </a:ext>
            </a:extLst>
          </p:cNvPr>
          <p:cNvSpPr txBox="1"/>
          <p:nvPr/>
        </p:nvSpPr>
        <p:spPr bwMode="auto">
          <a:xfrm>
            <a:off x="5225899" y="3433942"/>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P</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8" name="テキスト ボックス 7">
            <a:extLst>
              <a:ext uri="{FF2B5EF4-FFF2-40B4-BE49-F238E27FC236}">
                <a16:creationId xmlns:a16="http://schemas.microsoft.com/office/drawing/2014/main" id="{415A1A27-5BD4-22D8-98DC-23B90B1692FE}"/>
              </a:ext>
            </a:extLst>
          </p:cNvPr>
          <p:cNvSpPr txBox="1"/>
          <p:nvPr/>
        </p:nvSpPr>
        <p:spPr bwMode="auto">
          <a:xfrm>
            <a:off x="6765130" y="3385135"/>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D</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9" name="テキスト ボックス 8">
            <a:extLst>
              <a:ext uri="{FF2B5EF4-FFF2-40B4-BE49-F238E27FC236}">
                <a16:creationId xmlns:a16="http://schemas.microsoft.com/office/drawing/2014/main" id="{98820146-1EC4-2B6F-DB5C-D447597C3EC7}"/>
              </a:ext>
            </a:extLst>
          </p:cNvPr>
          <p:cNvSpPr txBox="1"/>
          <p:nvPr/>
        </p:nvSpPr>
        <p:spPr bwMode="auto">
          <a:xfrm>
            <a:off x="5929141" y="5117169"/>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C</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10" name="テキスト ボックス 9">
            <a:extLst>
              <a:ext uri="{FF2B5EF4-FFF2-40B4-BE49-F238E27FC236}">
                <a16:creationId xmlns:a16="http://schemas.microsoft.com/office/drawing/2014/main" id="{FE04C6AB-F7DC-7B12-F052-42788F8C0671}"/>
              </a:ext>
            </a:extLst>
          </p:cNvPr>
          <p:cNvSpPr txBox="1"/>
          <p:nvPr/>
        </p:nvSpPr>
        <p:spPr bwMode="auto">
          <a:xfrm>
            <a:off x="5157184" y="4501768"/>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A</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Tree>
    <p:extLst>
      <p:ext uri="{BB962C8B-B14F-4D97-AF65-F5344CB8AC3E}">
        <p14:creationId xmlns:p14="http://schemas.microsoft.com/office/powerpoint/2010/main" val="610286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7DC8-85D0-00BA-398B-6FA36A7B519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E93F208-056F-B167-88BB-6BC251D94339}"/>
              </a:ext>
            </a:extLst>
          </p:cNvPr>
          <p:cNvSpPr>
            <a:spLocks noGrp="1"/>
          </p:cNvSpPr>
          <p:nvPr>
            <p:ph type="title"/>
          </p:nvPr>
        </p:nvSpPr>
        <p:spPr/>
        <p:txBody>
          <a:bodyPr/>
          <a:lstStyle/>
          <a:p>
            <a:r>
              <a:rPr lang="ja-JP" altLang="en-US"/>
              <a:t>参考：</a:t>
            </a:r>
            <a:r>
              <a:rPr kumimoji="1" lang="ja-JP" altLang="en-US"/>
              <a:t>パートナー実力値</a:t>
            </a:r>
          </a:p>
        </p:txBody>
      </p:sp>
      <p:sp>
        <p:nvSpPr>
          <p:cNvPr id="4" name="スライド番号プレースホルダー 3">
            <a:extLst>
              <a:ext uri="{FF2B5EF4-FFF2-40B4-BE49-F238E27FC236}">
                <a16:creationId xmlns:a16="http://schemas.microsoft.com/office/drawing/2014/main" id="{A4F74F1B-6A84-2D77-EB3B-3A1FFA57193C}"/>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10</a:t>
            </a:fld>
            <a:endParaRPr lang="en-US" altLang="ja-JP"/>
          </a:p>
        </p:txBody>
      </p:sp>
      <p:sp>
        <p:nvSpPr>
          <p:cNvPr id="2" name="コンテンツ プレースホルダー 5">
            <a:extLst>
              <a:ext uri="{FF2B5EF4-FFF2-40B4-BE49-F238E27FC236}">
                <a16:creationId xmlns:a16="http://schemas.microsoft.com/office/drawing/2014/main" id="{AE42A6DA-D26B-5893-A4B5-0DD84E43D75E}"/>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ここまで</a:t>
            </a:r>
            <a:r>
              <a:rPr lang="en-US" altLang="ja-JP" sz="1600" kern="0"/>
              <a:t>NRI</a:t>
            </a:r>
            <a:r>
              <a:rPr lang="ja-JP" altLang="en-US" sz="1600" kern="0"/>
              <a:t>（ラボ）、</a:t>
            </a:r>
            <a:r>
              <a:rPr lang="en-US" altLang="ja-JP" sz="1600" kern="0" err="1"/>
              <a:t>LinkX</a:t>
            </a:r>
            <a:r>
              <a:rPr lang="ja-JP" altLang="en-US" sz="1600" kern="0"/>
              <a:t>社と協業してきたが、実力値は下記の通り。</a:t>
            </a:r>
            <a:endParaRPr lang="en-US" altLang="ja-JP" sz="1600" kern="0"/>
          </a:p>
          <a:p>
            <a:pPr marL="285750" indent="-285750">
              <a:buFont typeface="Arial" panose="020B0604020202020204" pitchFamily="34" charset="0"/>
              <a:buChar char="•"/>
            </a:pPr>
            <a:r>
              <a:rPr lang="ja-JP" altLang="en-US" sz="1600" kern="0"/>
              <a:t>みずほ銀行や</a:t>
            </a:r>
            <a:r>
              <a:rPr lang="en-US" altLang="ja-JP" sz="1600" kern="0"/>
              <a:t>Softbank</a:t>
            </a:r>
            <a:r>
              <a:rPr lang="ja-JP" altLang="en-US" sz="1600" kern="0"/>
              <a:t>で実績がある</a:t>
            </a:r>
            <a:r>
              <a:rPr lang="en-US" altLang="ja-JP" sz="1600" kern="0"/>
              <a:t>AI</a:t>
            </a:r>
            <a:r>
              <a:rPr lang="ja-JP" altLang="en-US" sz="1600" kern="0"/>
              <a:t>業界の注目スタートアップの</a:t>
            </a:r>
            <a:r>
              <a:rPr lang="en-US" altLang="ja-JP" sz="1600" kern="0" err="1"/>
              <a:t>LinkX</a:t>
            </a:r>
            <a:r>
              <a:rPr lang="en-US" altLang="ja-JP" sz="1600" kern="0"/>
              <a:t> Japan</a:t>
            </a:r>
            <a:r>
              <a:rPr lang="ja-JP" altLang="en-US" sz="1600" kern="0"/>
              <a:t>社に軍配が上がっている状況。</a:t>
            </a:r>
            <a:br>
              <a:rPr lang="en-US" altLang="ja-JP" sz="1600" kern="0"/>
            </a:br>
            <a:r>
              <a:rPr lang="en-US" altLang="ja-JP" sz="1200" kern="0">
                <a:hlinkClick r:id="rId3"/>
              </a:rPr>
              <a:t>※</a:t>
            </a:r>
            <a:r>
              <a:rPr lang="ja-JP" altLang="en-US" sz="1100" kern="0">
                <a:hlinkClick r:id="rId3"/>
              </a:rPr>
              <a:t>みずほ銀行との記事</a:t>
            </a:r>
            <a:br>
              <a:rPr lang="en-US" altLang="ja-JP" sz="1100" kern="0"/>
            </a:br>
            <a:r>
              <a:rPr lang="en-US" altLang="ja-JP" sz="1100" kern="0">
                <a:hlinkClick r:id="rId4"/>
              </a:rPr>
              <a:t>※Softbank</a:t>
            </a:r>
            <a:r>
              <a:rPr lang="ja-JP" altLang="en-US" sz="1100" kern="0">
                <a:hlinkClick r:id="rId4"/>
              </a:rPr>
              <a:t>との記事</a:t>
            </a:r>
            <a:endParaRPr lang="en-US" altLang="ja-JP" sz="1100" kern="0"/>
          </a:p>
        </p:txBody>
      </p:sp>
      <p:graphicFrame>
        <p:nvGraphicFramePr>
          <p:cNvPr id="7" name="表 6">
            <a:extLst>
              <a:ext uri="{FF2B5EF4-FFF2-40B4-BE49-F238E27FC236}">
                <a16:creationId xmlns:a16="http://schemas.microsoft.com/office/drawing/2014/main" id="{677F904F-E30C-84AB-25C7-7365405CFC7E}"/>
              </a:ext>
            </a:extLst>
          </p:cNvPr>
          <p:cNvGraphicFramePr>
            <a:graphicFrameLocks noGrp="1"/>
          </p:cNvGraphicFramePr>
          <p:nvPr>
            <p:extLst>
              <p:ext uri="{D42A27DB-BD31-4B8C-83A1-F6EECF244321}">
                <p14:modId xmlns:p14="http://schemas.microsoft.com/office/powerpoint/2010/main" val="3814239675"/>
              </p:ext>
            </p:extLst>
          </p:nvPr>
        </p:nvGraphicFramePr>
        <p:xfrm>
          <a:off x="143344" y="1621051"/>
          <a:ext cx="11905309" cy="5084546"/>
        </p:xfrm>
        <a:graphic>
          <a:graphicData uri="http://schemas.openxmlformats.org/drawingml/2006/table">
            <a:tbl>
              <a:tblPr firstRow="1" bandRow="1">
                <a:tableStyleId>{5C22544A-7EE6-4342-B048-85BDC9FD1C3A}</a:tableStyleId>
              </a:tblPr>
              <a:tblGrid>
                <a:gridCol w="440128">
                  <a:extLst>
                    <a:ext uri="{9D8B030D-6E8A-4147-A177-3AD203B41FA5}">
                      <a16:colId xmlns:a16="http://schemas.microsoft.com/office/drawing/2014/main" val="3651524713"/>
                    </a:ext>
                  </a:extLst>
                </a:gridCol>
                <a:gridCol w="1277092">
                  <a:extLst>
                    <a:ext uri="{9D8B030D-6E8A-4147-A177-3AD203B41FA5}">
                      <a16:colId xmlns:a16="http://schemas.microsoft.com/office/drawing/2014/main" val="2710146970"/>
                    </a:ext>
                  </a:extLst>
                </a:gridCol>
                <a:gridCol w="2635917">
                  <a:extLst>
                    <a:ext uri="{9D8B030D-6E8A-4147-A177-3AD203B41FA5}">
                      <a16:colId xmlns:a16="http://schemas.microsoft.com/office/drawing/2014/main" val="2725638347"/>
                    </a:ext>
                  </a:extLst>
                </a:gridCol>
                <a:gridCol w="898525">
                  <a:extLst>
                    <a:ext uri="{9D8B030D-6E8A-4147-A177-3AD203B41FA5}">
                      <a16:colId xmlns:a16="http://schemas.microsoft.com/office/drawing/2014/main" val="4103550077"/>
                    </a:ext>
                  </a:extLst>
                </a:gridCol>
                <a:gridCol w="898525">
                  <a:extLst>
                    <a:ext uri="{9D8B030D-6E8A-4147-A177-3AD203B41FA5}">
                      <a16:colId xmlns:a16="http://schemas.microsoft.com/office/drawing/2014/main" val="3744954200"/>
                    </a:ext>
                  </a:extLst>
                </a:gridCol>
                <a:gridCol w="5755122">
                  <a:extLst>
                    <a:ext uri="{9D8B030D-6E8A-4147-A177-3AD203B41FA5}">
                      <a16:colId xmlns:a16="http://schemas.microsoft.com/office/drawing/2014/main" val="3999794500"/>
                    </a:ext>
                  </a:extLst>
                </a:gridCol>
              </a:tblGrid>
              <a:tr h="244901">
                <a:tc>
                  <a:txBody>
                    <a:bodyPr/>
                    <a:lstStyle/>
                    <a:p>
                      <a:pPr algn="ctr"/>
                      <a:r>
                        <a:rPr kumimoji="1" lang="en-US" altLang="ja-JP" sz="1200" b="1">
                          <a:solidFill>
                            <a:schemeClr val="bg1"/>
                          </a:solidFill>
                          <a:latin typeface="Meiryo UI"/>
                          <a:ea typeface="Meiryo UI"/>
                        </a:rPr>
                        <a:t>#</a:t>
                      </a:r>
                      <a:endParaRPr kumimoji="1" lang="ja-JP" altLang="en-US" sz="1200" b="1">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200" b="1">
                          <a:solidFill>
                            <a:schemeClr val="bg1"/>
                          </a:solidFill>
                          <a:latin typeface="Meiryo UI"/>
                          <a:ea typeface="Meiryo UI"/>
                        </a:rPr>
                        <a:t>領域</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200" b="1">
                          <a:solidFill>
                            <a:schemeClr val="bg1"/>
                          </a:solidFill>
                          <a:latin typeface="Meiryo UI"/>
                          <a:ea typeface="Meiryo UI"/>
                        </a:rPr>
                        <a:t>評価項目</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200" b="1">
                          <a:solidFill>
                            <a:schemeClr val="bg1"/>
                          </a:solidFill>
                          <a:latin typeface="Meiryo UI"/>
                          <a:ea typeface="Meiryo UI"/>
                        </a:rPr>
                        <a:t>NRI</a:t>
                      </a:r>
                      <a:endParaRPr kumimoji="1" lang="ja-JP" altLang="en-US" sz="1200" b="1">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200" b="1" err="1">
                          <a:solidFill>
                            <a:schemeClr val="bg1"/>
                          </a:solidFill>
                          <a:latin typeface="Meiryo UI"/>
                          <a:ea typeface="Meiryo UI"/>
                        </a:rPr>
                        <a:t>LinkX</a:t>
                      </a:r>
                      <a:endParaRPr kumimoji="1" lang="ja-JP" altLang="en-US" sz="1200" b="1">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200" b="1">
                          <a:solidFill>
                            <a:schemeClr val="bg1"/>
                          </a:solidFill>
                          <a:latin typeface="Meiryo UI"/>
                          <a:ea typeface="Meiryo UI"/>
                        </a:rPr>
                        <a:t>補足</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98722112"/>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3">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a:t>
                      </a:r>
                      <a:b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アーキテクチャ</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の高度実装力</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6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：基本的な実装力は問題ないが、開発担当が</a:t>
                      </a: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年目程度の印象。</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100" kern="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：自社の運用や開発実績など、実務適用に必要なポイントを詳しく説明できる水準。</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9850342"/>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AI/LLM</a:t>
                      </a: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エンジニアリング力</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ja-JP" altLang="ja-JP" sz="110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600" kern="0" noProof="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ja-JP" altLang="ja-JP" sz="1600" kern="0" noProof="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：基本的な知見はありそうだが、目新しい</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の独自知見はなさそう。</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や</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Google</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含めて</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の最新知見をキャッチできる仕組みがあり、独自ノウハウあり。</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45837"/>
                  </a:ext>
                </a:extLst>
              </a:tr>
              <a:tr h="360677">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l" defTabSz="914400" rtl="0" eaLnBrk="1" fontAlgn="base" latinLnBrk="0" hangingPunct="1">
                        <a:lnSpc>
                          <a:spcPct val="100000"/>
                        </a:lnSpc>
                        <a:spcBef>
                          <a:spcPct val="0"/>
                        </a:spcBef>
                        <a:spcAft>
                          <a:spcPct val="0"/>
                        </a:spcAft>
                        <a:buFont typeface="Arial" panose="020B0604020202020204" pitchFamily="34" charset="0"/>
                        <a:buNone/>
                        <a:tabLst/>
                        <a:defRPr/>
                      </a:pPr>
                      <a:r>
                        <a:rPr kumimoji="1" lang="en-US" altLang="ja-JP" sz="110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10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インフラ設計・構築力</a:t>
                      </a:r>
                      <a:endParaRPr kumimoji="1" 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100" kern="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：インフラは</a:t>
                      </a: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Aibaba</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上に</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を構築しているため、</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の知見はなし。</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含め</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全般のインフラやサービスの知見は非常に高い。</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538163"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a:t>
                      </a: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代表の坂本さんの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Microsoft</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MVP</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rPr>
                        <a:t>プロファイル</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922273"/>
                  </a:ext>
                </a:extLst>
              </a:tr>
              <a:tr h="339461">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データ・アセット</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データベース設計・構築</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6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：基本の設計や構築はできそうだが、</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に適した</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知見は怪しい印象。</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：独自の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のベクトル化の開発実績もあり、</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に適した</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の設計・構築が可能。</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4640100"/>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5</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データ管理システムの設計・構築</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100" kern="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6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エージェントに適したデータ管理システムの構築実績は無し。</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エージェントのデータ管理に特化した独自のシステムを構築・運用の実績あり。</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541338"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6" action="ppaction://hlinksldjump"/>
                        </a:rPr>
                        <a:t>※</a:t>
                      </a: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6" action="ppaction://hlinksldjump"/>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6" action="ppaction://hlinksldjump"/>
                        </a:rPr>
                        <a:t>社の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6" action="ppaction://hlinksldjump"/>
                        </a:rPr>
                        <a:t>R</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6" action="ppaction://hlinksldjump"/>
                        </a:rPr>
                        <a:t>構築実績</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6442347"/>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6</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ガバナンス・監査</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：大手？の顧客に</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を導入しているため、機密データの管理はできていそうな印象。</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：顧客環境に</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の構築を行った実績がないため、</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側できちんと推進する必要あり。</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8229400"/>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7</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分析・改善</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データの可視化・分析</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1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のデータベース構造の理解まではできていない印象。</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：独自の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データ可視化の仕組みやダッシュボード開発の実績あり。</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9069030"/>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8</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4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業務データの可視化・分析</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en-US" altLang="ja-JP" sz="11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：一般的な</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BI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ツール構築や開発、および業務に必要なスキーマ定義の実績などはある認識。</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：同上</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1593056"/>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9</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2">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その他</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コミュニケーション</a:t>
                      </a:r>
                      <a:endPar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：開発者が中国の方しかいない？ということで内部や外部でミスコミュニケーションが発生。</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：代表の坂本さんとは問題なくやり取りができ、意思疎通は全く問題ない印象。</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5746034"/>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開発パフォーマンス</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100" kern="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100" kern="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600" kern="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600" kern="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との環境差異もあるが、依頼された内容以外の実装も行っており、開発速度は遅い。</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100" b="0" i="0" u="none" strike="noStrike" kern="0" cap="none" spc="0" normalizeH="0" baseline="0" noProof="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：依頼された内容以上の結果を出し、</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独自の</a:t>
                      </a:r>
                      <a:r>
                        <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環境での開発も納期通り必達。</a:t>
                      </a:r>
                      <a:endParaRPr kumimoji="1" lang="en-US" altLang="ja-JP" sz="11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17792"/>
                  </a:ext>
                </a:extLst>
              </a:tr>
            </a:tbl>
          </a:graphicData>
        </a:graphic>
      </p:graphicFrame>
      <p:sp>
        <p:nvSpPr>
          <p:cNvPr id="10" name="テキスト ボックス 9">
            <a:extLst>
              <a:ext uri="{FF2B5EF4-FFF2-40B4-BE49-F238E27FC236}">
                <a16:creationId xmlns:a16="http://schemas.microsoft.com/office/drawing/2014/main" id="{288A599B-0175-677B-4670-7D749292933D}"/>
              </a:ext>
            </a:extLst>
          </p:cNvPr>
          <p:cNvSpPr txBox="1"/>
          <p:nvPr/>
        </p:nvSpPr>
        <p:spPr bwMode="auto">
          <a:xfrm>
            <a:off x="6096000" y="1288960"/>
            <a:ext cx="5952653" cy="276999"/>
          </a:xfrm>
          <a:prstGeom prst="rect">
            <a:avLst/>
          </a:prstGeom>
          <a:noFill/>
          <a:ln w="9525">
            <a:noFill/>
            <a:miter lim="800000"/>
            <a:headEnd/>
            <a:tailEnd/>
          </a:ln>
        </p:spPr>
        <p:txBody>
          <a:bodyPr wrap="square" rtlCol="0">
            <a:spAutoFit/>
          </a:bodyPr>
          <a:lstStyle/>
          <a:p>
            <a:pPr>
              <a:defRPr/>
            </a:pP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凡例　</a:t>
            </a:r>
            <a:r>
              <a:rPr lang="ja-JP" altLang="en-US" sz="1200" kern="0">
                <a:solidFill>
                  <a:srgbClr val="0065BD"/>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：期待以上　〇：期待通り（</a:t>
            </a:r>
            <a:r>
              <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or</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やや期待外れ）　</a:t>
            </a:r>
            <a:r>
              <a:rPr lang="ja-JP" altLang="en-US" sz="1200" kern="0">
                <a:solidFill>
                  <a:srgbClr val="FF0000"/>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：正確な指示とフォローが必要</a:t>
            </a:r>
            <a:endParaRPr lang="en-US" altLang="ja-JP" sz="12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Tree>
    <p:extLst>
      <p:ext uri="{BB962C8B-B14F-4D97-AF65-F5344CB8AC3E}">
        <p14:creationId xmlns:p14="http://schemas.microsoft.com/office/powerpoint/2010/main" val="2231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82EA0-1AF5-2675-BC11-6EF9D7E326C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AD5C0B2-8742-C418-6491-14EA215FF760}"/>
              </a:ext>
            </a:extLst>
          </p:cNvPr>
          <p:cNvSpPr>
            <a:spLocks noGrp="1"/>
          </p:cNvSpPr>
          <p:nvPr>
            <p:ph type="title"/>
          </p:nvPr>
        </p:nvSpPr>
        <p:spPr/>
        <p:txBody>
          <a:bodyPr/>
          <a:lstStyle/>
          <a:p>
            <a:r>
              <a:rPr lang="ja-JP" altLang="en-US"/>
              <a:t>参考：</a:t>
            </a:r>
            <a:r>
              <a:rPr lang="en-US" altLang="ja-JP" err="1"/>
              <a:t>LinkX</a:t>
            </a:r>
            <a:r>
              <a:rPr lang="en-US" altLang="ja-JP"/>
              <a:t> Japan</a:t>
            </a:r>
            <a:r>
              <a:rPr lang="ja-JP" altLang="en-US"/>
              <a:t>社のノウハウと</a:t>
            </a:r>
            <a:r>
              <a:rPr lang="en-US" altLang="ja-JP"/>
              <a:t>R</a:t>
            </a:r>
            <a:r>
              <a:rPr lang="ja-JP" altLang="en-US"/>
              <a:t>の構築実績</a:t>
            </a:r>
            <a:endParaRPr kumimoji="1" lang="ja-JP" altLang="en-US"/>
          </a:p>
        </p:txBody>
      </p:sp>
      <p:sp>
        <p:nvSpPr>
          <p:cNvPr id="4" name="スライド番号プレースホルダー 3">
            <a:extLst>
              <a:ext uri="{FF2B5EF4-FFF2-40B4-BE49-F238E27FC236}">
                <a16:creationId xmlns:a16="http://schemas.microsoft.com/office/drawing/2014/main" id="{C65798AA-E350-71CE-F96D-3E1328D4E74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11</a:t>
            </a:fld>
            <a:endParaRPr lang="en-US" altLang="ja-JP"/>
          </a:p>
        </p:txBody>
      </p:sp>
      <p:sp>
        <p:nvSpPr>
          <p:cNvPr id="2" name="コンテンツ プレースホルダー 5">
            <a:extLst>
              <a:ext uri="{FF2B5EF4-FFF2-40B4-BE49-F238E27FC236}">
                <a16:creationId xmlns:a16="http://schemas.microsoft.com/office/drawing/2014/main" id="{0A99A915-F921-B312-3F31-754238A3540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err="1"/>
              <a:t>LinkX</a:t>
            </a:r>
            <a:r>
              <a:rPr lang="ja-JP" altLang="en-US" sz="1600" kern="0"/>
              <a:t>社のノウハウと</a:t>
            </a:r>
            <a:r>
              <a:rPr lang="en-US" altLang="ja-JP" sz="1600" kern="0"/>
              <a:t>R</a:t>
            </a:r>
            <a:r>
              <a:rPr lang="ja-JP" altLang="en-US" sz="1600" kern="0"/>
              <a:t>での開発実績は以下の通り。</a:t>
            </a:r>
            <a:endParaRPr lang="en-US" altLang="ja-JP" sz="1600" kern="0"/>
          </a:p>
        </p:txBody>
      </p:sp>
      <p:grpSp>
        <p:nvGrpSpPr>
          <p:cNvPr id="34" name="グループ化 33">
            <a:extLst>
              <a:ext uri="{FF2B5EF4-FFF2-40B4-BE49-F238E27FC236}">
                <a16:creationId xmlns:a16="http://schemas.microsoft.com/office/drawing/2014/main" id="{7C05FD5B-5118-205F-A9A0-548F5DBEEEE2}"/>
              </a:ext>
            </a:extLst>
          </p:cNvPr>
          <p:cNvGrpSpPr/>
          <p:nvPr/>
        </p:nvGrpSpPr>
        <p:grpSpPr>
          <a:xfrm>
            <a:off x="318092" y="1255650"/>
            <a:ext cx="11555816" cy="4712772"/>
            <a:chOff x="444381" y="1255650"/>
            <a:chExt cx="11555816" cy="4712772"/>
          </a:xfrm>
        </p:grpSpPr>
        <p:grpSp>
          <p:nvGrpSpPr>
            <p:cNvPr id="33" name="グループ化 32">
              <a:extLst>
                <a:ext uri="{FF2B5EF4-FFF2-40B4-BE49-F238E27FC236}">
                  <a16:creationId xmlns:a16="http://schemas.microsoft.com/office/drawing/2014/main" id="{9B26BAFC-BEFB-C91A-9EAE-5F2E62FE4B3C}"/>
                </a:ext>
              </a:extLst>
            </p:cNvPr>
            <p:cNvGrpSpPr/>
            <p:nvPr/>
          </p:nvGrpSpPr>
          <p:grpSpPr>
            <a:xfrm>
              <a:off x="8794645" y="1572229"/>
              <a:ext cx="3205552" cy="2063648"/>
              <a:chOff x="8794645" y="1572229"/>
              <a:chExt cx="3205552" cy="2063648"/>
            </a:xfrm>
          </p:grpSpPr>
          <p:pic>
            <p:nvPicPr>
              <p:cNvPr id="5" name="図 4">
                <a:extLst>
                  <a:ext uri="{FF2B5EF4-FFF2-40B4-BE49-F238E27FC236}">
                    <a16:creationId xmlns:a16="http://schemas.microsoft.com/office/drawing/2014/main" id="{B68EC6D8-0F02-524C-E6AD-9D5AD4866FF9}"/>
                  </a:ext>
                </a:extLst>
              </p:cNvPr>
              <p:cNvPicPr>
                <a:picLocks noChangeAspect="1"/>
              </p:cNvPicPr>
              <p:nvPr/>
            </p:nvPicPr>
            <p:blipFill>
              <a:blip r:embed="rId3"/>
              <a:stretch>
                <a:fillRect/>
              </a:stretch>
            </p:blipFill>
            <p:spPr>
              <a:xfrm>
                <a:off x="8794646" y="1572229"/>
                <a:ext cx="3205551" cy="1876733"/>
              </a:xfrm>
              <a:prstGeom prst="rect">
                <a:avLst/>
              </a:prstGeom>
            </p:spPr>
          </p:pic>
          <p:sp>
            <p:nvSpPr>
              <p:cNvPr id="6" name="正方形/長方形 5">
                <a:extLst>
                  <a:ext uri="{FF2B5EF4-FFF2-40B4-BE49-F238E27FC236}">
                    <a16:creationId xmlns:a16="http://schemas.microsoft.com/office/drawing/2014/main" id="{0DD36884-4840-6650-8487-42FCF15C8EEE}"/>
                  </a:ext>
                </a:extLst>
              </p:cNvPr>
              <p:cNvSpPr/>
              <p:nvPr/>
            </p:nvSpPr>
            <p:spPr>
              <a:xfrm>
                <a:off x="8794645" y="3452576"/>
                <a:ext cx="3205551" cy="183301"/>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エージェントのスキーマ管理システム</a:t>
                </a:r>
                <a:endParaRPr kumimoji="0" lang="ja-JP" altLang="en-US" sz="11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32" name="グループ化 31">
              <a:extLst>
                <a:ext uri="{FF2B5EF4-FFF2-40B4-BE49-F238E27FC236}">
                  <a16:creationId xmlns:a16="http://schemas.microsoft.com/office/drawing/2014/main" id="{797119E9-A8DF-A006-8E07-B484EF279F79}"/>
                </a:ext>
              </a:extLst>
            </p:cNvPr>
            <p:cNvGrpSpPr/>
            <p:nvPr/>
          </p:nvGrpSpPr>
          <p:grpSpPr>
            <a:xfrm>
              <a:off x="5105142" y="1572229"/>
              <a:ext cx="3485735" cy="2063648"/>
              <a:chOff x="5105142" y="1572229"/>
              <a:chExt cx="3485735" cy="2063648"/>
            </a:xfrm>
          </p:grpSpPr>
          <p:pic>
            <p:nvPicPr>
              <p:cNvPr id="9" name="図 8">
                <a:extLst>
                  <a:ext uri="{FF2B5EF4-FFF2-40B4-BE49-F238E27FC236}">
                    <a16:creationId xmlns:a16="http://schemas.microsoft.com/office/drawing/2014/main" id="{CB05A685-6FB3-FA6B-5FAD-AAC7E4B5B3A7}"/>
                  </a:ext>
                </a:extLst>
              </p:cNvPr>
              <p:cNvPicPr>
                <a:picLocks noChangeAspect="1"/>
              </p:cNvPicPr>
              <p:nvPr/>
            </p:nvPicPr>
            <p:blipFill>
              <a:blip r:embed="rId4"/>
              <a:stretch>
                <a:fillRect/>
              </a:stretch>
            </p:blipFill>
            <p:spPr>
              <a:xfrm>
                <a:off x="5126397" y="1572229"/>
                <a:ext cx="3464479" cy="1862158"/>
              </a:xfrm>
              <a:prstGeom prst="rect">
                <a:avLst/>
              </a:prstGeom>
            </p:spPr>
          </p:pic>
          <p:sp>
            <p:nvSpPr>
              <p:cNvPr id="10" name="正方形/長方形 9">
                <a:extLst>
                  <a:ext uri="{FF2B5EF4-FFF2-40B4-BE49-F238E27FC236}">
                    <a16:creationId xmlns:a16="http://schemas.microsoft.com/office/drawing/2014/main" id="{E2C19CE6-3788-7BA5-166E-8739D4D0F678}"/>
                  </a:ext>
                </a:extLst>
              </p:cNvPr>
              <p:cNvSpPr/>
              <p:nvPr/>
            </p:nvSpPr>
            <p:spPr>
              <a:xfrm>
                <a:off x="5105142" y="343603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エージェントの稼働率管理画面（</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17" name="グループ化 16">
              <a:extLst>
                <a:ext uri="{FF2B5EF4-FFF2-40B4-BE49-F238E27FC236}">
                  <a16:creationId xmlns:a16="http://schemas.microsoft.com/office/drawing/2014/main" id="{2DBAC7F5-0C58-BEA0-9E84-AFFC8E4BBBF8}"/>
                </a:ext>
              </a:extLst>
            </p:cNvPr>
            <p:cNvGrpSpPr/>
            <p:nvPr/>
          </p:nvGrpSpPr>
          <p:grpSpPr>
            <a:xfrm>
              <a:off x="5105141" y="1255650"/>
              <a:ext cx="6895055" cy="261610"/>
              <a:chOff x="4179824" y="1217550"/>
              <a:chExt cx="7678800" cy="261610"/>
            </a:xfrm>
          </p:grpSpPr>
          <p:sp>
            <p:nvSpPr>
              <p:cNvPr id="14" name="テキスト ボックス 13">
                <a:extLst>
                  <a:ext uri="{FF2B5EF4-FFF2-40B4-BE49-F238E27FC236}">
                    <a16:creationId xmlns:a16="http://schemas.microsoft.com/office/drawing/2014/main" id="{8E1C73ED-8ABD-166D-3576-7978C7545A91}"/>
                  </a:ext>
                </a:extLst>
              </p:cNvPr>
              <p:cNvSpPr txBox="1"/>
              <p:nvPr/>
            </p:nvSpPr>
            <p:spPr bwMode="auto">
              <a:xfrm>
                <a:off x="4181581" y="1217550"/>
                <a:ext cx="7677043" cy="261610"/>
              </a:xfrm>
              <a:prstGeom prst="rect">
                <a:avLst/>
              </a:prstGeom>
              <a:noFill/>
              <a:ln w="9525">
                <a:noFill/>
                <a:miter lim="800000"/>
                <a:headEnd/>
                <a:tailEnd/>
              </a:ln>
            </p:spPr>
            <p:txBody>
              <a:bodyPr wrap="square" rtlCol="0" anchor="ctr">
                <a:spAutoFit/>
              </a:bodyPr>
              <a:lstStyle/>
              <a:p>
                <a:pPr algn="ctr">
                  <a:defRPr/>
                </a:pPr>
                <a:r>
                  <a:rPr lang="en-US" altLang="ja-JP" sz="1100" b="1">
                    <a:solidFill>
                      <a:srgbClr val="E7E6E6">
                        <a:lumMod val="50000"/>
                      </a:srgbClr>
                    </a:solidFill>
                    <a:latin typeface="Meiryo UI" panose="020B0604030504040204" pitchFamily="50" charset="-128"/>
                    <a:ea typeface="Meiryo UI" panose="020B0604030504040204" pitchFamily="50" charset="-128"/>
                  </a:rPr>
                  <a:t>R</a:t>
                </a:r>
                <a:r>
                  <a:rPr lang="ja-JP" altLang="en-US" sz="1100" b="1">
                    <a:solidFill>
                      <a:srgbClr val="E7E6E6">
                        <a:lumMod val="50000"/>
                      </a:srgbClr>
                    </a:solidFill>
                    <a:latin typeface="Meiryo UI" panose="020B0604030504040204" pitchFamily="50" charset="-128"/>
                    <a:ea typeface="Meiryo UI" panose="020B0604030504040204" pitchFamily="50" charset="-128"/>
                  </a:rPr>
                  <a:t>の</a:t>
                </a:r>
                <a:r>
                  <a:rPr lang="en-US" altLang="ja-JP" sz="1100" b="1">
                    <a:solidFill>
                      <a:srgbClr val="E7E6E6">
                        <a:lumMod val="50000"/>
                      </a:srgbClr>
                    </a:solidFill>
                    <a:latin typeface="Meiryo UI" panose="020B0604030504040204" pitchFamily="50" charset="-128"/>
                    <a:ea typeface="Meiryo UI" panose="020B0604030504040204" pitchFamily="50" charset="-128"/>
                  </a:rPr>
                  <a:t>Azure</a:t>
                </a:r>
                <a:r>
                  <a:rPr lang="ja-JP" altLang="en-US" sz="1100" b="1">
                    <a:solidFill>
                      <a:srgbClr val="E7E6E6">
                        <a:lumMod val="50000"/>
                      </a:srgbClr>
                    </a:solidFill>
                    <a:latin typeface="Meiryo UI" panose="020B0604030504040204" pitchFamily="50" charset="-128"/>
                    <a:ea typeface="Meiryo UI" panose="020B0604030504040204" pitchFamily="50" charset="-128"/>
                  </a:rPr>
                  <a:t>環境に構築した</a:t>
                </a:r>
                <a:r>
                  <a:rPr lang="en-US" altLang="ja-JP" sz="1100" b="1">
                    <a:solidFill>
                      <a:srgbClr val="E7E6E6">
                        <a:lumMod val="50000"/>
                      </a:srgbClr>
                    </a:solidFill>
                    <a:latin typeface="Meiryo UI" panose="020B0604030504040204" pitchFamily="50" charset="-128"/>
                    <a:ea typeface="Meiryo UI" panose="020B0604030504040204" pitchFamily="50" charset="-128"/>
                  </a:rPr>
                  <a:t>AI</a:t>
                </a:r>
                <a:r>
                  <a:rPr lang="ja-JP" altLang="en-US" sz="1100" b="1">
                    <a:solidFill>
                      <a:srgbClr val="E7E6E6">
                        <a:lumMod val="50000"/>
                      </a:srgbClr>
                    </a:solidFill>
                    <a:latin typeface="Meiryo UI" panose="020B0604030504040204" pitchFamily="50" charset="-128"/>
                    <a:ea typeface="Meiryo UI" panose="020B0604030504040204" pitchFamily="50" charset="-128"/>
                  </a:rPr>
                  <a:t>エージェント管理のためのシステム群</a:t>
                </a:r>
              </a:p>
            </p:txBody>
          </p:sp>
          <p:cxnSp>
            <p:nvCxnSpPr>
              <p:cNvPr id="15" name="直線コネクタ 14">
                <a:extLst>
                  <a:ext uri="{FF2B5EF4-FFF2-40B4-BE49-F238E27FC236}">
                    <a16:creationId xmlns:a16="http://schemas.microsoft.com/office/drawing/2014/main" id="{E2CB7796-1D40-0079-9798-0C433E64BB8E}"/>
                  </a:ext>
                </a:extLst>
              </p:cNvPr>
              <p:cNvCxnSpPr>
                <a:cxnSpLocks/>
              </p:cNvCxnSpPr>
              <p:nvPr/>
            </p:nvCxnSpPr>
            <p:spPr>
              <a:xfrm>
                <a:off x="4179824" y="1478411"/>
                <a:ext cx="7678800"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grpSp>
        <p:grpSp>
          <p:nvGrpSpPr>
            <p:cNvPr id="18" name="グループ化 17">
              <a:extLst>
                <a:ext uri="{FF2B5EF4-FFF2-40B4-BE49-F238E27FC236}">
                  <a16:creationId xmlns:a16="http://schemas.microsoft.com/office/drawing/2014/main" id="{1F9BB351-7DE6-D108-2291-BF7C148BF7D6}"/>
                </a:ext>
              </a:extLst>
            </p:cNvPr>
            <p:cNvGrpSpPr/>
            <p:nvPr/>
          </p:nvGrpSpPr>
          <p:grpSpPr>
            <a:xfrm>
              <a:off x="444381" y="1255650"/>
              <a:ext cx="4373777" cy="261610"/>
              <a:chOff x="4179824" y="1217550"/>
              <a:chExt cx="7678800" cy="261610"/>
            </a:xfrm>
          </p:grpSpPr>
          <p:sp>
            <p:nvSpPr>
              <p:cNvPr id="19" name="テキスト ボックス 18">
                <a:extLst>
                  <a:ext uri="{FF2B5EF4-FFF2-40B4-BE49-F238E27FC236}">
                    <a16:creationId xmlns:a16="http://schemas.microsoft.com/office/drawing/2014/main" id="{C0CDB3C8-31DA-2056-DD1B-FFD8A084C9EA}"/>
                  </a:ext>
                </a:extLst>
              </p:cNvPr>
              <p:cNvSpPr txBox="1"/>
              <p:nvPr/>
            </p:nvSpPr>
            <p:spPr bwMode="auto">
              <a:xfrm>
                <a:off x="4181581" y="1217550"/>
                <a:ext cx="7677043" cy="261610"/>
              </a:xfrm>
              <a:prstGeom prst="rect">
                <a:avLst/>
              </a:prstGeom>
              <a:noFill/>
              <a:ln w="9525">
                <a:noFill/>
                <a:miter lim="800000"/>
                <a:headEnd/>
                <a:tailEnd/>
              </a:ln>
            </p:spPr>
            <p:txBody>
              <a:bodyPr wrap="square" rtlCol="0" anchor="ctr">
                <a:spAutoFit/>
              </a:bodyPr>
              <a:lstStyle/>
              <a:p>
                <a:pPr algn="ctr">
                  <a:defRPr/>
                </a:pPr>
                <a:r>
                  <a:rPr lang="en-US" altLang="ja-JP" sz="1100" b="1" err="1">
                    <a:solidFill>
                      <a:srgbClr val="E7E6E6">
                        <a:lumMod val="50000"/>
                      </a:srgbClr>
                    </a:solidFill>
                    <a:latin typeface="Meiryo UI" panose="020B0604030504040204" pitchFamily="50" charset="-128"/>
                    <a:ea typeface="Meiryo UI" panose="020B0604030504040204" pitchFamily="50" charset="-128"/>
                  </a:rPr>
                  <a:t>LinkX</a:t>
                </a:r>
                <a:r>
                  <a:rPr lang="ja-JP" altLang="en-US" sz="1100" b="1">
                    <a:solidFill>
                      <a:srgbClr val="E7E6E6">
                        <a:lumMod val="50000"/>
                      </a:srgbClr>
                    </a:solidFill>
                    <a:latin typeface="Meiryo UI" panose="020B0604030504040204" pitchFamily="50" charset="-128"/>
                    <a:ea typeface="Meiryo UI" panose="020B0604030504040204" pitchFamily="50" charset="-128"/>
                  </a:rPr>
                  <a:t>社のノウハウ</a:t>
                </a:r>
                <a:r>
                  <a:rPr lang="en-US" altLang="ja-JP" sz="1100" b="1">
                    <a:solidFill>
                      <a:srgbClr val="E7E6E6">
                        <a:lumMod val="50000"/>
                      </a:srgbClr>
                    </a:solidFill>
                    <a:latin typeface="Meiryo UI" panose="020B0604030504040204" pitchFamily="50" charset="-128"/>
                    <a:ea typeface="Meiryo UI" panose="020B0604030504040204" pitchFamily="50" charset="-128"/>
                  </a:rPr>
                  <a:t> </a:t>
                </a:r>
                <a:r>
                  <a:rPr lang="en-US" altLang="ja-JP" sz="1100" b="1">
                    <a:solidFill>
                      <a:srgbClr val="E7E6E6">
                        <a:lumMod val="50000"/>
                      </a:srgbClr>
                    </a:solidFill>
                    <a:latin typeface="Meiryo UI" panose="020B0604030504040204" pitchFamily="50" charset="-128"/>
                    <a:ea typeface="Meiryo UI" panose="020B0604030504040204" pitchFamily="50" charset="-128"/>
                    <a:hlinkClick r:id="rId5"/>
                  </a:rPr>
                  <a:t>※HP</a:t>
                </a:r>
                <a:r>
                  <a:rPr lang="ja-JP" altLang="en-US" sz="1100" b="1">
                    <a:solidFill>
                      <a:srgbClr val="E7E6E6">
                        <a:lumMod val="50000"/>
                      </a:srgbClr>
                    </a:solidFill>
                    <a:latin typeface="Meiryo UI" panose="020B0604030504040204" pitchFamily="50" charset="-128"/>
                    <a:ea typeface="Meiryo UI" panose="020B0604030504040204" pitchFamily="50" charset="-128"/>
                    <a:hlinkClick r:id="rId5"/>
                  </a:rPr>
                  <a:t>リンク</a:t>
                </a:r>
                <a:endParaRPr lang="ja-JP" altLang="en-US" sz="1100" b="1">
                  <a:solidFill>
                    <a:srgbClr val="E7E6E6">
                      <a:lumMod val="50000"/>
                    </a:srgbClr>
                  </a:solidFill>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40BA5709-D008-6940-B6BA-5D0016737090}"/>
                  </a:ext>
                </a:extLst>
              </p:cNvPr>
              <p:cNvCxnSpPr>
                <a:cxnSpLocks/>
              </p:cNvCxnSpPr>
              <p:nvPr/>
            </p:nvCxnSpPr>
            <p:spPr>
              <a:xfrm>
                <a:off x="4179824" y="1478411"/>
                <a:ext cx="7678800"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grpSp>
        <p:grpSp>
          <p:nvGrpSpPr>
            <p:cNvPr id="31" name="グループ化 30">
              <a:extLst>
                <a:ext uri="{FF2B5EF4-FFF2-40B4-BE49-F238E27FC236}">
                  <a16:creationId xmlns:a16="http://schemas.microsoft.com/office/drawing/2014/main" id="{616253FF-350F-60AD-C586-C8179C1959F9}"/>
                </a:ext>
              </a:extLst>
            </p:cNvPr>
            <p:cNvGrpSpPr/>
            <p:nvPr/>
          </p:nvGrpSpPr>
          <p:grpSpPr>
            <a:xfrm>
              <a:off x="444381" y="1555523"/>
              <a:ext cx="4373777" cy="2080354"/>
              <a:chOff x="444381" y="1555523"/>
              <a:chExt cx="4373777" cy="2080354"/>
            </a:xfrm>
          </p:grpSpPr>
          <p:pic>
            <p:nvPicPr>
              <p:cNvPr id="22" name="図 21">
                <a:extLst>
                  <a:ext uri="{FF2B5EF4-FFF2-40B4-BE49-F238E27FC236}">
                    <a16:creationId xmlns:a16="http://schemas.microsoft.com/office/drawing/2014/main" id="{49416DE0-603B-57A7-6969-F08DB7D1FAD8}"/>
                  </a:ext>
                </a:extLst>
              </p:cNvPr>
              <p:cNvPicPr>
                <a:picLocks noChangeAspect="1"/>
              </p:cNvPicPr>
              <p:nvPr/>
            </p:nvPicPr>
            <p:blipFill>
              <a:blip r:embed="rId6"/>
              <a:stretch>
                <a:fillRect/>
              </a:stretch>
            </p:blipFill>
            <p:spPr>
              <a:xfrm>
                <a:off x="444381" y="1555523"/>
                <a:ext cx="4373777" cy="1862157"/>
              </a:xfrm>
              <a:prstGeom prst="rect">
                <a:avLst/>
              </a:prstGeom>
            </p:spPr>
          </p:pic>
          <p:sp>
            <p:nvSpPr>
              <p:cNvPr id="24" name="正方形/長方形 23">
                <a:extLst>
                  <a:ext uri="{FF2B5EF4-FFF2-40B4-BE49-F238E27FC236}">
                    <a16:creationId xmlns:a16="http://schemas.microsoft.com/office/drawing/2014/main" id="{6C5FCD0B-7050-399E-9B6A-D4D01E42A45B}"/>
                  </a:ext>
                </a:extLst>
              </p:cNvPr>
              <p:cNvSpPr/>
              <p:nvPr/>
            </p:nvSpPr>
            <p:spPr>
              <a:xfrm>
                <a:off x="444381" y="343603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HUB</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という</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活用プラットフォーム</a:t>
                </a:r>
                <a:endParaRPr kumimoji="0" lang="ja-JP" altLang="en-US" sz="11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28" name="グループ化 27">
              <a:extLst>
                <a:ext uri="{FF2B5EF4-FFF2-40B4-BE49-F238E27FC236}">
                  <a16:creationId xmlns:a16="http://schemas.microsoft.com/office/drawing/2014/main" id="{E09C5C00-F446-F548-98A3-1554AD078C84}"/>
                </a:ext>
              </a:extLst>
            </p:cNvPr>
            <p:cNvGrpSpPr/>
            <p:nvPr/>
          </p:nvGrpSpPr>
          <p:grpSpPr>
            <a:xfrm>
              <a:off x="5105142" y="3904774"/>
              <a:ext cx="3485735" cy="2063648"/>
              <a:chOff x="5105142" y="4123849"/>
              <a:chExt cx="3485735" cy="2063648"/>
            </a:xfrm>
          </p:grpSpPr>
          <p:pic>
            <p:nvPicPr>
              <p:cNvPr id="8" name="図 7">
                <a:extLst>
                  <a:ext uri="{FF2B5EF4-FFF2-40B4-BE49-F238E27FC236}">
                    <a16:creationId xmlns:a16="http://schemas.microsoft.com/office/drawing/2014/main" id="{3D58BD5D-5D47-970C-5339-741E60F1A555}"/>
                  </a:ext>
                </a:extLst>
              </p:cNvPr>
              <p:cNvPicPr>
                <a:picLocks noChangeAspect="1"/>
              </p:cNvPicPr>
              <p:nvPr/>
            </p:nvPicPr>
            <p:blipFill>
              <a:blip r:embed="rId7"/>
              <a:stretch>
                <a:fillRect/>
              </a:stretch>
            </p:blipFill>
            <p:spPr>
              <a:xfrm>
                <a:off x="5123206" y="4123849"/>
                <a:ext cx="3464478" cy="1862158"/>
              </a:xfrm>
              <a:prstGeom prst="rect">
                <a:avLst/>
              </a:prstGeom>
            </p:spPr>
          </p:pic>
          <p:sp>
            <p:nvSpPr>
              <p:cNvPr id="11" name="正方形/長方形 10">
                <a:extLst>
                  <a:ext uri="{FF2B5EF4-FFF2-40B4-BE49-F238E27FC236}">
                    <a16:creationId xmlns:a16="http://schemas.microsoft.com/office/drawing/2014/main" id="{63DC771E-B1E1-CC16-D65E-0FEF93A074BF}"/>
                  </a:ext>
                </a:extLst>
              </p:cNvPr>
              <p:cNvSpPr/>
              <p:nvPr/>
            </p:nvSpPr>
            <p:spPr>
              <a:xfrm>
                <a:off x="5105142" y="598765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エージェントのの</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管理画面（</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30" name="グループ化 29">
              <a:extLst>
                <a:ext uri="{FF2B5EF4-FFF2-40B4-BE49-F238E27FC236}">
                  <a16:creationId xmlns:a16="http://schemas.microsoft.com/office/drawing/2014/main" id="{242B46E5-3882-BE85-A9D0-5396CD103BB6}"/>
                </a:ext>
              </a:extLst>
            </p:cNvPr>
            <p:cNvGrpSpPr/>
            <p:nvPr/>
          </p:nvGrpSpPr>
          <p:grpSpPr>
            <a:xfrm>
              <a:off x="444381" y="3904774"/>
              <a:ext cx="4418917" cy="1725250"/>
              <a:chOff x="444381" y="3904774"/>
              <a:chExt cx="4418917" cy="1725250"/>
            </a:xfrm>
          </p:grpSpPr>
          <p:pic>
            <p:nvPicPr>
              <p:cNvPr id="26" name="図 25">
                <a:extLst>
                  <a:ext uri="{FF2B5EF4-FFF2-40B4-BE49-F238E27FC236}">
                    <a16:creationId xmlns:a16="http://schemas.microsoft.com/office/drawing/2014/main" id="{9024249B-ADA3-B4DD-8B64-027D3E249B11}"/>
                  </a:ext>
                </a:extLst>
              </p:cNvPr>
              <p:cNvPicPr>
                <a:picLocks noChangeAspect="1"/>
              </p:cNvPicPr>
              <p:nvPr/>
            </p:nvPicPr>
            <p:blipFill>
              <a:blip r:embed="rId8"/>
              <a:stretch>
                <a:fillRect/>
              </a:stretch>
            </p:blipFill>
            <p:spPr>
              <a:xfrm>
                <a:off x="444382" y="3904774"/>
                <a:ext cx="4418916" cy="1525411"/>
              </a:xfrm>
              <a:prstGeom prst="rect">
                <a:avLst/>
              </a:prstGeom>
            </p:spPr>
          </p:pic>
          <p:sp>
            <p:nvSpPr>
              <p:cNvPr id="27" name="正方形/長方形 26">
                <a:extLst>
                  <a:ext uri="{FF2B5EF4-FFF2-40B4-BE49-F238E27FC236}">
                    <a16:creationId xmlns:a16="http://schemas.microsoft.com/office/drawing/2014/main" id="{4C3EECEB-7677-D659-7FC4-BA99CBF61B15}"/>
                  </a:ext>
                </a:extLst>
              </p:cNvPr>
              <p:cNvSpPr/>
              <p:nvPr/>
            </p:nvSpPr>
            <p:spPr>
              <a:xfrm>
                <a:off x="444381" y="5430185"/>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総合研究所というオープンメディアで</a:t>
                </a:r>
                <a:r>
                  <a:rPr kumimoji="0" lang="en-US" altLang="ja-JP"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の最新知見を発信</a:t>
                </a:r>
                <a:endParaRPr kumimoji="0" lang="ja-JP" altLang="en-US" sz="11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spTree>
    <p:extLst>
      <p:ext uri="{BB962C8B-B14F-4D97-AF65-F5344CB8AC3E}">
        <p14:creationId xmlns:p14="http://schemas.microsoft.com/office/powerpoint/2010/main" val="2764671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3403-0C16-67CF-81BF-86695660C31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751A894-9253-9771-D5E1-E224946FCF40}"/>
              </a:ext>
            </a:extLst>
          </p:cNvPr>
          <p:cNvSpPr>
            <a:spLocks noGrp="1"/>
          </p:cNvSpPr>
          <p:nvPr>
            <p:ph type="title"/>
          </p:nvPr>
        </p:nvSpPr>
        <p:spPr>
          <a:xfrm>
            <a:off x="1087388" y="3510976"/>
            <a:ext cx="9866939" cy="1362075"/>
          </a:xfrm>
        </p:spPr>
        <p:txBody>
          <a:bodyPr/>
          <a:lstStyle/>
          <a:p>
            <a:endParaRPr lang="ja-JP" altLang="en-US"/>
          </a:p>
        </p:txBody>
      </p:sp>
      <p:sp>
        <p:nvSpPr>
          <p:cNvPr id="4" name="テキスト プレースホルダー 3">
            <a:extLst>
              <a:ext uri="{FF2B5EF4-FFF2-40B4-BE49-F238E27FC236}">
                <a16:creationId xmlns:a16="http://schemas.microsoft.com/office/drawing/2014/main" id="{B8F70EA6-77F8-4001-4C32-11E8625FAB77}"/>
              </a:ext>
            </a:extLst>
          </p:cNvPr>
          <p:cNvSpPr>
            <a:spLocks noGrp="1"/>
          </p:cNvSpPr>
          <p:nvPr>
            <p:ph type="body" idx="1"/>
          </p:nvPr>
        </p:nvSpPr>
        <p:spPr>
          <a:xfrm>
            <a:off x="591128" y="2010786"/>
            <a:ext cx="10363200" cy="1500187"/>
          </a:xfrm>
        </p:spPr>
        <p:txBody>
          <a:bodyPr/>
          <a:lstStyle/>
          <a:p>
            <a:pPr>
              <a:spcBef>
                <a:spcPct val="0"/>
              </a:spcBef>
            </a:pPr>
            <a:r>
              <a:rPr lang="ja-JP" altLang="en-US" sz="3200"/>
              <a:t>今後のアクション</a:t>
            </a:r>
          </a:p>
        </p:txBody>
      </p:sp>
    </p:spTree>
    <p:extLst>
      <p:ext uri="{BB962C8B-B14F-4D97-AF65-F5344CB8AC3E}">
        <p14:creationId xmlns:p14="http://schemas.microsoft.com/office/powerpoint/2010/main" val="13340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5C2FA-4FF8-C3F5-2457-54D11697F89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54F62B1-9FE2-32DB-579F-7966B540E936}"/>
              </a:ext>
            </a:extLst>
          </p:cNvPr>
          <p:cNvSpPr>
            <a:spLocks noGrp="1"/>
          </p:cNvSpPr>
          <p:nvPr>
            <p:ph type="title"/>
          </p:nvPr>
        </p:nvSpPr>
        <p:spPr/>
        <p:txBody>
          <a:bodyPr/>
          <a:lstStyle/>
          <a:p>
            <a:r>
              <a:rPr lang="ja-JP" altLang="en-US"/>
              <a:t>進め方について</a:t>
            </a:r>
            <a:endParaRPr kumimoji="1" lang="ja-JP" altLang="en-US"/>
          </a:p>
        </p:txBody>
      </p:sp>
      <p:sp>
        <p:nvSpPr>
          <p:cNvPr id="4" name="スライド番号プレースホルダー 3">
            <a:extLst>
              <a:ext uri="{FF2B5EF4-FFF2-40B4-BE49-F238E27FC236}">
                <a16:creationId xmlns:a16="http://schemas.microsoft.com/office/drawing/2014/main" id="{98DC6FFC-B5F4-5186-ABB0-0BE3B39757D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13</a:t>
            </a:fld>
            <a:endParaRPr lang="en-US" altLang="ja-JP"/>
          </a:p>
        </p:txBody>
      </p:sp>
      <p:sp>
        <p:nvSpPr>
          <p:cNvPr id="2" name="コンテンツ プレースホルダー 5">
            <a:extLst>
              <a:ext uri="{FF2B5EF4-FFF2-40B4-BE49-F238E27FC236}">
                <a16:creationId xmlns:a16="http://schemas.microsoft.com/office/drawing/2014/main" id="{E2772593-DA25-EC06-2F8B-15E5BCB5801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r>
              <a:rPr lang="ja-JP" altLang="en-US" sz="1600" u="sng" kern="0"/>
              <a:t>直近の話</a:t>
            </a:r>
            <a:endParaRPr lang="en-US" altLang="ja-JP" sz="1600" u="sng" kern="0"/>
          </a:p>
          <a:p>
            <a:pPr marL="342900" indent="-342900">
              <a:buFont typeface="+mj-ea"/>
              <a:buAutoNum type="circleNumDbPlain"/>
            </a:pPr>
            <a:r>
              <a:rPr lang="en-US" altLang="ja-JP" sz="1600" kern="0"/>
              <a:t>BPS</a:t>
            </a:r>
            <a:r>
              <a:rPr lang="ja-JP" altLang="en-US" sz="1600" kern="0"/>
              <a:t>および他部署の</a:t>
            </a:r>
            <a:r>
              <a:rPr lang="en-US" altLang="ja-JP" sz="1600" kern="0"/>
              <a:t>AI</a:t>
            </a:r>
            <a:r>
              <a:rPr lang="ja-JP" altLang="en-US" sz="1600" kern="0"/>
              <a:t>エージェントの導入推進</a:t>
            </a:r>
            <a:endParaRPr lang="en-US" altLang="ja-JP" sz="1600" kern="0"/>
          </a:p>
          <a:p>
            <a:pPr marL="342900" indent="-342900">
              <a:buFont typeface="+mj-ea"/>
              <a:buAutoNum type="circleNumDbPlain"/>
            </a:pPr>
            <a:r>
              <a:rPr lang="en-US" altLang="ja-JP" sz="1600" kern="0" err="1"/>
              <a:t>LinkX</a:t>
            </a:r>
            <a:r>
              <a:rPr lang="ja-JP" altLang="en-US" sz="1600" kern="0"/>
              <a:t>社との中・長期での契約の継続</a:t>
            </a:r>
            <a:endParaRPr lang="en-US" altLang="ja-JP" sz="1600" kern="0"/>
          </a:p>
          <a:p>
            <a:pPr marL="0" indent="0"/>
            <a:br>
              <a:rPr lang="en-US" altLang="ja-JP" sz="1600" u="sng" kern="0"/>
            </a:br>
            <a:r>
              <a:rPr lang="ja-JP" altLang="en-US" sz="1600" u="sng" kern="0"/>
              <a:t>今後の話（頭出しのみ）</a:t>
            </a:r>
            <a:endParaRPr lang="en-US" altLang="ja-JP" sz="1600" u="sng" kern="0"/>
          </a:p>
          <a:p>
            <a:pPr marL="285750" indent="-285750">
              <a:buFont typeface="Arial" panose="020B0604020202020204" pitchFamily="34" charset="0"/>
              <a:buChar char="•"/>
            </a:pPr>
            <a:r>
              <a:rPr lang="ja-JP" altLang="en-US" sz="1600" kern="0"/>
              <a:t>内製化メンバー（社員）の増員と教育</a:t>
            </a:r>
            <a:endParaRPr lang="en-US" altLang="ja-JP" sz="1600" kern="0"/>
          </a:p>
          <a:p>
            <a:pPr marL="642937" lvl="1" indent="-285750">
              <a:buFont typeface="Arial" panose="020B0604020202020204" pitchFamily="34" charset="0"/>
              <a:buChar char="•"/>
            </a:pPr>
            <a:r>
              <a:rPr lang="ja-JP" altLang="en-US" sz="1200" kern="0"/>
              <a:t>今後</a:t>
            </a:r>
            <a:r>
              <a:rPr lang="en-US" altLang="ja-JP" sz="1200" kern="0"/>
              <a:t>AI</a:t>
            </a:r>
            <a:r>
              <a:rPr lang="ja-JP" altLang="en-US" sz="1200" kern="0"/>
              <a:t>エージェントを大規模に増やす場合に必要なリソース計画を立てているため、社員の増強を早期に図りたい</a:t>
            </a:r>
            <a:br>
              <a:rPr lang="en-US" altLang="ja-JP" sz="1200" kern="0"/>
            </a:br>
            <a:r>
              <a:rPr lang="en-US" altLang="ja-JP" sz="1200" kern="0"/>
              <a:t>※</a:t>
            </a:r>
            <a:r>
              <a:rPr lang="ja-JP" altLang="en-US" sz="1200" kern="0"/>
              <a:t>詳細は</a:t>
            </a:r>
            <a:r>
              <a:rPr lang="ja-JP" altLang="en-US" sz="1200" kern="0">
                <a:hlinkClick r:id="rId3" action="ppaction://hlinksldjump"/>
              </a:rPr>
              <a:t>内製化部隊のリソース計画</a:t>
            </a:r>
            <a:r>
              <a:rPr lang="ja-JP" altLang="en-US" sz="1200" kern="0"/>
              <a:t>を参照</a:t>
            </a:r>
            <a:endParaRPr lang="en-US" altLang="ja-JP" sz="1200" kern="0"/>
          </a:p>
          <a:p>
            <a:pPr marL="285750" indent="-285750">
              <a:buFont typeface="Arial" panose="020B0604020202020204" pitchFamily="34" charset="0"/>
              <a:buChar char="•"/>
            </a:pPr>
            <a:r>
              <a:rPr lang="en-US" altLang="ja-JP" sz="1600" kern="0"/>
              <a:t>Microsoft</a:t>
            </a:r>
            <a:r>
              <a:rPr lang="ja-JP" altLang="en-US" sz="1600" kern="0"/>
              <a:t>からの提案</a:t>
            </a:r>
            <a:endParaRPr lang="en-US" altLang="ja-JP" sz="1600" kern="0"/>
          </a:p>
          <a:p>
            <a:pPr marL="642937" lvl="1" indent="-285750">
              <a:buFont typeface="Arial" panose="020B0604020202020204" pitchFamily="34" charset="0"/>
              <a:buChar char="•"/>
            </a:pPr>
            <a:r>
              <a:rPr lang="ja-JP" altLang="en-US" sz="1200" kern="0"/>
              <a:t>今後の</a:t>
            </a:r>
            <a:r>
              <a:rPr lang="en-US" altLang="ja-JP" sz="1200" kern="0"/>
              <a:t>n8n</a:t>
            </a:r>
            <a:r>
              <a:rPr lang="ja-JP" altLang="en-US" sz="1200" kern="0"/>
              <a:t>を中心とした</a:t>
            </a:r>
            <a:r>
              <a:rPr lang="en-US" altLang="ja-JP" sz="1200" kern="0"/>
              <a:t>Azure</a:t>
            </a:r>
            <a:r>
              <a:rPr lang="ja-JP" altLang="en-US" sz="1200" kern="0"/>
              <a:t>リソース利用に伴い、ベンダー費用を</a:t>
            </a:r>
            <a:r>
              <a:rPr lang="en-US" altLang="ja-JP" sz="1200" kern="0"/>
              <a:t>MS</a:t>
            </a:r>
            <a:r>
              <a:rPr lang="ja-JP" altLang="en-US" sz="1200" kern="0"/>
              <a:t>が負担するという提案（</a:t>
            </a:r>
            <a:r>
              <a:rPr lang="en-US" altLang="ja-JP" sz="1200" kern="0"/>
              <a:t>R</a:t>
            </a:r>
            <a:r>
              <a:rPr lang="ja-JP" altLang="en-US" sz="1200" kern="0"/>
              <a:t>と</a:t>
            </a:r>
            <a:r>
              <a:rPr lang="en-US" altLang="ja-JP" sz="1200" kern="0"/>
              <a:t>MS</a:t>
            </a:r>
            <a:r>
              <a:rPr lang="ja-JP" altLang="en-US" sz="1200" kern="0"/>
              <a:t>のトップ同士の会談？）に対するアクションを検討したい</a:t>
            </a:r>
            <a:br>
              <a:rPr lang="en-US" altLang="ja-JP" sz="1200" kern="0"/>
            </a:br>
            <a:r>
              <a:rPr lang="en-US" altLang="ja-JP" sz="1200" kern="0"/>
              <a:t>※</a:t>
            </a:r>
            <a:r>
              <a:rPr lang="ja-JP" altLang="en-US" sz="1200" kern="0"/>
              <a:t>詳細は</a:t>
            </a:r>
            <a:r>
              <a:rPr lang="en-US" altLang="ja-JP" sz="1200" kern="0" err="1">
                <a:hlinkClick r:id="rId4" action="ppaction://hlinksldjump"/>
              </a:rPr>
              <a:t>AzureAccelerate</a:t>
            </a:r>
            <a:r>
              <a:rPr lang="ja-JP" altLang="en-US" sz="1200" kern="0">
                <a:hlinkClick r:id="rId4" action="ppaction://hlinksldjump"/>
              </a:rPr>
              <a:t>プランの提案</a:t>
            </a:r>
            <a:r>
              <a:rPr lang="ja-JP" altLang="en-US" sz="1200" kern="0"/>
              <a:t>を参照</a:t>
            </a:r>
            <a:endParaRPr lang="en-US" altLang="ja-JP" sz="1200" kern="0"/>
          </a:p>
        </p:txBody>
      </p:sp>
    </p:spTree>
    <p:extLst>
      <p:ext uri="{BB962C8B-B14F-4D97-AF65-F5344CB8AC3E}">
        <p14:creationId xmlns:p14="http://schemas.microsoft.com/office/powerpoint/2010/main" val="3476268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E5B0B-C0FD-EE8F-BAD5-38A560330AF3}"/>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5858834D-9B5E-0A03-271B-5AF848F59505}"/>
              </a:ext>
            </a:extLst>
          </p:cNvPr>
          <p:cNvSpPr>
            <a:spLocks noGrp="1"/>
          </p:cNvSpPr>
          <p:nvPr>
            <p:ph type="title"/>
          </p:nvPr>
        </p:nvSpPr>
        <p:spPr>
          <a:xfrm>
            <a:off x="1087388" y="3510976"/>
            <a:ext cx="9866939" cy="1362075"/>
          </a:xfrm>
        </p:spPr>
        <p:txBody>
          <a:bodyPr/>
          <a:lstStyle/>
          <a:p>
            <a:endParaRPr lang="ja-JP" altLang="en-US"/>
          </a:p>
        </p:txBody>
      </p:sp>
      <p:sp>
        <p:nvSpPr>
          <p:cNvPr id="4" name="テキスト プレースホルダー 3">
            <a:extLst>
              <a:ext uri="{FF2B5EF4-FFF2-40B4-BE49-F238E27FC236}">
                <a16:creationId xmlns:a16="http://schemas.microsoft.com/office/drawing/2014/main" id="{CE545BEE-4687-C886-FBF1-A049470B80CC}"/>
              </a:ext>
            </a:extLst>
          </p:cNvPr>
          <p:cNvSpPr>
            <a:spLocks noGrp="1"/>
          </p:cNvSpPr>
          <p:nvPr>
            <p:ph type="body" idx="1"/>
          </p:nvPr>
        </p:nvSpPr>
        <p:spPr>
          <a:xfrm>
            <a:off x="591128" y="2010786"/>
            <a:ext cx="10363200" cy="1500187"/>
          </a:xfrm>
        </p:spPr>
        <p:txBody>
          <a:bodyPr/>
          <a:lstStyle/>
          <a:p>
            <a:pPr>
              <a:spcBef>
                <a:spcPct val="0"/>
              </a:spcBef>
            </a:pPr>
            <a:r>
              <a:rPr lang="en-US" altLang="ja-JP" sz="3200"/>
              <a:t>Appendix</a:t>
            </a:r>
            <a:r>
              <a:rPr lang="ja-JP" altLang="en-US" sz="3200"/>
              <a:t>①：</a:t>
            </a:r>
            <a:r>
              <a:rPr lang="en-US" altLang="ja-JP" sz="3200"/>
              <a:t>AI</a:t>
            </a:r>
            <a:r>
              <a:rPr lang="ja-JP" altLang="en-US" sz="3200"/>
              <a:t>エージェントの内製化部隊のリソース計画</a:t>
            </a:r>
          </a:p>
        </p:txBody>
      </p:sp>
    </p:spTree>
    <p:extLst>
      <p:ext uri="{BB962C8B-B14F-4D97-AF65-F5344CB8AC3E}">
        <p14:creationId xmlns:p14="http://schemas.microsoft.com/office/powerpoint/2010/main" val="2626730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27985-AAD3-66FD-93E6-12D4FF592FB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58D1700-8091-2EE2-506A-E1A0093CE4D8}"/>
              </a:ext>
            </a:extLst>
          </p:cNvPr>
          <p:cNvSpPr>
            <a:spLocks noGrp="1"/>
          </p:cNvSpPr>
          <p:nvPr>
            <p:ph type="title"/>
          </p:nvPr>
        </p:nvSpPr>
        <p:spPr/>
        <p:txBody>
          <a:bodyPr/>
          <a:lstStyle/>
          <a:p>
            <a:r>
              <a:rPr lang="ja-JP" altLang="en-US"/>
              <a:t>前提：</a:t>
            </a:r>
            <a:r>
              <a:rPr lang="en-US" altLang="ja-JP"/>
              <a:t>1</a:t>
            </a:r>
            <a:r>
              <a:rPr lang="ja-JP" altLang="en-US"/>
              <a:t>業務にかかる</a:t>
            </a:r>
            <a:r>
              <a:rPr lang="en-US" altLang="ja-JP"/>
              <a:t>n8n</a:t>
            </a:r>
            <a:r>
              <a:rPr lang="ja-JP" altLang="en-US"/>
              <a:t>の内製工数のイメージ</a:t>
            </a:r>
            <a:endParaRPr kumimoji="1" lang="ja-JP" altLang="en-US"/>
          </a:p>
        </p:txBody>
      </p:sp>
      <p:sp>
        <p:nvSpPr>
          <p:cNvPr id="4" name="スライド番号プレースホルダー 3">
            <a:extLst>
              <a:ext uri="{FF2B5EF4-FFF2-40B4-BE49-F238E27FC236}">
                <a16:creationId xmlns:a16="http://schemas.microsoft.com/office/drawing/2014/main" id="{0EFB7AAD-6C80-B447-59A6-FC7393A03A2D}"/>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15</a:t>
            </a:fld>
            <a:endParaRPr lang="en-US" altLang="ja-JP"/>
          </a:p>
        </p:txBody>
      </p:sp>
      <p:sp>
        <p:nvSpPr>
          <p:cNvPr id="2" name="コンテンツ プレースホルダー 5">
            <a:extLst>
              <a:ext uri="{FF2B5EF4-FFF2-40B4-BE49-F238E27FC236}">
                <a16:creationId xmlns:a16="http://schemas.microsoft.com/office/drawing/2014/main" id="{A60CBE6B-1873-3214-B322-C52D61416F7E}"/>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約</a:t>
            </a:r>
            <a:r>
              <a:rPr lang="en-US" altLang="ja-JP" sz="1600" kern="0"/>
              <a:t>1</a:t>
            </a:r>
            <a:r>
              <a:rPr lang="ja-JP" altLang="en-US" sz="1600" kern="0"/>
              <a:t>時間の業務（</a:t>
            </a:r>
            <a:r>
              <a:rPr lang="en-US" altLang="ja-JP" sz="1600" kern="0"/>
              <a:t>BPS</a:t>
            </a:r>
            <a:r>
              <a:rPr lang="ja-JP" altLang="en-US" sz="1600" kern="0"/>
              <a:t>事例）をベースに、</a:t>
            </a:r>
            <a:r>
              <a:rPr lang="en-US" altLang="ja-JP" sz="1600" kern="0"/>
              <a:t>n8n</a:t>
            </a:r>
            <a:r>
              <a:rPr lang="ja-JP" altLang="en-US" sz="1600" kern="0"/>
              <a:t>構築を検討すると、初期フェーズでは約</a:t>
            </a:r>
            <a:r>
              <a:rPr lang="en-US" altLang="ja-JP" sz="1600" kern="0"/>
              <a:t>1</a:t>
            </a:r>
            <a:r>
              <a:rPr lang="ja-JP" altLang="en-US" sz="1600" kern="0"/>
              <a:t>人月の作業になる。</a:t>
            </a:r>
            <a:br>
              <a:rPr lang="en-US" altLang="ja-JP" sz="1600" kern="0"/>
            </a:br>
            <a:r>
              <a:rPr lang="en-US" altLang="ja-JP" sz="1600" kern="0"/>
              <a:t>※n8n</a:t>
            </a:r>
            <a:r>
              <a:rPr lang="ja-JP" altLang="en-US" sz="1600" kern="0"/>
              <a:t>の機能の標準化が進めば、技術調査と構築工数は半減するイメージ</a:t>
            </a:r>
            <a:endParaRPr lang="en-US" altLang="ja-JP" sz="1600" kern="0"/>
          </a:p>
        </p:txBody>
      </p:sp>
      <p:grpSp>
        <p:nvGrpSpPr>
          <p:cNvPr id="113" name="グループ化 112">
            <a:extLst>
              <a:ext uri="{FF2B5EF4-FFF2-40B4-BE49-F238E27FC236}">
                <a16:creationId xmlns:a16="http://schemas.microsoft.com/office/drawing/2014/main" id="{71B3E70B-0ECC-69F2-143E-B5ABE3B3DE1A}"/>
              </a:ext>
            </a:extLst>
          </p:cNvPr>
          <p:cNvGrpSpPr/>
          <p:nvPr/>
        </p:nvGrpSpPr>
        <p:grpSpPr>
          <a:xfrm>
            <a:off x="101600" y="2392934"/>
            <a:ext cx="11988800" cy="2676883"/>
            <a:chOff x="126197" y="2392934"/>
            <a:chExt cx="11988800" cy="2676883"/>
          </a:xfrm>
        </p:grpSpPr>
        <p:grpSp>
          <p:nvGrpSpPr>
            <p:cNvPr id="111" name="グループ化 110">
              <a:extLst>
                <a:ext uri="{FF2B5EF4-FFF2-40B4-BE49-F238E27FC236}">
                  <a16:creationId xmlns:a16="http://schemas.microsoft.com/office/drawing/2014/main" id="{83C5649C-2996-DF48-7CB7-AAA05D5AD042}"/>
                </a:ext>
              </a:extLst>
            </p:cNvPr>
            <p:cNvGrpSpPr/>
            <p:nvPr/>
          </p:nvGrpSpPr>
          <p:grpSpPr>
            <a:xfrm>
              <a:off x="126197" y="2392934"/>
              <a:ext cx="8678286" cy="2523092"/>
              <a:chOff x="126197" y="2392934"/>
              <a:chExt cx="8678286" cy="2523092"/>
            </a:xfrm>
          </p:grpSpPr>
          <p:grpSp>
            <p:nvGrpSpPr>
              <p:cNvPr id="110" name="グループ化 109">
                <a:extLst>
                  <a:ext uri="{FF2B5EF4-FFF2-40B4-BE49-F238E27FC236}">
                    <a16:creationId xmlns:a16="http://schemas.microsoft.com/office/drawing/2014/main" id="{0C3A67EC-95F9-36B4-3678-5DC9AB559F71}"/>
                  </a:ext>
                </a:extLst>
              </p:cNvPr>
              <p:cNvGrpSpPr/>
              <p:nvPr/>
            </p:nvGrpSpPr>
            <p:grpSpPr>
              <a:xfrm>
                <a:off x="126197" y="2392934"/>
                <a:ext cx="8678286" cy="396774"/>
                <a:chOff x="203200" y="2392934"/>
                <a:chExt cx="8678286" cy="396774"/>
              </a:xfrm>
            </p:grpSpPr>
            <p:sp>
              <p:nvSpPr>
                <p:cNvPr id="100" name="テキスト ボックス 99">
                  <a:extLst>
                    <a:ext uri="{FF2B5EF4-FFF2-40B4-BE49-F238E27FC236}">
                      <a16:creationId xmlns:a16="http://schemas.microsoft.com/office/drawing/2014/main" id="{45C81AB2-C455-4A06-E38E-4016319D3C95}"/>
                    </a:ext>
                  </a:extLst>
                </p:cNvPr>
                <p:cNvSpPr txBox="1"/>
                <p:nvPr/>
              </p:nvSpPr>
              <p:spPr bwMode="auto">
                <a:xfrm>
                  <a:off x="203200" y="2392934"/>
                  <a:ext cx="8678286" cy="338555"/>
                </a:xfrm>
                <a:prstGeom prst="rect">
                  <a:avLst/>
                </a:prstGeom>
                <a:noFill/>
                <a:ln w="9525">
                  <a:noFill/>
                  <a:miter lim="800000"/>
                  <a:headEnd/>
                  <a:tailEnd/>
                </a:ln>
              </p:spPr>
              <p:txBody>
                <a:bodyPr wrap="square" rtlCol="0" anchor="ctr">
                  <a:spAutoFit/>
                </a:bodyPr>
                <a:lstStyle/>
                <a:p>
                  <a:pPr algn="ctr">
                    <a:defRPr/>
                  </a:pPr>
                  <a:r>
                    <a:rPr lang="ja-JP" altLang="en-US" sz="1600" b="1">
                      <a:solidFill>
                        <a:srgbClr val="E7E6E6">
                          <a:lumMod val="50000"/>
                        </a:srgbClr>
                      </a:solidFill>
                      <a:latin typeface="Meiryo UI" panose="020B0604030504040204" pitchFamily="50" charset="-128"/>
                      <a:ea typeface="Meiryo UI" panose="020B0604030504040204" pitchFamily="50" charset="-128"/>
                    </a:rPr>
                    <a:t>例）</a:t>
                  </a:r>
                  <a:r>
                    <a:rPr lang="en-US" altLang="ja-JP" sz="1600" b="1">
                      <a:solidFill>
                        <a:srgbClr val="E7E6E6">
                          <a:lumMod val="50000"/>
                        </a:srgbClr>
                      </a:solidFill>
                      <a:latin typeface="Meiryo UI" panose="020B0604030504040204" pitchFamily="50" charset="-128"/>
                      <a:ea typeface="Meiryo UI" panose="020B0604030504040204" pitchFamily="50" charset="-128"/>
                    </a:rPr>
                    <a:t>BPS</a:t>
                  </a:r>
                  <a:r>
                    <a:rPr lang="ja-JP" altLang="en-US" sz="1600" b="1">
                      <a:solidFill>
                        <a:srgbClr val="E7E6E6">
                          <a:lumMod val="50000"/>
                        </a:srgbClr>
                      </a:solidFill>
                      <a:latin typeface="Meiryo UI" panose="020B0604030504040204" pitchFamily="50" charset="-128"/>
                      <a:ea typeface="Meiryo UI" panose="020B0604030504040204" pitchFamily="50" charset="-128"/>
                    </a:rPr>
                    <a:t>の</a:t>
                  </a:r>
                  <a:r>
                    <a:rPr lang="en-US" altLang="ja-JP" sz="1600" b="1">
                      <a:solidFill>
                        <a:srgbClr val="E7E6E6">
                          <a:lumMod val="50000"/>
                        </a:srgbClr>
                      </a:solidFill>
                      <a:latin typeface="Meiryo UI" panose="020B0604030504040204" pitchFamily="50" charset="-128"/>
                      <a:ea typeface="Meiryo UI" panose="020B0604030504040204" pitchFamily="50" charset="-128"/>
                    </a:rPr>
                    <a:t>ASIS</a:t>
                  </a:r>
                  <a:r>
                    <a:rPr lang="ja-JP" altLang="en-US" sz="1600" b="1">
                      <a:solidFill>
                        <a:srgbClr val="E7E6E6">
                          <a:lumMod val="50000"/>
                        </a:srgbClr>
                      </a:solidFill>
                      <a:latin typeface="Meiryo UI" panose="020B0604030504040204" pitchFamily="50" charset="-128"/>
                      <a:ea typeface="Meiryo UI" panose="020B0604030504040204" pitchFamily="50" charset="-128"/>
                    </a:rPr>
                    <a:t>業務（約</a:t>
                  </a:r>
                  <a:r>
                    <a:rPr lang="en-US" altLang="ja-JP" sz="1600" b="1">
                      <a:solidFill>
                        <a:srgbClr val="E7E6E6">
                          <a:lumMod val="50000"/>
                        </a:srgbClr>
                      </a:solidFill>
                      <a:latin typeface="Meiryo UI" panose="020B0604030504040204" pitchFamily="50" charset="-128"/>
                      <a:ea typeface="Meiryo UI" panose="020B0604030504040204" pitchFamily="50" charset="-128"/>
                    </a:rPr>
                    <a:t>1</a:t>
                  </a:r>
                  <a:r>
                    <a:rPr lang="ja-JP" altLang="en-US" sz="1600" b="1">
                      <a:solidFill>
                        <a:srgbClr val="E7E6E6">
                          <a:lumMod val="50000"/>
                        </a:srgbClr>
                      </a:solidFill>
                      <a:latin typeface="Meiryo UI" panose="020B0604030504040204" pitchFamily="50" charset="-128"/>
                      <a:ea typeface="Meiryo UI" panose="020B0604030504040204" pitchFamily="50" charset="-128"/>
                    </a:rPr>
                    <a:t>時間の作業）と</a:t>
                  </a:r>
                  <a:r>
                    <a:rPr lang="en-US" altLang="ja-JP" sz="1600" b="1">
                      <a:solidFill>
                        <a:srgbClr val="E7E6E6">
                          <a:lumMod val="50000"/>
                        </a:srgbClr>
                      </a:solidFill>
                      <a:latin typeface="Meiryo UI" panose="020B0604030504040204" pitchFamily="50" charset="-128"/>
                      <a:ea typeface="Meiryo UI" panose="020B0604030504040204" pitchFamily="50" charset="-128"/>
                    </a:rPr>
                    <a:t>n8n</a:t>
                  </a:r>
                  <a:r>
                    <a:rPr lang="ja-JP" altLang="en-US" sz="1600" b="1">
                      <a:solidFill>
                        <a:srgbClr val="E7E6E6">
                          <a:lumMod val="50000"/>
                        </a:srgbClr>
                      </a:solidFill>
                      <a:latin typeface="Meiryo UI" panose="020B0604030504040204" pitchFamily="50" charset="-128"/>
                      <a:ea typeface="Meiryo UI" panose="020B0604030504040204" pitchFamily="50" charset="-128"/>
                    </a:rPr>
                    <a:t>適用の</a:t>
                  </a:r>
                  <a:r>
                    <a:rPr lang="en-US" altLang="ja-JP" sz="1600" b="1">
                      <a:solidFill>
                        <a:srgbClr val="E7E6E6">
                          <a:lumMod val="50000"/>
                        </a:srgbClr>
                      </a:solidFill>
                      <a:latin typeface="Meiryo UI" panose="020B0604030504040204" pitchFamily="50" charset="-128"/>
                      <a:ea typeface="Meiryo UI" panose="020B0604030504040204" pitchFamily="50" charset="-128"/>
                    </a:rPr>
                    <a:t>TOBE</a:t>
                  </a:r>
                  <a:r>
                    <a:rPr lang="ja-JP" altLang="en-US" sz="1600" b="1">
                      <a:solidFill>
                        <a:srgbClr val="E7E6E6">
                          <a:lumMod val="50000"/>
                        </a:srgbClr>
                      </a:solidFill>
                      <a:latin typeface="Meiryo UI" panose="020B0604030504040204" pitchFamily="50" charset="-128"/>
                      <a:ea typeface="Meiryo UI" panose="020B0604030504040204" pitchFamily="50" charset="-128"/>
                    </a:rPr>
                    <a:t>フロー図</a:t>
                  </a:r>
                </a:p>
              </p:txBody>
            </p:sp>
            <p:cxnSp>
              <p:nvCxnSpPr>
                <p:cNvPr id="101" name="直線コネクタ 100">
                  <a:extLst>
                    <a:ext uri="{FF2B5EF4-FFF2-40B4-BE49-F238E27FC236}">
                      <a16:creationId xmlns:a16="http://schemas.microsoft.com/office/drawing/2014/main" id="{838E6F60-93CA-B5B6-E920-04EC25EF7A35}"/>
                    </a:ext>
                  </a:extLst>
                </p:cNvPr>
                <p:cNvCxnSpPr>
                  <a:cxnSpLocks/>
                </p:cNvCxnSpPr>
                <p:nvPr/>
              </p:nvCxnSpPr>
              <p:spPr>
                <a:xfrm>
                  <a:off x="203200" y="2789708"/>
                  <a:ext cx="8678286" cy="0"/>
                </a:xfrm>
                <a:prstGeom prst="line">
                  <a:avLst/>
                </a:prstGeom>
                <a:noFill/>
                <a:ln w="6350" cap="flat" cmpd="sng" algn="ctr">
                  <a:solidFill>
                    <a:sysClr val="windowText" lastClr="000000"/>
                  </a:solidFill>
                  <a:prstDash val="solid"/>
                  <a:miter lim="800000"/>
                </a:ln>
                <a:effectLst/>
              </p:spPr>
            </p:cxnSp>
          </p:grpSp>
          <p:grpSp>
            <p:nvGrpSpPr>
              <p:cNvPr id="95" name="グループ化 94">
                <a:extLst>
                  <a:ext uri="{FF2B5EF4-FFF2-40B4-BE49-F238E27FC236}">
                    <a16:creationId xmlns:a16="http://schemas.microsoft.com/office/drawing/2014/main" id="{AFCCF5C2-213B-E901-23AE-8821C7E848C5}"/>
                  </a:ext>
                </a:extLst>
              </p:cNvPr>
              <p:cNvGrpSpPr/>
              <p:nvPr/>
            </p:nvGrpSpPr>
            <p:grpSpPr>
              <a:xfrm>
                <a:off x="126197" y="3020343"/>
                <a:ext cx="8678286" cy="1895683"/>
                <a:chOff x="75612" y="2702326"/>
                <a:chExt cx="12152164" cy="2654516"/>
              </a:xfrm>
            </p:grpSpPr>
            <p:cxnSp>
              <p:nvCxnSpPr>
                <p:cNvPr id="50" name="直線矢印コネクタ 41">
                  <a:extLst>
                    <a:ext uri="{FF2B5EF4-FFF2-40B4-BE49-F238E27FC236}">
                      <a16:creationId xmlns:a16="http://schemas.microsoft.com/office/drawing/2014/main" id="{DFB203D2-CA0C-6C2A-73EC-8177C2600E0D}"/>
                    </a:ext>
                  </a:extLst>
                </p:cNvPr>
                <p:cNvCxnSpPr>
                  <a:cxnSpLocks/>
                  <a:stCxn id="82" idx="2"/>
                  <a:endCxn id="91" idx="0"/>
                </p:cNvCxnSpPr>
                <p:nvPr/>
              </p:nvCxnSpPr>
              <p:spPr>
                <a:xfrm rot="16200000" flipH="1" flipV="1">
                  <a:off x="8030611" y="3426606"/>
                  <a:ext cx="572546" cy="1175390"/>
                </a:xfrm>
                <a:prstGeom prst="bentConnector3">
                  <a:avLst>
                    <a:gd name="adj1" fmla="val 52759"/>
                  </a:avLst>
                </a:prstGeom>
                <a:noFill/>
                <a:ln w="19050" cap="flat" cmpd="sng" algn="ctr">
                  <a:solidFill>
                    <a:srgbClr val="262699"/>
                  </a:solidFill>
                  <a:prstDash val="sysDash"/>
                  <a:miter lim="800000"/>
                  <a:tailEnd type="triangle"/>
                </a:ln>
                <a:effectLst/>
              </p:spPr>
            </p:cxnSp>
            <p:sp>
              <p:nvSpPr>
                <p:cNvPr id="51" name="正方形/長方形 50">
                  <a:extLst>
                    <a:ext uri="{FF2B5EF4-FFF2-40B4-BE49-F238E27FC236}">
                      <a16:creationId xmlns:a16="http://schemas.microsoft.com/office/drawing/2014/main" id="{10FA76CA-3011-1ABC-2F49-E0B4F5ACA56D}"/>
                    </a:ext>
                  </a:extLst>
                </p:cNvPr>
                <p:cNvSpPr/>
                <p:nvPr/>
              </p:nvSpPr>
              <p:spPr>
                <a:xfrm>
                  <a:off x="75612" y="2702326"/>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2" name="正方形/長方形 51">
                  <a:extLst>
                    <a:ext uri="{FF2B5EF4-FFF2-40B4-BE49-F238E27FC236}">
                      <a16:creationId xmlns:a16="http://schemas.microsoft.com/office/drawing/2014/main" id="{2F4E71D1-D38C-F744-3F37-C24E4B3FF929}"/>
                    </a:ext>
                  </a:extLst>
                </p:cNvPr>
                <p:cNvSpPr/>
                <p:nvPr/>
              </p:nvSpPr>
              <p:spPr>
                <a:xfrm>
                  <a:off x="733507" y="2702326"/>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53" name="正方形/長方形 52">
                  <a:extLst>
                    <a:ext uri="{FF2B5EF4-FFF2-40B4-BE49-F238E27FC236}">
                      <a16:creationId xmlns:a16="http://schemas.microsoft.com/office/drawing/2014/main" id="{322BC8D9-24C9-B817-1DE4-BACE9CE281AF}"/>
                    </a:ext>
                  </a:extLst>
                </p:cNvPr>
                <p:cNvSpPr/>
                <p:nvPr/>
              </p:nvSpPr>
              <p:spPr>
                <a:xfrm>
                  <a:off x="73350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格納</a:t>
                  </a:r>
                </a:p>
              </p:txBody>
            </p:sp>
            <p:sp>
              <p:nvSpPr>
                <p:cNvPr id="54" name="正方形/長方形 53">
                  <a:extLst>
                    <a:ext uri="{FF2B5EF4-FFF2-40B4-BE49-F238E27FC236}">
                      <a16:creationId xmlns:a16="http://schemas.microsoft.com/office/drawing/2014/main" id="{EEC4D789-CFF6-7580-348F-1D204AC4CACA}"/>
                    </a:ext>
                  </a:extLst>
                </p:cNvPr>
                <p:cNvSpPr/>
                <p:nvPr/>
              </p:nvSpPr>
              <p:spPr>
                <a:xfrm>
                  <a:off x="1912616"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55" name="正方形/長方形 54">
                  <a:extLst>
                    <a:ext uri="{FF2B5EF4-FFF2-40B4-BE49-F238E27FC236}">
                      <a16:creationId xmlns:a16="http://schemas.microsoft.com/office/drawing/2014/main" id="{3A6F51C1-A53C-17DD-0DC8-C07DA9685B1D}"/>
                    </a:ext>
                  </a:extLst>
                </p:cNvPr>
                <p:cNvSpPr/>
                <p:nvPr/>
              </p:nvSpPr>
              <p:spPr>
                <a:xfrm>
                  <a:off x="3097713"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56" name="正方形/長方形 55">
                  <a:extLst>
                    <a:ext uri="{FF2B5EF4-FFF2-40B4-BE49-F238E27FC236}">
                      <a16:creationId xmlns:a16="http://schemas.microsoft.com/office/drawing/2014/main" id="{5F44319D-8B97-BEB1-FE4F-34136E43464E}"/>
                    </a:ext>
                  </a:extLst>
                </p:cNvPr>
                <p:cNvSpPr/>
                <p:nvPr/>
              </p:nvSpPr>
              <p:spPr>
                <a:xfrm>
                  <a:off x="1912616"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57" name="正方形/長方形 56">
                  <a:extLst>
                    <a:ext uri="{FF2B5EF4-FFF2-40B4-BE49-F238E27FC236}">
                      <a16:creationId xmlns:a16="http://schemas.microsoft.com/office/drawing/2014/main" id="{0A642A25-271F-5AA8-1551-9F31B37A1F1C}"/>
                    </a:ext>
                  </a:extLst>
                </p:cNvPr>
                <p:cNvSpPr/>
                <p:nvPr/>
              </p:nvSpPr>
              <p:spPr>
                <a:xfrm>
                  <a:off x="4237649"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fontAlgn="auto">
                    <a:spcBef>
                      <a:spcPts val="0"/>
                    </a:spcBef>
                    <a:spcAft>
                      <a:spcPts val="0"/>
                    </a:spcAft>
                  </a:pPr>
                  <a:r>
                    <a:rPr kumimoji="0" lang="ja-JP" altLang="en-US" sz="700" kern="0">
                      <a:solidFill>
                        <a:srgbClr val="E7E6E6">
                          <a:lumMod val="50000"/>
                        </a:srgbClr>
                      </a:solidFill>
                      <a:latin typeface="Meiryo UI" panose="020B0604030504040204" pitchFamily="50" charset="-128"/>
                      <a:ea typeface="Meiryo UI" panose="020B0604030504040204" pitchFamily="50" charset="-128"/>
                    </a:rPr>
                    <a:t>支払依頼</a:t>
                  </a:r>
                  <a:r>
                    <a:rPr kumimoji="0" lang="en-US" altLang="ja-JP" sz="700" kern="0">
                      <a:solidFill>
                        <a:srgbClr val="E7E6E6">
                          <a:lumMod val="50000"/>
                        </a:srgbClr>
                      </a:solidFill>
                      <a:latin typeface="Meiryo UI" panose="020B0604030504040204" pitchFamily="50" charset="-128"/>
                      <a:ea typeface="Meiryo UI" panose="020B0604030504040204" pitchFamily="50" charset="-128"/>
                    </a:rPr>
                    <a:t>WS</a:t>
                  </a:r>
                  <a:r>
                    <a:rPr kumimoji="0" lang="ja-JP" altLang="en-US" sz="700" kern="0">
                      <a:solidFill>
                        <a:srgbClr val="E7E6E6">
                          <a:lumMod val="50000"/>
                        </a:srgbClr>
                      </a:solidFill>
                      <a:latin typeface="Meiryo UI" panose="020B0604030504040204" pitchFamily="50" charset="-128"/>
                      <a:ea typeface="Meiryo UI" panose="020B0604030504040204" pitchFamily="50" charset="-128"/>
                    </a:rPr>
                    <a:t>の</a:t>
                  </a:r>
                  <a:br>
                    <a:rPr kumimoji="0" lang="en-US" altLang="ja-JP" sz="700" kern="0">
                      <a:solidFill>
                        <a:srgbClr val="E7E6E6">
                          <a:lumMod val="50000"/>
                        </a:srgbClr>
                      </a:solidFill>
                      <a:latin typeface="Meiryo UI" panose="020B0604030504040204" pitchFamily="50" charset="-128"/>
                      <a:ea typeface="Meiryo UI" panose="020B0604030504040204" pitchFamily="50" charset="-128"/>
                    </a:rPr>
                  </a:br>
                  <a:r>
                    <a:rPr kumimoji="0" lang="ja-JP" altLang="en-US" sz="700" kern="0">
                      <a:solidFill>
                        <a:srgbClr val="E7E6E6">
                          <a:lumMod val="50000"/>
                        </a:srgbClr>
                      </a:solidFill>
                      <a:latin typeface="Meiryo UI" panose="020B0604030504040204" pitchFamily="50" charset="-128"/>
                      <a:ea typeface="Meiryo UI" panose="020B0604030504040204" pitchFamily="50" charset="-128"/>
                    </a:rPr>
                    <a:t>一次チェック</a:t>
                  </a:r>
                </a:p>
              </p:txBody>
            </p:sp>
            <p:sp>
              <p:nvSpPr>
                <p:cNvPr id="58" name="正方形/長方形 57">
                  <a:extLst>
                    <a:ext uri="{FF2B5EF4-FFF2-40B4-BE49-F238E27FC236}">
                      <a16:creationId xmlns:a16="http://schemas.microsoft.com/office/drawing/2014/main" id="{AA6B3EB9-14A8-7CB6-7F55-088CCE79DC76}"/>
                    </a:ext>
                  </a:extLst>
                </p:cNvPr>
                <p:cNvSpPr/>
                <p:nvPr/>
              </p:nvSpPr>
              <p:spPr>
                <a:xfrm>
                  <a:off x="542274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59" name="正方形/長方形 58">
                  <a:extLst>
                    <a:ext uri="{FF2B5EF4-FFF2-40B4-BE49-F238E27FC236}">
                      <a16:creationId xmlns:a16="http://schemas.microsoft.com/office/drawing/2014/main" id="{005BE520-73FF-4E99-8D79-7BA1414783B4}"/>
                    </a:ext>
                  </a:extLst>
                </p:cNvPr>
                <p:cNvSpPr/>
                <p:nvPr/>
              </p:nvSpPr>
              <p:spPr>
                <a:xfrm>
                  <a:off x="4237649"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60" name="正方形/長方形 59">
                  <a:extLst>
                    <a:ext uri="{FF2B5EF4-FFF2-40B4-BE49-F238E27FC236}">
                      <a16:creationId xmlns:a16="http://schemas.microsoft.com/office/drawing/2014/main" id="{3D8CF879-5BBA-5E86-7B87-BA47919A20E0}"/>
                    </a:ext>
                  </a:extLst>
                </p:cNvPr>
                <p:cNvSpPr/>
                <p:nvPr/>
              </p:nvSpPr>
              <p:spPr>
                <a:xfrm>
                  <a:off x="6575704"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用前処理</a:t>
                  </a:r>
                </a:p>
              </p:txBody>
            </p:sp>
            <p:sp>
              <p:nvSpPr>
                <p:cNvPr id="61" name="正方形/長方形 60">
                  <a:extLst>
                    <a:ext uri="{FF2B5EF4-FFF2-40B4-BE49-F238E27FC236}">
                      <a16:creationId xmlns:a16="http://schemas.microsoft.com/office/drawing/2014/main" id="{4F089747-6365-6963-2B9D-FC4AF12A94DB}"/>
                    </a:ext>
                  </a:extLst>
                </p:cNvPr>
                <p:cNvSpPr/>
                <p:nvPr/>
              </p:nvSpPr>
              <p:spPr>
                <a:xfrm>
                  <a:off x="7760802"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ファイル移動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ExcelVBA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準備</a:t>
                  </a:r>
                </a:p>
              </p:txBody>
            </p:sp>
            <p:sp>
              <p:nvSpPr>
                <p:cNvPr id="62" name="正方形/長方形 61">
                  <a:extLst>
                    <a:ext uri="{FF2B5EF4-FFF2-40B4-BE49-F238E27FC236}">
                      <a16:creationId xmlns:a16="http://schemas.microsoft.com/office/drawing/2014/main" id="{D93A5A6E-28EA-E3B0-B97D-75C13778B124}"/>
                    </a:ext>
                  </a:extLst>
                </p:cNvPr>
                <p:cNvSpPr/>
                <p:nvPr/>
              </p:nvSpPr>
              <p:spPr>
                <a:xfrm>
                  <a:off x="6575703" y="2702326"/>
                  <a:ext cx="4657754"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処理準備・実行</a:t>
                  </a:r>
                </a:p>
              </p:txBody>
            </p:sp>
            <p:sp>
              <p:nvSpPr>
                <p:cNvPr id="63" name="正方形/長方形 62">
                  <a:extLst>
                    <a:ext uri="{FF2B5EF4-FFF2-40B4-BE49-F238E27FC236}">
                      <a16:creationId xmlns:a16="http://schemas.microsoft.com/office/drawing/2014/main" id="{58ABCE60-DAC0-E0C9-4CDB-E4002540309B}"/>
                    </a:ext>
                  </a:extLst>
                </p:cNvPr>
                <p:cNvSpPr/>
                <p:nvPr/>
              </p:nvSpPr>
              <p:spPr>
                <a:xfrm>
                  <a:off x="8945899"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実行</a:t>
                  </a:r>
                </a:p>
              </p:txBody>
            </p:sp>
            <p:sp>
              <p:nvSpPr>
                <p:cNvPr id="64" name="正方形/長方形 63">
                  <a:extLst>
                    <a:ext uri="{FF2B5EF4-FFF2-40B4-BE49-F238E27FC236}">
                      <a16:creationId xmlns:a16="http://schemas.microsoft.com/office/drawing/2014/main" id="{8AD17CDC-E71E-76BC-D158-C1B4DEB87234}"/>
                    </a:ext>
                  </a:extLst>
                </p:cNvPr>
                <p:cNvSpPr/>
                <p:nvPr/>
              </p:nvSpPr>
              <p:spPr>
                <a:xfrm>
                  <a:off x="10130997"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65" name="四角形: 角を丸くする 64">
                  <a:extLst>
                    <a:ext uri="{FF2B5EF4-FFF2-40B4-BE49-F238E27FC236}">
                      <a16:creationId xmlns:a16="http://schemas.microsoft.com/office/drawing/2014/main" id="{7A3659D1-057F-5132-FDE9-949F9C43F6CF}"/>
                    </a:ext>
                  </a:extLst>
                </p:cNvPr>
                <p:cNvSpPr/>
                <p:nvPr/>
              </p:nvSpPr>
              <p:spPr>
                <a:xfrm>
                  <a:off x="249911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66" name="四角形: 角を丸くする 65">
                  <a:extLst>
                    <a:ext uri="{FF2B5EF4-FFF2-40B4-BE49-F238E27FC236}">
                      <a16:creationId xmlns:a16="http://schemas.microsoft.com/office/drawing/2014/main" id="{0EDDB42A-C077-6E8A-895E-2E98DEEE03AA}"/>
                    </a:ext>
                  </a:extLst>
                </p:cNvPr>
                <p:cNvSpPr/>
                <p:nvPr/>
              </p:nvSpPr>
              <p:spPr>
                <a:xfrm>
                  <a:off x="368693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7" name="四角形: 角を丸くする 66">
                  <a:extLst>
                    <a:ext uri="{FF2B5EF4-FFF2-40B4-BE49-F238E27FC236}">
                      <a16:creationId xmlns:a16="http://schemas.microsoft.com/office/drawing/2014/main" id="{AE836744-9981-B166-7067-7B6F54C549F3}"/>
                    </a:ext>
                  </a:extLst>
                </p:cNvPr>
                <p:cNvSpPr/>
                <p:nvPr/>
              </p:nvSpPr>
              <p:spPr>
                <a:xfrm>
                  <a:off x="7162661"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8" name="四角形: 角を丸くする 67">
                  <a:extLst>
                    <a:ext uri="{FF2B5EF4-FFF2-40B4-BE49-F238E27FC236}">
                      <a16:creationId xmlns:a16="http://schemas.microsoft.com/office/drawing/2014/main" id="{158B5C63-2575-5FA1-1B09-8421A350C7DA}"/>
                    </a:ext>
                  </a:extLst>
                </p:cNvPr>
                <p:cNvSpPr/>
                <p:nvPr/>
              </p:nvSpPr>
              <p:spPr>
                <a:xfrm>
                  <a:off x="9539685"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9" name="正方形/長方形 68">
                  <a:extLst>
                    <a:ext uri="{FF2B5EF4-FFF2-40B4-BE49-F238E27FC236}">
                      <a16:creationId xmlns:a16="http://schemas.microsoft.com/office/drawing/2014/main" id="{F3B0E100-D99A-B636-F1B3-83718C66640F}"/>
                    </a:ext>
                  </a:extLst>
                </p:cNvPr>
                <p:cNvSpPr/>
                <p:nvPr/>
              </p:nvSpPr>
              <p:spPr>
                <a:xfrm>
                  <a:off x="11305046" y="3095147"/>
                  <a:ext cx="922730" cy="424941"/>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0" name="正方形/長方形 69">
                  <a:extLst>
                    <a:ext uri="{FF2B5EF4-FFF2-40B4-BE49-F238E27FC236}">
                      <a16:creationId xmlns:a16="http://schemas.microsoft.com/office/drawing/2014/main" id="{904E5C5F-FC36-9556-93FB-235498185631}"/>
                    </a:ext>
                  </a:extLst>
                </p:cNvPr>
                <p:cNvSpPr/>
                <p:nvPr/>
              </p:nvSpPr>
              <p:spPr>
                <a:xfrm>
                  <a:off x="11305048" y="2702326"/>
                  <a:ext cx="922728"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a:t>
                  </a:r>
                  <a:r>
                    <a:rPr kumimoji="0" lang="ja-JP" altLang="en-US" sz="800" kern="0">
                      <a:solidFill>
                        <a:srgbClr val="E7E6E6">
                          <a:lumMod val="50000"/>
                        </a:srgbClr>
                      </a:solidFill>
                      <a:latin typeface="Meiryo UI" panose="020B0604030504040204" pitchFamily="50" charset="-128"/>
                      <a:ea typeface="Meiryo UI" panose="020B0604030504040204" pitchFamily="50" charset="-128"/>
                    </a:rPr>
                    <a:t>確認</a:t>
                  </a:r>
                  <a:endPar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FFE8A708-66B4-5976-2ADE-CA506BA2D403}"/>
                    </a:ext>
                  </a:extLst>
                </p:cNvPr>
                <p:cNvSpPr/>
                <p:nvPr/>
              </p:nvSpPr>
              <p:spPr>
                <a:xfrm>
                  <a:off x="87189" y="4340073"/>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38F00E42-0166-7E48-626E-AE757E31710D}"/>
                    </a:ext>
                  </a:extLst>
                </p:cNvPr>
                <p:cNvSpPr/>
                <p:nvPr/>
              </p:nvSpPr>
              <p:spPr>
                <a:xfrm>
                  <a:off x="733507" y="4340073"/>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73" name="正方形/長方形 72">
                  <a:extLst>
                    <a:ext uri="{FF2B5EF4-FFF2-40B4-BE49-F238E27FC236}">
                      <a16:creationId xmlns:a16="http://schemas.microsoft.com/office/drawing/2014/main" id="{0A613C06-0D39-2CA5-0F22-76EBD9165445}"/>
                    </a:ext>
                  </a:extLst>
                </p:cNvPr>
                <p:cNvSpPr/>
                <p:nvPr/>
              </p:nvSpPr>
              <p:spPr>
                <a:xfrm>
                  <a:off x="73350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格納</a:t>
                  </a:r>
                </a:p>
              </p:txBody>
            </p:sp>
            <p:sp>
              <p:nvSpPr>
                <p:cNvPr id="74" name="正方形/長方形 73">
                  <a:extLst>
                    <a:ext uri="{FF2B5EF4-FFF2-40B4-BE49-F238E27FC236}">
                      <a16:creationId xmlns:a16="http://schemas.microsoft.com/office/drawing/2014/main" id="{2B0FF8F9-E67A-33B2-DBB5-ED3345C4FBC0}"/>
                    </a:ext>
                  </a:extLst>
                </p:cNvPr>
                <p:cNvSpPr/>
                <p:nvPr/>
              </p:nvSpPr>
              <p:spPr>
                <a:xfrm>
                  <a:off x="1912616"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75" name="正方形/長方形 74">
                  <a:extLst>
                    <a:ext uri="{FF2B5EF4-FFF2-40B4-BE49-F238E27FC236}">
                      <a16:creationId xmlns:a16="http://schemas.microsoft.com/office/drawing/2014/main" id="{46F8D92A-9B7C-CB5B-ADB4-66BC6E2C1721}"/>
                    </a:ext>
                  </a:extLst>
                </p:cNvPr>
                <p:cNvSpPr/>
                <p:nvPr/>
              </p:nvSpPr>
              <p:spPr>
                <a:xfrm>
                  <a:off x="3097713"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76" name="正方形/長方形 75">
                  <a:extLst>
                    <a:ext uri="{FF2B5EF4-FFF2-40B4-BE49-F238E27FC236}">
                      <a16:creationId xmlns:a16="http://schemas.microsoft.com/office/drawing/2014/main" id="{6D90BF0C-C53E-F07A-4EA4-7BA34CBCB10F}"/>
                    </a:ext>
                  </a:extLst>
                </p:cNvPr>
                <p:cNvSpPr/>
                <p:nvPr/>
              </p:nvSpPr>
              <p:spPr>
                <a:xfrm>
                  <a:off x="1912616"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77" name="正方形/長方形 76">
                  <a:extLst>
                    <a:ext uri="{FF2B5EF4-FFF2-40B4-BE49-F238E27FC236}">
                      <a16:creationId xmlns:a16="http://schemas.microsoft.com/office/drawing/2014/main" id="{288199D2-B345-959C-5BD9-9DF3735B80C0}"/>
                    </a:ext>
                  </a:extLst>
                </p:cNvPr>
                <p:cNvSpPr/>
                <p:nvPr/>
              </p:nvSpPr>
              <p:spPr>
                <a:xfrm>
                  <a:off x="4237649"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fontAlgn="auto">
                    <a:spcBef>
                      <a:spcPts val="0"/>
                    </a:spcBef>
                    <a:spcAft>
                      <a:spcPts val="0"/>
                    </a:spcAft>
                  </a:pPr>
                  <a:r>
                    <a:rPr kumimoji="0" lang="ja-JP" altLang="en-US" sz="700" kern="0">
                      <a:solidFill>
                        <a:srgbClr val="E7E6E6">
                          <a:lumMod val="50000"/>
                        </a:srgbClr>
                      </a:solidFill>
                      <a:latin typeface="Meiryo UI" panose="020B0604030504040204" pitchFamily="50" charset="-128"/>
                      <a:ea typeface="Meiryo UI" panose="020B0604030504040204" pitchFamily="50" charset="-128"/>
                    </a:rPr>
                    <a:t>支払依頼</a:t>
                  </a:r>
                  <a:r>
                    <a:rPr kumimoji="0" lang="en-US" altLang="ja-JP" sz="700" kern="0">
                      <a:solidFill>
                        <a:srgbClr val="E7E6E6">
                          <a:lumMod val="50000"/>
                        </a:srgbClr>
                      </a:solidFill>
                      <a:latin typeface="Meiryo UI" panose="020B0604030504040204" pitchFamily="50" charset="-128"/>
                      <a:ea typeface="Meiryo UI" panose="020B0604030504040204" pitchFamily="50" charset="-128"/>
                    </a:rPr>
                    <a:t>WS</a:t>
                  </a:r>
                  <a:r>
                    <a:rPr kumimoji="0" lang="ja-JP" altLang="en-US" sz="700" kern="0">
                      <a:solidFill>
                        <a:srgbClr val="E7E6E6">
                          <a:lumMod val="50000"/>
                        </a:srgbClr>
                      </a:solidFill>
                      <a:latin typeface="Meiryo UI" panose="020B0604030504040204" pitchFamily="50" charset="-128"/>
                      <a:ea typeface="Meiryo UI" panose="020B0604030504040204" pitchFamily="50" charset="-128"/>
                    </a:rPr>
                    <a:t>の</a:t>
                  </a:r>
                  <a:br>
                    <a:rPr kumimoji="0" lang="en-US" altLang="ja-JP" sz="700" kern="0">
                      <a:solidFill>
                        <a:srgbClr val="E7E6E6">
                          <a:lumMod val="50000"/>
                        </a:srgbClr>
                      </a:solidFill>
                      <a:latin typeface="Meiryo UI" panose="020B0604030504040204" pitchFamily="50" charset="-128"/>
                      <a:ea typeface="Meiryo UI" panose="020B0604030504040204" pitchFamily="50" charset="-128"/>
                    </a:rPr>
                  </a:br>
                  <a:r>
                    <a:rPr kumimoji="0" lang="ja-JP" altLang="en-US" sz="700" kern="0">
                      <a:solidFill>
                        <a:srgbClr val="E7E6E6">
                          <a:lumMod val="50000"/>
                        </a:srgbClr>
                      </a:solidFill>
                      <a:latin typeface="Meiryo UI" panose="020B0604030504040204" pitchFamily="50" charset="-128"/>
                      <a:ea typeface="Meiryo UI" panose="020B0604030504040204" pitchFamily="50" charset="-128"/>
                    </a:rPr>
                    <a:t>一次チェック</a:t>
                  </a:r>
                </a:p>
              </p:txBody>
            </p:sp>
            <p:sp>
              <p:nvSpPr>
                <p:cNvPr id="78" name="正方形/長方形 77">
                  <a:extLst>
                    <a:ext uri="{FF2B5EF4-FFF2-40B4-BE49-F238E27FC236}">
                      <a16:creationId xmlns:a16="http://schemas.microsoft.com/office/drawing/2014/main" id="{B979D5DD-9C7F-B4CB-E054-897A91BF783B}"/>
                    </a:ext>
                  </a:extLst>
                </p:cNvPr>
                <p:cNvSpPr/>
                <p:nvPr/>
              </p:nvSpPr>
              <p:spPr>
                <a:xfrm>
                  <a:off x="542274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79" name="正方形/長方形 78">
                  <a:extLst>
                    <a:ext uri="{FF2B5EF4-FFF2-40B4-BE49-F238E27FC236}">
                      <a16:creationId xmlns:a16="http://schemas.microsoft.com/office/drawing/2014/main" id="{27ECF210-E048-C56A-889F-5B1DD24ED3E5}"/>
                    </a:ext>
                  </a:extLst>
                </p:cNvPr>
                <p:cNvSpPr/>
                <p:nvPr/>
              </p:nvSpPr>
              <p:spPr>
                <a:xfrm>
                  <a:off x="4237649"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80" name="四角形: 角を丸くする 79">
                  <a:extLst>
                    <a:ext uri="{FF2B5EF4-FFF2-40B4-BE49-F238E27FC236}">
                      <a16:creationId xmlns:a16="http://schemas.microsoft.com/office/drawing/2014/main" id="{F305D76C-CC57-8CD6-EC25-90435D67DD06}"/>
                    </a:ext>
                  </a:extLst>
                </p:cNvPr>
                <p:cNvSpPr/>
                <p:nvPr/>
              </p:nvSpPr>
              <p:spPr>
                <a:xfrm>
                  <a:off x="249911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81" name="四角形: 角を丸くする 80">
                  <a:extLst>
                    <a:ext uri="{FF2B5EF4-FFF2-40B4-BE49-F238E27FC236}">
                      <a16:creationId xmlns:a16="http://schemas.microsoft.com/office/drawing/2014/main" id="{1B3C117B-AE28-E217-B5F9-DEA0311F86A8}"/>
                    </a:ext>
                  </a:extLst>
                </p:cNvPr>
                <p:cNvSpPr/>
                <p:nvPr/>
              </p:nvSpPr>
              <p:spPr>
                <a:xfrm>
                  <a:off x="368693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2" name="右大かっこ 81">
                  <a:extLst>
                    <a:ext uri="{FF2B5EF4-FFF2-40B4-BE49-F238E27FC236}">
                      <a16:creationId xmlns:a16="http://schemas.microsoft.com/office/drawing/2014/main" id="{38F4B502-3E8F-90D1-C655-DA4E5C0B522B}"/>
                    </a:ext>
                  </a:extLst>
                </p:cNvPr>
                <p:cNvSpPr/>
                <p:nvPr/>
              </p:nvSpPr>
              <p:spPr>
                <a:xfrm rot="5400000">
                  <a:off x="8845673" y="1340244"/>
                  <a:ext cx="117812" cy="4657755"/>
                </a:xfrm>
                <a:prstGeom prst="rightBracket">
                  <a:avLst/>
                </a:prstGeom>
                <a:noFill/>
                <a:ln w="1905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3" name="正方形/長方形 82">
                  <a:extLst>
                    <a:ext uri="{FF2B5EF4-FFF2-40B4-BE49-F238E27FC236}">
                      <a16:creationId xmlns:a16="http://schemas.microsoft.com/office/drawing/2014/main" id="{78D51708-8F7A-4938-ADD8-D10C4C8A628E}"/>
                    </a:ext>
                  </a:extLst>
                </p:cNvPr>
                <p:cNvSpPr/>
                <p:nvPr/>
              </p:nvSpPr>
              <p:spPr>
                <a:xfrm>
                  <a:off x="6575704"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を基に処理実行</a:t>
                  </a:r>
                </a:p>
              </p:txBody>
            </p:sp>
            <p:sp>
              <p:nvSpPr>
                <p:cNvPr id="84" name="正方形/長方形 83">
                  <a:extLst>
                    <a:ext uri="{FF2B5EF4-FFF2-40B4-BE49-F238E27FC236}">
                      <a16:creationId xmlns:a16="http://schemas.microsoft.com/office/drawing/2014/main" id="{B4F58BDE-4972-AA6B-2BF5-628604570EFD}"/>
                    </a:ext>
                  </a:extLst>
                </p:cNvPr>
                <p:cNvSpPr/>
                <p:nvPr/>
              </p:nvSpPr>
              <p:spPr>
                <a:xfrm>
                  <a:off x="6575702" y="4340073"/>
                  <a:ext cx="2298607"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AI</a:t>
                  </a:r>
                  <a:r>
                    <a:rPr kumimoji="0" lang="ja-JP" altLang="en-US"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エージェントによる処理</a:t>
                  </a:r>
                </a:p>
              </p:txBody>
            </p:sp>
            <p:sp>
              <p:nvSpPr>
                <p:cNvPr id="85" name="四角形: 角を丸くする 84">
                  <a:extLst>
                    <a:ext uri="{FF2B5EF4-FFF2-40B4-BE49-F238E27FC236}">
                      <a16:creationId xmlns:a16="http://schemas.microsoft.com/office/drawing/2014/main" id="{CE459F75-C8A7-E987-FC5B-C5CB71F2EF9E}"/>
                    </a:ext>
                  </a:extLst>
                </p:cNvPr>
                <p:cNvSpPr/>
                <p:nvPr/>
              </p:nvSpPr>
              <p:spPr>
                <a:xfrm>
                  <a:off x="7162661"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6" name="正方形/長方形 85">
                  <a:extLst>
                    <a:ext uri="{FF2B5EF4-FFF2-40B4-BE49-F238E27FC236}">
                      <a16:creationId xmlns:a16="http://schemas.microsoft.com/office/drawing/2014/main" id="{468E190F-3426-FD9F-27A1-B3DE1B29DE9B}"/>
                    </a:ext>
                  </a:extLst>
                </p:cNvPr>
                <p:cNvSpPr/>
                <p:nvPr/>
              </p:nvSpPr>
              <p:spPr>
                <a:xfrm>
                  <a:off x="7760802"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87" name="四角形: 角を丸くする 86">
                  <a:extLst>
                    <a:ext uri="{FF2B5EF4-FFF2-40B4-BE49-F238E27FC236}">
                      <a16:creationId xmlns:a16="http://schemas.microsoft.com/office/drawing/2014/main" id="{FE64EC53-C137-D940-F32A-AC0B8A37AC1C}"/>
                    </a:ext>
                  </a:extLst>
                </p:cNvPr>
                <p:cNvSpPr/>
                <p:nvPr/>
              </p:nvSpPr>
              <p:spPr>
                <a:xfrm>
                  <a:off x="835458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grpSp>
              <p:nvGrpSpPr>
                <p:cNvPr id="88" name="グループ化 87">
                  <a:extLst>
                    <a:ext uri="{FF2B5EF4-FFF2-40B4-BE49-F238E27FC236}">
                      <a16:creationId xmlns:a16="http://schemas.microsoft.com/office/drawing/2014/main" id="{34870F60-BE56-D1C9-356F-6D6CE7AFBA57}"/>
                    </a:ext>
                  </a:extLst>
                </p:cNvPr>
                <p:cNvGrpSpPr/>
                <p:nvPr/>
              </p:nvGrpSpPr>
              <p:grpSpPr>
                <a:xfrm>
                  <a:off x="8945897" y="4340073"/>
                  <a:ext cx="922735" cy="817761"/>
                  <a:chOff x="11305047" y="4025748"/>
                  <a:chExt cx="922735" cy="817761"/>
                </a:xfrm>
              </p:grpSpPr>
              <p:sp>
                <p:nvSpPr>
                  <p:cNvPr id="89" name="正方形/長方形 88">
                    <a:extLst>
                      <a:ext uri="{FF2B5EF4-FFF2-40B4-BE49-F238E27FC236}">
                        <a16:creationId xmlns:a16="http://schemas.microsoft.com/office/drawing/2014/main" id="{BE76015D-1D69-1355-E3DD-69BC8D323111}"/>
                      </a:ext>
                    </a:extLst>
                  </p:cNvPr>
                  <p:cNvSpPr/>
                  <p:nvPr/>
                </p:nvSpPr>
                <p:spPr>
                  <a:xfrm>
                    <a:off x="11305047" y="4418570"/>
                    <a:ext cx="922729" cy="424939"/>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0" name="正方形/長方形 89">
                    <a:extLst>
                      <a:ext uri="{FF2B5EF4-FFF2-40B4-BE49-F238E27FC236}">
                        <a16:creationId xmlns:a16="http://schemas.microsoft.com/office/drawing/2014/main" id="{239AC782-7482-904A-B680-821D192982E3}"/>
                      </a:ext>
                    </a:extLst>
                  </p:cNvPr>
                  <p:cNvSpPr/>
                  <p:nvPr/>
                </p:nvSpPr>
                <p:spPr>
                  <a:xfrm>
                    <a:off x="11305049" y="4025748"/>
                    <a:ext cx="922733" cy="273403"/>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grpSp>
            <p:sp>
              <p:nvSpPr>
                <p:cNvPr id="91" name="正方形/長方形 90">
                  <a:extLst>
                    <a:ext uri="{FF2B5EF4-FFF2-40B4-BE49-F238E27FC236}">
                      <a16:creationId xmlns:a16="http://schemas.microsoft.com/office/drawing/2014/main" id="{2F1CBDE1-344B-EDD3-B5FE-AFE76280D144}"/>
                    </a:ext>
                  </a:extLst>
                </p:cNvPr>
                <p:cNvSpPr/>
                <p:nvPr/>
              </p:nvSpPr>
              <p:spPr>
                <a:xfrm>
                  <a:off x="6548262" y="4300574"/>
                  <a:ext cx="2361854" cy="1056268"/>
                </a:xfrm>
                <a:prstGeom prst="rect">
                  <a:avLst/>
                </a:prstGeom>
                <a:noFill/>
                <a:ln w="1270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2" name="テキスト ボックス 91">
                  <a:extLst>
                    <a:ext uri="{FF2B5EF4-FFF2-40B4-BE49-F238E27FC236}">
                      <a16:creationId xmlns:a16="http://schemas.microsoft.com/office/drawing/2014/main" id="{657CCAC6-4C00-BF07-3C19-F4612F6AEA8D}"/>
                    </a:ext>
                  </a:extLst>
                </p:cNvPr>
                <p:cNvSpPr txBox="1"/>
                <p:nvPr/>
              </p:nvSpPr>
              <p:spPr>
                <a:xfrm>
                  <a:off x="7909479" y="3769683"/>
                  <a:ext cx="805110" cy="517174"/>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AI</a:t>
                  </a:r>
                  <a:b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br>
                  <a:r>
                    <a:rPr kumimoji="0" lang="ja-JP" altLang="en-US"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エージェント化</a:t>
                  </a:r>
                  <a:endPar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endParaRPr>
                </a:p>
              </p:txBody>
            </p:sp>
            <p:cxnSp>
              <p:nvCxnSpPr>
                <p:cNvPr id="93" name="直線コネクタ 92">
                  <a:extLst>
                    <a:ext uri="{FF2B5EF4-FFF2-40B4-BE49-F238E27FC236}">
                      <a16:creationId xmlns:a16="http://schemas.microsoft.com/office/drawing/2014/main" id="{73C27887-8550-2EC0-E097-67AE8EF1D260}"/>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miter lim="800000"/>
                  <a:headEnd type="triangle"/>
                  <a:tailEnd type="triangle"/>
                </a:ln>
                <a:effectLst/>
              </p:spPr>
            </p:cxnSp>
            <p:sp>
              <p:nvSpPr>
                <p:cNvPr id="94" name="テキスト ボックス 93">
                  <a:extLst>
                    <a:ext uri="{FF2B5EF4-FFF2-40B4-BE49-F238E27FC236}">
                      <a16:creationId xmlns:a16="http://schemas.microsoft.com/office/drawing/2014/main" id="{379ADCAB-564E-A507-D156-07F8762EA317}"/>
                    </a:ext>
                  </a:extLst>
                </p:cNvPr>
                <p:cNvSpPr txBox="1"/>
                <p:nvPr/>
              </p:nvSpPr>
              <p:spPr>
                <a:xfrm>
                  <a:off x="10545083" y="4263399"/>
                  <a:ext cx="984727" cy="172392"/>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rPr>
                    <a:t>リードタイム短縮</a:t>
                  </a:r>
                  <a:endParaRPr kumimoji="0" lang="en-US" altLang="ja-JP" sz="8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endParaRPr>
                </a:p>
              </p:txBody>
            </p:sp>
          </p:grpSp>
        </p:grpSp>
        <p:grpSp>
          <p:nvGrpSpPr>
            <p:cNvPr id="112" name="グループ化 111">
              <a:extLst>
                <a:ext uri="{FF2B5EF4-FFF2-40B4-BE49-F238E27FC236}">
                  <a16:creationId xmlns:a16="http://schemas.microsoft.com/office/drawing/2014/main" id="{1289BCC0-DE00-EE25-EB32-94322A3C19BC}"/>
                </a:ext>
              </a:extLst>
            </p:cNvPr>
            <p:cNvGrpSpPr/>
            <p:nvPr/>
          </p:nvGrpSpPr>
          <p:grpSpPr>
            <a:xfrm>
              <a:off x="8992746" y="2866552"/>
              <a:ext cx="3122251" cy="2203265"/>
              <a:chOff x="8992746" y="2866552"/>
              <a:chExt cx="3122251" cy="2203265"/>
            </a:xfrm>
          </p:grpSpPr>
          <p:sp>
            <p:nvSpPr>
              <p:cNvPr id="105" name="左中かっこ 104">
                <a:extLst>
                  <a:ext uri="{FF2B5EF4-FFF2-40B4-BE49-F238E27FC236}">
                    <a16:creationId xmlns:a16="http://schemas.microsoft.com/office/drawing/2014/main" id="{E6457720-CBAD-FA90-977B-DDF4C13A8465}"/>
                  </a:ext>
                </a:extLst>
              </p:cNvPr>
              <p:cNvSpPr/>
              <p:nvPr/>
            </p:nvSpPr>
            <p:spPr>
              <a:xfrm>
                <a:off x="8992746" y="2866552"/>
                <a:ext cx="445743" cy="2203265"/>
              </a:xfrm>
              <a:prstGeom prst="leftBrace">
                <a:avLst>
                  <a:gd name="adj1" fmla="val 29702"/>
                  <a:gd name="adj2" fmla="val 50000"/>
                </a:avLst>
              </a:prstGeom>
              <a:noFill/>
              <a:ln w="6350" cap="flat" cmpd="sng" algn="ctr">
                <a:solidFill>
                  <a:sysClr val="windowText" lastClr="000000"/>
                </a:solidFill>
                <a:prstDash val="solid"/>
                <a:miter lim="800000"/>
              </a:ln>
              <a:effectLst/>
            </p:spPr>
            <p:txBody>
              <a:bodyPr rtlCol="0" anchor="ctr"/>
              <a:lstStyle/>
              <a:p>
                <a:pPr algn="ctr"/>
                <a:endParaRPr kumimoji="1" lang="ja-JP" altLang="en-US"/>
              </a:p>
            </p:txBody>
          </p:sp>
          <p:sp>
            <p:nvSpPr>
              <p:cNvPr id="106" name="テキスト ボックス 105">
                <a:extLst>
                  <a:ext uri="{FF2B5EF4-FFF2-40B4-BE49-F238E27FC236}">
                    <a16:creationId xmlns:a16="http://schemas.microsoft.com/office/drawing/2014/main" id="{06134D82-354A-D432-6917-F41344834B53}"/>
                  </a:ext>
                </a:extLst>
              </p:cNvPr>
              <p:cNvSpPr txBox="1"/>
              <p:nvPr/>
            </p:nvSpPr>
            <p:spPr bwMode="auto">
              <a:xfrm>
                <a:off x="9476005" y="2952522"/>
                <a:ext cx="2638992" cy="2031325"/>
              </a:xfrm>
              <a:prstGeom prst="rect">
                <a:avLst/>
              </a:prstGeom>
              <a:noFill/>
              <a:ln w="9525">
                <a:noFill/>
                <a:miter lim="800000"/>
                <a:headEnd/>
                <a:tailEnd/>
              </a:ln>
            </p:spPr>
            <p:txBody>
              <a:bodyPr wrap="square" rtlCol="0">
                <a:spAutoFit/>
              </a:bodyPr>
              <a:lstStyle/>
              <a:p>
                <a:pPr>
                  <a:defRPr/>
                </a:pPr>
                <a:r>
                  <a:rPr lang="ja-JP" altLang="en-US" sz="1400" b="1">
                    <a:solidFill>
                      <a:srgbClr val="E7E6E6">
                        <a:lumMod val="50000"/>
                      </a:srgbClr>
                    </a:solidFill>
                    <a:latin typeface="Meiryo UI" panose="020B0604030504040204" pitchFamily="50" charset="-128"/>
                    <a:ea typeface="Meiryo UI" panose="020B0604030504040204" pitchFamily="50" charset="-128"/>
                  </a:rPr>
                  <a:t>■約</a:t>
                </a:r>
                <a:r>
                  <a:rPr lang="en-US" altLang="ja-JP" sz="1400" b="1">
                    <a:solidFill>
                      <a:srgbClr val="E7E6E6">
                        <a:lumMod val="50000"/>
                      </a:srgbClr>
                    </a:solidFill>
                    <a:latin typeface="Meiryo UI" panose="020B0604030504040204" pitchFamily="50" charset="-128"/>
                    <a:ea typeface="Meiryo UI" panose="020B0604030504040204" pitchFamily="50" charset="-128"/>
                  </a:rPr>
                  <a:t>1</a:t>
                </a:r>
                <a:r>
                  <a:rPr lang="ja-JP" altLang="en-US" sz="1400" b="1">
                    <a:solidFill>
                      <a:srgbClr val="E7E6E6">
                        <a:lumMod val="50000"/>
                      </a:srgbClr>
                    </a:solidFill>
                    <a:latin typeface="Meiryo UI" panose="020B0604030504040204" pitchFamily="50" charset="-128"/>
                    <a:ea typeface="Meiryo UI" panose="020B0604030504040204" pitchFamily="50" charset="-128"/>
                  </a:rPr>
                  <a:t>人月の作業（以下内訳）</a:t>
                </a:r>
                <a:endParaRPr lang="en-US" altLang="ja-JP" sz="1400" b="1">
                  <a:solidFill>
                    <a:srgbClr val="E7E6E6">
                      <a:lumMod val="50000"/>
                    </a:srgbClr>
                  </a:solidFill>
                  <a:latin typeface="Meiryo UI" panose="020B0604030504040204" pitchFamily="50" charset="-128"/>
                  <a:ea typeface="Meiryo UI" panose="020B0604030504040204" pitchFamily="50" charset="-128"/>
                </a:endParaRPr>
              </a:p>
              <a:p>
                <a:pPr>
                  <a:defRPr/>
                </a:pPr>
                <a:endParaRPr lang="en-US" altLang="ja-JP" sz="1400" b="1" u="sng">
                  <a:solidFill>
                    <a:srgbClr val="E7E6E6">
                      <a:lumMod val="50000"/>
                    </a:srgbClr>
                  </a:solidFill>
                  <a:latin typeface="Meiryo UI" panose="020B0604030504040204" pitchFamily="50" charset="-128"/>
                  <a:ea typeface="Meiryo UI" panose="020B0604030504040204" pitchFamily="50" charset="-128"/>
                </a:endParaRPr>
              </a:p>
              <a:p>
                <a:pPr>
                  <a:defRPr/>
                </a:pPr>
                <a:r>
                  <a:rPr lang="ja-JP" altLang="en-US" sz="1400" b="1" u="sng">
                    <a:solidFill>
                      <a:srgbClr val="E7E6E6">
                        <a:lumMod val="50000"/>
                      </a:srgbClr>
                    </a:solidFill>
                    <a:latin typeface="Meiryo UI" panose="020B0604030504040204" pitchFamily="50" charset="-128"/>
                    <a:ea typeface="Meiryo UI" panose="020B0604030504040204" pitchFamily="50" charset="-128"/>
                  </a:rPr>
                  <a:t>エンジニア上流工程</a:t>
                </a:r>
                <a:endParaRPr lang="en-US" altLang="ja-JP" sz="1400" b="1" u="sng">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a:solidFill>
                      <a:srgbClr val="E7E6E6">
                        <a:lumMod val="50000"/>
                      </a:srgbClr>
                    </a:solidFill>
                    <a:latin typeface="Meiryo UI" panose="020B0604030504040204" pitchFamily="50" charset="-128"/>
                    <a:ea typeface="Meiryo UI" panose="020B0604030504040204" pitchFamily="50" charset="-128"/>
                  </a:rPr>
                  <a:t>業務分析：</a:t>
                </a:r>
                <a:r>
                  <a:rPr lang="en-US" altLang="ja-JP" sz="1400" b="1">
                    <a:solidFill>
                      <a:srgbClr val="E7E6E6">
                        <a:lumMod val="50000"/>
                      </a:srgbClr>
                    </a:solidFill>
                    <a:latin typeface="Meiryo UI" panose="020B0604030504040204" pitchFamily="50" charset="-128"/>
                    <a:ea typeface="Meiryo UI" panose="020B0604030504040204" pitchFamily="50" charset="-128"/>
                  </a:rPr>
                  <a:t>3</a:t>
                </a:r>
                <a:r>
                  <a:rPr lang="ja-JP" altLang="en-US" sz="1400" b="1">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a:solidFill>
                      <a:srgbClr val="E7E6E6">
                        <a:lumMod val="50000"/>
                      </a:srgbClr>
                    </a:solidFill>
                    <a:latin typeface="Meiryo UI" panose="020B0604030504040204" pitchFamily="50" charset="-128"/>
                    <a:ea typeface="Meiryo UI" panose="020B0604030504040204" pitchFamily="50" charset="-128"/>
                  </a:rPr>
                  <a:t>要件定義：</a:t>
                </a:r>
                <a:r>
                  <a:rPr lang="en-US" altLang="ja-JP" sz="1400" b="1">
                    <a:solidFill>
                      <a:srgbClr val="E7E6E6">
                        <a:lumMod val="50000"/>
                      </a:srgbClr>
                    </a:solidFill>
                    <a:latin typeface="Meiryo UI" panose="020B0604030504040204" pitchFamily="50" charset="-128"/>
                    <a:ea typeface="Meiryo UI" panose="020B0604030504040204" pitchFamily="50" charset="-128"/>
                  </a:rPr>
                  <a:t>2</a:t>
                </a:r>
                <a:r>
                  <a:rPr lang="ja-JP" altLang="en-US" sz="1400" b="1">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endParaRPr lang="en-US" altLang="ja-JP" sz="1400" b="1">
                  <a:solidFill>
                    <a:srgbClr val="E7E6E6">
                      <a:lumMod val="50000"/>
                    </a:srgbClr>
                  </a:solidFill>
                  <a:latin typeface="Meiryo UI" panose="020B0604030504040204" pitchFamily="50" charset="-128"/>
                  <a:ea typeface="Meiryo UI" panose="020B0604030504040204" pitchFamily="50" charset="-128"/>
                </a:endParaRPr>
              </a:p>
              <a:p>
                <a:pPr>
                  <a:defRPr/>
                </a:pPr>
                <a:r>
                  <a:rPr lang="ja-JP" altLang="en-US" sz="1400" b="1" u="sng">
                    <a:solidFill>
                      <a:srgbClr val="E7E6E6">
                        <a:lumMod val="50000"/>
                      </a:srgbClr>
                    </a:solidFill>
                    <a:latin typeface="Meiryo UI" panose="020B0604030504040204" pitchFamily="50" charset="-128"/>
                    <a:ea typeface="Meiryo UI" panose="020B0604030504040204" pitchFamily="50" charset="-128"/>
                  </a:rPr>
                  <a:t>エンジニア下流工程</a:t>
                </a:r>
                <a:endParaRPr lang="en-US" altLang="ja-JP" sz="1400" b="1" u="sng">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a:solidFill>
                      <a:srgbClr val="E7E6E6">
                        <a:lumMod val="50000"/>
                      </a:srgbClr>
                    </a:solidFill>
                    <a:latin typeface="Meiryo UI" panose="020B0604030504040204" pitchFamily="50" charset="-128"/>
                    <a:ea typeface="Meiryo UI" panose="020B0604030504040204" pitchFamily="50" charset="-128"/>
                  </a:rPr>
                  <a:t>技術調査：</a:t>
                </a:r>
                <a:r>
                  <a:rPr lang="en-US" altLang="ja-JP" sz="1400" b="1">
                    <a:solidFill>
                      <a:srgbClr val="E7E6E6">
                        <a:lumMod val="50000"/>
                      </a:srgbClr>
                    </a:solidFill>
                    <a:latin typeface="Meiryo UI" panose="020B0604030504040204" pitchFamily="50" charset="-128"/>
                    <a:ea typeface="Meiryo UI" panose="020B0604030504040204" pitchFamily="50" charset="-128"/>
                  </a:rPr>
                  <a:t>5</a:t>
                </a:r>
                <a:r>
                  <a:rPr lang="ja-JP" altLang="en-US" sz="1400" b="1">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en-US" altLang="ja-JP" sz="1400" b="1">
                    <a:solidFill>
                      <a:srgbClr val="E7E6E6">
                        <a:lumMod val="50000"/>
                      </a:srgbClr>
                    </a:solidFill>
                    <a:latin typeface="Meiryo UI" panose="020B0604030504040204" pitchFamily="50" charset="-128"/>
                    <a:ea typeface="Meiryo UI" panose="020B0604030504040204" pitchFamily="50" charset="-128"/>
                  </a:rPr>
                  <a:t>n8n</a:t>
                </a:r>
                <a:r>
                  <a:rPr lang="ja-JP" altLang="en-US" sz="1400" b="1">
                    <a:solidFill>
                      <a:srgbClr val="E7E6E6">
                        <a:lumMod val="50000"/>
                      </a:srgbClr>
                    </a:solidFill>
                    <a:latin typeface="Meiryo UI" panose="020B0604030504040204" pitchFamily="50" charset="-128"/>
                    <a:ea typeface="Meiryo UI" panose="020B0604030504040204" pitchFamily="50" charset="-128"/>
                  </a:rPr>
                  <a:t>構築：</a:t>
                </a:r>
                <a:r>
                  <a:rPr lang="en-US" altLang="ja-JP" sz="1400" b="1">
                    <a:solidFill>
                      <a:srgbClr val="E7E6E6">
                        <a:lumMod val="50000"/>
                      </a:srgbClr>
                    </a:solidFill>
                    <a:latin typeface="Meiryo UI" panose="020B0604030504040204" pitchFamily="50" charset="-128"/>
                    <a:ea typeface="Meiryo UI" panose="020B0604030504040204" pitchFamily="50" charset="-128"/>
                  </a:rPr>
                  <a:t>10</a:t>
                </a:r>
                <a:r>
                  <a:rPr lang="ja-JP" altLang="en-US" sz="1400" b="1">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a:solidFill>
                    <a:srgbClr val="E7E6E6">
                      <a:lumMod val="50000"/>
                    </a:srgbClr>
                  </a:solidFill>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234555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DDF93-21AE-327D-4C72-101B3DABAEB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3E6C51F-C391-3C1A-57F9-5CA5A8DF9406}"/>
              </a:ext>
            </a:extLst>
          </p:cNvPr>
          <p:cNvSpPr>
            <a:spLocks noGrp="1"/>
          </p:cNvSpPr>
          <p:nvPr>
            <p:ph type="title"/>
          </p:nvPr>
        </p:nvSpPr>
        <p:spPr/>
        <p:txBody>
          <a:bodyPr/>
          <a:lstStyle/>
          <a:p>
            <a:r>
              <a:rPr lang="ja-JP" altLang="en-US"/>
              <a:t>リソース計画初期フェーズ</a:t>
            </a:r>
            <a:endParaRPr kumimoji="1" lang="ja-JP" altLang="en-US"/>
          </a:p>
        </p:txBody>
      </p:sp>
      <p:sp>
        <p:nvSpPr>
          <p:cNvPr id="4" name="スライド番号プレースホルダー 3">
            <a:extLst>
              <a:ext uri="{FF2B5EF4-FFF2-40B4-BE49-F238E27FC236}">
                <a16:creationId xmlns:a16="http://schemas.microsoft.com/office/drawing/2014/main" id="{3424EA93-160D-6D1D-2B97-89E541014C1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16</a:t>
            </a:fld>
            <a:endParaRPr lang="en-US" altLang="ja-JP"/>
          </a:p>
        </p:txBody>
      </p:sp>
      <p:sp>
        <p:nvSpPr>
          <p:cNvPr id="2" name="コンテンツ プレースホルダー 5">
            <a:extLst>
              <a:ext uri="{FF2B5EF4-FFF2-40B4-BE49-F238E27FC236}">
                <a16:creationId xmlns:a16="http://schemas.microsoft.com/office/drawing/2014/main" id="{A642E64B-C7F9-421C-ACF6-65B08E51E87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内製化に必要なリソース（社員のみ）のイメージは以下の通り。</a:t>
            </a:r>
            <a:br>
              <a:rPr lang="en-US" altLang="ja-JP" sz="1600" kern="0"/>
            </a:br>
            <a:r>
              <a:rPr lang="en-US" altLang="ja-JP" sz="1600" kern="0"/>
              <a:t>※</a:t>
            </a:r>
            <a:r>
              <a:rPr lang="ja-JP" altLang="en-US" sz="1600" kern="0"/>
              <a:t>ミッションウェイト</a:t>
            </a:r>
            <a:r>
              <a:rPr lang="en-US" altLang="ja-JP" sz="1600" kern="0"/>
              <a:t>50%</a:t>
            </a:r>
            <a:r>
              <a:rPr lang="ja-JP" altLang="en-US" sz="1600" kern="0"/>
              <a:t>のイメージ</a:t>
            </a:r>
            <a:endParaRPr lang="en-US" altLang="ja-JP" sz="1600" kern="0"/>
          </a:p>
        </p:txBody>
      </p:sp>
      <p:graphicFrame>
        <p:nvGraphicFramePr>
          <p:cNvPr id="49" name="表 48">
            <a:extLst>
              <a:ext uri="{FF2B5EF4-FFF2-40B4-BE49-F238E27FC236}">
                <a16:creationId xmlns:a16="http://schemas.microsoft.com/office/drawing/2014/main" id="{3D817DF3-B5D7-E4ED-0DD6-5476E3598A18}"/>
              </a:ext>
            </a:extLst>
          </p:cNvPr>
          <p:cNvGraphicFramePr>
            <a:graphicFrameLocks noGrp="1"/>
          </p:cNvGraphicFramePr>
          <p:nvPr>
            <p:extLst>
              <p:ext uri="{D42A27DB-BD31-4B8C-83A1-F6EECF244321}">
                <p14:modId xmlns:p14="http://schemas.microsoft.com/office/powerpoint/2010/main" val="3955038267"/>
              </p:ext>
            </p:extLst>
          </p:nvPr>
        </p:nvGraphicFramePr>
        <p:xfrm>
          <a:off x="702644" y="1617834"/>
          <a:ext cx="10775370" cy="4284849"/>
        </p:xfrm>
        <a:graphic>
          <a:graphicData uri="http://schemas.openxmlformats.org/drawingml/2006/table">
            <a:tbl>
              <a:tblPr firstRow="1" bandRow="1"/>
              <a:tblGrid>
                <a:gridCol w="2493426">
                  <a:extLst>
                    <a:ext uri="{9D8B030D-6E8A-4147-A177-3AD203B41FA5}">
                      <a16:colId xmlns:a16="http://schemas.microsoft.com/office/drawing/2014/main" val="4242186221"/>
                    </a:ext>
                  </a:extLst>
                </a:gridCol>
                <a:gridCol w="2070486">
                  <a:extLst>
                    <a:ext uri="{9D8B030D-6E8A-4147-A177-3AD203B41FA5}">
                      <a16:colId xmlns:a16="http://schemas.microsoft.com/office/drawing/2014/main" val="3630054763"/>
                    </a:ext>
                  </a:extLst>
                </a:gridCol>
                <a:gridCol w="2070486">
                  <a:extLst>
                    <a:ext uri="{9D8B030D-6E8A-4147-A177-3AD203B41FA5}">
                      <a16:colId xmlns:a16="http://schemas.microsoft.com/office/drawing/2014/main" val="2257193726"/>
                    </a:ext>
                  </a:extLst>
                </a:gridCol>
                <a:gridCol w="2070486">
                  <a:extLst>
                    <a:ext uri="{9D8B030D-6E8A-4147-A177-3AD203B41FA5}">
                      <a16:colId xmlns:a16="http://schemas.microsoft.com/office/drawing/2014/main" val="2462902793"/>
                    </a:ext>
                  </a:extLst>
                </a:gridCol>
                <a:gridCol w="2070486">
                  <a:extLst>
                    <a:ext uri="{9D8B030D-6E8A-4147-A177-3AD203B41FA5}">
                      <a16:colId xmlns:a16="http://schemas.microsoft.com/office/drawing/2014/main" val="1044424172"/>
                    </a:ext>
                  </a:extLst>
                </a:gridCol>
              </a:tblGrid>
              <a:tr h="345225">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endPar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gridSpan="2">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2025</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a:p>
                  </a:txBody>
                  <a:tcPr/>
                </a:tc>
                <a:tc gridSpan="2">
                  <a:txBody>
                    <a:bodyPr/>
                    <a:lstStyle/>
                    <a:p>
                      <a:r>
                        <a:rPr kumimoji="1" lang="en-US" altLang="ja-JP" sz="1600" b="0" i="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2026</a:t>
                      </a:r>
                      <a:r>
                        <a:rPr kumimoji="1" lang="ja-JP" altLang="en-US" sz="1600" b="0" i="0" kern="0" noProof="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endPar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a:p>
                  </a:txBody>
                  <a:tcPr/>
                </a:tc>
                <a:extLst>
                  <a:ext uri="{0D108BD9-81ED-4DB2-BD59-A6C34878D82A}">
                    <a16:rowId xmlns:a16="http://schemas.microsoft.com/office/drawing/2014/main" val="2204848530"/>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marR="0" lvl="0" indent="0" algn="l" defTabSz="514337" rtl="0" eaLnBrk="1" fontAlgn="auto" latinLnBrk="0" hangingPunct="1">
                        <a:lnSpc>
                          <a:spcPct val="100000"/>
                        </a:lnSpc>
                        <a:spcBef>
                          <a:spcPts val="0"/>
                        </a:spcBef>
                        <a:spcAft>
                          <a:spcPts val="0"/>
                        </a:spcAft>
                        <a:buClrTx/>
                        <a:buSzTx/>
                        <a:buFontTx/>
                        <a:buNone/>
                        <a:tabLst/>
                        <a:defRPr/>
                      </a:pPr>
                      <a:endPar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extLst>
                  <a:ext uri="{0D108BD9-81ED-4DB2-BD59-A6C34878D82A}">
                    <a16:rowId xmlns:a16="http://schemas.microsoft.com/office/drawing/2014/main" val="2230145552"/>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小規模案件</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0.5</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9764776"/>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中規模案件</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514"/>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教育・育成</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育成サイクル：</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3310234"/>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案件必要人数</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14</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50052531"/>
                  </a:ext>
                </a:extLst>
              </a:tr>
              <a:tr h="345225">
                <a:tc>
                  <a:txBody>
                    <a:bodyPr/>
                    <a:lstStyle/>
                    <a:p>
                      <a:pPr marL="0" lvl="1" indent="0" algn="l">
                        <a:buFontTx/>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案件数</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6</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44</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5770867"/>
                  </a:ext>
                </a:extLst>
              </a:tr>
            </a:tbl>
          </a:graphicData>
        </a:graphic>
      </p:graphicFrame>
      <p:sp>
        <p:nvSpPr>
          <p:cNvPr id="50" name="右矢印 48">
            <a:extLst>
              <a:ext uri="{FF2B5EF4-FFF2-40B4-BE49-F238E27FC236}">
                <a16:creationId xmlns:a16="http://schemas.microsoft.com/office/drawing/2014/main" id="{257FD5C3-8B92-807C-A853-0FFFF44E6FDB}"/>
              </a:ext>
            </a:extLst>
          </p:cNvPr>
          <p:cNvSpPr/>
          <p:nvPr/>
        </p:nvSpPr>
        <p:spPr bwMode="auto">
          <a:xfrm>
            <a:off x="3210115" y="3593795"/>
            <a:ext cx="1365627" cy="324000"/>
          </a:xfrm>
          <a:prstGeom prst="rect">
            <a:avLst/>
          </a:prstGeom>
          <a:solidFill>
            <a:srgbClr val="7EBFE6"/>
          </a:solidFill>
          <a:ln w="9525">
            <a:solidFill>
              <a:srgbClr val="BEDFF2">
                <a:lumMod val="75000"/>
              </a:srgbClr>
            </a:solidFill>
            <a:miter lim="800000"/>
            <a:headEnd/>
            <a:tailEnd/>
          </a:ln>
        </p:spPr>
        <p:txBody>
          <a:bodyPr vert="horz" wrap="none" lIns="36000" tIns="0" rIns="36000" bIns="0" anchor="ctr"/>
          <a:lstStyle/>
          <a:p>
            <a:pPr marR="0" lvl="0" indent="0" algn="ctr" fontAlgn="auto">
              <a:lnSpc>
                <a:spcPct val="100000"/>
              </a:lnSpc>
              <a:spcBef>
                <a:spcPts val="0"/>
              </a:spcBef>
              <a:spcAft>
                <a:spcPts val="0"/>
              </a:spcAft>
              <a:buClrTx/>
              <a:buSzTx/>
              <a:buFontTx/>
              <a:buNone/>
              <a:tabLs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BPS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R="0" lvl="0" indent="0" algn="ctr" fontAlgn="auto">
              <a:lnSpc>
                <a:spcPct val="100000"/>
              </a:lnSpc>
              <a:spcBef>
                <a:spcPts val="0"/>
              </a:spcBef>
              <a:spcAft>
                <a:spcPts val="0"/>
              </a:spcAft>
              <a:buClrTx/>
              <a:buSzTx/>
              <a:buFontTx/>
              <a:buNone/>
              <a:tabLs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第一号</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74" name="楕円 73">
            <a:extLst>
              <a:ext uri="{FF2B5EF4-FFF2-40B4-BE49-F238E27FC236}">
                <a16:creationId xmlns:a16="http://schemas.microsoft.com/office/drawing/2014/main" id="{0CD1D0EF-9FDC-382A-7130-669078CFB4F1}"/>
              </a:ext>
            </a:extLst>
          </p:cNvPr>
          <p:cNvSpPr/>
          <p:nvPr/>
        </p:nvSpPr>
        <p:spPr>
          <a:xfrm>
            <a:off x="4215742" y="349719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93" name="右矢印 48">
            <a:extLst>
              <a:ext uri="{FF2B5EF4-FFF2-40B4-BE49-F238E27FC236}">
                <a16:creationId xmlns:a16="http://schemas.microsoft.com/office/drawing/2014/main" id="{CA4DD6FE-E72B-67B9-86D2-975BB14F2CC8}"/>
              </a:ext>
            </a:extLst>
          </p:cNvPr>
          <p:cNvSpPr/>
          <p:nvPr/>
        </p:nvSpPr>
        <p:spPr bwMode="auto">
          <a:xfrm>
            <a:off x="5322898" y="2612203"/>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p>
        </p:txBody>
      </p:sp>
      <p:sp>
        <p:nvSpPr>
          <p:cNvPr id="94" name="楕円 93">
            <a:extLst>
              <a:ext uri="{FF2B5EF4-FFF2-40B4-BE49-F238E27FC236}">
                <a16:creationId xmlns:a16="http://schemas.microsoft.com/office/drawing/2014/main" id="{6CBA8D20-5B9D-72BC-1D1D-7AEDC5733420}"/>
              </a:ext>
            </a:extLst>
          </p:cNvPr>
          <p:cNvSpPr/>
          <p:nvPr/>
        </p:nvSpPr>
        <p:spPr>
          <a:xfrm>
            <a:off x="6935895" y="2515601"/>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98" name="右矢印 48">
            <a:extLst>
              <a:ext uri="{FF2B5EF4-FFF2-40B4-BE49-F238E27FC236}">
                <a16:creationId xmlns:a16="http://schemas.microsoft.com/office/drawing/2014/main" id="{82CB4F16-8577-B86B-986A-547852D23B32}"/>
              </a:ext>
            </a:extLst>
          </p:cNvPr>
          <p:cNvSpPr/>
          <p:nvPr/>
        </p:nvSpPr>
        <p:spPr bwMode="auto">
          <a:xfrm>
            <a:off x="5322898" y="3365193"/>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p>
        </p:txBody>
      </p:sp>
      <p:sp>
        <p:nvSpPr>
          <p:cNvPr id="99" name="楕円 98">
            <a:extLst>
              <a:ext uri="{FF2B5EF4-FFF2-40B4-BE49-F238E27FC236}">
                <a16:creationId xmlns:a16="http://schemas.microsoft.com/office/drawing/2014/main" id="{257472F7-6BAF-9E5E-71E2-3FABDC9FDA71}"/>
              </a:ext>
            </a:extLst>
          </p:cNvPr>
          <p:cNvSpPr/>
          <p:nvPr/>
        </p:nvSpPr>
        <p:spPr>
          <a:xfrm>
            <a:off x="6935895" y="3268591"/>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2" name="右矢印 48">
            <a:extLst>
              <a:ext uri="{FF2B5EF4-FFF2-40B4-BE49-F238E27FC236}">
                <a16:creationId xmlns:a16="http://schemas.microsoft.com/office/drawing/2014/main" id="{5579DFCD-4A20-9E48-64CB-1CC68019F00C}"/>
              </a:ext>
            </a:extLst>
          </p:cNvPr>
          <p:cNvSpPr/>
          <p:nvPr/>
        </p:nvSpPr>
        <p:spPr bwMode="auto">
          <a:xfrm>
            <a:off x="3976304" y="4581890"/>
            <a:ext cx="1248384" cy="324000"/>
          </a:xfrm>
          <a:prstGeom prst="rect">
            <a:avLst/>
          </a:prstGeom>
          <a:solidFill>
            <a:srgbClr val="7EBFE6"/>
          </a:solidFill>
          <a:ln w="9525">
            <a:solidFill>
              <a:srgbClr val="BEDFF2">
                <a:lumMod val="75000"/>
              </a:srgbClr>
            </a:solidFill>
            <a:miter lim="800000"/>
            <a:headEnd/>
            <a:tailEnd/>
          </a:ln>
        </p:spPr>
        <p:txBody>
          <a:bodyPr vert="horz" wrap="none" lIns="36000" tIns="0" rIns="36000" bIns="0" anchor="ctr"/>
          <a:lstStyle/>
          <a:p>
            <a:pPr marR="0" lvl="0" indent="0" algn="ctr" fontAlgn="auto">
              <a:lnSpc>
                <a:spcPct val="100000"/>
              </a:lnSpc>
              <a:spcBef>
                <a:spcPts val="0"/>
              </a:spcBef>
              <a:spcAft>
                <a:spcPts val="0"/>
              </a:spcAft>
              <a:buClrTx/>
              <a:buSzTx/>
              <a:buFontTx/>
              <a:buNone/>
              <a:tabLs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3" name="楕円 102">
            <a:extLst>
              <a:ext uri="{FF2B5EF4-FFF2-40B4-BE49-F238E27FC236}">
                <a16:creationId xmlns:a16="http://schemas.microsoft.com/office/drawing/2014/main" id="{B6C382FC-92D2-54DE-14EC-BF1587E34370}"/>
              </a:ext>
            </a:extLst>
          </p:cNvPr>
          <p:cNvSpPr/>
          <p:nvPr/>
        </p:nvSpPr>
        <p:spPr>
          <a:xfrm>
            <a:off x="4864687" y="448528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4" name="右矢印 48">
            <a:extLst>
              <a:ext uri="{FF2B5EF4-FFF2-40B4-BE49-F238E27FC236}">
                <a16:creationId xmlns:a16="http://schemas.microsoft.com/office/drawing/2014/main" id="{0FE8EF6D-B8F8-9CC5-A4EF-DE2CACE36833}"/>
              </a:ext>
            </a:extLst>
          </p:cNvPr>
          <p:cNvSpPr/>
          <p:nvPr/>
        </p:nvSpPr>
        <p:spPr bwMode="auto">
          <a:xfrm>
            <a:off x="5322898" y="4581890"/>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教育など</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5" name="楕円 104">
            <a:extLst>
              <a:ext uri="{FF2B5EF4-FFF2-40B4-BE49-F238E27FC236}">
                <a16:creationId xmlns:a16="http://schemas.microsoft.com/office/drawing/2014/main" id="{27065C4E-4B4D-46BE-9DD3-BEC36B5338B6}"/>
              </a:ext>
            </a:extLst>
          </p:cNvPr>
          <p:cNvSpPr/>
          <p:nvPr/>
        </p:nvSpPr>
        <p:spPr>
          <a:xfrm>
            <a:off x="6935895" y="448528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6" name="右矢印 48">
            <a:extLst>
              <a:ext uri="{FF2B5EF4-FFF2-40B4-BE49-F238E27FC236}">
                <a16:creationId xmlns:a16="http://schemas.microsoft.com/office/drawing/2014/main" id="{2E191BDB-2B00-437D-C4EC-8ED317799CF2}"/>
              </a:ext>
            </a:extLst>
          </p:cNvPr>
          <p:cNvSpPr/>
          <p:nvPr/>
        </p:nvSpPr>
        <p:spPr bwMode="auto">
          <a:xfrm>
            <a:off x="7396759" y="3589981"/>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p:txBody>
      </p:sp>
      <p:sp>
        <p:nvSpPr>
          <p:cNvPr id="107" name="楕円 106">
            <a:extLst>
              <a:ext uri="{FF2B5EF4-FFF2-40B4-BE49-F238E27FC236}">
                <a16:creationId xmlns:a16="http://schemas.microsoft.com/office/drawing/2014/main" id="{E4CC385C-5C77-D0D0-9D77-78F321A0AD28}"/>
              </a:ext>
            </a:extLst>
          </p:cNvPr>
          <p:cNvSpPr/>
          <p:nvPr/>
        </p:nvSpPr>
        <p:spPr>
          <a:xfrm>
            <a:off x="9009756" y="3493379"/>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1" name="右矢印 48">
            <a:extLst>
              <a:ext uri="{FF2B5EF4-FFF2-40B4-BE49-F238E27FC236}">
                <a16:creationId xmlns:a16="http://schemas.microsoft.com/office/drawing/2014/main" id="{DABAA84D-D5A2-26DD-8487-B6324394DF77}"/>
              </a:ext>
            </a:extLst>
          </p:cNvPr>
          <p:cNvSpPr/>
          <p:nvPr/>
        </p:nvSpPr>
        <p:spPr bwMode="auto">
          <a:xfrm>
            <a:off x="5322898" y="3832985"/>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顧客管理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G</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p>
        </p:txBody>
      </p:sp>
      <p:sp>
        <p:nvSpPr>
          <p:cNvPr id="112" name="楕円 111">
            <a:extLst>
              <a:ext uri="{FF2B5EF4-FFF2-40B4-BE49-F238E27FC236}">
                <a16:creationId xmlns:a16="http://schemas.microsoft.com/office/drawing/2014/main" id="{52F0C6EE-795C-8862-9206-F83D30A434D2}"/>
              </a:ext>
            </a:extLst>
          </p:cNvPr>
          <p:cNvSpPr/>
          <p:nvPr/>
        </p:nvSpPr>
        <p:spPr>
          <a:xfrm>
            <a:off x="6935895" y="373638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3" name="右矢印 48">
            <a:extLst>
              <a:ext uri="{FF2B5EF4-FFF2-40B4-BE49-F238E27FC236}">
                <a16:creationId xmlns:a16="http://schemas.microsoft.com/office/drawing/2014/main" id="{E05B25B2-005D-C4C9-C080-5C69CF6DE7D4}"/>
              </a:ext>
            </a:extLst>
          </p:cNvPr>
          <p:cNvSpPr/>
          <p:nvPr/>
        </p:nvSpPr>
        <p:spPr bwMode="auto">
          <a:xfrm>
            <a:off x="7396759" y="2609550"/>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p>
        </p:txBody>
      </p:sp>
      <p:sp>
        <p:nvSpPr>
          <p:cNvPr id="114" name="楕円 113">
            <a:extLst>
              <a:ext uri="{FF2B5EF4-FFF2-40B4-BE49-F238E27FC236}">
                <a16:creationId xmlns:a16="http://schemas.microsoft.com/office/drawing/2014/main" id="{324D60B4-DD34-08C4-91E4-95FD2A53A431}"/>
              </a:ext>
            </a:extLst>
          </p:cNvPr>
          <p:cNvSpPr/>
          <p:nvPr/>
        </p:nvSpPr>
        <p:spPr>
          <a:xfrm>
            <a:off x="9009756" y="251294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8" name="右矢印 48">
            <a:extLst>
              <a:ext uri="{FF2B5EF4-FFF2-40B4-BE49-F238E27FC236}">
                <a16:creationId xmlns:a16="http://schemas.microsoft.com/office/drawing/2014/main" id="{A871A236-AE1E-580C-CE65-6A60C5BC19B0}"/>
              </a:ext>
            </a:extLst>
          </p:cNvPr>
          <p:cNvSpPr/>
          <p:nvPr/>
        </p:nvSpPr>
        <p:spPr bwMode="auto">
          <a:xfrm>
            <a:off x="7396759" y="4588866"/>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教育など</a:t>
            </a:r>
            <a:endPar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19" name="楕円 118">
            <a:extLst>
              <a:ext uri="{FF2B5EF4-FFF2-40B4-BE49-F238E27FC236}">
                <a16:creationId xmlns:a16="http://schemas.microsoft.com/office/drawing/2014/main" id="{48CD5238-761D-9142-69F6-353AFC467234}"/>
              </a:ext>
            </a:extLst>
          </p:cNvPr>
          <p:cNvSpPr/>
          <p:nvPr/>
        </p:nvSpPr>
        <p:spPr>
          <a:xfrm>
            <a:off x="9009756" y="4492264"/>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20" name="右矢印 48">
            <a:extLst>
              <a:ext uri="{FF2B5EF4-FFF2-40B4-BE49-F238E27FC236}">
                <a16:creationId xmlns:a16="http://schemas.microsoft.com/office/drawing/2014/main" id="{7EFDB8A2-F849-B16C-573C-689D8B55F1CA}"/>
              </a:ext>
            </a:extLst>
          </p:cNvPr>
          <p:cNvSpPr/>
          <p:nvPr/>
        </p:nvSpPr>
        <p:spPr bwMode="auto">
          <a:xfrm>
            <a:off x="9453459" y="3583005"/>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p:txBody>
      </p:sp>
      <p:sp>
        <p:nvSpPr>
          <p:cNvPr id="121" name="楕円 120">
            <a:extLst>
              <a:ext uri="{FF2B5EF4-FFF2-40B4-BE49-F238E27FC236}">
                <a16:creationId xmlns:a16="http://schemas.microsoft.com/office/drawing/2014/main" id="{80823FA5-25F8-1506-609B-7EA9632E832F}"/>
              </a:ext>
            </a:extLst>
          </p:cNvPr>
          <p:cNvSpPr/>
          <p:nvPr/>
        </p:nvSpPr>
        <p:spPr>
          <a:xfrm>
            <a:off x="11066456" y="348640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22" name="右矢印 48">
            <a:extLst>
              <a:ext uri="{FF2B5EF4-FFF2-40B4-BE49-F238E27FC236}">
                <a16:creationId xmlns:a16="http://schemas.microsoft.com/office/drawing/2014/main" id="{31196CB4-BC75-925F-E90D-6EFD42AF66B8}"/>
              </a:ext>
            </a:extLst>
          </p:cNvPr>
          <p:cNvSpPr/>
          <p:nvPr/>
        </p:nvSpPr>
        <p:spPr bwMode="auto">
          <a:xfrm>
            <a:off x="9453459" y="2602574"/>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×40</a:t>
            </a:r>
          </a:p>
        </p:txBody>
      </p:sp>
      <p:sp>
        <p:nvSpPr>
          <p:cNvPr id="123" name="楕円 122">
            <a:extLst>
              <a:ext uri="{FF2B5EF4-FFF2-40B4-BE49-F238E27FC236}">
                <a16:creationId xmlns:a16="http://schemas.microsoft.com/office/drawing/2014/main" id="{29DDA195-5FA3-73CA-54DB-5615785883DE}"/>
              </a:ext>
            </a:extLst>
          </p:cNvPr>
          <p:cNvSpPr/>
          <p:nvPr/>
        </p:nvSpPr>
        <p:spPr>
          <a:xfrm>
            <a:off x="11066456" y="2505972"/>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r>
              <a:rPr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30" name="四角形: 角を丸くする 129">
            <a:extLst>
              <a:ext uri="{FF2B5EF4-FFF2-40B4-BE49-F238E27FC236}">
                <a16:creationId xmlns:a16="http://schemas.microsoft.com/office/drawing/2014/main" id="{340A7EA4-13EC-EAEA-B9D0-47A10CDB0343}"/>
              </a:ext>
            </a:extLst>
          </p:cNvPr>
          <p:cNvSpPr/>
          <p:nvPr/>
        </p:nvSpPr>
        <p:spPr>
          <a:xfrm>
            <a:off x="6016511"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:7</a:t>
            </a: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
        <p:nvSpPr>
          <p:cNvPr id="133" name="四角形: 角を丸くする 132">
            <a:extLst>
              <a:ext uri="{FF2B5EF4-FFF2-40B4-BE49-F238E27FC236}">
                <a16:creationId xmlns:a16="http://schemas.microsoft.com/office/drawing/2014/main" id="{B703DC8E-924C-EF88-C589-36F666C02922}"/>
              </a:ext>
            </a:extLst>
          </p:cNvPr>
          <p:cNvSpPr/>
          <p:nvPr/>
        </p:nvSpPr>
        <p:spPr>
          <a:xfrm>
            <a:off x="8090372"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:31</a:t>
            </a: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
        <p:nvSpPr>
          <p:cNvPr id="134" name="四角形: 角を丸くする 133">
            <a:extLst>
              <a:ext uri="{FF2B5EF4-FFF2-40B4-BE49-F238E27FC236}">
                <a16:creationId xmlns:a16="http://schemas.microsoft.com/office/drawing/2014/main" id="{C7ABCD9C-4E50-8909-3A7D-0B89CB0CBFE9}"/>
              </a:ext>
            </a:extLst>
          </p:cNvPr>
          <p:cNvSpPr/>
          <p:nvPr/>
        </p:nvSpPr>
        <p:spPr>
          <a:xfrm>
            <a:off x="10164233"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:75</a:t>
            </a:r>
            <a:r>
              <a:rPr lang="ja-JP" altLang="en-US" sz="1400" b="1" kern="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Tree>
    <p:extLst>
      <p:ext uri="{BB962C8B-B14F-4D97-AF65-F5344CB8AC3E}">
        <p14:creationId xmlns:p14="http://schemas.microsoft.com/office/powerpoint/2010/main" val="3990493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65A6-810D-5121-AE6A-98D1FD11C03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B5FC05F-8AC1-8A80-5E9B-5A2B932E98E9}"/>
              </a:ext>
            </a:extLst>
          </p:cNvPr>
          <p:cNvSpPr>
            <a:spLocks noGrp="1"/>
          </p:cNvSpPr>
          <p:nvPr>
            <p:ph type="title"/>
          </p:nvPr>
        </p:nvSpPr>
        <p:spPr/>
        <p:txBody>
          <a:bodyPr/>
          <a:lstStyle/>
          <a:p>
            <a:r>
              <a:rPr lang="ja-JP" altLang="en-US"/>
              <a:t>リソース確保プラン</a:t>
            </a:r>
            <a:endParaRPr kumimoji="1" lang="ja-JP" altLang="en-US"/>
          </a:p>
        </p:txBody>
      </p:sp>
      <p:sp>
        <p:nvSpPr>
          <p:cNvPr id="4" name="スライド番号プレースホルダー 3">
            <a:extLst>
              <a:ext uri="{FF2B5EF4-FFF2-40B4-BE49-F238E27FC236}">
                <a16:creationId xmlns:a16="http://schemas.microsoft.com/office/drawing/2014/main" id="{848A93C2-B568-A66D-3211-000DF21E20DE}"/>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17</a:t>
            </a:fld>
            <a:endParaRPr lang="en-US" altLang="ja-JP"/>
          </a:p>
        </p:txBody>
      </p:sp>
      <p:sp>
        <p:nvSpPr>
          <p:cNvPr id="2" name="コンテンツ プレースホルダー 5">
            <a:extLst>
              <a:ext uri="{FF2B5EF4-FFF2-40B4-BE49-F238E27FC236}">
                <a16:creationId xmlns:a16="http://schemas.microsoft.com/office/drawing/2014/main" id="{49FF8D7E-D931-3B05-5645-A652D4BE1E6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現在確定している</a:t>
            </a:r>
            <a:r>
              <a:rPr lang="en-US" altLang="ja-JP" sz="1600" kern="0"/>
              <a:t>AI</a:t>
            </a:r>
            <a:r>
              <a:rPr lang="ja-JP" altLang="en-US" sz="1600" kern="0"/>
              <a:t>エージェント化の内製は主に社員で行い、それ以外の不確実の高い案件は外部パートナーに委託する。</a:t>
            </a:r>
            <a:endParaRPr lang="en-US" altLang="ja-JP" sz="1600" kern="0"/>
          </a:p>
        </p:txBody>
      </p:sp>
      <p:sp>
        <p:nvSpPr>
          <p:cNvPr id="15" name="正方形/長方形 14">
            <a:extLst>
              <a:ext uri="{FF2B5EF4-FFF2-40B4-BE49-F238E27FC236}">
                <a16:creationId xmlns:a16="http://schemas.microsoft.com/office/drawing/2014/main" id="{7C3FD044-7AD4-4418-3D87-DCDBAC999EEA}"/>
              </a:ext>
            </a:extLst>
          </p:cNvPr>
          <p:cNvSpPr/>
          <p:nvPr/>
        </p:nvSpPr>
        <p:spPr>
          <a:xfrm>
            <a:off x="2408144" y="1820337"/>
            <a:ext cx="1625427" cy="1466503"/>
          </a:xfrm>
          <a:prstGeom prst="rect">
            <a:avLst/>
          </a:prstGeom>
          <a:solidFill>
            <a:srgbClr val="6DAF3D"/>
          </a:solidFill>
          <a:ln w="19050" cap="flat" cmpd="sng" algn="ctr">
            <a:solidFill>
              <a:srgbClr val="FFFFFF"/>
            </a:solid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外部パートナー</a:t>
            </a:r>
            <a:r>
              <a:rPr kumimoji="0" lang="en-US" altLang="ja-JP" sz="16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10</a:t>
            </a:r>
            <a:r>
              <a:rPr kumimoji="0" lang="ja-JP" altLang="en-US" sz="16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a:t>
            </a:r>
            <a:r>
              <a:rPr kumimoji="0" lang="en-US" altLang="ja-JP" sz="1600" kern="0">
                <a:solidFill>
                  <a:srgbClr val="FFFFFF"/>
                </a:solidFill>
                <a:latin typeface="Meiryo UI" panose="020B0604030504040204" pitchFamily="50" charset="-128"/>
                <a:ea typeface="Meiryo UI" panose="020B0604030504040204" pitchFamily="50" charset="-128"/>
              </a:rPr>
              <a:t>2</a:t>
            </a:r>
            <a:r>
              <a:rPr kumimoji="0" lang="en-US" altLang="ja-JP" sz="16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0</a:t>
            </a:r>
            <a:r>
              <a:rPr kumimoji="0" lang="ja-JP" altLang="en-US" sz="16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名</a:t>
            </a:r>
          </a:p>
        </p:txBody>
      </p:sp>
      <p:sp>
        <p:nvSpPr>
          <p:cNvPr id="18" name="正方形/長方形 17">
            <a:extLst>
              <a:ext uri="{FF2B5EF4-FFF2-40B4-BE49-F238E27FC236}">
                <a16:creationId xmlns:a16="http://schemas.microsoft.com/office/drawing/2014/main" id="{859D193A-22B9-E1A2-2D18-68B883BDD80E}"/>
              </a:ext>
            </a:extLst>
          </p:cNvPr>
          <p:cNvSpPr/>
          <p:nvPr/>
        </p:nvSpPr>
        <p:spPr>
          <a:xfrm>
            <a:off x="1025712" y="3221572"/>
            <a:ext cx="986456" cy="235490"/>
          </a:xfrm>
          <a:prstGeom prst="rect">
            <a:avLst/>
          </a:prstGeom>
        </p:spPr>
        <p:txBody>
          <a:bodyPr vert="horz" lIns="0" tIns="0" rIns="0" bIns="14400" rtlCol="0" anchor="b" anchorCtr="0">
            <a:noAutofit/>
          </a:bodyPr>
          <a:lstStyle/>
          <a:p>
            <a:pPr algn="ctr" defTabSz="987415" fontAlgn="auto">
              <a:spcBef>
                <a:spcPts val="0"/>
              </a:spcBef>
              <a:spcAft>
                <a:spcPts val="0"/>
              </a:spcAft>
            </a:pP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24</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9" name="正方形/長方形 18">
            <a:extLst>
              <a:ext uri="{FF2B5EF4-FFF2-40B4-BE49-F238E27FC236}">
                <a16:creationId xmlns:a16="http://schemas.microsoft.com/office/drawing/2014/main" id="{7E99784A-1DD6-9715-C7A2-DE4C450B85A9}"/>
              </a:ext>
            </a:extLst>
          </p:cNvPr>
          <p:cNvSpPr/>
          <p:nvPr/>
        </p:nvSpPr>
        <p:spPr>
          <a:xfrm>
            <a:off x="1025712" y="1671139"/>
            <a:ext cx="986456" cy="235490"/>
          </a:xfrm>
          <a:prstGeom prst="rect">
            <a:avLst/>
          </a:prstGeom>
        </p:spPr>
        <p:txBody>
          <a:bodyPr vert="horz" lIns="0" tIns="0" rIns="0" bIns="14400" rtlCol="0" anchor="b" anchorCtr="0">
            <a:noAutofit/>
          </a:bodyPr>
          <a:lstStyle/>
          <a:p>
            <a:pPr algn="ctr" defTabSz="987415" fontAlgn="auto">
              <a:spcBef>
                <a:spcPts val="0"/>
              </a:spcBef>
              <a:spcAft>
                <a:spcPts val="0"/>
              </a:spcAft>
            </a:pP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44</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cxnSp>
        <p:nvCxnSpPr>
          <p:cNvPr id="21" name="直線コネクタ 20">
            <a:extLst>
              <a:ext uri="{FF2B5EF4-FFF2-40B4-BE49-F238E27FC236}">
                <a16:creationId xmlns:a16="http://schemas.microsoft.com/office/drawing/2014/main" id="{C3CC60A1-EC05-FF6A-8D43-8BF3694D35B2}"/>
              </a:ext>
            </a:extLst>
          </p:cNvPr>
          <p:cNvCxnSpPr>
            <a:cxnSpLocks/>
          </p:cNvCxnSpPr>
          <p:nvPr/>
        </p:nvCxnSpPr>
        <p:spPr>
          <a:xfrm>
            <a:off x="1804234" y="1631140"/>
            <a:ext cx="0" cy="4610645"/>
          </a:xfrm>
          <a:prstGeom prst="line">
            <a:avLst/>
          </a:prstGeom>
          <a:noFill/>
          <a:ln w="28575" cap="flat" cmpd="sng" algn="ctr">
            <a:solidFill>
              <a:srgbClr val="2895D5">
                <a:lumMod val="50000"/>
              </a:srgbClr>
            </a:solidFill>
            <a:prstDash val="solid"/>
          </a:ln>
          <a:effectLst/>
        </p:spPr>
      </p:cxnSp>
      <p:cxnSp>
        <p:nvCxnSpPr>
          <p:cNvPr id="22" name="直線コネクタ 21">
            <a:extLst>
              <a:ext uri="{FF2B5EF4-FFF2-40B4-BE49-F238E27FC236}">
                <a16:creationId xmlns:a16="http://schemas.microsoft.com/office/drawing/2014/main" id="{51D0EC2C-7580-FE53-7C18-F2E5DEAB5DC0}"/>
              </a:ext>
            </a:extLst>
          </p:cNvPr>
          <p:cNvCxnSpPr>
            <a:cxnSpLocks/>
          </p:cNvCxnSpPr>
          <p:nvPr/>
        </p:nvCxnSpPr>
        <p:spPr>
          <a:xfrm flipH="1">
            <a:off x="1804234" y="6241785"/>
            <a:ext cx="8323665" cy="0"/>
          </a:xfrm>
          <a:prstGeom prst="line">
            <a:avLst/>
          </a:prstGeom>
          <a:noFill/>
          <a:ln w="28575" cap="flat" cmpd="sng" algn="ctr">
            <a:solidFill>
              <a:srgbClr val="2895D5">
                <a:lumMod val="50000"/>
              </a:srgbClr>
            </a:solidFill>
            <a:prstDash val="solid"/>
          </a:ln>
          <a:effectLst/>
        </p:spPr>
      </p:cxnSp>
      <p:graphicFrame>
        <p:nvGraphicFramePr>
          <p:cNvPr id="23" name="表 22">
            <a:extLst>
              <a:ext uri="{FF2B5EF4-FFF2-40B4-BE49-F238E27FC236}">
                <a16:creationId xmlns:a16="http://schemas.microsoft.com/office/drawing/2014/main" id="{6595B17F-0DF6-5C8A-7074-5853D58048E3}"/>
              </a:ext>
            </a:extLst>
          </p:cNvPr>
          <p:cNvGraphicFramePr>
            <a:graphicFrameLocks noGrp="1"/>
          </p:cNvGraphicFramePr>
          <p:nvPr>
            <p:extLst>
              <p:ext uri="{D42A27DB-BD31-4B8C-83A1-F6EECF244321}">
                <p14:modId xmlns:p14="http://schemas.microsoft.com/office/powerpoint/2010/main" val="161064025"/>
              </p:ext>
            </p:extLst>
          </p:nvPr>
        </p:nvGraphicFramePr>
        <p:xfrm>
          <a:off x="4078836" y="1407241"/>
          <a:ext cx="5760000" cy="4804120"/>
        </p:xfrm>
        <a:graphic>
          <a:graphicData uri="http://schemas.openxmlformats.org/drawingml/2006/table">
            <a:tbl>
              <a:tblPr firstRow="1" bandRow="1"/>
              <a:tblGrid>
                <a:gridCol w="720000">
                  <a:extLst>
                    <a:ext uri="{9D8B030D-6E8A-4147-A177-3AD203B41FA5}">
                      <a16:colId xmlns:a16="http://schemas.microsoft.com/office/drawing/2014/main" val="2090500447"/>
                    </a:ext>
                  </a:extLst>
                </a:gridCol>
                <a:gridCol w="2160000">
                  <a:extLst>
                    <a:ext uri="{9D8B030D-6E8A-4147-A177-3AD203B41FA5}">
                      <a16:colId xmlns:a16="http://schemas.microsoft.com/office/drawing/2014/main" val="1707041299"/>
                    </a:ext>
                  </a:extLst>
                </a:gridCol>
                <a:gridCol w="720000">
                  <a:extLst>
                    <a:ext uri="{9D8B030D-6E8A-4147-A177-3AD203B41FA5}">
                      <a16:colId xmlns:a16="http://schemas.microsoft.com/office/drawing/2014/main" val="3256650150"/>
                    </a:ext>
                  </a:extLst>
                </a:gridCol>
                <a:gridCol w="2160000">
                  <a:extLst>
                    <a:ext uri="{9D8B030D-6E8A-4147-A177-3AD203B41FA5}">
                      <a16:colId xmlns:a16="http://schemas.microsoft.com/office/drawing/2014/main" val="2181454228"/>
                    </a:ext>
                  </a:extLst>
                </a:gridCol>
              </a:tblGrid>
              <a:tr h="370840">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algn="ctr" defTabSz="987415" rtl="0" eaLnBrk="1" fontAlgn="auto" latinLnBrk="0" hangingPunct="1">
                        <a:spcBef>
                          <a:spcPts val="0"/>
                        </a:spcBef>
                        <a:spcAft>
                          <a:spcPts val="0"/>
                        </a:spcAft>
                      </a:pPr>
                      <a:r>
                        <a:rPr kumimoji="1"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エンジニア（上流）：</a:t>
                      </a:r>
                      <a:r>
                        <a:rPr kumimoji="1"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r>
                        <a:rPr kumimoji="1"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noFill/>
                      <a:prstDash val="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400">
                        <a:latin typeface="+mj-lt"/>
                        <a:ea typeface="BIZ UDPゴシック" panose="020B0400000000000000" pitchFamily="50" charset="-128"/>
                      </a:endParaRPr>
                    </a:p>
                  </a:txBody>
                  <a:tcPr marT="72000" marB="72000">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dash"/>
                      <a:round/>
                      <a:headEnd type="none" w="med" len="med"/>
                      <a:tailEnd type="none" w="med" len="med"/>
                    </a:lnT>
                    <a:lnB w="12700" cap="flat" cmpd="sng" algn="ctr">
                      <a:solidFill>
                        <a:schemeClr val="tx1">
                          <a:lumMod val="50000"/>
                          <a:lumOff val="50000"/>
                        </a:schemeClr>
                      </a:solidFill>
                      <a:prstDash val="dash"/>
                      <a:round/>
                      <a:headEnd type="none" w="med" len="med"/>
                      <a:tailEnd type="none" w="med" len="med"/>
                    </a:lnB>
                    <a:lnTlToBr w="12700" cmpd="sng">
                      <a:noFill/>
                      <a:prstDash val="solid"/>
                    </a:lnTlToBr>
                    <a:lnBlToTr w="12700" cmpd="sng">
                      <a:noFill/>
                      <a:prstDash val="solid"/>
                    </a:lnBlToTr>
                  </a:tcPr>
                </a:tc>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algn="ctr" defTabSz="987415" rtl="0" eaLnBrk="1" fontAlgn="auto" latinLnBrk="0" hangingPunct="1">
                        <a:spcBef>
                          <a:spcPts val="0"/>
                        </a:spcBef>
                        <a:spcAft>
                          <a:spcPts val="0"/>
                        </a:spcAft>
                      </a:pPr>
                      <a:r>
                        <a:rPr kumimoji="1"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エンジニア（下流）：</a:t>
                      </a:r>
                      <a:r>
                        <a:rPr kumimoji="1"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24</a:t>
                      </a:r>
                      <a:r>
                        <a:rPr kumimoji="1"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nchor="ctr">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400">
                        <a:latin typeface="+mj-lt"/>
                        <a:ea typeface="BIZ UDPゴシック" panose="020B0400000000000000" pitchFamily="50" charset="-128"/>
                      </a:endParaRPr>
                    </a:p>
                  </a:txBody>
                  <a:tcPr marT="72000" marB="72000">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dash"/>
                      <a:round/>
                      <a:headEnd type="none" w="med" len="med"/>
                      <a:tailEnd type="none" w="med" len="med"/>
                    </a:lnT>
                    <a:lnB w="12700" cap="flat" cmpd="sng" algn="ctr">
                      <a:solidFill>
                        <a:schemeClr val="tx1">
                          <a:lumMod val="50000"/>
                          <a:lumOff val="50000"/>
                        </a:schemeClr>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361882"/>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IT</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コンサルパートナー</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開発パートナー</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9125023"/>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endPar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endPar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494608"/>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endPar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endPar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5480905"/>
                  </a:ext>
                </a:extLst>
              </a:tr>
              <a:tr h="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IT</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コンサル経験者</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or</a:t>
                      </a:r>
                    </a:p>
                    <a:p>
                      <a:pPr algn="ctr"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SE</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上流工程経験者</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8</a:t>
                      </a: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rtl="0" fontAlgn="auto">
                        <a:spcBef>
                          <a:spcPts val="0"/>
                        </a:spcBef>
                        <a:spcAft>
                          <a:spcPts val="0"/>
                        </a:spcAft>
                      </a:pPr>
                      <a:r>
                        <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or</a:t>
                      </a:r>
                    </a:p>
                    <a:p>
                      <a:pPr algn="ctr" defTabSz="987415" rtl="0" fontAlgn="auto">
                        <a:spcBef>
                          <a:spcPts val="0"/>
                        </a:spcBef>
                        <a:spcAft>
                          <a:spcPts val="0"/>
                        </a:spcAft>
                      </a:pPr>
                      <a:r>
                        <a:rPr kumimoji="1"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素養のある人（若手）</a:t>
                      </a:r>
                      <a:endParaRPr kumimoji="1"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3082619"/>
                  </a:ext>
                </a:extLst>
              </a:tr>
            </a:tbl>
          </a:graphicData>
        </a:graphic>
      </p:graphicFrame>
      <p:grpSp>
        <p:nvGrpSpPr>
          <p:cNvPr id="32" name="グループ化 31">
            <a:extLst>
              <a:ext uri="{FF2B5EF4-FFF2-40B4-BE49-F238E27FC236}">
                <a16:creationId xmlns:a16="http://schemas.microsoft.com/office/drawing/2014/main" id="{BF213DA5-1DE6-67D0-E0BE-BF93ECC49A8C}"/>
              </a:ext>
            </a:extLst>
          </p:cNvPr>
          <p:cNvGrpSpPr/>
          <p:nvPr/>
        </p:nvGrpSpPr>
        <p:grpSpPr>
          <a:xfrm>
            <a:off x="2956298" y="3344336"/>
            <a:ext cx="1080000" cy="1555081"/>
            <a:chOff x="2846232" y="3975100"/>
            <a:chExt cx="1080000" cy="1203714"/>
          </a:xfrm>
        </p:grpSpPr>
        <p:sp>
          <p:nvSpPr>
            <p:cNvPr id="16" name="正方形/長方形 15">
              <a:extLst>
                <a:ext uri="{FF2B5EF4-FFF2-40B4-BE49-F238E27FC236}">
                  <a16:creationId xmlns:a16="http://schemas.microsoft.com/office/drawing/2014/main" id="{6F4DEFE4-D450-78FC-4F5A-C5F6E6CDCC5B}"/>
                </a:ext>
              </a:extLst>
            </p:cNvPr>
            <p:cNvSpPr/>
            <p:nvPr/>
          </p:nvSpPr>
          <p:spPr>
            <a:xfrm>
              <a:off x="2846232" y="3975100"/>
              <a:ext cx="1080000" cy="579169"/>
            </a:xfrm>
            <a:prstGeom prst="rect">
              <a:avLst/>
            </a:prstGeom>
            <a:solidFill>
              <a:srgbClr val="DEEBF7"/>
            </a:solidFill>
            <a:ln w="19050" cap="flat" cmpd="sng" algn="ctr">
              <a:solidFill>
                <a:srgbClr val="FFFFFF"/>
              </a:solidFill>
              <a:prstDash val="solid"/>
            </a:ln>
            <a:effectLst/>
          </p:spPr>
          <p:txBody>
            <a:bodyPr rtlCol="0" anchor="ctr"/>
            <a:lstStyle/>
            <a:p>
              <a:pPr algn="ctr" defTabSz="987415" fontAlgn="auto">
                <a:spcBef>
                  <a:spcPts val="0"/>
                </a:spcBef>
                <a:spcAft>
                  <a:spcPts val="0"/>
                </a:spcAft>
              </a:pP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外部採用</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fontAlgn="auto">
                <a:spcBef>
                  <a:spcPts val="0"/>
                </a:spcBef>
                <a:spcAft>
                  <a:spcPts val="0"/>
                </a:spcAft>
              </a:pP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7" name="正方形/長方形 16">
              <a:extLst>
                <a:ext uri="{FF2B5EF4-FFF2-40B4-BE49-F238E27FC236}">
                  <a16:creationId xmlns:a16="http://schemas.microsoft.com/office/drawing/2014/main" id="{2323D960-70B2-9CB7-6244-C217694FF1ED}"/>
                </a:ext>
              </a:extLst>
            </p:cNvPr>
            <p:cNvSpPr/>
            <p:nvPr/>
          </p:nvSpPr>
          <p:spPr>
            <a:xfrm>
              <a:off x="2846232" y="4598771"/>
              <a:ext cx="1080000" cy="580043"/>
            </a:xfrm>
            <a:prstGeom prst="rect">
              <a:avLst/>
            </a:prstGeom>
            <a:solidFill>
              <a:srgbClr val="DEEBF7"/>
            </a:solidFill>
            <a:ln w="19050" cap="flat" cmpd="sng" algn="ctr">
              <a:solidFill>
                <a:srgbClr val="FFFFFF"/>
              </a:solidFill>
              <a:prstDash val="solid"/>
            </a:ln>
            <a:effectLst/>
          </p:spPr>
          <p:txBody>
            <a:bodyPr rtlCol="0" anchor="ctr"/>
            <a:lstStyle/>
            <a:p>
              <a:pPr algn="ctr" defTabSz="987415" fontAlgn="auto">
                <a:spcBef>
                  <a:spcPts val="0"/>
                </a:spcBef>
                <a:spcAft>
                  <a:spcPts val="0"/>
                </a:spcAft>
              </a:pP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公募</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fontAlgn="auto">
                <a:spcBef>
                  <a:spcPts val="0"/>
                </a:spcBef>
                <a:spcAft>
                  <a:spcPts val="0"/>
                </a:spcAft>
              </a:pP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6</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p:txBody>
        </p:sp>
      </p:grpSp>
      <p:sp>
        <p:nvSpPr>
          <p:cNvPr id="20" name="正方形/長方形 19">
            <a:extLst>
              <a:ext uri="{FF2B5EF4-FFF2-40B4-BE49-F238E27FC236}">
                <a16:creationId xmlns:a16="http://schemas.microsoft.com/office/drawing/2014/main" id="{1A33FF7A-C1CA-AE1E-DA0F-07A155BCB82A}"/>
              </a:ext>
            </a:extLst>
          </p:cNvPr>
          <p:cNvSpPr/>
          <p:nvPr/>
        </p:nvSpPr>
        <p:spPr>
          <a:xfrm>
            <a:off x="2956298" y="4940292"/>
            <a:ext cx="1080000" cy="1267682"/>
          </a:xfrm>
          <a:prstGeom prst="rect">
            <a:avLst/>
          </a:prstGeom>
          <a:solidFill>
            <a:srgbClr val="DEEBF7"/>
          </a:solidFill>
          <a:ln w="19050" cap="flat" cmpd="sng" algn="ctr">
            <a:solidFill>
              <a:srgbClr val="FFFFFF"/>
            </a:solidFill>
            <a:prstDash val="solid"/>
          </a:ln>
          <a:effectLst/>
        </p:spPr>
        <p:txBody>
          <a:bodyPr rtlCol="0" anchor="ctr"/>
          <a:lstStyle/>
          <a:p>
            <a:pPr marR="0" lvl="0" indent="0" algn="ctr" defTabSz="987415" fontAlgn="auto">
              <a:lnSpc>
                <a:spcPct val="100000"/>
              </a:lnSpc>
              <a:spcBef>
                <a:spcPts val="0"/>
              </a:spcBef>
              <a:spcAft>
                <a:spcPts val="0"/>
              </a:spcAft>
              <a:buClrTx/>
              <a:buSzTx/>
              <a:buFontTx/>
              <a:buNone/>
              <a:tabLst/>
              <a:defRPr/>
            </a:pP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基シス</a:t>
            </a: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/PM</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部</a:t>
            </a:r>
            <a:b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新経営</a:t>
            </a:r>
            <a:endPar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R="0" lvl="0" indent="0" algn="ctr" defTabSz="987415" fontAlgn="auto">
              <a:lnSpc>
                <a:spcPct val="100000"/>
              </a:lnSpc>
              <a:spcBef>
                <a:spcPts val="0"/>
              </a:spcBef>
              <a:spcAft>
                <a:spcPts val="0"/>
              </a:spcAft>
              <a:buClrTx/>
              <a:buSzTx/>
              <a:buFontTx/>
              <a:buNone/>
              <a:tabLst/>
              <a:defRPr/>
            </a:pPr>
            <a:r>
              <a:rPr lang="en-US" altLang="ja-JP"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15</a:t>
            </a: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p:txBody>
      </p:sp>
      <p:sp>
        <p:nvSpPr>
          <p:cNvPr id="24" name="正方形/長方形 23">
            <a:extLst>
              <a:ext uri="{FF2B5EF4-FFF2-40B4-BE49-F238E27FC236}">
                <a16:creationId xmlns:a16="http://schemas.microsoft.com/office/drawing/2014/main" id="{3B131A43-C838-1822-9F2A-8151A36C9B60}"/>
              </a:ext>
            </a:extLst>
          </p:cNvPr>
          <p:cNvSpPr/>
          <p:nvPr/>
        </p:nvSpPr>
        <p:spPr>
          <a:xfrm>
            <a:off x="2410862" y="3344336"/>
            <a:ext cx="540000" cy="2863637"/>
          </a:xfrm>
          <a:prstGeom prst="rect">
            <a:avLst/>
          </a:prstGeom>
          <a:solidFill>
            <a:srgbClr val="0065BD"/>
          </a:solidFill>
          <a:ln w="19050" cap="flat" cmpd="sng" algn="ctr">
            <a:solidFill>
              <a:srgbClr val="FFFFFF"/>
            </a:solidFill>
            <a:prstDash val="solid"/>
          </a:ln>
          <a:effectLst/>
        </p:spPr>
        <p:txBody>
          <a:bodyPr vert="eaVert"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1600" kern="0">
                <a:solidFill>
                  <a:schemeClr val="bg1"/>
                </a:solidFill>
                <a:latin typeface="Meiryo UI" panose="020B0604030504040204" pitchFamily="50" charset="-128"/>
                <a:ea typeface="Meiryo UI" panose="020B0604030504040204" pitchFamily="50" charset="-128"/>
              </a:rPr>
              <a:t>リクルート</a:t>
            </a:r>
            <a:endParaRPr kumimoji="0" lang="en-US" altLang="ja-JP" sz="1600" b="0" i="0" u="none" strike="noStrike" kern="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0D924F2C-E935-D27F-2C73-F05DF882C23D}"/>
              </a:ext>
            </a:extLst>
          </p:cNvPr>
          <p:cNvSpPr/>
          <p:nvPr/>
        </p:nvSpPr>
        <p:spPr>
          <a:xfrm>
            <a:off x="1868144" y="3344334"/>
            <a:ext cx="540000" cy="2863633"/>
          </a:xfrm>
          <a:prstGeom prst="rect">
            <a:avLst/>
          </a:prstGeom>
          <a:noFill/>
          <a:ln w="19050" cap="flat" cmpd="sng" algn="ctr">
            <a:solidFill>
              <a:srgbClr val="FFFFFF"/>
            </a:solidFill>
            <a:prstDash val="solid"/>
          </a:ln>
          <a:effectLst/>
        </p:spPr>
        <p:txBody>
          <a:bodyPr rtlCol="0" anchor="ctr"/>
          <a:lstStyle/>
          <a:p>
            <a:pPr marL="0" algn="ctr" defTabSz="987415" eaLnBrk="1" fontAlgn="auto" latinLnBrk="0" hangingPunct="1">
              <a:spcBef>
                <a:spcPts val="0"/>
              </a:spcBef>
              <a:spcAft>
                <a:spcPts val="0"/>
              </a:spcAft>
              <a:defRPr/>
            </a:pPr>
            <a:r>
              <a:rPr lang="ja-JP" altLang="en-US" sz="160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固定</a:t>
            </a:r>
            <a:endParaRPr kumimoji="0" lang="ja-JP" altLang="en-US" sz="24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4B7BCAB4-2E4D-8C25-0157-A29C3D0C5F86}"/>
              </a:ext>
            </a:extLst>
          </p:cNvPr>
          <p:cNvSpPr/>
          <p:nvPr/>
        </p:nvSpPr>
        <p:spPr>
          <a:xfrm>
            <a:off x="1868144" y="1820337"/>
            <a:ext cx="540000" cy="1466503"/>
          </a:xfrm>
          <a:prstGeom prst="rect">
            <a:avLst/>
          </a:prstGeom>
          <a:noFill/>
          <a:ln w="19050" cap="flat" cmpd="sng" algn="ctr">
            <a:solidFill>
              <a:srgbClr val="FFFFFF"/>
            </a:solidFill>
            <a:prstDash val="solid"/>
          </a:ln>
          <a:effectLst/>
        </p:spPr>
        <p:txBody>
          <a:bodyPr rtlCol="0" anchor="ctr"/>
          <a:lstStyle/>
          <a:p>
            <a:pPr marL="0" algn="ctr" defTabSz="987415" eaLnBrk="1" fontAlgn="auto" latinLnBrk="0" hangingPunct="1">
              <a:spcBef>
                <a:spcPts val="0"/>
              </a:spcBef>
              <a:spcAft>
                <a:spcPts val="0"/>
              </a:spcAft>
              <a:defRPr/>
            </a:pPr>
            <a:r>
              <a:rPr kumimoji="0" lang="ja-JP" altLang="en-US" sz="16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変動</a:t>
            </a:r>
            <a:endParaRPr kumimoji="0" lang="ja-JP" altLang="en-US" sz="24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57919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E3037-9739-52B5-FAC7-742AEB192A6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1E6A781-0EF6-DBA0-85C4-DAD4ABEA2783}"/>
              </a:ext>
            </a:extLst>
          </p:cNvPr>
          <p:cNvSpPr>
            <a:spLocks noGrp="1"/>
          </p:cNvSpPr>
          <p:nvPr>
            <p:ph type="title"/>
          </p:nvPr>
        </p:nvSpPr>
        <p:spPr/>
        <p:txBody>
          <a:bodyPr/>
          <a:lstStyle/>
          <a:p>
            <a:r>
              <a:rPr kumimoji="1" lang="ja-JP" altLang="en-US"/>
              <a:t>採用</a:t>
            </a:r>
            <a:r>
              <a:rPr lang="ja-JP" altLang="en-US"/>
              <a:t>チャネルごと</a:t>
            </a:r>
            <a:r>
              <a:rPr kumimoji="1" lang="ja-JP" altLang="en-US"/>
              <a:t>の進め方</a:t>
            </a:r>
          </a:p>
        </p:txBody>
      </p:sp>
      <p:sp>
        <p:nvSpPr>
          <p:cNvPr id="4" name="スライド番号プレースホルダー 3">
            <a:extLst>
              <a:ext uri="{FF2B5EF4-FFF2-40B4-BE49-F238E27FC236}">
                <a16:creationId xmlns:a16="http://schemas.microsoft.com/office/drawing/2014/main" id="{94FCC285-6E15-0CEA-174F-B168D0C5572C}"/>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18</a:t>
            </a:fld>
            <a:endParaRPr lang="en-US" altLang="ja-JP"/>
          </a:p>
        </p:txBody>
      </p:sp>
      <p:sp>
        <p:nvSpPr>
          <p:cNvPr id="2" name="コンテンツ プレースホルダー 5">
            <a:extLst>
              <a:ext uri="{FF2B5EF4-FFF2-40B4-BE49-F238E27FC236}">
                <a16:creationId xmlns:a16="http://schemas.microsoft.com/office/drawing/2014/main" id="{353C8B63-5F11-9D5A-FF98-1E15EC2C7C4D}"/>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リクルート内のエンジニアの上流と下流工程の採用チャネルにおける詳細は以下の通り。</a:t>
            </a:r>
            <a:endParaRPr lang="en-US" altLang="ja-JP" sz="1600" kern="0"/>
          </a:p>
        </p:txBody>
      </p:sp>
      <p:graphicFrame>
        <p:nvGraphicFramePr>
          <p:cNvPr id="5" name="表 4">
            <a:extLst>
              <a:ext uri="{FF2B5EF4-FFF2-40B4-BE49-F238E27FC236}">
                <a16:creationId xmlns:a16="http://schemas.microsoft.com/office/drawing/2014/main" id="{FFB87972-4E3C-9872-C0A2-B9E6B8336BA9}"/>
              </a:ext>
            </a:extLst>
          </p:cNvPr>
          <p:cNvGraphicFramePr>
            <a:graphicFrameLocks noGrp="1"/>
          </p:cNvGraphicFramePr>
          <p:nvPr>
            <p:extLst>
              <p:ext uri="{D42A27DB-BD31-4B8C-83A1-F6EECF244321}">
                <p14:modId xmlns:p14="http://schemas.microsoft.com/office/powerpoint/2010/main" val="269181570"/>
              </p:ext>
            </p:extLst>
          </p:nvPr>
        </p:nvGraphicFramePr>
        <p:xfrm>
          <a:off x="135232" y="1417846"/>
          <a:ext cx="11921533" cy="4271148"/>
        </p:xfrm>
        <a:graphic>
          <a:graphicData uri="http://schemas.openxmlformats.org/drawingml/2006/table">
            <a:tbl>
              <a:tblPr firstRow="1" bandRow="1"/>
              <a:tblGrid>
                <a:gridCol w="1510705">
                  <a:extLst>
                    <a:ext uri="{9D8B030D-6E8A-4147-A177-3AD203B41FA5}">
                      <a16:colId xmlns:a16="http://schemas.microsoft.com/office/drawing/2014/main" val="4242186221"/>
                    </a:ext>
                  </a:extLst>
                </a:gridCol>
                <a:gridCol w="2602707">
                  <a:extLst>
                    <a:ext uri="{9D8B030D-6E8A-4147-A177-3AD203B41FA5}">
                      <a16:colId xmlns:a16="http://schemas.microsoft.com/office/drawing/2014/main" val="3630054763"/>
                    </a:ext>
                  </a:extLst>
                </a:gridCol>
                <a:gridCol w="2602707">
                  <a:extLst>
                    <a:ext uri="{9D8B030D-6E8A-4147-A177-3AD203B41FA5}">
                      <a16:colId xmlns:a16="http://schemas.microsoft.com/office/drawing/2014/main" val="2257193726"/>
                    </a:ext>
                  </a:extLst>
                </a:gridCol>
                <a:gridCol w="2602707">
                  <a:extLst>
                    <a:ext uri="{9D8B030D-6E8A-4147-A177-3AD203B41FA5}">
                      <a16:colId xmlns:a16="http://schemas.microsoft.com/office/drawing/2014/main" val="2462902793"/>
                    </a:ext>
                  </a:extLst>
                </a:gridCol>
                <a:gridCol w="2602707">
                  <a:extLst>
                    <a:ext uri="{9D8B030D-6E8A-4147-A177-3AD203B41FA5}">
                      <a16:colId xmlns:a16="http://schemas.microsoft.com/office/drawing/2014/main" val="1044424172"/>
                    </a:ext>
                  </a:extLst>
                </a:gridCol>
              </a:tblGrid>
              <a:tr h="255570">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pPr algn="ctr"/>
                      <a:endParaRPr kumimoji="1" lang="ja-JP" altLang="en-US" sz="1600" b="1" i="0" kern="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pPr algn="ctr"/>
                      <a:r>
                        <a:rPr kumimoji="1" lang="ja-JP" altLang="en-US" sz="1600" b="1" i="0" kern="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エンジニア上流工程</a:t>
                      </a: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gridSpan="3">
                  <a:txBody>
                    <a:bodyPr/>
                    <a:lstStyle/>
                    <a:p>
                      <a:pPr algn="ctr"/>
                      <a:r>
                        <a:rPr kumimoji="1" lang="ja-JP" altLang="en-US" sz="1600" b="1" i="0" kern="0" noProof="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エンジニア下流工程</a:t>
                      </a:r>
                      <a:endParaRPr kumimoji="1" lang="ja-JP" altLang="en-US" sz="1600" b="1" i="0" kern="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642" marR="110642"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hMerge="1">
                  <a:txBody>
                    <a:bodyPr/>
                    <a:lstStyle/>
                    <a:p>
                      <a:endParaRP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extLst>
                  <a:ext uri="{0D108BD9-81ED-4DB2-BD59-A6C34878D82A}">
                    <a16:rowId xmlns:a16="http://schemas.microsoft.com/office/drawing/2014/main" val="2204848530"/>
                  </a:ext>
                </a:extLst>
              </a:tr>
              <a:tr h="241034">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marR="0" lvl="0" indent="0" algn="ctr" defTabSz="514337" rtl="0" eaLnBrk="1" fontAlgn="auto" latinLnBrk="0" hangingPunct="1">
                        <a:lnSpc>
                          <a:spcPct val="100000"/>
                        </a:lnSpc>
                        <a:spcBef>
                          <a:spcPts val="0"/>
                        </a:spcBef>
                        <a:spcAft>
                          <a:spcPts val="0"/>
                        </a:spcAft>
                        <a:buClrTx/>
                        <a:buSzTx/>
                        <a:buFontTx/>
                        <a:buNone/>
                        <a:tabLst/>
                        <a:defRPr/>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採用チャネル</a:t>
                      </a: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自組織内</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PM</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部・新経営）</a:t>
                      </a: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自組織内</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PM</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a:t>
                      </a:r>
                    </a:p>
                  </a:txBody>
                  <a:tcPr marL="57621" marR="57621" marT="36000" marB="35778" anchor="ctr">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社内公募</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外部採用（中途）</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extLst>
                  <a:ext uri="{0D108BD9-81ED-4DB2-BD59-A6C34878D82A}">
                    <a16:rowId xmlns:a16="http://schemas.microsoft.com/office/drawing/2014/main" val="2230145552"/>
                  </a:ext>
                </a:extLst>
              </a:tr>
              <a:tr h="28225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獲得目的</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社内業務知見の活用</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部隊の早期立ち上げ</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部隊の早期立ち上げ</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marR="0" lvl="1"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専門性の獲得</a:t>
                      </a:r>
                      <a:endParaRPr kumimoji="1" lang="en-US" altLang="ja-JP" sz="16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marR="0" lvl="1"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技術レベルの底上げ</a:t>
                      </a: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endParaRPr/>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9764776"/>
                  </a:ext>
                </a:extLst>
              </a:tr>
              <a:tr h="9605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スキルセット要件</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担当業務の深い知見</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IT</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コンサルティング経験</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既存システム理解</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社内調整・</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PJ</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推進力</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高い学習意欲</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論理的思考と自走力</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開発経験不問だが素養は問う</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開発経験者</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経験年数</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年以上（目安）</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モダンな設計・開発経験者</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経験年数</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年以上（目安）</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514"/>
                  </a:ext>
                </a:extLst>
              </a:tr>
              <a:tr h="80159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採用の進め方</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藤原さんによる選抜</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ミッション・役割の合意</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廣瀬さん・越智で選抜</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各</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GM</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とミッションすり合わせおよび合意形成</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募集要項の作成</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リファラル採用</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3310234"/>
                  </a:ext>
                </a:extLst>
              </a:tr>
              <a:tr h="40512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ja-JP" altLang="en-US"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必要人数</a:t>
                      </a:r>
                      <a:endParaRPr kumimoji="1" lang="en-US" altLang="ja-JP" sz="1600" b="1"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8</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Tx/>
                        <a:buNone/>
                      </a:pP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候補者（</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7</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名）</a:t>
                      </a:r>
                      <a:b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確定：蕪木</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水上</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マンスリ</a:t>
                      </a:r>
                      <a:endPar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Tx/>
                        <a:buNone/>
                      </a:pP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未確定：長嶺</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黒澤</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越野</a:t>
                      </a:r>
                      <a:r>
                        <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島</a:t>
                      </a:r>
                      <a:endParaRPr kumimoji="1" lang="en-US" altLang="ja-JP" sz="12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5</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50052531"/>
                  </a:ext>
                </a:extLst>
              </a:tr>
            </a:tbl>
          </a:graphicData>
        </a:graphic>
      </p:graphicFrame>
    </p:spTree>
    <p:extLst>
      <p:ext uri="{BB962C8B-B14F-4D97-AF65-F5344CB8AC3E}">
        <p14:creationId xmlns:p14="http://schemas.microsoft.com/office/powerpoint/2010/main" val="1416618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02428-8CBF-6C2E-9329-F3BE40162CE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1574532-516D-ACE4-3F55-DBBB385E3D37}"/>
              </a:ext>
            </a:extLst>
          </p:cNvPr>
          <p:cNvSpPr>
            <a:spLocks noGrp="1"/>
          </p:cNvSpPr>
          <p:nvPr>
            <p:ph type="title"/>
          </p:nvPr>
        </p:nvSpPr>
        <p:spPr>
          <a:xfrm>
            <a:off x="1087388" y="3510976"/>
            <a:ext cx="9866939" cy="1362075"/>
          </a:xfrm>
        </p:spPr>
        <p:txBody>
          <a:bodyPr/>
          <a:lstStyle/>
          <a:p>
            <a:endParaRPr lang="ja-JP" altLang="en-US"/>
          </a:p>
        </p:txBody>
      </p:sp>
      <p:sp>
        <p:nvSpPr>
          <p:cNvPr id="4" name="テキスト プレースホルダー 3">
            <a:extLst>
              <a:ext uri="{FF2B5EF4-FFF2-40B4-BE49-F238E27FC236}">
                <a16:creationId xmlns:a16="http://schemas.microsoft.com/office/drawing/2014/main" id="{A35F9B4D-60F4-2936-3FEA-503E2D781001}"/>
              </a:ext>
            </a:extLst>
          </p:cNvPr>
          <p:cNvSpPr>
            <a:spLocks noGrp="1"/>
          </p:cNvSpPr>
          <p:nvPr>
            <p:ph type="body" idx="1"/>
          </p:nvPr>
        </p:nvSpPr>
        <p:spPr>
          <a:xfrm>
            <a:off x="591128" y="2010786"/>
            <a:ext cx="10363200" cy="1500187"/>
          </a:xfrm>
        </p:spPr>
        <p:txBody>
          <a:bodyPr/>
          <a:lstStyle/>
          <a:p>
            <a:pPr>
              <a:spcBef>
                <a:spcPct val="0"/>
              </a:spcBef>
            </a:pPr>
            <a:r>
              <a:rPr lang="en-US" altLang="ja-JP" sz="3200"/>
              <a:t>Appendix</a:t>
            </a:r>
            <a:r>
              <a:rPr lang="ja-JP" altLang="en-US" sz="3200"/>
              <a:t>②：</a:t>
            </a:r>
            <a:r>
              <a:rPr lang="en-US" altLang="ja-JP" sz="3200"/>
              <a:t>MS</a:t>
            </a:r>
            <a:r>
              <a:rPr lang="ja-JP" altLang="en-US" sz="3200"/>
              <a:t>からの</a:t>
            </a:r>
            <a:r>
              <a:rPr lang="en-US" altLang="ja-JP" sz="3200" err="1"/>
              <a:t>AzureAccelerate</a:t>
            </a:r>
            <a:r>
              <a:rPr lang="ja-JP" altLang="en-US" sz="3200"/>
              <a:t>プランの提案</a:t>
            </a:r>
          </a:p>
        </p:txBody>
      </p:sp>
    </p:spTree>
    <p:extLst>
      <p:ext uri="{BB962C8B-B14F-4D97-AF65-F5344CB8AC3E}">
        <p14:creationId xmlns:p14="http://schemas.microsoft.com/office/powerpoint/2010/main" val="2585413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B5375-7B88-6A03-88A7-CE00292D902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44EE6DF-EDBB-D497-0FF3-57D108C11084}"/>
              </a:ext>
            </a:extLst>
          </p:cNvPr>
          <p:cNvSpPr>
            <a:spLocks noGrp="1"/>
          </p:cNvSpPr>
          <p:nvPr>
            <p:ph type="title"/>
          </p:nvPr>
        </p:nvSpPr>
        <p:spPr/>
        <p:txBody>
          <a:bodyPr/>
          <a:lstStyle/>
          <a:p>
            <a:r>
              <a:rPr lang="en-US" altLang="ja-JP" err="1"/>
              <a:t>AzureAccelerate</a:t>
            </a:r>
            <a:r>
              <a:rPr lang="ja-JP" altLang="en-US"/>
              <a:t>とは</a:t>
            </a:r>
            <a:endParaRPr kumimoji="1" lang="ja-JP" altLang="en-US"/>
          </a:p>
        </p:txBody>
      </p:sp>
      <p:sp>
        <p:nvSpPr>
          <p:cNvPr id="4" name="スライド番号プレースホルダー 3">
            <a:extLst>
              <a:ext uri="{FF2B5EF4-FFF2-40B4-BE49-F238E27FC236}">
                <a16:creationId xmlns:a16="http://schemas.microsoft.com/office/drawing/2014/main" id="{FE10372F-3579-A6D5-E8E6-F64852F87BE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20</a:t>
            </a:fld>
            <a:endParaRPr lang="en-US" altLang="ja-JP"/>
          </a:p>
        </p:txBody>
      </p:sp>
      <p:sp>
        <p:nvSpPr>
          <p:cNvPr id="2" name="コンテンツ プレースホルダー 5">
            <a:extLst>
              <a:ext uri="{FF2B5EF4-FFF2-40B4-BE49-F238E27FC236}">
                <a16:creationId xmlns:a16="http://schemas.microsoft.com/office/drawing/2014/main" id="{8ADB880C-65F6-6FAE-D607-18F478C8E926}"/>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r>
              <a:rPr lang="ja-JP" altLang="en-US" sz="1600" kern="0"/>
              <a:t>■内容</a:t>
            </a:r>
            <a:endParaRPr lang="en-US" altLang="ja-JP" sz="1600" kern="0"/>
          </a:p>
          <a:p>
            <a:pPr marL="285750" indent="-285750">
              <a:buFont typeface="Arial" panose="020B0604020202020204" pitchFamily="34" charset="0"/>
              <a:buChar char="•"/>
            </a:pPr>
            <a:r>
              <a:rPr lang="ja-JP" altLang="en-US" sz="1600" kern="0"/>
              <a:t>将来的に</a:t>
            </a:r>
            <a:r>
              <a:rPr lang="en-US" altLang="ja-JP" sz="1600" kern="0"/>
              <a:t>Azure</a:t>
            </a:r>
            <a:r>
              <a:rPr lang="ja-JP" altLang="en-US" sz="1600" kern="0"/>
              <a:t>サービスを多く使用する予定のある企業に対し、ベンダー費用を</a:t>
            </a:r>
            <a:r>
              <a:rPr lang="en-US" altLang="ja-JP" sz="1600" kern="0"/>
              <a:t>MS</a:t>
            </a:r>
            <a:r>
              <a:rPr lang="ja-JP" altLang="en-US" sz="1600" kern="0"/>
              <a:t>が負担して早期に</a:t>
            </a:r>
            <a:r>
              <a:rPr lang="en-US" altLang="ja-JP" sz="1600" kern="0"/>
              <a:t>Azure</a:t>
            </a:r>
            <a:r>
              <a:rPr lang="ja-JP" altLang="en-US" sz="1600" kern="0"/>
              <a:t>環境の利用を促進するプラン。</a:t>
            </a:r>
            <a:endParaRPr lang="en-US" altLang="ja-JP" sz="1600" kern="0"/>
          </a:p>
          <a:p>
            <a:pPr marL="285750" indent="-285750">
              <a:buFont typeface="Arial" panose="020B0604020202020204" pitchFamily="34" charset="0"/>
              <a:buChar char="•"/>
            </a:pPr>
            <a:r>
              <a:rPr lang="ja-JP" altLang="en-US" sz="1600" kern="0"/>
              <a:t>ベンダーは</a:t>
            </a:r>
            <a:r>
              <a:rPr lang="en-US" altLang="ja-JP" sz="1600" kern="0"/>
              <a:t>MS</a:t>
            </a:r>
            <a:r>
              <a:rPr lang="ja-JP" altLang="en-US" sz="1600" kern="0"/>
              <a:t>の指定パートナーから選択（</a:t>
            </a:r>
            <a:r>
              <a:rPr lang="en-US" altLang="ja-JP" sz="1600" kern="0"/>
              <a:t>R</a:t>
            </a:r>
            <a:r>
              <a:rPr lang="ja-JP" altLang="en-US" sz="1600" kern="0"/>
              <a:t>から要望や</a:t>
            </a:r>
            <a:r>
              <a:rPr lang="en-US" altLang="ja-JP" sz="1600" kern="0"/>
              <a:t>MS</a:t>
            </a:r>
            <a:r>
              <a:rPr lang="ja-JP" altLang="en-US" sz="1600" kern="0"/>
              <a:t>からの紹介などパートナーの選択方法は自由）。</a:t>
            </a:r>
            <a:endParaRPr lang="en-US" altLang="ja-JP" sz="1600" kern="0"/>
          </a:p>
          <a:p>
            <a:pPr marL="285750" indent="-285750">
              <a:buFont typeface="Arial" panose="020B0604020202020204" pitchFamily="34" charset="0"/>
              <a:buChar char="•"/>
            </a:pPr>
            <a:r>
              <a:rPr lang="ja-JP" altLang="en-US" sz="1600" kern="0"/>
              <a:t>ただし、</a:t>
            </a:r>
            <a:r>
              <a:rPr lang="en-US" altLang="ja-JP" sz="1600" kern="0"/>
              <a:t>MS</a:t>
            </a:r>
            <a:r>
              <a:rPr lang="ja-JP" altLang="en-US" sz="1600" kern="0"/>
              <a:t>担当営業から</a:t>
            </a:r>
            <a:r>
              <a:rPr lang="en-US" altLang="ja-JP" sz="1600" kern="0">
                <a:hlinkClick r:id="rId3" action="ppaction://hlinksldjump"/>
              </a:rPr>
              <a:t>MS</a:t>
            </a:r>
            <a:r>
              <a:rPr lang="ja-JP" altLang="en-US" sz="1600" kern="0">
                <a:hlinkClick r:id="rId3" action="ppaction://hlinksldjump"/>
              </a:rPr>
              <a:t>の岡嵜常務と</a:t>
            </a:r>
            <a:r>
              <a:rPr lang="en-US" altLang="ja-JP" sz="1600" kern="0">
                <a:hlinkClick r:id="rId3" action="ppaction://hlinksldjump"/>
              </a:rPr>
              <a:t>R</a:t>
            </a:r>
            <a:r>
              <a:rPr lang="ja-JP" altLang="en-US" sz="1600" kern="0">
                <a:hlinkClick r:id="rId3" action="ppaction://hlinksldjump"/>
              </a:rPr>
              <a:t>の吉澤常務との面談</a:t>
            </a:r>
            <a:r>
              <a:rPr lang="ja-JP" altLang="en-US" sz="1600" kern="0"/>
              <a:t>を希望。</a:t>
            </a:r>
            <a:endParaRPr lang="en-US" altLang="ja-JP" sz="1600" kern="0"/>
          </a:p>
          <a:p>
            <a:pPr marL="0" indent="0"/>
            <a:r>
              <a:rPr lang="ja-JP" altLang="en-US" sz="1600" kern="0"/>
              <a:t>■現在の状況</a:t>
            </a:r>
            <a:endParaRPr lang="en-US" altLang="ja-JP" sz="1600" kern="0"/>
          </a:p>
          <a:p>
            <a:pPr marL="285750" indent="-285750">
              <a:buFont typeface="Arial" panose="020B0604020202020204" pitchFamily="34" charset="0"/>
              <a:buChar char="•"/>
            </a:pPr>
            <a:r>
              <a:rPr lang="en-US" altLang="ja-JP" sz="1600" kern="0"/>
              <a:t>n8n</a:t>
            </a:r>
            <a:r>
              <a:rPr lang="ja-JP" altLang="en-US" sz="1600" kern="0"/>
              <a:t>導入において、</a:t>
            </a:r>
            <a:r>
              <a:rPr lang="en-US" altLang="ja-JP" sz="1600" kern="0"/>
              <a:t>AI</a:t>
            </a:r>
            <a:r>
              <a:rPr lang="ja-JP" altLang="en-US" sz="1600" kern="0"/>
              <a:t>エージェントが</a:t>
            </a:r>
            <a:r>
              <a:rPr lang="en-US" altLang="ja-JP" sz="1600" kern="0"/>
              <a:t>300</a:t>
            </a:r>
            <a:r>
              <a:rPr lang="ja-JP" altLang="en-US" sz="1600" kern="0"/>
              <a:t>以上導入されると、多額の</a:t>
            </a:r>
            <a:r>
              <a:rPr lang="en-US" altLang="ja-JP" sz="1600" kern="0"/>
              <a:t>Azure</a:t>
            </a:r>
            <a:r>
              <a:rPr lang="ja-JP" altLang="en-US" sz="1600" kern="0"/>
              <a:t>サービス利用が見込めると</a:t>
            </a:r>
            <a:r>
              <a:rPr lang="en-US" altLang="ja-JP" sz="1600" kern="0"/>
              <a:t>R</a:t>
            </a:r>
            <a:r>
              <a:rPr lang="ja-JP" altLang="en-US" sz="1600" kern="0"/>
              <a:t>で試算済み。</a:t>
            </a:r>
            <a:br>
              <a:rPr lang="en-US" altLang="ja-JP" sz="1600" kern="0"/>
            </a:br>
            <a:r>
              <a:rPr lang="ja-JP" altLang="en-US" sz="1600" kern="0"/>
              <a:t>その試算をもとに、</a:t>
            </a:r>
            <a:r>
              <a:rPr lang="en-US" altLang="ja-JP" sz="1600" kern="0"/>
              <a:t>MS</a:t>
            </a:r>
            <a:r>
              <a:rPr lang="ja-JP" altLang="en-US" sz="1600" kern="0"/>
              <a:t>の担当営業が</a:t>
            </a:r>
            <a:r>
              <a:rPr lang="en-US" altLang="ja-JP" sz="1600" kern="0"/>
              <a:t>MS</a:t>
            </a:r>
            <a:r>
              <a:rPr lang="ja-JP" altLang="en-US" sz="1600" kern="0"/>
              <a:t>内部で本プログラムの利用を申請した結果、利用は可能とのこと。</a:t>
            </a:r>
            <a:br>
              <a:rPr lang="en-US" altLang="ja-JP" sz="1600" kern="0"/>
            </a:br>
            <a:r>
              <a:rPr lang="ja-JP" altLang="en-US" sz="1600" kern="0"/>
              <a:t>（将来的な利用金額はあくまで予測であり、コミットの必要はなしとのこと）</a:t>
            </a:r>
            <a:endParaRPr lang="en-US" altLang="ja-JP" sz="1600" kern="0"/>
          </a:p>
          <a:p>
            <a:pPr marL="285750" indent="-285750">
              <a:buFont typeface="Arial" panose="020B0604020202020204" pitchFamily="34" charset="0"/>
              <a:buChar char="•"/>
            </a:pPr>
            <a:r>
              <a:rPr lang="en-US" altLang="ja-JP" sz="1600" kern="0"/>
              <a:t>R</a:t>
            </a:r>
            <a:r>
              <a:rPr lang="ja-JP" altLang="en-US" sz="1600" kern="0"/>
              <a:t>の契約元である</a:t>
            </a:r>
            <a:r>
              <a:rPr lang="en-US" altLang="ja-JP" sz="1600" kern="0"/>
              <a:t>ISU</a:t>
            </a:r>
            <a:r>
              <a:rPr lang="ja-JP" altLang="en-US" sz="1600" kern="0"/>
              <a:t>には共有済みになり、現在の契約の範囲外での話であれば利用することは問題ないとのこと。</a:t>
            </a:r>
            <a:endParaRPr lang="en-US" altLang="ja-JP" sz="1600" kern="0"/>
          </a:p>
        </p:txBody>
      </p:sp>
      <p:grpSp>
        <p:nvGrpSpPr>
          <p:cNvPr id="9" name="グループ化 8">
            <a:extLst>
              <a:ext uri="{FF2B5EF4-FFF2-40B4-BE49-F238E27FC236}">
                <a16:creationId xmlns:a16="http://schemas.microsoft.com/office/drawing/2014/main" id="{D5539EB3-F069-C920-31A4-DC99641CDE3A}"/>
              </a:ext>
            </a:extLst>
          </p:cNvPr>
          <p:cNvGrpSpPr/>
          <p:nvPr/>
        </p:nvGrpSpPr>
        <p:grpSpPr>
          <a:xfrm>
            <a:off x="514230" y="3429000"/>
            <a:ext cx="11169770" cy="2852221"/>
            <a:chOff x="203200" y="3244722"/>
            <a:chExt cx="11169770" cy="2852221"/>
          </a:xfrm>
        </p:grpSpPr>
        <p:pic>
          <p:nvPicPr>
            <p:cNvPr id="6" name="図 5">
              <a:extLst>
                <a:ext uri="{FF2B5EF4-FFF2-40B4-BE49-F238E27FC236}">
                  <a16:creationId xmlns:a16="http://schemas.microsoft.com/office/drawing/2014/main" id="{D7532CA4-04DF-72F0-DA6D-4A7D38C7B219}"/>
                </a:ext>
              </a:extLst>
            </p:cNvPr>
            <p:cNvPicPr>
              <a:picLocks noChangeAspect="1"/>
            </p:cNvPicPr>
            <p:nvPr/>
          </p:nvPicPr>
          <p:blipFill>
            <a:blip r:embed="rId4"/>
            <a:stretch>
              <a:fillRect/>
            </a:stretch>
          </p:blipFill>
          <p:spPr>
            <a:xfrm>
              <a:off x="203200" y="3244722"/>
              <a:ext cx="5113308" cy="2815275"/>
            </a:xfrm>
            <a:prstGeom prst="rect">
              <a:avLst/>
            </a:prstGeom>
            <a:effectLst>
              <a:outerShdw blurRad="50800" dist="38100" dir="2700000" algn="tl" rotWithShape="0">
                <a:prstClr val="black">
                  <a:alpha val="40000"/>
                </a:prstClr>
              </a:outerShdw>
            </a:effectLst>
          </p:spPr>
        </p:pic>
        <p:pic>
          <p:nvPicPr>
            <p:cNvPr id="8" name="図 7">
              <a:extLst>
                <a:ext uri="{FF2B5EF4-FFF2-40B4-BE49-F238E27FC236}">
                  <a16:creationId xmlns:a16="http://schemas.microsoft.com/office/drawing/2014/main" id="{099DBA3C-4695-6D61-4F34-7A83B98765FA}"/>
                </a:ext>
              </a:extLst>
            </p:cNvPr>
            <p:cNvPicPr>
              <a:picLocks noChangeAspect="1"/>
            </p:cNvPicPr>
            <p:nvPr/>
          </p:nvPicPr>
          <p:blipFill>
            <a:blip r:embed="rId5"/>
            <a:stretch>
              <a:fillRect/>
            </a:stretch>
          </p:blipFill>
          <p:spPr>
            <a:xfrm>
              <a:off x="6396361" y="3244722"/>
              <a:ext cx="4976609" cy="2852221"/>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873771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F8156-E948-513D-CC69-7265C064C64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A81FE50-2821-EC59-A53F-6EE705398017}"/>
              </a:ext>
            </a:extLst>
          </p:cNvPr>
          <p:cNvSpPr>
            <a:spLocks noGrp="1"/>
          </p:cNvSpPr>
          <p:nvPr>
            <p:ph type="title"/>
          </p:nvPr>
        </p:nvSpPr>
        <p:spPr/>
        <p:txBody>
          <a:bodyPr/>
          <a:lstStyle/>
          <a:p>
            <a:r>
              <a:rPr lang="en-US" altLang="ja-JP"/>
              <a:t>MS </a:t>
            </a:r>
            <a:r>
              <a:rPr lang="ja-JP" altLang="en-US"/>
              <a:t>岡嵜常務とのご面談について</a:t>
            </a:r>
            <a:endParaRPr kumimoji="1" lang="ja-JP" altLang="en-US"/>
          </a:p>
        </p:txBody>
      </p:sp>
      <p:sp>
        <p:nvSpPr>
          <p:cNvPr id="4" name="スライド番号プレースホルダー 3">
            <a:extLst>
              <a:ext uri="{FF2B5EF4-FFF2-40B4-BE49-F238E27FC236}">
                <a16:creationId xmlns:a16="http://schemas.microsoft.com/office/drawing/2014/main" id="{7FCBCA6A-EF19-A746-6FBF-11E3FD365289}"/>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21</a:t>
            </a:fld>
            <a:endParaRPr lang="en-US" altLang="ja-JP"/>
          </a:p>
        </p:txBody>
      </p:sp>
      <p:sp>
        <p:nvSpPr>
          <p:cNvPr id="2" name="コンテンツ プレースホルダー 5">
            <a:extLst>
              <a:ext uri="{FF2B5EF4-FFF2-40B4-BE49-F238E27FC236}">
                <a16:creationId xmlns:a16="http://schemas.microsoft.com/office/drawing/2014/main" id="{BBEC5C67-18CF-F181-4E71-1D3B509036B9}"/>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err="1"/>
              <a:t>AzureAccelerate</a:t>
            </a:r>
            <a:r>
              <a:rPr lang="ja-JP" altLang="en-US" sz="1600" kern="0"/>
              <a:t>プランの使用にあたり、</a:t>
            </a:r>
            <a:r>
              <a:rPr lang="en-US" altLang="ja-JP" sz="1600" kern="0"/>
              <a:t>MS</a:t>
            </a:r>
            <a:r>
              <a:rPr lang="ja-JP" altLang="en-US" sz="1600" kern="0"/>
              <a:t>の岡嵜常務と吉澤常務とのご面談を希望されています。</a:t>
            </a:r>
            <a:endParaRPr lang="en-US" altLang="ja-JP" sz="1600" kern="0"/>
          </a:p>
        </p:txBody>
      </p:sp>
      <p:pic>
        <p:nvPicPr>
          <p:cNvPr id="7" name="図 6">
            <a:extLst>
              <a:ext uri="{FF2B5EF4-FFF2-40B4-BE49-F238E27FC236}">
                <a16:creationId xmlns:a16="http://schemas.microsoft.com/office/drawing/2014/main" id="{800D1EDA-8EFC-5291-7045-CB0A4E9C3F3F}"/>
              </a:ext>
            </a:extLst>
          </p:cNvPr>
          <p:cNvPicPr>
            <a:picLocks noChangeAspect="1"/>
          </p:cNvPicPr>
          <p:nvPr/>
        </p:nvPicPr>
        <p:blipFill>
          <a:blip r:embed="rId3"/>
          <a:stretch>
            <a:fillRect/>
          </a:stretch>
        </p:blipFill>
        <p:spPr>
          <a:xfrm>
            <a:off x="1004461" y="1417846"/>
            <a:ext cx="10183078" cy="49768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36517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AB12-9007-A90C-5724-F12D765516D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C492112-A26A-1964-E354-4A3F84502825}"/>
              </a:ext>
            </a:extLst>
          </p:cNvPr>
          <p:cNvSpPr>
            <a:spLocks noGrp="1"/>
          </p:cNvSpPr>
          <p:nvPr>
            <p:ph type="title"/>
          </p:nvPr>
        </p:nvSpPr>
        <p:spPr/>
        <p:txBody>
          <a:bodyPr/>
          <a:lstStyle/>
          <a:p>
            <a:r>
              <a:rPr lang="en-US" altLang="ja-JP"/>
              <a:t>Appendix</a:t>
            </a:r>
            <a:r>
              <a:rPr lang="ja-JP" altLang="en-US"/>
              <a:t>：最終的な</a:t>
            </a:r>
            <a:r>
              <a:rPr lang="en-US" altLang="ja-JP"/>
              <a:t>AI</a:t>
            </a:r>
            <a:r>
              <a:rPr lang="ja-JP" altLang="en-US"/>
              <a:t>エージェント・アーキテクチャのイメージ</a:t>
            </a:r>
            <a:endParaRPr kumimoji="1" lang="ja-JP" altLang="en-US"/>
          </a:p>
        </p:txBody>
      </p:sp>
      <p:sp>
        <p:nvSpPr>
          <p:cNvPr id="4" name="スライド番号プレースホルダー 3">
            <a:extLst>
              <a:ext uri="{FF2B5EF4-FFF2-40B4-BE49-F238E27FC236}">
                <a16:creationId xmlns:a16="http://schemas.microsoft.com/office/drawing/2014/main" id="{8BE96163-08D7-E882-0D19-3BF29207895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22</a:t>
            </a:fld>
            <a:endParaRPr lang="en-US" altLang="ja-JP"/>
          </a:p>
        </p:txBody>
      </p:sp>
      <p:sp>
        <p:nvSpPr>
          <p:cNvPr id="2" name="コンテンツ プレースホルダー 5">
            <a:extLst>
              <a:ext uri="{FF2B5EF4-FFF2-40B4-BE49-F238E27FC236}">
                <a16:creationId xmlns:a16="http://schemas.microsoft.com/office/drawing/2014/main" id="{6194177A-F4BC-6658-6AFF-219D4B48CAF7}"/>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a:t>AI</a:t>
            </a:r>
            <a:r>
              <a:rPr lang="ja-JP" altLang="en-US" sz="1600" kern="0"/>
              <a:t>エージェントのアーキテクチャは</a:t>
            </a:r>
            <a:r>
              <a:rPr lang="en-US" altLang="ja-JP" sz="1600" kern="0"/>
              <a:t>n8n×Azure</a:t>
            </a:r>
            <a:r>
              <a:rPr lang="ja-JP" altLang="en-US" sz="1600" kern="0"/>
              <a:t>をベースに構築する。</a:t>
            </a:r>
            <a:endParaRPr lang="en-US" altLang="ja-JP" sz="1600" kern="0"/>
          </a:p>
        </p:txBody>
      </p:sp>
      <p:grpSp>
        <p:nvGrpSpPr>
          <p:cNvPr id="9" name="グループ化 8">
            <a:extLst>
              <a:ext uri="{FF2B5EF4-FFF2-40B4-BE49-F238E27FC236}">
                <a16:creationId xmlns:a16="http://schemas.microsoft.com/office/drawing/2014/main" id="{A3C728BB-CEF7-5926-C85A-2567080F86A9}"/>
              </a:ext>
            </a:extLst>
          </p:cNvPr>
          <p:cNvGrpSpPr/>
          <p:nvPr/>
        </p:nvGrpSpPr>
        <p:grpSpPr>
          <a:xfrm>
            <a:off x="525224" y="999592"/>
            <a:ext cx="11152135" cy="5563133"/>
            <a:chOff x="525224" y="999592"/>
            <a:chExt cx="11152135" cy="5563133"/>
          </a:xfrm>
        </p:grpSpPr>
        <p:sp>
          <p:nvSpPr>
            <p:cNvPr id="6" name="正方形/長方形 5">
              <a:extLst>
                <a:ext uri="{FF2B5EF4-FFF2-40B4-BE49-F238E27FC236}">
                  <a16:creationId xmlns:a16="http://schemas.microsoft.com/office/drawing/2014/main" id="{03F5E3BA-08BA-B042-2754-0041A551B0CE}"/>
                </a:ext>
              </a:extLst>
            </p:cNvPr>
            <p:cNvSpPr/>
            <p:nvPr/>
          </p:nvSpPr>
          <p:spPr>
            <a:xfrm>
              <a:off x="1555606" y="1656685"/>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Teams</a:t>
              </a: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アダプティブカード</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 name="正方形/長方形 6">
              <a:extLst>
                <a:ext uri="{FF2B5EF4-FFF2-40B4-BE49-F238E27FC236}">
                  <a16:creationId xmlns:a16="http://schemas.microsoft.com/office/drawing/2014/main" id="{03ADEBCF-30DB-ADE0-FAAC-3F976C34002F}"/>
                </a:ext>
              </a:extLst>
            </p:cNvPr>
            <p:cNvSpPr/>
            <p:nvPr/>
          </p:nvSpPr>
          <p:spPr>
            <a:xfrm>
              <a:off x="9070540" y="1656685"/>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各種フロントエンド</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&lt;Web/Mobile&gt;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48FC5ACA-041B-415F-26B3-876B4261944B}"/>
                </a:ext>
              </a:extLst>
            </p:cNvPr>
            <p:cNvSpPr/>
            <p:nvPr/>
          </p:nvSpPr>
          <p:spPr>
            <a:xfrm>
              <a:off x="5295320" y="2067612"/>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AzureAPIManagement</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統一セキュリティ窓口</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5" name="四角形: 角を丸くする 4">
              <a:extLst>
                <a:ext uri="{FF2B5EF4-FFF2-40B4-BE49-F238E27FC236}">
                  <a16:creationId xmlns:a16="http://schemas.microsoft.com/office/drawing/2014/main" id="{98612246-1984-8E03-0420-36C0A5281A53}"/>
                </a:ext>
              </a:extLst>
            </p:cNvPr>
            <p:cNvSpPr/>
            <p:nvPr/>
          </p:nvSpPr>
          <p:spPr>
            <a:xfrm>
              <a:off x="525224" y="1238571"/>
              <a:ext cx="11141552" cy="13236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アクセス</a:t>
              </a: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（ユーザー）層</a:t>
              </a:r>
            </a:p>
          </p:txBody>
        </p:sp>
        <p:sp>
          <p:nvSpPr>
            <p:cNvPr id="10" name="四角形: 角を丸くする 9">
              <a:extLst>
                <a:ext uri="{FF2B5EF4-FFF2-40B4-BE49-F238E27FC236}">
                  <a16:creationId xmlns:a16="http://schemas.microsoft.com/office/drawing/2014/main" id="{30B02DDA-FDA9-93D4-A38F-18A371A9F3A5}"/>
                </a:ext>
              </a:extLst>
            </p:cNvPr>
            <p:cNvSpPr/>
            <p:nvPr/>
          </p:nvSpPr>
          <p:spPr>
            <a:xfrm>
              <a:off x="525224" y="2638425"/>
              <a:ext cx="3637201" cy="275272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可視化・分析</a:t>
              </a: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1" name="四角形: 角を丸くする 10">
              <a:extLst>
                <a:ext uri="{FF2B5EF4-FFF2-40B4-BE49-F238E27FC236}">
                  <a16:creationId xmlns:a16="http://schemas.microsoft.com/office/drawing/2014/main" id="{9B8E6761-273C-5221-FF7A-10C56D153D08}"/>
                </a:ext>
              </a:extLst>
            </p:cNvPr>
            <p:cNvSpPr/>
            <p:nvPr/>
          </p:nvSpPr>
          <p:spPr>
            <a:xfrm>
              <a:off x="525224" y="5467170"/>
              <a:ext cx="3637201" cy="1095555"/>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共通基盤</a:t>
              </a: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9" name="正方形/長方形 18">
              <a:extLst>
                <a:ext uri="{FF2B5EF4-FFF2-40B4-BE49-F238E27FC236}">
                  <a16:creationId xmlns:a16="http://schemas.microsoft.com/office/drawing/2014/main" id="{1FAC0811-C26E-A8A0-D94F-C615ABD56CB6}"/>
                </a:ext>
              </a:extLst>
            </p:cNvPr>
            <p:cNvSpPr/>
            <p:nvPr/>
          </p:nvSpPr>
          <p:spPr>
            <a:xfrm>
              <a:off x="1555606" y="304792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AzureWebApp</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連携ロジック</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1" name="正方形/長方形 20">
              <a:extLst>
                <a:ext uri="{FF2B5EF4-FFF2-40B4-BE49-F238E27FC236}">
                  <a16:creationId xmlns:a16="http://schemas.microsoft.com/office/drawing/2014/main" id="{BF69FA08-6E00-6E12-3025-D68578B996E5}"/>
                </a:ext>
              </a:extLst>
            </p:cNvPr>
            <p:cNvSpPr/>
            <p:nvPr/>
          </p:nvSpPr>
          <p:spPr>
            <a:xfrm>
              <a:off x="1555606" y="3838498"/>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AzureMonitor</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ログ分析</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2" name="正方形/長方形 21">
              <a:extLst>
                <a:ext uri="{FF2B5EF4-FFF2-40B4-BE49-F238E27FC236}">
                  <a16:creationId xmlns:a16="http://schemas.microsoft.com/office/drawing/2014/main" id="{D8D9952B-BF68-3AE9-9DC7-5DCC147B6A8A}"/>
                </a:ext>
              </a:extLst>
            </p:cNvPr>
            <p:cNvSpPr/>
            <p:nvPr/>
          </p:nvSpPr>
          <p:spPr>
            <a:xfrm>
              <a:off x="1555606" y="462907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管理ダッシュボード</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アプリ</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r>
                <a:rPr kumimoji="0" lang="en-US" altLang="ja-JP" sz="100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PowerBI</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3" name="正方形/長方形 22">
              <a:extLst>
                <a:ext uri="{FF2B5EF4-FFF2-40B4-BE49-F238E27FC236}">
                  <a16:creationId xmlns:a16="http://schemas.microsoft.com/office/drawing/2014/main" id="{ADED61C6-BC52-2DDA-B7EF-21F1C0EF24E6}"/>
                </a:ext>
              </a:extLst>
            </p:cNvPr>
            <p:cNvSpPr/>
            <p:nvPr/>
          </p:nvSpPr>
          <p:spPr>
            <a:xfrm>
              <a:off x="1555606" y="5824408"/>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AzureEntraID</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認証・</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SSO&gt;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4" name="四角形: 角を丸くする 13">
              <a:extLst>
                <a:ext uri="{FF2B5EF4-FFF2-40B4-BE49-F238E27FC236}">
                  <a16:creationId xmlns:a16="http://schemas.microsoft.com/office/drawing/2014/main" id="{74F2A7A1-883A-BB0F-5168-9F5FAEE59271}"/>
                </a:ext>
              </a:extLst>
            </p:cNvPr>
            <p:cNvSpPr/>
            <p:nvPr/>
          </p:nvSpPr>
          <p:spPr>
            <a:xfrm>
              <a:off x="4283292" y="5467170"/>
              <a:ext cx="3636000" cy="10955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改善・強化</a:t>
              </a: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5" name="四角形: 角を丸くする 14">
              <a:extLst>
                <a:ext uri="{FF2B5EF4-FFF2-40B4-BE49-F238E27FC236}">
                  <a16:creationId xmlns:a16="http://schemas.microsoft.com/office/drawing/2014/main" id="{10CAB9C6-97ED-EBD2-0C54-E1F245FADC1F}"/>
                </a:ext>
              </a:extLst>
            </p:cNvPr>
            <p:cNvSpPr/>
            <p:nvPr/>
          </p:nvSpPr>
          <p:spPr>
            <a:xfrm>
              <a:off x="4283292" y="3467011"/>
              <a:ext cx="3636000" cy="10955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データ基盤層</a:t>
              </a:r>
            </a:p>
          </p:txBody>
        </p:sp>
        <p:sp>
          <p:nvSpPr>
            <p:cNvPr id="20" name="正方形/長方形 19">
              <a:extLst>
                <a:ext uri="{FF2B5EF4-FFF2-40B4-BE49-F238E27FC236}">
                  <a16:creationId xmlns:a16="http://schemas.microsoft.com/office/drawing/2014/main" id="{0A07ED36-2BC8-DBF8-E38D-664DCE61A909}"/>
                </a:ext>
              </a:extLst>
            </p:cNvPr>
            <p:cNvSpPr/>
            <p:nvPr/>
          </p:nvSpPr>
          <p:spPr>
            <a:xfrm>
              <a:off x="5313074" y="3824249"/>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データ基盤</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稼働ログ・案件データ</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4" name="正方形/長方形 23">
              <a:extLst>
                <a:ext uri="{FF2B5EF4-FFF2-40B4-BE49-F238E27FC236}">
                  <a16:creationId xmlns:a16="http://schemas.microsoft.com/office/drawing/2014/main" id="{474AAAA7-1194-BC41-4555-1F7850582494}"/>
                </a:ext>
              </a:extLst>
            </p:cNvPr>
            <p:cNvSpPr/>
            <p:nvPr/>
          </p:nvSpPr>
          <p:spPr>
            <a:xfrm>
              <a:off x="5313074" y="5824407"/>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CI/CD</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&lt;GitHub&gt;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2" name="四角形: 角を丸くする 11">
              <a:extLst>
                <a:ext uri="{FF2B5EF4-FFF2-40B4-BE49-F238E27FC236}">
                  <a16:creationId xmlns:a16="http://schemas.microsoft.com/office/drawing/2014/main" id="{BC837EFB-1F68-5DB0-CD01-0FA1EA0F4253}"/>
                </a:ext>
              </a:extLst>
            </p:cNvPr>
            <p:cNvSpPr/>
            <p:nvPr/>
          </p:nvSpPr>
          <p:spPr>
            <a:xfrm>
              <a:off x="8040158" y="2638425"/>
              <a:ext cx="3637201" cy="392429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中核・</a:t>
              </a:r>
              <a:r>
                <a:rPr kumimoji="1" lang="en-US" altLang="ja-JP" sz="1200">
                  <a:solidFill>
                    <a:schemeClr val="accent4">
                      <a:lumMod val="65000"/>
                      <a:lumOff val="35000"/>
                    </a:schemeClr>
                  </a:solidFill>
                  <a:latin typeface="Meiryo UI" panose="020B0604030504040204" pitchFamily="50" charset="-128"/>
                  <a:ea typeface="Meiryo UI" panose="020B0604030504040204" pitchFamily="50" charset="-128"/>
                </a:rPr>
                <a:t>AI</a:t>
              </a: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rPr>
                <a:t>エージェント層</a:t>
              </a:r>
            </a:p>
          </p:txBody>
        </p:sp>
        <p:sp>
          <p:nvSpPr>
            <p:cNvPr id="25" name="正方形/長方形 24">
              <a:extLst>
                <a:ext uri="{FF2B5EF4-FFF2-40B4-BE49-F238E27FC236}">
                  <a16:creationId xmlns:a16="http://schemas.microsoft.com/office/drawing/2014/main" id="{B6EA94A5-420F-B899-4C85-CD22ED80C4B3}"/>
                </a:ext>
              </a:extLst>
            </p:cNvPr>
            <p:cNvSpPr/>
            <p:nvPr/>
          </p:nvSpPr>
          <p:spPr>
            <a:xfrm>
              <a:off x="9070540" y="5824407"/>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AzureOpenAI</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&lt;AI</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モデル</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6" name="正方形/長方形 25">
              <a:extLst>
                <a:ext uri="{FF2B5EF4-FFF2-40B4-BE49-F238E27FC236}">
                  <a16:creationId xmlns:a16="http://schemas.microsoft.com/office/drawing/2014/main" id="{0D8D7438-3E80-E838-B42F-12395F185B8A}"/>
                </a:ext>
              </a:extLst>
            </p:cNvPr>
            <p:cNvSpPr/>
            <p:nvPr/>
          </p:nvSpPr>
          <p:spPr>
            <a:xfrm>
              <a:off x="9070540" y="304792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a:t>
              </a:r>
              <a:r>
                <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8n on </a:t>
              </a:r>
              <a:r>
                <a:rPr kumimoji="0" lang="en-US" altLang="ja-JP" sz="1000" b="0" i="0" u="none" strike="noStrike" cap="none" spc="0" normalizeH="0" baseline="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ContainerApps</a:t>
              </a:r>
              <a:endParaRPr kumimoji="0" lang="en-US" altLang="ja-JP"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ワークフロー実行</a:t>
              </a:r>
              <a:r>
                <a:rPr kumimoji="0" lang="en-US" altLang="ja-JP" sz="100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54" name="コネクタ: 曲線 53">
              <a:extLst>
                <a:ext uri="{FF2B5EF4-FFF2-40B4-BE49-F238E27FC236}">
                  <a16:creationId xmlns:a16="http://schemas.microsoft.com/office/drawing/2014/main" id="{C1C863FE-2F02-C0F5-C51F-B69848244C6C}"/>
                </a:ext>
              </a:extLst>
            </p:cNvPr>
            <p:cNvCxnSpPr>
              <a:cxnSpLocks/>
              <a:stCxn id="8" idx="0"/>
              <a:endCxn id="6" idx="3"/>
            </p:cNvCxnSpPr>
            <p:nvPr/>
          </p:nvCxnSpPr>
          <p:spPr>
            <a:xfrm rot="16200000" flipV="1">
              <a:off x="4497596" y="481670"/>
              <a:ext cx="220388" cy="2951496"/>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7" name="コネクタ: 曲線 56">
              <a:extLst>
                <a:ext uri="{FF2B5EF4-FFF2-40B4-BE49-F238E27FC236}">
                  <a16:creationId xmlns:a16="http://schemas.microsoft.com/office/drawing/2014/main" id="{41EE38F5-CB60-8D38-4FF5-CCD3B79E6388}"/>
                </a:ext>
              </a:extLst>
            </p:cNvPr>
            <p:cNvCxnSpPr>
              <a:cxnSpLocks/>
              <a:stCxn id="8" idx="0"/>
              <a:endCxn id="7" idx="1"/>
            </p:cNvCxnSpPr>
            <p:nvPr/>
          </p:nvCxnSpPr>
          <p:spPr>
            <a:xfrm rot="5400000" flipH="1" flipV="1">
              <a:off x="7466845" y="463917"/>
              <a:ext cx="220388" cy="2987002"/>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0" name="コネクタ: 曲線 59">
              <a:extLst>
                <a:ext uri="{FF2B5EF4-FFF2-40B4-BE49-F238E27FC236}">
                  <a16:creationId xmlns:a16="http://schemas.microsoft.com/office/drawing/2014/main" id="{73A8A7D5-F0A6-F32A-5FB8-3FA51C76F43C}"/>
                </a:ext>
              </a:extLst>
            </p:cNvPr>
            <p:cNvCxnSpPr>
              <a:cxnSpLocks/>
              <a:stCxn id="26" idx="1"/>
              <a:endCxn id="8" idx="3"/>
            </p:cNvCxnSpPr>
            <p:nvPr/>
          </p:nvCxnSpPr>
          <p:spPr>
            <a:xfrm rot="10800000">
              <a:off x="6871756" y="2258152"/>
              <a:ext cx="2198784" cy="980311"/>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3" name="コネクタ: 曲線 62">
              <a:extLst>
                <a:ext uri="{FF2B5EF4-FFF2-40B4-BE49-F238E27FC236}">
                  <a16:creationId xmlns:a16="http://schemas.microsoft.com/office/drawing/2014/main" id="{0977360D-B37B-4DB6-A114-AF69AFFC078C}"/>
                </a:ext>
              </a:extLst>
            </p:cNvPr>
            <p:cNvCxnSpPr>
              <a:cxnSpLocks/>
              <a:stCxn id="19" idx="1"/>
              <a:endCxn id="6" idx="1"/>
            </p:cNvCxnSpPr>
            <p:nvPr/>
          </p:nvCxnSpPr>
          <p:spPr>
            <a:xfrm rot="10800000">
              <a:off x="1555606" y="1847224"/>
              <a:ext cx="12700" cy="1391238"/>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8" name="コネクタ: 曲線 67">
              <a:extLst>
                <a:ext uri="{FF2B5EF4-FFF2-40B4-BE49-F238E27FC236}">
                  <a16:creationId xmlns:a16="http://schemas.microsoft.com/office/drawing/2014/main" id="{53B81AAA-1317-3B54-E35C-F97176A13542}"/>
                </a:ext>
              </a:extLst>
            </p:cNvPr>
            <p:cNvCxnSpPr>
              <a:cxnSpLocks/>
              <a:stCxn id="23" idx="1"/>
              <a:endCxn id="19" idx="2"/>
            </p:cNvCxnSpPr>
            <p:nvPr/>
          </p:nvCxnSpPr>
          <p:spPr>
            <a:xfrm rot="10800000" flipH="1">
              <a:off x="1555606" y="3429001"/>
              <a:ext cx="788218" cy="2585947"/>
            </a:xfrm>
            <a:prstGeom prst="curvedConnector4">
              <a:avLst>
                <a:gd name="adj1" fmla="val -66928"/>
                <a:gd name="adj2" fmla="val 96347"/>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3" name="コネクタ: 曲線 72">
              <a:extLst>
                <a:ext uri="{FF2B5EF4-FFF2-40B4-BE49-F238E27FC236}">
                  <a16:creationId xmlns:a16="http://schemas.microsoft.com/office/drawing/2014/main" id="{FDA4C1B3-30E8-E27E-9E52-04F323507177}"/>
                </a:ext>
              </a:extLst>
            </p:cNvPr>
            <p:cNvCxnSpPr>
              <a:cxnSpLocks/>
              <a:stCxn id="23" idx="3"/>
              <a:endCxn id="8" idx="1"/>
            </p:cNvCxnSpPr>
            <p:nvPr/>
          </p:nvCxnSpPr>
          <p:spPr>
            <a:xfrm flipV="1">
              <a:off x="3132042" y="2258151"/>
              <a:ext cx="2163278" cy="3756796"/>
            </a:xfrm>
            <a:prstGeom prst="curvedConnector3">
              <a:avLst>
                <a:gd name="adj1" fmla="val 50000"/>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コネクタ: 曲線 75">
              <a:extLst>
                <a:ext uri="{FF2B5EF4-FFF2-40B4-BE49-F238E27FC236}">
                  <a16:creationId xmlns:a16="http://schemas.microsoft.com/office/drawing/2014/main" id="{A3CE7842-2B94-0D6C-AF0F-213635A12616}"/>
                </a:ext>
              </a:extLst>
            </p:cNvPr>
            <p:cNvCxnSpPr>
              <a:cxnSpLocks/>
              <a:stCxn id="23" idx="3"/>
              <a:endCxn id="26" idx="1"/>
            </p:cNvCxnSpPr>
            <p:nvPr/>
          </p:nvCxnSpPr>
          <p:spPr>
            <a:xfrm flipV="1">
              <a:off x="3132042" y="3238462"/>
              <a:ext cx="5938498" cy="2776485"/>
            </a:xfrm>
            <a:prstGeom prst="curvedConnector3">
              <a:avLst>
                <a:gd name="adj1" fmla="val 61252"/>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1" name="コネクタ: 曲線 80">
              <a:extLst>
                <a:ext uri="{FF2B5EF4-FFF2-40B4-BE49-F238E27FC236}">
                  <a16:creationId xmlns:a16="http://schemas.microsoft.com/office/drawing/2014/main" id="{D59F68B3-DCF0-50A5-22EC-6A7D591F8712}"/>
                </a:ext>
              </a:extLst>
            </p:cNvPr>
            <p:cNvCxnSpPr>
              <a:cxnSpLocks/>
              <a:stCxn id="26" idx="2"/>
              <a:endCxn id="24" idx="3"/>
            </p:cNvCxnSpPr>
            <p:nvPr/>
          </p:nvCxnSpPr>
          <p:spPr>
            <a:xfrm rot="5400000">
              <a:off x="7081161" y="3237349"/>
              <a:ext cx="2585946" cy="2969248"/>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5" name="コネクタ: 曲線 84">
              <a:extLst>
                <a:ext uri="{FF2B5EF4-FFF2-40B4-BE49-F238E27FC236}">
                  <a16:creationId xmlns:a16="http://schemas.microsoft.com/office/drawing/2014/main" id="{42A22C54-795F-193E-E235-5F9A93253931}"/>
                </a:ext>
              </a:extLst>
            </p:cNvPr>
            <p:cNvCxnSpPr>
              <a:cxnSpLocks/>
              <a:stCxn id="26" idx="3"/>
              <a:endCxn id="25" idx="3"/>
            </p:cNvCxnSpPr>
            <p:nvPr/>
          </p:nvCxnSpPr>
          <p:spPr>
            <a:xfrm>
              <a:off x="10646976" y="3238462"/>
              <a:ext cx="12700" cy="2776484"/>
            </a:xfrm>
            <a:prstGeom prst="curvedConnector3">
              <a:avLst>
                <a:gd name="adj1" fmla="val 1800000"/>
              </a:avLst>
            </a:prstGeom>
            <a:noFill/>
            <a:ln w="6350">
              <a:solidFill>
                <a:schemeClr val="bg1">
                  <a:lumMod val="50000"/>
                </a:schemeClr>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8B09B415-E8C2-45E7-7E7E-9B2AC744C99D}"/>
                </a:ext>
              </a:extLst>
            </p:cNvPr>
            <p:cNvCxnSpPr>
              <a:cxnSpLocks/>
              <a:stCxn id="20" idx="3"/>
              <a:endCxn id="26" idx="2"/>
            </p:cNvCxnSpPr>
            <p:nvPr/>
          </p:nvCxnSpPr>
          <p:spPr>
            <a:xfrm flipV="1">
              <a:off x="6889510" y="3429000"/>
              <a:ext cx="2969248" cy="585788"/>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2" name="コネクタ: 曲線 91">
              <a:extLst>
                <a:ext uri="{FF2B5EF4-FFF2-40B4-BE49-F238E27FC236}">
                  <a16:creationId xmlns:a16="http://schemas.microsoft.com/office/drawing/2014/main" id="{C70397B5-AE08-8773-E21B-B7B52A7FE12C}"/>
                </a:ext>
              </a:extLst>
            </p:cNvPr>
            <p:cNvCxnSpPr>
              <a:cxnSpLocks/>
              <a:stCxn id="21" idx="3"/>
              <a:endCxn id="26" idx="1"/>
            </p:cNvCxnSpPr>
            <p:nvPr/>
          </p:nvCxnSpPr>
          <p:spPr>
            <a:xfrm flipV="1">
              <a:off x="3132042" y="3238462"/>
              <a:ext cx="5938498" cy="790575"/>
            </a:xfrm>
            <a:prstGeom prst="curvedConnector3">
              <a:avLst>
                <a:gd name="adj1" fmla="val 3586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6" name="コネクタ: 曲線 95">
              <a:extLst>
                <a:ext uri="{FF2B5EF4-FFF2-40B4-BE49-F238E27FC236}">
                  <a16:creationId xmlns:a16="http://schemas.microsoft.com/office/drawing/2014/main" id="{A8BAFEE2-C1F4-1D02-F7DC-DA720E4986F6}"/>
                </a:ext>
              </a:extLst>
            </p:cNvPr>
            <p:cNvCxnSpPr>
              <a:cxnSpLocks/>
              <a:stCxn id="22" idx="1"/>
              <a:endCxn id="21" idx="1"/>
            </p:cNvCxnSpPr>
            <p:nvPr/>
          </p:nvCxnSpPr>
          <p:spPr>
            <a:xfrm rot="10800000">
              <a:off x="1555606" y="4029038"/>
              <a:ext cx="12700" cy="790575"/>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6" name="コネクタ: 曲線 35">
              <a:extLst>
                <a:ext uri="{FF2B5EF4-FFF2-40B4-BE49-F238E27FC236}">
                  <a16:creationId xmlns:a16="http://schemas.microsoft.com/office/drawing/2014/main" id="{7A8AA241-34B3-F1C0-B468-83DFF6D269D4}"/>
                </a:ext>
              </a:extLst>
            </p:cNvPr>
            <p:cNvCxnSpPr>
              <a:cxnSpLocks/>
              <a:stCxn id="22" idx="3"/>
              <a:endCxn id="20" idx="1"/>
            </p:cNvCxnSpPr>
            <p:nvPr/>
          </p:nvCxnSpPr>
          <p:spPr>
            <a:xfrm flipV="1">
              <a:off x="3132042" y="4014788"/>
              <a:ext cx="2181032" cy="80482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9" name="コネクタ: 曲線 38">
              <a:extLst>
                <a:ext uri="{FF2B5EF4-FFF2-40B4-BE49-F238E27FC236}">
                  <a16:creationId xmlns:a16="http://schemas.microsoft.com/office/drawing/2014/main" id="{FE44490C-2A92-93FC-E7C0-55A0F35C3CC3}"/>
                </a:ext>
              </a:extLst>
            </p:cNvPr>
            <p:cNvCxnSpPr>
              <a:cxnSpLocks/>
              <a:stCxn id="24" idx="1"/>
              <a:endCxn id="22" idx="2"/>
            </p:cNvCxnSpPr>
            <p:nvPr/>
          </p:nvCxnSpPr>
          <p:spPr>
            <a:xfrm rot="10800000">
              <a:off x="2343824" y="5010150"/>
              <a:ext cx="2969250" cy="1004796"/>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46" name="コネクタ: 曲線 45">
              <a:extLst>
                <a:ext uri="{FF2B5EF4-FFF2-40B4-BE49-F238E27FC236}">
                  <a16:creationId xmlns:a16="http://schemas.microsoft.com/office/drawing/2014/main" id="{41754FCC-3054-062B-F9E9-BA266EAC1E62}"/>
                </a:ext>
              </a:extLst>
            </p:cNvPr>
            <p:cNvCxnSpPr>
              <a:cxnSpLocks/>
              <a:stCxn id="25" idx="1"/>
              <a:endCxn id="24" idx="2"/>
            </p:cNvCxnSpPr>
            <p:nvPr/>
          </p:nvCxnSpPr>
          <p:spPr>
            <a:xfrm rot="10800000" flipV="1">
              <a:off x="6101292" y="6014946"/>
              <a:ext cx="2969248" cy="190538"/>
            </a:xfrm>
            <a:prstGeom prst="curvedConnector4">
              <a:avLst>
                <a:gd name="adj1" fmla="val 36727"/>
                <a:gd name="adj2" fmla="val 219976"/>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64" name="グループ化 63">
              <a:extLst>
                <a:ext uri="{FF2B5EF4-FFF2-40B4-BE49-F238E27FC236}">
                  <a16:creationId xmlns:a16="http://schemas.microsoft.com/office/drawing/2014/main" id="{E800CFB6-AE2F-F14E-1D44-39CAB98AB946}"/>
                </a:ext>
              </a:extLst>
            </p:cNvPr>
            <p:cNvGrpSpPr/>
            <p:nvPr/>
          </p:nvGrpSpPr>
          <p:grpSpPr>
            <a:xfrm>
              <a:off x="9603534" y="999592"/>
              <a:ext cx="2017409" cy="236619"/>
              <a:chOff x="9771174" y="958952"/>
              <a:chExt cx="2017409" cy="236619"/>
            </a:xfrm>
          </p:grpSpPr>
          <p:grpSp>
            <p:nvGrpSpPr>
              <p:cNvPr id="58" name="グループ化 57">
                <a:extLst>
                  <a:ext uri="{FF2B5EF4-FFF2-40B4-BE49-F238E27FC236}">
                    <a16:creationId xmlns:a16="http://schemas.microsoft.com/office/drawing/2014/main" id="{0A494B04-EF73-A106-C0E5-2FAD81B4DF54}"/>
                  </a:ext>
                </a:extLst>
              </p:cNvPr>
              <p:cNvGrpSpPr/>
              <p:nvPr/>
            </p:nvGrpSpPr>
            <p:grpSpPr>
              <a:xfrm>
                <a:off x="9771174" y="958952"/>
                <a:ext cx="973684" cy="236619"/>
                <a:chOff x="9771174" y="958952"/>
                <a:chExt cx="973684" cy="236619"/>
              </a:xfrm>
            </p:grpSpPr>
            <p:cxnSp>
              <p:nvCxnSpPr>
                <p:cNvPr id="50" name="コネクタ: 曲線 49">
                  <a:extLst>
                    <a:ext uri="{FF2B5EF4-FFF2-40B4-BE49-F238E27FC236}">
                      <a16:creationId xmlns:a16="http://schemas.microsoft.com/office/drawing/2014/main" id="{A73E7B53-F7A5-5473-D834-6607FDE32FF4}"/>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56" name="正方形/長方形 55">
                  <a:extLst>
                    <a:ext uri="{FF2B5EF4-FFF2-40B4-BE49-F238E27FC236}">
                      <a16:creationId xmlns:a16="http://schemas.microsoft.com/office/drawing/2014/main" id="{EF5BD367-21DC-3DA6-FD09-AC725C798B1C}"/>
                    </a:ext>
                  </a:extLst>
                </p:cNvPr>
                <p:cNvSpPr/>
                <p:nvPr/>
              </p:nvSpPr>
              <p:spPr>
                <a:xfrm>
                  <a:off x="10242556" y="958952"/>
                  <a:ext cx="502302"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関連線</a:t>
                  </a:r>
                </a:p>
              </p:txBody>
            </p:sp>
          </p:grpSp>
          <p:grpSp>
            <p:nvGrpSpPr>
              <p:cNvPr id="59" name="グループ化 58">
                <a:extLst>
                  <a:ext uri="{FF2B5EF4-FFF2-40B4-BE49-F238E27FC236}">
                    <a16:creationId xmlns:a16="http://schemas.microsoft.com/office/drawing/2014/main" id="{8A9196E7-4E34-3F42-F52E-C8D941689123}"/>
                  </a:ext>
                </a:extLst>
              </p:cNvPr>
              <p:cNvGrpSpPr/>
              <p:nvPr/>
            </p:nvGrpSpPr>
            <p:grpSpPr>
              <a:xfrm>
                <a:off x="10814899" y="958952"/>
                <a:ext cx="973684" cy="236619"/>
                <a:chOff x="9771174" y="958952"/>
                <a:chExt cx="973684" cy="236619"/>
              </a:xfrm>
            </p:grpSpPr>
            <p:cxnSp>
              <p:nvCxnSpPr>
                <p:cNvPr id="61" name="コネクタ: 曲線 60">
                  <a:extLst>
                    <a:ext uri="{FF2B5EF4-FFF2-40B4-BE49-F238E27FC236}">
                      <a16:creationId xmlns:a16="http://schemas.microsoft.com/office/drawing/2014/main" id="{855F3539-5A7D-CA89-A80C-F509C3EFF5D3}"/>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62" name="正方形/長方形 61">
                  <a:extLst>
                    <a:ext uri="{FF2B5EF4-FFF2-40B4-BE49-F238E27FC236}">
                      <a16:creationId xmlns:a16="http://schemas.microsoft.com/office/drawing/2014/main" id="{6C788FD5-2C9A-83C3-FF25-3D301A028504}"/>
                    </a:ext>
                  </a:extLst>
                </p:cNvPr>
                <p:cNvSpPr/>
                <p:nvPr/>
              </p:nvSpPr>
              <p:spPr>
                <a:xfrm>
                  <a:off x="10242556" y="958952"/>
                  <a:ext cx="502302"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認証</a:t>
                  </a:r>
                </a:p>
              </p:txBody>
            </p:sp>
          </p:grpSp>
        </p:grpSp>
        <p:cxnSp>
          <p:nvCxnSpPr>
            <p:cNvPr id="13" name="コネクタ: 曲線 12">
              <a:extLst>
                <a:ext uri="{FF2B5EF4-FFF2-40B4-BE49-F238E27FC236}">
                  <a16:creationId xmlns:a16="http://schemas.microsoft.com/office/drawing/2014/main" id="{3AD21F84-1A6B-0BF9-5423-F030E17A2D76}"/>
                </a:ext>
              </a:extLst>
            </p:cNvPr>
            <p:cNvCxnSpPr>
              <a:cxnSpLocks/>
              <a:stCxn id="20" idx="1"/>
              <a:endCxn id="19" idx="3"/>
            </p:cNvCxnSpPr>
            <p:nvPr/>
          </p:nvCxnSpPr>
          <p:spPr>
            <a:xfrm rot="10800000">
              <a:off x="3132042" y="3238462"/>
              <a:ext cx="2181032" cy="77632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35150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4162&quot;&gt;&lt;version val=&quot;270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dyTtjIS21a0UPYxunXJ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EECFE"/>
        </a:solidFill>
        <a:ln w="12700" cap="flat" cmpd="sng" algn="ctr">
          <a:solidFill>
            <a:srgbClr val="FF0066"/>
          </a:solidFill>
          <a:prstDash val="solid"/>
          <a:round/>
          <a:headEnd type="none" w="med" len="med"/>
          <a:tailEnd type="none" w="med" len="med"/>
        </a:ln>
        <a:effectLst/>
      </a:spPr>
      <a:bodyPr vert="horz" wrap="square" lIns="0" tIns="72000" rIns="0" bIns="72000" numCol="1" rtlCol="0" anchor="ctr" anchorCtr="0" compatLnSpc="1">
        <a:prstTxWarp prst="textNoShape">
          <a:avLst/>
        </a:prstTxWarp>
      </a:bodyPr>
      <a:lstStyle>
        <a:defPPr algn="ctr" fontAlgn="auto">
          <a:spcBef>
            <a:spcPts val="0"/>
          </a:spcBef>
          <a:spcAft>
            <a:spcPts val="0"/>
          </a:spcAft>
          <a:defRPr kumimoji="0" sz="1100" kern="0" dirty="0" smtClean="0">
            <a:solidFill>
              <a:srgbClr val="FF0066"/>
            </a:solidFill>
            <a:latin typeface="Meiryo UI" panose="020B0604030504040204" pitchFamily="50" charset="-128"/>
            <a:ea typeface="Meiryo UI" panose="020B0604030504040204" pitchFamily="50" charset="-128"/>
            <a:cs typeface="メイリオ" panose="020B0604030504040204" pitchFamily="50" charset="-128"/>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0da2567-6def-42e3-ace5-6369b4a71e4a">
      <Terms xmlns="http://schemas.microsoft.com/office/infopath/2007/PartnerControls"/>
    </lcf76f155ced4ddcb4097134ff3c332f>
    <_Flow_SignoffStatus xmlns="f0da2567-6def-42e3-ace5-6369b4a71e4a" xsi:nil="true"/>
    <TaxCatchAll xmlns="3d9a8171-ba4a-4c3a-b7e1-0de66da265e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9CBEF1DB621E1C44A8E34ED6924493A4" ma:contentTypeVersion="17" ma:contentTypeDescription="新しいドキュメントを作成します。" ma:contentTypeScope="" ma:versionID="e04c4a93e2e31ce6dc8c497ab57bf3c3">
  <xsd:schema xmlns:xsd="http://www.w3.org/2001/XMLSchema" xmlns:xs="http://www.w3.org/2001/XMLSchema" xmlns:p="http://schemas.microsoft.com/office/2006/metadata/properties" xmlns:ns2="f0da2567-6def-42e3-ace5-6369b4a71e4a" xmlns:ns3="3d9a8171-ba4a-4c3a-b7e1-0de66da265e7" targetNamespace="http://schemas.microsoft.com/office/2006/metadata/properties" ma:root="true" ma:fieldsID="68ca9cfb7db9a82bb29a7dccd3291564" ns2:_="" ns3:_="">
    <xsd:import namespace="f0da2567-6def-42e3-ace5-6369b4a71e4a"/>
    <xsd:import namespace="3d9a8171-ba4a-4c3a-b7e1-0de66da265e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ObjectDetectorVersions" minOccurs="0"/>
                <xsd:element ref="ns2:_Flow_SignoffStatu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da2567-6def-42e3-ace5-6369b4a71e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3a9e2b4-bd26-462e-b1d1-efb57a71636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_Flow_SignoffStatus" ma:index="22" nillable="true" ma:displayName="承認の状態" ma:internalName="_x627f__x8a8d__x306e__x72b6__x614b_">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9a8171-ba4a-4c3a-b7e1-0de66da265e7"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14" nillable="true" ma:displayName="Taxonomy Catch All Column" ma:hidden="true" ma:list="{2ff2d80b-2879-4d61-a506-e86cd13aa1e3}" ma:internalName="TaxCatchAll" ma:showField="CatchAllData" ma:web="3d9a8171-ba4a-4c3a-b7e1-0de66da265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4357AB-30F6-4691-B085-322C81EFE099}">
  <ds:schemaRefs>
    <ds:schemaRef ds:uri="http://purl.org/dc/terms/"/>
    <ds:schemaRef ds:uri="http://www.w3.org/XML/1998/namespace"/>
    <ds:schemaRef ds:uri="http://purl.org/dc/elements/1.1/"/>
    <ds:schemaRef ds:uri="http://schemas.microsoft.com/office/infopath/2007/PartnerControls"/>
    <ds:schemaRef ds:uri="http://purl.org/dc/dcmitype/"/>
    <ds:schemaRef ds:uri="f0da2567-6def-42e3-ace5-6369b4a71e4a"/>
    <ds:schemaRef ds:uri="3d9a8171-ba4a-4c3a-b7e1-0de66da265e7"/>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58250244-BE78-433A-929E-357D472E9733}">
  <ds:schemaRefs>
    <ds:schemaRef ds:uri="3d9a8171-ba4a-4c3a-b7e1-0de66da265e7"/>
    <ds:schemaRef ds:uri="f0da2567-6def-42e3-ace5-6369b4a71e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253BF6C-C5CA-42FA-89F4-62896623B0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3229</Words>
  <Application>Microsoft Office PowerPoint</Application>
  <PresentationFormat>ワイド画面</PresentationFormat>
  <Paragraphs>514</Paragraphs>
  <Slides>23</Slides>
  <Notes>17</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23</vt:i4>
      </vt:variant>
    </vt:vector>
  </HeadingPairs>
  <TitlesOfParts>
    <vt:vector size="30" baseType="lpstr">
      <vt:lpstr>Meiryo UI</vt:lpstr>
      <vt:lpstr>MS UI Gothic</vt:lpstr>
      <vt:lpstr>游ゴシック</vt:lpstr>
      <vt:lpstr>Arial</vt:lpstr>
      <vt:lpstr>Wingdings</vt:lpstr>
      <vt:lpstr>企画書テンプレートRLS14ver</vt:lpstr>
      <vt:lpstr>think-cell スライド</vt:lpstr>
      <vt:lpstr>AIエージェント導入関連の状況報告</vt:lpstr>
      <vt:lpstr>はじめに</vt:lpstr>
      <vt:lpstr>Agenda</vt:lpstr>
      <vt:lpstr>PowerPoint プレゼンテーション</vt:lpstr>
      <vt:lpstr>n8nのBPS導入状況について（１/２）</vt:lpstr>
      <vt:lpstr>n8nのBPS導入状況について（２/２）</vt:lpstr>
      <vt:lpstr>BPSのn8nデモ</vt:lpstr>
      <vt:lpstr>PowerPoint プレゼンテーション</vt:lpstr>
      <vt:lpstr>12/末の現状の内製化状況</vt:lpstr>
      <vt:lpstr>大規模なAIエージェント展開に伴う必要な領域について</vt:lpstr>
      <vt:lpstr>参考：パートナー実力値</vt:lpstr>
      <vt:lpstr>参考：LinkX Japan社のノウハウとRの構築実績</vt:lpstr>
      <vt:lpstr>PowerPoint プレゼンテーション</vt:lpstr>
      <vt:lpstr>進め方について</vt:lpstr>
      <vt:lpstr>PowerPoint プレゼンテーション</vt:lpstr>
      <vt:lpstr>前提：1業務にかかるn8nの内製工数のイメージ</vt:lpstr>
      <vt:lpstr>リソース計画初期フェーズ</vt:lpstr>
      <vt:lpstr>リソース確保プラン</vt:lpstr>
      <vt:lpstr>採用チャネルごとの進め方</vt:lpstr>
      <vt:lpstr>PowerPoint プレゼンテーション</vt:lpstr>
      <vt:lpstr>AzureAccelerateとは</vt:lpstr>
      <vt:lpstr>MS 岡嵜常務とのご面談について</vt:lpstr>
      <vt:lpstr>Appendix：最終的なAIエージェント・アーキテクチャのイメージ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越智　啓人</dc:creator>
  <cp:lastModifiedBy>越智 啓人</cp:lastModifiedBy>
  <cp:revision>1</cp:revision>
  <dcterms:modified xsi:type="dcterms:W3CDTF">2025-12-07T23:41:22Z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0x0101009CBEF1DB621E1C44A8E34ED6924493A4</vt:lpwstr>
  </property>
  <property fmtid="{D5CDD505-2E9C-101B-9397-08002B2CF9AE}" pid="3" name="MediaServiceImageTags">
    <vt:lpwstr/>
  </property>
</Properties>
</file>