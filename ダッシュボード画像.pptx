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7"/>
  </p:notesMasterIdLst>
  <p:sldIdLst>
    <p:sldId id="1194" r:id="rId5"/>
    <p:sldId id="1195" r:id="rId6"/>
  </p:sldIdLst>
  <p:sldSz cx="12192000" cy="6858000"/>
  <p:notesSz cx="6794500" cy="9931400"/>
  <p:custDataLst>
    <p:tags r:id="rId8"/>
  </p:custDataLst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清水 吉直" initials="清水" lastIdx="17" clrIdx="0"/>
  <p:cmAuthor id="2" name="Takeshi Imagawa" initials="TI" lastIdx="9" clrIdx="1"/>
  <p:cmAuthor id="3" name="裕子 根本" initials="裕子" lastIdx="19" clrIdx="2">
    <p:extLst>
      <p:ext uri="{19B8F6BF-5375-455C-9EA6-DF929625EA0E}">
        <p15:presenceInfo xmlns:p15="http://schemas.microsoft.com/office/powerpoint/2012/main" userId="裕子 根本" providerId="None"/>
      </p:ext>
    </p:extLst>
  </p:cmAuthor>
  <p:cmAuthor id="4" name="根本 裕子" initials="根裕" lastIdx="9" clrIdx="3">
    <p:extLst>
      <p:ext uri="{19B8F6BF-5375-455C-9EA6-DF929625EA0E}">
        <p15:presenceInfo xmlns:p15="http://schemas.microsoft.com/office/powerpoint/2012/main" userId="S::yuko_nemoto@r.recruit.co.jp::a0ff259c-5b8d-43f5-aa55-fb66e409d1d0" providerId="AD"/>
      </p:ext>
    </p:extLst>
  </p:cmAuthor>
  <p:cmAuthor id="5" name="栁田 善彦" initials="栁善" lastIdx="25" clrIdx="4">
    <p:extLst>
      <p:ext uri="{19B8F6BF-5375-455C-9EA6-DF929625EA0E}">
        <p15:presenceInfo xmlns:p15="http://schemas.microsoft.com/office/powerpoint/2012/main" userId="S::yoshihiko_yanagi@r.recruit.co.jp::102d6f35-e30d-49dc-96a7-86c3c7093515" providerId="AD"/>
      </p:ext>
    </p:extLst>
  </p:cmAuthor>
  <p:cmAuthor id="6" name="藤原 準一" initials="藤原" lastIdx="8" clrIdx="5">
    <p:extLst>
      <p:ext uri="{19B8F6BF-5375-455C-9EA6-DF929625EA0E}">
        <p15:presenceInfo xmlns:p15="http://schemas.microsoft.com/office/powerpoint/2012/main" userId="S::j_fujiwara@r.recruit.co.jp::16db4776-194c-4b8f-9de6-00dc20cd1e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080FF"/>
    <a:srgbClr val="00B0F0"/>
    <a:srgbClr val="E4EAF7"/>
    <a:srgbClr val="DEEBF7"/>
    <a:srgbClr val="F7FADC"/>
    <a:srgbClr val="F0F5BA"/>
    <a:srgbClr val="BAF5E2"/>
    <a:srgbClr val="7F7F7F"/>
    <a:srgbClr val="5858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9631B5-78F2-41C9-869B-9F39066F8104}" styleName="中間スタイル 3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スタイル/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76" y="60"/>
      </p:cViewPr>
      <p:guideLst>
        <p:guide orient="horz" pos="110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15BF457-9B3F-4CCE-BE76-BABC711300F6}" type="datetimeFigureOut">
              <a:rPr lang="ja-JP" altLang="en-US" smtClean="0"/>
              <a:pPr>
                <a:defRPr/>
              </a:pPr>
              <a:t>2026/7/27</a:t>
            </a:fld>
            <a:endParaRPr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79450" y="4718050"/>
            <a:ext cx="5435600" cy="4468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FBF1EA7-1322-4E8A-8143-24868A27BA7C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034362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b="0" i="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  <a:sym typeface="MS UI Gothic" panose="020B0600070205080204" pitchFamily="34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8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692364C5-ABC3-0C4F-8E0D-6F66898789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305754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692364C5-ABC3-0C4F-8E0D-6F6689878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41445" y="2362200"/>
            <a:ext cx="10363200" cy="1143000"/>
          </a:xfrm>
        </p:spPr>
        <p:txBody>
          <a:bodyPr/>
          <a:lstStyle>
            <a:lvl1pPr algn="r">
              <a:defRPr sz="2400">
                <a:solidFill>
                  <a:schemeClr val="accent4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370245" y="3141666"/>
            <a:ext cx="8534400" cy="719137"/>
          </a:xfrm>
        </p:spPr>
        <p:txBody>
          <a:bodyPr/>
          <a:lstStyle>
            <a:lvl1pPr marL="0" indent="0" algn="r">
              <a:spcBef>
                <a:spcPct val="0"/>
              </a:spcBef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323E333F-0F6C-4FC7-A7F3-F21A7CDFE59D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8" name="正方形/長方形 7"/>
          <p:cNvSpPr/>
          <p:nvPr userDrawn="1"/>
        </p:nvSpPr>
        <p:spPr>
          <a:xfrm flipV="1">
            <a:off x="95333" y="3140971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2539CB52-F8E0-324D-8D5D-5FB7D93F8C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50971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2539CB52-F8E0-324D-8D5D-5FB7D93F8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6521" y="692699"/>
            <a:ext cx="11525251" cy="1007493"/>
          </a:xfrm>
        </p:spPr>
        <p:txBody>
          <a:bodyPr/>
          <a:lstStyle>
            <a:lvl1pPr marL="265113" indent="-265113">
              <a:buFont typeface="Arial" charset="0"/>
              <a:buChar char="•"/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2pPr>
            <a:lvl3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3pPr>
            <a:lvl4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4pPr>
            <a:lvl5pPr>
              <a:defRPr sz="1400"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4804833" y="6627168"/>
            <a:ext cx="2540000" cy="230832"/>
          </a:xfrm>
          <a:ln/>
        </p:spPr>
        <p:txBody>
          <a:bodyPr/>
          <a:lstStyle>
            <a:lvl1pPr>
              <a:defRPr sz="11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CFF65B-A8B2-A742-960E-AEE2B0C95AC6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61E06D-0804-AA4D-AD56-81FE58AB9EB9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C17DF3C4-48CE-2A4C-8633-E29AA26FCCD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31111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C17DF3C4-48CE-2A4C-8633-E29AA26FCC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2000" b="1" cap="all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CFE70743-B45D-4C2D-9F53-822380FBB92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AFF8BF78-A82D-144F-A06A-BED1933A7A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97893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AFF8BF78-A82D-144F-A06A-BED1933A7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45535" y="692153"/>
            <a:ext cx="5659967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08702" y="692153"/>
            <a:ext cx="5662084" cy="5688013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02576F8-CB8C-4CDF-ACDC-D9135E817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A7A718E-09E9-43E4-BDD4-824E79084722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4E451A-799B-4190-8CA8-90260FE142D0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9B29765F-6ABE-2E4D-B364-7AE8BACD5E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478608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9B29765F-6ABE-2E4D-B364-7AE8BACD5E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7328" y="130622"/>
            <a:ext cx="10972800" cy="418058"/>
          </a:xfrm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D9A2BBE0-68D9-49E1-B41C-BF65AA65B2C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521550-3B9A-4BFD-8B86-E52C6EA017E6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4DBAE18-B8F5-4B20-A240-04E8BCA29385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4164698E-3811-7D49-917E-15A0B950E1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615255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4164698E-3811-7D49-917E-15A0B950E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FB6271AF-593C-4C79-9441-ADA0DF590AB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CF44BF1-743A-4BAF-85DA-4D7B0A1463CB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DA57F1-1A65-4705-BF5A-AF061CEF85C3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24805EEF-BFD5-7E47-BA23-F01AA4AA67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31535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24805EEF-BFD5-7E47-BA23-F01AA4AA67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853161F5-28EC-49E7-9F6A-699FC97E3172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FB0914-A87B-4789-AF01-E48F55A733D7}"/>
              </a:ext>
            </a:extLst>
          </p:cNvPr>
          <p:cNvSpPr txBox="1"/>
          <p:nvPr userDrawn="1"/>
        </p:nvSpPr>
        <p:spPr bwMode="auto">
          <a:xfrm>
            <a:off x="1" y="6629400"/>
            <a:ext cx="127631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Strictly Confidential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9D50ADF-DB7E-4E2C-8523-B25A7F423CF7}"/>
              </a:ext>
            </a:extLst>
          </p:cNvPr>
          <p:cNvSpPr txBox="1"/>
          <p:nvPr userDrawn="1"/>
        </p:nvSpPr>
        <p:spPr bwMode="auto">
          <a:xfrm>
            <a:off x="10040712" y="6629400"/>
            <a:ext cx="214674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9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メイリオ"/>
                <a:sym typeface="MS UI Gothic" panose="020B0600070205080204" pitchFamily="34" charset="-128"/>
              </a:rPr>
              <a:t>All Rights Reserved Recruit Co, Ltd</a:t>
            </a:r>
            <a:endParaRPr kumimoji="1" lang="ja-JP" altLang="en-US" sz="900" b="0" i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メイリオ"/>
              <a:sym typeface="MS UI Gothic" panose="020B0600070205080204" pitchFamily="34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BB5EF93E-423E-0047-AE03-185A4C6EC3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561022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BB5EF93E-423E-0047-AE03-185A4C6EC3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 sz="28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 sz="2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6120A1F-D72B-4AFE-8DCD-89ACC908B363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F44FC124-4ED1-5944-AD3A-7978DDA840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76593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F44FC124-4ED1-5944-AD3A-7978DDA84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CBEFAA3-D428-4015-B0E7-F87178EBC26E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AE9A338-8EF3-E24E-B257-6BFAC36AF9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31597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AE9A338-8EF3-E24E-B257-6BFAC36AF9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757521FA-AC5D-4361-92AE-96CAB981DE4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A0440156-9821-C843-B741-1CF8406E45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00728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7772400" imgH="10058400" progId="TCLayout.ActiveDocument.1">
                  <p:embed/>
                </p:oleObj>
              </mc:Choice>
              <mc:Fallback>
                <p:oleObj name="think-cell スライド" r:id="rId3" imgW="7772400" imgH="10058400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A0440156-9821-C843-B741-1CF8406E4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79419" y="152403"/>
            <a:ext cx="289136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03202" y="152403"/>
            <a:ext cx="8473017" cy="6227763"/>
          </a:xfrm>
        </p:spPr>
        <p:txBody>
          <a:bodyPr vert="eaVert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1DD5941B-7BC5-40EA-BF7E-4FB4EBB3F66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419877"/>
              </p:ext>
            </p:extLst>
          </p:nvPr>
        </p:nvGraphicFramePr>
        <p:xfrm>
          <a:off x="1965" y="1604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270" imgH="270" progId="TCLayout.ActiveDocument.1">
                  <p:embed/>
                </p:oleObj>
              </mc:Choice>
              <mc:Fallback>
                <p:oleObj name="think-cell スライド" r:id="rId3" imgW="270" imgH="270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5" y="1604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タイトル 4"/>
          <p:cNvSpPr>
            <a:spLocks noGrp="1"/>
          </p:cNvSpPr>
          <p:nvPr>
            <p:ph type="title"/>
          </p:nvPr>
        </p:nvSpPr>
        <p:spPr>
          <a:xfrm>
            <a:off x="240000" y="152417"/>
            <a:ext cx="11712000" cy="379413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239741" y="692696"/>
            <a:ext cx="11712543" cy="720000"/>
          </a:xfrm>
          <a:prstGeom prst="rect">
            <a:avLst/>
          </a:prstGeom>
        </p:spPr>
        <p:txBody>
          <a:bodyPr anchor="t"/>
          <a:lstStyle>
            <a:lvl1pPr marL="263776" indent="-263776">
              <a:buClrTx/>
              <a:buFont typeface="Arial" panose="020B0604020202020204" pitchFamily="34" charset="0"/>
              <a:buChar char="•"/>
              <a:defRPr sz="1477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599357" indent="-263776">
              <a:buFont typeface="Wingdings" panose="05000000000000000000" pitchFamily="2" charset="2"/>
              <a:buChar char="ü"/>
              <a:defRPr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  <a:p>
            <a:pPr lvl="1"/>
            <a:endParaRPr kumimoji="1" lang="en-US" altLang="ja-JP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239741" y="6309352"/>
            <a:ext cx="11712543" cy="2880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Font typeface="Arial" panose="020B0604020202020204" pitchFamily="34" charset="0"/>
              <a:buNone/>
              <a:defRPr sz="738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  <a:sym typeface="MS UI Gothic" panose="020B0600070205080204" pitchFamily="34" charset="-128"/>
              </a:defRPr>
            </a:lvl1pPr>
            <a:lvl2pPr marL="335581" indent="0">
              <a:buFont typeface="Wingdings" panose="05000000000000000000" pitchFamily="2" charset="2"/>
              <a:buNone/>
              <a:defRPr/>
            </a:lvl2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307531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NULL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83E84B6F-E227-A249-B3CD-988C628065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813705218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6" imgW="3886200" imgH="5029200" progId="TCLayout.ActiveDocument.1">
                  <p:embed/>
                </p:oleObj>
              </mc:Choice>
              <mc:Fallback>
                <p:oleObj name="think-cell スライド" r:id="rId16" imgW="3886200" imgH="5029200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83E84B6F-E227-A249-B3CD-988C628065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12D9CD71-4F79-BF42-8FF3-F5F2E4E3B1E8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1800" b="0" i="0" baseline="0">
              <a:solidFill>
                <a:schemeClr val="bg2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  <a:cs typeface="Hiragino Kaku Gothic Pro W3" charset="-128"/>
              <a:sym typeface="MS UI Gothic" panose="020B0600070205080204" pitchFamily="34" charset="-128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152403"/>
            <a:ext cx="11480800" cy="37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7916" tIns="43958" rIns="87916" bIns="4395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0125" y="836715"/>
            <a:ext cx="11525251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804833" y="64531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 b="0" i="0">
                <a:solidFill>
                  <a:schemeClr val="bg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  <a:sym typeface="MS UI Gothic" panose="020B0600070205080204" pitchFamily="34" charset="-128"/>
              </a:defRPr>
            </a:lvl1pPr>
          </a:lstStyle>
          <a:p>
            <a:pPr>
              <a:defRPr/>
            </a:pPr>
            <a:fld id="{2517E3F9-F1F1-46C5-A063-BEDE16EE36C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正方形/長方形 6"/>
          <p:cNvSpPr/>
          <p:nvPr/>
        </p:nvSpPr>
        <p:spPr>
          <a:xfrm flipV="1">
            <a:off x="95331" y="548682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  <p:sp>
        <p:nvSpPr>
          <p:cNvPr id="9" name="正方形/長方形 8"/>
          <p:cNvSpPr/>
          <p:nvPr userDrawn="1"/>
        </p:nvSpPr>
        <p:spPr>
          <a:xfrm flipH="1" flipV="1">
            <a:off x="76627" y="6597354"/>
            <a:ext cx="11988000" cy="45719"/>
          </a:xfrm>
          <a:prstGeom prst="rect">
            <a:avLst/>
          </a:prstGeom>
          <a:gradFill flip="none"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kumimoji="1" lang="ja-JP" altLang="en-US" sz="110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S PGothic" charset="-128"/>
              <a:sym typeface="MS UI Gothic" panose="020B0600070205080204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70" r:id="rId1"/>
    <p:sldLayoutId id="2147485260" r:id="rId2"/>
    <p:sldLayoutId id="2147485261" r:id="rId3"/>
    <p:sldLayoutId id="2147485262" r:id="rId4"/>
    <p:sldLayoutId id="2147485263" r:id="rId5"/>
    <p:sldLayoutId id="2147485264" r:id="rId6"/>
    <p:sldLayoutId id="2147485265" r:id="rId7"/>
    <p:sldLayoutId id="2147485266" r:id="rId8"/>
    <p:sldLayoutId id="2147485267" r:id="rId9"/>
    <p:sldLayoutId id="2147485268" r:id="rId10"/>
    <p:sldLayoutId id="2147485269" r:id="rId11"/>
    <p:sldLayoutId id="2147485271" r:id="rId12"/>
  </p:sldLayoutIdLst>
  <p:hf hdr="0" ftr="0" dt="0"/>
  <p:txStyles>
    <p:titleStyle>
      <a:lvl1pPr algn="l" defTabSz="879475" rtl="0" eaLnBrk="1" fontAlgn="base" hangingPunct="1">
        <a:spcBef>
          <a:spcPct val="0"/>
        </a:spcBef>
        <a:spcAft>
          <a:spcPct val="0"/>
        </a:spcAft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  <a:sym typeface="MS UI Gothic" panose="020B0600070205080204" pitchFamily="34" charset="-128"/>
        </a:defRPr>
      </a:lvl1pPr>
      <a:lvl2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2pPr>
      <a:lvl3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3pPr>
      <a:lvl4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4pPr>
      <a:lvl5pPr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5pPr>
      <a:lvl6pPr marL="4572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6pPr>
      <a:lvl7pPr marL="9144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7pPr>
      <a:lvl8pPr marL="13716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8pPr>
      <a:lvl9pPr marL="1828800" algn="l" defTabSz="879475" rtl="0" eaLnBrk="1" fontAlgn="base" hangingPunct="1">
        <a:spcBef>
          <a:spcPct val="0"/>
        </a:spcBef>
        <a:spcAft>
          <a:spcPct val="0"/>
        </a:spcAft>
        <a:defRPr kumimoji="1" b="1">
          <a:solidFill>
            <a:srgbClr val="003399"/>
          </a:solidFill>
          <a:latin typeface="MS UI Gothic" pitchFamily="50" charset="-128"/>
          <a:ea typeface="MS UI Gothic" pitchFamily="50" charset="-128"/>
        </a:defRPr>
      </a:lvl9pPr>
    </p:titleStyle>
    <p:bodyStyle>
      <a:lvl1pPr marL="265113" indent="-265113" algn="l" defTabSz="879475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defRPr kumimoji="1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1pPr>
      <a:lvl2pPr marL="622300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2pPr>
      <a:lvl3pPr marL="981075" indent="-179388" algn="l" defTabSz="879475" rtl="0" eaLnBrk="1" fontAlgn="base" hangingPunct="1">
        <a:spcBef>
          <a:spcPct val="20000"/>
        </a:spcBef>
        <a:spcAft>
          <a:spcPct val="0"/>
        </a:spcAft>
        <a:buChar char="•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3pPr>
      <a:lvl4pPr marL="1338263" indent="-177800" algn="l" defTabSz="879475" rtl="0" eaLnBrk="1" fontAlgn="base" hangingPunct="1">
        <a:spcBef>
          <a:spcPct val="20000"/>
        </a:spcBef>
        <a:spcAft>
          <a:spcPct val="0"/>
        </a:spcAft>
        <a:buChar char="–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4pPr>
      <a:lvl5pPr marL="17097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 b="0" i="0">
          <a:solidFill>
            <a:schemeClr val="accent4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Arial" panose="020B0604020202020204" pitchFamily="34" charset="0"/>
          <a:sym typeface="MS UI Gothic" panose="020B0600070205080204" pitchFamily="34" charset="-128"/>
        </a:defRPr>
      </a:lvl5pPr>
      <a:lvl6pPr marL="21669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26241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0813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3538538" indent="-192088" algn="l" defTabSz="879475" rtl="0" eaLnBrk="1" fontAlgn="base" hangingPunct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Meiryo UI"/>
                <a:ea typeface="Meiryo UI"/>
                <a:cs typeface="Arial"/>
              </a:rPr>
              <a:t>ダッシュボード一覧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  <p:sp>
        <p:nvSpPr>
          <p:cNvPr id="302" name="Content Placeholder 1">
            <a:extLst>
              <a:ext uri="{FF2B5EF4-FFF2-40B4-BE49-F238E27FC236}">
                <a16:creationId xmlns:a16="http://schemas.microsoft.com/office/drawing/2014/main" id="{B2A9E6FF-D095-F838-BC7D-9AB1F8FB7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21" y="692700"/>
            <a:ext cx="11525251" cy="630322"/>
          </a:xfrm>
        </p:spPr>
        <p:txBody>
          <a:bodyPr/>
          <a:lstStyle/>
          <a:p>
            <a:pPr marL="264795" indent="-264795"/>
            <a:r>
              <a:rPr lang="ja-JP" altLang="en-US" dirty="0">
                <a:latin typeface="Meiryo UI"/>
                <a:ea typeface="Meiryo UI"/>
                <a:cs typeface="Arial"/>
              </a:rPr>
              <a:t>以下、ダッシュボード一覧になります。</a:t>
            </a:r>
            <a:endParaRPr lang="ja-JP" altLang="en-US" dirty="0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17B969F3-A3E4-ACFF-FB27-7E30964EDE60}"/>
              </a:ext>
            </a:extLst>
          </p:cNvPr>
          <p:cNvGrpSpPr/>
          <p:nvPr/>
        </p:nvGrpSpPr>
        <p:grpSpPr>
          <a:xfrm>
            <a:off x="449131" y="1545167"/>
            <a:ext cx="11293739" cy="4904719"/>
            <a:chOff x="390261" y="1545167"/>
            <a:chExt cx="11293739" cy="4904719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0F785446-7BFE-2620-0CF7-8E82439F3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261" y="1758795"/>
              <a:ext cx="3566043" cy="2095600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9C429490-6E84-42DA-1A2B-FAB2A4C50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3702" y="1758795"/>
              <a:ext cx="3599449" cy="2095600"/>
            </a:xfrm>
            <a:prstGeom prst="rect">
              <a:avLst/>
            </a:prstGeom>
          </p:spPr>
        </p:pic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ED6FACB0-E2FC-AC1C-0FCD-5C0620170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0261" y="4354286"/>
              <a:ext cx="3528507" cy="2095600"/>
            </a:xfrm>
            <a:prstGeom prst="rect">
              <a:avLst/>
            </a:prstGeom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56D400E8-0DE2-2F46-E819-51B3124AB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63702" y="4354286"/>
              <a:ext cx="3537567" cy="2095600"/>
            </a:xfrm>
            <a:prstGeom prst="rect">
              <a:avLst/>
            </a:prstGeom>
          </p:spPr>
        </p:pic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B5EA7B10-D866-B8EA-9DA1-B0BFB3E25B26}"/>
                </a:ext>
              </a:extLst>
            </p:cNvPr>
            <p:cNvSpPr/>
            <p:nvPr/>
          </p:nvSpPr>
          <p:spPr>
            <a:xfrm>
              <a:off x="390261" y="1545167"/>
              <a:ext cx="3566044" cy="21362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#ROI</a:t>
              </a:r>
              <a:r>
                <a:rPr lang="ja-JP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監視</a:t>
              </a:r>
              <a:endPara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B906E9F9-4B33-3D35-8F5F-BF999034271E}"/>
                </a:ext>
              </a:extLst>
            </p:cNvPr>
            <p:cNvSpPr/>
            <p:nvPr/>
          </p:nvSpPr>
          <p:spPr>
            <a:xfrm>
              <a:off x="6363702" y="1545167"/>
              <a:ext cx="3566044" cy="21362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#</a:t>
              </a:r>
              <a:r>
                <a:rPr lang="ja-JP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稼働・エラー率監視</a:t>
              </a:r>
              <a:endPara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8ACBE9C0-A751-D085-EFBB-E1EF84401447}"/>
                </a:ext>
              </a:extLst>
            </p:cNvPr>
            <p:cNvSpPr/>
            <p:nvPr/>
          </p:nvSpPr>
          <p:spPr>
            <a:xfrm>
              <a:off x="390261" y="4129199"/>
              <a:ext cx="3566044" cy="21362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#</a:t>
              </a:r>
              <a:r>
                <a:rPr lang="ja-JP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類似フロー監視</a:t>
              </a:r>
              <a:endPara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918BD79F-13B3-F35A-C7B3-06747048B670}"/>
                </a:ext>
              </a:extLst>
            </p:cNvPr>
            <p:cNvSpPr/>
            <p:nvPr/>
          </p:nvSpPr>
          <p:spPr>
            <a:xfrm>
              <a:off x="6363702" y="4129199"/>
              <a:ext cx="3566044" cy="213628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#</a:t>
              </a:r>
              <a:r>
                <a:rPr lang="ja-JP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ガバナンス監視</a:t>
              </a:r>
              <a:endParaRPr kumimoji="1" lang="ja-JP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2E50094-6CAF-B747-F0A7-5DEAFE52343A}"/>
                </a:ext>
              </a:extLst>
            </p:cNvPr>
            <p:cNvSpPr/>
            <p:nvPr/>
          </p:nvSpPr>
          <p:spPr>
            <a:xfrm>
              <a:off x="3956304" y="1758795"/>
              <a:ext cx="1716363" cy="20956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r>
                <a:rPr lang="ja-JP" altLang="en-US" sz="11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説明</a:t>
              </a:r>
              <a:endParaRPr lang="en-US" altLang="ja-JP" sz="11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各</a:t>
              </a:r>
              <a:r>
                <a:rPr kumimoji="1"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の投資対効果を監視するダッシュボード</a:t>
              </a:r>
              <a:endPara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削減効果やトークン量（</a:t>
              </a: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1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回当たりの目安）</a:t>
              </a:r>
              <a:b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</a:b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などは予め</a:t>
              </a: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フローのノートに記載する</a:t>
              </a:r>
              <a:endPara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294AC125-5B69-F716-1360-748A4D971974}"/>
                </a:ext>
              </a:extLst>
            </p:cNvPr>
            <p:cNvSpPr/>
            <p:nvPr/>
          </p:nvSpPr>
          <p:spPr>
            <a:xfrm>
              <a:off x="9967637" y="1758795"/>
              <a:ext cx="1716363" cy="20956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r>
                <a:rPr lang="ja-JP" altLang="en-US" sz="11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説明</a:t>
              </a:r>
              <a:endParaRPr lang="en-US" altLang="ja-JP" sz="11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各</a:t>
              </a:r>
              <a:r>
                <a:rPr kumimoji="1"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の稼働率などを監視するダッシュボード</a:t>
              </a:r>
              <a:endPara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実行回数やエラー率は</a:t>
              </a: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の標準ログから取得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実行部門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などの（監視したい切り口）情報は</a:t>
              </a: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のノートに記載する</a:t>
              </a:r>
              <a:endPara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4A15A877-E0DD-2916-9E82-8A6F2BD0AF6B}"/>
                </a:ext>
              </a:extLst>
            </p:cNvPr>
            <p:cNvSpPr/>
            <p:nvPr/>
          </p:nvSpPr>
          <p:spPr>
            <a:xfrm>
              <a:off x="3956304" y="4354286"/>
              <a:ext cx="1716363" cy="20956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r>
                <a:rPr lang="ja-JP" altLang="en-US" sz="11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説明</a:t>
              </a:r>
              <a:endParaRPr lang="en-US" altLang="ja-JP" sz="11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各</a:t>
              </a:r>
              <a:r>
                <a:rPr kumimoji="1"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の類似度を監視するダッシュボード</a:t>
              </a:r>
              <a:endPara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</a:t>
              </a: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JSON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ファイルから類似度を算出し、距離が近いものを特定する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3B638024-605C-7E7F-4327-186D4BFC6C89}"/>
                </a:ext>
              </a:extLst>
            </p:cNvPr>
            <p:cNvSpPr/>
            <p:nvPr/>
          </p:nvSpPr>
          <p:spPr>
            <a:xfrm>
              <a:off x="9967637" y="4354286"/>
              <a:ext cx="1716363" cy="20956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r>
                <a:rPr lang="ja-JP" altLang="en-US" sz="11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説明</a:t>
              </a:r>
              <a:endParaRPr lang="en-US" altLang="ja-JP" sz="11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各</a:t>
              </a:r>
              <a:r>
                <a:rPr kumimoji="1"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のガバナンスを</a:t>
              </a:r>
              <a:br>
                <a:rPr kumimoji="1"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</a:br>
              <a:r>
                <a:rPr kumimoji="1"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監視するダッシュボード</a:t>
              </a:r>
              <a:endPara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フローで扱うデータのランクや有識者のレビューが完了していないもののステータスをノートに記載して、ガバナンスを監視</a:t>
              </a:r>
              <a:endParaRPr kumimoji="1"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276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2909-2952-1E17-A5DD-F6C83D777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D13B9548-7C1D-352B-84E5-EF049D296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Meiryo UI"/>
                <a:ea typeface="Meiryo UI"/>
                <a:cs typeface="Arial"/>
              </a:rPr>
              <a:t>n8n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フロー独自カラムの定義・連携の仕組み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A592768-5381-5338-76BA-F2D69BAF8A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2A429-DDC7-41CC-AC2C-79132BE59620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  <p:sp>
        <p:nvSpPr>
          <p:cNvPr id="302" name="Content Placeholder 1">
            <a:extLst>
              <a:ext uri="{FF2B5EF4-FFF2-40B4-BE49-F238E27FC236}">
                <a16:creationId xmlns:a16="http://schemas.microsoft.com/office/drawing/2014/main" id="{24D124FA-6A4E-D341-FB65-F787ED941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21" y="692700"/>
            <a:ext cx="11525251" cy="630322"/>
          </a:xfrm>
        </p:spPr>
        <p:txBody>
          <a:bodyPr/>
          <a:lstStyle/>
          <a:p>
            <a:pPr marL="264795" indent="-264795"/>
            <a:r>
              <a:rPr lang="ja-JP" altLang="en-US" dirty="0">
                <a:latin typeface="Meiryo UI"/>
                <a:ea typeface="Meiryo UI"/>
                <a:cs typeface="Arial"/>
              </a:rPr>
              <a:t>以下、</a:t>
            </a:r>
            <a:r>
              <a:rPr lang="en-US" altLang="ja-JP" dirty="0">
                <a:latin typeface="Meiryo UI"/>
                <a:ea typeface="Meiryo UI"/>
                <a:cs typeface="Arial"/>
              </a:rPr>
              <a:t>Fabric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に連携する</a:t>
            </a:r>
            <a:r>
              <a:rPr lang="en-US" altLang="ja-JP" dirty="0">
                <a:latin typeface="Meiryo UI"/>
                <a:ea typeface="Meiryo UI"/>
                <a:cs typeface="Arial"/>
              </a:rPr>
              <a:t>n8n</a:t>
            </a:r>
            <a:r>
              <a:rPr lang="ja-JP" altLang="en-US" dirty="0">
                <a:latin typeface="Meiryo UI"/>
                <a:ea typeface="Meiryo UI"/>
                <a:cs typeface="Arial"/>
              </a:rPr>
              <a:t>フローの情報になります。</a:t>
            </a:r>
            <a:endParaRPr lang="ja-JP" altLang="en-US" dirty="0"/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CDCC436F-037E-43B0-8215-3F77FA165867}"/>
              </a:ext>
            </a:extLst>
          </p:cNvPr>
          <p:cNvGrpSpPr/>
          <p:nvPr/>
        </p:nvGrpSpPr>
        <p:grpSpPr>
          <a:xfrm>
            <a:off x="838421" y="1323022"/>
            <a:ext cx="10515158" cy="5166968"/>
            <a:chOff x="110115" y="1323022"/>
            <a:chExt cx="10515158" cy="5166968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D08F3877-EB6E-AEA9-DB4E-82CE1A5E1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6727" y="1323022"/>
              <a:ext cx="9058546" cy="5166968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7BC3468-8B89-11DB-3F22-C3F206E30697}"/>
                </a:ext>
              </a:extLst>
            </p:cNvPr>
            <p:cNvSpPr/>
            <p:nvPr/>
          </p:nvSpPr>
          <p:spPr>
            <a:xfrm>
              <a:off x="114300" y="2484978"/>
              <a:ext cx="3445264" cy="6303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フローのメモ情報になり、</a:t>
              </a:r>
              <a:b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</a:b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様々なカテゴリを定義しておくことで、分析の切り口に使える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※Fabric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の分析の切り口として使いたいものを定義する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BF9781A2-4EE4-5E4A-8E2E-6BF5C7A2550B}"/>
                </a:ext>
              </a:extLst>
            </p:cNvPr>
            <p:cNvSpPr/>
            <p:nvPr/>
          </p:nvSpPr>
          <p:spPr>
            <a:xfrm>
              <a:off x="3756672" y="2093617"/>
              <a:ext cx="1215378" cy="262233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3028BF7C-3713-F785-30B0-A55F4DCFB004}"/>
                </a:ext>
              </a:extLst>
            </p:cNvPr>
            <p:cNvCxnSpPr>
              <a:cxnSpLocks/>
              <a:stCxn id="8" idx="1"/>
              <a:endCxn id="7" idx="3"/>
            </p:cNvCxnSpPr>
            <p:nvPr/>
          </p:nvCxnSpPr>
          <p:spPr>
            <a:xfrm flipH="1">
              <a:off x="3559564" y="2224734"/>
              <a:ext cx="197108" cy="575405"/>
            </a:xfrm>
            <a:prstGeom prst="straightConnector1">
              <a:avLst/>
            </a:prstGeom>
            <a:ln>
              <a:solidFill>
                <a:srgbClr val="FF0000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5A36C738-AA26-17EF-D34E-7C478481CC75}"/>
                </a:ext>
              </a:extLst>
            </p:cNvPr>
            <p:cNvSpPr/>
            <p:nvPr/>
          </p:nvSpPr>
          <p:spPr>
            <a:xfrm>
              <a:off x="6978716" y="1778456"/>
              <a:ext cx="2273234" cy="6303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</a:t>
              </a:r>
              <a:r>
                <a:rPr kumimoji="1"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フローのログ情報になり、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実行回数やエラー内容が取得できる</a:t>
              </a:r>
              <a:endPara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87579EF-6F00-E349-6906-90A64A5D0590}"/>
                </a:ext>
              </a:extLst>
            </p:cNvPr>
            <p:cNvSpPr/>
            <p:nvPr/>
          </p:nvSpPr>
          <p:spPr>
            <a:xfrm>
              <a:off x="6327775" y="1568451"/>
              <a:ext cx="454026" cy="19050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712D137E-493A-7155-F325-C78D9BAFDFB2}"/>
                </a:ext>
              </a:extLst>
            </p:cNvPr>
            <p:cNvCxnSpPr>
              <a:cxnSpLocks/>
              <a:stCxn id="19" idx="3"/>
              <a:endCxn id="17" idx="1"/>
            </p:cNvCxnSpPr>
            <p:nvPr/>
          </p:nvCxnSpPr>
          <p:spPr>
            <a:xfrm>
              <a:off x="6781801" y="1663701"/>
              <a:ext cx="196915" cy="429916"/>
            </a:xfrm>
            <a:prstGeom prst="straightConnector1">
              <a:avLst/>
            </a:prstGeom>
            <a:ln>
              <a:solidFill>
                <a:srgbClr val="FF0000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835F6870-AB66-3045-2C78-8B5989AB31EC}"/>
                </a:ext>
              </a:extLst>
            </p:cNvPr>
            <p:cNvSpPr/>
            <p:nvPr/>
          </p:nvSpPr>
          <p:spPr>
            <a:xfrm>
              <a:off x="110115" y="1739012"/>
              <a:ext cx="3449642" cy="6303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</a:t>
              </a:r>
              <a:r>
                <a:rPr kumimoji="1"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フローのタグ情報になり、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  <a:p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部門を予め定義しておくことで、分析の切り口に使える</a:t>
              </a:r>
              <a:b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</a:b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※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部門などはタグで定義した方がフローの管理はし易い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A9180D1C-CAAE-5173-C673-83E7DC4FA110}"/>
                </a:ext>
              </a:extLst>
            </p:cNvPr>
            <p:cNvSpPr/>
            <p:nvPr/>
          </p:nvSpPr>
          <p:spPr>
            <a:xfrm>
              <a:off x="4454525" y="1398111"/>
              <a:ext cx="517525" cy="19050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24B80949-84EA-FC02-0BD1-0AF413E12688}"/>
                </a:ext>
              </a:extLst>
            </p:cNvPr>
            <p:cNvCxnSpPr>
              <a:cxnSpLocks/>
              <a:stCxn id="34" idx="1"/>
              <a:endCxn id="33" idx="3"/>
            </p:cNvCxnSpPr>
            <p:nvPr/>
          </p:nvCxnSpPr>
          <p:spPr>
            <a:xfrm flipH="1">
              <a:off x="3559757" y="1493361"/>
              <a:ext cx="894768" cy="560812"/>
            </a:xfrm>
            <a:prstGeom prst="straightConnector1">
              <a:avLst/>
            </a:prstGeom>
            <a:ln>
              <a:solidFill>
                <a:srgbClr val="FF0000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1C3F030E-CC9D-4DE3-1536-C64202A3A893}"/>
                </a:ext>
              </a:extLst>
            </p:cNvPr>
            <p:cNvSpPr/>
            <p:nvPr/>
          </p:nvSpPr>
          <p:spPr>
            <a:xfrm>
              <a:off x="114300" y="4683164"/>
              <a:ext cx="3445264" cy="6303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フローのフロー情報（</a:t>
              </a: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JSON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）になり、</a:t>
              </a:r>
              <a:b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</a:b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各</a:t>
              </a:r>
              <a:r>
                <a:rPr lang="en-US" altLang="ja-JP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n8n</a:t>
              </a:r>
              <a:r>
                <a:rPr lang="ja-JP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Hiragino Kaku Gothic Pro W3" charset="-128"/>
                </a:rPr>
                <a:t>フローを比較・類似度を測る際に使用する</a:t>
              </a:r>
              <a:endParaRPr lang="en-US" altLang="ja-JP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27BF5564-445B-02FF-035F-FB5ED3F68FF9}"/>
                </a:ext>
              </a:extLst>
            </p:cNvPr>
            <p:cNvSpPr/>
            <p:nvPr/>
          </p:nvSpPr>
          <p:spPr>
            <a:xfrm>
              <a:off x="2951875" y="5429130"/>
              <a:ext cx="7453034" cy="836916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endParaRPr kumimoji="1" lang="ja-JP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Hiragino Kaku Gothic Pro W3" charset="-128"/>
              </a:endParaRPr>
            </a:p>
          </p:txBody>
        </p: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3A70A159-8B08-F9F6-9A11-55F1C0F6AC77}"/>
                </a:ext>
              </a:extLst>
            </p:cNvPr>
            <p:cNvCxnSpPr>
              <a:cxnSpLocks/>
              <a:stCxn id="44" idx="0"/>
              <a:endCxn id="43" idx="3"/>
            </p:cNvCxnSpPr>
            <p:nvPr/>
          </p:nvCxnSpPr>
          <p:spPr>
            <a:xfrm flipH="1" flipV="1">
              <a:off x="3559564" y="4998325"/>
              <a:ext cx="3118828" cy="430805"/>
            </a:xfrm>
            <a:prstGeom prst="straightConnector1">
              <a:avLst/>
            </a:prstGeom>
            <a:ln>
              <a:solidFill>
                <a:srgbClr val="FF0000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27930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4162&quot;&gt;&lt;version val=&quot;270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potWIdYMJl6F809y9Vx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企画書テンプレートRLS14ver">
  <a:themeElements>
    <a:clrScheme name="3_JJ Division 企画Ｇ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2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 w="9525">
          <a:solidFill>
            <a:schemeClr val="bg1">
              <a:lumMod val="50000"/>
            </a:schemeClr>
          </a:solidFill>
        </a:ln>
      </a:spPr>
      <a:bodyPr vert="horz" rtlCol="0" anchor="ctr"/>
      <a:lstStyle>
        <a:defPPr algn="ctr">
          <a:defRPr kumimoji="1" sz="1400" dirty="0" smtClean="0">
            <a:solidFill>
              <a:schemeClr val="accent4">
                <a:lumMod val="65000"/>
                <a:lumOff val="35000"/>
              </a:schemeClr>
            </a:solidFill>
            <a:latin typeface="+mn-ea"/>
            <a:cs typeface="Hiragino Kaku Gothic Pro W3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l">
          <a:defRPr kumimoji="1" sz="1600" dirty="0" smtClean="0">
            <a:solidFill>
              <a:schemeClr val="accent4">
                <a:lumMod val="65000"/>
                <a:lumOff val="35000"/>
              </a:schemeClr>
            </a:solidFill>
            <a:latin typeface="Meiryo UI" panose="020B0604030504040204" pitchFamily="50" charset="-128"/>
            <a:ea typeface="Meiryo UI" panose="020B0604030504040204" pitchFamily="50" charset="-128"/>
            <a:cs typeface="メイリオ"/>
          </a:defRPr>
        </a:defPPr>
      </a:lstStyle>
    </a:txDef>
  </a:objectDefaults>
  <a:extraClrSchemeLst>
    <a:extraClrScheme>
      <a:clrScheme name="3_JJ Division 企画Ｇ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JJ Division 企画Ｇ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JJ Division 企画Ｇ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EAF83FE5A3B0741ABFE8863C0A817DE" ma:contentTypeVersion="25" ma:contentTypeDescription="新しいドキュメントを作成します。" ma:contentTypeScope="" ma:versionID="bedcb010f039cdd58f9d19b71177c122">
  <xsd:schema xmlns:xsd="http://www.w3.org/2001/XMLSchema" xmlns:xs="http://www.w3.org/2001/XMLSchema" xmlns:p="http://schemas.microsoft.com/office/2006/metadata/properties" xmlns:ns2="2663f714-e648-46a2-8c75-0b4476465bbe" xmlns:ns3="68893545-e206-4c87-a1d0-cb18894f78fd" targetNamespace="http://schemas.microsoft.com/office/2006/metadata/properties" ma:root="true" ma:fieldsID="6404ca7b28d61a4b50b079207919d3df" ns2:_="" ns3:_="">
    <xsd:import namespace="2663f714-e648-46a2-8c75-0b4476465bbe"/>
    <xsd:import namespace="68893545-e206-4c87-a1d0-cb18894f78f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_Flow_SignoffStatus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  <xsd:element ref="ns3:_x2605__x53c2__x7167_Only" minOccurs="0"/>
                <xsd:element ref="ns3:lcf76f155ced4ddcb4097134ff3c332f" minOccurs="0"/>
                <xsd:element ref="ns2:TaxCatchAll" minOccurs="0"/>
                <xsd:element ref="ns3:PreviewLink" minOccurs="0"/>
                <xsd:element ref="ns3:MediaServiceObjectDetectorVersions" minOccurs="0"/>
                <xsd:element ref="ns3:preview" minOccurs="0"/>
                <xsd:element ref="ns3:_x30d7__x30ec__x30d3__x30e5__x30fc_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63f714-e648-46a2-8c75-0b4476465bb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a3c643b4-1fe4-441b-9848-16d1594d1806}" ma:internalName="TaxCatchAll" ma:showField="CatchAllData" ma:web="2663f714-e648-46a2-8c75-0b4476465b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93545-e206-4c87-a1d0-cb18894f78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_Flow_SignoffStatus" ma:index="17" nillable="true" ma:displayName="承認の状態" ma:internalName="_x627f__x8a8d__x306e__x72b6__x614b_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x2605__x53c2__x7167_Only" ma:index="22" nillable="true" ma:displayName="★参照Only" ma:format="Dropdown" ma:internalName="_x2605__x53c2__x7167_Only">
      <xsd:simpleType>
        <xsd:restriction base="dms:Text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画像タグ" ma:readOnly="false" ma:fieldId="{5cf76f15-5ced-4ddc-b409-7134ff3c332f}" ma:taxonomyMulti="true" ma:sspId="a3a9e2b4-bd26-462e-b1d1-efb57a7163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PreviewLink" ma:index="26" nillable="true" ma:displayName="PreviewLink" ma:format="Dropdown" ma:internalName="PreviewLink">
      <xsd:simpleType>
        <xsd:restriction base="dms:Text">
          <xsd:maxLength value="255"/>
        </xsd:restriction>
      </xsd:simple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preview" ma:index="28" nillable="true" ma:displayName="preview" ma:description="preview" ma:format="Dropdown" ma:internalName="preview">
      <xsd:simpleType>
        <xsd:restriction base="dms:Text">
          <xsd:maxLength value="255"/>
        </xsd:restriction>
      </xsd:simpleType>
    </xsd:element>
    <xsd:element name="_x30d7__x30ec__x30d3__x30e5__x30fc_" ma:index="29" nillable="true" ma:displayName="プレビュー" ma:format="Dropdown" ma:internalName="_x30d7__x30ec__x30d3__x30e5__x30fc_">
      <xsd:simpleType>
        <xsd:restriction base="dms:Text">
          <xsd:maxLength value="255"/>
        </xsd:restriction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_Flow_SignoffStatus xmlns="68893545-e206-4c87-a1d0-cb18894f78fd" xsi:nil="true"/>
    <_x2605__x53c2__x7167_Only xmlns="68893545-e206-4c87-a1d0-cb18894f78fd" xsi:nil="true"/>
    <TaxCatchAll xmlns="2663f714-e648-46a2-8c75-0b4476465bbe" xsi:nil="true"/>
    <lcf76f155ced4ddcb4097134ff3c332f xmlns="68893545-e206-4c87-a1d0-cb18894f78fd">
      <Terms xmlns="http://schemas.microsoft.com/office/infopath/2007/PartnerControls"/>
    </lcf76f155ced4ddcb4097134ff3c332f>
    <SharedWithUsers xmlns="2663f714-e648-46a2-8c75-0b4476465bbe">
      <UserInfo>
        <DisplayName>石本 久美子</DisplayName>
        <AccountId>1163</AccountId>
        <AccountType/>
      </UserInfo>
      <UserInfo>
        <DisplayName>池上 彩</DisplayName>
        <AccountId>1673</AccountId>
        <AccountType/>
      </UserInfo>
      <UserInfo>
        <DisplayName>長嶺 稜</DisplayName>
        <AccountId>262</AccountId>
        <AccountType/>
      </UserInfo>
      <UserInfo>
        <DisplayName>北原 卓実</DisplayName>
        <AccountId>637</AccountId>
        <AccountType/>
      </UserInfo>
    </SharedWithUsers>
    <PreviewLink xmlns="68893545-e206-4c87-a1d0-cb18894f78fd" xsi:nil="true"/>
    <preview xmlns="68893545-e206-4c87-a1d0-cb18894f78fd" xsi:nil="true"/>
    <_x30d7__x30ec__x30d3__x30e5__x30fc_ xmlns="68893545-e206-4c87-a1d0-cb18894f78fd" xsi:nil="true"/>
  </documentManagement>
</p:properties>
</file>

<file path=customXml/itemProps1.xml><?xml version="1.0" encoding="utf-8"?>
<ds:datastoreItem xmlns:ds="http://schemas.openxmlformats.org/officeDocument/2006/customXml" ds:itemID="{1A2F7194-C21C-45AB-8148-59CF745E91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63f714-e648-46a2-8c75-0b4476465bbe"/>
    <ds:schemaRef ds:uri="68893545-e206-4c87-a1d0-cb18894f78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06ADAE-FD93-4FF4-9DFE-EE012FC8C9B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E223CF-2E60-7248-B334-C62B424CF89B}">
  <ds:schemaRefs>
    <ds:schemaRef ds:uri="2663f714-e648-46a2-8c75-0b4476465bbe"/>
    <ds:schemaRef ds:uri="68893545-e206-4c87-a1d0-cb18894f78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293</Words>
  <Application>Microsoft Office PowerPoint</Application>
  <PresentationFormat>ワイド画面</PresentationFormat>
  <Paragraphs>30</Paragraphs>
  <Slides>2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Meiryo UI</vt:lpstr>
      <vt:lpstr>MS UI Gothic</vt:lpstr>
      <vt:lpstr>Arial</vt:lpstr>
      <vt:lpstr>Wingdings</vt:lpstr>
      <vt:lpstr>企画書テンプレートRLS14ver</vt:lpstr>
      <vt:lpstr>think-cell スライド</vt:lpstr>
      <vt:lpstr>ダッシュボード一覧</vt:lpstr>
      <vt:lpstr>n8nフロー独自カラムの定義・連携の仕組み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片山　亮</dc:creator>
  <cp:lastModifiedBy>越智 啓人</cp:lastModifiedBy>
  <cp:revision>32</cp:revision>
  <cp:lastPrinted>2018-07-02T06:06:58Z</cp:lastPrinted>
  <dcterms:modified xsi:type="dcterms:W3CDTF">2026-07-26T22:35:08Z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0x010100BEAF83FE5A3B0741ABFE8863C0A817DE</vt:lpwstr>
  </property>
  <property fmtid="{D5CDD505-2E9C-101B-9397-08002B2CF9AE}" pid="3" name="Order">
    <vt:r8>5092800</vt:r8>
  </property>
  <property fmtid="{D5CDD505-2E9C-101B-9397-08002B2CF9AE}" pid="4" name="ComplianceAssetId">
    <vt:lpwstr/>
  </property>
  <property fmtid="{D5CDD505-2E9C-101B-9397-08002B2CF9AE}" pid="5" name="MediaServiceImageTags">
    <vt:lpwstr/>
  </property>
</Properties>
</file>