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87" r:id="rId5"/>
    <p:sldMasterId id="2147483714" r:id="rId6"/>
    <p:sldMasterId id="2147483727" r:id="rId7"/>
  </p:sldMasterIdLst>
  <p:notesMasterIdLst>
    <p:notesMasterId r:id="rId12"/>
  </p:notesMasterIdLst>
  <p:sldIdLst>
    <p:sldId id="2147476408" r:id="rId8"/>
    <p:sldId id="2147476409" r:id="rId9"/>
    <p:sldId id="2147476410" r:id="rId10"/>
    <p:sldId id="2147476411"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2DC3D023-5C47-48C9-B61E-01AE25E52B6D}">
          <p14:sldIdLst>
            <p14:sldId id="2147476408"/>
            <p14:sldId id="2147476409"/>
          </p14:sldIdLst>
        </p14:section>
        <p14:section name="APPENDIX" id="{DCD2BAD8-F3B8-4B11-9075-710FFD42517A}">
          <p14:sldIdLst>
            <p14:sldId id="2147476410"/>
            <p14:sldId id="214747641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65707-383C-1590-7E1E-1CC0529CB55F}" name="大島 靖弘" initials="大靖" userId="S::yasuhiro_oshima@r.recruit.co.jp::28eeaa14-31cc-4ece-87ec-e8962a8a84d4" providerId="AD"/>
  <p188:author id="{6431D53F-952F-5F50-953F-364987793893}" name="柳 健太郎" initials="柳" userId="S::kentaro_yanagi@waku-2.com::e70dbdbe-df40-49ae-a86a-1e8d7be31622" providerId="AD"/>
  <p188:author id="{F1F32761-01E8-6056-7038-BB44C368A65E}" name="廣重 仁美" initials="廣仁" userId="S::hitomi_hiroshige@r.recruit.co.jp::c84703b0-159c-4dcd-9b70-45758aeefaa2" providerId="AD"/>
  <p188:author id="{D24CD376-B6C9-3489-6D9D-E30C1787331D}" name="七田　昌俊" initials="M.S." userId="七田　昌俊" providerId="None"/>
  <p188:author id="{6460BEA9-7274-72F9-072B-5A6B86DB92DA}" name="佐伯 奈々" initials="佐伯" userId="S::nana_saeki@r.recruit.co.jp::4e96e5c6-a182-4590-8066-b53b29189d21" providerId="AD"/>
  <p188:author id="{1C87C6BB-0E83-6D4C-4D1C-CF848BA4275F}" name="紺谷 龍太郎" initials="紺谷" userId="S::ryutaro_konya@waku-2.com::92c16fd9-bfdd-4abc-9dc0-c31ed4ed90b6" providerId="AD"/>
  <p188:author id="{355150C8-2B5B-65E8-B901-E35A8F093439}" name="恒屋 雄治" initials="恒屋" userId="S::y_tsuneya@r.recruit.co.jp::eb5c1709-198a-482d-8458-73fb0d140cd6" providerId="AD"/>
  <p188:author id="{F60350E1-ED74-C168-7D68-2E4689A28705}" name="土久 穂高" initials="土穂" userId="S::do9h@r.recruit.co.jp::43519758-b9b7-42e7-8b1b-732548645f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EAA"/>
    <a:srgbClr val="E9E9FF"/>
    <a:srgbClr val="A5A5E9"/>
    <a:srgbClr val="2895D5"/>
    <a:srgbClr val="E6E6E6"/>
    <a:srgbClr val="BABAFF"/>
    <a:srgbClr val="FFFFCC"/>
    <a:srgbClr val="FFF2B9"/>
    <a:srgbClr val="FFDDDD"/>
    <a:srgbClr val="C2F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8" d="100"/>
          <a:sy n="108" d="100"/>
        </p:scale>
        <p:origin x="114" y="13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3.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E2322-BDA3-4EEB-BC4E-E178FFD202E9}" type="datetimeFigureOut">
              <a:rPr kumimoji="1" lang="ja-JP" altLang="en-US" smtClean="0"/>
              <a:t>2026/6/10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173A-8754-48DB-9150-A006ED359F83}" type="slidenum">
              <a:rPr kumimoji="1" lang="ja-JP" altLang="en-US" smtClean="0"/>
              <a:t>‹#›</a:t>
            </a:fld>
            <a:endParaRPr kumimoji="1" lang="ja-JP" altLang="en-US"/>
          </a:p>
        </p:txBody>
      </p:sp>
    </p:spTree>
    <p:extLst>
      <p:ext uri="{BB962C8B-B14F-4D97-AF65-F5344CB8AC3E}">
        <p14:creationId xmlns:p14="http://schemas.microsoft.com/office/powerpoint/2010/main" val="3666676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8DB8-69B3-9CDC-2803-27A2725B4C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684690-1680-AAAC-FFEE-6F941670190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80E4FD-CCD8-B7C9-6D02-05C65310277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AD834DD-76A1-24AC-2D1C-F223553EC0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876356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2EFC5-1BB1-E075-AB35-AA99C6F563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075F2B-6533-58C4-14CD-A4ECE9BA8A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BCB803-D190-6990-3342-61C9A2B8238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50BEA07-B996-FA69-224B-E9C3EAFDBD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283382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4747-56BF-6B16-64D0-9A5AE23ED5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4ADCB4-48C9-8CB6-E20D-6B49A78613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EFFA87-A8D2-D483-B1B8-E1F3FEE27B5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640B9B8-4B85-4FAE-7E62-4E63EAEB00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791861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939E-250D-291D-8E06-DFAF9AE388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BA1D90-742E-63C0-DE05-1DF6DC68F4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0C5C5B-35E0-B6D7-5019-E6F374ECF11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A37F47C-E66E-E541-A936-95726CAA38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734729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0.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3.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4.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5.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6.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7.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8.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9.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10.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1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6.xml"/><Relationship Id="rId4"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7.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8.xml"/><Relationship Id="rId4" Type="http://schemas.openxmlformats.org/officeDocument/2006/relationships/image" Target="../media/image4.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9.xml"/><Relationship Id="rId4"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0.xml"/><Relationship Id="rId4" Type="http://schemas.openxmlformats.org/officeDocument/2006/relationships/image" Target="../media/image6.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1.xml"/><Relationship Id="rId4"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2.xml"/><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3.xml"/><Relationship Id="rId4" Type="http://schemas.openxmlformats.org/officeDocument/2006/relationships/image" Target="../media/image9.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4.xml"/><Relationship Id="rId4" Type="http://schemas.openxmlformats.org/officeDocument/2006/relationships/image" Target="../media/image10.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5.xml"/><Relationship Id="rId4" Type="http://schemas.openxmlformats.org/officeDocument/2006/relationships/image" Target="../media/image1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6.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27410127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0864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28236156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2023</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13892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3086183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39425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10826729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1671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34029204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312350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29195158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83939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317910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111134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6647568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33039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3411435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1477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597220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21071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14654062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29218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75213273"/>
              </p:ext>
            </p:ext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13687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タイトル スライド">
    <p:spTree>
      <p:nvGrpSpPr>
        <p:cNvPr id="1" name=""/>
        <p:cNvGrpSpPr/>
        <p:nvPr/>
      </p:nvGrpSpPr>
      <p:grpSpPr>
        <a:xfrm>
          <a:off x="0" y="0"/>
          <a:ext cx="0" cy="0"/>
          <a:chOff x="0" y="0"/>
          <a:chExt cx="0" cy="0"/>
        </a:xfrm>
      </p:grpSpPr>
      <p:pic>
        <p:nvPicPr>
          <p:cNvPr id="3" name="図 11" descr="名称未設定-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49684" y="5770564"/>
            <a:ext cx="3655483" cy="719137"/>
          </a:xfrm>
          <a:prstGeom prst="rect">
            <a:avLst/>
          </a:prstGeom>
          <a:noFill/>
          <a:ln w="9525">
            <a:noFill/>
            <a:miter lim="800000"/>
            <a:headEnd/>
            <a:tailEnd/>
          </a:ln>
        </p:spPr>
      </p:pic>
      <p:pic>
        <p:nvPicPr>
          <p:cNvPr id="4" name="図 10" descr="リクルート＿パワーポイント＿元データ.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1717867" cy="5316538"/>
          </a:xfrm>
          <a:prstGeom prst="rect">
            <a:avLst/>
          </a:prstGeom>
          <a:noFill/>
          <a:ln w="9525">
            <a:noFill/>
            <a:miter lim="800000"/>
            <a:headEnd/>
            <a:tailEnd/>
          </a:ln>
        </p:spPr>
      </p:pic>
      <p:sp>
        <p:nvSpPr>
          <p:cNvPr id="6157" name="Rectangle 13"/>
          <p:cNvSpPr>
            <a:spLocks noGrp="1" noChangeArrowheads="1"/>
          </p:cNvSpPr>
          <p:nvPr>
            <p:ph type="ctrTitle"/>
          </p:nvPr>
        </p:nvSpPr>
        <p:spPr>
          <a:xfrm>
            <a:off x="3874956" y="2557196"/>
            <a:ext cx="6833789" cy="1586089"/>
          </a:xfrm>
        </p:spPr>
        <p:txBody>
          <a:bodyPr/>
          <a:lstStyle>
            <a:lvl1pPr algn="r">
              <a:defRPr sz="2400">
                <a:solidFill>
                  <a:srgbClr val="34464D"/>
                </a:solidFill>
                <a:latin typeface="+mn-ea"/>
                <a:ea typeface="+mn-ea"/>
                <a:cs typeface="ＭＳ ゴシック"/>
              </a:defRPr>
            </a:lvl1pPr>
          </a:lstStyle>
          <a:p>
            <a:pPr lvl="0"/>
            <a:r>
              <a:rPr lang="ja-JP" altLang="en-US" noProof="0"/>
              <a:t>マスター タイトルの書式設定</a:t>
            </a:r>
          </a:p>
        </p:txBody>
      </p:sp>
    </p:spTree>
    <p:extLst>
      <p:ext uri="{BB962C8B-B14F-4D97-AF65-F5344CB8AC3E}">
        <p14:creationId xmlns:p14="http://schemas.microsoft.com/office/powerpoint/2010/main" val="133560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63996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0" indent="0">
              <a:buFont typeface="Arial" charset="0"/>
              <a:buNone/>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411663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4044123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37158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63002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347368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2623014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897478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4266344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928345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435881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1607070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4671070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39623297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5135220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6246056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9898073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1336251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6099703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1485813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0421289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937040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9795700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920366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18492047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2020</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42661890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16059694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33967790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0517309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9633550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4015082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226433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9616150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1513236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211267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2848808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NULL"/><Relationship Id="rId2" Type="http://schemas.openxmlformats.org/officeDocument/2006/relationships/slideLayout" Target="../slideLayouts/slideLayout15.xml"/><Relationship Id="rId16" Type="http://schemas.openxmlformats.org/officeDocument/2006/relationships/oleObject" Target="../embeddings/oleObject1.bin"/><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ags" Target="../tags/tag16.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ags" Target="../tags/tag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NULL"/><Relationship Id="rId2" Type="http://schemas.openxmlformats.org/officeDocument/2006/relationships/slideLayout" Target="../slideLayouts/slideLayout27.xml"/><Relationship Id="rId16" Type="http://schemas.openxmlformats.org/officeDocument/2006/relationships/oleObject" Target="../embeddings/oleObject1.bin"/><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ags" Target="../tags/tag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ags" Target="../tags/tag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NULL"/><Relationship Id="rId2" Type="http://schemas.openxmlformats.org/officeDocument/2006/relationships/slideLayout" Target="../slideLayouts/slideLayout39.xml"/><Relationship Id="rId16" Type="http://schemas.openxmlformats.org/officeDocument/2006/relationships/oleObject" Target="../embeddings/oleObject1.bin"/><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tags" Target="../tags/tag44.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ags" Target="../tags/tag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extLst>
              <p:ext uri="{D42A27DB-BD31-4B8C-83A1-F6EECF244321}">
                <p14:modId xmlns:p14="http://schemas.microsoft.com/office/powerpoint/2010/main" val="228705929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04271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14395951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2625837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93076058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5F72-FD58-923A-D68D-9C7C7387F4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B70B7C-2126-465E-1992-0592588D04FF}"/>
              </a:ext>
            </a:extLst>
          </p:cNvPr>
          <p:cNvSpPr>
            <a:spLocks noGrp="1"/>
          </p:cNvSpPr>
          <p:nvPr>
            <p:ph type="title"/>
          </p:nvPr>
        </p:nvSpPr>
        <p:spPr>
          <a:xfrm>
            <a:off x="203200" y="152403"/>
            <a:ext cx="9204569" cy="379413"/>
          </a:xfrm>
        </p:spPr>
        <p:txBody>
          <a:bodyPr anchor="ctr"/>
          <a:lstStyle/>
          <a:p>
            <a:r>
              <a:rPr lang="en-US" altLang="ja-JP" dirty="0"/>
              <a:t>AI</a:t>
            </a:r>
            <a:r>
              <a:rPr lang="ja-JP" altLang="en-US" dirty="0"/>
              <a:t>イノベーション推進</a:t>
            </a:r>
            <a:r>
              <a:rPr lang="en-US" altLang="ja-JP" dirty="0"/>
              <a:t>G</a:t>
            </a:r>
            <a:r>
              <a:rPr lang="ja-JP" altLang="en-US" dirty="0"/>
              <a:t>への依頼事項について</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696165E1-F94C-F44E-8AF2-F2A996F5919B}"/>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13E48F7C-004A-79E1-07BD-C15F5D062BBD}"/>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ご支援頂きたい内容は、</a:t>
            </a:r>
            <a:r>
              <a:rPr lang="en-US" altLang="ja-JP" sz="1600" kern="0" dirty="0"/>
              <a:t>BPS</a:t>
            </a:r>
            <a:r>
              <a:rPr lang="ja-JP" altLang="en-US" sz="1600" kern="0" dirty="0"/>
              <a:t>の請求支払の</a:t>
            </a:r>
            <a:r>
              <a:rPr lang="en-US" altLang="ja-JP" sz="1600" kern="0" dirty="0"/>
              <a:t>AI</a:t>
            </a:r>
            <a:r>
              <a:rPr lang="ja-JP" altLang="en-US" sz="1600" kern="0" dirty="0"/>
              <a:t>エージェント（</a:t>
            </a:r>
            <a:r>
              <a:rPr lang="en-US" altLang="ja-JP" sz="1600" kern="0" dirty="0"/>
              <a:t>n8n</a:t>
            </a:r>
            <a:r>
              <a:rPr lang="ja-JP" altLang="en-US" sz="1600" kern="0" dirty="0"/>
              <a:t>）化の他</a:t>
            </a:r>
            <a:r>
              <a:rPr lang="en-US" altLang="ja-JP" sz="1600" kern="0" dirty="0"/>
              <a:t>G</a:t>
            </a:r>
            <a:r>
              <a:rPr lang="ja-JP" altLang="en-US" sz="1600" kern="0" dirty="0"/>
              <a:t>の展開実装および実務装着の支援になります。</a:t>
            </a:r>
            <a:endParaRPr lang="en-US" altLang="ja-JP" sz="1600" kern="0" dirty="0"/>
          </a:p>
          <a:p>
            <a:pPr marL="285750" indent="-285750">
              <a:buFont typeface="Arial" panose="020B0604020202020204" pitchFamily="34" charset="0"/>
              <a:buChar char="•"/>
            </a:pPr>
            <a:r>
              <a:rPr lang="ja-JP" altLang="en-US" sz="1600" kern="0" dirty="0"/>
              <a:t>現行の支払依頼申請</a:t>
            </a:r>
            <a:r>
              <a:rPr lang="en-US" altLang="ja-JP" sz="1600" kern="0" dirty="0"/>
              <a:t>CHK</a:t>
            </a:r>
            <a:r>
              <a:rPr lang="ja-JP" altLang="en-US" sz="1600" kern="0" dirty="0"/>
              <a:t>作業の課題および業務量は以下の通りになります。</a:t>
            </a:r>
            <a:br>
              <a:rPr lang="en-US" altLang="ja-JP" sz="1600" kern="0" dirty="0"/>
            </a:br>
            <a:r>
              <a:rPr lang="ja-JP" altLang="en-US" sz="1100" kern="0" dirty="0"/>
              <a:t>*実際の</a:t>
            </a:r>
            <a:r>
              <a:rPr lang="en-US" altLang="ja-JP" sz="1100" kern="0" dirty="0" err="1"/>
              <a:t>AsisTobe</a:t>
            </a:r>
            <a:r>
              <a:rPr lang="ja-JP" altLang="en-US" sz="1100" kern="0" dirty="0"/>
              <a:t>業務フローは </a:t>
            </a:r>
            <a:r>
              <a:rPr lang="en-US" altLang="ja-JP" sz="1100" dirty="0" err="1">
                <a:hlinkClick r:id="rId3" action="ppaction://hlinksldjump"/>
              </a:rPr>
              <a:t>ToBe</a:t>
            </a:r>
            <a:r>
              <a:rPr lang="ja-JP" altLang="en-US" sz="1100" dirty="0">
                <a:hlinkClick r:id="rId3" action="ppaction://hlinksldjump"/>
              </a:rPr>
              <a:t>業務イメージ </a:t>
            </a:r>
            <a:r>
              <a:rPr lang="ja-JP" altLang="en-US" sz="1100" kern="0" dirty="0"/>
              <a:t>を参照ください。</a:t>
            </a:r>
            <a:endParaRPr lang="en-US" altLang="ja-JP" sz="1600" kern="0" dirty="0"/>
          </a:p>
        </p:txBody>
      </p:sp>
    </p:spTree>
    <p:extLst>
      <p:ext uri="{BB962C8B-B14F-4D97-AF65-F5344CB8AC3E}">
        <p14:creationId xmlns:p14="http://schemas.microsoft.com/office/powerpoint/2010/main" val="2242338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73C17-4E20-3703-5B9C-D5D55A38A0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38066B-E70A-77A3-545C-B46C6D9B7421}"/>
              </a:ext>
            </a:extLst>
          </p:cNvPr>
          <p:cNvSpPr>
            <a:spLocks noGrp="1"/>
          </p:cNvSpPr>
          <p:nvPr>
            <p:ph type="title"/>
          </p:nvPr>
        </p:nvSpPr>
        <p:spPr>
          <a:xfrm>
            <a:off x="203200" y="152403"/>
            <a:ext cx="9204569" cy="379413"/>
          </a:xfrm>
        </p:spPr>
        <p:txBody>
          <a:bodyPr anchor="ctr"/>
          <a:lstStyle/>
          <a:p>
            <a:r>
              <a:rPr lang="ja-JP" altLang="en-US" dirty="0"/>
              <a:t>具体的な支援内容について</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FE7A18FF-1CE8-E275-5748-1128EC140CC5}"/>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altLang="ja-JP" sz="1100" b="0" i="0" u="none" strike="noStrike" kern="1200" cap="none" spc="0" normalizeH="0" baseline="0" noProof="0" dirty="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E970E01B-FC55-5135-A57B-5D9098574D5B}"/>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詳細は以下の通りになります。</a:t>
            </a:r>
            <a:endParaRPr lang="en-US" altLang="ja-JP" sz="1600" kern="0" dirty="0"/>
          </a:p>
        </p:txBody>
      </p:sp>
      <p:grpSp>
        <p:nvGrpSpPr>
          <p:cNvPr id="16" name="グループ化 15">
            <a:extLst>
              <a:ext uri="{FF2B5EF4-FFF2-40B4-BE49-F238E27FC236}">
                <a16:creationId xmlns:a16="http://schemas.microsoft.com/office/drawing/2014/main" id="{F6DD54AE-1B95-F11B-4510-145BCBF33F68}"/>
              </a:ext>
            </a:extLst>
          </p:cNvPr>
          <p:cNvGrpSpPr/>
          <p:nvPr/>
        </p:nvGrpSpPr>
        <p:grpSpPr>
          <a:xfrm>
            <a:off x="497073" y="1579416"/>
            <a:ext cx="11197855" cy="4845087"/>
            <a:chOff x="497073" y="1579416"/>
            <a:chExt cx="11197855" cy="4845087"/>
          </a:xfrm>
        </p:grpSpPr>
        <p:grpSp>
          <p:nvGrpSpPr>
            <p:cNvPr id="5" name="グループ化 4">
              <a:extLst>
                <a:ext uri="{FF2B5EF4-FFF2-40B4-BE49-F238E27FC236}">
                  <a16:creationId xmlns:a16="http://schemas.microsoft.com/office/drawing/2014/main" id="{EAB301EA-9705-50C9-4AB5-5358955C1F99}"/>
                </a:ext>
              </a:extLst>
            </p:cNvPr>
            <p:cNvGrpSpPr/>
            <p:nvPr/>
          </p:nvGrpSpPr>
          <p:grpSpPr>
            <a:xfrm>
              <a:off x="497073" y="1579416"/>
              <a:ext cx="11197855" cy="863760"/>
              <a:chOff x="497073" y="1579416"/>
              <a:chExt cx="11197855" cy="863760"/>
            </a:xfrm>
          </p:grpSpPr>
          <p:sp>
            <p:nvSpPr>
              <p:cNvPr id="3" name="正方形/長方形 2">
                <a:extLst>
                  <a:ext uri="{FF2B5EF4-FFF2-40B4-BE49-F238E27FC236}">
                    <a16:creationId xmlns:a16="http://schemas.microsoft.com/office/drawing/2014/main" id="{4C3D14A0-85CE-A04E-AD58-9FF7FBBA0D10}"/>
                  </a:ext>
                </a:extLst>
              </p:cNvPr>
              <p:cNvSpPr/>
              <p:nvPr/>
            </p:nvSpPr>
            <p:spPr>
              <a:xfrm>
                <a:off x="1750949" y="1579416"/>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業務の効率化</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毎月発生している事務センターの</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CHK</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作業を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により自動化し、手作業による作業時間の削減（および見極め）を行う。</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業務の標準化と属人化の解消</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複雑なマニュアルや担当者に依存していた業務プロセスを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のワークフローとして可視化・標準化を行い、誰でも業務を回せる状態にする。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A267F817-0B17-4B04-7980-013F0F416C20}"/>
                  </a:ext>
                </a:extLst>
              </p:cNvPr>
              <p:cNvSpPr/>
              <p:nvPr/>
            </p:nvSpPr>
            <p:spPr>
              <a:xfrm>
                <a:off x="497073" y="158817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PRJ</a:t>
                </a:r>
                <a:r>
                  <a:rPr kumimoji="1" lang="ja-JP" altLang="en-US"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の目的</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5" name="グループ化 14">
              <a:extLst>
                <a:ext uri="{FF2B5EF4-FFF2-40B4-BE49-F238E27FC236}">
                  <a16:creationId xmlns:a16="http://schemas.microsoft.com/office/drawing/2014/main" id="{6FF2ACE0-F822-FEC9-74C6-76884A2D959F}"/>
                </a:ext>
              </a:extLst>
            </p:cNvPr>
            <p:cNvGrpSpPr/>
            <p:nvPr/>
          </p:nvGrpSpPr>
          <p:grpSpPr>
            <a:xfrm>
              <a:off x="497073" y="2574749"/>
              <a:ext cx="11197855" cy="863760"/>
              <a:chOff x="497073" y="2526256"/>
              <a:chExt cx="11197855" cy="863760"/>
            </a:xfrm>
          </p:grpSpPr>
          <p:sp>
            <p:nvSpPr>
              <p:cNvPr id="6" name="正方形/長方形 5">
                <a:extLst>
                  <a:ext uri="{FF2B5EF4-FFF2-40B4-BE49-F238E27FC236}">
                    <a16:creationId xmlns:a16="http://schemas.microsoft.com/office/drawing/2014/main" id="{36BC6979-E277-10F3-6E32-AD4DB0280DD7}"/>
                  </a:ext>
                </a:extLst>
              </p:cNvPr>
              <p:cNvSpPr/>
              <p:nvPr/>
            </p:nvSpPr>
            <p:spPr>
              <a:xfrm>
                <a:off x="1750949" y="2526256"/>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現新比較の完了と精度の証明</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既存の手作業（現）と</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による自動処理（新）を比較し、差分の特定および追加実装と許容範囲の精度となっているか確認する。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a:defRPr/>
                </a:pPr>
                <a:r>
                  <a:rPr lang="ja-JP" altLang="en-US" sz="1400" b="1" dirty="0">
                    <a:solidFill>
                      <a:srgbClr val="000000">
                        <a:lumMod val="65000"/>
                        <a:lumOff val="35000"/>
                      </a:srgbClr>
                    </a:solidFill>
                    <a:latin typeface="Meiryo UI" panose="020B0604030504040204" pitchFamily="50" charset="-128"/>
                    <a:ea typeface="Meiryo UI" panose="020B0604030504040204" pitchFamily="50" charset="-128"/>
                  </a:rPr>
                  <a:t>実務運用フローの確立</a:t>
                </a:r>
                <a:endParaRPr lang="en-US" altLang="ja-JP" sz="1400" b="1" dirty="0">
                  <a:solidFill>
                    <a:srgbClr val="000000">
                      <a:lumMod val="65000"/>
                      <a:lumOff val="35000"/>
                    </a:srgb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例外発生時（エラー時）の対応フローや、システム仕様変更時のメンテナンス手順を含めた運用マニュアルが整備されている。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BACBB12D-A6FE-628E-5AFE-F13E03569266}"/>
                  </a:ext>
                </a:extLst>
              </p:cNvPr>
              <p:cNvSpPr/>
              <p:nvPr/>
            </p:nvSpPr>
            <p:spPr>
              <a:xfrm>
                <a:off x="497073" y="253501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今期のゴール</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4" name="グループ化 13">
              <a:extLst>
                <a:ext uri="{FF2B5EF4-FFF2-40B4-BE49-F238E27FC236}">
                  <a16:creationId xmlns:a16="http://schemas.microsoft.com/office/drawing/2014/main" id="{95C42660-1096-915F-2D70-7CF856F572D8}"/>
                </a:ext>
              </a:extLst>
            </p:cNvPr>
            <p:cNvGrpSpPr/>
            <p:nvPr/>
          </p:nvGrpSpPr>
          <p:grpSpPr>
            <a:xfrm>
              <a:off x="497073" y="3570081"/>
              <a:ext cx="11197855" cy="863759"/>
              <a:chOff x="497073" y="3574697"/>
              <a:chExt cx="11197855" cy="863759"/>
            </a:xfrm>
          </p:grpSpPr>
          <p:sp>
            <p:nvSpPr>
              <p:cNvPr id="9" name="正方形/長方形 8">
                <a:extLst>
                  <a:ext uri="{FF2B5EF4-FFF2-40B4-BE49-F238E27FC236}">
                    <a16:creationId xmlns:a16="http://schemas.microsoft.com/office/drawing/2014/main" id="{A14C900F-C645-1F61-7333-EC6532D35EB9}"/>
                  </a:ext>
                </a:extLst>
              </p:cNvPr>
              <p:cNvSpPr/>
              <p:nvPr/>
            </p:nvSpPr>
            <p:spPr>
              <a:xfrm>
                <a:off x="1750949" y="3574697"/>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現新比較テストの伴走支援</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テスト計画のレビューおよび結果の妥当性を評価する。また、差分（エラー）発生時の原因究明と</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ワークフローの修正サポートを行う。</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運用ルール・マニュアル策定の支援</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自動化後の新しい</a:t>
                </a:r>
                <a:r>
                  <a:rPr lang="en-US" altLang="ja-JP" sz="1400" dirty="0" err="1">
                    <a:solidFill>
                      <a:srgbClr val="000000">
                        <a:lumMod val="65000"/>
                        <a:lumOff val="35000"/>
                      </a:srgbClr>
                    </a:solidFill>
                    <a:latin typeface="Meiryo UI" panose="020B0604030504040204" pitchFamily="50" charset="-128"/>
                    <a:ea typeface="Meiryo UI" panose="020B0604030504040204" pitchFamily="50" charset="-128"/>
                  </a:rPr>
                  <a:t>ToBe</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業務フローの整理を行う。</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D4FFC51A-4151-6DED-3468-86F59EC5B795}"/>
                  </a:ext>
                </a:extLst>
              </p:cNvPr>
              <p:cNvSpPr/>
              <p:nvPr/>
            </p:nvSpPr>
            <p:spPr>
              <a:xfrm>
                <a:off x="497073" y="358345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お願いしたい</a:t>
                </a:r>
                <a:br>
                  <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b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内容</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3" name="グループ化 12">
              <a:extLst>
                <a:ext uri="{FF2B5EF4-FFF2-40B4-BE49-F238E27FC236}">
                  <a16:creationId xmlns:a16="http://schemas.microsoft.com/office/drawing/2014/main" id="{89B7545B-D452-1D0B-CD7A-B838F9B75F1E}"/>
                </a:ext>
              </a:extLst>
            </p:cNvPr>
            <p:cNvGrpSpPr/>
            <p:nvPr/>
          </p:nvGrpSpPr>
          <p:grpSpPr>
            <a:xfrm>
              <a:off x="497073" y="4565412"/>
              <a:ext cx="11197855" cy="863759"/>
              <a:chOff x="497073" y="4623138"/>
              <a:chExt cx="11197855" cy="863759"/>
            </a:xfrm>
          </p:grpSpPr>
          <p:sp>
            <p:nvSpPr>
              <p:cNvPr id="11" name="正方形/長方形 10">
                <a:extLst>
                  <a:ext uri="{FF2B5EF4-FFF2-40B4-BE49-F238E27FC236}">
                    <a16:creationId xmlns:a16="http://schemas.microsoft.com/office/drawing/2014/main" id="{91834B8F-1226-8F0B-0A2E-277CC4F5BB73}"/>
                  </a:ext>
                </a:extLst>
              </p:cNvPr>
              <p:cNvSpPr/>
              <p:nvPr/>
            </p:nvSpPr>
            <p:spPr>
              <a:xfrm>
                <a:off x="1750949" y="4623138"/>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リソース：</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0.5</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人月入れる方を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2</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名</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期間：</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2</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3</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カ月程度</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スキル：業務フロー図の作成・整理スキルをお持ちだったり、</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AWS</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や</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400" dirty="0" err="1">
                    <a:solidFill>
                      <a:srgbClr val="000000">
                        <a:lumMod val="65000"/>
                        <a:lumOff val="35000"/>
                      </a:srgbClr>
                    </a:solidFill>
                    <a:latin typeface="Meiryo UI" panose="020B0604030504040204" pitchFamily="50" charset="-128"/>
                    <a:ea typeface="Meiryo UI" panose="020B0604030504040204" pitchFamily="50" charset="-128"/>
                  </a:rPr>
                  <a:t>orRPA</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ツール）などを触ったことがある方は歓迎</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2CD4BACA-2205-3F1D-030D-363476E78362}"/>
                  </a:ext>
                </a:extLst>
              </p:cNvPr>
              <p:cNvSpPr/>
              <p:nvPr/>
            </p:nvSpPr>
            <p:spPr>
              <a:xfrm>
                <a:off x="497073" y="4631898"/>
                <a:ext cx="1231357" cy="854999"/>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リソース・</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期間・スキル</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p:txBody>
          </p:sp>
        </p:grpSp>
        <p:grpSp>
          <p:nvGrpSpPr>
            <p:cNvPr id="8" name="グループ化 7">
              <a:extLst>
                <a:ext uri="{FF2B5EF4-FFF2-40B4-BE49-F238E27FC236}">
                  <a16:creationId xmlns:a16="http://schemas.microsoft.com/office/drawing/2014/main" id="{B0958AF3-EE85-E08F-8BA4-FA3BCA82794E}"/>
                </a:ext>
              </a:extLst>
            </p:cNvPr>
            <p:cNvGrpSpPr/>
            <p:nvPr/>
          </p:nvGrpSpPr>
          <p:grpSpPr>
            <a:xfrm>
              <a:off x="497073" y="5560744"/>
              <a:ext cx="11197855" cy="863759"/>
              <a:chOff x="497073" y="5560744"/>
              <a:chExt cx="11197855" cy="863759"/>
            </a:xfrm>
          </p:grpSpPr>
          <p:sp>
            <p:nvSpPr>
              <p:cNvPr id="20" name="正方形/長方形 19">
                <a:extLst>
                  <a:ext uri="{FF2B5EF4-FFF2-40B4-BE49-F238E27FC236}">
                    <a16:creationId xmlns:a16="http://schemas.microsoft.com/office/drawing/2014/main" id="{8805CD31-B3C3-025F-F08F-11829347FFC9}"/>
                  </a:ext>
                </a:extLst>
              </p:cNvPr>
              <p:cNvSpPr/>
              <p:nvPr/>
            </p:nvSpPr>
            <p:spPr>
              <a:xfrm>
                <a:off x="1750949" y="5560744"/>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のワークフロー</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運用マニュアル（業務フロー図）</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78CA9D7A-0BCB-2321-7284-ED21B04E6F69}"/>
                  </a:ext>
                </a:extLst>
              </p:cNvPr>
              <p:cNvSpPr/>
              <p:nvPr/>
            </p:nvSpPr>
            <p:spPr>
              <a:xfrm>
                <a:off x="497073" y="5569504"/>
                <a:ext cx="1231357" cy="854999"/>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成果物</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3486305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734F-F0BF-5070-8E83-50083703D5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0BA6BE-A4F4-42D4-3296-BE4759D42CA1}"/>
              </a:ext>
            </a:extLst>
          </p:cNvPr>
          <p:cNvSpPr>
            <a:spLocks noGrp="1"/>
          </p:cNvSpPr>
          <p:nvPr>
            <p:ph type="title"/>
          </p:nvPr>
        </p:nvSpPr>
        <p:spPr>
          <a:xfrm>
            <a:off x="203200" y="152403"/>
            <a:ext cx="9204569" cy="379413"/>
          </a:xfrm>
        </p:spPr>
        <p:txBody>
          <a:bodyPr anchor="ctr"/>
          <a:lstStyle/>
          <a:p>
            <a:r>
              <a:rPr lang="en-US" altLang="ja-JP" dirty="0" err="1"/>
              <a:t>ToBe</a:t>
            </a:r>
            <a:r>
              <a:rPr lang="ja-JP" altLang="en-US" dirty="0"/>
              <a:t>業務イメージ（顧客管理</a:t>
            </a:r>
            <a:r>
              <a:rPr lang="en-US" altLang="ja-JP" dirty="0"/>
              <a:t>G</a:t>
            </a:r>
            <a:r>
              <a:rPr lang="ja-JP" altLang="en-US" dirty="0"/>
              <a:t>）</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E6AF2586-74C5-8DFC-757C-903FAF98E2BE}"/>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3CC435F1-00F1-0266-6ABC-AEEB4AB6DEEA}"/>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企業情報を目検で確認する業務を完全に</a:t>
            </a:r>
            <a:r>
              <a:rPr lang="en-US" altLang="ja-JP" sz="1600" kern="0" dirty="0"/>
              <a:t>AI</a:t>
            </a:r>
            <a:r>
              <a:rPr lang="ja-JP" altLang="en-US" sz="1600" kern="0" dirty="0"/>
              <a:t>の</a:t>
            </a:r>
            <a:r>
              <a:rPr lang="en-US" altLang="ja-JP" sz="1600" kern="0" dirty="0"/>
              <a:t>Web</a:t>
            </a:r>
            <a:r>
              <a:rPr lang="ja-JP" altLang="en-US" sz="1600" kern="0" dirty="0"/>
              <a:t>クローリングによる自動化を実現した</a:t>
            </a:r>
          </a:p>
          <a:p>
            <a:pPr marL="285750" indent="-285750">
              <a:buFont typeface="Arial" panose="020B0604020202020204" pitchFamily="34" charset="0"/>
              <a:buChar char="•"/>
            </a:pPr>
            <a:r>
              <a:rPr lang="ja-JP" altLang="en-US" sz="1600" kern="0" dirty="0"/>
              <a:t>初期名寄せの</a:t>
            </a:r>
            <a:r>
              <a:rPr lang="en-US" altLang="ja-JP" sz="1600" kern="0" dirty="0"/>
              <a:t>30,000</a:t>
            </a:r>
            <a:r>
              <a:rPr lang="ja-JP" altLang="en-US" sz="1600" kern="0" dirty="0"/>
              <a:t>件目検調査を行う場合、約</a:t>
            </a:r>
            <a:r>
              <a:rPr lang="en-US" altLang="ja-JP" sz="1600" kern="0" dirty="0"/>
              <a:t>1,000</a:t>
            </a:r>
            <a:r>
              <a:rPr lang="ja-JP" altLang="en-US" sz="1600" kern="0" dirty="0"/>
              <a:t>時間（</a:t>
            </a:r>
            <a:r>
              <a:rPr lang="en-US" altLang="ja-JP" sz="1600" kern="0" dirty="0"/>
              <a:t>1</a:t>
            </a:r>
            <a:r>
              <a:rPr lang="ja-JP" altLang="en-US" sz="1600" kern="0" dirty="0"/>
              <a:t>件あたり</a:t>
            </a:r>
            <a:r>
              <a:rPr lang="en-US" altLang="ja-JP" sz="1600" kern="0" dirty="0"/>
              <a:t>2</a:t>
            </a:r>
            <a:r>
              <a:rPr lang="ja-JP" altLang="en-US" sz="1600" kern="0" dirty="0"/>
              <a:t>分削減）の人手作業の削減効果が見込める</a:t>
            </a:r>
          </a:p>
        </p:txBody>
      </p:sp>
      <p:grpSp>
        <p:nvGrpSpPr>
          <p:cNvPr id="3" name="グループ化 2">
            <a:extLst>
              <a:ext uri="{FF2B5EF4-FFF2-40B4-BE49-F238E27FC236}">
                <a16:creationId xmlns:a16="http://schemas.microsoft.com/office/drawing/2014/main" id="{3ECBE814-F6D8-844F-65F9-E135B88EBCE3}"/>
              </a:ext>
            </a:extLst>
          </p:cNvPr>
          <p:cNvGrpSpPr/>
          <p:nvPr/>
        </p:nvGrpSpPr>
        <p:grpSpPr>
          <a:xfrm>
            <a:off x="51519" y="1409204"/>
            <a:ext cx="12088962" cy="5139561"/>
            <a:chOff x="330408" y="1646158"/>
            <a:chExt cx="12088962" cy="5139561"/>
          </a:xfrm>
        </p:grpSpPr>
        <p:grpSp>
          <p:nvGrpSpPr>
            <p:cNvPr id="4" name="グループ化 3">
              <a:extLst>
                <a:ext uri="{FF2B5EF4-FFF2-40B4-BE49-F238E27FC236}">
                  <a16:creationId xmlns:a16="http://schemas.microsoft.com/office/drawing/2014/main" id="{6E388990-CB51-3A57-862A-34D76BEE3FF6}"/>
                </a:ext>
              </a:extLst>
            </p:cNvPr>
            <p:cNvGrpSpPr/>
            <p:nvPr/>
          </p:nvGrpSpPr>
          <p:grpSpPr>
            <a:xfrm>
              <a:off x="330408" y="1646158"/>
              <a:ext cx="10712088" cy="2523762"/>
              <a:chOff x="330408" y="1646158"/>
              <a:chExt cx="10712088" cy="2523762"/>
            </a:xfrm>
          </p:grpSpPr>
          <p:sp>
            <p:nvSpPr>
              <p:cNvPr id="65" name="矢印: 左右 64">
                <a:extLst>
                  <a:ext uri="{FF2B5EF4-FFF2-40B4-BE49-F238E27FC236}">
                    <a16:creationId xmlns:a16="http://schemas.microsoft.com/office/drawing/2014/main" id="{F6FACC1D-B0CC-8648-2BBE-9BCBAE56078E}"/>
                  </a:ext>
                </a:extLst>
              </p:cNvPr>
              <p:cNvSpPr/>
              <p:nvPr/>
            </p:nvSpPr>
            <p:spPr>
              <a:xfrm>
                <a:off x="4675966" y="1646158"/>
                <a:ext cx="6366529"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a:solidFill>
                      <a:schemeClr val="bg2">
                        <a:lumMod val="50000"/>
                      </a:schemeClr>
                    </a:solidFill>
                    <a:latin typeface="Meiryo UI" panose="020B0604030504040204" pitchFamily="50" charset="-128"/>
                    <a:ea typeface="Meiryo UI" panose="020B0604030504040204" pitchFamily="50" charset="-128"/>
                  </a:rPr>
                  <a:t>人による目検作業時間：</a:t>
                </a:r>
                <a:r>
                  <a:rPr lang="en-US" altLang="ja-JP" sz="800" b="1">
                    <a:solidFill>
                      <a:schemeClr val="bg2">
                        <a:lumMod val="50000"/>
                      </a:schemeClr>
                    </a:solidFill>
                    <a:latin typeface="Meiryo UI" panose="020B0604030504040204" pitchFamily="50" charset="-128"/>
                    <a:ea typeface="Meiryo UI" panose="020B0604030504040204" pitchFamily="50" charset="-128"/>
                  </a:rPr>
                  <a:t>5</a:t>
                </a:r>
                <a:r>
                  <a:rPr lang="ja-JP" altLang="en-US" sz="800" b="1">
                    <a:solidFill>
                      <a:schemeClr val="bg2">
                        <a:lumMod val="50000"/>
                      </a:schemeClr>
                    </a:solidFill>
                    <a:latin typeface="Meiryo UI" panose="020B0604030504040204" pitchFamily="50" charset="-128"/>
                    <a:ea typeface="Meiryo UI" panose="020B0604030504040204" pitchFamily="50" charset="-128"/>
                  </a:rPr>
                  <a:t>～</a:t>
                </a:r>
                <a:r>
                  <a:rPr lang="en-US" altLang="ja-JP" sz="800" b="1">
                    <a:solidFill>
                      <a:schemeClr val="bg2">
                        <a:lumMod val="50000"/>
                      </a:schemeClr>
                    </a:solidFill>
                    <a:latin typeface="Meiryo UI" panose="020B0604030504040204" pitchFamily="50" charset="-128"/>
                    <a:ea typeface="Meiryo UI" panose="020B0604030504040204" pitchFamily="50" charset="-128"/>
                  </a:rPr>
                  <a:t>10</a:t>
                </a:r>
                <a:r>
                  <a:rPr lang="ja-JP" altLang="en-US" sz="800" b="1">
                    <a:solidFill>
                      <a:schemeClr val="bg2">
                        <a:lumMod val="50000"/>
                      </a:schemeClr>
                    </a:solidFill>
                    <a:latin typeface="Meiryo UI" panose="020B0604030504040204" pitchFamily="50" charset="-128"/>
                    <a:ea typeface="Meiryo UI" panose="020B0604030504040204" pitchFamily="50" charset="-128"/>
                  </a:rPr>
                  <a:t>分程度</a:t>
                </a:r>
                <a:r>
                  <a:rPr lang="en-US" altLang="ja-JP" sz="800" b="1">
                    <a:solidFill>
                      <a:schemeClr val="bg2">
                        <a:lumMod val="50000"/>
                      </a:schemeClr>
                    </a:solidFill>
                    <a:latin typeface="Meiryo UI" panose="020B0604030504040204" pitchFamily="50" charset="-128"/>
                    <a:ea typeface="Meiryo UI" panose="020B0604030504040204" pitchFamily="50" charset="-128"/>
                  </a:rPr>
                  <a:t>/1</a:t>
                </a:r>
                <a:r>
                  <a:rPr lang="ja-JP" altLang="en-US" sz="800" b="1">
                    <a:solidFill>
                      <a:schemeClr val="bg2">
                        <a:lumMod val="50000"/>
                      </a:schemeClr>
                    </a:solidFill>
                    <a:latin typeface="Meiryo UI" panose="020B0604030504040204" pitchFamily="50" charset="-128"/>
                    <a:ea typeface="Meiryo UI" panose="020B0604030504040204" pitchFamily="50" charset="-128"/>
                  </a:rPr>
                  <a:t>件</a:t>
                </a:r>
              </a:p>
            </p:txBody>
          </p:sp>
          <p:sp>
            <p:nvSpPr>
              <p:cNvPr id="66" name="正方形/長方形 65">
                <a:extLst>
                  <a:ext uri="{FF2B5EF4-FFF2-40B4-BE49-F238E27FC236}">
                    <a16:creationId xmlns:a16="http://schemas.microsoft.com/office/drawing/2014/main" id="{308EB7AD-C648-BE04-52A8-A071F387421F}"/>
                  </a:ext>
                </a:extLst>
              </p:cNvPr>
              <p:cNvSpPr/>
              <p:nvPr/>
            </p:nvSpPr>
            <p:spPr bwMode="auto">
              <a:xfrm>
                <a:off x="330408" y="1850178"/>
                <a:ext cx="194770" cy="2310953"/>
              </a:xfrm>
              <a:prstGeom prst="rect">
                <a:avLst/>
              </a:prstGeom>
              <a:solidFill>
                <a:schemeClr val="tx1"/>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A</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S</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I</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S</a:t>
                </a:r>
                <a:endParaRPr kumimoji="0" lang="ja-JP" altLang="en-US"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67" name="正方形/長方形 66">
                <a:extLst>
                  <a:ext uri="{FF2B5EF4-FFF2-40B4-BE49-F238E27FC236}">
                    <a16:creationId xmlns:a16="http://schemas.microsoft.com/office/drawing/2014/main" id="{B07FDB1F-B217-F28B-0DD4-A1964E23F154}"/>
                  </a:ext>
                </a:extLst>
              </p:cNvPr>
              <p:cNvSpPr/>
              <p:nvPr/>
            </p:nvSpPr>
            <p:spPr>
              <a:xfrm>
                <a:off x="635643" y="1850178"/>
                <a:ext cx="1046518" cy="1521857"/>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担当者</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1C7F434C-3A89-3125-91D6-877967E469C8}"/>
                  </a:ext>
                </a:extLst>
              </p:cNvPr>
              <p:cNvSpPr/>
              <p:nvPr/>
            </p:nvSpPr>
            <p:spPr>
              <a:xfrm>
                <a:off x="635643" y="3428370"/>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システム</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69" name="直線矢印コネクタ 68">
                <a:extLst>
                  <a:ext uri="{FF2B5EF4-FFF2-40B4-BE49-F238E27FC236}">
                    <a16:creationId xmlns:a16="http://schemas.microsoft.com/office/drawing/2014/main" id="{13EDD9DE-058F-1D84-0444-6D3A071FB9C9}"/>
                  </a:ext>
                </a:extLst>
              </p:cNvPr>
              <p:cNvCxnSpPr>
                <a:cxnSpLocks/>
                <a:stCxn id="71" idx="1"/>
                <a:endCxn id="70" idx="2"/>
              </p:cNvCxnSpPr>
              <p:nvPr/>
            </p:nvCxnSpPr>
            <p:spPr>
              <a:xfrm flipV="1">
                <a:off x="2368955" y="2387437"/>
                <a:ext cx="0" cy="1424193"/>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12D4EC17-9496-24CF-1CAC-A5EDD21DABAC}"/>
                  </a:ext>
                </a:extLst>
              </p:cNvPr>
              <p:cNvSpPr/>
              <p:nvPr/>
            </p:nvSpPr>
            <p:spPr bwMode="auto">
              <a:xfrm>
                <a:off x="1796093"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目検リストファイル受領</a:t>
                </a:r>
              </a:p>
            </p:txBody>
          </p:sp>
          <p:sp>
            <p:nvSpPr>
              <p:cNvPr id="71" name="フローチャート: 磁気ディスク 70">
                <a:extLst>
                  <a:ext uri="{FF2B5EF4-FFF2-40B4-BE49-F238E27FC236}">
                    <a16:creationId xmlns:a16="http://schemas.microsoft.com/office/drawing/2014/main" id="{EFD7D804-155D-4EE2-B0EB-E45A9CB3747B}"/>
                  </a:ext>
                </a:extLst>
              </p:cNvPr>
              <p:cNvSpPr/>
              <p:nvPr/>
            </p:nvSpPr>
            <p:spPr bwMode="auto">
              <a:xfrm>
                <a:off x="1796093" y="3811630"/>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MEGAGON</a:t>
                </a:r>
                <a:r>
                  <a:rPr lang="ja-JP" altLang="en-US" sz="800">
                    <a:solidFill>
                      <a:schemeClr val="bg2">
                        <a:lumMod val="50000"/>
                      </a:schemeClr>
                    </a:solidFill>
                    <a:latin typeface="Meiryo UI" panose="020B0604030504040204" pitchFamily="50" charset="-128"/>
                    <a:ea typeface="Meiryo UI" panose="020B0604030504040204" pitchFamily="50" charset="-128"/>
                  </a:rPr>
                  <a:t>関連</a:t>
                </a:r>
              </a:p>
            </p:txBody>
          </p:sp>
          <p:grpSp>
            <p:nvGrpSpPr>
              <p:cNvPr id="72" name="グループ化 71">
                <a:extLst>
                  <a:ext uri="{FF2B5EF4-FFF2-40B4-BE49-F238E27FC236}">
                    <a16:creationId xmlns:a16="http://schemas.microsoft.com/office/drawing/2014/main" id="{405085A3-ED19-57ED-7897-208A77B7029F}"/>
                  </a:ext>
                </a:extLst>
              </p:cNvPr>
              <p:cNvGrpSpPr/>
              <p:nvPr/>
            </p:nvGrpSpPr>
            <p:grpSpPr>
              <a:xfrm>
                <a:off x="2085806" y="2792370"/>
                <a:ext cx="566299" cy="413377"/>
                <a:chOff x="2196261" y="2807759"/>
                <a:chExt cx="566299" cy="413377"/>
              </a:xfrm>
            </p:grpSpPr>
            <p:sp>
              <p:nvSpPr>
                <p:cNvPr id="110" name="フローチャート : 書類 22">
                  <a:extLst>
                    <a:ext uri="{FF2B5EF4-FFF2-40B4-BE49-F238E27FC236}">
                      <a16:creationId xmlns:a16="http://schemas.microsoft.com/office/drawing/2014/main" id="{25150E16-5554-F934-013E-573ED0969171}"/>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11" name="フローチャート : 書類 22">
                  <a:extLst>
                    <a:ext uri="{FF2B5EF4-FFF2-40B4-BE49-F238E27FC236}">
                      <a16:creationId xmlns:a16="http://schemas.microsoft.com/office/drawing/2014/main" id="{19147C04-6FBA-D827-9C2C-2E44AC962E80}"/>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92" name="フローチャート : 書類 22">
                  <a:extLst>
                    <a:ext uri="{FF2B5EF4-FFF2-40B4-BE49-F238E27FC236}">
                      <a16:creationId xmlns:a16="http://schemas.microsoft.com/office/drawing/2014/main" id="{49901696-1AEF-D733-755A-7EF4CC05E2A9}"/>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sp>
            <p:nvSpPr>
              <p:cNvPr id="73" name="フローチャート: 磁気ディスク 72">
                <a:extLst>
                  <a:ext uri="{FF2B5EF4-FFF2-40B4-BE49-F238E27FC236}">
                    <a16:creationId xmlns:a16="http://schemas.microsoft.com/office/drawing/2014/main" id="{DA08D6A7-0B18-2763-A476-49D629BB9278}"/>
                  </a:ext>
                </a:extLst>
              </p:cNvPr>
              <p:cNvSpPr/>
              <p:nvPr/>
            </p:nvSpPr>
            <p:spPr bwMode="auto">
              <a:xfrm>
                <a:off x="3269717" y="3811630"/>
                <a:ext cx="255197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E392D4A1-A88D-3D56-4F6B-782C7FB2B427}"/>
                  </a:ext>
                </a:extLst>
              </p:cNvPr>
              <p:cNvSpPr/>
              <p:nvPr/>
            </p:nvSpPr>
            <p:spPr bwMode="auto">
              <a:xfrm>
                <a:off x="3269717"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目検リストファイル格納</a:t>
                </a:r>
              </a:p>
            </p:txBody>
          </p:sp>
          <p:grpSp>
            <p:nvGrpSpPr>
              <p:cNvPr id="75" name="グループ化 74">
                <a:extLst>
                  <a:ext uri="{FF2B5EF4-FFF2-40B4-BE49-F238E27FC236}">
                    <a16:creationId xmlns:a16="http://schemas.microsoft.com/office/drawing/2014/main" id="{15C6B69F-E820-7D2C-B360-85A9DF33413F}"/>
                  </a:ext>
                </a:extLst>
              </p:cNvPr>
              <p:cNvGrpSpPr/>
              <p:nvPr/>
            </p:nvGrpSpPr>
            <p:grpSpPr>
              <a:xfrm>
                <a:off x="3546330" y="2794360"/>
                <a:ext cx="566299" cy="413377"/>
                <a:chOff x="2196261" y="2807759"/>
                <a:chExt cx="566299" cy="413377"/>
              </a:xfrm>
            </p:grpSpPr>
            <p:sp>
              <p:nvSpPr>
                <p:cNvPr id="107" name="フローチャート : 書類 22">
                  <a:extLst>
                    <a:ext uri="{FF2B5EF4-FFF2-40B4-BE49-F238E27FC236}">
                      <a16:creationId xmlns:a16="http://schemas.microsoft.com/office/drawing/2014/main" id="{E2046CDD-3A9D-0113-CB8C-53D7B4F1024C}"/>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8" name="フローチャート : 書類 22">
                  <a:extLst>
                    <a:ext uri="{FF2B5EF4-FFF2-40B4-BE49-F238E27FC236}">
                      <a16:creationId xmlns:a16="http://schemas.microsoft.com/office/drawing/2014/main" id="{14A60844-A8EB-E71C-96A5-6853F0526998}"/>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9" name="フローチャート : 書類 22">
                  <a:extLst>
                    <a:ext uri="{FF2B5EF4-FFF2-40B4-BE49-F238E27FC236}">
                      <a16:creationId xmlns:a16="http://schemas.microsoft.com/office/drawing/2014/main" id="{F718E10D-AAA5-B27F-13AF-9CF3F3E6242A}"/>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76" name="コネクタ: カギ線 5">
                <a:extLst>
                  <a:ext uri="{FF2B5EF4-FFF2-40B4-BE49-F238E27FC236}">
                    <a16:creationId xmlns:a16="http://schemas.microsoft.com/office/drawing/2014/main" id="{6D56777F-8EB5-C0DB-EC4B-1D85E58F1A57}"/>
                  </a:ext>
                </a:extLst>
              </p:cNvPr>
              <p:cNvCxnSpPr>
                <a:cxnSpLocks/>
                <a:stCxn id="70" idx="3"/>
                <a:endCxn id="74" idx="1"/>
              </p:cNvCxnSpPr>
              <p:nvPr/>
            </p:nvCxnSpPr>
            <p:spPr>
              <a:xfrm>
                <a:off x="2941817" y="2211811"/>
                <a:ext cx="327900" cy="0"/>
              </a:xfrm>
              <a:prstGeom prst="straightConnector1">
                <a:avLst/>
              </a:prstGeom>
              <a:noFill/>
              <a:ln w="6350" cap="flat" cmpd="sng" algn="ctr">
                <a:solidFill>
                  <a:srgbClr val="E7E6E6">
                    <a:lumMod val="50000"/>
                  </a:srgbClr>
                </a:solidFill>
                <a:prstDash val="solid"/>
                <a:miter lim="800000"/>
                <a:tailEnd type="triangle"/>
              </a:ln>
              <a:effectLst/>
            </p:spPr>
          </p:cxnSp>
          <p:sp>
            <p:nvSpPr>
              <p:cNvPr id="77" name="正方形/長方形 76">
                <a:extLst>
                  <a:ext uri="{FF2B5EF4-FFF2-40B4-BE49-F238E27FC236}">
                    <a16:creationId xmlns:a16="http://schemas.microsoft.com/office/drawing/2014/main" id="{AB186F82-BB62-80BC-5FBC-E545FCAAAB61}"/>
                  </a:ext>
                </a:extLst>
              </p:cNvPr>
              <p:cNvSpPr/>
              <p:nvPr/>
            </p:nvSpPr>
            <p:spPr bwMode="auto">
              <a:xfrm>
                <a:off x="4666339"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法人・個人事業主の</a:t>
                </a:r>
                <a:br>
                  <a:rPr lang="en-US" altLang="ja-JP" sz="800">
                    <a:solidFill>
                      <a:schemeClr val="bg2">
                        <a:lumMod val="50000"/>
                      </a:schemeClr>
                    </a:solidFill>
                    <a:latin typeface="Meiryo UI" panose="020B0604030504040204" pitchFamily="50" charset="-128"/>
                    <a:ea typeface="Meiryo UI" panose="020B0604030504040204" pitchFamily="50" charset="-128"/>
                  </a:rPr>
                </a:br>
                <a:r>
                  <a:rPr lang="ja-JP" altLang="en-US" sz="800">
                    <a:solidFill>
                      <a:schemeClr val="bg2">
                        <a:lumMod val="50000"/>
                      </a:schemeClr>
                    </a:solidFill>
                    <a:latin typeface="Meiryo UI" panose="020B0604030504040204" pitchFamily="50" charset="-128"/>
                    <a:ea typeface="Meiryo UI" panose="020B0604030504040204" pitchFamily="50" charset="-128"/>
                  </a:rPr>
                  <a:t>目検リスト内容確認</a:t>
                </a:r>
              </a:p>
            </p:txBody>
          </p:sp>
          <p:cxnSp>
            <p:nvCxnSpPr>
              <p:cNvPr id="78" name="コネクタ: カギ線 5">
                <a:extLst>
                  <a:ext uri="{FF2B5EF4-FFF2-40B4-BE49-F238E27FC236}">
                    <a16:creationId xmlns:a16="http://schemas.microsoft.com/office/drawing/2014/main" id="{B0A99768-8880-3C4B-23FB-ABDEAE61111E}"/>
                  </a:ext>
                </a:extLst>
              </p:cNvPr>
              <p:cNvCxnSpPr>
                <a:cxnSpLocks/>
                <a:stCxn id="74" idx="3"/>
                <a:endCxn id="77" idx="1"/>
              </p:cNvCxnSpPr>
              <p:nvPr/>
            </p:nvCxnSpPr>
            <p:spPr>
              <a:xfrm>
                <a:off x="4415441" y="2211811"/>
                <a:ext cx="250898" cy="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79" name="直線矢印コネクタ 78">
                <a:extLst>
                  <a:ext uri="{FF2B5EF4-FFF2-40B4-BE49-F238E27FC236}">
                    <a16:creationId xmlns:a16="http://schemas.microsoft.com/office/drawing/2014/main" id="{1366A911-9848-ED32-B9C0-89E4D7760BF2}"/>
                  </a:ext>
                </a:extLst>
              </p:cNvPr>
              <p:cNvCxnSpPr>
                <a:cxnSpLocks/>
                <a:stCxn id="74" idx="2"/>
              </p:cNvCxnSpPr>
              <p:nvPr/>
            </p:nvCxnSpPr>
            <p:spPr>
              <a:xfrm flipH="1">
                <a:off x="3829479" y="2387437"/>
                <a:ext cx="13100" cy="1423098"/>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80" name="グループ化 79">
                <a:extLst>
                  <a:ext uri="{FF2B5EF4-FFF2-40B4-BE49-F238E27FC236}">
                    <a16:creationId xmlns:a16="http://schemas.microsoft.com/office/drawing/2014/main" id="{C19B2AE7-542B-D649-BB3B-0ACD7D62BC77}"/>
                  </a:ext>
                </a:extLst>
              </p:cNvPr>
              <p:cNvGrpSpPr/>
              <p:nvPr/>
            </p:nvGrpSpPr>
            <p:grpSpPr>
              <a:xfrm>
                <a:off x="4956052" y="2395568"/>
                <a:ext cx="566299" cy="1423098"/>
                <a:chOff x="5033054" y="2395568"/>
                <a:chExt cx="566299" cy="1423098"/>
              </a:xfrm>
            </p:grpSpPr>
            <p:cxnSp>
              <p:nvCxnSpPr>
                <p:cNvPr id="102" name="直線矢印コネクタ 101">
                  <a:extLst>
                    <a:ext uri="{FF2B5EF4-FFF2-40B4-BE49-F238E27FC236}">
                      <a16:creationId xmlns:a16="http://schemas.microsoft.com/office/drawing/2014/main" id="{7013E6E4-F527-479B-2224-867C3495C392}"/>
                    </a:ext>
                  </a:extLst>
                </p:cNvPr>
                <p:cNvCxnSpPr>
                  <a:cxnSpLocks/>
                </p:cNvCxnSpPr>
                <p:nvPr/>
              </p:nvCxnSpPr>
              <p:spPr>
                <a:xfrm rot="10800000" flipH="1">
                  <a:off x="5316203" y="2395568"/>
                  <a:ext cx="13100" cy="1423098"/>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03" name="グループ化 102">
                  <a:extLst>
                    <a:ext uri="{FF2B5EF4-FFF2-40B4-BE49-F238E27FC236}">
                      <a16:creationId xmlns:a16="http://schemas.microsoft.com/office/drawing/2014/main" id="{4F643CEA-FBF5-5C84-A61A-DA808BB1C27B}"/>
                    </a:ext>
                  </a:extLst>
                </p:cNvPr>
                <p:cNvGrpSpPr/>
                <p:nvPr/>
              </p:nvGrpSpPr>
              <p:grpSpPr>
                <a:xfrm>
                  <a:off x="5033054" y="2801397"/>
                  <a:ext cx="566299" cy="413377"/>
                  <a:chOff x="2196261" y="2807759"/>
                  <a:chExt cx="566299" cy="413377"/>
                </a:xfrm>
              </p:grpSpPr>
              <p:sp>
                <p:nvSpPr>
                  <p:cNvPr id="104" name="フローチャート : 書類 22">
                    <a:extLst>
                      <a:ext uri="{FF2B5EF4-FFF2-40B4-BE49-F238E27FC236}">
                        <a16:creationId xmlns:a16="http://schemas.microsoft.com/office/drawing/2014/main" id="{223E0ADA-B88B-D297-1BA7-D8CBD55AF993}"/>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5" name="フローチャート : 書類 22">
                    <a:extLst>
                      <a:ext uri="{FF2B5EF4-FFF2-40B4-BE49-F238E27FC236}">
                        <a16:creationId xmlns:a16="http://schemas.microsoft.com/office/drawing/2014/main" id="{9ACC21CE-3133-EEEE-B9C0-87F25B398496}"/>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6" name="フローチャート : 書類 22">
                    <a:extLst>
                      <a:ext uri="{FF2B5EF4-FFF2-40B4-BE49-F238E27FC236}">
                        <a16:creationId xmlns:a16="http://schemas.microsoft.com/office/drawing/2014/main" id="{65452B9C-A82C-C889-62BC-EFDAD34C4229}"/>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grpSp>
          <p:cxnSp>
            <p:nvCxnSpPr>
              <p:cNvPr id="81" name="コネクタ: カギ線 5">
                <a:extLst>
                  <a:ext uri="{FF2B5EF4-FFF2-40B4-BE49-F238E27FC236}">
                    <a16:creationId xmlns:a16="http://schemas.microsoft.com/office/drawing/2014/main" id="{1DD8EBF5-F0E5-3FFC-7802-E734A6DB7AC7}"/>
                  </a:ext>
                </a:extLst>
              </p:cNvPr>
              <p:cNvCxnSpPr>
                <a:cxnSpLocks/>
                <a:stCxn id="77" idx="3"/>
              </p:cNvCxnSpPr>
              <p:nvPr/>
            </p:nvCxnSpPr>
            <p:spPr>
              <a:xfrm>
                <a:off x="5812063" y="2211811"/>
                <a:ext cx="404902" cy="0"/>
              </a:xfrm>
              <a:prstGeom prst="straightConnector1">
                <a:avLst/>
              </a:prstGeom>
              <a:noFill/>
              <a:ln w="6350" cap="flat" cmpd="sng" algn="ctr">
                <a:solidFill>
                  <a:srgbClr val="E7E6E6">
                    <a:lumMod val="50000"/>
                  </a:srgbClr>
                </a:solidFill>
                <a:prstDash val="solid"/>
                <a:miter lim="800000"/>
                <a:tailEnd type="triangle"/>
              </a:ln>
              <a:effectLst/>
            </p:spPr>
          </p:cxnSp>
          <p:grpSp>
            <p:nvGrpSpPr>
              <p:cNvPr id="82" name="グループ化 81">
                <a:extLst>
                  <a:ext uri="{FF2B5EF4-FFF2-40B4-BE49-F238E27FC236}">
                    <a16:creationId xmlns:a16="http://schemas.microsoft.com/office/drawing/2014/main" id="{32609330-42BC-FC69-428B-1398AD929154}"/>
                  </a:ext>
                </a:extLst>
              </p:cNvPr>
              <p:cNvGrpSpPr/>
              <p:nvPr/>
            </p:nvGrpSpPr>
            <p:grpSpPr>
              <a:xfrm>
                <a:off x="5925259" y="1883494"/>
                <a:ext cx="1056732" cy="656633"/>
                <a:chOff x="8173959" y="4428719"/>
                <a:chExt cx="721762" cy="448489"/>
              </a:xfrm>
            </p:grpSpPr>
            <p:sp>
              <p:nvSpPr>
                <p:cNvPr id="100" name="フローチャート: 判断 99">
                  <a:extLst>
                    <a:ext uri="{FF2B5EF4-FFF2-40B4-BE49-F238E27FC236}">
                      <a16:creationId xmlns:a16="http://schemas.microsoft.com/office/drawing/2014/main" id="{9F223B7F-B314-A3B2-60A5-B220FC7639DB}"/>
                    </a:ext>
                  </a:extLst>
                </p:cNvPr>
                <p:cNvSpPr/>
                <p:nvPr/>
              </p:nvSpPr>
              <p:spPr>
                <a:xfrm>
                  <a:off x="8200147" y="4428719"/>
                  <a:ext cx="669386" cy="448489"/>
                </a:xfrm>
                <a:prstGeom prst="flowChartDecision">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DCBE4005-3C5F-2222-05B8-DD91ACB0E04E}"/>
                    </a:ext>
                  </a:extLst>
                </p:cNvPr>
                <p:cNvSpPr/>
                <p:nvPr/>
              </p:nvSpPr>
              <p:spPr>
                <a:xfrm>
                  <a:off x="8173959" y="4480881"/>
                  <a:ext cx="721762" cy="344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法人企業か？</a:t>
                  </a:r>
                </a:p>
              </p:txBody>
            </p:sp>
          </p:grpSp>
          <p:sp>
            <p:nvSpPr>
              <p:cNvPr id="83" name="テキスト ボックス 50">
                <a:extLst>
                  <a:ext uri="{FF2B5EF4-FFF2-40B4-BE49-F238E27FC236}">
                    <a16:creationId xmlns:a16="http://schemas.microsoft.com/office/drawing/2014/main" id="{09F9BEF2-EC92-9C1C-CDB5-A14D47F9254E}"/>
                  </a:ext>
                </a:extLst>
              </p:cNvPr>
              <p:cNvSpPr txBox="1"/>
              <p:nvPr/>
            </p:nvSpPr>
            <p:spPr>
              <a:xfrm>
                <a:off x="6734833" y="1986108"/>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ja-JP"/>
                </a:defPPr>
                <a:lvl1pPr marR="0" lvl="0" algn="ctr" rtl="0">
                  <a:lnSpc>
                    <a:spcPct val="100000"/>
                  </a:lnSpc>
                  <a:spcBef>
                    <a:spcPts val="0"/>
                  </a:spcBef>
                  <a:spcAft>
                    <a:spcPts val="0"/>
                  </a:spcAft>
                  <a:buClr>
                    <a:srgbClr val="000000"/>
                  </a:buClr>
                  <a:buFont typeface="Arial"/>
                  <a:defRPr sz="800" b="0" i="0" u="none" strike="noStrike" cap="none">
                    <a:solidFill>
                      <a:schemeClr val="bg2">
                        <a:lumMod val="5000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US" altLang="ja-JP">
                    <a:latin typeface="Meiryo UI" panose="020B0604030504040204" pitchFamily="50" charset="-128"/>
                    <a:ea typeface="Meiryo UI" panose="020B0604030504040204" pitchFamily="50" charset="-128"/>
                  </a:rPr>
                  <a:t>Yes</a:t>
                </a:r>
                <a:endParaRPr lang="ja-JP" altLang="en-US">
                  <a:latin typeface="Meiryo UI" panose="020B0604030504040204" pitchFamily="50" charset="-128"/>
                  <a:ea typeface="Meiryo UI" panose="020B0604030504040204" pitchFamily="50" charset="-128"/>
                </a:endParaRPr>
              </a:p>
            </p:txBody>
          </p:sp>
          <p:sp>
            <p:nvSpPr>
              <p:cNvPr id="85" name="テキスト ボックス 51">
                <a:extLst>
                  <a:ext uri="{FF2B5EF4-FFF2-40B4-BE49-F238E27FC236}">
                    <a16:creationId xmlns:a16="http://schemas.microsoft.com/office/drawing/2014/main" id="{8DBB75D2-3679-B2A5-8653-576AE5E37DC6}"/>
                  </a:ext>
                </a:extLst>
              </p:cNvPr>
              <p:cNvSpPr txBox="1"/>
              <p:nvPr/>
            </p:nvSpPr>
            <p:spPr>
              <a:xfrm>
                <a:off x="6338893" y="2468863"/>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ja-JP"/>
                </a:defPPr>
                <a:lvl1pPr marR="0" lvl="0" algn="ctr" rtl="0">
                  <a:lnSpc>
                    <a:spcPct val="100000"/>
                  </a:lnSpc>
                  <a:spcBef>
                    <a:spcPts val="0"/>
                  </a:spcBef>
                  <a:spcAft>
                    <a:spcPts val="0"/>
                  </a:spcAft>
                  <a:buClr>
                    <a:srgbClr val="000000"/>
                  </a:buClr>
                  <a:buFont typeface="Arial"/>
                  <a:defRPr sz="800" b="0" i="0" u="none" strike="noStrike" cap="none">
                    <a:solidFill>
                      <a:schemeClr val="bg2">
                        <a:lumMod val="5000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US" altLang="ja-JP">
                    <a:latin typeface="Meiryo UI" panose="020B0604030504040204" pitchFamily="50" charset="-128"/>
                    <a:ea typeface="Meiryo UI" panose="020B0604030504040204" pitchFamily="50" charset="-128"/>
                  </a:rPr>
                  <a:t>No</a:t>
                </a:r>
                <a:endParaRPr lang="ja-JP" altLang="en-US">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D33FDE49-FC57-9B3B-2360-8DED5B491B95}"/>
                  </a:ext>
                </a:extLst>
              </p:cNvPr>
              <p:cNvSpPr/>
              <p:nvPr/>
            </p:nvSpPr>
            <p:spPr bwMode="auto">
              <a:xfrm>
                <a:off x="8424572"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国税庁のサイトに対して</a:t>
                </a:r>
                <a:endParaRPr lang="en-US" altLang="ja-JP" sz="80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法人名称で検索</a:t>
                </a:r>
              </a:p>
            </p:txBody>
          </p:sp>
          <p:cxnSp>
            <p:nvCxnSpPr>
              <p:cNvPr id="87" name="コネクタ: カギ線 5">
                <a:extLst>
                  <a:ext uri="{FF2B5EF4-FFF2-40B4-BE49-F238E27FC236}">
                    <a16:creationId xmlns:a16="http://schemas.microsoft.com/office/drawing/2014/main" id="{A2DC136A-E83E-4E18-277E-6A1C2C859DF4}"/>
                  </a:ext>
                </a:extLst>
              </p:cNvPr>
              <p:cNvCxnSpPr>
                <a:cxnSpLocks/>
                <a:stCxn id="100" idx="3"/>
                <a:endCxn id="86" idx="1"/>
              </p:cNvCxnSpPr>
              <p:nvPr/>
            </p:nvCxnSpPr>
            <p:spPr>
              <a:xfrm>
                <a:off x="6943649" y="2211811"/>
                <a:ext cx="1480923" cy="0"/>
              </a:xfrm>
              <a:prstGeom prst="straightConnector1">
                <a:avLst/>
              </a:prstGeom>
              <a:noFill/>
              <a:ln w="6350" cap="flat" cmpd="sng" algn="ctr">
                <a:solidFill>
                  <a:srgbClr val="E7E6E6">
                    <a:lumMod val="50000"/>
                  </a:srgbClr>
                </a:solidFill>
                <a:prstDash val="solid"/>
                <a:miter lim="800000"/>
                <a:tailEnd type="triangle"/>
              </a:ln>
              <a:effectLst/>
            </p:spPr>
          </p:cxnSp>
          <p:sp>
            <p:nvSpPr>
              <p:cNvPr id="88" name="正方形/長方形 87">
                <a:extLst>
                  <a:ext uri="{FF2B5EF4-FFF2-40B4-BE49-F238E27FC236}">
                    <a16:creationId xmlns:a16="http://schemas.microsoft.com/office/drawing/2014/main" id="{2CEE1962-33CE-0E18-57B9-F1C6F58BC484}"/>
                  </a:ext>
                </a:extLst>
              </p:cNvPr>
              <p:cNvSpPr/>
              <p:nvPr/>
            </p:nvSpPr>
            <p:spPr bwMode="auto">
              <a:xfrm>
                <a:off x="7023046" y="282765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個人事業名で</a:t>
                </a:r>
                <a:br>
                  <a:rPr lang="en-US" altLang="ja-JP" sz="800">
                    <a:solidFill>
                      <a:schemeClr val="bg2">
                        <a:lumMod val="50000"/>
                      </a:schemeClr>
                    </a:solidFill>
                    <a:latin typeface="Meiryo UI" panose="020B0604030504040204" pitchFamily="50" charset="-128"/>
                    <a:ea typeface="Meiryo UI" panose="020B0604030504040204" pitchFamily="50" charset="-128"/>
                  </a:rPr>
                </a:br>
                <a:r>
                  <a:rPr lang="ja-JP" altLang="en-US" sz="800">
                    <a:solidFill>
                      <a:schemeClr val="bg2">
                        <a:lumMod val="50000"/>
                      </a:schemeClr>
                    </a:solidFill>
                    <a:latin typeface="Meiryo UI" panose="020B0604030504040204" pitchFamily="50" charset="-128"/>
                    <a:ea typeface="Meiryo UI" panose="020B0604030504040204" pitchFamily="50" charset="-128"/>
                  </a:rPr>
                  <a:t>ネットを検索</a:t>
                </a:r>
              </a:p>
            </p:txBody>
          </p:sp>
          <p:cxnSp>
            <p:nvCxnSpPr>
              <p:cNvPr id="89" name="コネクタ: カギ線 88">
                <a:extLst>
                  <a:ext uri="{FF2B5EF4-FFF2-40B4-BE49-F238E27FC236}">
                    <a16:creationId xmlns:a16="http://schemas.microsoft.com/office/drawing/2014/main" id="{E0184832-8157-3EC8-50D5-CA2851272F65}"/>
                  </a:ext>
                </a:extLst>
              </p:cNvPr>
              <p:cNvCxnSpPr>
                <a:cxnSpLocks/>
                <a:stCxn id="100" idx="2"/>
                <a:endCxn id="88" idx="1"/>
              </p:cNvCxnSpPr>
              <p:nvPr/>
            </p:nvCxnSpPr>
            <p:spPr>
              <a:xfrm rot="16200000" flipH="1">
                <a:off x="6506758" y="2486993"/>
                <a:ext cx="463154" cy="569421"/>
              </a:xfrm>
              <a:prstGeom prst="bentConnector2">
                <a:avLst/>
              </a:prstGeom>
              <a:noFill/>
              <a:ln w="6350" cap="flat" cmpd="sng" algn="ctr">
                <a:solidFill>
                  <a:srgbClr val="E7E6E6">
                    <a:lumMod val="50000"/>
                  </a:srgbClr>
                </a:solidFill>
                <a:prstDash val="solid"/>
                <a:miter lim="800000"/>
                <a:tailEnd type="triangle"/>
              </a:ln>
              <a:effectLst/>
            </p:spPr>
          </p:cxnSp>
          <p:sp>
            <p:nvSpPr>
              <p:cNvPr id="90" name="フローチャート: 磁気ディスク 89">
                <a:extLst>
                  <a:ext uri="{FF2B5EF4-FFF2-40B4-BE49-F238E27FC236}">
                    <a16:creationId xmlns:a16="http://schemas.microsoft.com/office/drawing/2014/main" id="{274F1F7A-5DF8-527B-2993-83972398137C}"/>
                  </a:ext>
                </a:extLst>
              </p:cNvPr>
              <p:cNvSpPr/>
              <p:nvPr/>
            </p:nvSpPr>
            <p:spPr bwMode="auto">
              <a:xfrm>
                <a:off x="7023047" y="3811630"/>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Internet</a:t>
                </a:r>
                <a:r>
                  <a:rPr lang="ja-JP" altLang="en-US" sz="800">
                    <a:solidFill>
                      <a:schemeClr val="bg2">
                        <a:lumMod val="50000"/>
                      </a:schemeClr>
                    </a:solidFill>
                    <a:latin typeface="Meiryo UI" panose="020B0604030504040204" pitchFamily="50" charset="-128"/>
                    <a:ea typeface="Meiryo UI" panose="020B0604030504040204" pitchFamily="50" charset="-128"/>
                  </a:rPr>
                  <a:t>（</a:t>
                </a:r>
                <a:r>
                  <a:rPr lang="en-US" altLang="ja-JP" sz="800">
                    <a:solidFill>
                      <a:schemeClr val="bg2">
                        <a:lumMod val="50000"/>
                      </a:schemeClr>
                    </a:solidFill>
                    <a:latin typeface="Meiryo UI" panose="020B0604030504040204" pitchFamily="50" charset="-128"/>
                    <a:ea typeface="Meiryo UI" panose="020B0604030504040204" pitchFamily="50" charset="-128"/>
                  </a:rPr>
                  <a:t>SNS</a:t>
                </a:r>
                <a:r>
                  <a:rPr lang="ja-JP" altLang="en-US" sz="800">
                    <a:solidFill>
                      <a:schemeClr val="bg2">
                        <a:lumMod val="50000"/>
                      </a:schemeClr>
                    </a:solidFill>
                    <a:latin typeface="Meiryo UI" panose="020B0604030504040204" pitchFamily="50" charset="-128"/>
                    <a:ea typeface="Meiryo UI" panose="020B0604030504040204" pitchFamily="50" charset="-128"/>
                  </a:rPr>
                  <a:t>など）</a:t>
                </a:r>
              </a:p>
            </p:txBody>
          </p:sp>
          <p:sp>
            <p:nvSpPr>
              <p:cNvPr id="91" name="フローチャート: 磁気ディスク 90">
                <a:extLst>
                  <a:ext uri="{FF2B5EF4-FFF2-40B4-BE49-F238E27FC236}">
                    <a16:creationId xmlns:a16="http://schemas.microsoft.com/office/drawing/2014/main" id="{E5B90B6C-AC5F-13D7-B574-CA4C6D685B29}"/>
                  </a:ext>
                </a:extLst>
              </p:cNvPr>
              <p:cNvSpPr/>
              <p:nvPr/>
            </p:nvSpPr>
            <p:spPr bwMode="auto">
              <a:xfrm>
                <a:off x="8424572" y="3811629"/>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国税庁</a:t>
                </a:r>
              </a:p>
            </p:txBody>
          </p:sp>
          <p:cxnSp>
            <p:nvCxnSpPr>
              <p:cNvPr id="92" name="直線矢印コネクタ 91">
                <a:extLst>
                  <a:ext uri="{FF2B5EF4-FFF2-40B4-BE49-F238E27FC236}">
                    <a16:creationId xmlns:a16="http://schemas.microsoft.com/office/drawing/2014/main" id="{87BCEB01-B290-B21E-E92E-BD0CCCC0BB4A}"/>
                  </a:ext>
                </a:extLst>
              </p:cNvPr>
              <p:cNvCxnSpPr>
                <a:cxnSpLocks/>
                <a:stCxn id="90" idx="1"/>
                <a:endCxn id="88" idx="2"/>
              </p:cNvCxnSpPr>
              <p:nvPr/>
            </p:nvCxnSpPr>
            <p:spPr>
              <a:xfrm flipH="1" flipV="1">
                <a:off x="7595908" y="3178907"/>
                <a:ext cx="1" cy="632723"/>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3" name="直線矢印コネクタ 92">
                <a:extLst>
                  <a:ext uri="{FF2B5EF4-FFF2-40B4-BE49-F238E27FC236}">
                    <a16:creationId xmlns:a16="http://schemas.microsoft.com/office/drawing/2014/main" id="{7C933322-B202-2AF2-6A43-3AD53260E423}"/>
                  </a:ext>
                </a:extLst>
              </p:cNvPr>
              <p:cNvCxnSpPr>
                <a:cxnSpLocks/>
                <a:stCxn id="91" idx="1"/>
                <a:endCxn id="86" idx="2"/>
              </p:cNvCxnSpPr>
              <p:nvPr/>
            </p:nvCxnSpPr>
            <p:spPr>
              <a:xfrm flipV="1">
                <a:off x="8997434" y="2387437"/>
                <a:ext cx="0" cy="1424192"/>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02956E21-EC78-989C-7BA9-000FB0E4B0BD}"/>
                  </a:ext>
                </a:extLst>
              </p:cNvPr>
              <p:cNvCxnSpPr>
                <a:cxnSpLocks/>
                <a:stCxn id="88" idx="3"/>
                <a:endCxn id="95" idx="1"/>
              </p:cNvCxnSpPr>
              <p:nvPr/>
            </p:nvCxnSpPr>
            <p:spPr>
              <a:xfrm flipV="1">
                <a:off x="8168770" y="2211810"/>
                <a:ext cx="1728002" cy="791471"/>
              </a:xfrm>
              <a:prstGeom prst="bentConnector3">
                <a:avLst>
                  <a:gd name="adj1" fmla="val 89320"/>
                </a:avLst>
              </a:prstGeom>
              <a:noFill/>
              <a:ln w="6350" cap="flat" cmpd="sng" algn="ctr">
                <a:solidFill>
                  <a:srgbClr val="E7E6E6">
                    <a:lumMod val="50000"/>
                  </a:srgbClr>
                </a:solidFill>
                <a:prstDash val="solid"/>
                <a:miter lim="800000"/>
                <a:tailEnd type="triangle"/>
              </a:ln>
              <a:effectLst/>
            </p:spPr>
          </p:cxnSp>
          <p:sp>
            <p:nvSpPr>
              <p:cNvPr id="95" name="正方形/長方形 94">
                <a:extLst>
                  <a:ext uri="{FF2B5EF4-FFF2-40B4-BE49-F238E27FC236}">
                    <a16:creationId xmlns:a16="http://schemas.microsoft.com/office/drawing/2014/main" id="{32753E25-FEBA-30E5-EEF0-7540E57DCEAB}"/>
                  </a:ext>
                </a:extLst>
              </p:cNvPr>
              <p:cNvSpPr/>
              <p:nvPr/>
            </p:nvSpPr>
            <p:spPr bwMode="auto">
              <a:xfrm>
                <a:off x="9896772" y="2036183"/>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調査結果を書き込み</a:t>
                </a:r>
              </a:p>
            </p:txBody>
          </p:sp>
          <p:cxnSp>
            <p:nvCxnSpPr>
              <p:cNvPr id="96" name="コネクタ: カギ線 5">
                <a:extLst>
                  <a:ext uri="{FF2B5EF4-FFF2-40B4-BE49-F238E27FC236}">
                    <a16:creationId xmlns:a16="http://schemas.microsoft.com/office/drawing/2014/main" id="{17A5D075-8E11-B926-4380-DFD140799760}"/>
                  </a:ext>
                </a:extLst>
              </p:cNvPr>
              <p:cNvCxnSpPr>
                <a:cxnSpLocks/>
                <a:stCxn id="86" idx="3"/>
                <a:endCxn id="95" idx="1"/>
              </p:cNvCxnSpPr>
              <p:nvPr/>
            </p:nvCxnSpPr>
            <p:spPr>
              <a:xfrm flipV="1">
                <a:off x="9570296" y="2211810"/>
                <a:ext cx="326476" cy="1"/>
              </a:xfrm>
              <a:prstGeom prst="straightConnector1">
                <a:avLst/>
              </a:prstGeom>
              <a:noFill/>
              <a:ln w="6350" cap="flat" cmpd="sng" algn="ctr">
                <a:solidFill>
                  <a:srgbClr val="E7E6E6">
                    <a:lumMod val="50000"/>
                  </a:srgbClr>
                </a:solidFill>
                <a:prstDash val="solid"/>
                <a:miter lim="800000"/>
                <a:tailEnd type="triangle"/>
              </a:ln>
              <a:effectLst/>
            </p:spPr>
          </p:cxnSp>
          <p:sp>
            <p:nvSpPr>
              <p:cNvPr id="97" name="フリーフォーム: 図形 96">
                <a:extLst>
                  <a:ext uri="{FF2B5EF4-FFF2-40B4-BE49-F238E27FC236}">
                    <a16:creationId xmlns:a16="http://schemas.microsoft.com/office/drawing/2014/main" id="{1B90DA08-CD9A-326C-237B-EC9CB993B5B3}"/>
                  </a:ext>
                </a:extLst>
              </p:cNvPr>
              <p:cNvSpPr>
                <a:spLocks/>
              </p:cNvSpPr>
              <p:nvPr/>
            </p:nvSpPr>
            <p:spPr bwMode="auto">
              <a:xfrm>
                <a:off x="8956900" y="2952107"/>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98" name="フローチャート: 磁気ディスク 97">
                <a:extLst>
                  <a:ext uri="{FF2B5EF4-FFF2-40B4-BE49-F238E27FC236}">
                    <a16:creationId xmlns:a16="http://schemas.microsoft.com/office/drawing/2014/main" id="{9569C5A7-9047-3577-67A1-6DE830C1D9F5}"/>
                  </a:ext>
                </a:extLst>
              </p:cNvPr>
              <p:cNvSpPr/>
              <p:nvPr/>
            </p:nvSpPr>
            <p:spPr bwMode="auto">
              <a:xfrm>
                <a:off x="9896772" y="3818667"/>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cxnSp>
            <p:nvCxnSpPr>
              <p:cNvPr id="99" name="直線矢印コネクタ 98">
                <a:extLst>
                  <a:ext uri="{FF2B5EF4-FFF2-40B4-BE49-F238E27FC236}">
                    <a16:creationId xmlns:a16="http://schemas.microsoft.com/office/drawing/2014/main" id="{E949221C-8F61-7D0F-3946-5EF6EC5463BC}"/>
                  </a:ext>
                </a:extLst>
              </p:cNvPr>
              <p:cNvCxnSpPr>
                <a:cxnSpLocks/>
                <a:stCxn id="95" idx="2"/>
                <a:endCxn id="98" idx="1"/>
              </p:cNvCxnSpPr>
              <p:nvPr/>
            </p:nvCxnSpPr>
            <p:spPr>
              <a:xfrm>
                <a:off x="10469634" y="2387436"/>
                <a:ext cx="0" cy="1431231"/>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5" name="グループ化 4">
              <a:extLst>
                <a:ext uri="{FF2B5EF4-FFF2-40B4-BE49-F238E27FC236}">
                  <a16:creationId xmlns:a16="http://schemas.microsoft.com/office/drawing/2014/main" id="{865F38D7-3BE8-6393-A576-84BB414E60AA}"/>
                </a:ext>
              </a:extLst>
            </p:cNvPr>
            <p:cNvGrpSpPr/>
            <p:nvPr/>
          </p:nvGrpSpPr>
          <p:grpSpPr>
            <a:xfrm>
              <a:off x="330408" y="4255941"/>
              <a:ext cx="12088962" cy="2529778"/>
              <a:chOff x="330408" y="4255941"/>
              <a:chExt cx="12088962" cy="2529778"/>
            </a:xfrm>
          </p:grpSpPr>
          <p:cxnSp>
            <p:nvCxnSpPr>
              <p:cNvPr id="6" name="直線コネクタ 5">
                <a:extLst>
                  <a:ext uri="{FF2B5EF4-FFF2-40B4-BE49-F238E27FC236}">
                    <a16:creationId xmlns:a16="http://schemas.microsoft.com/office/drawing/2014/main" id="{759622B7-B960-7A3D-6D41-68741F020523}"/>
                  </a:ext>
                </a:extLst>
              </p:cNvPr>
              <p:cNvCxnSpPr>
                <a:cxnSpLocks/>
              </p:cNvCxnSpPr>
              <p:nvPr/>
            </p:nvCxnSpPr>
            <p:spPr>
              <a:xfrm>
                <a:off x="330408" y="4255941"/>
                <a:ext cx="12088962" cy="0"/>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DCF22455-DB24-BFEE-4B89-C24ED60E287B}"/>
                  </a:ext>
                </a:extLst>
              </p:cNvPr>
              <p:cNvSpPr/>
              <p:nvPr/>
            </p:nvSpPr>
            <p:spPr bwMode="auto">
              <a:xfrm>
                <a:off x="330408" y="4462779"/>
                <a:ext cx="194770" cy="2310953"/>
              </a:xfrm>
              <a:prstGeom prst="rect">
                <a:avLst/>
              </a:prstGeom>
              <a:solidFill>
                <a:schemeClr val="tx1"/>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T</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O</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B</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E</a:t>
                </a:r>
              </a:p>
            </p:txBody>
          </p:sp>
          <p:grpSp>
            <p:nvGrpSpPr>
              <p:cNvPr id="8" name="グループ化 7">
                <a:extLst>
                  <a:ext uri="{FF2B5EF4-FFF2-40B4-BE49-F238E27FC236}">
                    <a16:creationId xmlns:a16="http://schemas.microsoft.com/office/drawing/2014/main" id="{48AD683F-0B5C-F2BD-5B54-E2A1D872589B}"/>
                  </a:ext>
                </a:extLst>
              </p:cNvPr>
              <p:cNvGrpSpPr/>
              <p:nvPr/>
            </p:nvGrpSpPr>
            <p:grpSpPr>
              <a:xfrm>
                <a:off x="6364267" y="4574915"/>
                <a:ext cx="3198593" cy="701252"/>
                <a:chOff x="5462893" y="4574915"/>
                <a:chExt cx="3198593" cy="701252"/>
              </a:xfrm>
            </p:grpSpPr>
            <p:pic>
              <p:nvPicPr>
                <p:cNvPr id="63" name="グラフィックス 62" descr="ロボット 単色塗りつぶし">
                  <a:extLst>
                    <a:ext uri="{FF2B5EF4-FFF2-40B4-BE49-F238E27FC236}">
                      <a16:creationId xmlns:a16="http://schemas.microsoft.com/office/drawing/2014/main" id="{6C05DD0E-D08A-F7BC-4115-78880BD4D6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62893" y="4912260"/>
                  <a:ext cx="363907" cy="363907"/>
                </a:xfrm>
                <a:prstGeom prst="rect">
                  <a:avLst/>
                </a:prstGeom>
              </p:spPr>
            </p:pic>
            <p:sp>
              <p:nvSpPr>
                <p:cNvPr id="64" name="線吹き出し 1 (枠付き) 41">
                  <a:extLst>
                    <a:ext uri="{FF2B5EF4-FFF2-40B4-BE49-F238E27FC236}">
                      <a16:creationId xmlns:a16="http://schemas.microsoft.com/office/drawing/2014/main" id="{18FEECAF-E94A-7C0C-A61C-EB0D3AF4B558}"/>
                    </a:ext>
                  </a:extLst>
                </p:cNvPr>
                <p:cNvSpPr/>
                <p:nvPr/>
              </p:nvSpPr>
              <p:spPr bwMode="auto">
                <a:xfrm>
                  <a:off x="6187294" y="4574915"/>
                  <a:ext cx="2474192" cy="675259"/>
                </a:xfrm>
                <a:prstGeom prst="borderCallout1">
                  <a:avLst>
                    <a:gd name="adj1" fmla="val 35937"/>
                    <a:gd name="adj2" fmla="val 96"/>
                    <a:gd name="adj3" fmla="val 68415"/>
                    <a:gd name="adj4" fmla="val -15943"/>
                  </a:avLst>
                </a:prstGeom>
                <a:solidFill>
                  <a:srgbClr val="FEECFE"/>
                </a:solidFill>
                <a:ln w="9525" cap="flat" cmpd="sng" algn="ctr">
                  <a:solidFill>
                    <a:srgbClr val="FF0000"/>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bodyPr>
                <a:lstStyle/>
                <a:p>
                  <a:r>
                    <a:rPr lang="en-US" altLang="ja-JP" sz="1100" err="1">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法人検索は国税のサイトをAPIで取得</a:t>
                  </a:r>
                </a:p>
                <a:p>
                  <a:pPr>
                    <a:spcBef>
                      <a:spcPts val="0"/>
                    </a:spcBef>
                    <a:spcAft>
                      <a:spcPts val="0"/>
                    </a:spcAft>
                  </a:pPr>
                  <a:r>
                    <a:rPr kumimoji="0" lang="ja-JP" altLang="en-US" sz="11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個人企業</a:t>
                  </a:r>
                  <a:r>
                    <a:rPr lang="ja-JP" altLang="en-US" sz="110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検索はWeb</a:t>
                  </a:r>
                  <a:r>
                    <a:rPr kumimoji="0" lang="ja-JP" altLang="en-US" sz="11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クローリング</a:t>
                  </a:r>
                  <a:endParaRPr lang="en-US" altLang="ja-JP" sz="11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p:txBody>
            </p:sp>
          </p:grpSp>
          <p:sp>
            <p:nvSpPr>
              <p:cNvPr id="9" name="正方形/長方形 8">
                <a:extLst>
                  <a:ext uri="{FF2B5EF4-FFF2-40B4-BE49-F238E27FC236}">
                    <a16:creationId xmlns:a16="http://schemas.microsoft.com/office/drawing/2014/main" id="{806FA76E-D26D-7BBF-DC26-4F123140417F}"/>
                  </a:ext>
                </a:extLst>
              </p:cNvPr>
              <p:cNvSpPr/>
              <p:nvPr/>
            </p:nvSpPr>
            <p:spPr>
              <a:xfrm>
                <a:off x="635643" y="4462779"/>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担当者</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ACEBEA61-29A9-CEE8-0758-5B6440C70E79}"/>
                  </a:ext>
                </a:extLst>
              </p:cNvPr>
              <p:cNvSpPr/>
              <p:nvPr/>
            </p:nvSpPr>
            <p:spPr>
              <a:xfrm>
                <a:off x="635643" y="5251874"/>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a:r>
                  <a:rPr lang="en-US" altLang="ja-JP" sz="1200">
                    <a:solidFill>
                      <a:srgbClr val="FF0000"/>
                    </a:solidFill>
                    <a:latin typeface="Meiryo UI" panose="020B0604030504040204" pitchFamily="50" charset="-128"/>
                    <a:ea typeface="Meiryo UI" panose="020B0604030504040204" pitchFamily="50" charset="-128"/>
                  </a:rPr>
                  <a:t>AI</a:t>
                </a:r>
              </a:p>
            </p:txBody>
          </p:sp>
          <p:sp>
            <p:nvSpPr>
              <p:cNvPr id="11" name="正方形/長方形 10">
                <a:extLst>
                  <a:ext uri="{FF2B5EF4-FFF2-40B4-BE49-F238E27FC236}">
                    <a16:creationId xmlns:a16="http://schemas.microsoft.com/office/drawing/2014/main" id="{BDB363BA-8111-8A39-5623-A4E1F8BFE5CC}"/>
                  </a:ext>
                </a:extLst>
              </p:cNvPr>
              <p:cNvSpPr/>
              <p:nvPr/>
            </p:nvSpPr>
            <p:spPr>
              <a:xfrm>
                <a:off x="635643" y="6040970"/>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システム</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2" name="コネクタ: カギ線 5">
                <a:extLst>
                  <a:ext uri="{FF2B5EF4-FFF2-40B4-BE49-F238E27FC236}">
                    <a16:creationId xmlns:a16="http://schemas.microsoft.com/office/drawing/2014/main" id="{70C7AEDC-D82A-1DEA-AAAB-8CE724A0F38C}"/>
                  </a:ext>
                </a:extLst>
              </p:cNvPr>
              <p:cNvCxnSpPr>
                <a:cxnSpLocks/>
                <a:stCxn id="61" idx="2"/>
                <a:endCxn id="19" idx="1"/>
              </p:cNvCxnSpPr>
              <p:nvPr/>
            </p:nvCxnSpPr>
            <p:spPr>
              <a:xfrm rot="16200000" flipH="1">
                <a:off x="6713133" y="5688620"/>
                <a:ext cx="50404" cy="569421"/>
              </a:xfrm>
              <a:prstGeom prst="bentConnector2">
                <a:avLst/>
              </a:prstGeom>
              <a:noFill/>
              <a:ln w="6350" cap="flat" cmpd="sng" algn="ctr">
                <a:solidFill>
                  <a:srgbClr val="E7E6E6">
                    <a:lumMod val="50000"/>
                  </a:srgbClr>
                </a:solidFill>
                <a:prstDash val="solid"/>
                <a:miter lim="800000"/>
                <a:tailEnd type="triangle"/>
              </a:ln>
              <a:effectLst/>
            </p:spPr>
          </p:cxnSp>
          <p:cxnSp>
            <p:nvCxnSpPr>
              <p:cNvPr id="13" name="コネクタ: カギ線 5">
                <a:extLst>
                  <a:ext uri="{FF2B5EF4-FFF2-40B4-BE49-F238E27FC236}">
                    <a16:creationId xmlns:a16="http://schemas.microsoft.com/office/drawing/2014/main" id="{DB647737-C7FE-E493-3E13-194E2F4B2A0C}"/>
                  </a:ext>
                </a:extLst>
              </p:cNvPr>
              <p:cNvCxnSpPr>
                <a:cxnSpLocks/>
                <a:stCxn id="17" idx="3"/>
                <a:endCxn id="42" idx="1"/>
              </p:cNvCxnSpPr>
              <p:nvPr/>
            </p:nvCxnSpPr>
            <p:spPr>
              <a:xfrm flipV="1">
                <a:off x="9570296" y="5615799"/>
                <a:ext cx="326476" cy="4014"/>
              </a:xfrm>
              <a:prstGeom prst="straightConnector1">
                <a:avLst/>
              </a:prstGeom>
              <a:noFill/>
              <a:ln w="6350" cap="flat" cmpd="sng" algn="ctr">
                <a:solidFill>
                  <a:srgbClr val="E7E6E6">
                    <a:lumMod val="50000"/>
                  </a:srgbClr>
                </a:solidFill>
                <a:prstDash val="solid"/>
                <a:miter lim="800000"/>
                <a:tailEnd type="triangle"/>
              </a:ln>
              <a:effectLst/>
            </p:spPr>
          </p:cxnSp>
          <p:grpSp>
            <p:nvGrpSpPr>
              <p:cNvPr id="14" name="グループ化 13">
                <a:extLst>
                  <a:ext uri="{FF2B5EF4-FFF2-40B4-BE49-F238E27FC236}">
                    <a16:creationId xmlns:a16="http://schemas.microsoft.com/office/drawing/2014/main" id="{E80E6014-896B-E4F2-1EC5-8E748B6A1FDF}"/>
                  </a:ext>
                </a:extLst>
              </p:cNvPr>
              <p:cNvGrpSpPr/>
              <p:nvPr/>
            </p:nvGrpSpPr>
            <p:grpSpPr>
              <a:xfrm>
                <a:off x="5925259" y="5291496"/>
                <a:ext cx="1056732" cy="656633"/>
                <a:chOff x="8173959" y="4428719"/>
                <a:chExt cx="721762" cy="448489"/>
              </a:xfrm>
            </p:grpSpPr>
            <p:sp>
              <p:nvSpPr>
                <p:cNvPr id="61" name="フローチャート: 判断 60">
                  <a:extLst>
                    <a:ext uri="{FF2B5EF4-FFF2-40B4-BE49-F238E27FC236}">
                      <a16:creationId xmlns:a16="http://schemas.microsoft.com/office/drawing/2014/main" id="{4D42634A-23CB-0231-5CA2-648267F4D246}"/>
                    </a:ext>
                  </a:extLst>
                </p:cNvPr>
                <p:cNvSpPr/>
                <p:nvPr/>
              </p:nvSpPr>
              <p:spPr>
                <a:xfrm>
                  <a:off x="8200147" y="4428719"/>
                  <a:ext cx="669386" cy="448489"/>
                </a:xfrm>
                <a:prstGeom prst="flowChartDecision">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4BCB1991-2FDB-526C-C6AB-B93B02C52440}"/>
                    </a:ext>
                  </a:extLst>
                </p:cNvPr>
                <p:cNvSpPr/>
                <p:nvPr/>
              </p:nvSpPr>
              <p:spPr>
                <a:xfrm>
                  <a:off x="8173959" y="4480881"/>
                  <a:ext cx="721762" cy="344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法人企業か？</a:t>
                  </a:r>
                </a:p>
              </p:txBody>
            </p:sp>
          </p:grpSp>
          <p:sp>
            <p:nvSpPr>
              <p:cNvPr id="15" name="テキスト ボックス 14">
                <a:extLst>
                  <a:ext uri="{FF2B5EF4-FFF2-40B4-BE49-F238E27FC236}">
                    <a16:creationId xmlns:a16="http://schemas.microsoft.com/office/drawing/2014/main" id="{19DEE09D-80AF-E6AF-F1F0-D58ACA71E577}"/>
                  </a:ext>
                </a:extLst>
              </p:cNvPr>
              <p:cNvSpPr txBox="1"/>
              <p:nvPr/>
            </p:nvSpPr>
            <p:spPr>
              <a:xfrm>
                <a:off x="6744457" y="5434484"/>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a:latin typeface="Meiryo UI" panose="020B0604030504040204" pitchFamily="50" charset="-128"/>
                    <a:ea typeface="Meiryo UI" panose="020B0604030504040204" pitchFamily="50" charset="-128"/>
                  </a:rPr>
                  <a:t>Yes</a:t>
                </a:r>
                <a:endParaRPr lang="ja-JP" altLang="en-US">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54CE8C16-1CBA-621B-C6A2-D2E1F8D58B60}"/>
                  </a:ext>
                </a:extLst>
              </p:cNvPr>
              <p:cNvSpPr txBox="1"/>
              <p:nvPr/>
            </p:nvSpPr>
            <p:spPr>
              <a:xfrm>
                <a:off x="6373917" y="5830879"/>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a:latin typeface="Meiryo UI" panose="020B0604030504040204" pitchFamily="50" charset="-128"/>
                    <a:ea typeface="Meiryo UI" panose="020B0604030504040204" pitchFamily="50" charset="-128"/>
                  </a:rPr>
                  <a:t>No</a:t>
                </a:r>
                <a:endParaRPr lang="ja-JP" altLang="en-US">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4A814B9C-0BDD-AD46-EFFA-617CD94F7A55}"/>
                  </a:ext>
                </a:extLst>
              </p:cNvPr>
              <p:cNvSpPr/>
              <p:nvPr/>
            </p:nvSpPr>
            <p:spPr bwMode="auto">
              <a:xfrm>
                <a:off x="8424572" y="5444186"/>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国税庁のサイトに対して</a:t>
                </a:r>
                <a:endParaRPr lang="en-US" altLang="ja-JP" sz="800" b="1">
                  <a:solidFill>
                    <a:srgbClr val="FF0000"/>
                  </a:solidFill>
                  <a:latin typeface="Meiryo UI" panose="020B0604030504040204" pitchFamily="50" charset="-128"/>
                  <a:ea typeface="Meiryo UI" panose="020B0604030504040204" pitchFamily="50" charset="-128"/>
                </a:endParaRPr>
              </a:p>
              <a:p>
                <a:pPr algn="ctr"/>
                <a:r>
                  <a:rPr lang="ja-JP" altLang="en-US" sz="800" b="1">
                    <a:solidFill>
                      <a:srgbClr val="FF0000"/>
                    </a:solidFill>
                    <a:latin typeface="Meiryo UI" panose="020B0604030504040204" pitchFamily="50" charset="-128"/>
                    <a:ea typeface="Meiryo UI" panose="020B0604030504040204" pitchFamily="50" charset="-128"/>
                  </a:rPr>
                  <a:t>法人情報取得</a:t>
                </a:r>
                <a:r>
                  <a:rPr lang="en-US" altLang="ja-JP" sz="800" b="1">
                    <a:solidFill>
                      <a:srgbClr val="FF0000"/>
                    </a:solidFill>
                    <a:latin typeface="Meiryo UI" panose="020B0604030504040204" pitchFamily="50" charset="-128"/>
                    <a:ea typeface="Meiryo UI" panose="020B0604030504040204" pitchFamily="50" charset="-128"/>
                  </a:rPr>
                  <a:t>API</a:t>
                </a:r>
                <a:r>
                  <a:rPr lang="ja-JP" altLang="en-US" sz="800" b="1">
                    <a:solidFill>
                      <a:srgbClr val="FF0000"/>
                    </a:solidFill>
                    <a:latin typeface="Meiryo UI" panose="020B0604030504040204" pitchFamily="50" charset="-128"/>
                    <a:ea typeface="Meiryo UI" panose="020B0604030504040204" pitchFamily="50" charset="-128"/>
                  </a:rPr>
                  <a:t>実行</a:t>
                </a:r>
              </a:p>
            </p:txBody>
          </p:sp>
          <p:cxnSp>
            <p:nvCxnSpPr>
              <p:cNvPr id="18" name="コネクタ: カギ線 5">
                <a:extLst>
                  <a:ext uri="{FF2B5EF4-FFF2-40B4-BE49-F238E27FC236}">
                    <a16:creationId xmlns:a16="http://schemas.microsoft.com/office/drawing/2014/main" id="{FE546E15-45D2-4D19-C4BC-2590F6C2ED58}"/>
                  </a:ext>
                </a:extLst>
              </p:cNvPr>
              <p:cNvCxnSpPr>
                <a:cxnSpLocks/>
                <a:stCxn id="61" idx="3"/>
                <a:endCxn id="17" idx="1"/>
              </p:cNvCxnSpPr>
              <p:nvPr/>
            </p:nvCxnSpPr>
            <p:spPr>
              <a:xfrm>
                <a:off x="6943649" y="5619813"/>
                <a:ext cx="1480923" cy="0"/>
              </a:xfrm>
              <a:prstGeom prst="straightConnector1">
                <a:avLst/>
              </a:prstGeom>
              <a:noFill/>
              <a:ln w="6350" cap="flat" cmpd="sng" algn="ctr">
                <a:solidFill>
                  <a:srgbClr val="E7E6E6">
                    <a:lumMod val="50000"/>
                  </a:srgbClr>
                </a:solidFill>
                <a:prstDash val="solid"/>
                <a:miter lim="800000"/>
                <a:tailEnd type="triangle"/>
              </a:ln>
              <a:effectLst/>
            </p:spPr>
          </p:cxnSp>
          <p:sp>
            <p:nvSpPr>
              <p:cNvPr id="19" name="正方形/長方形 18">
                <a:extLst>
                  <a:ext uri="{FF2B5EF4-FFF2-40B4-BE49-F238E27FC236}">
                    <a16:creationId xmlns:a16="http://schemas.microsoft.com/office/drawing/2014/main" id="{3600F4AB-2251-96E1-116E-D43ED267F536}"/>
                  </a:ext>
                </a:extLst>
              </p:cNvPr>
              <p:cNvSpPr/>
              <p:nvPr/>
            </p:nvSpPr>
            <p:spPr bwMode="auto">
              <a:xfrm>
                <a:off x="7023046" y="5822906"/>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個人事業名で</a:t>
                </a:r>
                <a:endParaRPr lang="en-US" altLang="ja-JP" sz="800" b="1">
                  <a:solidFill>
                    <a:srgbClr val="FF0000"/>
                  </a:solidFill>
                  <a:latin typeface="Meiryo UI" panose="020B0604030504040204" pitchFamily="50" charset="-128"/>
                  <a:ea typeface="Meiryo UI" panose="020B0604030504040204" pitchFamily="50" charset="-128"/>
                </a:endParaRPr>
              </a:p>
              <a:p>
                <a:pPr algn="ctr"/>
                <a:r>
                  <a:rPr lang="en-US" altLang="ja-JP" sz="800" b="1">
                    <a:solidFill>
                      <a:srgbClr val="FF0000"/>
                    </a:solidFill>
                    <a:latin typeface="Meiryo UI" panose="020B0604030504040204" pitchFamily="50" charset="-128"/>
                    <a:ea typeface="Meiryo UI" panose="020B0604030504040204" pitchFamily="50" charset="-128"/>
                  </a:rPr>
                  <a:t>Web</a:t>
                </a:r>
                <a:r>
                  <a:rPr lang="ja-JP" altLang="en-US" sz="800" b="1">
                    <a:solidFill>
                      <a:srgbClr val="FF0000"/>
                    </a:solidFill>
                    <a:latin typeface="Meiryo UI" panose="020B0604030504040204" pitchFamily="50" charset="-128"/>
                    <a:ea typeface="Meiryo UI" panose="020B0604030504040204" pitchFamily="50" charset="-128"/>
                  </a:rPr>
                  <a:t>クローリング</a:t>
                </a:r>
              </a:p>
            </p:txBody>
          </p:sp>
          <p:cxnSp>
            <p:nvCxnSpPr>
              <p:cNvPr id="20" name="コネクタ: カギ線 5">
                <a:extLst>
                  <a:ext uri="{FF2B5EF4-FFF2-40B4-BE49-F238E27FC236}">
                    <a16:creationId xmlns:a16="http://schemas.microsoft.com/office/drawing/2014/main" id="{100F5091-D480-E365-70D6-41329F13AC1C}"/>
                  </a:ext>
                </a:extLst>
              </p:cNvPr>
              <p:cNvCxnSpPr>
                <a:cxnSpLocks/>
                <a:stCxn id="19" idx="3"/>
                <a:endCxn id="42" idx="1"/>
              </p:cNvCxnSpPr>
              <p:nvPr/>
            </p:nvCxnSpPr>
            <p:spPr>
              <a:xfrm flipV="1">
                <a:off x="8168770" y="5615799"/>
                <a:ext cx="1728002" cy="382734"/>
              </a:xfrm>
              <a:prstGeom prst="bentConnector3">
                <a:avLst>
                  <a:gd name="adj1" fmla="val 88218"/>
                </a:avLst>
              </a:prstGeom>
              <a:noFill/>
              <a:ln w="6350" cap="flat" cmpd="sng" algn="ctr">
                <a:solidFill>
                  <a:srgbClr val="E7E6E6">
                    <a:lumMod val="50000"/>
                  </a:srgbClr>
                </a:solidFill>
                <a:prstDash val="solid"/>
                <a:miter lim="800000"/>
                <a:tailEnd type="triangle"/>
              </a:ln>
              <a:effectLst/>
            </p:spPr>
          </p:cxnSp>
          <p:sp>
            <p:nvSpPr>
              <p:cNvPr id="21" name="フローチャート: 磁気ディスク 20">
                <a:extLst>
                  <a:ext uri="{FF2B5EF4-FFF2-40B4-BE49-F238E27FC236}">
                    <a16:creationId xmlns:a16="http://schemas.microsoft.com/office/drawing/2014/main" id="{EA35C5CD-EF0F-273B-D82F-6A36763F5490}"/>
                  </a:ext>
                </a:extLst>
              </p:cNvPr>
              <p:cNvSpPr/>
              <p:nvPr/>
            </p:nvSpPr>
            <p:spPr bwMode="auto">
              <a:xfrm>
                <a:off x="7023047"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Internet</a:t>
                </a:r>
                <a:r>
                  <a:rPr lang="ja-JP" altLang="en-US" sz="800">
                    <a:solidFill>
                      <a:schemeClr val="bg2">
                        <a:lumMod val="50000"/>
                      </a:schemeClr>
                    </a:solidFill>
                    <a:latin typeface="Meiryo UI" panose="020B0604030504040204" pitchFamily="50" charset="-128"/>
                    <a:ea typeface="Meiryo UI" panose="020B0604030504040204" pitchFamily="50" charset="-128"/>
                  </a:rPr>
                  <a:t>（</a:t>
                </a:r>
                <a:r>
                  <a:rPr lang="en-US" altLang="ja-JP" sz="800">
                    <a:solidFill>
                      <a:schemeClr val="bg2">
                        <a:lumMod val="50000"/>
                      </a:schemeClr>
                    </a:solidFill>
                    <a:latin typeface="Meiryo UI" panose="020B0604030504040204" pitchFamily="50" charset="-128"/>
                    <a:ea typeface="Meiryo UI" panose="020B0604030504040204" pitchFamily="50" charset="-128"/>
                  </a:rPr>
                  <a:t>SNS</a:t>
                </a:r>
                <a:r>
                  <a:rPr lang="ja-JP" altLang="en-US" sz="800">
                    <a:solidFill>
                      <a:schemeClr val="bg2">
                        <a:lumMod val="50000"/>
                      </a:schemeClr>
                    </a:solidFill>
                    <a:latin typeface="Meiryo UI" panose="020B0604030504040204" pitchFamily="50" charset="-128"/>
                    <a:ea typeface="Meiryo UI" panose="020B0604030504040204" pitchFamily="50" charset="-128"/>
                  </a:rPr>
                  <a:t>など）</a:t>
                </a:r>
              </a:p>
            </p:txBody>
          </p:sp>
          <p:sp>
            <p:nvSpPr>
              <p:cNvPr id="22" name="フローチャート: 磁気ディスク 21">
                <a:extLst>
                  <a:ext uri="{FF2B5EF4-FFF2-40B4-BE49-F238E27FC236}">
                    <a16:creationId xmlns:a16="http://schemas.microsoft.com/office/drawing/2014/main" id="{5EADB26E-8509-6BC3-D26B-38D15980FBD3}"/>
                  </a:ext>
                </a:extLst>
              </p:cNvPr>
              <p:cNvSpPr/>
              <p:nvPr/>
            </p:nvSpPr>
            <p:spPr bwMode="auto">
              <a:xfrm>
                <a:off x="8424572"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国税庁</a:t>
                </a:r>
              </a:p>
            </p:txBody>
          </p:sp>
          <p:cxnSp>
            <p:nvCxnSpPr>
              <p:cNvPr id="23" name="直線矢印コネクタ 22">
                <a:extLst>
                  <a:ext uri="{FF2B5EF4-FFF2-40B4-BE49-F238E27FC236}">
                    <a16:creationId xmlns:a16="http://schemas.microsoft.com/office/drawing/2014/main" id="{3191A085-B799-3E2E-12C4-EA1E8C09B82A}"/>
                  </a:ext>
                </a:extLst>
              </p:cNvPr>
              <p:cNvCxnSpPr>
                <a:cxnSpLocks/>
                <a:stCxn id="21" idx="1"/>
                <a:endCxn id="19" idx="2"/>
              </p:cNvCxnSpPr>
              <p:nvPr/>
            </p:nvCxnSpPr>
            <p:spPr>
              <a:xfrm flipH="1" flipV="1">
                <a:off x="7595908" y="6174159"/>
                <a:ext cx="1" cy="26030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16803DFE-3920-DCBD-9F17-1DD89ADC69DC}"/>
                  </a:ext>
                </a:extLst>
              </p:cNvPr>
              <p:cNvCxnSpPr>
                <a:cxnSpLocks/>
                <a:stCxn id="22" idx="1"/>
                <a:endCxn id="17" idx="2"/>
              </p:cNvCxnSpPr>
              <p:nvPr/>
            </p:nvCxnSpPr>
            <p:spPr>
              <a:xfrm flipV="1">
                <a:off x="8997434" y="5795439"/>
                <a:ext cx="0" cy="63902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 name="フリーフォーム: 図形 12">
                <a:extLst>
                  <a:ext uri="{FF2B5EF4-FFF2-40B4-BE49-F238E27FC236}">
                    <a16:creationId xmlns:a16="http://schemas.microsoft.com/office/drawing/2014/main" id="{038A1761-4105-7DE2-438D-F9E0309153B0}"/>
                  </a:ext>
                </a:extLst>
              </p:cNvPr>
              <p:cNvSpPr>
                <a:spLocks/>
              </p:cNvSpPr>
              <p:nvPr/>
            </p:nvSpPr>
            <p:spPr bwMode="auto">
              <a:xfrm>
                <a:off x="8958158" y="5947834"/>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26" name="直線矢印コネクタ 25">
                <a:extLst>
                  <a:ext uri="{FF2B5EF4-FFF2-40B4-BE49-F238E27FC236}">
                    <a16:creationId xmlns:a16="http://schemas.microsoft.com/office/drawing/2014/main" id="{E8D41E98-F3D5-C40D-CE9D-23FC8725B0E4}"/>
                  </a:ext>
                </a:extLst>
              </p:cNvPr>
              <p:cNvCxnSpPr>
                <a:cxnSpLocks/>
                <a:stCxn id="28" idx="1"/>
                <a:endCxn id="27" idx="2"/>
              </p:cNvCxnSpPr>
              <p:nvPr/>
            </p:nvCxnSpPr>
            <p:spPr>
              <a:xfrm flipV="1">
                <a:off x="2362943" y="5009362"/>
                <a:ext cx="0" cy="1425104"/>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正方形/長方形 26">
                <a:extLst>
                  <a:ext uri="{FF2B5EF4-FFF2-40B4-BE49-F238E27FC236}">
                    <a16:creationId xmlns:a16="http://schemas.microsoft.com/office/drawing/2014/main" id="{F36A8051-EA4D-B9DE-827E-D8092CCBB23D}"/>
                  </a:ext>
                </a:extLst>
              </p:cNvPr>
              <p:cNvSpPr/>
              <p:nvPr/>
            </p:nvSpPr>
            <p:spPr bwMode="auto">
              <a:xfrm>
                <a:off x="1790081" y="4658109"/>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目検リストファイル受領</a:t>
                </a:r>
              </a:p>
            </p:txBody>
          </p:sp>
          <p:sp>
            <p:nvSpPr>
              <p:cNvPr id="28" name="フローチャート: 磁気ディスク 27">
                <a:extLst>
                  <a:ext uri="{FF2B5EF4-FFF2-40B4-BE49-F238E27FC236}">
                    <a16:creationId xmlns:a16="http://schemas.microsoft.com/office/drawing/2014/main" id="{B302304B-C4E1-1F6F-69DB-904840B3A375}"/>
                  </a:ext>
                </a:extLst>
              </p:cNvPr>
              <p:cNvSpPr/>
              <p:nvPr/>
            </p:nvSpPr>
            <p:spPr bwMode="auto">
              <a:xfrm>
                <a:off x="1790081"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MEGAGON</a:t>
                </a:r>
                <a:r>
                  <a:rPr lang="ja-JP" altLang="en-US" sz="800">
                    <a:solidFill>
                      <a:schemeClr val="bg2">
                        <a:lumMod val="50000"/>
                      </a:schemeClr>
                    </a:solidFill>
                    <a:latin typeface="Meiryo UI" panose="020B0604030504040204" pitchFamily="50" charset="-128"/>
                    <a:ea typeface="Meiryo UI" panose="020B0604030504040204" pitchFamily="50" charset="-128"/>
                  </a:rPr>
                  <a:t>関連</a:t>
                </a:r>
              </a:p>
            </p:txBody>
          </p:sp>
          <p:grpSp>
            <p:nvGrpSpPr>
              <p:cNvPr id="29" name="グループ化 28">
                <a:extLst>
                  <a:ext uri="{FF2B5EF4-FFF2-40B4-BE49-F238E27FC236}">
                    <a16:creationId xmlns:a16="http://schemas.microsoft.com/office/drawing/2014/main" id="{EB56B0BE-E37A-229F-6747-D1F477CA2F59}"/>
                  </a:ext>
                </a:extLst>
              </p:cNvPr>
              <p:cNvGrpSpPr/>
              <p:nvPr/>
            </p:nvGrpSpPr>
            <p:grpSpPr>
              <a:xfrm>
                <a:off x="2079794" y="5414294"/>
                <a:ext cx="566299" cy="413377"/>
                <a:chOff x="2196261" y="2807759"/>
                <a:chExt cx="566299" cy="413377"/>
              </a:xfrm>
            </p:grpSpPr>
            <p:sp>
              <p:nvSpPr>
                <p:cNvPr id="58" name="フローチャート : 書類 22">
                  <a:extLst>
                    <a:ext uri="{FF2B5EF4-FFF2-40B4-BE49-F238E27FC236}">
                      <a16:creationId xmlns:a16="http://schemas.microsoft.com/office/drawing/2014/main" id="{54827EDD-0DE9-EC41-B692-0BD9F00DD324}"/>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9" name="フローチャート : 書類 22">
                  <a:extLst>
                    <a:ext uri="{FF2B5EF4-FFF2-40B4-BE49-F238E27FC236}">
                      <a16:creationId xmlns:a16="http://schemas.microsoft.com/office/drawing/2014/main" id="{1D043633-71A0-BBE7-2E55-4BDB52D470B4}"/>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60" name="フローチャート : 書類 22">
                  <a:extLst>
                    <a:ext uri="{FF2B5EF4-FFF2-40B4-BE49-F238E27FC236}">
                      <a16:creationId xmlns:a16="http://schemas.microsoft.com/office/drawing/2014/main" id="{86F7ED1F-97D5-231C-60EF-E05C40202404}"/>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sp>
            <p:nvSpPr>
              <p:cNvPr id="30" name="フローチャート: 磁気ディスク 29">
                <a:extLst>
                  <a:ext uri="{FF2B5EF4-FFF2-40B4-BE49-F238E27FC236}">
                    <a16:creationId xmlns:a16="http://schemas.microsoft.com/office/drawing/2014/main" id="{F5F2FCE5-0070-257E-CE56-399FDCB22B7F}"/>
                  </a:ext>
                </a:extLst>
              </p:cNvPr>
              <p:cNvSpPr/>
              <p:nvPr/>
            </p:nvSpPr>
            <p:spPr bwMode="auto">
              <a:xfrm>
                <a:off x="3269717"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D5092FFC-1DF6-6AB6-65D0-C980A0EE9070}"/>
                  </a:ext>
                </a:extLst>
              </p:cNvPr>
              <p:cNvSpPr/>
              <p:nvPr/>
            </p:nvSpPr>
            <p:spPr bwMode="auto">
              <a:xfrm>
                <a:off x="3269717" y="4658520"/>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目検リストファイル格納</a:t>
                </a:r>
              </a:p>
            </p:txBody>
          </p:sp>
          <p:cxnSp>
            <p:nvCxnSpPr>
              <p:cNvPr id="32" name="直線矢印コネクタ 31">
                <a:extLst>
                  <a:ext uri="{FF2B5EF4-FFF2-40B4-BE49-F238E27FC236}">
                    <a16:creationId xmlns:a16="http://schemas.microsoft.com/office/drawing/2014/main" id="{EF53CE74-9563-5F0D-D95B-243E722BA5CC}"/>
                  </a:ext>
                </a:extLst>
              </p:cNvPr>
              <p:cNvCxnSpPr>
                <a:cxnSpLocks/>
                <a:stCxn id="31" idx="2"/>
                <a:endCxn id="30" idx="1"/>
              </p:cNvCxnSpPr>
              <p:nvPr/>
            </p:nvCxnSpPr>
            <p:spPr>
              <a:xfrm>
                <a:off x="3842579" y="5009773"/>
                <a:ext cx="0" cy="1424693"/>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33" name="グループ化 32">
                <a:extLst>
                  <a:ext uri="{FF2B5EF4-FFF2-40B4-BE49-F238E27FC236}">
                    <a16:creationId xmlns:a16="http://schemas.microsoft.com/office/drawing/2014/main" id="{F125A386-E490-3300-9E94-168CC61A9E47}"/>
                  </a:ext>
                </a:extLst>
              </p:cNvPr>
              <p:cNvGrpSpPr/>
              <p:nvPr/>
            </p:nvGrpSpPr>
            <p:grpSpPr>
              <a:xfrm>
                <a:off x="3546330" y="5416696"/>
                <a:ext cx="566299" cy="413377"/>
                <a:chOff x="2196261" y="2807759"/>
                <a:chExt cx="566299" cy="413377"/>
              </a:xfrm>
            </p:grpSpPr>
            <p:sp>
              <p:nvSpPr>
                <p:cNvPr id="55" name="フローチャート : 書類 22">
                  <a:extLst>
                    <a:ext uri="{FF2B5EF4-FFF2-40B4-BE49-F238E27FC236}">
                      <a16:creationId xmlns:a16="http://schemas.microsoft.com/office/drawing/2014/main" id="{83726B6E-144B-529A-A792-B1FB98E3714A}"/>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6" name="フローチャート : 書類 22">
                  <a:extLst>
                    <a:ext uri="{FF2B5EF4-FFF2-40B4-BE49-F238E27FC236}">
                      <a16:creationId xmlns:a16="http://schemas.microsoft.com/office/drawing/2014/main" id="{FDADC6F6-8DAE-312B-2995-9A4F5FEA5084}"/>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7" name="フローチャート : 書類 22">
                  <a:extLst>
                    <a:ext uri="{FF2B5EF4-FFF2-40B4-BE49-F238E27FC236}">
                      <a16:creationId xmlns:a16="http://schemas.microsoft.com/office/drawing/2014/main" id="{C5865CC7-3255-8E62-42F5-D6BEC8765DF6}"/>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34" name="コネクタ: カギ線 5">
                <a:extLst>
                  <a:ext uri="{FF2B5EF4-FFF2-40B4-BE49-F238E27FC236}">
                    <a16:creationId xmlns:a16="http://schemas.microsoft.com/office/drawing/2014/main" id="{340DE0C6-DEA1-6C7B-0177-1FE1619C7828}"/>
                  </a:ext>
                </a:extLst>
              </p:cNvPr>
              <p:cNvCxnSpPr>
                <a:cxnSpLocks/>
                <a:stCxn id="27" idx="3"/>
                <a:endCxn id="31" idx="1"/>
              </p:cNvCxnSpPr>
              <p:nvPr/>
            </p:nvCxnSpPr>
            <p:spPr>
              <a:xfrm>
                <a:off x="2935805" y="4833736"/>
                <a:ext cx="333912" cy="411"/>
              </a:xfrm>
              <a:prstGeom prst="straightConnector1">
                <a:avLst/>
              </a:prstGeom>
              <a:noFill/>
              <a:ln w="6350" cap="flat" cmpd="sng" algn="ctr">
                <a:solidFill>
                  <a:srgbClr val="E7E6E6">
                    <a:lumMod val="50000"/>
                  </a:srgbClr>
                </a:solidFill>
                <a:prstDash val="solid"/>
                <a:miter lim="800000"/>
                <a:tailEnd type="triangle"/>
              </a:ln>
              <a:effectLst/>
            </p:spPr>
          </p:cxnSp>
          <p:sp>
            <p:nvSpPr>
              <p:cNvPr id="35" name="フローチャート: 磁気ディスク 34">
                <a:extLst>
                  <a:ext uri="{FF2B5EF4-FFF2-40B4-BE49-F238E27FC236}">
                    <a16:creationId xmlns:a16="http://schemas.microsoft.com/office/drawing/2014/main" id="{AAC863B9-7E7F-EEEA-F784-B16A02F680AD}"/>
                  </a:ext>
                </a:extLst>
              </p:cNvPr>
              <p:cNvSpPr/>
              <p:nvPr/>
            </p:nvSpPr>
            <p:spPr bwMode="auto">
              <a:xfrm>
                <a:off x="4675966"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n8n</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cxnSp>
            <p:nvCxnSpPr>
              <p:cNvPr id="36" name="コネクタ: カギ線 5">
                <a:extLst>
                  <a:ext uri="{FF2B5EF4-FFF2-40B4-BE49-F238E27FC236}">
                    <a16:creationId xmlns:a16="http://schemas.microsoft.com/office/drawing/2014/main" id="{C294AD30-D869-534F-2536-BE9F125F6D2B}"/>
                  </a:ext>
                </a:extLst>
              </p:cNvPr>
              <p:cNvCxnSpPr>
                <a:cxnSpLocks/>
                <a:stCxn id="31" idx="3"/>
                <a:endCxn id="40" idx="1"/>
              </p:cNvCxnSpPr>
              <p:nvPr/>
            </p:nvCxnSpPr>
            <p:spPr>
              <a:xfrm>
                <a:off x="4415441" y="4834147"/>
                <a:ext cx="250898" cy="781652"/>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37" name="コネクタ: カギ線 5">
                <a:extLst>
                  <a:ext uri="{FF2B5EF4-FFF2-40B4-BE49-F238E27FC236}">
                    <a16:creationId xmlns:a16="http://schemas.microsoft.com/office/drawing/2014/main" id="{E769C700-E4C5-4C14-1C18-6CD21B0C958C}"/>
                  </a:ext>
                </a:extLst>
              </p:cNvPr>
              <p:cNvCxnSpPr>
                <a:cxnSpLocks/>
                <a:stCxn id="40" idx="3"/>
                <a:endCxn id="61" idx="1"/>
              </p:cNvCxnSpPr>
              <p:nvPr/>
            </p:nvCxnSpPr>
            <p:spPr>
              <a:xfrm>
                <a:off x="5812063" y="5615799"/>
                <a:ext cx="151538" cy="4014"/>
              </a:xfrm>
              <a:prstGeom prst="straightConnector1">
                <a:avLst/>
              </a:prstGeom>
              <a:noFill/>
              <a:ln w="6350" cap="flat" cmpd="sng" algn="ctr">
                <a:solidFill>
                  <a:srgbClr val="E7E6E6">
                    <a:lumMod val="50000"/>
                  </a:srgbClr>
                </a:solidFill>
                <a:prstDash val="solid"/>
                <a:miter lim="800000"/>
                <a:tailEnd type="triangle"/>
              </a:ln>
              <a:effectLst/>
            </p:spPr>
          </p:cxnSp>
          <p:cxnSp>
            <p:nvCxnSpPr>
              <p:cNvPr id="38" name="直線矢印コネクタ 37">
                <a:extLst>
                  <a:ext uri="{FF2B5EF4-FFF2-40B4-BE49-F238E27FC236}">
                    <a16:creationId xmlns:a16="http://schemas.microsoft.com/office/drawing/2014/main" id="{C6A91E69-AF3C-8EB4-6138-A694AAAD1D25}"/>
                  </a:ext>
                </a:extLst>
              </p:cNvPr>
              <p:cNvCxnSpPr>
                <a:cxnSpLocks/>
                <a:stCxn id="40" idx="2"/>
                <a:endCxn id="35" idx="1"/>
              </p:cNvCxnSpPr>
              <p:nvPr/>
            </p:nvCxnSpPr>
            <p:spPr>
              <a:xfrm>
                <a:off x="5239201" y="5791425"/>
                <a:ext cx="9627" cy="643041"/>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 書類 22">
                <a:extLst>
                  <a:ext uri="{FF2B5EF4-FFF2-40B4-BE49-F238E27FC236}">
                    <a16:creationId xmlns:a16="http://schemas.microsoft.com/office/drawing/2014/main" id="{F934B3E6-653B-EE9B-C750-8B49A85CCC38}"/>
                  </a:ext>
                </a:extLst>
              </p:cNvPr>
              <p:cNvSpPr/>
              <p:nvPr/>
            </p:nvSpPr>
            <p:spPr>
              <a:xfrm>
                <a:off x="5065894" y="5975993"/>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E7AD54D1-2326-995D-B877-74DD7EE423BA}"/>
                  </a:ext>
                </a:extLst>
              </p:cNvPr>
              <p:cNvSpPr/>
              <p:nvPr/>
            </p:nvSpPr>
            <p:spPr bwMode="auto">
              <a:xfrm>
                <a:off x="4666339" y="5440172"/>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目検リストファイル取得</a:t>
                </a:r>
              </a:p>
            </p:txBody>
          </p:sp>
          <p:sp>
            <p:nvSpPr>
              <p:cNvPr id="41" name="フローチャート: 磁気ディスク 40">
                <a:extLst>
                  <a:ext uri="{FF2B5EF4-FFF2-40B4-BE49-F238E27FC236}">
                    <a16:creationId xmlns:a16="http://schemas.microsoft.com/office/drawing/2014/main" id="{A638EA3F-2CB8-20FD-DFC7-AD5C0D42AAD9}"/>
                  </a:ext>
                </a:extLst>
              </p:cNvPr>
              <p:cNvSpPr/>
              <p:nvPr/>
            </p:nvSpPr>
            <p:spPr bwMode="auto">
              <a:xfrm>
                <a:off x="9896772" y="6434466"/>
                <a:ext cx="2522598"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E94FCADA-4E5E-CB7F-2C51-3AB17A5A72E6}"/>
                  </a:ext>
                </a:extLst>
              </p:cNvPr>
              <p:cNvSpPr/>
              <p:nvPr/>
            </p:nvSpPr>
            <p:spPr bwMode="auto">
              <a:xfrm>
                <a:off x="9896772" y="5440172"/>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調査結果ファイル格納</a:t>
                </a:r>
              </a:p>
            </p:txBody>
          </p:sp>
          <p:sp>
            <p:nvSpPr>
              <p:cNvPr id="43" name="正方形/長方形 42">
                <a:extLst>
                  <a:ext uri="{FF2B5EF4-FFF2-40B4-BE49-F238E27FC236}">
                    <a16:creationId xmlns:a16="http://schemas.microsoft.com/office/drawing/2014/main" id="{85BF7E10-62D0-D0CF-AF9D-457E647E3D5E}"/>
                  </a:ext>
                </a:extLst>
              </p:cNvPr>
              <p:cNvSpPr/>
              <p:nvPr/>
            </p:nvSpPr>
            <p:spPr bwMode="auto">
              <a:xfrm>
                <a:off x="11273646" y="4653533"/>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調査結果内容確認</a:t>
                </a:r>
              </a:p>
            </p:txBody>
          </p:sp>
          <p:cxnSp>
            <p:nvCxnSpPr>
              <p:cNvPr id="44" name="直線矢印コネクタ 43">
                <a:extLst>
                  <a:ext uri="{FF2B5EF4-FFF2-40B4-BE49-F238E27FC236}">
                    <a16:creationId xmlns:a16="http://schemas.microsoft.com/office/drawing/2014/main" id="{321B7DB9-50D5-40F2-400C-FCB8D1C2DF27}"/>
                  </a:ext>
                </a:extLst>
              </p:cNvPr>
              <p:cNvCxnSpPr>
                <a:cxnSpLocks/>
                <a:stCxn id="42" idx="2"/>
              </p:cNvCxnSpPr>
              <p:nvPr/>
            </p:nvCxnSpPr>
            <p:spPr>
              <a:xfrm>
                <a:off x="10469634" y="5791425"/>
                <a:ext cx="0" cy="643041"/>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BC376C53-9C06-5BD3-FBFD-5951D3EE439A}"/>
                  </a:ext>
                </a:extLst>
              </p:cNvPr>
              <p:cNvCxnSpPr>
                <a:cxnSpLocks/>
              </p:cNvCxnSpPr>
              <p:nvPr/>
            </p:nvCxnSpPr>
            <p:spPr>
              <a:xfrm rot="10800000" flipH="1">
                <a:off x="11846508" y="5012979"/>
                <a:ext cx="13100" cy="1410040"/>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46" name="グループ化 45">
                <a:extLst>
                  <a:ext uri="{FF2B5EF4-FFF2-40B4-BE49-F238E27FC236}">
                    <a16:creationId xmlns:a16="http://schemas.microsoft.com/office/drawing/2014/main" id="{9A9F09A1-9687-D16E-8151-D50F722936F4}"/>
                  </a:ext>
                </a:extLst>
              </p:cNvPr>
              <p:cNvGrpSpPr/>
              <p:nvPr/>
            </p:nvGrpSpPr>
            <p:grpSpPr>
              <a:xfrm>
                <a:off x="11563359" y="5419902"/>
                <a:ext cx="566299" cy="413377"/>
                <a:chOff x="2196261" y="2807759"/>
                <a:chExt cx="566299" cy="413377"/>
              </a:xfrm>
            </p:grpSpPr>
            <p:sp>
              <p:nvSpPr>
                <p:cNvPr id="52" name="フローチャート : 書類 22">
                  <a:extLst>
                    <a:ext uri="{FF2B5EF4-FFF2-40B4-BE49-F238E27FC236}">
                      <a16:creationId xmlns:a16="http://schemas.microsoft.com/office/drawing/2014/main" id="{34CEA990-1194-698F-517E-68C945792A25}"/>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3" name="フローチャート : 書類 22">
                  <a:extLst>
                    <a:ext uri="{FF2B5EF4-FFF2-40B4-BE49-F238E27FC236}">
                      <a16:creationId xmlns:a16="http://schemas.microsoft.com/office/drawing/2014/main" id="{2AF44277-8FF7-F047-7A33-35CE2F027122}"/>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4" name="フローチャート : 書類 22">
                  <a:extLst>
                    <a:ext uri="{FF2B5EF4-FFF2-40B4-BE49-F238E27FC236}">
                      <a16:creationId xmlns:a16="http://schemas.microsoft.com/office/drawing/2014/main" id="{C180AC16-3705-CF9F-4BC0-22BDBD31C45E}"/>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48" name="コネクタ: カギ線 5">
                <a:extLst>
                  <a:ext uri="{FF2B5EF4-FFF2-40B4-BE49-F238E27FC236}">
                    <a16:creationId xmlns:a16="http://schemas.microsoft.com/office/drawing/2014/main" id="{DDA18551-3603-46CD-EB76-7EB224141B3E}"/>
                  </a:ext>
                </a:extLst>
              </p:cNvPr>
              <p:cNvCxnSpPr>
                <a:cxnSpLocks/>
                <a:stCxn id="42" idx="3"/>
                <a:endCxn id="43" idx="1"/>
              </p:cNvCxnSpPr>
              <p:nvPr/>
            </p:nvCxnSpPr>
            <p:spPr>
              <a:xfrm flipV="1">
                <a:off x="11042496" y="4829160"/>
                <a:ext cx="231150" cy="786639"/>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49" name="矢印: 左右 48">
                <a:extLst>
                  <a:ext uri="{FF2B5EF4-FFF2-40B4-BE49-F238E27FC236}">
                    <a16:creationId xmlns:a16="http://schemas.microsoft.com/office/drawing/2014/main" id="{1A852BC6-5AB0-BF64-9C3B-DA2EAEE492F0}"/>
                  </a:ext>
                </a:extLst>
              </p:cNvPr>
              <p:cNvSpPr/>
              <p:nvPr/>
            </p:nvSpPr>
            <p:spPr>
              <a:xfrm>
                <a:off x="4675966" y="4255941"/>
                <a:ext cx="6366529"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b="1">
                    <a:solidFill>
                      <a:srgbClr val="FF0000"/>
                    </a:solidFill>
                    <a:latin typeface="Meiryo UI" panose="020B0604030504040204" pitchFamily="50" charset="-128"/>
                    <a:ea typeface="Meiryo UI" panose="020B0604030504040204" pitchFamily="50" charset="-128"/>
                  </a:rPr>
                  <a:t>AI</a:t>
                </a:r>
                <a:r>
                  <a:rPr lang="ja-JP" altLang="en-US" sz="800" b="1">
                    <a:solidFill>
                      <a:srgbClr val="FF0000"/>
                    </a:solidFill>
                    <a:latin typeface="Meiryo UI" panose="020B0604030504040204" pitchFamily="50" charset="-128"/>
                    <a:ea typeface="Meiryo UI" panose="020B0604030504040204" pitchFamily="50" charset="-128"/>
                  </a:rPr>
                  <a:t>による目検作業の完全自動化</a:t>
                </a:r>
              </a:p>
            </p:txBody>
          </p:sp>
          <p:sp>
            <p:nvSpPr>
              <p:cNvPr id="50" name="フローチャート : 代替処理 2">
                <a:extLst>
                  <a:ext uri="{FF2B5EF4-FFF2-40B4-BE49-F238E27FC236}">
                    <a16:creationId xmlns:a16="http://schemas.microsoft.com/office/drawing/2014/main" id="{FECF2C0B-3AB4-60C1-89C2-D83206B10540}"/>
                  </a:ext>
                </a:extLst>
              </p:cNvPr>
              <p:cNvSpPr/>
              <p:nvPr/>
            </p:nvSpPr>
            <p:spPr>
              <a:xfrm>
                <a:off x="4642385" y="5307926"/>
                <a:ext cx="6435495" cy="935606"/>
              </a:xfrm>
              <a:prstGeom prst="flowChartAlternateProcess">
                <a:avLst/>
              </a:prstGeom>
              <a:noFill/>
              <a:ln w="6350">
                <a:solidFill>
                  <a:srgbClr val="FF0000"/>
                </a:solidFill>
                <a:prstDash val="solid"/>
                <a:miter lim="800000"/>
                <a:headEnd/>
                <a:tailEnd/>
                <a:extLst>
                  <a:ext uri="{C807C97D-BFC1-408E-A445-0C87EB9F89A2}">
                    <ask:lineSketchStyleProps xmlns:ask="http://schemas.microsoft.com/office/drawing/2018/sketchyshapes">
                      <ask:type>
                        <ask:lineSketchNone/>
                      </ask:type>
                    </ask:lineSketchStyleProps>
                  </a:ext>
                </a:extLst>
              </a:ln>
            </p:spPr>
            <p:txBody>
              <a:bodyPr wrap="square" lIns="27432" tIns="18288" rIns="27432" bIns="18288" anchor="ctr" upright="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1" name="フローチャート : 書類 22">
                <a:extLst>
                  <a:ext uri="{FF2B5EF4-FFF2-40B4-BE49-F238E27FC236}">
                    <a16:creationId xmlns:a16="http://schemas.microsoft.com/office/drawing/2014/main" id="{BD12EA63-CD0B-3235-1112-424F44794060}"/>
                  </a:ext>
                </a:extLst>
              </p:cNvPr>
              <p:cNvSpPr/>
              <p:nvPr/>
            </p:nvSpPr>
            <p:spPr>
              <a:xfrm>
                <a:off x="10283227" y="5975993"/>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3442174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5C71-AB6A-26FF-3E84-D4BD76EF83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000D5D-A752-6DA8-4CD4-ED8AC69A6128}"/>
              </a:ext>
            </a:extLst>
          </p:cNvPr>
          <p:cNvSpPr>
            <a:spLocks noGrp="1"/>
          </p:cNvSpPr>
          <p:nvPr>
            <p:ph type="title"/>
          </p:nvPr>
        </p:nvSpPr>
        <p:spPr>
          <a:xfrm>
            <a:off x="203200" y="152403"/>
            <a:ext cx="9204569" cy="379413"/>
          </a:xfrm>
        </p:spPr>
        <p:txBody>
          <a:bodyPr anchor="ctr"/>
          <a:lstStyle/>
          <a:p>
            <a:r>
              <a:rPr lang="en-US" altLang="ja-JP" dirty="0" err="1"/>
              <a:t>ToBe</a:t>
            </a:r>
            <a:r>
              <a:rPr lang="ja-JP" altLang="en-US" dirty="0"/>
              <a:t>業務イメージ（</a:t>
            </a:r>
            <a:r>
              <a:rPr lang="en-US" altLang="ja-JP" dirty="0"/>
              <a:t>BPS</a:t>
            </a:r>
            <a:r>
              <a:rPr lang="ja-JP" altLang="en-US" dirty="0"/>
              <a:t>）</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4C163A48-04E3-20DA-CCEE-DFA4AD424DCF}"/>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06CF2844-97A8-6D32-644B-160DAB15FA21}"/>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請求書提出後、</a:t>
            </a:r>
            <a:r>
              <a:rPr lang="en-US" altLang="ja-JP" sz="1600" kern="0" dirty="0"/>
              <a:t>Concur</a:t>
            </a:r>
            <a:r>
              <a:rPr lang="ja-JP" altLang="en-US" sz="1600" kern="0" dirty="0"/>
              <a:t>へ投入するデータを作成するための</a:t>
            </a:r>
            <a:r>
              <a:rPr lang="en-US" altLang="ja-JP" sz="1600" kern="0" dirty="0"/>
              <a:t>RPA</a:t>
            </a:r>
            <a:r>
              <a:rPr lang="ja-JP" altLang="en-US" sz="1600" kern="0" dirty="0"/>
              <a:t>実行にかかる前処理、</a:t>
            </a:r>
            <a:br>
              <a:rPr lang="en-US" altLang="ja-JP" sz="1600" kern="0" dirty="0"/>
            </a:br>
            <a:r>
              <a:rPr lang="ja-JP" altLang="en-US" sz="1600" kern="0" dirty="0"/>
              <a:t>後処理の一連の作業を</a:t>
            </a:r>
            <a:r>
              <a:rPr lang="en-US" altLang="ja-JP" sz="1600" kern="0" dirty="0"/>
              <a:t>AI</a:t>
            </a:r>
            <a:r>
              <a:rPr lang="ja-JP" altLang="en-US" sz="1600" kern="0" dirty="0"/>
              <a:t>エージェントで自動化することで手作業の排除、リードタイム短縮を図る。</a:t>
            </a:r>
          </a:p>
        </p:txBody>
      </p:sp>
      <p:grpSp>
        <p:nvGrpSpPr>
          <p:cNvPr id="53" name="グループ化 52">
            <a:extLst>
              <a:ext uri="{FF2B5EF4-FFF2-40B4-BE49-F238E27FC236}">
                <a16:creationId xmlns:a16="http://schemas.microsoft.com/office/drawing/2014/main" id="{DEBF2A07-9E9F-B3E3-B7CA-3FDD6F53BD4A}"/>
              </a:ext>
            </a:extLst>
          </p:cNvPr>
          <p:cNvGrpSpPr/>
          <p:nvPr/>
        </p:nvGrpSpPr>
        <p:grpSpPr>
          <a:xfrm>
            <a:off x="200884" y="2581045"/>
            <a:ext cx="11790232" cy="2876504"/>
            <a:chOff x="326157" y="2581045"/>
            <a:chExt cx="11790232" cy="2876504"/>
          </a:xfrm>
        </p:grpSpPr>
        <p:cxnSp>
          <p:nvCxnSpPr>
            <p:cNvPr id="54" name="直線コネクタ 53">
              <a:extLst>
                <a:ext uri="{FF2B5EF4-FFF2-40B4-BE49-F238E27FC236}">
                  <a16:creationId xmlns:a16="http://schemas.microsoft.com/office/drawing/2014/main" id="{1C3389DA-D8CA-1165-7C72-E948A4502C14}"/>
                </a:ext>
              </a:extLst>
            </p:cNvPr>
            <p:cNvCxnSpPr>
              <a:cxnSpLocks/>
            </p:cNvCxnSpPr>
            <p:nvPr/>
          </p:nvCxnSpPr>
          <p:spPr>
            <a:xfrm>
              <a:off x="326157" y="4021458"/>
              <a:ext cx="11764243" cy="0"/>
            </a:xfrm>
            <a:prstGeom prst="line">
              <a:avLst/>
            </a:prstGeom>
            <a:noFill/>
            <a:ln w="19050" cap="flat" cmpd="sng" algn="ctr">
              <a:solidFill>
                <a:srgbClr val="FFFFFF">
                  <a:lumMod val="50000"/>
                </a:srgbClr>
              </a:solidFill>
              <a:prstDash val="solid"/>
            </a:ln>
            <a:effectLst/>
          </p:spPr>
        </p:cxnSp>
        <p:sp>
          <p:nvSpPr>
            <p:cNvPr id="55" name="正方形/長方形 54">
              <a:extLst>
                <a:ext uri="{FF2B5EF4-FFF2-40B4-BE49-F238E27FC236}">
                  <a16:creationId xmlns:a16="http://schemas.microsoft.com/office/drawing/2014/main" id="{997FB6FD-C61D-C847-0E61-EC0A824AF151}"/>
                </a:ext>
              </a:extLst>
            </p:cNvPr>
            <p:cNvSpPr/>
            <p:nvPr/>
          </p:nvSpPr>
          <p:spPr bwMode="auto">
            <a:xfrm>
              <a:off x="379350" y="2581045"/>
              <a:ext cx="194770" cy="1260000"/>
            </a:xfrm>
            <a:prstGeom prst="rect">
              <a:avLst/>
            </a:prstGeom>
            <a:solidFill>
              <a:srgbClr val="34373F"/>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A</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S</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I</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S</a:t>
              </a:r>
              <a:endParaRPr kumimoji="0" lang="ja-JP" altLang="en-US"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endParaRPr>
            </a:p>
          </p:txBody>
        </p:sp>
        <p:sp>
          <p:nvSpPr>
            <p:cNvPr id="56" name="正方形/長方形 55">
              <a:extLst>
                <a:ext uri="{FF2B5EF4-FFF2-40B4-BE49-F238E27FC236}">
                  <a16:creationId xmlns:a16="http://schemas.microsoft.com/office/drawing/2014/main" id="{C0C2D793-E4E2-D104-1410-F44FD6D0D93C}"/>
                </a:ext>
              </a:extLst>
            </p:cNvPr>
            <p:cNvSpPr/>
            <p:nvPr/>
          </p:nvSpPr>
          <p:spPr bwMode="auto">
            <a:xfrm>
              <a:off x="379921" y="4197549"/>
              <a:ext cx="194770" cy="1260000"/>
            </a:xfrm>
            <a:prstGeom prst="rect">
              <a:avLst/>
            </a:prstGeom>
            <a:solidFill>
              <a:srgbClr val="34373F"/>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T</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O</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B</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E</a:t>
              </a:r>
            </a:p>
          </p:txBody>
        </p:sp>
        <p:cxnSp>
          <p:nvCxnSpPr>
            <p:cNvPr id="57" name="直線矢印コネクタ 41">
              <a:extLst>
                <a:ext uri="{FF2B5EF4-FFF2-40B4-BE49-F238E27FC236}">
                  <a16:creationId xmlns:a16="http://schemas.microsoft.com/office/drawing/2014/main" id="{001E6384-4D3E-ADA3-CFB1-E8FA72C54966}"/>
                </a:ext>
              </a:extLst>
            </p:cNvPr>
            <p:cNvCxnSpPr>
              <a:cxnSpLocks/>
              <a:stCxn id="88" idx="2"/>
              <a:endCxn id="96" idx="0"/>
            </p:cNvCxnSpPr>
            <p:nvPr/>
          </p:nvCxnSpPr>
          <p:spPr>
            <a:xfrm rot="16200000" flipH="1" flipV="1">
              <a:off x="8030611" y="3426606"/>
              <a:ext cx="572546" cy="1175390"/>
            </a:xfrm>
            <a:prstGeom prst="bentConnector3">
              <a:avLst>
                <a:gd name="adj1" fmla="val 37853"/>
              </a:avLst>
            </a:prstGeom>
            <a:noFill/>
            <a:ln w="19050" cap="flat" cmpd="sng" algn="ctr">
              <a:solidFill>
                <a:srgbClr val="262699"/>
              </a:solidFill>
              <a:prstDash val="sysDash"/>
              <a:tailEnd type="triangle"/>
            </a:ln>
            <a:effectLst/>
          </p:spPr>
        </p:cxnSp>
        <p:sp>
          <p:nvSpPr>
            <p:cNvPr id="58" name="ホームベース 12">
              <a:extLst>
                <a:ext uri="{FF2B5EF4-FFF2-40B4-BE49-F238E27FC236}">
                  <a16:creationId xmlns:a16="http://schemas.microsoft.com/office/drawing/2014/main" id="{3A85C71E-6F96-129A-D340-BAA563DD0C08}"/>
                </a:ext>
              </a:extLst>
            </p:cNvPr>
            <p:cNvSpPr/>
            <p:nvPr/>
          </p:nvSpPr>
          <p:spPr>
            <a:xfrm>
              <a:off x="733507" y="2702326"/>
              <a:ext cx="1102461"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請求書受領</a:t>
              </a:r>
            </a:p>
          </p:txBody>
        </p:sp>
        <p:sp>
          <p:nvSpPr>
            <p:cNvPr id="59" name="正方形/長方形 58">
              <a:extLst>
                <a:ext uri="{FF2B5EF4-FFF2-40B4-BE49-F238E27FC236}">
                  <a16:creationId xmlns:a16="http://schemas.microsoft.com/office/drawing/2014/main" id="{697E8BE0-296B-A1C6-9778-FD7AF0C93879}"/>
                </a:ext>
              </a:extLst>
            </p:cNvPr>
            <p:cNvSpPr/>
            <p:nvPr/>
          </p:nvSpPr>
          <p:spPr>
            <a:xfrm>
              <a:off x="733507"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請求書取得</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共有フォルダ格納</a:t>
              </a:r>
            </a:p>
          </p:txBody>
        </p:sp>
        <p:sp>
          <p:nvSpPr>
            <p:cNvPr id="60" name="正方形/長方形 59">
              <a:extLst>
                <a:ext uri="{FF2B5EF4-FFF2-40B4-BE49-F238E27FC236}">
                  <a16:creationId xmlns:a16="http://schemas.microsoft.com/office/drawing/2014/main" id="{396815E4-2774-F06A-0344-A196848E7C96}"/>
                </a:ext>
              </a:extLst>
            </p:cNvPr>
            <p:cNvSpPr/>
            <p:nvPr/>
          </p:nvSpPr>
          <p:spPr>
            <a:xfrm>
              <a:off x="1912616"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err="1">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AppSheet</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提出</a:t>
              </a:r>
            </a:p>
          </p:txBody>
        </p:sp>
        <p:sp>
          <p:nvSpPr>
            <p:cNvPr id="61" name="正方形/長方形 60">
              <a:extLst>
                <a:ext uri="{FF2B5EF4-FFF2-40B4-BE49-F238E27FC236}">
                  <a16:creationId xmlns:a16="http://schemas.microsoft.com/office/drawing/2014/main" id="{59613319-B5B2-972F-6996-9798522205B2}"/>
                </a:ext>
              </a:extLst>
            </p:cNvPr>
            <p:cNvSpPr/>
            <p:nvPr/>
          </p:nvSpPr>
          <p:spPr>
            <a:xfrm>
              <a:off x="3097713"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GAS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による</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スプシ書込</a:t>
              </a:r>
            </a:p>
          </p:txBody>
        </p:sp>
        <p:sp>
          <p:nvSpPr>
            <p:cNvPr id="62" name="ホームベース 16">
              <a:extLst>
                <a:ext uri="{FF2B5EF4-FFF2-40B4-BE49-F238E27FC236}">
                  <a16:creationId xmlns:a16="http://schemas.microsoft.com/office/drawing/2014/main" id="{3D4EE353-4C78-1906-86A9-B7AA68F139C9}"/>
                </a:ext>
              </a:extLst>
            </p:cNvPr>
            <p:cNvSpPr/>
            <p:nvPr/>
          </p:nvSpPr>
          <p:spPr>
            <a:xfrm>
              <a:off x="1912616" y="2702326"/>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請求書提出</a:t>
              </a:r>
            </a:p>
          </p:txBody>
        </p:sp>
        <p:sp>
          <p:nvSpPr>
            <p:cNvPr id="63" name="正方形/長方形 62">
              <a:extLst>
                <a:ext uri="{FF2B5EF4-FFF2-40B4-BE49-F238E27FC236}">
                  <a16:creationId xmlns:a16="http://schemas.microsoft.com/office/drawing/2014/main" id="{E03517EE-B24B-AB00-42A0-4E9A228C77E3}"/>
                </a:ext>
              </a:extLst>
            </p:cNvPr>
            <p:cNvSpPr/>
            <p:nvPr/>
          </p:nvSpPr>
          <p:spPr>
            <a:xfrm>
              <a:off x="4237649"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一次チェック</a:t>
              </a:r>
            </a:p>
          </p:txBody>
        </p:sp>
        <p:sp>
          <p:nvSpPr>
            <p:cNvPr id="64" name="正方形/長方形 63">
              <a:extLst>
                <a:ext uri="{FF2B5EF4-FFF2-40B4-BE49-F238E27FC236}">
                  <a16:creationId xmlns:a16="http://schemas.microsoft.com/office/drawing/2014/main" id="{90799D00-E0BC-A09C-A992-37AE7790CAAD}"/>
                </a:ext>
              </a:extLst>
            </p:cNvPr>
            <p:cNvSpPr/>
            <p:nvPr/>
          </p:nvSpPr>
          <p:spPr>
            <a:xfrm>
              <a:off x="5422747"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二次チェック</a:t>
              </a:r>
            </a:p>
          </p:txBody>
        </p:sp>
        <p:sp>
          <p:nvSpPr>
            <p:cNvPr id="65" name="ホームベース 19">
              <a:extLst>
                <a:ext uri="{FF2B5EF4-FFF2-40B4-BE49-F238E27FC236}">
                  <a16:creationId xmlns:a16="http://schemas.microsoft.com/office/drawing/2014/main" id="{35BC2CB9-4BA9-761A-3B06-1F0D0B9EF2D3}"/>
                </a:ext>
              </a:extLst>
            </p:cNvPr>
            <p:cNvSpPr/>
            <p:nvPr/>
          </p:nvSpPr>
          <p:spPr>
            <a:xfrm>
              <a:off x="4237649" y="2702326"/>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請求書チェック・</a:t>
              </a:r>
              <a:r>
                <a:rPr kumimoji="0" lang="en-US" altLang="ja-JP"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入力</a:t>
              </a:r>
            </a:p>
          </p:txBody>
        </p:sp>
        <p:sp>
          <p:nvSpPr>
            <p:cNvPr id="66" name="正方形/長方形 65">
              <a:extLst>
                <a:ext uri="{FF2B5EF4-FFF2-40B4-BE49-F238E27FC236}">
                  <a16:creationId xmlns:a16="http://schemas.microsoft.com/office/drawing/2014/main" id="{F30A280C-E6AA-5F04-4162-DBAEB06DCFD4}"/>
                </a:ext>
              </a:extLst>
            </p:cNvPr>
            <p:cNvSpPr/>
            <p:nvPr/>
          </p:nvSpPr>
          <p:spPr>
            <a:xfrm>
              <a:off x="6575704"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RPA</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用前処理</a:t>
              </a:r>
            </a:p>
          </p:txBody>
        </p:sp>
        <p:sp>
          <p:nvSpPr>
            <p:cNvPr id="67" name="正方形/長方形 66">
              <a:extLst>
                <a:ext uri="{FF2B5EF4-FFF2-40B4-BE49-F238E27FC236}">
                  <a16:creationId xmlns:a16="http://schemas.microsoft.com/office/drawing/2014/main" id="{7C09037A-A0AE-CBE0-221D-4787CB1D5DD5}"/>
                </a:ext>
              </a:extLst>
            </p:cNvPr>
            <p:cNvSpPr/>
            <p:nvPr/>
          </p:nvSpPr>
          <p:spPr>
            <a:xfrm>
              <a:off x="7760802"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ファイル移動</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en-US" altLang="ja-JP" sz="1050" b="0" i="0" u="none" strike="noStrike" kern="0" cap="none" spc="0" normalizeH="0" baseline="0" noProof="0" err="1">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ExcelVBA</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準備</a:t>
              </a:r>
            </a:p>
          </p:txBody>
        </p:sp>
        <p:sp>
          <p:nvSpPr>
            <p:cNvPr id="68" name="ホームベース 22">
              <a:extLst>
                <a:ext uri="{FF2B5EF4-FFF2-40B4-BE49-F238E27FC236}">
                  <a16:creationId xmlns:a16="http://schemas.microsoft.com/office/drawing/2014/main" id="{43C99A28-5B03-2D04-1EDC-32BE778D46B4}"/>
                </a:ext>
              </a:extLst>
            </p:cNvPr>
            <p:cNvSpPr/>
            <p:nvPr/>
          </p:nvSpPr>
          <p:spPr>
            <a:xfrm>
              <a:off x="6575703" y="2702326"/>
              <a:ext cx="4657754" cy="273402"/>
            </a:xfrm>
            <a:prstGeom prst="homePlate">
              <a:avLst/>
            </a:prstGeom>
            <a:solidFill>
              <a:srgbClr val="8BCEE4"/>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RPA</a:t>
              </a: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処理準備・実行</a:t>
              </a:r>
            </a:p>
          </p:txBody>
        </p:sp>
        <p:sp>
          <p:nvSpPr>
            <p:cNvPr id="69" name="正方形/長方形 68">
              <a:extLst>
                <a:ext uri="{FF2B5EF4-FFF2-40B4-BE49-F238E27FC236}">
                  <a16:creationId xmlns:a16="http://schemas.microsoft.com/office/drawing/2014/main" id="{913CA465-7EB2-F5CA-958F-9027A1C1A27A}"/>
                </a:ext>
              </a:extLst>
            </p:cNvPr>
            <p:cNvSpPr/>
            <p:nvPr/>
          </p:nvSpPr>
          <p:spPr>
            <a:xfrm>
              <a:off x="8945899"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RPA</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実行</a:t>
              </a:r>
            </a:p>
          </p:txBody>
        </p:sp>
        <p:sp>
          <p:nvSpPr>
            <p:cNvPr id="70" name="正方形/長方形 69">
              <a:extLst>
                <a:ext uri="{FF2B5EF4-FFF2-40B4-BE49-F238E27FC236}">
                  <a16:creationId xmlns:a16="http://schemas.microsoft.com/office/drawing/2014/main" id="{6B8B8A2D-0489-0EA6-3286-BA703CE6EFB2}"/>
                </a:ext>
              </a:extLst>
            </p:cNvPr>
            <p:cNvSpPr/>
            <p:nvPr/>
          </p:nvSpPr>
          <p:spPr>
            <a:xfrm>
              <a:off x="10130997"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へ</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結果の転記</a:t>
              </a:r>
            </a:p>
          </p:txBody>
        </p:sp>
        <p:sp>
          <p:nvSpPr>
            <p:cNvPr id="71" name="四角形: 角を丸くする 52">
              <a:extLst>
                <a:ext uri="{FF2B5EF4-FFF2-40B4-BE49-F238E27FC236}">
                  <a16:creationId xmlns:a16="http://schemas.microsoft.com/office/drawing/2014/main" id="{682B6D1A-1DA3-9A80-40C0-F971AAA946B4}"/>
                </a:ext>
              </a:extLst>
            </p:cNvPr>
            <p:cNvSpPr/>
            <p:nvPr/>
          </p:nvSpPr>
          <p:spPr>
            <a:xfrm>
              <a:off x="2499118"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システム化</a:t>
              </a:r>
            </a:p>
          </p:txBody>
        </p:sp>
        <p:sp>
          <p:nvSpPr>
            <p:cNvPr id="72" name="四角形: 角を丸くする 54">
              <a:extLst>
                <a:ext uri="{FF2B5EF4-FFF2-40B4-BE49-F238E27FC236}">
                  <a16:creationId xmlns:a16="http://schemas.microsoft.com/office/drawing/2014/main" id="{538E0D97-B229-A0AC-9494-0FC9BDA56075}"/>
                </a:ext>
              </a:extLst>
            </p:cNvPr>
            <p:cNvSpPr/>
            <p:nvPr/>
          </p:nvSpPr>
          <p:spPr>
            <a:xfrm>
              <a:off x="3686938"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73" name="四角形: 角を丸くする 68">
              <a:extLst>
                <a:ext uri="{FF2B5EF4-FFF2-40B4-BE49-F238E27FC236}">
                  <a16:creationId xmlns:a16="http://schemas.microsoft.com/office/drawing/2014/main" id="{B418CC72-7596-8F73-B11A-0F12F004C0D6}"/>
                </a:ext>
              </a:extLst>
            </p:cNvPr>
            <p:cNvSpPr/>
            <p:nvPr/>
          </p:nvSpPr>
          <p:spPr>
            <a:xfrm>
              <a:off x="7162661"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74" name="四角形: 角を丸くする 71">
              <a:extLst>
                <a:ext uri="{FF2B5EF4-FFF2-40B4-BE49-F238E27FC236}">
                  <a16:creationId xmlns:a16="http://schemas.microsoft.com/office/drawing/2014/main" id="{843A79EC-3C98-2AE1-3516-1C4AE5F46ED6}"/>
                </a:ext>
              </a:extLst>
            </p:cNvPr>
            <p:cNvSpPr/>
            <p:nvPr/>
          </p:nvSpPr>
          <p:spPr>
            <a:xfrm>
              <a:off x="9539685"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75" name="正方形/長方形 74">
              <a:extLst>
                <a:ext uri="{FF2B5EF4-FFF2-40B4-BE49-F238E27FC236}">
                  <a16:creationId xmlns:a16="http://schemas.microsoft.com/office/drawing/2014/main" id="{D7B262F5-478A-3B69-327E-CED83A0AA592}"/>
                </a:ext>
              </a:extLst>
            </p:cNvPr>
            <p:cNvSpPr/>
            <p:nvPr/>
          </p:nvSpPr>
          <p:spPr>
            <a:xfrm>
              <a:off x="11305049" y="3095147"/>
              <a:ext cx="811340"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の確認</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endPar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endParaRPr>
            </a:p>
          </p:txBody>
        </p:sp>
        <p:sp>
          <p:nvSpPr>
            <p:cNvPr id="76" name="ホームベース 50">
              <a:extLst>
                <a:ext uri="{FF2B5EF4-FFF2-40B4-BE49-F238E27FC236}">
                  <a16:creationId xmlns:a16="http://schemas.microsoft.com/office/drawing/2014/main" id="{08A5D5EF-5F5E-F8BB-A2EE-93D53B965729}"/>
                </a:ext>
              </a:extLst>
            </p:cNvPr>
            <p:cNvSpPr/>
            <p:nvPr/>
          </p:nvSpPr>
          <p:spPr>
            <a:xfrm>
              <a:off x="11305049" y="2702326"/>
              <a:ext cx="81133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結果確認</a:t>
              </a:r>
            </a:p>
          </p:txBody>
        </p:sp>
        <p:sp>
          <p:nvSpPr>
            <p:cNvPr id="77" name="ホームベース 51">
              <a:extLst>
                <a:ext uri="{FF2B5EF4-FFF2-40B4-BE49-F238E27FC236}">
                  <a16:creationId xmlns:a16="http://schemas.microsoft.com/office/drawing/2014/main" id="{33665F12-3AE2-60E0-12F0-EE9FDD212ADD}"/>
                </a:ext>
              </a:extLst>
            </p:cNvPr>
            <p:cNvSpPr/>
            <p:nvPr/>
          </p:nvSpPr>
          <p:spPr>
            <a:xfrm>
              <a:off x="733507" y="4340073"/>
              <a:ext cx="1102461"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請求書受領</a:t>
              </a:r>
            </a:p>
          </p:txBody>
        </p:sp>
        <p:sp>
          <p:nvSpPr>
            <p:cNvPr id="78" name="正方形/長方形 77">
              <a:extLst>
                <a:ext uri="{FF2B5EF4-FFF2-40B4-BE49-F238E27FC236}">
                  <a16:creationId xmlns:a16="http://schemas.microsoft.com/office/drawing/2014/main" id="{987B7EA1-250B-F785-0FE4-EEAF2B6BDA58}"/>
                </a:ext>
              </a:extLst>
            </p:cNvPr>
            <p:cNvSpPr/>
            <p:nvPr/>
          </p:nvSpPr>
          <p:spPr>
            <a:xfrm>
              <a:off x="733507"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請求書取得</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共有フォルダ格納</a:t>
              </a:r>
            </a:p>
          </p:txBody>
        </p:sp>
        <p:sp>
          <p:nvSpPr>
            <p:cNvPr id="79" name="正方形/長方形 78">
              <a:extLst>
                <a:ext uri="{FF2B5EF4-FFF2-40B4-BE49-F238E27FC236}">
                  <a16:creationId xmlns:a16="http://schemas.microsoft.com/office/drawing/2014/main" id="{FDAB4304-0C52-EF85-6ECA-02B031B1E47A}"/>
                </a:ext>
              </a:extLst>
            </p:cNvPr>
            <p:cNvSpPr/>
            <p:nvPr/>
          </p:nvSpPr>
          <p:spPr>
            <a:xfrm>
              <a:off x="1912616"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err="1">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AppSheet</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提出</a:t>
              </a:r>
            </a:p>
          </p:txBody>
        </p:sp>
        <p:sp>
          <p:nvSpPr>
            <p:cNvPr id="80" name="正方形/長方形 79">
              <a:extLst>
                <a:ext uri="{FF2B5EF4-FFF2-40B4-BE49-F238E27FC236}">
                  <a16:creationId xmlns:a16="http://schemas.microsoft.com/office/drawing/2014/main" id="{1A90907F-121E-4359-5F94-D6120E41689E}"/>
                </a:ext>
              </a:extLst>
            </p:cNvPr>
            <p:cNvSpPr/>
            <p:nvPr/>
          </p:nvSpPr>
          <p:spPr>
            <a:xfrm>
              <a:off x="3097713"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GAS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による</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スプシ書込</a:t>
              </a:r>
            </a:p>
          </p:txBody>
        </p:sp>
        <p:sp>
          <p:nvSpPr>
            <p:cNvPr id="81" name="ホームベース 56">
              <a:extLst>
                <a:ext uri="{FF2B5EF4-FFF2-40B4-BE49-F238E27FC236}">
                  <a16:creationId xmlns:a16="http://schemas.microsoft.com/office/drawing/2014/main" id="{2AEEAED6-E9C9-F4A1-8F61-C16F9F4524AA}"/>
                </a:ext>
              </a:extLst>
            </p:cNvPr>
            <p:cNvSpPr/>
            <p:nvPr/>
          </p:nvSpPr>
          <p:spPr>
            <a:xfrm>
              <a:off x="1912616" y="4340073"/>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請求書提出</a:t>
              </a:r>
            </a:p>
          </p:txBody>
        </p:sp>
        <p:sp>
          <p:nvSpPr>
            <p:cNvPr id="82" name="正方形/長方形 81">
              <a:extLst>
                <a:ext uri="{FF2B5EF4-FFF2-40B4-BE49-F238E27FC236}">
                  <a16:creationId xmlns:a16="http://schemas.microsoft.com/office/drawing/2014/main" id="{6EBAE032-3D1E-7750-4664-9CBC22F970AC}"/>
                </a:ext>
              </a:extLst>
            </p:cNvPr>
            <p:cNvSpPr/>
            <p:nvPr/>
          </p:nvSpPr>
          <p:spPr>
            <a:xfrm>
              <a:off x="4237649"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一次チェック</a:t>
              </a:r>
            </a:p>
          </p:txBody>
        </p:sp>
        <p:sp>
          <p:nvSpPr>
            <p:cNvPr id="83" name="正方形/長方形 82">
              <a:extLst>
                <a:ext uri="{FF2B5EF4-FFF2-40B4-BE49-F238E27FC236}">
                  <a16:creationId xmlns:a16="http://schemas.microsoft.com/office/drawing/2014/main" id="{1E2D280A-6886-5E17-5303-F4A5BD06FEC4}"/>
                </a:ext>
              </a:extLst>
            </p:cNvPr>
            <p:cNvSpPr/>
            <p:nvPr/>
          </p:nvSpPr>
          <p:spPr>
            <a:xfrm>
              <a:off x="5422747"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二次チェック</a:t>
              </a:r>
            </a:p>
          </p:txBody>
        </p:sp>
        <p:sp>
          <p:nvSpPr>
            <p:cNvPr id="85" name="ホームベース 59">
              <a:extLst>
                <a:ext uri="{FF2B5EF4-FFF2-40B4-BE49-F238E27FC236}">
                  <a16:creationId xmlns:a16="http://schemas.microsoft.com/office/drawing/2014/main" id="{7A8E6D64-B806-86E3-A262-C7675776E876}"/>
                </a:ext>
              </a:extLst>
            </p:cNvPr>
            <p:cNvSpPr/>
            <p:nvPr/>
          </p:nvSpPr>
          <p:spPr>
            <a:xfrm>
              <a:off x="4237649" y="4340073"/>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請求書チェック・</a:t>
              </a:r>
              <a:r>
                <a:rPr kumimoji="0" lang="en-US" altLang="ja-JP"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入力</a:t>
              </a:r>
            </a:p>
          </p:txBody>
        </p:sp>
        <p:sp>
          <p:nvSpPr>
            <p:cNvPr id="86" name="四角形: 角を丸くする 121">
              <a:extLst>
                <a:ext uri="{FF2B5EF4-FFF2-40B4-BE49-F238E27FC236}">
                  <a16:creationId xmlns:a16="http://schemas.microsoft.com/office/drawing/2014/main" id="{42D69377-CF53-6155-8527-831BE04C72DA}"/>
                </a:ext>
              </a:extLst>
            </p:cNvPr>
            <p:cNvSpPr/>
            <p:nvPr/>
          </p:nvSpPr>
          <p:spPr>
            <a:xfrm>
              <a:off x="2499118"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システム化</a:t>
              </a:r>
            </a:p>
          </p:txBody>
        </p:sp>
        <p:sp>
          <p:nvSpPr>
            <p:cNvPr id="87" name="四角形: 角を丸くする 126">
              <a:extLst>
                <a:ext uri="{FF2B5EF4-FFF2-40B4-BE49-F238E27FC236}">
                  <a16:creationId xmlns:a16="http://schemas.microsoft.com/office/drawing/2014/main" id="{899AF00A-700A-1448-C041-5C8F38405E2F}"/>
                </a:ext>
              </a:extLst>
            </p:cNvPr>
            <p:cNvSpPr/>
            <p:nvPr/>
          </p:nvSpPr>
          <p:spPr>
            <a:xfrm>
              <a:off x="3686938"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88" name="右大かっこ 87">
              <a:extLst>
                <a:ext uri="{FF2B5EF4-FFF2-40B4-BE49-F238E27FC236}">
                  <a16:creationId xmlns:a16="http://schemas.microsoft.com/office/drawing/2014/main" id="{C9B10DEC-DD94-5289-E947-0C0AEFFAC1F8}"/>
                </a:ext>
              </a:extLst>
            </p:cNvPr>
            <p:cNvSpPr/>
            <p:nvPr/>
          </p:nvSpPr>
          <p:spPr>
            <a:xfrm rot="5400000">
              <a:off x="8845673" y="1340244"/>
              <a:ext cx="117812" cy="4657755"/>
            </a:xfrm>
            <a:prstGeom prst="rightBracket">
              <a:avLst/>
            </a:prstGeom>
            <a:noFill/>
            <a:ln w="19050" cap="flat" cmpd="sng" algn="ctr">
              <a:solidFill>
                <a:srgbClr val="262699"/>
              </a:solidFill>
              <a:prstDash val="sysDash"/>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34373F"/>
                </a:solidFill>
                <a:effectLst/>
                <a:uLnTx/>
                <a:uFillTx/>
                <a:latin typeface="Meiryo UI" panose="020B0604030504040204" pitchFamily="50" charset="-128"/>
                <a:ea typeface="Meiryo UI" panose="020B0604030504040204" pitchFamily="50" charset="-128"/>
                <a:sym typeface="Arial"/>
              </a:endParaRPr>
            </a:p>
          </p:txBody>
        </p:sp>
        <p:sp>
          <p:nvSpPr>
            <p:cNvPr id="89" name="正方形/長方形 88">
              <a:extLst>
                <a:ext uri="{FF2B5EF4-FFF2-40B4-BE49-F238E27FC236}">
                  <a16:creationId xmlns:a16="http://schemas.microsoft.com/office/drawing/2014/main" id="{70A0D580-2900-0B18-A5E1-326A4E0DFEE2}"/>
                </a:ext>
              </a:extLst>
            </p:cNvPr>
            <p:cNvSpPr/>
            <p:nvPr/>
          </p:nvSpPr>
          <p:spPr>
            <a:xfrm>
              <a:off x="6575704" y="4732894"/>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を基に処理実行</a:t>
              </a:r>
            </a:p>
          </p:txBody>
        </p:sp>
        <p:sp>
          <p:nvSpPr>
            <p:cNvPr id="90" name="ホームベース 64">
              <a:extLst>
                <a:ext uri="{FF2B5EF4-FFF2-40B4-BE49-F238E27FC236}">
                  <a16:creationId xmlns:a16="http://schemas.microsoft.com/office/drawing/2014/main" id="{D8C3950D-C784-2838-1270-E98345CFE197}"/>
                </a:ext>
              </a:extLst>
            </p:cNvPr>
            <p:cNvSpPr/>
            <p:nvPr/>
          </p:nvSpPr>
          <p:spPr>
            <a:xfrm>
              <a:off x="6575702" y="4340073"/>
              <a:ext cx="2298607" cy="273402"/>
            </a:xfrm>
            <a:prstGeom prst="homePlate">
              <a:avLst/>
            </a:prstGeom>
            <a:solidFill>
              <a:srgbClr val="8BCEE4"/>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sym typeface="Arial"/>
                </a:rPr>
                <a:t>AI</a:t>
              </a:r>
              <a:r>
                <a:rPr kumimoji="0" lang="ja-JP" altLang="en-US" sz="12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sym typeface="Arial"/>
                </a:rPr>
                <a:t>エージェントによる処理</a:t>
              </a:r>
            </a:p>
          </p:txBody>
        </p:sp>
        <p:sp>
          <p:nvSpPr>
            <p:cNvPr id="91" name="四角形: 角を丸くする 128">
              <a:extLst>
                <a:ext uri="{FF2B5EF4-FFF2-40B4-BE49-F238E27FC236}">
                  <a16:creationId xmlns:a16="http://schemas.microsoft.com/office/drawing/2014/main" id="{EA0331C0-C1E1-69BE-964F-94B335C3DE5B}"/>
                </a:ext>
              </a:extLst>
            </p:cNvPr>
            <p:cNvSpPr/>
            <p:nvPr/>
          </p:nvSpPr>
          <p:spPr>
            <a:xfrm>
              <a:off x="7162661"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92" name="正方形/長方形 91">
              <a:extLst>
                <a:ext uri="{FF2B5EF4-FFF2-40B4-BE49-F238E27FC236}">
                  <a16:creationId xmlns:a16="http://schemas.microsoft.com/office/drawing/2014/main" id="{7D0C2220-577D-8BA1-5076-7D7F77DF2456}"/>
                </a:ext>
              </a:extLst>
            </p:cNvPr>
            <p:cNvSpPr/>
            <p:nvPr/>
          </p:nvSpPr>
          <p:spPr>
            <a:xfrm>
              <a:off x="7760802" y="4732894"/>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へ</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結果の転記</a:t>
              </a:r>
            </a:p>
          </p:txBody>
        </p:sp>
        <p:sp>
          <p:nvSpPr>
            <p:cNvPr id="93" name="四角形: 角を丸くする 129">
              <a:extLst>
                <a:ext uri="{FF2B5EF4-FFF2-40B4-BE49-F238E27FC236}">
                  <a16:creationId xmlns:a16="http://schemas.microsoft.com/office/drawing/2014/main" id="{876F27B8-482C-FE2F-FABA-DB29F8235E7E}"/>
                </a:ext>
              </a:extLst>
            </p:cNvPr>
            <p:cNvSpPr/>
            <p:nvPr/>
          </p:nvSpPr>
          <p:spPr>
            <a:xfrm>
              <a:off x="8354588"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94" name="正方形/長方形 93">
              <a:extLst>
                <a:ext uri="{FF2B5EF4-FFF2-40B4-BE49-F238E27FC236}">
                  <a16:creationId xmlns:a16="http://schemas.microsoft.com/office/drawing/2014/main" id="{D7580358-7586-E8F6-DD5A-071E3BB0C1E3}"/>
                </a:ext>
              </a:extLst>
            </p:cNvPr>
            <p:cNvSpPr/>
            <p:nvPr/>
          </p:nvSpPr>
          <p:spPr>
            <a:xfrm>
              <a:off x="8945899" y="4732894"/>
              <a:ext cx="811340"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の確認</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endPar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endParaRPr>
            </a:p>
          </p:txBody>
        </p:sp>
        <p:sp>
          <p:nvSpPr>
            <p:cNvPr id="95" name="ホームベース 70">
              <a:extLst>
                <a:ext uri="{FF2B5EF4-FFF2-40B4-BE49-F238E27FC236}">
                  <a16:creationId xmlns:a16="http://schemas.microsoft.com/office/drawing/2014/main" id="{F0D65C82-E40C-8299-5CD7-2CA338ABAD64}"/>
                </a:ext>
              </a:extLst>
            </p:cNvPr>
            <p:cNvSpPr/>
            <p:nvPr/>
          </p:nvSpPr>
          <p:spPr>
            <a:xfrm>
              <a:off x="8945899" y="4340073"/>
              <a:ext cx="81133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結果確認</a:t>
              </a:r>
            </a:p>
          </p:txBody>
        </p:sp>
        <p:sp>
          <p:nvSpPr>
            <p:cNvPr id="96" name="正方形/長方形 95">
              <a:extLst>
                <a:ext uri="{FF2B5EF4-FFF2-40B4-BE49-F238E27FC236}">
                  <a16:creationId xmlns:a16="http://schemas.microsoft.com/office/drawing/2014/main" id="{51F62046-666D-AA05-3FC4-C29AAA656EEB}"/>
                </a:ext>
              </a:extLst>
            </p:cNvPr>
            <p:cNvSpPr/>
            <p:nvPr/>
          </p:nvSpPr>
          <p:spPr>
            <a:xfrm>
              <a:off x="6548262" y="4300574"/>
              <a:ext cx="2361854" cy="1056268"/>
            </a:xfrm>
            <a:prstGeom prst="rect">
              <a:avLst/>
            </a:prstGeom>
            <a:noFill/>
            <a:ln w="12700" cap="flat" cmpd="sng" algn="ctr">
              <a:solidFill>
                <a:srgbClr val="262699"/>
              </a:solidFill>
              <a:prstDash val="sysDash"/>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34373F"/>
                </a:solidFill>
                <a:effectLst/>
                <a:uLnTx/>
                <a:uFillTx/>
                <a:latin typeface="Meiryo UI" panose="020B0604030504040204" pitchFamily="50" charset="-128"/>
                <a:ea typeface="Meiryo UI" panose="020B0604030504040204" pitchFamily="50" charset="-128"/>
                <a:sym typeface="Arial"/>
              </a:endParaRPr>
            </a:p>
          </p:txBody>
        </p:sp>
        <p:sp>
          <p:nvSpPr>
            <p:cNvPr id="97" name="テキスト ボックス 96">
              <a:extLst>
                <a:ext uri="{FF2B5EF4-FFF2-40B4-BE49-F238E27FC236}">
                  <a16:creationId xmlns:a16="http://schemas.microsoft.com/office/drawing/2014/main" id="{F1929AA4-FD8F-BFAB-E9D6-CA5C2D267508}"/>
                </a:ext>
              </a:extLst>
            </p:cNvPr>
            <p:cNvSpPr txBox="1"/>
            <p:nvPr/>
          </p:nvSpPr>
          <p:spPr>
            <a:xfrm>
              <a:off x="7861851" y="3858135"/>
              <a:ext cx="972000" cy="338554"/>
            </a:xfrm>
            <a:prstGeom prst="rect">
              <a:avLst/>
            </a:prstGeom>
            <a:solidFill>
              <a:srgbClr val="FFFFFF"/>
            </a:solidFill>
            <a:ln w="12700" cap="flat">
              <a:noFill/>
              <a:miter lim="400000"/>
            </a:ln>
            <a:effectLst/>
          </p:spPr>
          <p:txBody>
            <a:bodyPr rot="0" spcFirstLastPara="1" vertOverflow="overflow" horzOverflow="overflow" vert="horz" wrap="none" lIns="0" tIns="0" rIns="0" bIns="0" numCol="1" spcCol="38100" rtlCol="0" anchor="ctr">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rPr>
                <a:t>AI</a:t>
              </a:r>
              <a:br>
                <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rPr>
              </a:br>
              <a:r>
                <a:rPr kumimoji="0" lang="ja-JP" altLang="en-US"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rPr>
                <a:t>エージェント化</a:t>
              </a:r>
              <a:endPar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98" name="直線コネクタ 97">
              <a:extLst>
                <a:ext uri="{FF2B5EF4-FFF2-40B4-BE49-F238E27FC236}">
                  <a16:creationId xmlns:a16="http://schemas.microsoft.com/office/drawing/2014/main" id="{EB13BFC5-31C6-3006-C723-A1C0ACD6B0C1}"/>
                </a:ext>
              </a:extLst>
            </p:cNvPr>
            <p:cNvCxnSpPr>
              <a:cxnSpLocks/>
            </p:cNvCxnSpPr>
            <p:nvPr/>
          </p:nvCxnSpPr>
          <p:spPr>
            <a:xfrm flipH="1">
              <a:off x="9799546" y="4349598"/>
              <a:ext cx="2316842" cy="0"/>
            </a:xfrm>
            <a:prstGeom prst="line">
              <a:avLst/>
            </a:prstGeom>
            <a:noFill/>
            <a:ln w="19050" cap="flat" cmpd="sng" algn="ctr">
              <a:solidFill>
                <a:srgbClr val="C00000"/>
              </a:solidFill>
              <a:prstDash val="sysDash"/>
              <a:headEnd type="triangle"/>
              <a:tailEnd type="triangle"/>
            </a:ln>
            <a:effectLst/>
          </p:spPr>
        </p:cxnSp>
        <p:sp>
          <p:nvSpPr>
            <p:cNvPr id="99" name="テキスト ボックス 98">
              <a:extLst>
                <a:ext uri="{FF2B5EF4-FFF2-40B4-BE49-F238E27FC236}">
                  <a16:creationId xmlns:a16="http://schemas.microsoft.com/office/drawing/2014/main" id="{A6EC5F71-65D0-C47E-E544-6F96CF956F2A}"/>
                </a:ext>
              </a:extLst>
            </p:cNvPr>
            <p:cNvSpPr txBox="1"/>
            <p:nvPr/>
          </p:nvSpPr>
          <p:spPr>
            <a:xfrm>
              <a:off x="10423993" y="4284837"/>
              <a:ext cx="1175390" cy="169277"/>
            </a:xfrm>
            <a:prstGeom prst="rect">
              <a:avLst/>
            </a:prstGeom>
            <a:solidFill>
              <a:srgbClr val="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1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Arial"/>
                  <a:sym typeface="Arial"/>
                </a:rPr>
                <a:t>リードタイム短縮</a:t>
              </a:r>
              <a:endParaRPr kumimoji="0" lang="en-US" altLang="ja-JP" sz="11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0" name="正方形/長方形 99">
              <a:extLst>
                <a:ext uri="{FF2B5EF4-FFF2-40B4-BE49-F238E27FC236}">
                  <a16:creationId xmlns:a16="http://schemas.microsoft.com/office/drawing/2014/main" id="{CB448174-36D0-6C95-4E1B-E0F2BB2EE7E9}"/>
                </a:ext>
              </a:extLst>
            </p:cNvPr>
            <p:cNvSpPr/>
            <p:nvPr/>
          </p:nvSpPr>
          <p:spPr>
            <a:xfrm>
              <a:off x="4231162" y="4732894"/>
              <a:ext cx="1102461" cy="424938"/>
            </a:xfrm>
            <a:prstGeom prst="rect">
              <a:avLst/>
            </a:prstGeom>
            <a:solidFill>
              <a:srgbClr val="5F6368"/>
            </a:solidFill>
            <a:ln w="9525" cap="flat" cmpd="sng" algn="ctr">
              <a:solidFill>
                <a:srgbClr val="0065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1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sym typeface="Arial"/>
                </a:rPr>
                <a:t>処理無くす</a:t>
              </a:r>
            </a:p>
          </p:txBody>
        </p:sp>
        <p:sp>
          <p:nvSpPr>
            <p:cNvPr id="101" name="四角形: 角を丸くする 68">
              <a:extLst>
                <a:ext uri="{FF2B5EF4-FFF2-40B4-BE49-F238E27FC236}">
                  <a16:creationId xmlns:a16="http://schemas.microsoft.com/office/drawing/2014/main" id="{B0FE7478-B45D-061E-78F6-D2CD5870E7E8}"/>
                </a:ext>
              </a:extLst>
            </p:cNvPr>
            <p:cNvSpPr/>
            <p:nvPr/>
          </p:nvSpPr>
          <p:spPr>
            <a:xfrm>
              <a:off x="8343540" y="3470470"/>
              <a:ext cx="519722" cy="195800"/>
            </a:xfrm>
            <a:prstGeom prst="roundRect">
              <a:avLst/>
            </a:prstGeom>
            <a:solidFill>
              <a:srgbClr val="FFE3FA"/>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手作業</a:t>
              </a:r>
            </a:p>
          </p:txBody>
        </p:sp>
        <p:sp>
          <p:nvSpPr>
            <p:cNvPr id="102" name="四角形: 角を丸くする 68">
              <a:extLst>
                <a:ext uri="{FF2B5EF4-FFF2-40B4-BE49-F238E27FC236}">
                  <a16:creationId xmlns:a16="http://schemas.microsoft.com/office/drawing/2014/main" id="{319BE625-F320-41B7-9E51-3C46F4644408}"/>
                </a:ext>
              </a:extLst>
            </p:cNvPr>
            <p:cNvSpPr/>
            <p:nvPr/>
          </p:nvSpPr>
          <p:spPr>
            <a:xfrm>
              <a:off x="10698106" y="3470470"/>
              <a:ext cx="519722" cy="195800"/>
            </a:xfrm>
            <a:prstGeom prst="roundRect">
              <a:avLst/>
            </a:prstGeom>
            <a:solidFill>
              <a:srgbClr val="FFE3FA"/>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手作業</a:t>
              </a:r>
            </a:p>
          </p:txBody>
        </p:sp>
      </p:grpSp>
    </p:spTree>
    <p:extLst>
      <p:ext uri="{BB962C8B-B14F-4D97-AF65-F5344CB8AC3E}">
        <p14:creationId xmlns:p14="http://schemas.microsoft.com/office/powerpoint/2010/main" val="41110957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lIns="36000" tIns="36000" rIns="36000" bIns="36000" rtlCol="0" anchor="ctr"/>
      <a:lstStyle>
        <a:defPPr algn="ctr">
          <a:defRPr kumimoji="1" sz="1400" dirty="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4.xml><?xml version="1.0" encoding="utf-8"?>
<a:theme xmlns:a="http://schemas.openxmlformats.org/drawingml/2006/main" name="5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f52ec0e6-5720-4074-b74f-ed0a3473655d">
      <UserInfo>
        <DisplayName>木村 茂史</DisplayName>
        <AccountId>15</AccountId>
        <AccountType/>
      </UserInfo>
      <UserInfo>
        <DisplayName>山形 舞</DisplayName>
        <AccountId>16</AccountId>
        <AccountType/>
      </UserInfo>
      <UserInfo>
        <DisplayName>佐々木 愛</DisplayName>
        <AccountId>17</AccountId>
        <AccountType/>
      </UserInfo>
      <UserInfo>
        <DisplayName>丸田 志穂</DisplayName>
        <AccountId>18</AccountId>
        <AccountType/>
      </UserInfo>
      <UserInfo>
        <DisplayName>坂口 諒</DisplayName>
        <AccountId>19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BC7193C5000614D902DFE8DB2D504A0" ma:contentTypeVersion="10" ma:contentTypeDescription="新しいドキュメントを作成します。" ma:contentTypeScope="" ma:versionID="5bdfb082c6b5f485876ed098d1aba435">
  <xsd:schema xmlns:xsd="http://www.w3.org/2001/XMLSchema" xmlns:xs="http://www.w3.org/2001/XMLSchema" xmlns:p="http://schemas.microsoft.com/office/2006/metadata/properties" xmlns:ns2="6d1bb7b3-1a78-4edb-9d24-6d6293c5661b" xmlns:ns3="f52ec0e6-5720-4074-b74f-ed0a3473655d" targetNamespace="http://schemas.microsoft.com/office/2006/metadata/properties" ma:root="true" ma:fieldsID="f9a05aec5cbd8dcc8973064e25e971cd" ns2:_="" ns3:_="">
    <xsd:import namespace="6d1bb7b3-1a78-4edb-9d24-6d6293c5661b"/>
    <xsd:import namespace="f52ec0e6-5720-4074-b74f-ed0a3473655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bb7b3-1a78-4edb-9d24-6d6293c56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52ec0e6-5720-4074-b74f-ed0a3473655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141BD7-758F-4617-9716-1DCB9409EBDD}">
  <ds:schemaRefs>
    <ds:schemaRef ds:uri="http://schemas.microsoft.com/sharepoint/v3/contenttype/forms"/>
  </ds:schemaRefs>
</ds:datastoreItem>
</file>

<file path=customXml/itemProps2.xml><?xml version="1.0" encoding="utf-8"?>
<ds:datastoreItem xmlns:ds="http://schemas.openxmlformats.org/officeDocument/2006/customXml" ds:itemID="{9412C807-2F06-4126-A938-618AA2560249}">
  <ds:schemaRefs>
    <ds:schemaRef ds:uri="http://schemas.microsoft.com/office/2006/documentManagement/types"/>
    <ds:schemaRef ds:uri="http://www.w3.org/XML/1998/namespace"/>
    <ds:schemaRef ds:uri="6d1bb7b3-1a78-4edb-9d24-6d6293c5661b"/>
    <ds:schemaRef ds:uri="http://schemas.microsoft.com/office/infopath/2007/PartnerControls"/>
    <ds:schemaRef ds:uri="http://purl.org/dc/dcmitype/"/>
    <ds:schemaRef ds:uri="http://purl.org/dc/elements/1.1/"/>
    <ds:schemaRef ds:uri="f52ec0e6-5720-4074-b74f-ed0a3473655d"/>
    <ds:schemaRef ds:uri="http://purl.org/dc/term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4DEF686A-51F8-4D09-A86E-1ADB230C3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bb7b3-1a78-4edb-9d24-6d6293c5661b"/>
    <ds:schemaRef ds:uri="f52ec0e6-5720-4074-b74f-ed0a347365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12885</TotalTime>
  <Words>812</Words>
  <Application>Microsoft Office PowerPoint</Application>
  <PresentationFormat>ワイド画面</PresentationFormat>
  <Paragraphs>160</Paragraphs>
  <Slides>4</Slides>
  <Notes>4</Notes>
  <HiddenSlides>0</HiddenSlides>
  <MMClips>0</MMClips>
  <ScaleCrop>false</ScaleCrop>
  <HeadingPairs>
    <vt:vector size="8" baseType="variant">
      <vt:variant>
        <vt:lpstr>使用されているフォント</vt:lpstr>
      </vt:variant>
      <vt:variant>
        <vt:i4>5</vt:i4>
      </vt:variant>
      <vt:variant>
        <vt:lpstr>テーマ</vt:lpstr>
      </vt:variant>
      <vt:variant>
        <vt:i4>4</vt:i4>
      </vt:variant>
      <vt:variant>
        <vt:lpstr>埋め込まれた OLE サーバー</vt:lpstr>
      </vt:variant>
      <vt:variant>
        <vt:i4>1</vt:i4>
      </vt:variant>
      <vt:variant>
        <vt:lpstr>スライド タイトル</vt:lpstr>
      </vt:variant>
      <vt:variant>
        <vt:i4>4</vt:i4>
      </vt:variant>
    </vt:vector>
  </HeadingPairs>
  <TitlesOfParts>
    <vt:vector size="14" baseType="lpstr">
      <vt:lpstr>MS UI Gothic</vt:lpstr>
      <vt:lpstr>游ゴシック</vt:lpstr>
      <vt:lpstr>Arial</vt:lpstr>
      <vt:lpstr>Meiryo UI</vt:lpstr>
      <vt:lpstr>Wingdings</vt:lpstr>
      <vt:lpstr>企画書テンプレートRLS14ver</vt:lpstr>
      <vt:lpstr>3_企画書テンプレートRLS14ver</vt:lpstr>
      <vt:lpstr>4_企画書テンプレートRLS14ver</vt:lpstr>
      <vt:lpstr>5_企画書テンプレートRLS14ver</vt:lpstr>
      <vt:lpstr>think-cell スライド</vt:lpstr>
      <vt:lpstr>AIイノベーション推進Gへの依頼事項について</vt:lpstr>
      <vt:lpstr>具体的な支援内容について</vt:lpstr>
      <vt:lpstr>ToBe業務イメージ（顧客管理G）</vt:lpstr>
      <vt:lpstr>ToBe業務イメージ（BPS）</vt:lpstr>
    </vt:vector>
  </TitlesOfParts>
  <Company>RECRUIT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【前提】売上・債権の仕訳データ作成までのデータ流入経路</dc:title>
  <dc:creator>佐伯 奈々</dc:creator>
  <cp:lastModifiedBy>越智 啓人</cp:lastModifiedBy>
  <cp:revision>178</cp:revision>
  <cp:lastPrinted>2026-05-06T13:53:55Z</cp:lastPrinted>
  <dcterms:created xsi:type="dcterms:W3CDTF">2022-12-19T07:46:21Z</dcterms:created>
  <dcterms:modified xsi:type="dcterms:W3CDTF">2026-06-10T09:00:15Z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0x0101006BC7193C5000614D902DFE8DB2D504A0</vt:lpwstr>
  </property>
  <property fmtid="{D5CDD505-2E9C-101B-9397-08002B2CF9AE}" pid="3" name="MediaServiceImageTags">
    <vt:lpwstr/>
  </property>
</Properties>
</file>