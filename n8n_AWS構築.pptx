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1"/>
  </p:sldMasterIdLst>
  <p:handoutMasterIdLst>
    <p:handoutMasterId r:id="rId14"/>
  </p:handoutMasterIdLst>
  <p:sldIdLst>
    <p:sldId id="256" r:id="rId2"/>
    <p:sldId id="260" r:id="rId3"/>
    <p:sldId id="277" r:id="rId4"/>
    <p:sldId id="278" r:id="rId5"/>
    <p:sldId id="281" r:id="rId6"/>
    <p:sldId id="280" r:id="rId7"/>
    <p:sldId id="282" r:id="rId8"/>
    <p:sldId id="283" r:id="rId9"/>
    <p:sldId id="284" r:id="rId10"/>
    <p:sldId id="285" r:id="rId11"/>
    <p:sldId id="286" r:id="rId12"/>
    <p:sldId id="28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4" d="100"/>
          <a:sy n="114" d="100"/>
        </p:scale>
        <p:origin x="676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6FC98CD-4FD2-5ED6-BA88-F5CCD7B573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2E3D032-815F-7859-735A-9C77E4A84B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E3D86-A5A6-4FAF-B478-366E953A73C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00BBD4-7B0C-A903-FEE8-E73155328F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304686-B0F9-E688-F647-CB482ED13D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BF620-3D1F-4463-9C84-4B2DCB514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41379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800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27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16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04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821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715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341A77-453B-FB87-F35E-9BD131B578FD}"/>
              </a:ext>
            </a:extLst>
          </p:cNvPr>
          <p:cNvSpPr/>
          <p:nvPr userDrawn="1"/>
        </p:nvSpPr>
        <p:spPr>
          <a:xfrm flipV="1">
            <a:off x="95331" y="548682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39999">
                <a:srgbClr val="C00000"/>
              </a:gs>
              <a:gs pos="70000">
                <a:srgbClr val="C00000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690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68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045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52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672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F8AA7-4BC5-423C-8D54-34BCCA2027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26900-9959-4267-A8CB-B4F3EA7955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494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8">
            <a:extLst>
              <a:ext uri="{FF2B5EF4-FFF2-40B4-BE49-F238E27FC236}">
                <a16:creationId xmlns:a16="http://schemas.microsoft.com/office/drawing/2014/main" id="{2791B33F-CE76-4EF1-8227-54ED041CD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EE0DA29-BFD5-33E6-0E91-1B593EF6F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557189"/>
            <a:ext cx="8629358" cy="2956233"/>
          </a:xfrm>
        </p:spPr>
        <p:txBody>
          <a:bodyPr anchor="b">
            <a:normAutofit/>
          </a:bodyPr>
          <a:lstStyle/>
          <a:p>
            <a:pPr algn="l"/>
            <a:r>
              <a:rPr lang="en-US" altLang="ja-JP" sz="5200" dirty="0">
                <a:latin typeface="Meiryo UI" panose="020B0604030504040204" pitchFamily="50" charset="-128"/>
                <a:ea typeface="Meiryo UI" panose="020B0604030504040204" pitchFamily="50" charset="-128"/>
              </a:rPr>
              <a:t>n</a:t>
            </a:r>
            <a:r>
              <a:rPr kumimoji="1" lang="en-US" altLang="ja-JP" sz="5200" dirty="0">
                <a:latin typeface="Meiryo UI" panose="020B0604030504040204" pitchFamily="50" charset="-128"/>
                <a:ea typeface="Meiryo UI" panose="020B0604030504040204" pitchFamily="50" charset="-128"/>
              </a:rPr>
              <a:t>8n</a:t>
            </a:r>
            <a:r>
              <a:rPr kumimoji="1" lang="ja-JP" altLang="en-US" sz="5200" dirty="0">
                <a:latin typeface="Meiryo UI" panose="020B0604030504040204" pitchFamily="50" charset="-128"/>
                <a:ea typeface="Meiryo UI" panose="020B0604030504040204" pitchFamily="50" charset="-128"/>
              </a:rPr>
              <a:t>構築手順書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901E578-0EF1-335D-3BE1-FF8ABE291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0749" y="3728614"/>
            <a:ext cx="8629358" cy="1828121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-AWS </a:t>
            </a:r>
            <a:r>
              <a:rPr kumimoji="1" lang="en-US" altLang="ja-JP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Lightsail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によるデプロイ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783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4D77-D473-7D54-0E74-60E616603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D2CC30AB-0411-6D7E-95EC-4972325A4836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marL="0" marR="0" lvl="0" indent="0" algn="l" defTabSz="879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環境の全体像</a:t>
            </a:r>
            <a:endParaRPr kumimoji="1" lang="ja-JP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  <a:sym typeface="MS UI Gothic" panose="020B0600070205080204" pitchFamily="34" charset="-128"/>
            </a:endParaRP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E4749DE3-6987-62FF-C471-56500F8C1B06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本環境の全体像は以下の通り。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294E2FE7-7EA5-CAE3-15B6-07B8DB6180B9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2</a:t>
            </a:fld>
            <a:endParaRPr lang="en-US" altLang="ja-JP" dirty="0"/>
          </a:p>
        </p:txBody>
      </p: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C54F042B-BE0F-F767-E8B8-2B7D75296914}"/>
              </a:ext>
            </a:extLst>
          </p:cNvPr>
          <p:cNvGrpSpPr/>
          <p:nvPr/>
        </p:nvGrpSpPr>
        <p:grpSpPr>
          <a:xfrm>
            <a:off x="2084917" y="1529415"/>
            <a:ext cx="8022167" cy="5014260"/>
            <a:chOff x="2617258" y="1529415"/>
            <a:chExt cx="8022167" cy="501426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D7181D72-031E-94DC-9FE5-F6C32A0768FE}"/>
                </a:ext>
              </a:extLst>
            </p:cNvPr>
            <p:cNvSpPr/>
            <p:nvPr/>
          </p:nvSpPr>
          <p:spPr>
            <a:xfrm>
              <a:off x="4843992" y="1529415"/>
              <a:ext cx="2539999" cy="737743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85725" defTabSz="914400"/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インターネット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2C7EE28-00ED-24E3-242D-C172C5AC6E62}"/>
                </a:ext>
              </a:extLst>
            </p:cNvPr>
            <p:cNvSpPr/>
            <p:nvPr/>
          </p:nvSpPr>
          <p:spPr>
            <a:xfrm>
              <a:off x="5401883" y="1847936"/>
              <a:ext cx="1406224" cy="328920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ユーザー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A91AAF5-A358-3A81-6E5B-8DD088BEFC6B}"/>
                </a:ext>
              </a:extLst>
            </p:cNvPr>
            <p:cNvSpPr/>
            <p:nvPr/>
          </p:nvSpPr>
          <p:spPr>
            <a:xfrm>
              <a:off x="2617258" y="2610174"/>
              <a:ext cx="8022167" cy="3933501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85725" defTabSz="914400"/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Amazon </a:t>
              </a:r>
              <a:r>
                <a:rPr kumimoji="1" lang="en-US" altLang="ja-JP" sz="1100" kern="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Lightsail</a:t>
              </a:r>
              <a:endPara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9274486B-9304-C31D-74CC-80F37CF06E2E}"/>
                </a:ext>
              </a:extLst>
            </p:cNvPr>
            <p:cNvSpPr/>
            <p:nvPr/>
          </p:nvSpPr>
          <p:spPr>
            <a:xfrm>
              <a:off x="5401883" y="2792022"/>
              <a:ext cx="1406224" cy="328920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静的</a:t>
              </a:r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IP</a:t>
              </a:r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アドレス</a:t>
              </a: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07724859-F3C2-57AE-6ED0-77EED9FAE57A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6104995" y="2176856"/>
              <a:ext cx="0" cy="615166"/>
            </a:xfrm>
            <a:prstGeom prst="straightConnector1">
              <a:avLst/>
            </a:prstGeom>
            <a:noFill/>
            <a:ln w="6350" cap="flat">
              <a:solidFill>
                <a:srgbClr val="FFFFFF">
                  <a:lumMod val="65000"/>
                </a:srgbClr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</p:cxn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2D3925E1-DBE7-6795-1E15-B378737255DD}"/>
                </a:ext>
              </a:extLst>
            </p:cNvPr>
            <p:cNvSpPr/>
            <p:nvPr/>
          </p:nvSpPr>
          <p:spPr>
            <a:xfrm>
              <a:off x="3186642" y="3533576"/>
              <a:ext cx="6843183" cy="1920549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85725" defTabSz="914400"/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Instance</a:t>
              </a:r>
              <a:endPara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AF8BAD0D-0CA7-83E6-FD48-606F9D4B6FB8}"/>
                </a:ext>
              </a:extLst>
            </p:cNvPr>
            <p:cNvSpPr/>
            <p:nvPr/>
          </p:nvSpPr>
          <p:spPr>
            <a:xfrm>
              <a:off x="3691468" y="3914175"/>
              <a:ext cx="4547658" cy="1467450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85725" defTabSz="914400"/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Docker Compose</a:t>
              </a:r>
              <a:endPara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BF91671A-E3D2-6048-A09B-EAACE92F3099}"/>
                </a:ext>
              </a:extLst>
            </p:cNvPr>
            <p:cNvSpPr/>
            <p:nvPr/>
          </p:nvSpPr>
          <p:spPr>
            <a:xfrm>
              <a:off x="5401883" y="4130083"/>
              <a:ext cx="1406224" cy="328920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n8n</a:t>
              </a:r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コンテナ</a:t>
              </a: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FA140FF3-E0EA-DD29-B998-78AAA802B5F8}"/>
                </a:ext>
              </a:extLst>
            </p:cNvPr>
            <p:cNvSpPr/>
            <p:nvPr/>
          </p:nvSpPr>
          <p:spPr>
            <a:xfrm>
              <a:off x="6608233" y="4973455"/>
              <a:ext cx="1406224" cy="328920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PostgreSQL</a:t>
              </a:r>
              <a:b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コンテナ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D0982727-AC58-0D63-662D-4B10228E86AE}"/>
                </a:ext>
              </a:extLst>
            </p:cNvPr>
            <p:cNvSpPr/>
            <p:nvPr/>
          </p:nvSpPr>
          <p:spPr>
            <a:xfrm>
              <a:off x="5402513" y="2334688"/>
              <a:ext cx="1406224" cy="20423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HTTPS</a:t>
              </a:r>
              <a:endPara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020B0942-7963-10A7-779C-1DAAA357BFF2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6104995" y="3120942"/>
              <a:ext cx="8996" cy="412634"/>
            </a:xfrm>
            <a:prstGeom prst="straightConnector1">
              <a:avLst/>
            </a:prstGeom>
            <a:noFill/>
            <a:ln w="6350" cap="flat">
              <a:solidFill>
                <a:srgbClr val="FFFFFF">
                  <a:lumMod val="65000"/>
                </a:srgbClr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</p:cxn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8492480-6FED-0FE0-37F3-9A99059E67E4}"/>
                </a:ext>
              </a:extLst>
            </p:cNvPr>
            <p:cNvSpPr/>
            <p:nvPr/>
          </p:nvSpPr>
          <p:spPr>
            <a:xfrm>
              <a:off x="5392888" y="3189416"/>
              <a:ext cx="1406224" cy="20423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トラフィック転送</a:t>
              </a:r>
            </a:p>
          </p:txBody>
        </p: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65D0B784-A7F0-105C-9476-CB0215B158BF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 rot="16200000" flipH="1">
              <a:off x="6450944" y="4113054"/>
              <a:ext cx="514452" cy="1206350"/>
            </a:xfrm>
            <a:prstGeom prst="bentConnector3">
              <a:avLst>
                <a:gd name="adj1" fmla="val 16673"/>
              </a:avLst>
            </a:prstGeom>
            <a:noFill/>
            <a:ln w="6350" cap="flat">
              <a:solidFill>
                <a:srgbClr val="FFFFFF">
                  <a:lumMod val="65000"/>
                </a:srgbClr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</p:cxn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D48CD0D3-05B5-F45C-DC81-E5191B813EF1}"/>
                </a:ext>
              </a:extLst>
            </p:cNvPr>
            <p:cNvSpPr/>
            <p:nvPr/>
          </p:nvSpPr>
          <p:spPr>
            <a:xfrm>
              <a:off x="8416886" y="4973455"/>
              <a:ext cx="1406224" cy="328920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en-US" altLang="ja-JP" sz="1100" kern="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DockerEngine</a:t>
              </a:r>
              <a:endPara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969777CC-8B5A-6EBC-5F34-87207040BF39}"/>
                </a:ext>
              </a:extLst>
            </p:cNvPr>
            <p:cNvSpPr/>
            <p:nvPr/>
          </p:nvSpPr>
          <p:spPr>
            <a:xfrm>
              <a:off x="3186643" y="5612024"/>
              <a:ext cx="6843182" cy="737743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85725" defTabSz="914400"/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ホスト</a:t>
              </a:r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OS</a:t>
              </a:r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ファイルシステム</a:t>
              </a:r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4A0FC45A-BDEF-E0C9-DE2D-F0259237BF8A}"/>
                </a:ext>
              </a:extLst>
            </p:cNvPr>
            <p:cNvSpPr/>
            <p:nvPr/>
          </p:nvSpPr>
          <p:spPr>
            <a:xfrm>
              <a:off x="4559073" y="5937631"/>
              <a:ext cx="1406224" cy="328920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/n8n_data</a:t>
              </a:r>
            </a:p>
            <a:p>
              <a:pPr marL="85725" algn="ctr" defTabSz="914400"/>
              <a:r>
                <a:rPr kumimoji="1" lang="en-US" altLang="ja-JP" sz="105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※</a:t>
              </a:r>
              <a:r>
                <a:rPr kumimoji="1" lang="ja-JP" altLang="en-US" sz="105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ワークフロー</a:t>
              </a:r>
              <a:r>
                <a:rPr kumimoji="1" lang="en-US" altLang="ja-JP" sz="105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,</a:t>
              </a:r>
              <a:r>
                <a:rPr kumimoji="1" lang="ja-JP" altLang="en-US" sz="105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設定</a:t>
              </a: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1FCB0A96-76F7-7E9D-33CF-5AC634CA6B14}"/>
                </a:ext>
              </a:extLst>
            </p:cNvPr>
            <p:cNvSpPr/>
            <p:nvPr/>
          </p:nvSpPr>
          <p:spPr>
            <a:xfrm>
              <a:off x="6608233" y="5937637"/>
              <a:ext cx="1406224" cy="328920"/>
            </a:xfrm>
            <a:prstGeom prst="rect">
              <a:avLst/>
            </a:prstGeom>
            <a:noFill/>
            <a:ln w="63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kumimoji="1" lang="en-US" altLang="ja-JP" sz="1100" kern="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postgre_data</a:t>
              </a:r>
              <a:endPara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algn="ctr" defTabSz="914400"/>
              <a:r>
                <a:rPr kumimoji="1" lang="en-US" altLang="ja-JP" sz="105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※DB</a:t>
              </a:r>
              <a:r>
                <a:rPr kumimoji="1" lang="ja-JP" altLang="en-US" sz="105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データ</a:t>
              </a:r>
            </a:p>
          </p:txBody>
        </p:sp>
        <p:cxnSp>
          <p:nvCxnSpPr>
            <p:cNvPr id="66" name="直線矢印コネクタ 27">
              <a:extLst>
                <a:ext uri="{FF2B5EF4-FFF2-40B4-BE49-F238E27FC236}">
                  <a16:creationId xmlns:a16="http://schemas.microsoft.com/office/drawing/2014/main" id="{DF62EED0-1CF0-FEE3-AD52-6E48585DCADD}"/>
                </a:ext>
              </a:extLst>
            </p:cNvPr>
            <p:cNvCxnSpPr>
              <a:cxnSpLocks/>
              <a:stCxn id="17" idx="2"/>
              <a:endCxn id="64" idx="0"/>
            </p:cNvCxnSpPr>
            <p:nvPr/>
          </p:nvCxnSpPr>
          <p:spPr>
            <a:xfrm rot="5400000">
              <a:off x="4944276" y="4776912"/>
              <a:ext cx="1478628" cy="842810"/>
            </a:xfrm>
            <a:prstGeom prst="bentConnector3">
              <a:avLst>
                <a:gd name="adj1" fmla="val 6454"/>
              </a:avLst>
            </a:prstGeom>
            <a:noFill/>
            <a:ln w="6350" cap="flat">
              <a:solidFill>
                <a:srgbClr val="FFFFFF">
                  <a:lumMod val="65000"/>
                </a:srgbClr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id="{1BDAA405-4770-3822-72C3-CC4BA58099CB}"/>
                </a:ext>
              </a:extLst>
            </p:cNvPr>
            <p:cNvCxnSpPr>
              <a:cxnSpLocks/>
              <a:stCxn id="18" idx="2"/>
              <a:endCxn id="65" idx="0"/>
            </p:cNvCxnSpPr>
            <p:nvPr/>
          </p:nvCxnSpPr>
          <p:spPr>
            <a:xfrm>
              <a:off x="7311345" y="5302375"/>
              <a:ext cx="0" cy="635262"/>
            </a:xfrm>
            <a:prstGeom prst="straightConnector1">
              <a:avLst/>
            </a:prstGeom>
            <a:noFill/>
            <a:ln w="6350" cap="flat">
              <a:solidFill>
                <a:srgbClr val="FFFFFF">
                  <a:lumMod val="65000"/>
                </a:srgbClr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</p:cxn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E90C40CA-D008-7C94-3CF8-A239C41F31D5}"/>
                </a:ext>
              </a:extLst>
            </p:cNvPr>
            <p:cNvSpPr/>
            <p:nvPr/>
          </p:nvSpPr>
          <p:spPr>
            <a:xfrm>
              <a:off x="4559073" y="4635317"/>
              <a:ext cx="1406224" cy="20423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データの永続化</a:t>
              </a: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FF147F98-8D3F-B126-23EB-90AE61155CDC}"/>
                </a:ext>
              </a:extLst>
            </p:cNvPr>
            <p:cNvSpPr/>
            <p:nvPr/>
          </p:nvSpPr>
          <p:spPr>
            <a:xfrm>
              <a:off x="6914410" y="4635317"/>
              <a:ext cx="793870" cy="20423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85725" algn="ctr" defTabSz="914400"/>
              <a:r>
                <a:rPr kumimoji="1" lang="en-US" altLang="ja-JP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DB</a:t>
              </a:r>
              <a:r>
                <a:rPr kumimoji="1" lang="ja-JP" altLang="en-US" sz="11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接続</a:t>
              </a:r>
            </a:p>
          </p:txBody>
        </p:sp>
      </p:grp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BFEC0C4F-B391-E2DA-A42C-506F0CC79AEF}"/>
              </a:ext>
            </a:extLst>
          </p:cNvPr>
          <p:cNvSpPr/>
          <p:nvPr/>
        </p:nvSpPr>
        <p:spPr>
          <a:xfrm>
            <a:off x="6075892" y="5512287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データの永続化</a:t>
            </a:r>
          </a:p>
        </p:txBody>
      </p:sp>
    </p:spTree>
    <p:extLst>
      <p:ext uri="{BB962C8B-B14F-4D97-AF65-F5344CB8AC3E}">
        <p14:creationId xmlns:p14="http://schemas.microsoft.com/office/powerpoint/2010/main" val="360553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881F-C594-9AD7-133E-B21A4D47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C8547E86-5D0B-7B5F-7268-3ACA8D87E419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marL="0" marR="0" lvl="0" indent="0" algn="l" defTabSz="879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Amazon </a:t>
            </a:r>
            <a:r>
              <a:rPr lang="en-US" altLang="ja-JP" kern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Lightsail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の環境構築</a:t>
            </a:r>
            <a:endParaRPr kumimoji="1" lang="ja-JP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  <a:sym typeface="MS UI Gothic" panose="020B0600070205080204" pitchFamily="34" charset="-128"/>
            </a:endParaRP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5848EB25-2FE2-DB8C-51D8-A828E809C83C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Amazon </a:t>
            </a:r>
            <a:r>
              <a:rPr kumimoji="0" lang="en-US" altLang="ja-JP" sz="2000" kern="0" dirty="0" err="1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Lightsail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の環境を構築します。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30D55AD8-D9CF-5BCA-4EA6-F7BB9D66D8A9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3</a:t>
            </a:fld>
            <a:endParaRPr lang="en-US" altLang="ja-JP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6E272BE-2337-59F6-A539-7836534CAEEA}"/>
              </a:ext>
            </a:extLst>
          </p:cNvPr>
          <p:cNvSpPr/>
          <p:nvPr/>
        </p:nvSpPr>
        <p:spPr>
          <a:xfrm>
            <a:off x="4311651" y="1529415"/>
            <a:ext cx="2539999" cy="737743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インターネット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941D64C-AE5D-B6E1-7484-C0A6F0A48E5D}"/>
              </a:ext>
            </a:extLst>
          </p:cNvPr>
          <p:cNvSpPr/>
          <p:nvPr/>
        </p:nvSpPr>
        <p:spPr>
          <a:xfrm>
            <a:off x="4869542" y="1847936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ユーザー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B31348F-6958-369F-6EB5-5A01EAB23C8C}"/>
              </a:ext>
            </a:extLst>
          </p:cNvPr>
          <p:cNvSpPr/>
          <p:nvPr/>
        </p:nvSpPr>
        <p:spPr>
          <a:xfrm>
            <a:off x="2084917" y="2610174"/>
            <a:ext cx="8022167" cy="3933501"/>
          </a:xfrm>
          <a:prstGeom prst="rect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Amazon </a:t>
            </a:r>
            <a:r>
              <a:rPr kumimoji="1" lang="en-US" altLang="ja-JP" sz="1100" b="1" kern="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Lightsail</a:t>
            </a:r>
            <a:endParaRPr kumimoji="1" lang="ja-JP" altLang="en-US" sz="1100" b="1" kern="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70EAD43-0651-3AE1-E8A0-73FD808B1601}"/>
              </a:ext>
            </a:extLst>
          </p:cNvPr>
          <p:cNvSpPr/>
          <p:nvPr/>
        </p:nvSpPr>
        <p:spPr>
          <a:xfrm>
            <a:off x="4869542" y="2792022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静的</a:t>
            </a:r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アドレス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9DDA42B-27AA-84F2-8B91-796F311662AA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5572654" y="2176856"/>
            <a:ext cx="0" cy="615166"/>
          </a:xfrm>
          <a:prstGeom prst="straightConnector1">
            <a:avLst/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D57B762-DCA9-F5FE-4E20-A5DB5EE202DE}"/>
              </a:ext>
            </a:extLst>
          </p:cNvPr>
          <p:cNvSpPr/>
          <p:nvPr/>
        </p:nvSpPr>
        <p:spPr>
          <a:xfrm>
            <a:off x="2654301" y="3533576"/>
            <a:ext cx="6843183" cy="1920549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Instance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36C778E-18FF-8B61-C4C1-9C2DC4080417}"/>
              </a:ext>
            </a:extLst>
          </p:cNvPr>
          <p:cNvSpPr/>
          <p:nvPr/>
        </p:nvSpPr>
        <p:spPr>
          <a:xfrm>
            <a:off x="3159127" y="3914175"/>
            <a:ext cx="4547658" cy="146745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 Compose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08F5F4B-916E-10CC-0CAA-5B2DBC20A02D}"/>
              </a:ext>
            </a:extLst>
          </p:cNvPr>
          <p:cNvSpPr/>
          <p:nvPr/>
        </p:nvSpPr>
        <p:spPr>
          <a:xfrm>
            <a:off x="4869542" y="4130083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n8n</a:t>
            </a: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コンテナ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CF39F26-1412-F9AD-AD9C-E2A89DB2852D}"/>
              </a:ext>
            </a:extLst>
          </p:cNvPr>
          <p:cNvSpPr/>
          <p:nvPr/>
        </p:nvSpPr>
        <p:spPr>
          <a:xfrm>
            <a:off x="6075892" y="4973455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PostgreSQL</a:t>
            </a:r>
            <a:b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コンテナ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DF1C6BB-6AB0-A6AF-4C76-7D8A2921A2AD}"/>
              </a:ext>
            </a:extLst>
          </p:cNvPr>
          <p:cNvSpPr/>
          <p:nvPr/>
        </p:nvSpPr>
        <p:spPr>
          <a:xfrm>
            <a:off x="4870172" y="2334688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HTTPS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2E87A84-B908-6ACC-D04B-454008361C1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572654" y="3120942"/>
            <a:ext cx="8996" cy="412634"/>
          </a:xfrm>
          <a:prstGeom prst="straightConnector1">
            <a:avLst/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B0104B5-8DF6-AAF0-A62F-FA6F8A28CB26}"/>
              </a:ext>
            </a:extLst>
          </p:cNvPr>
          <p:cNvSpPr/>
          <p:nvPr/>
        </p:nvSpPr>
        <p:spPr>
          <a:xfrm>
            <a:off x="4860547" y="3189416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トラフィック転送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7BC306F-B407-E1FA-C46F-011E0724E536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rot="16200000" flipH="1">
            <a:off x="5918603" y="4113054"/>
            <a:ext cx="514452" cy="1206350"/>
          </a:xfrm>
          <a:prstGeom prst="bentConnector3">
            <a:avLst>
              <a:gd name="adj1" fmla="val 16673"/>
            </a:avLst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1694FF5-1B87-464B-0C97-74BA9D4571FD}"/>
              </a:ext>
            </a:extLst>
          </p:cNvPr>
          <p:cNvSpPr/>
          <p:nvPr/>
        </p:nvSpPr>
        <p:spPr>
          <a:xfrm>
            <a:off x="7884545" y="4973455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DockerEngine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D6DE9811-9643-450F-D798-67AD2836B2E8}"/>
              </a:ext>
            </a:extLst>
          </p:cNvPr>
          <p:cNvSpPr/>
          <p:nvPr/>
        </p:nvSpPr>
        <p:spPr>
          <a:xfrm>
            <a:off x="2654302" y="5612024"/>
            <a:ext cx="6843182" cy="737743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ホスト</a:t>
            </a:r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OS</a:t>
            </a: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ファイルシステム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C4FB3D3-FE2B-41DC-C1C5-A2C886E5BEA7}"/>
              </a:ext>
            </a:extLst>
          </p:cNvPr>
          <p:cNvSpPr/>
          <p:nvPr/>
        </p:nvSpPr>
        <p:spPr>
          <a:xfrm>
            <a:off x="4026732" y="5937631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/n8n_data</a:t>
            </a:r>
          </a:p>
          <a:p>
            <a:pPr marL="85725" algn="ctr" defTabSz="914400"/>
            <a:r>
              <a:rPr kumimoji="1" lang="en-US" altLang="ja-JP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ワークフロー</a:t>
            </a:r>
            <a:r>
              <a:rPr kumimoji="1" lang="en-US" altLang="ja-JP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,</a:t>
            </a:r>
            <a:r>
              <a:rPr kumimoji="1" lang="ja-JP" altLang="en-US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設定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E238EAD5-8A21-B0DD-7E8B-BF95631C3562}"/>
              </a:ext>
            </a:extLst>
          </p:cNvPr>
          <p:cNvSpPr/>
          <p:nvPr/>
        </p:nvSpPr>
        <p:spPr>
          <a:xfrm>
            <a:off x="6075892" y="5937637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en-US" altLang="ja-JP" sz="11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postgre_data</a:t>
            </a:r>
            <a:endParaRPr kumimoji="1" lang="en-US" altLang="ja-JP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85725" algn="ctr" defTabSz="914400"/>
            <a:r>
              <a:rPr kumimoji="1" lang="en-US" altLang="ja-JP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※DB</a:t>
            </a:r>
            <a:r>
              <a:rPr kumimoji="1" lang="ja-JP" altLang="en-US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</a:p>
        </p:txBody>
      </p:sp>
      <p:cxnSp>
        <p:nvCxnSpPr>
          <p:cNvPr id="66" name="直線矢印コネクタ 27">
            <a:extLst>
              <a:ext uri="{FF2B5EF4-FFF2-40B4-BE49-F238E27FC236}">
                <a16:creationId xmlns:a16="http://schemas.microsoft.com/office/drawing/2014/main" id="{2094871F-5F18-FEE2-9958-FACE22C7AA29}"/>
              </a:ext>
            </a:extLst>
          </p:cNvPr>
          <p:cNvCxnSpPr>
            <a:cxnSpLocks/>
            <a:stCxn id="17" idx="2"/>
            <a:endCxn id="64" idx="0"/>
          </p:cNvCxnSpPr>
          <p:nvPr/>
        </p:nvCxnSpPr>
        <p:spPr>
          <a:xfrm rot="5400000">
            <a:off x="4411935" y="4776912"/>
            <a:ext cx="1478628" cy="842810"/>
          </a:xfrm>
          <a:prstGeom prst="bentConnector3">
            <a:avLst>
              <a:gd name="adj1" fmla="val 6454"/>
            </a:avLst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BFFF1764-652F-7F63-E6D2-3083D46511D8}"/>
              </a:ext>
            </a:extLst>
          </p:cNvPr>
          <p:cNvCxnSpPr>
            <a:cxnSpLocks/>
            <a:stCxn id="18" idx="2"/>
            <a:endCxn id="65" idx="0"/>
          </p:cNvCxnSpPr>
          <p:nvPr/>
        </p:nvCxnSpPr>
        <p:spPr>
          <a:xfrm>
            <a:off x="6779004" y="5302375"/>
            <a:ext cx="0" cy="635262"/>
          </a:xfrm>
          <a:prstGeom prst="straightConnector1">
            <a:avLst/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97AE1500-3005-4DF4-CB0F-4D7F8CE0A7A0}"/>
              </a:ext>
            </a:extLst>
          </p:cNvPr>
          <p:cNvSpPr/>
          <p:nvPr/>
        </p:nvSpPr>
        <p:spPr>
          <a:xfrm>
            <a:off x="4026732" y="4635317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データの永続化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1AAB1D74-496E-46E4-6902-3744D011CF92}"/>
              </a:ext>
            </a:extLst>
          </p:cNvPr>
          <p:cNvSpPr/>
          <p:nvPr/>
        </p:nvSpPr>
        <p:spPr>
          <a:xfrm>
            <a:off x="6382069" y="4635317"/>
            <a:ext cx="793870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接続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8FCDE84-E7DA-E869-8900-4331830BED53}"/>
              </a:ext>
            </a:extLst>
          </p:cNvPr>
          <p:cNvSpPr/>
          <p:nvPr/>
        </p:nvSpPr>
        <p:spPr>
          <a:xfrm>
            <a:off x="6075892" y="5512287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データの永続化</a:t>
            </a:r>
          </a:p>
        </p:txBody>
      </p:sp>
    </p:spTree>
    <p:extLst>
      <p:ext uri="{BB962C8B-B14F-4D97-AF65-F5344CB8AC3E}">
        <p14:creationId xmlns:p14="http://schemas.microsoft.com/office/powerpoint/2010/main" val="487962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8E53-5110-7D11-4D11-313CBB2F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A28BE456-F1AC-6C7D-A97B-F61E709A3452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marL="0" marR="0" lvl="0" indent="0" algn="l" defTabSz="879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Amazon </a:t>
            </a:r>
            <a:r>
              <a:rPr lang="en-US" altLang="ja-JP" kern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Lightsail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の構築手順</a:t>
            </a:r>
            <a:endParaRPr kumimoji="1" lang="ja-JP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  <a:sym typeface="MS UI Gothic" panose="020B0600070205080204" pitchFamily="34" charset="-128"/>
            </a:endParaRP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9A3BD7BA-1D88-6DB1-66FB-E770761F696E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Amazon </a:t>
            </a:r>
            <a:r>
              <a:rPr kumimoji="0" lang="en-US" altLang="ja-JP" sz="2000" kern="0" dirty="0" err="1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Lightsail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の環境を構築します。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BC403287-F7F4-0437-42A2-900C2F9C783A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4</a:t>
            </a:fld>
            <a:endParaRPr lang="en-US" altLang="ja-JP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37E9135-668D-9E6E-E31F-C78F4F7D0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61" y="5087549"/>
            <a:ext cx="4150765" cy="1207288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4041F40-0D80-76E6-A2DF-C2F60E7CD7FA}"/>
              </a:ext>
            </a:extLst>
          </p:cNvPr>
          <p:cNvGrpSpPr/>
          <p:nvPr/>
        </p:nvGrpSpPr>
        <p:grpSpPr>
          <a:xfrm>
            <a:off x="7366000" y="1367665"/>
            <a:ext cx="4489479" cy="318036"/>
            <a:chOff x="440015" y="1566123"/>
            <a:chExt cx="4489479" cy="318036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CF4A931-68D4-2026-BC33-8FF95D5D5B33}"/>
                </a:ext>
              </a:extLst>
            </p:cNvPr>
            <p:cNvSpPr txBox="1"/>
            <p:nvPr/>
          </p:nvSpPr>
          <p:spPr>
            <a:xfrm>
              <a:off x="440015" y="1566123"/>
              <a:ext cx="107479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手順</a:t>
              </a: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E387B714-EDA7-6E8C-FAAD-8566959785AA}"/>
                </a:ext>
              </a:extLst>
            </p:cNvPr>
            <p:cNvCxnSpPr>
              <a:cxnSpLocks/>
            </p:cNvCxnSpPr>
            <p:nvPr/>
          </p:nvCxnSpPr>
          <p:spPr>
            <a:xfrm>
              <a:off x="440015" y="1861075"/>
              <a:ext cx="4489479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BD392854-9E9B-35CF-3693-462986DB9A23}"/>
              </a:ext>
            </a:extLst>
          </p:cNvPr>
          <p:cNvGrpSpPr/>
          <p:nvPr/>
        </p:nvGrpSpPr>
        <p:grpSpPr>
          <a:xfrm>
            <a:off x="336521" y="1367665"/>
            <a:ext cx="6819205" cy="318036"/>
            <a:chOff x="4623495" y="1566123"/>
            <a:chExt cx="6819205" cy="318036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6608B82-FE92-77AC-261E-37FFB9F8529E}"/>
                </a:ext>
              </a:extLst>
            </p:cNvPr>
            <p:cNvSpPr txBox="1"/>
            <p:nvPr/>
          </p:nvSpPr>
          <p:spPr>
            <a:xfrm>
              <a:off x="4623495" y="1566123"/>
              <a:ext cx="167868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イメージ図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BE3C6A94-E91E-B763-9C53-EFAB50AF699E}"/>
                </a:ext>
              </a:extLst>
            </p:cNvPr>
            <p:cNvCxnSpPr>
              <a:cxnSpLocks/>
            </p:cNvCxnSpPr>
            <p:nvPr/>
          </p:nvCxnSpPr>
          <p:spPr>
            <a:xfrm>
              <a:off x="4623495" y="1861075"/>
              <a:ext cx="6819205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C87B92CC-DA2C-551C-E2B7-56774A080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071" y="2679595"/>
            <a:ext cx="4164685" cy="2673823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93E3F2E6-51F2-F01A-E47A-E7465730A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21" y="1817162"/>
            <a:ext cx="4150765" cy="2673826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11B3897-6B17-E308-2B7C-B87D2B05A0AA}"/>
              </a:ext>
            </a:extLst>
          </p:cNvPr>
          <p:cNvSpPr/>
          <p:nvPr/>
        </p:nvSpPr>
        <p:spPr>
          <a:xfrm>
            <a:off x="7366000" y="1756426"/>
            <a:ext cx="4489479" cy="4395621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sng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Lightsail</a:t>
            </a:r>
            <a:r>
              <a:rPr kumimoji="0" lang="ja-JP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作成</a:t>
            </a:r>
            <a:endParaRPr kumimoji="0" lang="en-US" altLang="ja-JP" sz="1200" b="1" i="0" u="sng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AWS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に任意のユーザーでログインします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検索窓から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”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Lightsail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”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と検索してサービスに遷移します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177800" lvl="0" indent="-177800" defTabSz="584200" latinLnBrk="1" hangingPunct="0">
              <a:buFont typeface="+mj-lt"/>
              <a:buAutoNum type="arabicPeriod"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以下のパラメータにて、コンソールを作成します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Platform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：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”Linux/Unix”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OperatingSystem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only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：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“Ubuntu 22.04 LTS”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</a:t>
            </a:r>
            <a:r>
              <a:rPr lang="en-US" altLang="ja-JP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※22.04</a:t>
            </a:r>
            <a:r>
              <a:rPr lang="ja-JP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（旧バージョン）にしている理由はバグがほとんどなく挙動が安定しているため</a:t>
            </a:r>
            <a:br>
              <a:rPr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Size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：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”$12”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以上（</a:t>
            </a:r>
            <a:r>
              <a:rPr lang="en-US" altLang="ja-JP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$5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と</a:t>
            </a:r>
            <a:r>
              <a:rPr lang="en-US" altLang="ja-JP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$7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は不可）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</a:t>
            </a:r>
            <a:r>
              <a:rPr lang="en-US" altLang="ja-JP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※</a:t>
            </a:r>
            <a:r>
              <a:rPr lang="ja-JP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メモリーが</a:t>
            </a:r>
            <a:r>
              <a:rPr lang="en-US" altLang="ja-JP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2GB</a:t>
            </a:r>
            <a:r>
              <a:rPr lang="ja-JP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以上でないと</a:t>
            </a:r>
            <a:r>
              <a:rPr lang="en-US" altLang="ja-JP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n8n(docker</a:t>
            </a:r>
            <a:r>
              <a:rPr lang="ja-JP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環境</a:t>
            </a:r>
            <a:r>
              <a:rPr lang="en-US" altLang="ja-JP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)</a:t>
            </a:r>
            <a:r>
              <a:rPr lang="ja-JP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が正常に動かないことは確認済み</a:t>
            </a:r>
            <a:br>
              <a:rPr lang="en-US" altLang="ja-JP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Instance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name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：“任意の値”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その他：デフォルト値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1565185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F2B6F-7237-D51D-EFF4-A6E29EB4E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88B0199B-28B2-3B4A-5199-4ACD4F770D3E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lvl="0">
              <a:defRPr/>
            </a:pP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静的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IP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アドレスの作成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02A6185E-805A-0752-58CF-0992C9608258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en-US" altLang="ja-JP" sz="2000" kern="0" dirty="0" err="1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Lightsail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の環境にて、静的</a:t>
            </a: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IP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アドレス作成と</a:t>
            </a: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HTTPS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通信の設定を行います。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D75FBF1E-5AF1-A4A0-5E07-443822330243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5</a:t>
            </a:fld>
            <a:endParaRPr lang="en-US" altLang="ja-JP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13B9185-C455-B5E2-6443-084BEA2B25AA}"/>
              </a:ext>
            </a:extLst>
          </p:cNvPr>
          <p:cNvSpPr/>
          <p:nvPr/>
        </p:nvSpPr>
        <p:spPr>
          <a:xfrm>
            <a:off x="4311651" y="1529415"/>
            <a:ext cx="2539999" cy="737743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インターネット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B326554-8976-2391-FAF1-D1634E222181}"/>
              </a:ext>
            </a:extLst>
          </p:cNvPr>
          <p:cNvSpPr/>
          <p:nvPr/>
        </p:nvSpPr>
        <p:spPr>
          <a:xfrm>
            <a:off x="4869542" y="1847936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ユーザー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ED33887-7768-ED37-B193-FDB0A014144D}"/>
              </a:ext>
            </a:extLst>
          </p:cNvPr>
          <p:cNvSpPr/>
          <p:nvPr/>
        </p:nvSpPr>
        <p:spPr>
          <a:xfrm>
            <a:off x="2084917" y="2610174"/>
            <a:ext cx="8022167" cy="3933501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Amazon </a:t>
            </a:r>
            <a:r>
              <a:rPr kumimoji="1" lang="en-US" altLang="ja-JP" sz="11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Lightsail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1F7F863-B6AE-830E-3D08-FE747C0960F8}"/>
              </a:ext>
            </a:extLst>
          </p:cNvPr>
          <p:cNvSpPr/>
          <p:nvPr/>
        </p:nvSpPr>
        <p:spPr>
          <a:xfrm>
            <a:off x="4869542" y="2792022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静的</a:t>
            </a:r>
            <a: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アドレス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8423DD43-DDBF-7913-1744-F2D1CB3CD6B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5572654" y="2176856"/>
            <a:ext cx="0" cy="615166"/>
          </a:xfrm>
          <a:prstGeom prst="straightConnector1">
            <a:avLst/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A5B1996-5895-FB77-371C-E1AF94A59522}"/>
              </a:ext>
            </a:extLst>
          </p:cNvPr>
          <p:cNvSpPr/>
          <p:nvPr/>
        </p:nvSpPr>
        <p:spPr>
          <a:xfrm>
            <a:off x="2654301" y="3533576"/>
            <a:ext cx="6843183" cy="1920549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Instance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B5D1CC4-A9DA-2E33-4D4F-73CCDF794390}"/>
              </a:ext>
            </a:extLst>
          </p:cNvPr>
          <p:cNvSpPr/>
          <p:nvPr/>
        </p:nvSpPr>
        <p:spPr>
          <a:xfrm>
            <a:off x="3159127" y="3914175"/>
            <a:ext cx="4547658" cy="146745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 Compose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C263FE7-F8D2-1D08-06FC-A3064E07A112}"/>
              </a:ext>
            </a:extLst>
          </p:cNvPr>
          <p:cNvSpPr/>
          <p:nvPr/>
        </p:nvSpPr>
        <p:spPr>
          <a:xfrm>
            <a:off x="4869542" y="4130083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n8n</a:t>
            </a: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コンテナ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B56B85-358F-4C7E-EE81-1EAF7F02516D}"/>
              </a:ext>
            </a:extLst>
          </p:cNvPr>
          <p:cNvSpPr/>
          <p:nvPr/>
        </p:nvSpPr>
        <p:spPr>
          <a:xfrm>
            <a:off x="6075892" y="4973455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PostgreSQL</a:t>
            </a:r>
            <a:b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コンテナ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E6E60A1-F58F-DD7A-DD65-855B8B7896F2}"/>
              </a:ext>
            </a:extLst>
          </p:cNvPr>
          <p:cNvSpPr/>
          <p:nvPr/>
        </p:nvSpPr>
        <p:spPr>
          <a:xfrm>
            <a:off x="4870172" y="2334688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HTTPS</a:t>
            </a:r>
            <a:endParaRPr kumimoji="1" lang="ja-JP" altLang="en-US" sz="1100" b="1" kern="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76023111-1AED-B472-AC21-F319E531BEE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572654" y="3120942"/>
            <a:ext cx="8996" cy="412634"/>
          </a:xfrm>
          <a:prstGeom prst="straightConnector1">
            <a:avLst/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80784D9-C327-487D-F06A-994930EDE5E0}"/>
              </a:ext>
            </a:extLst>
          </p:cNvPr>
          <p:cNvSpPr/>
          <p:nvPr/>
        </p:nvSpPr>
        <p:spPr>
          <a:xfrm>
            <a:off x="4860547" y="3189416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トラフィック転送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8A6154F-1854-5448-FB37-39A098F42E8B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rot="16200000" flipH="1">
            <a:off x="5918603" y="4113054"/>
            <a:ext cx="514452" cy="1206350"/>
          </a:xfrm>
          <a:prstGeom prst="bentConnector3">
            <a:avLst>
              <a:gd name="adj1" fmla="val 16673"/>
            </a:avLst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83E941A-84AA-C011-7C0A-50C0C657BC39}"/>
              </a:ext>
            </a:extLst>
          </p:cNvPr>
          <p:cNvSpPr/>
          <p:nvPr/>
        </p:nvSpPr>
        <p:spPr>
          <a:xfrm>
            <a:off x="7884545" y="4973455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DockerEngine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AA5B9CD7-B2FA-EA6F-B423-CFFAD74A8B42}"/>
              </a:ext>
            </a:extLst>
          </p:cNvPr>
          <p:cNvSpPr/>
          <p:nvPr/>
        </p:nvSpPr>
        <p:spPr>
          <a:xfrm>
            <a:off x="2654302" y="5612024"/>
            <a:ext cx="6843182" cy="737743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ホスト</a:t>
            </a:r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OS</a:t>
            </a: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ファイルシステム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04E0C31C-8453-DFB5-08D5-DF4A61FF602B}"/>
              </a:ext>
            </a:extLst>
          </p:cNvPr>
          <p:cNvSpPr/>
          <p:nvPr/>
        </p:nvSpPr>
        <p:spPr>
          <a:xfrm>
            <a:off x="4026732" y="5937631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/n8n_data</a:t>
            </a:r>
          </a:p>
          <a:p>
            <a:pPr marL="85725" algn="ctr" defTabSz="914400"/>
            <a:r>
              <a:rPr kumimoji="1" lang="en-US" altLang="ja-JP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ワークフロー</a:t>
            </a:r>
            <a:r>
              <a:rPr kumimoji="1" lang="en-US" altLang="ja-JP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,</a:t>
            </a:r>
            <a:r>
              <a:rPr kumimoji="1" lang="ja-JP" altLang="en-US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設定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C8056CA3-85AF-8807-0147-DA066566C443}"/>
              </a:ext>
            </a:extLst>
          </p:cNvPr>
          <p:cNvSpPr/>
          <p:nvPr/>
        </p:nvSpPr>
        <p:spPr>
          <a:xfrm>
            <a:off x="6075892" y="5937637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en-US" altLang="ja-JP" sz="11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postgre_data</a:t>
            </a:r>
            <a:endParaRPr kumimoji="1" lang="en-US" altLang="ja-JP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85725" algn="ctr" defTabSz="914400"/>
            <a:r>
              <a:rPr kumimoji="1" lang="en-US" altLang="ja-JP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※DB</a:t>
            </a:r>
            <a:r>
              <a:rPr kumimoji="1" lang="ja-JP" altLang="en-US" sz="105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</a:p>
        </p:txBody>
      </p:sp>
      <p:cxnSp>
        <p:nvCxnSpPr>
          <p:cNvPr id="66" name="直線矢印コネクタ 27">
            <a:extLst>
              <a:ext uri="{FF2B5EF4-FFF2-40B4-BE49-F238E27FC236}">
                <a16:creationId xmlns:a16="http://schemas.microsoft.com/office/drawing/2014/main" id="{D5B854D4-7F85-788F-3B74-2D60547947A5}"/>
              </a:ext>
            </a:extLst>
          </p:cNvPr>
          <p:cNvCxnSpPr>
            <a:cxnSpLocks/>
            <a:stCxn id="17" idx="2"/>
            <a:endCxn id="64" idx="0"/>
          </p:cNvCxnSpPr>
          <p:nvPr/>
        </p:nvCxnSpPr>
        <p:spPr>
          <a:xfrm rot="5400000">
            <a:off x="4411935" y="4776912"/>
            <a:ext cx="1478628" cy="842810"/>
          </a:xfrm>
          <a:prstGeom prst="bentConnector3">
            <a:avLst>
              <a:gd name="adj1" fmla="val 6454"/>
            </a:avLst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E562CCF4-B037-D172-A301-1971AC8B3C37}"/>
              </a:ext>
            </a:extLst>
          </p:cNvPr>
          <p:cNvCxnSpPr>
            <a:cxnSpLocks/>
            <a:stCxn id="18" idx="2"/>
            <a:endCxn id="65" idx="0"/>
          </p:cNvCxnSpPr>
          <p:nvPr/>
        </p:nvCxnSpPr>
        <p:spPr>
          <a:xfrm>
            <a:off x="6779004" y="5302375"/>
            <a:ext cx="0" cy="635262"/>
          </a:xfrm>
          <a:prstGeom prst="straightConnector1">
            <a:avLst/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6C3101AB-272D-D94C-A033-D26FA58223C9}"/>
              </a:ext>
            </a:extLst>
          </p:cNvPr>
          <p:cNvSpPr/>
          <p:nvPr/>
        </p:nvSpPr>
        <p:spPr>
          <a:xfrm>
            <a:off x="4026732" y="4635317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データの永続化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2DC82C9C-9577-E09E-C5CE-B1D7592A9347}"/>
              </a:ext>
            </a:extLst>
          </p:cNvPr>
          <p:cNvSpPr/>
          <p:nvPr/>
        </p:nvSpPr>
        <p:spPr>
          <a:xfrm>
            <a:off x="6382069" y="4635317"/>
            <a:ext cx="793870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接続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078EFF-79FF-BC78-CB85-DF24A84F3664}"/>
              </a:ext>
            </a:extLst>
          </p:cNvPr>
          <p:cNvSpPr/>
          <p:nvPr/>
        </p:nvSpPr>
        <p:spPr>
          <a:xfrm>
            <a:off x="6075892" y="5512287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データの永続化</a:t>
            </a:r>
          </a:p>
        </p:txBody>
      </p:sp>
    </p:spTree>
    <p:extLst>
      <p:ext uri="{BB962C8B-B14F-4D97-AF65-F5344CB8AC3E}">
        <p14:creationId xmlns:p14="http://schemas.microsoft.com/office/powerpoint/2010/main" val="3736966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36F12-1CFC-6D55-AB85-012DC685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8CB50151-EA57-AA93-5B7F-6BC3EC49C7BD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lvl="0">
              <a:defRPr/>
            </a:pP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静的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IP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アドレスの作成手順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7EA9749D-575B-459B-41F1-960A5A72500E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en-US" altLang="ja-JP" sz="2000" kern="0" dirty="0" err="1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Lightsail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の環境にて、静的</a:t>
            </a: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IP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アドレス作成と</a:t>
            </a: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HTTPS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通信の設定を行います。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B3471D55-C592-27ED-9D5A-C682B18AF15F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6</a:t>
            </a:fld>
            <a:endParaRPr lang="en-US" altLang="ja-JP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DE52E733-F2D9-88F8-97C1-670BDCBCD89F}"/>
              </a:ext>
            </a:extLst>
          </p:cNvPr>
          <p:cNvGrpSpPr/>
          <p:nvPr/>
        </p:nvGrpSpPr>
        <p:grpSpPr>
          <a:xfrm>
            <a:off x="7366000" y="1367665"/>
            <a:ext cx="4489479" cy="318036"/>
            <a:chOff x="440015" y="1566123"/>
            <a:chExt cx="4489479" cy="318036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73B6E0A4-C84B-E8F0-A58C-D6D1844CE147}"/>
                </a:ext>
              </a:extLst>
            </p:cNvPr>
            <p:cNvSpPr txBox="1"/>
            <p:nvPr/>
          </p:nvSpPr>
          <p:spPr>
            <a:xfrm>
              <a:off x="440015" y="1566123"/>
              <a:ext cx="107479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手順</a:t>
              </a: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0290913D-B59A-5F19-3176-876484F33AC3}"/>
                </a:ext>
              </a:extLst>
            </p:cNvPr>
            <p:cNvCxnSpPr>
              <a:cxnSpLocks/>
            </p:cNvCxnSpPr>
            <p:nvPr/>
          </p:nvCxnSpPr>
          <p:spPr>
            <a:xfrm>
              <a:off x="440015" y="1861075"/>
              <a:ext cx="4489479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99316024-9643-CBF7-9B06-DBECBE3EA5DF}"/>
              </a:ext>
            </a:extLst>
          </p:cNvPr>
          <p:cNvGrpSpPr/>
          <p:nvPr/>
        </p:nvGrpSpPr>
        <p:grpSpPr>
          <a:xfrm>
            <a:off x="336521" y="1367665"/>
            <a:ext cx="6819205" cy="318036"/>
            <a:chOff x="4623495" y="1566123"/>
            <a:chExt cx="6819205" cy="318036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4CB40EE6-7498-2D7D-D20F-0A51B055BB8D}"/>
                </a:ext>
              </a:extLst>
            </p:cNvPr>
            <p:cNvSpPr txBox="1"/>
            <p:nvPr/>
          </p:nvSpPr>
          <p:spPr>
            <a:xfrm>
              <a:off x="4623495" y="1566123"/>
              <a:ext cx="167868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イメージ図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8B7A596B-B788-1CCC-B79F-2D71CC7FA7D2}"/>
                </a:ext>
              </a:extLst>
            </p:cNvPr>
            <p:cNvCxnSpPr>
              <a:cxnSpLocks/>
            </p:cNvCxnSpPr>
            <p:nvPr/>
          </p:nvCxnSpPr>
          <p:spPr>
            <a:xfrm>
              <a:off x="4623495" y="1861075"/>
              <a:ext cx="6819205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4C13B1D-223D-0E72-68F0-906D06149568}"/>
              </a:ext>
            </a:extLst>
          </p:cNvPr>
          <p:cNvSpPr/>
          <p:nvPr/>
        </p:nvSpPr>
        <p:spPr>
          <a:xfrm>
            <a:off x="7366000" y="1756426"/>
            <a:ext cx="4489479" cy="4395621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sng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Lightsail</a:t>
            </a:r>
            <a:r>
              <a:rPr kumimoji="0" lang="ja-JP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作成</a:t>
            </a:r>
            <a:endParaRPr kumimoji="0" lang="en-US" altLang="ja-JP" sz="1200" b="1" i="0" u="sng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作成した</a:t>
            </a:r>
            <a:r>
              <a:rPr kumimoji="0" lang="en-US" altLang="ja-JP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Lightsail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の環境にアクセスします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Networking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タブを選択後、“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Attach static IP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”を押下します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自動で反映された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IP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アドレスを確認後、作成します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以下のファイアウォール設定にて、ポート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443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（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HTTPS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）を開放します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プロトコル：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TCP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ポート範囲：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443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ソースタイプ：すべて（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0.0.0.0/0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）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5537279-8C32-83EF-D6CE-9B87AF22E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40" y="3506603"/>
            <a:ext cx="5407472" cy="168878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B5C9678-90F7-3EF0-E35F-5BBC706CB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21" y="1758917"/>
            <a:ext cx="4839502" cy="21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8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A05FB-A314-74CC-7052-E96A38E01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A13E6D69-E67B-11BD-EF52-3FCCF6ABA6A4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lvl="0">
              <a:defRPr/>
            </a:pP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Docker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（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n8n/</a:t>
            </a:r>
            <a:r>
              <a:rPr lang="en-US" altLang="ja-JP" kern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postgre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）環境構築</a:t>
            </a:r>
            <a:endParaRPr kumimoji="1" lang="ja-JP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  <a:sym typeface="MS UI Gothic" panose="020B0600070205080204" pitchFamily="34" charset="-128"/>
            </a:endParaRP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D5F552B9-82E2-1654-E4B2-3E696407505F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本環境の全体像は以下の通り。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E88840E7-DF3A-9190-D8D0-AE9760182893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7</a:t>
            </a:fld>
            <a:endParaRPr lang="en-US" altLang="ja-JP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1576802-920F-31F6-662B-8E4B807E6D8F}"/>
              </a:ext>
            </a:extLst>
          </p:cNvPr>
          <p:cNvSpPr/>
          <p:nvPr/>
        </p:nvSpPr>
        <p:spPr>
          <a:xfrm>
            <a:off x="4311651" y="1529415"/>
            <a:ext cx="2539999" cy="737743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インターネット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30D6C92-3247-B83C-8A50-6DBC997C057A}"/>
              </a:ext>
            </a:extLst>
          </p:cNvPr>
          <p:cNvSpPr/>
          <p:nvPr/>
        </p:nvSpPr>
        <p:spPr>
          <a:xfrm>
            <a:off x="4869542" y="1847936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ユーザー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5785D45-B9D0-E8B3-277A-557D73B407EF}"/>
              </a:ext>
            </a:extLst>
          </p:cNvPr>
          <p:cNvSpPr/>
          <p:nvPr/>
        </p:nvSpPr>
        <p:spPr>
          <a:xfrm>
            <a:off x="2084917" y="2610174"/>
            <a:ext cx="8022167" cy="3933501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Amazon </a:t>
            </a:r>
            <a:r>
              <a:rPr kumimoji="1" lang="en-US" altLang="ja-JP" sz="11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Lightsail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8FFA200-257A-648E-7760-397DE7FC4670}"/>
              </a:ext>
            </a:extLst>
          </p:cNvPr>
          <p:cNvSpPr/>
          <p:nvPr/>
        </p:nvSpPr>
        <p:spPr>
          <a:xfrm>
            <a:off x="4869542" y="2792022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静的</a:t>
            </a:r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アドレス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6F553BE-7BF1-754F-3C9A-B751D8439721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5572654" y="2176856"/>
            <a:ext cx="0" cy="615166"/>
          </a:xfrm>
          <a:prstGeom prst="straightConnector1">
            <a:avLst/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CA2D12C-ED2F-CB62-8D02-268AD6AFAAEF}"/>
              </a:ext>
            </a:extLst>
          </p:cNvPr>
          <p:cNvSpPr/>
          <p:nvPr/>
        </p:nvSpPr>
        <p:spPr>
          <a:xfrm>
            <a:off x="2654301" y="3533576"/>
            <a:ext cx="6843183" cy="1920549"/>
          </a:xfrm>
          <a:prstGeom prst="rect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en-US" altLang="ja-JP" sz="1100" b="1" ker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Instance</a:t>
            </a:r>
            <a:endParaRPr kumimoji="1" lang="ja-JP" altLang="en-US" sz="1100" b="1" kern="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8AC5C25-DA2B-CBFE-5EF2-31C6EEA7011D}"/>
              </a:ext>
            </a:extLst>
          </p:cNvPr>
          <p:cNvSpPr/>
          <p:nvPr/>
        </p:nvSpPr>
        <p:spPr>
          <a:xfrm>
            <a:off x="3159127" y="3914175"/>
            <a:ext cx="4547658" cy="1467450"/>
          </a:xfrm>
          <a:prstGeom prst="rect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 Compose</a:t>
            </a:r>
            <a:endParaRPr kumimoji="1" lang="ja-JP" altLang="en-US" sz="1100" b="1" kern="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7F42E89-287B-DAB6-C2AC-AEB5557B429D}"/>
              </a:ext>
            </a:extLst>
          </p:cNvPr>
          <p:cNvSpPr/>
          <p:nvPr/>
        </p:nvSpPr>
        <p:spPr>
          <a:xfrm>
            <a:off x="4869542" y="4130083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n8n</a:t>
            </a:r>
            <a:r>
              <a:rPr kumimoji="1" lang="ja-JP" altLang="en-US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コンテナ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FF5D81D-9A97-5BDF-29DB-4DB01CD190B9}"/>
              </a:ext>
            </a:extLst>
          </p:cNvPr>
          <p:cNvSpPr/>
          <p:nvPr/>
        </p:nvSpPr>
        <p:spPr>
          <a:xfrm>
            <a:off x="6075892" y="4973455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PostgreSQL</a:t>
            </a:r>
            <a:b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コンテナ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987539D-D086-6C54-0BC7-60BC9953CBD8}"/>
              </a:ext>
            </a:extLst>
          </p:cNvPr>
          <p:cNvSpPr/>
          <p:nvPr/>
        </p:nvSpPr>
        <p:spPr>
          <a:xfrm>
            <a:off x="4870172" y="2334688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HTTPS</a:t>
            </a:r>
            <a:endParaRPr kumimoji="1" lang="ja-JP" altLang="en-US" sz="11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DD5BE3BD-4B00-7D6A-3A42-B682F4664C8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572654" y="3120942"/>
            <a:ext cx="8996" cy="412634"/>
          </a:xfrm>
          <a:prstGeom prst="straightConnector1">
            <a:avLst/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2652BB7-702E-97CC-454E-84631810ACA8}"/>
              </a:ext>
            </a:extLst>
          </p:cNvPr>
          <p:cNvSpPr/>
          <p:nvPr/>
        </p:nvSpPr>
        <p:spPr>
          <a:xfrm>
            <a:off x="4860547" y="3189416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トラフィック転送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A871B5D6-E5E5-A756-C87C-E4C0BCBED4CC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rot="16200000" flipH="1">
            <a:off x="5918603" y="4113054"/>
            <a:ext cx="514452" cy="1206350"/>
          </a:xfrm>
          <a:prstGeom prst="bentConnector3">
            <a:avLst>
              <a:gd name="adj1" fmla="val 16673"/>
            </a:avLst>
          </a:prstGeom>
          <a:noFill/>
          <a:ln w="6350" cap="flat">
            <a:solidFill>
              <a:srgbClr val="FF0000"/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A373DCE-EAB3-3922-C1DE-EB2FAA3FF770}"/>
              </a:ext>
            </a:extLst>
          </p:cNvPr>
          <p:cNvSpPr/>
          <p:nvPr/>
        </p:nvSpPr>
        <p:spPr>
          <a:xfrm>
            <a:off x="7884545" y="4973455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b="1" kern="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DockerEngine</a:t>
            </a:r>
            <a:endParaRPr kumimoji="1" lang="ja-JP" altLang="en-US" sz="1100" b="1" kern="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B4DF563-2FA2-7A2D-5CF5-DDCCBCF931D2}"/>
              </a:ext>
            </a:extLst>
          </p:cNvPr>
          <p:cNvSpPr/>
          <p:nvPr/>
        </p:nvSpPr>
        <p:spPr>
          <a:xfrm>
            <a:off x="2654302" y="5612024"/>
            <a:ext cx="6843182" cy="737743"/>
          </a:xfrm>
          <a:prstGeom prst="rect">
            <a:avLst/>
          </a:prstGeom>
          <a:noFill/>
          <a:ln w="63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85725" defTabSz="914400"/>
            <a:r>
              <a:rPr kumimoji="1" lang="ja-JP" altLang="en-US" sz="11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ホスト</a:t>
            </a:r>
            <a:r>
              <a:rPr kumimoji="1" lang="en-US" altLang="ja-JP" sz="11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OS</a:t>
            </a:r>
            <a:r>
              <a:rPr kumimoji="1" lang="ja-JP" altLang="en-US" sz="11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ファイルシステム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D9F0E08-02EC-79DE-D1CB-12F20BB12E16}"/>
              </a:ext>
            </a:extLst>
          </p:cNvPr>
          <p:cNvSpPr/>
          <p:nvPr/>
        </p:nvSpPr>
        <p:spPr>
          <a:xfrm>
            <a:off x="4026732" y="5937631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/n8n_data</a:t>
            </a:r>
          </a:p>
          <a:p>
            <a:pPr marL="85725" algn="ctr" defTabSz="914400"/>
            <a:r>
              <a:rPr kumimoji="1" lang="en-US" altLang="ja-JP" sz="105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5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ワークフロー</a:t>
            </a:r>
            <a:r>
              <a:rPr kumimoji="1" lang="en-US" altLang="ja-JP" sz="105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,</a:t>
            </a:r>
            <a:r>
              <a:rPr kumimoji="1" lang="ja-JP" altLang="en-US" sz="105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設定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C440EAEE-6906-BC9F-5BEB-E7F3CEC27AF4}"/>
              </a:ext>
            </a:extLst>
          </p:cNvPr>
          <p:cNvSpPr/>
          <p:nvPr/>
        </p:nvSpPr>
        <p:spPr>
          <a:xfrm>
            <a:off x="6075892" y="5937637"/>
            <a:ext cx="1406224" cy="328920"/>
          </a:xfrm>
          <a:prstGeom prst="rect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en-US" altLang="ja-JP" sz="1100" b="1" kern="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postgre_data</a:t>
            </a:r>
            <a:endParaRPr kumimoji="1" lang="en-US" altLang="ja-JP" sz="1100" b="1" kern="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85725" algn="ctr" defTabSz="914400"/>
            <a:r>
              <a:rPr kumimoji="1" lang="en-US" altLang="ja-JP" sz="105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※DB</a:t>
            </a:r>
            <a:r>
              <a:rPr kumimoji="1" lang="ja-JP" altLang="en-US" sz="105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</a:p>
        </p:txBody>
      </p:sp>
      <p:cxnSp>
        <p:nvCxnSpPr>
          <p:cNvPr id="66" name="直線矢印コネクタ 27">
            <a:extLst>
              <a:ext uri="{FF2B5EF4-FFF2-40B4-BE49-F238E27FC236}">
                <a16:creationId xmlns:a16="http://schemas.microsoft.com/office/drawing/2014/main" id="{FEAF1F34-F43D-2AFD-09FF-7E1E0515D688}"/>
              </a:ext>
            </a:extLst>
          </p:cNvPr>
          <p:cNvCxnSpPr>
            <a:cxnSpLocks/>
            <a:stCxn id="17" idx="2"/>
            <a:endCxn id="64" idx="0"/>
          </p:cNvCxnSpPr>
          <p:nvPr/>
        </p:nvCxnSpPr>
        <p:spPr>
          <a:xfrm rot="5400000">
            <a:off x="4411935" y="4776912"/>
            <a:ext cx="1478628" cy="842810"/>
          </a:xfrm>
          <a:prstGeom prst="bentConnector3">
            <a:avLst>
              <a:gd name="adj1" fmla="val 6454"/>
            </a:avLst>
          </a:prstGeom>
          <a:noFill/>
          <a:ln w="6350" cap="flat">
            <a:solidFill>
              <a:srgbClr val="FF0000"/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36AE33E0-06CB-249D-4CDF-1D8EE9C8B9C4}"/>
              </a:ext>
            </a:extLst>
          </p:cNvPr>
          <p:cNvCxnSpPr>
            <a:cxnSpLocks/>
            <a:stCxn id="18" idx="2"/>
            <a:endCxn id="65" idx="0"/>
          </p:cNvCxnSpPr>
          <p:nvPr/>
        </p:nvCxnSpPr>
        <p:spPr>
          <a:xfrm>
            <a:off x="6779004" y="5302375"/>
            <a:ext cx="0" cy="635262"/>
          </a:xfrm>
          <a:prstGeom prst="straightConnector1">
            <a:avLst/>
          </a:prstGeom>
          <a:noFill/>
          <a:ln w="6350" cap="flat">
            <a:solidFill>
              <a:srgbClr val="FFFFFF">
                <a:lumMod val="65000"/>
              </a:srgbClr>
            </a:solidFill>
            <a:prstDash val="solid"/>
            <a:miter lim="400000"/>
            <a:headEnd type="none" w="med" len="med"/>
            <a:tailEnd type="triangle" w="med" len="med"/>
          </a:ln>
          <a:effectLst/>
        </p:spPr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F629F993-0CCC-B81D-64FA-321588532C5C}"/>
              </a:ext>
            </a:extLst>
          </p:cNvPr>
          <p:cNvSpPr/>
          <p:nvPr/>
        </p:nvSpPr>
        <p:spPr>
          <a:xfrm>
            <a:off x="4026732" y="4635317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データの永続化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DE4F5C4D-8047-105E-EFF0-49E3A8FB8637}"/>
              </a:ext>
            </a:extLst>
          </p:cNvPr>
          <p:cNvSpPr/>
          <p:nvPr/>
        </p:nvSpPr>
        <p:spPr>
          <a:xfrm>
            <a:off x="6382069" y="4635317"/>
            <a:ext cx="793870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en-US" altLang="ja-JP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kumimoji="1" lang="ja-JP" altLang="en-US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接続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2EF52EB1-27E2-885A-7A3A-3C54E6F87AF9}"/>
              </a:ext>
            </a:extLst>
          </p:cNvPr>
          <p:cNvSpPr/>
          <p:nvPr/>
        </p:nvSpPr>
        <p:spPr>
          <a:xfrm>
            <a:off x="6075892" y="5512287"/>
            <a:ext cx="1406224" cy="20423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85725" algn="ctr" defTabSz="914400"/>
            <a:r>
              <a:rPr kumimoji="1" lang="ja-JP" altLang="en-US" sz="11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データの永続化</a:t>
            </a:r>
          </a:p>
        </p:txBody>
      </p:sp>
    </p:spTree>
    <p:extLst>
      <p:ext uri="{BB962C8B-B14F-4D97-AF65-F5344CB8AC3E}">
        <p14:creationId xmlns:p14="http://schemas.microsoft.com/office/powerpoint/2010/main" val="2620336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0F19-8295-4514-1480-87320E68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C851AC5B-2056-820D-9851-4FD9AC38B7C6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lvl="0">
              <a:defRPr/>
            </a:pP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Docker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（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n8n/</a:t>
            </a:r>
            <a:r>
              <a:rPr lang="en-US" altLang="ja-JP" kern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postgre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）環境構築手順（１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/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５）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BC9586C6-4D26-0464-1266-15B50B9CFB2B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en-US" altLang="ja-JP" sz="2000" kern="0" dirty="0" err="1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Lightsail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のターミナルを起動後、自己署名証明書作成を行います。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E862AA29-8275-A969-079D-D4BCC941FD9C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8</a:t>
            </a:fld>
            <a:endParaRPr lang="en-US" altLang="ja-JP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81713D6D-48D2-C84A-8752-7D51A6869FAE}"/>
              </a:ext>
            </a:extLst>
          </p:cNvPr>
          <p:cNvGrpSpPr/>
          <p:nvPr/>
        </p:nvGrpSpPr>
        <p:grpSpPr>
          <a:xfrm>
            <a:off x="7366000" y="1367665"/>
            <a:ext cx="4489479" cy="318036"/>
            <a:chOff x="440015" y="1566123"/>
            <a:chExt cx="4489479" cy="318036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F24C764F-52B5-7869-C045-BE868952C80C}"/>
                </a:ext>
              </a:extLst>
            </p:cNvPr>
            <p:cNvSpPr txBox="1"/>
            <p:nvPr/>
          </p:nvSpPr>
          <p:spPr>
            <a:xfrm>
              <a:off x="440015" y="1566123"/>
              <a:ext cx="107479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手順</a:t>
              </a: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692C87FA-9679-4375-B32A-E8E5E94A97BD}"/>
                </a:ext>
              </a:extLst>
            </p:cNvPr>
            <p:cNvCxnSpPr>
              <a:cxnSpLocks/>
            </p:cNvCxnSpPr>
            <p:nvPr/>
          </p:nvCxnSpPr>
          <p:spPr>
            <a:xfrm>
              <a:off x="440015" y="1861075"/>
              <a:ext cx="4489479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71FE9DB6-B82C-97A5-FE19-809BDB98D7E6}"/>
              </a:ext>
            </a:extLst>
          </p:cNvPr>
          <p:cNvGrpSpPr/>
          <p:nvPr/>
        </p:nvGrpSpPr>
        <p:grpSpPr>
          <a:xfrm>
            <a:off x="336521" y="1367665"/>
            <a:ext cx="6819205" cy="318036"/>
            <a:chOff x="4623495" y="1566123"/>
            <a:chExt cx="6819205" cy="318036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7DB03ADB-7AC0-A9AD-5699-060AD2459853}"/>
                </a:ext>
              </a:extLst>
            </p:cNvPr>
            <p:cNvSpPr txBox="1"/>
            <p:nvPr/>
          </p:nvSpPr>
          <p:spPr>
            <a:xfrm>
              <a:off x="4623495" y="1566123"/>
              <a:ext cx="167868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イメージ図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BB71B254-10E6-578A-6AE4-941A3EAC4332}"/>
                </a:ext>
              </a:extLst>
            </p:cNvPr>
            <p:cNvCxnSpPr>
              <a:cxnSpLocks/>
            </p:cNvCxnSpPr>
            <p:nvPr/>
          </p:nvCxnSpPr>
          <p:spPr>
            <a:xfrm>
              <a:off x="4623495" y="1861075"/>
              <a:ext cx="6819205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E0DB667-9F0B-AAA7-EAF5-B3AABB9D7909}"/>
              </a:ext>
            </a:extLst>
          </p:cNvPr>
          <p:cNvSpPr/>
          <p:nvPr/>
        </p:nvSpPr>
        <p:spPr>
          <a:xfrm>
            <a:off x="7366000" y="1756426"/>
            <a:ext cx="4489479" cy="4395621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u="sng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自己署名証明書</a:t>
            </a:r>
            <a:r>
              <a:rPr kumimoji="0" lang="ja-JP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作成</a:t>
            </a:r>
            <a:endParaRPr kumimoji="0" lang="en-US" altLang="ja-JP" sz="1200" b="1" i="0" u="sng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作成した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”Connect 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u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sing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SSH“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を押下します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ターミナルより、左記の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#Nginx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のインストール手順を実施します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次に、左記の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自己署名証明書の作成手順を実施します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5797039-131D-04B3-6089-E4941D57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21" y="1780483"/>
            <a:ext cx="3074272" cy="1779254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A622CFC-4C8B-8E8F-7376-2FDED62322CD}"/>
              </a:ext>
            </a:extLst>
          </p:cNvPr>
          <p:cNvSpPr/>
          <p:nvPr/>
        </p:nvSpPr>
        <p:spPr>
          <a:xfrm>
            <a:off x="3533882" y="1780483"/>
            <a:ext cx="3621843" cy="191521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D9D9D9"/>
            </a:solidFill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#Nginx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のインストール手順</a:t>
            </a: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実行コマンド：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apt update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apt install -y nginx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systemctl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enable nginx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systemctl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start nginx</a:t>
            </a:r>
          </a:p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動作確認：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curl http://localhost</a:t>
            </a:r>
          </a:p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※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「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Welcome to nginx!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」と出れば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OK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です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40FD0E6-8404-A19B-58CD-28B558548E93}"/>
              </a:ext>
            </a:extLst>
          </p:cNvPr>
          <p:cNvSpPr/>
          <p:nvPr/>
        </p:nvSpPr>
        <p:spPr>
          <a:xfrm>
            <a:off x="3533883" y="3870003"/>
            <a:ext cx="3621843" cy="244861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D9D9D9"/>
            </a:solidFill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defTabSz="584200" latinLnBrk="1" hangingPunct="0"/>
            <a:r>
              <a:rPr lang="en-US" altLang="ja-JP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自己署名証明書作成手順</a:t>
            </a: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defTabSz="584200" latinLnBrk="1" hangingPunct="0"/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実行コマンド：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mkdir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-p /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etc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ssl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/n8n</a:t>
            </a:r>
          </a:p>
          <a:p>
            <a:pPr defTabSz="584200" latinLnBrk="1" hangingPunct="0"/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openssl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req -x509 -nodes -days 365 -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newkey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rsa:2048 \</a:t>
            </a:r>
          </a:p>
          <a:p>
            <a:pPr defTabSz="584200" latinLnBrk="1" hangingPunct="0"/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-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keyout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/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etc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ssl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/n8n/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selfsigned.key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\</a:t>
            </a:r>
          </a:p>
          <a:p>
            <a:pPr defTabSz="584200" latinLnBrk="1" hangingPunct="0"/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-out /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etc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ssl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/n8n/selfsigned.crt</a:t>
            </a:r>
          </a:p>
          <a:p>
            <a:pPr defTabSz="584200" latinLnBrk="1" hangingPunct="0"/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defTabSz="584200" latinLnBrk="1" hangingPunct="0"/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補足：</a:t>
            </a: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defTabSz="584200" latinLnBrk="1" hangingPunct="0"/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入力が求められたら、適当に入力して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OK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（例：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Country, Organization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など）。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ただし、「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Common Name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」は サーバーの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IP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アドレス（例：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54.248.193.146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） を入力してください。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1507556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E161-3457-F074-E162-DA02DE30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CEA30D47-CE1B-96A5-931E-C0545DAD7769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lvl="0">
              <a:defRPr/>
            </a:pP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Docker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（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n8n/</a:t>
            </a:r>
            <a:r>
              <a:rPr lang="en-US" altLang="ja-JP" kern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postgre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）環境構築手順（２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/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５）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55046D3F-35B7-4DDC-9FC9-0815343C513B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引き続き、自己署名証明書作成を行います。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A384CFE9-9349-07E3-963C-4103C5B5B393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9</a:t>
            </a:fld>
            <a:endParaRPr lang="en-US" altLang="ja-JP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25D0E1C-E4DF-0CFE-61A2-5F82B18090F3}"/>
              </a:ext>
            </a:extLst>
          </p:cNvPr>
          <p:cNvGrpSpPr/>
          <p:nvPr/>
        </p:nvGrpSpPr>
        <p:grpSpPr>
          <a:xfrm>
            <a:off x="7366000" y="1367665"/>
            <a:ext cx="4489479" cy="318036"/>
            <a:chOff x="440015" y="1566123"/>
            <a:chExt cx="4489479" cy="318036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22F827F-C3FD-AF9F-A939-C9907E167E2F}"/>
                </a:ext>
              </a:extLst>
            </p:cNvPr>
            <p:cNvSpPr txBox="1"/>
            <p:nvPr/>
          </p:nvSpPr>
          <p:spPr>
            <a:xfrm>
              <a:off x="440015" y="1566123"/>
              <a:ext cx="107479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手順</a:t>
              </a: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DEFD7EFF-7C67-2A55-C5CD-32BA511A0E00}"/>
                </a:ext>
              </a:extLst>
            </p:cNvPr>
            <p:cNvCxnSpPr>
              <a:cxnSpLocks/>
            </p:cNvCxnSpPr>
            <p:nvPr/>
          </p:nvCxnSpPr>
          <p:spPr>
            <a:xfrm>
              <a:off x="440015" y="1861075"/>
              <a:ext cx="4489479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C21A59DB-D946-4813-33FB-D06C0A78AE20}"/>
              </a:ext>
            </a:extLst>
          </p:cNvPr>
          <p:cNvGrpSpPr/>
          <p:nvPr/>
        </p:nvGrpSpPr>
        <p:grpSpPr>
          <a:xfrm>
            <a:off x="336521" y="1367665"/>
            <a:ext cx="6819205" cy="318036"/>
            <a:chOff x="4623495" y="1566123"/>
            <a:chExt cx="6819205" cy="318036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2E8051D8-9093-EBF7-7E83-E7A7145E88DF}"/>
                </a:ext>
              </a:extLst>
            </p:cNvPr>
            <p:cNvSpPr txBox="1"/>
            <p:nvPr/>
          </p:nvSpPr>
          <p:spPr>
            <a:xfrm>
              <a:off x="4623495" y="1566123"/>
              <a:ext cx="167868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イメージ図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87F99F17-2B94-2F41-0A30-04486F824ADF}"/>
                </a:ext>
              </a:extLst>
            </p:cNvPr>
            <p:cNvCxnSpPr>
              <a:cxnSpLocks/>
            </p:cNvCxnSpPr>
            <p:nvPr/>
          </p:nvCxnSpPr>
          <p:spPr>
            <a:xfrm>
              <a:off x="4623495" y="1861075"/>
              <a:ext cx="6819205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D5C5698-B3B8-F99B-6154-E67A7AE5A616}"/>
              </a:ext>
            </a:extLst>
          </p:cNvPr>
          <p:cNvSpPr/>
          <p:nvPr/>
        </p:nvSpPr>
        <p:spPr>
          <a:xfrm>
            <a:off x="7366000" y="1756426"/>
            <a:ext cx="4489479" cy="4395621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u="sng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自己署名証明書</a:t>
            </a:r>
            <a:r>
              <a:rPr kumimoji="0" lang="ja-JP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作成</a:t>
            </a:r>
            <a:endParaRPr kumimoji="0" lang="en-US" altLang="ja-JP" sz="1200" b="1" i="0" u="sng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左記の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#Nginx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設定ファイルの作成手順を実施します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5BC6F80-0679-ED4F-00E3-78821814FEED}"/>
              </a:ext>
            </a:extLst>
          </p:cNvPr>
          <p:cNvSpPr/>
          <p:nvPr/>
        </p:nvSpPr>
        <p:spPr>
          <a:xfrm>
            <a:off x="336520" y="1780483"/>
            <a:ext cx="6819205" cy="463513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D9D9D9"/>
            </a:solidFill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#Nginx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設定ファイルの作成手順</a:t>
            </a: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テキストエディタ起動コマンド：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pt-BR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 nano /etc/nginx/sites-available/n8n</a:t>
            </a:r>
          </a:p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上記エディタに貼り付け（以下の“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54.248.193.146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”は作成した静的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IP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に変更）：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server {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listen 80;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server_name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</a:t>
            </a:r>
            <a:r>
              <a:rPr lang="en-US" altLang="ja-JP" sz="7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54.248.193.146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return 301 https://$host$request_uri;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}</a:t>
            </a:r>
          </a:p>
          <a:p>
            <a:pPr lvl="0" defTabSz="584200" latinLnBrk="1" hangingPunct="0">
              <a:defRPr/>
            </a:pPr>
            <a:endParaRPr lang="en-US" altLang="ja-JP" sz="7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server {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listen 443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ssl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server_name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54.248.193.146;</a:t>
            </a:r>
          </a:p>
          <a:p>
            <a:pPr lvl="0" defTabSz="584200" latinLnBrk="1" hangingPunct="0">
              <a:defRPr/>
            </a:pPr>
            <a:endParaRPr lang="en-US" altLang="ja-JP" sz="7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ssl_certificate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/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etc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ssl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/n8n/selfsigned.crt;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ssl_certificate_key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/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etc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ssl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/n8n/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selfsigned.key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;</a:t>
            </a:r>
          </a:p>
          <a:p>
            <a:pPr lvl="0" defTabSz="584200" latinLnBrk="1" hangingPunct="0">
              <a:defRPr/>
            </a:pPr>
            <a:endParaRPr lang="en-US" altLang="ja-JP" sz="7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location / {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proxy_pass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http://localhost:5678/;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proxy_http_version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1.1;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proxy_set_header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Upgrade $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http_upgrade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proxy_set_header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Connection "upgrade";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proxy_set_header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Host $host;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proxy_set_header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X-Real-IP $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remote_addr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proxy_set_header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X-Forwarded-For $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proxy_add_x_forwarded_for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  </a:t>
            </a:r>
            <a:r>
              <a:rPr lang="en-US" altLang="ja-JP" sz="7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proxy_set_header</a:t>
            </a: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X-Forwarded-Proto $scheme;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}</a:t>
            </a:r>
          </a:p>
          <a:p>
            <a:pPr lvl="0" defTabSz="584200" latinLnBrk="1" hangingPunct="0">
              <a:defRPr/>
            </a:pPr>
            <a:r>
              <a:rPr lang="en-US" altLang="ja-JP" sz="7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}</a:t>
            </a:r>
          </a:p>
          <a:p>
            <a:pPr lvl="0" defTabSz="584200" latinLnBrk="1" hangingPunct="0">
              <a:defRPr/>
            </a:pPr>
            <a:endParaRPr lang="en-US" altLang="ja-JP" sz="7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defTabSz="584200" latinLnBrk="1" hangingPunct="0"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保存して有効化：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ln -s /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etc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/nginx/sites-available/n8n /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etc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/nginx/sites-enabled/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nginx -t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systemctl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restart nginx</a:t>
            </a:r>
          </a:p>
          <a:p>
            <a:pPr lvl="0" defTabSz="584200" latinLnBrk="1" hangingPunct="0">
              <a:defRPr/>
            </a:pPr>
            <a:endParaRPr lang="en-US" altLang="ja-JP" sz="7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1743654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898D-41C8-6837-7E74-851EF6EB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273690D0-C954-9809-DAD8-784C6DF35E4C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lvl="0">
              <a:defRPr/>
            </a:pP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Docker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（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n8n/</a:t>
            </a:r>
            <a:r>
              <a:rPr lang="en-US" altLang="ja-JP" kern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postgre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）環境構築手順（３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/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５）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6BA9F23B-9C63-CA50-E36C-B7915DE325CF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Docker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と</a:t>
            </a: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n8n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のセットアップを行います。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47227F6C-2C88-4488-37A0-07483F8149F1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10</a:t>
            </a:fld>
            <a:endParaRPr lang="en-US" altLang="ja-JP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AE589862-8EDC-2DB4-D61A-0DABE0C3BBE9}"/>
              </a:ext>
            </a:extLst>
          </p:cNvPr>
          <p:cNvGrpSpPr/>
          <p:nvPr/>
        </p:nvGrpSpPr>
        <p:grpSpPr>
          <a:xfrm>
            <a:off x="7366000" y="1367665"/>
            <a:ext cx="4489479" cy="318036"/>
            <a:chOff x="440015" y="1566123"/>
            <a:chExt cx="4489479" cy="318036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5EC6A2E6-101C-FA76-FDA1-74E60C40D3DB}"/>
                </a:ext>
              </a:extLst>
            </p:cNvPr>
            <p:cNvSpPr txBox="1"/>
            <p:nvPr/>
          </p:nvSpPr>
          <p:spPr>
            <a:xfrm>
              <a:off x="440015" y="1566123"/>
              <a:ext cx="107479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手順</a:t>
              </a: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A41A8AC3-F11E-D561-1588-1B9E8472BACE}"/>
                </a:ext>
              </a:extLst>
            </p:cNvPr>
            <p:cNvCxnSpPr>
              <a:cxnSpLocks/>
            </p:cNvCxnSpPr>
            <p:nvPr/>
          </p:nvCxnSpPr>
          <p:spPr>
            <a:xfrm>
              <a:off x="440015" y="1861075"/>
              <a:ext cx="4489479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DD1C282F-9454-C258-953B-FD9191899EFF}"/>
              </a:ext>
            </a:extLst>
          </p:cNvPr>
          <p:cNvGrpSpPr/>
          <p:nvPr/>
        </p:nvGrpSpPr>
        <p:grpSpPr>
          <a:xfrm>
            <a:off x="336521" y="1367665"/>
            <a:ext cx="6819205" cy="318036"/>
            <a:chOff x="4623495" y="1566123"/>
            <a:chExt cx="6819205" cy="318036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2ECCDDC-14A1-5020-62CD-C7E899A760E7}"/>
                </a:ext>
              </a:extLst>
            </p:cNvPr>
            <p:cNvSpPr txBox="1"/>
            <p:nvPr/>
          </p:nvSpPr>
          <p:spPr>
            <a:xfrm>
              <a:off x="4623495" y="1566123"/>
              <a:ext cx="167868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イメージ図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8A20DBC3-3CE5-1C5F-D72F-056F5511D00D}"/>
                </a:ext>
              </a:extLst>
            </p:cNvPr>
            <p:cNvCxnSpPr>
              <a:cxnSpLocks/>
            </p:cNvCxnSpPr>
            <p:nvPr/>
          </p:nvCxnSpPr>
          <p:spPr>
            <a:xfrm>
              <a:off x="4623495" y="1861075"/>
              <a:ext cx="6819205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E2FB8AB-71BA-A4C6-9FE4-BC52409B08EB}"/>
              </a:ext>
            </a:extLst>
          </p:cNvPr>
          <p:cNvSpPr/>
          <p:nvPr/>
        </p:nvSpPr>
        <p:spPr>
          <a:xfrm>
            <a:off x="7366000" y="1756426"/>
            <a:ext cx="4489479" cy="4395621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u="sng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自己署名証明書</a:t>
            </a:r>
            <a:r>
              <a:rPr kumimoji="0" lang="ja-JP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作成</a:t>
            </a:r>
            <a:endParaRPr kumimoji="0" lang="en-US" altLang="ja-JP" sz="1200" b="1" i="0" u="sng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左記の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#Docker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のインストール手順を実施します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ブラウザのターミナルを閉じ、再度ターミナルに入りなおします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177800" lvl="0" indent="-177800" defTabSz="584200" latinLnBrk="1" hangingPunct="0">
              <a:buFont typeface="+mj-lt"/>
              <a:buAutoNum type="arabicPeriod"/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#n8n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フォルダ作成手順を実施します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A19C2B0-E17C-EA59-2679-069AD81132E7}"/>
              </a:ext>
            </a:extLst>
          </p:cNvPr>
          <p:cNvSpPr/>
          <p:nvPr/>
        </p:nvSpPr>
        <p:spPr>
          <a:xfrm>
            <a:off x="336520" y="1780483"/>
            <a:ext cx="6819205" cy="308361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D9D9D9"/>
            </a:solidFill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#Docker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のインストール手順</a:t>
            </a: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ターミナルコマンド：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 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システムのアップデート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apt update &amp;&amp; 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apt upgrade -y</a:t>
            </a:r>
          </a:p>
          <a:p>
            <a:pPr lvl="0" defTabSz="584200" latinLnBrk="1" hangingPunct="0">
              <a:defRPr/>
            </a:pP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 Docker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のインストール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apt install -y docker.io</a:t>
            </a:r>
          </a:p>
          <a:p>
            <a:pPr lvl="0" defTabSz="584200" latinLnBrk="1" hangingPunct="0">
              <a:defRPr/>
            </a:pP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 Docker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を現在のユーザーで使えるようにする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usermod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-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aG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docker $USER</a:t>
            </a:r>
          </a:p>
          <a:p>
            <a:pPr lvl="0" defTabSz="584200" latinLnBrk="1" hangingPunct="0">
              <a:defRPr/>
            </a:pP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 Docker Compose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のインストール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sudo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apt install -y docker-compose</a:t>
            </a:r>
          </a:p>
          <a:p>
            <a:pPr lvl="0" defTabSz="584200" latinLnBrk="1" hangingPunct="0">
              <a:defRPr/>
            </a:pP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 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設定を反映させるために一度ログアウトし、再度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SSH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で接続します</a:t>
            </a:r>
          </a:p>
          <a:p>
            <a:pPr lvl="0" defTabSz="584200" latinLnBrk="1" hangingPunct="0"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exit</a:t>
            </a:r>
            <a:endParaRPr lang="en-US" altLang="ja-JP" sz="7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CE11E8B-75B9-7855-5CFC-67C434613CA2}"/>
              </a:ext>
            </a:extLst>
          </p:cNvPr>
          <p:cNvSpPr/>
          <p:nvPr/>
        </p:nvSpPr>
        <p:spPr>
          <a:xfrm>
            <a:off x="336520" y="4981965"/>
            <a:ext cx="6819205" cy="78383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D9D9D9"/>
            </a:solidFill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#n8n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フォルダ作成手順</a:t>
            </a: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ターミナルコマンド：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mkdir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n8n &amp;&amp; cd n8n</a:t>
            </a:r>
            <a:endParaRPr lang="en-US" altLang="ja-JP" sz="7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402063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8DD8C-746F-E352-73D3-6B420B70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B0BED0E5-453D-4BC8-EB99-21BD928E7577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lvl="0">
              <a:defRPr/>
            </a:pP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Docker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（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n8n/</a:t>
            </a:r>
            <a:r>
              <a:rPr lang="en-US" altLang="ja-JP" kern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postgre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）環境構築手順（４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/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５）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1765E2B2-C138-926C-4F9E-A48030BE1658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docker-</a:t>
            </a:r>
            <a:r>
              <a:rPr kumimoji="0" lang="en-US" altLang="ja-JP" sz="2000" kern="0" dirty="0" err="1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compose.yml</a:t>
            </a: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 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ファイルを作成します。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0DC72C1D-0396-C7C8-2463-FB3FC9D3CE68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11</a:t>
            </a:fld>
            <a:endParaRPr lang="en-US" altLang="ja-JP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8423B9FF-6858-610B-5EBC-DAB015D649E9}"/>
              </a:ext>
            </a:extLst>
          </p:cNvPr>
          <p:cNvGrpSpPr/>
          <p:nvPr/>
        </p:nvGrpSpPr>
        <p:grpSpPr>
          <a:xfrm>
            <a:off x="7366000" y="1367665"/>
            <a:ext cx="4489479" cy="318036"/>
            <a:chOff x="440015" y="1566123"/>
            <a:chExt cx="4489479" cy="318036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97DDE81-0A88-A94F-7719-842E693F3016}"/>
                </a:ext>
              </a:extLst>
            </p:cNvPr>
            <p:cNvSpPr txBox="1"/>
            <p:nvPr/>
          </p:nvSpPr>
          <p:spPr>
            <a:xfrm>
              <a:off x="440015" y="1566123"/>
              <a:ext cx="107479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手順</a:t>
              </a: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74321AC1-6D68-F2AD-E12F-246F7F6F1498}"/>
                </a:ext>
              </a:extLst>
            </p:cNvPr>
            <p:cNvCxnSpPr>
              <a:cxnSpLocks/>
            </p:cNvCxnSpPr>
            <p:nvPr/>
          </p:nvCxnSpPr>
          <p:spPr>
            <a:xfrm>
              <a:off x="440015" y="1861075"/>
              <a:ext cx="4489479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3227C33-0E9B-E4D4-210B-9B8060C239CB}"/>
              </a:ext>
            </a:extLst>
          </p:cNvPr>
          <p:cNvGrpSpPr/>
          <p:nvPr/>
        </p:nvGrpSpPr>
        <p:grpSpPr>
          <a:xfrm>
            <a:off x="336521" y="1367665"/>
            <a:ext cx="6819205" cy="318036"/>
            <a:chOff x="4623495" y="1566123"/>
            <a:chExt cx="6819205" cy="318036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948D70C8-4D7E-7962-E563-557B6A2A7DB9}"/>
                </a:ext>
              </a:extLst>
            </p:cNvPr>
            <p:cNvSpPr txBox="1"/>
            <p:nvPr/>
          </p:nvSpPr>
          <p:spPr>
            <a:xfrm>
              <a:off x="4623495" y="1566123"/>
              <a:ext cx="167868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イメージ図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E78F66E-8A5F-68C0-E047-4B1B87FA875F}"/>
                </a:ext>
              </a:extLst>
            </p:cNvPr>
            <p:cNvCxnSpPr>
              <a:cxnSpLocks/>
            </p:cNvCxnSpPr>
            <p:nvPr/>
          </p:nvCxnSpPr>
          <p:spPr>
            <a:xfrm>
              <a:off x="4623495" y="1861075"/>
              <a:ext cx="6819205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AAF3FA2-4027-5CE1-A99B-EEE33597F9C1}"/>
              </a:ext>
            </a:extLst>
          </p:cNvPr>
          <p:cNvSpPr/>
          <p:nvPr/>
        </p:nvSpPr>
        <p:spPr>
          <a:xfrm>
            <a:off x="7366000" y="1756426"/>
            <a:ext cx="4489479" cy="4395621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u="sng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docker</a:t>
            </a:r>
            <a:r>
              <a:rPr lang="ja-JP" altLang="en-US" sz="1200" b="1" u="sng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ファイル</a:t>
            </a:r>
            <a:r>
              <a:rPr kumimoji="0" lang="ja-JP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ヒラギノ角ゴ ProN W3"/>
              </a:rPr>
              <a:t>作成</a:t>
            </a:r>
            <a:endParaRPr kumimoji="0" lang="en-US" altLang="ja-JP" sz="1200" b="1" i="0" u="sng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左記の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#docker-compose.yml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ファイル作成手順を実施します</a:t>
            </a:r>
          </a:p>
          <a:p>
            <a:pPr marL="177800" lvl="0" indent="-177800" defTabSz="584200" latinLnBrk="1" hangingPunct="0">
              <a:buFont typeface="+mj-lt"/>
              <a:buAutoNum type="arabicPeriod"/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貼付後に、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Ctrl+X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を押し、次に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Y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、最後に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Enter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を押して保存します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DA6ADFD-6C69-7861-8718-F91B69728CF6}"/>
              </a:ext>
            </a:extLst>
          </p:cNvPr>
          <p:cNvSpPr/>
          <p:nvPr/>
        </p:nvSpPr>
        <p:spPr>
          <a:xfrm>
            <a:off x="336520" y="1780483"/>
            <a:ext cx="6819205" cy="46582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D9D9D9"/>
            </a:solidFill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#docker-compose.yml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ファイル作成手順</a:t>
            </a: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ターミナルコマンド：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nano docker-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compose.yml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以下の内容を貼り付け（</a:t>
            </a:r>
            <a:r>
              <a:rPr lang="en-US" altLang="ja-JP" sz="12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your_strong_password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は自身で変更かつ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HOST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IP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部分は静的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IP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にする）：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version: '3.7'</a:t>
            </a:r>
          </a:p>
          <a:p>
            <a:pPr lvl="0" defTabSz="584200" latinLnBrk="1" hangingPunct="0">
              <a:defRPr/>
            </a:pPr>
            <a:endParaRPr lang="en-US" altLang="ja-JP" sz="6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services: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n8n: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image: n8nio/n8n:latest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restart: always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ports: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"5678:5678"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environment:</a:t>
            </a:r>
          </a:p>
          <a:p>
            <a:pPr lvl="0"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　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- N8N_PROTOCOL=https</a:t>
            </a:r>
          </a:p>
          <a:p>
            <a:pPr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　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- N8N_HOST=</a:t>
            </a:r>
            <a:r>
              <a:rPr lang="en-US" altLang="ja-JP" sz="6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54.248.193.146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 ★★★ 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ここは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Lightsail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の静的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IP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★★★</a:t>
            </a:r>
            <a:endParaRPr lang="en-US" altLang="ja-JP" sz="6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　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- N8N_PORT=5678</a:t>
            </a:r>
          </a:p>
          <a:p>
            <a:pPr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　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- WEBHOOK_URL=https://</a:t>
            </a:r>
            <a:r>
              <a:rPr lang="en-US" altLang="ja-JP" sz="6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54.248.193.146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 ★★★ 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ここは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Lightsail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の静的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IP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★★★</a:t>
            </a:r>
            <a:endParaRPr lang="en-US" altLang="ja-JP" sz="6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　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- N8N_BASIC_AUTH_ACTIVE=true</a:t>
            </a:r>
          </a:p>
          <a:p>
            <a:pPr lvl="0"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　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- N8N_BASIC_AUTH_USER=admin</a:t>
            </a:r>
          </a:p>
          <a:p>
            <a:pPr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　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- N8N_BASIC_AUTH_PASSWORD=</a:t>
            </a:r>
            <a:r>
              <a:rPr lang="en-US" altLang="ja-JP" sz="600" b="1" kern="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your_strong_password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 ★★★ 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ここを必ず変更（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n8n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） ★★★</a:t>
            </a:r>
            <a:endParaRPr lang="en-US" altLang="ja-JP" sz="6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DB_TYPE=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postgresdb</a:t>
            </a:r>
            <a:endParaRPr lang="en-US" altLang="ja-JP" sz="6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DB_POSTGRESDB_HOST=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postgres</a:t>
            </a:r>
            <a:endParaRPr lang="en-US" altLang="ja-JP" sz="6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DB_POSTGRESDB_PORT=5432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DB_POSTGRESDB_DATABASE=n8n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DB_POSTGRESDB_USER=n8n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DB_POSTGRESDB_PASSWORD=</a:t>
            </a:r>
            <a:r>
              <a:rPr lang="en-US" altLang="ja-JP" sz="600" b="1" kern="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your_strong_password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# ★★★ 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ここを必ず変更（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postgre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） ★★★</a:t>
            </a:r>
          </a:p>
          <a:p>
            <a:pPr lvl="0"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- GENERIC_TIMEZONE=Asia/Tokyo # 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タイムゾーンを設定</a:t>
            </a:r>
          </a:p>
          <a:p>
            <a:pPr lvl="0"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volumes: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./n8n_data:/home/node/.n8n</a:t>
            </a:r>
          </a:p>
          <a:p>
            <a:pPr lvl="0" defTabSz="584200" latinLnBrk="1" hangingPunct="0">
              <a:defRPr/>
            </a:pPr>
            <a:endParaRPr lang="en-US" altLang="ja-JP" sz="6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postgres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: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image: postgres:16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restart: always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environment: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POSTGRES_DB=n8n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POSTGRES_USER=n8n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POSTGRES_PASSWORD=</a:t>
            </a:r>
            <a:r>
              <a:rPr lang="en-US" altLang="ja-JP" sz="600" b="1" kern="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your_strong_password</a:t>
            </a:r>
            <a:r>
              <a:rPr lang="en-US" altLang="ja-JP" sz="600" b="1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 ★★★ 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上と同じ（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postgre</a:t>
            </a: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）パスワードに変更★★★</a:t>
            </a:r>
          </a:p>
          <a:p>
            <a:pPr lvl="0" defTabSz="584200" latinLnBrk="1" hangingPunct="0">
              <a:defRPr/>
            </a:pPr>
            <a:r>
              <a:rPr lang="ja-JP" altLang="en-US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volumes: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    - ./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postgres_data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:/var/lib/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postgresql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/data</a:t>
            </a:r>
          </a:p>
          <a:p>
            <a:pPr lvl="0" defTabSz="584200" latinLnBrk="1" hangingPunct="0">
              <a:defRPr/>
            </a:pPr>
            <a:endParaRPr lang="en-US" altLang="ja-JP" sz="6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volumes: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n8n_data:</a:t>
            </a:r>
          </a:p>
          <a:p>
            <a:pPr lvl="0" defTabSz="584200" latinLnBrk="1" hangingPunct="0">
              <a:defRPr/>
            </a:pP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  </a:t>
            </a:r>
            <a:r>
              <a:rPr lang="en-US" altLang="ja-JP" sz="6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postgres_data</a:t>
            </a:r>
            <a:r>
              <a:rPr lang="en-US" altLang="ja-JP" sz="6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:</a:t>
            </a:r>
            <a:endParaRPr lang="en-US" altLang="ja-JP" sz="7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2491571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DAFD9-5A55-0F1B-5CF0-1A768993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F92EB6E4-B8A8-951B-5661-A84F6490B9B1}"/>
              </a:ext>
            </a:extLst>
          </p:cNvPr>
          <p:cNvSpPr txBox="1">
            <a:spLocks/>
          </p:cNvSpPr>
          <p:nvPr/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>
            <a:lvl1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6pPr>
            <a:lvl7pPr marL="9144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7pPr>
            <a:lvl8pPr marL="13716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8pPr>
            <a:lvl9pPr marL="1828800" algn="l" defTabSz="879475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003399"/>
                </a:solidFill>
                <a:latin typeface="MS UI Gothic" pitchFamily="50" charset="-128"/>
                <a:ea typeface="MS UI Gothic" pitchFamily="50" charset="-128"/>
              </a:defRPr>
            </a:lvl9pPr>
          </a:lstStyle>
          <a:p>
            <a:pPr lvl="0">
              <a:defRPr/>
            </a:pP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Docker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（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n8n/</a:t>
            </a:r>
            <a:r>
              <a:rPr lang="en-US" altLang="ja-JP" kern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postgre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）環境構築手順（５</a:t>
            </a:r>
            <a:r>
              <a:rPr lang="en-US" altLang="ja-JP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/</a:t>
            </a:r>
            <a:r>
              <a:rPr lang="ja-JP" altLang="en-US" kern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５）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D46ED187-2E9E-AC46-1BE0-4945A45B156F}"/>
              </a:ext>
            </a:extLst>
          </p:cNvPr>
          <p:cNvSpPr txBox="1">
            <a:spLocks/>
          </p:cNvSpPr>
          <p:nvPr/>
        </p:nvSpPr>
        <p:spPr bwMode="auto">
          <a:xfrm>
            <a:off x="336521" y="692699"/>
            <a:ext cx="11525251" cy="100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622300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 marL="981075" indent="-1793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 marL="1338263" indent="-177800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 marL="17097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 b="0" i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  <a:lvl6pPr marL="21669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6241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0813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538538" indent="-192088" algn="l" defTabSz="879475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ターミナルより</a:t>
            </a: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n8n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を起動後、ブラウザから</a:t>
            </a:r>
            <a:r>
              <a:rPr kumimoji="0" lang="en-US" altLang="ja-JP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n8n</a:t>
            </a:r>
            <a:r>
              <a:rPr kumimoji="0" lang="ja-JP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cs typeface="メイリオ" panose="020B0604030504040204" pitchFamily="50" charset="-128"/>
              </a:rPr>
              <a:t>にアクセスできます。</a:t>
            </a: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950FC255-A98A-6CC9-9B22-C4026CEB6EF4}"/>
              </a:ext>
            </a:extLst>
          </p:cNvPr>
          <p:cNvSpPr txBox="1">
            <a:spLocks/>
          </p:cNvSpPr>
          <p:nvPr/>
        </p:nvSpPr>
        <p:spPr>
          <a:xfrm>
            <a:off x="4826000" y="6453188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23E333F-0F6C-4FC7-A7F3-F21A7CDFE59D}" type="slidenum">
              <a:rPr lang="en-US" altLang="ja-JP" smtClean="0"/>
              <a:pPr algn="ctr">
                <a:defRPr/>
              </a:pPr>
              <a:t>12</a:t>
            </a:fld>
            <a:endParaRPr lang="en-US" altLang="ja-JP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B02AD78B-8BE0-0A71-FED4-0564831CEC5F}"/>
              </a:ext>
            </a:extLst>
          </p:cNvPr>
          <p:cNvGrpSpPr/>
          <p:nvPr/>
        </p:nvGrpSpPr>
        <p:grpSpPr>
          <a:xfrm>
            <a:off x="7366000" y="1367665"/>
            <a:ext cx="4489479" cy="318036"/>
            <a:chOff x="440015" y="1566123"/>
            <a:chExt cx="4489479" cy="318036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7AD71FA0-0A42-EE28-827A-EA472C289B7C}"/>
                </a:ext>
              </a:extLst>
            </p:cNvPr>
            <p:cNvSpPr txBox="1"/>
            <p:nvPr/>
          </p:nvSpPr>
          <p:spPr>
            <a:xfrm>
              <a:off x="440015" y="1566123"/>
              <a:ext cx="107479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手順</a:t>
              </a: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F35AB2A2-9634-F57B-7043-DD5194C71565}"/>
                </a:ext>
              </a:extLst>
            </p:cNvPr>
            <p:cNvCxnSpPr>
              <a:cxnSpLocks/>
            </p:cNvCxnSpPr>
            <p:nvPr/>
          </p:nvCxnSpPr>
          <p:spPr>
            <a:xfrm>
              <a:off x="440015" y="1861075"/>
              <a:ext cx="4489479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9B7F052B-D5AE-3658-07B6-D91A8D6D616C}"/>
              </a:ext>
            </a:extLst>
          </p:cNvPr>
          <p:cNvGrpSpPr/>
          <p:nvPr/>
        </p:nvGrpSpPr>
        <p:grpSpPr>
          <a:xfrm>
            <a:off x="336521" y="1367665"/>
            <a:ext cx="6819205" cy="318036"/>
            <a:chOff x="4623495" y="1566123"/>
            <a:chExt cx="6819205" cy="318036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5810299-1F92-A28D-515E-F9AB06A81081}"/>
                </a:ext>
              </a:extLst>
            </p:cNvPr>
            <p:cNvSpPr txBox="1"/>
            <p:nvPr/>
          </p:nvSpPr>
          <p:spPr>
            <a:xfrm>
              <a:off x="4623495" y="1566123"/>
              <a:ext cx="1678686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defTabSz="914400" eaLnBrk="1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kern="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イメージ図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283B65A-AB76-B5C0-58A6-4117C56A2D61}"/>
                </a:ext>
              </a:extLst>
            </p:cNvPr>
            <p:cNvCxnSpPr>
              <a:cxnSpLocks/>
            </p:cNvCxnSpPr>
            <p:nvPr/>
          </p:nvCxnSpPr>
          <p:spPr>
            <a:xfrm>
              <a:off x="4623495" y="1861075"/>
              <a:ext cx="6819205" cy="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tailEnd type="none"/>
            </a:ln>
            <a:effectLst/>
          </p:spPr>
        </p:cxnSp>
      </p:grp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549E6B1-0004-1A75-0C5F-91A430DD9410}"/>
              </a:ext>
            </a:extLst>
          </p:cNvPr>
          <p:cNvSpPr/>
          <p:nvPr/>
        </p:nvSpPr>
        <p:spPr>
          <a:xfrm>
            <a:off x="7366000" y="1756426"/>
            <a:ext cx="4489479" cy="4395621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u="sng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n8n</a:t>
            </a:r>
            <a:r>
              <a:rPr lang="ja-JP" altLang="en-US" sz="1200" b="1" u="sng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起動</a:t>
            </a:r>
            <a:endParaRPr kumimoji="0" lang="en-US" altLang="ja-JP" sz="1200" b="1" i="0" u="sng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  <a:sym typeface="ヒラギノ角ゴ ProN W3"/>
            </a:endParaRPr>
          </a:p>
          <a:p>
            <a:pPr marL="177800" marR="0" lvl="0" indent="-17780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#n8n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起動手順を実施します</a:t>
            </a:r>
          </a:p>
          <a:p>
            <a:pPr marL="177800" lvl="0" indent="-177800" defTabSz="584200" latinLnBrk="1" hangingPunct="0">
              <a:buFont typeface="+mj-lt"/>
              <a:buAutoNum type="arabicPeriod"/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n8n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起動後、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http://&lt;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静的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IP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アドレス</a:t>
            </a: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&gt;:5678 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にアクセスします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※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自己署名証明書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marL="177800" lvl="0" indent="-177800" defTabSz="584200" latinLnBrk="1" hangingPunct="0">
              <a:buFont typeface="+mj-lt"/>
              <a:buAutoNum type="arabicPeriod"/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n8n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の初期設定画面（管理者設定など）が表示されれば、成功です</a:t>
            </a: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b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</a:b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						</a:t>
            </a: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　　　　　以上</a:t>
            </a:r>
            <a:endParaRPr lang="en-US" altLang="ja-JP" sz="12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50366C-A339-7EC0-03B3-5BE3EC491F9E}"/>
              </a:ext>
            </a:extLst>
          </p:cNvPr>
          <p:cNvSpPr/>
          <p:nvPr/>
        </p:nvSpPr>
        <p:spPr>
          <a:xfrm>
            <a:off x="336520" y="1780483"/>
            <a:ext cx="6819205" cy="70871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D9D9D9"/>
            </a:solidFill>
            <a:prstDash val="solid"/>
          </a:ln>
          <a:effectLst/>
        </p:spPr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#n8n</a:t>
            </a:r>
            <a:r>
              <a:rPr lang="ja-JP" altLang="en-US" sz="1200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起動手順</a:t>
            </a:r>
            <a:endParaRPr lang="en-US" altLang="ja-JP" sz="1200" b="1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ja-JP" alt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ターミナルコマンド：</a:t>
            </a:r>
            <a:endParaRPr lang="en-US" altLang="ja-JP" sz="700" kern="0" dirty="0">
              <a:solidFill>
                <a:srgbClr val="000000">
                  <a:lumMod val="65000"/>
                  <a:lumOff val="3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ヒラギノ角ゴ ProN W3"/>
            </a:endParaRPr>
          </a:p>
          <a:p>
            <a:pPr lvl="0" defTabSz="584200" latinLnBrk="1" hangingPunct="0">
              <a:defRPr/>
            </a:pPr>
            <a:r>
              <a:rPr lang="en-US" altLang="ja-JP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ヒラギノ角ゴ ProN W3"/>
              </a:rPr>
              <a:t>docker-compose up -d</a:t>
            </a:r>
          </a:p>
        </p:txBody>
      </p:sp>
    </p:spTree>
    <p:extLst>
      <p:ext uri="{BB962C8B-B14F-4D97-AF65-F5344CB8AC3E}">
        <p14:creationId xmlns:p14="http://schemas.microsoft.com/office/powerpoint/2010/main" val="2514581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1642</Words>
  <Application>Microsoft Office PowerPoint</Application>
  <PresentationFormat>ワイド画面</PresentationFormat>
  <Paragraphs>264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Meiryo UI</vt:lpstr>
      <vt:lpstr>メイリオ</vt:lpstr>
      <vt:lpstr>游ゴシック</vt:lpstr>
      <vt:lpstr>Aptos</vt:lpstr>
      <vt:lpstr>Aptos Display</vt:lpstr>
      <vt:lpstr>Arial</vt:lpstr>
      <vt:lpstr>Office Theme</vt:lpstr>
      <vt:lpstr>n8n構築手順書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2025-09-18T08:07:15Z</dcterms:created>
  <dcterms:modified xsi:type="dcterms:W3CDTF">2025-11-04T05:22:29Z</dcterms:modified>
</cp:coreProperties>
</file>